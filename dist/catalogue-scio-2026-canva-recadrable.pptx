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jp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jp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jp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jp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jp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jp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jp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jp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jp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jp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jp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jp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jp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jp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jp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jp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jp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jp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jp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jp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jp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jp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jp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jp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jp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jp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jp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jp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v-ciel.jpg">    </p:cNvPr>
          <p:cNvPicPr>
            <a:picLocks noChangeAspect="1"/>
          </p:cNvPicPr>
          <p:nvPr/>
        </p:nvPicPr>
        <p:blipFill>
          <a:blip r:embed="rId1"/>
          <a:stretch>
            <a:fillRect/>
          </a:stretch>
        </p:blipFill>
        <p:spPr>
          <a:xfrm>
            <a:off x="0" y="0"/>
            <a:ext cx="7560000" cy="4104000"/>
          </a:xfrm>
          <a:prstGeom prst="rect">
            <a:avLst/>
          </a:prstGeom>
        </p:spPr>
      </p:pic>
      <p:pic>
        <p:nvPicPr>
          <p:cNvPr id="3" name="Image 1" descr="/home/user/philippe1/build/deco-catalogue-scio-2026/coupe-titree.png">    </p:cNvPr>
          <p:cNvPicPr>
            <a:picLocks noChangeAspect="1"/>
          </p:cNvPicPr>
          <p:nvPr/>
        </p:nvPicPr>
        <p:blipFill>
          <a:blip r:embed="rId2"/>
          <a:stretch>
            <a:fillRect/>
          </a:stretch>
        </p:blipFill>
        <p:spPr>
          <a:xfrm>
            <a:off x="0" y="4032000"/>
            <a:ext cx="7560000" cy="5328000"/>
          </a:xfrm>
          <a:prstGeom prst="rect">
            <a:avLst/>
          </a:prstGeom>
        </p:spPr>
      </p:pic>
      <p:sp>
        <p:nvSpPr>
          <p:cNvPr id="4" name="Shape 0"/>
          <p:cNvSpPr/>
          <p:nvPr/>
        </p:nvSpPr>
        <p:spPr>
          <a:xfrm>
            <a:off x="468000" y="468000"/>
            <a:ext cx="2520000" cy="864000"/>
          </a:xfrm>
          <a:prstGeom prst="roundRect">
            <a:avLst>
              <a:gd name="adj" fmla="val 5292"/>
            </a:avLst>
          </a:prstGeom>
          <a:solidFill>
            <a:srgbClr val="FBF8F1"/>
          </a:solidFill>
          <a:ln w="12700">
            <a:solidFill>
              <a:srgbClr val="FBF8F1"/>
            </a:solidFill>
            <a:prstDash val="solid"/>
          </a:ln>
        </p:spPr>
      </p:sp>
      <p:pic>
        <p:nvPicPr>
          <p:cNvPr id="5" name="Image 2" descr="/home/user/philippe1/src/images/logo-agence-scio-detoure.png">    </p:cNvPr>
          <p:cNvPicPr>
            <a:picLocks noChangeAspect="1"/>
          </p:cNvPicPr>
          <p:nvPr/>
        </p:nvPicPr>
        <p:blipFill>
          <a:blip r:embed="rId3"/>
          <a:stretch>
            <a:fillRect/>
          </a:stretch>
        </p:blipFill>
        <p:spPr>
          <a:xfrm>
            <a:off x="612000" y="612000"/>
            <a:ext cx="2232000" cy="543915"/>
          </a:xfrm>
          <a:prstGeom prst="rect">
            <a:avLst/>
          </a:prstGeom>
        </p:spPr>
      </p:pic>
      <p:sp>
        <p:nvSpPr>
          <p:cNvPr id="6" name="Text 1"/>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FBF8F1"/>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E1C853"/>
                </a:solidFill>
                <a:latin typeface="Young Serif" pitchFamily="34" charset="0"/>
                <a:ea typeface="Young Serif" pitchFamily="34" charset="-122"/>
                <a:cs typeface="Young Serif" pitchFamily="34" charset="-120"/>
              </a:rPr>
              <a:t>pieds</a:t>
            </a:r>
            <a:endParaRPr lang="en-US" sz="4600" dirty="0"/>
          </a:p>
        </p:txBody>
      </p:sp>
      <p:sp>
        <p:nvSpPr>
          <p:cNvPr id="7" name="Text 2"/>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FBF8F1"/>
                </a:solidFill>
                <a:latin typeface="Spectral" pitchFamily="34" charset="0"/>
                <a:ea typeface="Spectral" pitchFamily="34" charset="-122"/>
                <a:cs typeface="Spectral" pitchFamily="34" charset="-120"/>
              </a:rPr>
              <a:t>et la terre qu'ils ont sous les pieds.</a:t>
            </a:r>
            <a:endParaRPr lang="en-US" sz="1050" dirty="0"/>
          </a:p>
        </p:txBody>
      </p:sp>
      <p:sp>
        <p:nvSpPr>
          <p:cNvPr id="8" name="Text 3"/>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FBF8F1"/>
                </a:solidFill>
                <a:latin typeface="IBM Plex Sans" pitchFamily="34" charset="0"/>
                <a:ea typeface="IBM Plex Sans" pitchFamily="34" charset="-122"/>
                <a:cs typeface="IBM Plex Sans" pitchFamily="34" charset="-120"/>
              </a:rPr>
              <a:t>TARIFS CAVISTES VENDÉE (85)</a:t>
            </a:r>
            <a:endParaRPr lang="en-US" sz="900" dirty="0"/>
          </a:p>
        </p:txBody>
      </p:sp>
      <p:sp>
        <p:nvSpPr>
          <p:cNvPr id="9" name="Text 4"/>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FBF8F1"/>
                </a:solidFill>
                <a:latin typeface="Young Serif" pitchFamily="34" charset="0"/>
                <a:ea typeface="Young Serif" pitchFamily="34" charset="-122"/>
                <a:cs typeface="Young Serif" pitchFamily="34" charset="-120"/>
              </a:rPr>
              <a:t>2026</a:t>
            </a:r>
            <a:endParaRPr lang="en-US" sz="3400" dirty="0"/>
          </a:p>
        </p:txBody>
      </p:sp>
      <p:sp>
        <p:nvSpPr>
          <p:cNvPr id="10" name="Text 5"/>
          <p:cNvSpPr/>
          <p:nvPr/>
        </p:nvSpPr>
        <p:spPr>
          <a:xfrm>
            <a:off x="1908000" y="8892000"/>
            <a:ext cx="5040000" cy="180000"/>
          </a:xfrm>
          <a:prstGeom prst="rect">
            <a:avLst/>
          </a:prstGeom>
          <a:noFill/>
          <a:ln/>
        </p:spPr>
        <p:txBody>
          <a:bodyPr wrap="square" lIns="0" tIns="0" rIns="0" bIns="0" rtlCol="0" anchor="ctr"/>
          <a:lstStyle/>
          <a:p>
            <a:pPr algn="r" indent="0" marL="0">
              <a:buNone/>
            </a:pPr>
            <a:r>
              <a:rPr lang="en-US" sz="560" dirty="0">
                <a:solidFill>
                  <a:srgbClr val="2A3942"/>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Shape 0"/>
          <p:cNvSpPr/>
          <p:nvPr/>
        </p:nvSpPr>
        <p:spPr>
          <a:xfrm>
            <a:off x="828000" y="1692000"/>
            <a:ext cx="0" cy="1152000"/>
          </a:xfrm>
          <a:prstGeom prst="line">
            <a:avLst/>
          </a:prstGeom>
          <a:noFill/>
          <a:ln w="15240">
            <a:solidFill>
              <a:srgbClr val="E1C853"/>
            </a:solidFill>
            <a:prstDash val="solid"/>
          </a:ln>
        </p:spPr>
      </p:sp>
      <p:sp>
        <p:nvSpPr>
          <p:cNvPr id="4" name="Text 1"/>
          <p:cNvSpPr/>
          <p:nvPr/>
        </p:nvSpPr>
        <p:spPr>
          <a:xfrm>
            <a:off x="1008000" y="1692000"/>
            <a:ext cx="5040000" cy="1152000"/>
          </a:xfrm>
          <a:prstGeom prst="rect">
            <a:avLst/>
          </a:prstGeom>
          <a:noFill/>
          <a:ln/>
        </p:spPr>
        <p:txBody>
          <a:bodyPr wrap="square" lIns="0" tIns="0" rIns="0" bIns="0" rtlCol="0" anchor="t"/>
          <a:lstStyle/>
          <a:p>
            <a:pPr indent="0" marL="0">
              <a:lnSpc>
                <a:spcPct val="145000"/>
              </a:lnSpc>
              <a:buNone/>
            </a:pPr>
            <a:r>
              <a:rPr lang="en-US" sz="1450" dirty="0">
                <a:solidFill>
                  <a:srgbClr val="2A3942"/>
                </a:solidFill>
                <a:latin typeface="Spectral" pitchFamily="34" charset="0"/>
                <a:ea typeface="Spectral" pitchFamily="34" charset="-122"/>
                <a:cs typeface="Spectral" pitchFamily="34" charset="-120"/>
              </a:rPr>
              <a:t>L'Agence SCIO, c'est partager notre savoir et notre passion en vous proposant des vignerons de tous horizons, avant-gardistes et respectueux de la nature. Découvrez notre sélection. Laissez-vous guider et conseiller.</a:t>
            </a:r>
            <a:endParaRPr lang="en-US" sz="1450" dirty="0"/>
          </a:p>
        </p:txBody>
      </p:sp>
      <p:sp>
        <p:nvSpPr>
          <p:cNvPr id="5" name="Text 2"/>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6" name="Text 3"/>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7" name="Text 4"/>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8" name="Text 5"/>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9" name="Text 6"/>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10" name="Image 1" descr="/home/user/philippe1/build/deco-catalogue-scio-2026/agence-photo.jpg">    </p:cNvPr>
          <p:cNvPicPr>
            <a:picLocks noChangeAspect="1"/>
          </p:cNvPicPr>
          <p:nvPr/>
        </p:nvPicPr>
        <p:blipFill>
          <a:blip r:embed="rId2"/>
          <a:stretch>
            <a:fillRect/>
          </a:stretch>
        </p:blipFill>
        <p:spPr>
          <a:xfrm>
            <a:off x="828000" y="4788000"/>
            <a:ext cx="6120000" cy="1599545"/>
          </a:xfrm>
          <a:prstGeom prst="rect">
            <a:avLst/>
          </a:prstGeom>
        </p:spPr>
      </p:pic>
      <p:sp>
        <p:nvSpPr>
          <p:cNvPr id="11" name="Shape 7"/>
          <p:cNvSpPr/>
          <p:nvPr/>
        </p:nvSpPr>
        <p:spPr>
          <a:xfrm>
            <a:off x="828000" y="6732000"/>
            <a:ext cx="6120000" cy="0"/>
          </a:xfrm>
          <a:prstGeom prst="line">
            <a:avLst/>
          </a:prstGeom>
          <a:noFill/>
          <a:ln w="10160">
            <a:solidFill>
              <a:srgbClr val="67067C"/>
            </a:solidFill>
            <a:prstDash val="solid"/>
          </a:ln>
        </p:spPr>
      </p:sp>
      <p:sp>
        <p:nvSpPr>
          <p:cNvPr id="12" name="Text 8"/>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3" name="Text 9"/>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4" name="Text 10"/>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5" name="Text 11"/>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6" name="Text 12"/>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7" name="Text 13"/>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8" name="Text 14"/>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9" name="Text 15"/>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918000" y="6490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9" name="Text 77"/>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80" name="Text 78"/>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1" name="Text 79"/>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2" name="Shape 80"/>
          <p:cNvSpPr/>
          <p:nvPr/>
        </p:nvSpPr>
        <p:spPr>
          <a:xfrm>
            <a:off x="612000" y="6627600"/>
            <a:ext cx="2952000" cy="0"/>
          </a:xfrm>
          <a:prstGeom prst="line">
            <a:avLst/>
          </a:prstGeom>
          <a:noFill/>
          <a:ln w="3810">
            <a:solidFill>
              <a:srgbClr val="C9CFC9"/>
            </a:solidFill>
            <a:prstDash val="solid"/>
          </a:ln>
        </p:spPr>
      </p:sp>
      <p:sp>
        <p:nvSpPr>
          <p:cNvPr id="83" name="Text 81"/>
          <p:cNvSpPr/>
          <p:nvPr/>
        </p:nvSpPr>
        <p:spPr>
          <a:xfrm>
            <a:off x="918000" y="6807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4" name="Text 82"/>
          <p:cNvSpPr/>
          <p:nvPr/>
        </p:nvSpPr>
        <p:spPr>
          <a:xfrm>
            <a:off x="612000" y="66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5" name="Text 83"/>
          <p:cNvSpPr/>
          <p:nvPr/>
        </p:nvSpPr>
        <p:spPr>
          <a:xfrm>
            <a:off x="918000" y="66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6" name="Text 84"/>
          <p:cNvSpPr/>
          <p:nvPr/>
        </p:nvSpPr>
        <p:spPr>
          <a:xfrm>
            <a:off x="3204000" y="66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7" name="Shape 85"/>
          <p:cNvSpPr/>
          <p:nvPr/>
        </p:nvSpPr>
        <p:spPr>
          <a:xfrm>
            <a:off x="612000" y="6944400"/>
            <a:ext cx="2952000" cy="0"/>
          </a:xfrm>
          <a:prstGeom prst="line">
            <a:avLst/>
          </a:prstGeom>
          <a:noFill/>
          <a:ln w="3810">
            <a:solidFill>
              <a:srgbClr val="C9CFC9"/>
            </a:solidFill>
            <a:prstDash val="solid"/>
          </a:ln>
        </p:spPr>
      </p:sp>
      <p:sp>
        <p:nvSpPr>
          <p:cNvPr id="88" name="Text 86"/>
          <p:cNvSpPr/>
          <p:nvPr/>
        </p:nvSpPr>
        <p:spPr>
          <a:xfrm>
            <a:off x="918000" y="7124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9" name="Text 87"/>
          <p:cNvSpPr/>
          <p:nvPr/>
        </p:nvSpPr>
        <p:spPr>
          <a:xfrm>
            <a:off x="612000" y="69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90" name="Text 88"/>
          <p:cNvSpPr/>
          <p:nvPr/>
        </p:nvSpPr>
        <p:spPr>
          <a:xfrm>
            <a:off x="918000" y="69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91" name="Text 89"/>
          <p:cNvSpPr/>
          <p:nvPr/>
        </p:nvSpPr>
        <p:spPr>
          <a:xfrm>
            <a:off x="3204000" y="69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92" name="Shape 90"/>
          <p:cNvSpPr/>
          <p:nvPr/>
        </p:nvSpPr>
        <p:spPr>
          <a:xfrm>
            <a:off x="612000" y="7261200"/>
            <a:ext cx="2952000" cy="0"/>
          </a:xfrm>
          <a:prstGeom prst="line">
            <a:avLst/>
          </a:prstGeom>
          <a:noFill/>
          <a:ln w="3810">
            <a:solidFill>
              <a:srgbClr val="C9CFC9"/>
            </a:solidFill>
            <a:prstDash val="solid"/>
          </a:ln>
        </p:spPr>
      </p:sp>
      <p:sp>
        <p:nvSpPr>
          <p:cNvPr id="93" name="Text 91"/>
          <p:cNvSpPr/>
          <p:nvPr/>
        </p:nvSpPr>
        <p:spPr>
          <a:xfrm>
            <a:off x="918000" y="7441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94" name="Text 92"/>
          <p:cNvSpPr/>
          <p:nvPr/>
        </p:nvSpPr>
        <p:spPr>
          <a:xfrm>
            <a:off x="612000" y="72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5" name="Text 93"/>
          <p:cNvSpPr/>
          <p:nvPr/>
        </p:nvSpPr>
        <p:spPr>
          <a:xfrm>
            <a:off x="918000" y="72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6" name="Text 94"/>
          <p:cNvSpPr/>
          <p:nvPr/>
        </p:nvSpPr>
        <p:spPr>
          <a:xfrm>
            <a:off x="3204000" y="72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7" name="Shape 95"/>
          <p:cNvSpPr/>
          <p:nvPr/>
        </p:nvSpPr>
        <p:spPr>
          <a:xfrm>
            <a:off x="612000" y="7578000"/>
            <a:ext cx="2952000" cy="0"/>
          </a:xfrm>
          <a:prstGeom prst="line">
            <a:avLst/>
          </a:prstGeom>
          <a:noFill/>
          <a:ln w="3810">
            <a:solidFill>
              <a:srgbClr val="C9CFC9"/>
            </a:solidFill>
            <a:prstDash val="solid"/>
          </a:ln>
        </p:spPr>
      </p:sp>
      <p:sp>
        <p:nvSpPr>
          <p:cNvPr id="98" name="Text 96"/>
          <p:cNvSpPr/>
          <p:nvPr/>
        </p:nvSpPr>
        <p:spPr>
          <a:xfrm>
            <a:off x="612000" y="75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9" name="Text 97"/>
          <p:cNvSpPr/>
          <p:nvPr/>
        </p:nvSpPr>
        <p:spPr>
          <a:xfrm>
            <a:off x="918000" y="75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100" name="Text 98"/>
          <p:cNvSpPr/>
          <p:nvPr/>
        </p:nvSpPr>
        <p:spPr>
          <a:xfrm>
            <a:off x="3204000" y="75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101" name="Shape 99"/>
          <p:cNvSpPr/>
          <p:nvPr/>
        </p:nvSpPr>
        <p:spPr>
          <a:xfrm>
            <a:off x="612000" y="7779600"/>
            <a:ext cx="2952000" cy="0"/>
          </a:xfrm>
          <a:prstGeom prst="line">
            <a:avLst/>
          </a:prstGeom>
          <a:noFill/>
          <a:ln w="3810">
            <a:solidFill>
              <a:srgbClr val="C9CFC9"/>
            </a:solidFill>
            <a:prstDash val="solid"/>
          </a:ln>
        </p:spPr>
      </p:sp>
      <p:sp>
        <p:nvSpPr>
          <p:cNvPr id="102" name="Text 100"/>
          <p:cNvSpPr/>
          <p:nvPr/>
        </p:nvSpPr>
        <p:spPr>
          <a:xfrm>
            <a:off x="612000" y="77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03" name="Text 101"/>
          <p:cNvSpPr/>
          <p:nvPr/>
        </p:nvSpPr>
        <p:spPr>
          <a:xfrm>
            <a:off x="918000" y="77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4" name="Text 102"/>
          <p:cNvSpPr/>
          <p:nvPr/>
        </p:nvSpPr>
        <p:spPr>
          <a:xfrm>
            <a:off x="3204000" y="77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5" name="Shape 103"/>
          <p:cNvSpPr/>
          <p:nvPr/>
        </p:nvSpPr>
        <p:spPr>
          <a:xfrm>
            <a:off x="612000" y="7981200"/>
            <a:ext cx="2952000" cy="0"/>
          </a:xfrm>
          <a:prstGeom prst="line">
            <a:avLst/>
          </a:prstGeom>
          <a:noFill/>
          <a:ln w="3810">
            <a:solidFill>
              <a:srgbClr val="C9CFC9"/>
            </a:solidFill>
            <a:prstDash val="solid"/>
          </a:ln>
        </p:spPr>
      </p:sp>
      <p:sp>
        <p:nvSpPr>
          <p:cNvPr id="106" name="Shape 104"/>
          <p:cNvSpPr/>
          <p:nvPr/>
        </p:nvSpPr>
        <p:spPr>
          <a:xfrm>
            <a:off x="3780000" y="1141200"/>
            <a:ext cx="115200" cy="115200"/>
          </a:xfrm>
          <a:prstGeom prst="rect">
            <a:avLst/>
          </a:prstGeom>
          <a:solidFill>
            <a:srgbClr val="D08C3C"/>
          </a:solidFill>
          <a:ln w="7620">
            <a:solidFill>
              <a:srgbClr val="D08C3C"/>
            </a:solidFill>
            <a:prstDash val="solid"/>
          </a:ln>
        </p:spPr>
      </p:sp>
      <p:sp>
        <p:nvSpPr>
          <p:cNvPr id="107" name="Text 105"/>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8" name="Shape 106"/>
          <p:cNvSpPr/>
          <p:nvPr/>
        </p:nvSpPr>
        <p:spPr>
          <a:xfrm>
            <a:off x="3780000" y="1335600"/>
            <a:ext cx="2952000" cy="0"/>
          </a:xfrm>
          <a:prstGeom prst="line">
            <a:avLst/>
          </a:prstGeom>
          <a:noFill/>
          <a:ln w="11430">
            <a:solidFill>
              <a:srgbClr val="67067C"/>
            </a:solidFill>
            <a:prstDash val="solid"/>
          </a:ln>
        </p:spPr>
      </p:sp>
      <p:sp>
        <p:nvSpPr>
          <p:cNvPr id="109" name="Text 107"/>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10" name="Text 108"/>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11" name="Text 109"/>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12" name="Shape 110"/>
          <p:cNvSpPr/>
          <p:nvPr/>
        </p:nvSpPr>
        <p:spPr>
          <a:xfrm>
            <a:off x="3780000" y="1587600"/>
            <a:ext cx="2952000" cy="0"/>
          </a:xfrm>
          <a:prstGeom prst="line">
            <a:avLst/>
          </a:prstGeom>
          <a:noFill/>
          <a:ln w="3810">
            <a:solidFill>
              <a:srgbClr val="C9CFC9"/>
            </a:solidFill>
            <a:prstDash val="solid"/>
          </a:ln>
        </p:spPr>
      </p:sp>
      <p:sp>
        <p:nvSpPr>
          <p:cNvPr id="113" name="Text 111"/>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4" name="Text 112"/>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5" name="Text 113"/>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6" name="Shape 114"/>
          <p:cNvSpPr/>
          <p:nvPr/>
        </p:nvSpPr>
        <p:spPr>
          <a:xfrm>
            <a:off x="3780000" y="1789200"/>
            <a:ext cx="2952000" cy="0"/>
          </a:xfrm>
          <a:prstGeom prst="line">
            <a:avLst/>
          </a:prstGeom>
          <a:noFill/>
          <a:ln w="3810">
            <a:solidFill>
              <a:srgbClr val="C9CFC9"/>
            </a:solidFill>
            <a:prstDash val="solid"/>
          </a:ln>
        </p:spPr>
      </p:sp>
      <p:sp>
        <p:nvSpPr>
          <p:cNvPr id="117" name="Text 115"/>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8" name="Text 116"/>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9" name="Text 117"/>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20" name="Shape 118"/>
          <p:cNvSpPr/>
          <p:nvPr/>
        </p:nvSpPr>
        <p:spPr>
          <a:xfrm>
            <a:off x="3780000" y="1990800"/>
            <a:ext cx="2952000" cy="0"/>
          </a:xfrm>
          <a:prstGeom prst="line">
            <a:avLst/>
          </a:prstGeom>
          <a:noFill/>
          <a:ln w="3810">
            <a:solidFill>
              <a:srgbClr val="C9CFC9"/>
            </a:solidFill>
            <a:prstDash val="solid"/>
          </a:ln>
        </p:spPr>
      </p:sp>
      <p:sp>
        <p:nvSpPr>
          <p:cNvPr id="121" name="Shape 119"/>
          <p:cNvSpPr/>
          <p:nvPr/>
        </p:nvSpPr>
        <p:spPr>
          <a:xfrm>
            <a:off x="3780000" y="2221200"/>
            <a:ext cx="115200" cy="115200"/>
          </a:xfrm>
          <a:prstGeom prst="rect">
            <a:avLst/>
          </a:prstGeom>
          <a:solidFill>
            <a:srgbClr val="A8515F"/>
          </a:solidFill>
          <a:ln w="7620">
            <a:solidFill>
              <a:srgbClr val="A8515F"/>
            </a:solidFill>
            <a:prstDash val="solid"/>
          </a:ln>
        </p:spPr>
      </p:sp>
      <p:sp>
        <p:nvSpPr>
          <p:cNvPr id="122" name="Text 120"/>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23" name="Shape 121"/>
          <p:cNvSpPr/>
          <p:nvPr/>
        </p:nvSpPr>
        <p:spPr>
          <a:xfrm>
            <a:off x="3780000" y="2415600"/>
            <a:ext cx="2952000" cy="0"/>
          </a:xfrm>
          <a:prstGeom prst="line">
            <a:avLst/>
          </a:prstGeom>
          <a:noFill/>
          <a:ln w="11430">
            <a:solidFill>
              <a:srgbClr val="67067C"/>
            </a:solidFill>
            <a:prstDash val="solid"/>
          </a:ln>
        </p:spPr>
      </p:sp>
      <p:sp>
        <p:nvSpPr>
          <p:cNvPr id="124" name="Text 122"/>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5" name="Text 123"/>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6" name="Text 124"/>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7" name="Shape 125"/>
          <p:cNvSpPr/>
          <p:nvPr/>
        </p:nvSpPr>
        <p:spPr>
          <a:xfrm>
            <a:off x="3780000" y="2667600"/>
            <a:ext cx="2952000" cy="0"/>
          </a:xfrm>
          <a:prstGeom prst="line">
            <a:avLst/>
          </a:prstGeom>
          <a:noFill/>
          <a:ln w="3810">
            <a:solidFill>
              <a:srgbClr val="C9CFC9"/>
            </a:solidFill>
            <a:prstDash val="solid"/>
          </a:ln>
        </p:spPr>
      </p:sp>
      <p:sp>
        <p:nvSpPr>
          <p:cNvPr id="128" name="Text 126"/>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9" name="Text 127"/>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30" name="Text 128"/>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31" name="Shape 129"/>
          <p:cNvSpPr/>
          <p:nvPr/>
        </p:nvSpPr>
        <p:spPr>
          <a:xfrm>
            <a:off x="3780000" y="2869200"/>
            <a:ext cx="2952000" cy="0"/>
          </a:xfrm>
          <a:prstGeom prst="line">
            <a:avLst/>
          </a:prstGeom>
          <a:noFill/>
          <a:ln w="3810">
            <a:solidFill>
              <a:srgbClr val="C9CFC9"/>
            </a:solidFill>
            <a:prstDash val="solid"/>
          </a:ln>
        </p:spPr>
      </p:sp>
      <p:sp>
        <p:nvSpPr>
          <p:cNvPr id="132" name="Text 130"/>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33" name="Text 131"/>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4" name="Text 132"/>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5" name="Shape 133"/>
          <p:cNvSpPr/>
          <p:nvPr/>
        </p:nvSpPr>
        <p:spPr>
          <a:xfrm>
            <a:off x="3780000" y="3070800"/>
            <a:ext cx="2952000" cy="0"/>
          </a:xfrm>
          <a:prstGeom prst="line">
            <a:avLst/>
          </a:prstGeom>
          <a:noFill/>
          <a:ln w="3810">
            <a:solidFill>
              <a:srgbClr val="C9CFC9"/>
            </a:solidFill>
            <a:prstDash val="solid"/>
          </a:ln>
        </p:spPr>
      </p:sp>
      <p:sp>
        <p:nvSpPr>
          <p:cNvPr id="136" name="Text 134"/>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7" name="Text 135"/>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8" name="Text 136"/>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9" name="Shape 137"/>
          <p:cNvSpPr/>
          <p:nvPr/>
        </p:nvSpPr>
        <p:spPr>
          <a:xfrm>
            <a:off x="3780000" y="3272400"/>
            <a:ext cx="2952000" cy="0"/>
          </a:xfrm>
          <a:prstGeom prst="line">
            <a:avLst/>
          </a:prstGeom>
          <a:noFill/>
          <a:ln w="3810">
            <a:solidFill>
              <a:srgbClr val="C9CFC9"/>
            </a:solidFill>
            <a:prstDash val="solid"/>
          </a:ln>
        </p:spPr>
      </p:sp>
      <p:sp>
        <p:nvSpPr>
          <p:cNvPr id="140" name="Text 138"/>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41" name="Text 139"/>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42" name="Text 140"/>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43" name="Shape 141"/>
          <p:cNvSpPr/>
          <p:nvPr/>
        </p:nvSpPr>
        <p:spPr>
          <a:xfrm>
            <a:off x="3780000" y="3474000"/>
            <a:ext cx="2952000" cy="0"/>
          </a:xfrm>
          <a:prstGeom prst="line">
            <a:avLst/>
          </a:prstGeom>
          <a:noFill/>
          <a:ln w="3810">
            <a:solidFill>
              <a:srgbClr val="C9CFC9"/>
            </a:solidFill>
            <a:prstDash val="solid"/>
          </a:ln>
        </p:spPr>
      </p:sp>
      <p:sp>
        <p:nvSpPr>
          <p:cNvPr id="144" name="Text 142"/>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5" name="Text 143"/>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6" name="Text 144"/>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7" name="Shape 145"/>
          <p:cNvSpPr/>
          <p:nvPr/>
        </p:nvSpPr>
        <p:spPr>
          <a:xfrm>
            <a:off x="3780000" y="3675600"/>
            <a:ext cx="2952000" cy="0"/>
          </a:xfrm>
          <a:prstGeom prst="line">
            <a:avLst/>
          </a:prstGeom>
          <a:noFill/>
          <a:ln w="3810">
            <a:solidFill>
              <a:srgbClr val="C9CFC9"/>
            </a:solidFill>
            <a:prstDash val="solid"/>
          </a:ln>
        </p:spPr>
      </p:sp>
      <p:sp>
        <p:nvSpPr>
          <p:cNvPr id="148" name="Shape 146"/>
          <p:cNvSpPr/>
          <p:nvPr/>
        </p:nvSpPr>
        <p:spPr>
          <a:xfrm>
            <a:off x="3780000" y="3906000"/>
            <a:ext cx="115200" cy="115200"/>
          </a:xfrm>
          <a:prstGeom prst="rect">
            <a:avLst/>
          </a:prstGeom>
          <a:solidFill>
            <a:srgbClr val="46606E"/>
          </a:solidFill>
          <a:ln w="7620">
            <a:solidFill>
              <a:srgbClr val="46606E"/>
            </a:solidFill>
            <a:prstDash val="solid"/>
          </a:ln>
        </p:spPr>
      </p:sp>
      <p:sp>
        <p:nvSpPr>
          <p:cNvPr id="149" name="Text 147"/>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50" name="Shape 148"/>
          <p:cNvSpPr/>
          <p:nvPr/>
        </p:nvSpPr>
        <p:spPr>
          <a:xfrm>
            <a:off x="3780000" y="4100400"/>
            <a:ext cx="2952000" cy="0"/>
          </a:xfrm>
          <a:prstGeom prst="line">
            <a:avLst/>
          </a:prstGeom>
          <a:noFill/>
          <a:ln w="11430">
            <a:solidFill>
              <a:srgbClr val="67067C"/>
            </a:solidFill>
            <a:prstDash val="solid"/>
          </a:ln>
        </p:spPr>
      </p:sp>
      <p:sp>
        <p:nvSpPr>
          <p:cNvPr id="151" name="Text 149"/>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52" name="Text 150"/>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53" name="Text 151"/>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4" name="Shape 152"/>
          <p:cNvSpPr/>
          <p:nvPr/>
        </p:nvSpPr>
        <p:spPr>
          <a:xfrm>
            <a:off x="3780000" y="4352400"/>
            <a:ext cx="2952000" cy="0"/>
          </a:xfrm>
          <a:prstGeom prst="line">
            <a:avLst/>
          </a:prstGeom>
          <a:noFill/>
          <a:ln w="3810">
            <a:solidFill>
              <a:srgbClr val="C9CFC9"/>
            </a:solidFill>
            <a:prstDash val="solid"/>
          </a:ln>
        </p:spPr>
      </p:sp>
      <p:sp>
        <p:nvSpPr>
          <p:cNvPr id="155" name="Shape 153"/>
          <p:cNvSpPr/>
          <p:nvPr/>
        </p:nvSpPr>
        <p:spPr>
          <a:xfrm>
            <a:off x="3780000" y="4582800"/>
            <a:ext cx="115200" cy="115200"/>
          </a:xfrm>
          <a:prstGeom prst="rect">
            <a:avLst/>
          </a:prstGeom>
          <a:solidFill>
            <a:srgbClr val="3C5B47"/>
          </a:solidFill>
          <a:ln w="7620">
            <a:solidFill>
              <a:srgbClr val="3C5B47"/>
            </a:solidFill>
            <a:prstDash val="solid"/>
          </a:ln>
        </p:spPr>
      </p:sp>
      <p:sp>
        <p:nvSpPr>
          <p:cNvPr id="156" name="Text 154"/>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7" name="Shape 155"/>
          <p:cNvSpPr/>
          <p:nvPr/>
        </p:nvSpPr>
        <p:spPr>
          <a:xfrm>
            <a:off x="3780000" y="4777200"/>
            <a:ext cx="2952000" cy="0"/>
          </a:xfrm>
          <a:prstGeom prst="line">
            <a:avLst/>
          </a:prstGeom>
          <a:noFill/>
          <a:ln w="11430">
            <a:solidFill>
              <a:srgbClr val="67067C"/>
            </a:solidFill>
            <a:prstDash val="solid"/>
          </a:ln>
        </p:spPr>
      </p:sp>
      <p:sp>
        <p:nvSpPr>
          <p:cNvPr id="158" name="Text 156"/>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9" name="Text 157"/>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60" name="Text 158"/>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61" name="Shape 159"/>
          <p:cNvSpPr/>
          <p:nvPr/>
        </p:nvSpPr>
        <p:spPr>
          <a:xfrm>
            <a:off x="3780000" y="5029200"/>
            <a:ext cx="2952000" cy="0"/>
          </a:xfrm>
          <a:prstGeom prst="line">
            <a:avLst/>
          </a:prstGeom>
          <a:noFill/>
          <a:ln w="3810">
            <a:solidFill>
              <a:srgbClr val="C9CFC9"/>
            </a:solidFill>
            <a:prstDash val="solid"/>
          </a:ln>
        </p:spPr>
      </p:sp>
      <p:sp>
        <p:nvSpPr>
          <p:cNvPr id="162" name="Text 160"/>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63" name="Text 161"/>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4" name="Text 162"/>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5" name="Shape 163"/>
          <p:cNvSpPr/>
          <p:nvPr/>
        </p:nvSpPr>
        <p:spPr>
          <a:xfrm>
            <a:off x="3780000" y="5230800"/>
            <a:ext cx="2952000" cy="0"/>
          </a:xfrm>
          <a:prstGeom prst="line">
            <a:avLst/>
          </a:prstGeom>
          <a:noFill/>
          <a:ln w="3810">
            <a:solidFill>
              <a:srgbClr val="C9CFC9"/>
            </a:solidFill>
            <a:prstDash val="solid"/>
          </a:ln>
        </p:spPr>
      </p:sp>
      <p:sp>
        <p:nvSpPr>
          <p:cNvPr id="166" name="Text 164"/>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7" name="Text 165"/>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8" name="Text 166"/>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9" name="Shape 167"/>
          <p:cNvSpPr/>
          <p:nvPr/>
        </p:nvSpPr>
        <p:spPr>
          <a:xfrm>
            <a:off x="3780000" y="5432400"/>
            <a:ext cx="2952000" cy="0"/>
          </a:xfrm>
          <a:prstGeom prst="line">
            <a:avLst/>
          </a:prstGeom>
          <a:noFill/>
          <a:ln w="3810">
            <a:solidFill>
              <a:srgbClr val="C9CFC9"/>
            </a:solidFill>
            <a:prstDash val="solid"/>
          </a:ln>
        </p:spPr>
      </p:sp>
      <p:sp>
        <p:nvSpPr>
          <p:cNvPr id="170" name="Text 168"/>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71" name="Text 169"/>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72" name="Text 170"/>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73" name="Shape 171"/>
          <p:cNvSpPr/>
          <p:nvPr/>
        </p:nvSpPr>
        <p:spPr>
          <a:xfrm>
            <a:off x="3780000" y="5634000"/>
            <a:ext cx="2952000" cy="0"/>
          </a:xfrm>
          <a:prstGeom prst="line">
            <a:avLst/>
          </a:prstGeom>
          <a:noFill/>
          <a:ln w="3810">
            <a:solidFill>
              <a:srgbClr val="C9CFC9"/>
            </a:solidFill>
            <a:prstDash val="solid"/>
          </a:ln>
        </p:spPr>
      </p:sp>
      <p:sp>
        <p:nvSpPr>
          <p:cNvPr id="174" name="Text 172"/>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5" name="Text 173"/>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6" name="Text 174"/>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7" name="Shape 175"/>
          <p:cNvSpPr/>
          <p:nvPr/>
        </p:nvSpPr>
        <p:spPr>
          <a:xfrm>
            <a:off x="3780000" y="5835600"/>
            <a:ext cx="2952000" cy="0"/>
          </a:xfrm>
          <a:prstGeom prst="line">
            <a:avLst/>
          </a:prstGeom>
          <a:noFill/>
          <a:ln w="3810">
            <a:solidFill>
              <a:srgbClr val="C9CFC9"/>
            </a:solidFill>
            <a:prstDash val="solid"/>
          </a:ln>
        </p:spPr>
      </p:sp>
      <p:sp>
        <p:nvSpPr>
          <p:cNvPr id="178" name="Shape 176"/>
          <p:cNvSpPr/>
          <p:nvPr/>
        </p:nvSpPr>
        <p:spPr>
          <a:xfrm>
            <a:off x="3780000" y="6066000"/>
            <a:ext cx="115200" cy="115200"/>
          </a:xfrm>
          <a:prstGeom prst="rect">
            <a:avLst/>
          </a:prstGeom>
          <a:solidFill>
            <a:srgbClr val="FBF8F1"/>
          </a:solidFill>
          <a:ln w="7620">
            <a:solidFill>
              <a:srgbClr val="46606E"/>
            </a:solidFill>
            <a:prstDash val="solid"/>
          </a:ln>
        </p:spPr>
      </p:sp>
      <p:sp>
        <p:nvSpPr>
          <p:cNvPr id="179" name="Text 177"/>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80" name="Shape 178"/>
          <p:cNvSpPr/>
          <p:nvPr/>
        </p:nvSpPr>
        <p:spPr>
          <a:xfrm>
            <a:off x="3780000" y="6260400"/>
            <a:ext cx="2952000" cy="0"/>
          </a:xfrm>
          <a:prstGeom prst="line">
            <a:avLst/>
          </a:prstGeom>
          <a:noFill/>
          <a:ln w="11430">
            <a:solidFill>
              <a:srgbClr val="67067C"/>
            </a:solidFill>
            <a:prstDash val="solid"/>
          </a:ln>
        </p:spPr>
      </p:sp>
      <p:sp>
        <p:nvSpPr>
          <p:cNvPr id="181" name="Text 179"/>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82" name="Text 180"/>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83" name="Text 181"/>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4" name="Shape 182"/>
          <p:cNvSpPr/>
          <p:nvPr/>
        </p:nvSpPr>
        <p:spPr>
          <a:xfrm>
            <a:off x="3780000" y="6512400"/>
            <a:ext cx="2952000" cy="0"/>
          </a:xfrm>
          <a:prstGeom prst="line">
            <a:avLst/>
          </a:prstGeom>
          <a:noFill/>
          <a:ln w="3810">
            <a:solidFill>
              <a:srgbClr val="C9CFC9"/>
            </a:solidFill>
            <a:prstDash val="solid"/>
          </a:ln>
        </p:spPr>
      </p:sp>
      <p:sp>
        <p:nvSpPr>
          <p:cNvPr id="185" name="Text 183"/>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6" name="Text 184"/>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7" name="Text 185"/>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8" name="Shape 186"/>
          <p:cNvSpPr/>
          <p:nvPr/>
        </p:nvSpPr>
        <p:spPr>
          <a:xfrm>
            <a:off x="3780000" y="6714000"/>
            <a:ext cx="2952000" cy="0"/>
          </a:xfrm>
          <a:prstGeom prst="line">
            <a:avLst/>
          </a:prstGeom>
          <a:noFill/>
          <a:ln w="3810">
            <a:solidFill>
              <a:srgbClr val="C9CFC9"/>
            </a:solidFill>
            <a:prstDash val="solid"/>
          </a:ln>
        </p:spPr>
      </p:sp>
      <p:sp>
        <p:nvSpPr>
          <p:cNvPr id="189" name="Text 187"/>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90" name="Text 188"/>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91" name="Text 189"/>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92" name="Shape 190"/>
          <p:cNvSpPr/>
          <p:nvPr/>
        </p:nvSpPr>
        <p:spPr>
          <a:xfrm>
            <a:off x="3780000" y="6915600"/>
            <a:ext cx="2952000" cy="0"/>
          </a:xfrm>
          <a:prstGeom prst="line">
            <a:avLst/>
          </a:prstGeom>
          <a:noFill/>
          <a:ln w="3810">
            <a:solidFill>
              <a:srgbClr val="C9CFC9"/>
            </a:solidFill>
            <a:prstDash val="solid"/>
          </a:ln>
        </p:spPr>
      </p:sp>
      <p:sp>
        <p:nvSpPr>
          <p:cNvPr id="193" name="Text 191"/>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4" name="Text 192"/>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5" name="Text 193"/>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6" name="Shape 194"/>
          <p:cNvSpPr/>
          <p:nvPr/>
        </p:nvSpPr>
        <p:spPr>
          <a:xfrm>
            <a:off x="3780000" y="7117200"/>
            <a:ext cx="2952000" cy="0"/>
          </a:xfrm>
          <a:prstGeom prst="line">
            <a:avLst/>
          </a:prstGeom>
          <a:noFill/>
          <a:ln w="3810">
            <a:solidFill>
              <a:srgbClr val="C9CFC9"/>
            </a:solidFill>
            <a:prstDash val="solid"/>
          </a:ln>
        </p:spPr>
      </p:sp>
      <p:sp>
        <p:nvSpPr>
          <p:cNvPr id="197" name="Shape 195"/>
          <p:cNvSpPr/>
          <p:nvPr/>
        </p:nvSpPr>
        <p:spPr>
          <a:xfrm>
            <a:off x="612000" y="8280000"/>
            <a:ext cx="6120000" cy="0"/>
          </a:xfrm>
          <a:prstGeom prst="line">
            <a:avLst/>
          </a:prstGeom>
          <a:noFill/>
          <a:ln w="10160">
            <a:solidFill>
              <a:srgbClr val="67067C"/>
            </a:solidFill>
            <a:prstDash val="solid"/>
          </a:ln>
        </p:spPr>
      </p:sp>
      <p:sp>
        <p:nvSpPr>
          <p:cNvPr id="198" name="Text 196"/>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9" name="Text 197"/>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200"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201" name="Text 198"/>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202"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203" name="Text 199"/>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4"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5" name="Text 200"/>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6"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7" name="Text 201"/>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8"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9" name="Text 202"/>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10"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11" name="Text 203"/>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12"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13" name="Text 204"/>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4" name="Text 205"/>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5" name="Text 20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6" name="Text 20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612000" y="12924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jp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jp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jp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292400"/>
            <a:ext cx="588492"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jp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jp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jp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2525" y="1292400"/>
            <a:ext cx="554951"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jp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056677"/>
            <a:ext cx="0" cy="259440"/>
          </a:xfrm>
          <a:prstGeom prst="line">
            <a:avLst/>
          </a:prstGeom>
          <a:noFill/>
          <a:ln w="17780">
            <a:solidFill>
              <a:srgbClr val="67067C"/>
            </a:solidFill>
            <a:prstDash val="solid"/>
          </a:ln>
        </p:spPr>
      </p:sp>
      <p:sp>
        <p:nvSpPr>
          <p:cNvPr id="20" name="Text 13"/>
          <p:cNvSpPr/>
          <p:nvPr/>
        </p:nvSpPr>
        <p:spPr>
          <a:xfrm>
            <a:off x="720000" y="50566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4601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jpg">    </p:cNvPr>
          <p:cNvPicPr>
            <a:picLocks noChangeAspect="1"/>
          </p:cNvPicPr>
          <p:nvPr/>
        </p:nvPicPr>
        <p:blipFill>
          <a:blip r:embed="rId5"/>
          <a:stretch>
            <a:fillRect/>
          </a:stretch>
        </p:blipFill>
        <p:spPr>
          <a:xfrm>
            <a:off x="612000" y="5607717"/>
            <a:ext cx="6120000" cy="1522792"/>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jp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jp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jp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0049" y="1292400"/>
            <a:ext cx="551902"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jp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jp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jp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jp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jp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jp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jp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2" name="Text 1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3" name="Text 1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5" name="Text 1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26" name="Text 1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 Paysages des régions : Wikimedia Commons, Benjamin Smith (CC BY-SA 4.0), JLPC (CC BY-SA 3.0), Sebleouf (CC BY-SA 4.0), Mpmpmp (CC BY-SA 3.0), Véronique PAGNIER (Public domain), Interprofession des Vins du Sud-Ouest (CC BY-SA 4.0), Pascal MOULIN (CC BY-SA 4.0), François GOGLINS (CC BY-SA 4.0), Gaylord Burguière (CC BY 4.0), JensKunstfreund (CC BY-SA 4.0).</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2026-10-03T17:00:51Z</dcterms:created>
  <dcterms:modified xsi:type="dcterms:W3CDTF">2026-10-03T17:00:51Z</dcterms:modified>
</cp:coreProperties>
</file>