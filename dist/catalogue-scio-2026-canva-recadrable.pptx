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3.png"/><Relationship Id="rId15" Type="http://schemas.openxmlformats.org/officeDocument/2006/relationships/image" Target="../media/image-3-15.png"/><Relationship Id="rId16" Type="http://schemas.openxmlformats.org/officeDocument/2006/relationships/image" Target="../media/image-3-15.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slideLayout" Target="../slideLayouts/slideLayout1.xml"/><Relationship Id="rId2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jp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jp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jp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jp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jp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1.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jp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jp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jp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slideLayout" Target="../slideLayouts/slideLayout1.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jpg"/><Relationship Id="rId4" Type="http://schemas.openxmlformats.org/officeDocument/2006/relationships/image" Target="../media/image-52-4.pn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slideLayout" Target="../slideLayouts/slideLayout1.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jpg"/><Relationship Id="rId4" Type="http://schemas.openxmlformats.org/officeDocument/2006/relationships/image" Target="../media/image-56-4.png"/><Relationship Id="rId5" Type="http://schemas.openxmlformats.org/officeDocument/2006/relationships/slideLayout" Target="../slideLayouts/slideLayout1.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jpg"/><Relationship Id="rId4" Type="http://schemas.openxmlformats.org/officeDocument/2006/relationships/image" Target="../media/image-57-4.png"/><Relationship Id="rId5" Type="http://schemas.openxmlformats.org/officeDocument/2006/relationships/slideLayout" Target="../slideLayouts/slideLayout1.xml"/><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slideLayout" Target="../slideLayouts/slideLayout1.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jp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1.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slideLayout" Target="../slideLayouts/slideLayout1.xm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slideLayout" Target="../slideLayouts/slideLayout1.xml"/><Relationship Id="rId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jp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slideLayout" Target="../slideLayouts/slideLayout1.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slideLayout" Target="../slideLayouts/slideLayout1.xml"/><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jp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slideLayout" Target="../slideLayouts/slideLayout1.xml"/><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Shape 2"/>
          <p:cNvSpPr/>
          <p:nvPr/>
        </p:nvSpPr>
        <p:spPr>
          <a:xfrm>
            <a:off x="-216000" y="7776000"/>
            <a:ext cx="2808000" cy="864000"/>
          </a:xfrm>
          <a:prstGeom prst="roundRect">
            <a:avLst>
              <a:gd name="adj" fmla="val 3175"/>
            </a:avLst>
          </a:prstGeom>
          <a:solidFill>
            <a:srgbClr val="F2EADA"/>
          </a:solidFill>
          <a:ln w="12700">
            <a:solidFill>
              <a:srgbClr val="F2EADA"/>
            </a:solidFill>
            <a:prstDash val="solid"/>
          </a:ln>
        </p:spPr>
      </p:sp>
      <p:sp>
        <p:nvSpPr>
          <p:cNvPr id="7" name="Text 3"/>
          <p:cNvSpPr/>
          <p:nvPr/>
        </p:nvSpPr>
        <p:spPr>
          <a:xfrm>
            <a:off x="612000" y="7848000"/>
            <a:ext cx="2160000" cy="180000"/>
          </a:xfrm>
          <a:prstGeom prst="rect">
            <a:avLst/>
          </a:prstGeom>
          <a:noFill/>
          <a:ln/>
        </p:spPr>
        <p:txBody>
          <a:bodyPr wrap="square" lIns="0" tIns="0" rIns="0" bIns="0" rtlCol="0" anchor="ctr"/>
          <a:lstStyle/>
          <a:p>
            <a:pP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8" name="Text 4"/>
          <p:cNvSpPr/>
          <p:nvPr/>
        </p:nvSpPr>
        <p:spPr>
          <a:xfrm>
            <a:off x="612000" y="8064000"/>
            <a:ext cx="2160000" cy="504000"/>
          </a:xfrm>
          <a:prstGeom prst="rect">
            <a:avLst/>
          </a:prstGeom>
          <a:noFill/>
          <a:ln/>
        </p:spPr>
        <p:txBody>
          <a:bodyPr wrap="square" lIns="0" tIns="0" rIns="0" bIns="0" rtlCol="0" anchor="ctr"/>
          <a:lstStyle/>
          <a:p>
            <a:pP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9" name="Text 5"/>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atalogue-scio-2026/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pic>
        <p:nvPicPr>
          <p:cNvPr id="3" name="Image 0" descr="/home/user/philippe1/build/deco-catalogue-scio-2026/bande-loire.png">    </p:cNvPr>
          <p:cNvPicPr>
            <a:picLocks noChangeAspect="1"/>
          </p:cNvPicPr>
          <p:nvPr/>
        </p:nvPicPr>
        <p:blipFill>
          <a:blip r:embed="rId1"/>
          <a:stretch>
            <a:fillRect/>
          </a:stretch>
        </p:blipFill>
        <p:spPr>
          <a:xfrm>
            <a:off x="612000" y="1062000"/>
            <a:ext cx="2952000" cy="273600"/>
          </a:xfrm>
          <a:prstGeom prst="rect">
            <a:avLst/>
          </a:prstGeom>
        </p:spPr>
      </p:pic>
      <p:sp>
        <p:nvSpPr>
          <p:cNvPr id="4" name="Text 1"/>
          <p:cNvSpPr/>
          <p:nvPr/>
        </p:nvSpPr>
        <p:spPr>
          <a:xfrm>
            <a:off x="720000" y="10620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Loire</a:t>
            </a:r>
            <a:endParaRPr lang="en-US" sz="1300" dirty="0"/>
          </a:p>
        </p:txBody>
      </p:sp>
      <p:sp>
        <p:nvSpPr>
          <p:cNvPr id="5" name="Text 2"/>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6" name="Text 3"/>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7" name="Text 4"/>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8" name="Shape 5"/>
          <p:cNvSpPr/>
          <p:nvPr/>
        </p:nvSpPr>
        <p:spPr>
          <a:xfrm>
            <a:off x="612000" y="1587600"/>
            <a:ext cx="2952000" cy="0"/>
          </a:xfrm>
          <a:prstGeom prst="line">
            <a:avLst/>
          </a:prstGeom>
          <a:noFill/>
          <a:ln w="3810">
            <a:solidFill>
              <a:srgbClr val="C9CFC9"/>
            </a:solidFill>
            <a:prstDash val="solid"/>
          </a:ln>
        </p:spPr>
      </p:sp>
      <p:sp>
        <p:nvSpPr>
          <p:cNvPr id="9" name="Text 6"/>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0" name="Text 7"/>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1" name="Text 8"/>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2" name="Shape 9"/>
          <p:cNvSpPr/>
          <p:nvPr/>
        </p:nvSpPr>
        <p:spPr>
          <a:xfrm>
            <a:off x="612000" y="1789200"/>
            <a:ext cx="2952000" cy="0"/>
          </a:xfrm>
          <a:prstGeom prst="line">
            <a:avLst/>
          </a:prstGeom>
          <a:noFill/>
          <a:ln w="3810">
            <a:solidFill>
              <a:srgbClr val="C9CFC9"/>
            </a:solidFill>
            <a:prstDash val="solid"/>
          </a:ln>
        </p:spPr>
      </p:sp>
      <p:sp>
        <p:nvSpPr>
          <p:cNvPr id="13" name="Text 10"/>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4" name="Text 11"/>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5" name="Text 12"/>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6" name="Shape 13"/>
          <p:cNvSpPr/>
          <p:nvPr/>
        </p:nvSpPr>
        <p:spPr>
          <a:xfrm>
            <a:off x="612000" y="1990800"/>
            <a:ext cx="2952000" cy="0"/>
          </a:xfrm>
          <a:prstGeom prst="line">
            <a:avLst/>
          </a:prstGeom>
          <a:noFill/>
          <a:ln w="3810">
            <a:solidFill>
              <a:srgbClr val="C9CFC9"/>
            </a:solidFill>
            <a:prstDash val="solid"/>
          </a:ln>
        </p:spPr>
      </p:sp>
      <p:sp>
        <p:nvSpPr>
          <p:cNvPr id="17" name="Text 14"/>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8" name="Text 15"/>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19" name="Text 16"/>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0" name="Shape 17"/>
          <p:cNvSpPr/>
          <p:nvPr/>
        </p:nvSpPr>
        <p:spPr>
          <a:xfrm>
            <a:off x="612000" y="2192400"/>
            <a:ext cx="2952000" cy="0"/>
          </a:xfrm>
          <a:prstGeom prst="line">
            <a:avLst/>
          </a:prstGeom>
          <a:noFill/>
          <a:ln w="3810">
            <a:solidFill>
              <a:srgbClr val="C9CFC9"/>
            </a:solidFill>
            <a:prstDash val="solid"/>
          </a:ln>
        </p:spPr>
      </p:sp>
      <p:sp>
        <p:nvSpPr>
          <p:cNvPr id="21" name="Text 18"/>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2" name="Text 19"/>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3" name="Text 20"/>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24" name="Shape 21"/>
          <p:cNvSpPr/>
          <p:nvPr/>
        </p:nvSpPr>
        <p:spPr>
          <a:xfrm>
            <a:off x="612000" y="2394000"/>
            <a:ext cx="2952000" cy="0"/>
          </a:xfrm>
          <a:prstGeom prst="line">
            <a:avLst/>
          </a:prstGeom>
          <a:noFill/>
          <a:ln w="3810">
            <a:solidFill>
              <a:srgbClr val="C9CFC9"/>
            </a:solidFill>
            <a:prstDash val="solid"/>
          </a:ln>
        </p:spPr>
      </p:sp>
      <p:sp>
        <p:nvSpPr>
          <p:cNvPr id="25" name="Text 22"/>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6" name="Text 23"/>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7" name="Text 24"/>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28" name="Shape 25"/>
          <p:cNvSpPr/>
          <p:nvPr/>
        </p:nvSpPr>
        <p:spPr>
          <a:xfrm>
            <a:off x="612000" y="2595600"/>
            <a:ext cx="2952000" cy="0"/>
          </a:xfrm>
          <a:prstGeom prst="line">
            <a:avLst/>
          </a:prstGeom>
          <a:noFill/>
          <a:ln w="3810">
            <a:solidFill>
              <a:srgbClr val="C9CFC9"/>
            </a:solidFill>
            <a:prstDash val="solid"/>
          </a:ln>
        </p:spPr>
      </p:sp>
      <p:sp>
        <p:nvSpPr>
          <p:cNvPr id="29" name="Text 26"/>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0" name="Text 27"/>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1" name="Text 28"/>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32" name="Shape 29"/>
          <p:cNvSpPr/>
          <p:nvPr/>
        </p:nvSpPr>
        <p:spPr>
          <a:xfrm>
            <a:off x="612000" y="2797200"/>
            <a:ext cx="2952000" cy="0"/>
          </a:xfrm>
          <a:prstGeom prst="line">
            <a:avLst/>
          </a:prstGeom>
          <a:noFill/>
          <a:ln w="3810">
            <a:solidFill>
              <a:srgbClr val="C9CFC9"/>
            </a:solidFill>
            <a:prstDash val="solid"/>
          </a:ln>
        </p:spPr>
      </p:sp>
      <p:pic>
        <p:nvPicPr>
          <p:cNvPr id="33" name="Image 1" descr="/home/user/philippe1/build/deco-catalogue-scio-2026/bande-alsace.png">    </p:cNvPr>
          <p:cNvPicPr>
            <a:picLocks noChangeAspect="1"/>
          </p:cNvPicPr>
          <p:nvPr/>
        </p:nvPicPr>
        <p:blipFill>
          <a:blip r:embed="rId2"/>
          <a:stretch>
            <a:fillRect/>
          </a:stretch>
        </p:blipFill>
        <p:spPr>
          <a:xfrm>
            <a:off x="612000" y="2948400"/>
            <a:ext cx="2952000" cy="273600"/>
          </a:xfrm>
          <a:prstGeom prst="rect">
            <a:avLst/>
          </a:prstGeom>
        </p:spPr>
      </p:pic>
      <p:sp>
        <p:nvSpPr>
          <p:cNvPr id="34" name="Text 30"/>
          <p:cNvSpPr/>
          <p:nvPr/>
        </p:nvSpPr>
        <p:spPr>
          <a:xfrm>
            <a:off x="720000" y="29484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Alsace</a:t>
            </a:r>
            <a:endParaRPr lang="en-US" sz="1300" dirty="0"/>
          </a:p>
        </p:txBody>
      </p:sp>
      <p:sp>
        <p:nvSpPr>
          <p:cNvPr id="35" name="Text 31"/>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6" name="Text 32"/>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7" name="Text 33"/>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38" name="Shape 34"/>
          <p:cNvSpPr/>
          <p:nvPr/>
        </p:nvSpPr>
        <p:spPr>
          <a:xfrm>
            <a:off x="612000" y="3474000"/>
            <a:ext cx="2952000" cy="0"/>
          </a:xfrm>
          <a:prstGeom prst="line">
            <a:avLst/>
          </a:prstGeom>
          <a:noFill/>
          <a:ln w="3810">
            <a:solidFill>
              <a:srgbClr val="C9CFC9"/>
            </a:solidFill>
            <a:prstDash val="solid"/>
          </a:ln>
        </p:spPr>
      </p:sp>
      <p:pic>
        <p:nvPicPr>
          <p:cNvPr id="39" name="Image 2" descr="/home/user/philippe1/build/deco-catalogue-scio-2026/bande-beaujolais.png">    </p:cNvPr>
          <p:cNvPicPr>
            <a:picLocks noChangeAspect="1"/>
          </p:cNvPicPr>
          <p:nvPr/>
        </p:nvPicPr>
        <p:blipFill>
          <a:blip r:embed="rId3"/>
          <a:stretch>
            <a:fillRect/>
          </a:stretch>
        </p:blipFill>
        <p:spPr>
          <a:xfrm>
            <a:off x="612000" y="3625200"/>
            <a:ext cx="2952000" cy="273600"/>
          </a:xfrm>
          <a:prstGeom prst="rect">
            <a:avLst/>
          </a:prstGeom>
        </p:spPr>
      </p:pic>
      <p:sp>
        <p:nvSpPr>
          <p:cNvPr id="40" name="Text 35"/>
          <p:cNvSpPr/>
          <p:nvPr/>
        </p:nvSpPr>
        <p:spPr>
          <a:xfrm>
            <a:off x="720000" y="36252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Beaujolais</a:t>
            </a:r>
            <a:endParaRPr lang="en-US" sz="1300" dirty="0"/>
          </a:p>
        </p:txBody>
      </p:sp>
      <p:sp>
        <p:nvSpPr>
          <p:cNvPr id="41" name="Text 36"/>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2" name="Text 37"/>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3" name="Text 38"/>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44" name="Shape 39"/>
          <p:cNvSpPr/>
          <p:nvPr/>
        </p:nvSpPr>
        <p:spPr>
          <a:xfrm>
            <a:off x="612000" y="4150800"/>
            <a:ext cx="2952000" cy="0"/>
          </a:xfrm>
          <a:prstGeom prst="line">
            <a:avLst/>
          </a:prstGeom>
          <a:noFill/>
          <a:ln w="3810">
            <a:solidFill>
              <a:srgbClr val="C9CFC9"/>
            </a:solidFill>
            <a:prstDash val="solid"/>
          </a:ln>
        </p:spPr>
      </p:sp>
      <p:pic>
        <p:nvPicPr>
          <p:cNvPr id="45" name="Image 3" descr="/home/user/philippe1/build/deco-catalogue-scio-2026/bande-bourgogne.png">    </p:cNvPr>
          <p:cNvPicPr>
            <a:picLocks noChangeAspect="1"/>
          </p:cNvPicPr>
          <p:nvPr/>
        </p:nvPicPr>
        <p:blipFill>
          <a:blip r:embed="rId4"/>
          <a:stretch>
            <a:fillRect/>
          </a:stretch>
        </p:blipFill>
        <p:spPr>
          <a:xfrm>
            <a:off x="612000" y="4302000"/>
            <a:ext cx="2952000" cy="273600"/>
          </a:xfrm>
          <a:prstGeom prst="rect">
            <a:avLst/>
          </a:prstGeom>
        </p:spPr>
      </p:pic>
      <p:sp>
        <p:nvSpPr>
          <p:cNvPr id="46" name="Text 40"/>
          <p:cNvSpPr/>
          <p:nvPr/>
        </p:nvSpPr>
        <p:spPr>
          <a:xfrm>
            <a:off x="720000" y="43020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Bourgogne</a:t>
            </a:r>
            <a:endParaRPr lang="en-US" sz="1300" dirty="0"/>
          </a:p>
        </p:txBody>
      </p:sp>
      <p:sp>
        <p:nvSpPr>
          <p:cNvPr id="47" name="Text 41"/>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48" name="Text 42"/>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9" name="Text 43"/>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50" name="Shape 44"/>
          <p:cNvSpPr/>
          <p:nvPr/>
        </p:nvSpPr>
        <p:spPr>
          <a:xfrm>
            <a:off x="612000" y="4827600"/>
            <a:ext cx="2952000" cy="0"/>
          </a:xfrm>
          <a:prstGeom prst="line">
            <a:avLst/>
          </a:prstGeom>
          <a:noFill/>
          <a:ln w="3810">
            <a:solidFill>
              <a:srgbClr val="C9CFC9"/>
            </a:solidFill>
            <a:prstDash val="solid"/>
          </a:ln>
        </p:spPr>
      </p:sp>
      <p:sp>
        <p:nvSpPr>
          <p:cNvPr id="51" name="Text 45"/>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2" name="Text 46"/>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3" name="Text 47"/>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54" name="Shape 48"/>
          <p:cNvSpPr/>
          <p:nvPr/>
        </p:nvSpPr>
        <p:spPr>
          <a:xfrm>
            <a:off x="612000" y="5029200"/>
            <a:ext cx="2952000" cy="0"/>
          </a:xfrm>
          <a:prstGeom prst="line">
            <a:avLst/>
          </a:prstGeom>
          <a:noFill/>
          <a:ln w="3810">
            <a:solidFill>
              <a:srgbClr val="C9CFC9"/>
            </a:solidFill>
            <a:prstDash val="solid"/>
          </a:ln>
        </p:spPr>
      </p:sp>
      <p:sp>
        <p:nvSpPr>
          <p:cNvPr id="55" name="Text 49"/>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56" name="Text 50"/>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57" name="Text 51"/>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58" name="Shape 52"/>
          <p:cNvSpPr/>
          <p:nvPr/>
        </p:nvSpPr>
        <p:spPr>
          <a:xfrm>
            <a:off x="612000" y="5230800"/>
            <a:ext cx="2952000" cy="0"/>
          </a:xfrm>
          <a:prstGeom prst="line">
            <a:avLst/>
          </a:prstGeom>
          <a:noFill/>
          <a:ln w="3810">
            <a:solidFill>
              <a:srgbClr val="C9CFC9"/>
            </a:solidFill>
            <a:prstDash val="solid"/>
          </a:ln>
        </p:spPr>
      </p:sp>
      <p:sp>
        <p:nvSpPr>
          <p:cNvPr id="59" name="Text 53"/>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0" name="Text 54"/>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1" name="Text 55"/>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62" name="Shape 56"/>
          <p:cNvSpPr/>
          <p:nvPr/>
        </p:nvSpPr>
        <p:spPr>
          <a:xfrm>
            <a:off x="612000" y="5432400"/>
            <a:ext cx="2952000" cy="0"/>
          </a:xfrm>
          <a:prstGeom prst="line">
            <a:avLst/>
          </a:prstGeom>
          <a:noFill/>
          <a:ln w="3810">
            <a:solidFill>
              <a:srgbClr val="C9CFC9"/>
            </a:solidFill>
            <a:prstDash val="solid"/>
          </a:ln>
        </p:spPr>
      </p:sp>
      <p:sp>
        <p:nvSpPr>
          <p:cNvPr id="63" name="Text 57"/>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4" name="Text 58"/>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5" name="Text 59"/>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66" name="Shape 60"/>
          <p:cNvSpPr/>
          <p:nvPr/>
        </p:nvSpPr>
        <p:spPr>
          <a:xfrm>
            <a:off x="612000" y="5634000"/>
            <a:ext cx="2952000" cy="0"/>
          </a:xfrm>
          <a:prstGeom prst="line">
            <a:avLst/>
          </a:prstGeom>
          <a:noFill/>
          <a:ln w="3810">
            <a:solidFill>
              <a:srgbClr val="C9CFC9"/>
            </a:solidFill>
            <a:prstDash val="solid"/>
          </a:ln>
        </p:spPr>
      </p:sp>
      <p:sp>
        <p:nvSpPr>
          <p:cNvPr id="67" name="Text 61"/>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68" name="Text 62"/>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69" name="Text 63"/>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70" name="Shape 64"/>
          <p:cNvSpPr/>
          <p:nvPr/>
        </p:nvSpPr>
        <p:spPr>
          <a:xfrm>
            <a:off x="612000" y="5835600"/>
            <a:ext cx="2952000" cy="0"/>
          </a:xfrm>
          <a:prstGeom prst="line">
            <a:avLst/>
          </a:prstGeom>
          <a:noFill/>
          <a:ln w="3810">
            <a:solidFill>
              <a:srgbClr val="C9CFC9"/>
            </a:solidFill>
            <a:prstDash val="solid"/>
          </a:ln>
        </p:spPr>
      </p:sp>
      <p:pic>
        <p:nvPicPr>
          <p:cNvPr id="71" name="Image 4" descr="/home/user/philippe1/build/deco-catalogue-scio-2026/bande-rhone.png">    </p:cNvPr>
          <p:cNvPicPr>
            <a:picLocks noChangeAspect="1"/>
          </p:cNvPicPr>
          <p:nvPr/>
        </p:nvPicPr>
        <p:blipFill>
          <a:blip r:embed="rId5"/>
          <a:stretch>
            <a:fillRect/>
          </a:stretch>
        </p:blipFill>
        <p:spPr>
          <a:xfrm>
            <a:off x="612000" y="5986800"/>
            <a:ext cx="2952000" cy="273600"/>
          </a:xfrm>
          <a:prstGeom prst="rect">
            <a:avLst/>
          </a:prstGeom>
        </p:spPr>
      </p:pic>
      <p:sp>
        <p:nvSpPr>
          <p:cNvPr id="72" name="Text 65"/>
          <p:cNvSpPr/>
          <p:nvPr/>
        </p:nvSpPr>
        <p:spPr>
          <a:xfrm>
            <a:off x="720000" y="59868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Rhône</a:t>
            </a:r>
            <a:endParaRPr lang="en-US" sz="1300" dirty="0"/>
          </a:p>
        </p:txBody>
      </p:sp>
      <p:sp>
        <p:nvSpPr>
          <p:cNvPr id="73" name="Text 66"/>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74" name="Text 67"/>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75" name="Text 68"/>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76" name="Shape 69"/>
          <p:cNvSpPr/>
          <p:nvPr/>
        </p:nvSpPr>
        <p:spPr>
          <a:xfrm>
            <a:off x="612000" y="6512400"/>
            <a:ext cx="2952000" cy="0"/>
          </a:xfrm>
          <a:prstGeom prst="line">
            <a:avLst/>
          </a:prstGeom>
          <a:noFill/>
          <a:ln w="3810">
            <a:solidFill>
              <a:srgbClr val="C9CFC9"/>
            </a:solidFill>
            <a:prstDash val="solid"/>
          </a:ln>
        </p:spPr>
      </p:sp>
      <p:sp>
        <p:nvSpPr>
          <p:cNvPr id="77" name="Text 70"/>
          <p:cNvSpPr/>
          <p:nvPr/>
        </p:nvSpPr>
        <p:spPr>
          <a:xfrm>
            <a:off x="612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78" name="Text 71"/>
          <p:cNvSpPr/>
          <p:nvPr/>
        </p:nvSpPr>
        <p:spPr>
          <a:xfrm>
            <a:off x="918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9" name="Text 72"/>
          <p:cNvSpPr/>
          <p:nvPr/>
        </p:nvSpPr>
        <p:spPr>
          <a:xfrm>
            <a:off x="3204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80" name="Shape 73"/>
          <p:cNvSpPr/>
          <p:nvPr/>
        </p:nvSpPr>
        <p:spPr>
          <a:xfrm>
            <a:off x="612000" y="6714000"/>
            <a:ext cx="2952000" cy="0"/>
          </a:xfrm>
          <a:prstGeom prst="line">
            <a:avLst/>
          </a:prstGeom>
          <a:noFill/>
          <a:ln w="3810">
            <a:solidFill>
              <a:srgbClr val="C9CFC9"/>
            </a:solidFill>
            <a:prstDash val="solid"/>
          </a:ln>
        </p:spPr>
      </p:sp>
      <p:sp>
        <p:nvSpPr>
          <p:cNvPr id="81" name="Text 74"/>
          <p:cNvSpPr/>
          <p:nvPr/>
        </p:nvSpPr>
        <p:spPr>
          <a:xfrm>
            <a:off x="612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82" name="Text 75"/>
          <p:cNvSpPr/>
          <p:nvPr/>
        </p:nvSpPr>
        <p:spPr>
          <a:xfrm>
            <a:off x="918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83" name="Text 76"/>
          <p:cNvSpPr/>
          <p:nvPr/>
        </p:nvSpPr>
        <p:spPr>
          <a:xfrm>
            <a:off x="3204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84" name="Shape 77"/>
          <p:cNvSpPr/>
          <p:nvPr/>
        </p:nvSpPr>
        <p:spPr>
          <a:xfrm>
            <a:off x="612000" y="6915600"/>
            <a:ext cx="2952000" cy="0"/>
          </a:xfrm>
          <a:prstGeom prst="line">
            <a:avLst/>
          </a:prstGeom>
          <a:noFill/>
          <a:ln w="3810">
            <a:solidFill>
              <a:srgbClr val="C9CFC9"/>
            </a:solidFill>
            <a:prstDash val="solid"/>
          </a:ln>
        </p:spPr>
      </p:sp>
      <p:sp>
        <p:nvSpPr>
          <p:cNvPr id="85" name="Text 78"/>
          <p:cNvSpPr/>
          <p:nvPr/>
        </p:nvSpPr>
        <p:spPr>
          <a:xfrm>
            <a:off x="612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86" name="Text 79"/>
          <p:cNvSpPr/>
          <p:nvPr/>
        </p:nvSpPr>
        <p:spPr>
          <a:xfrm>
            <a:off x="918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87" name="Text 80"/>
          <p:cNvSpPr/>
          <p:nvPr/>
        </p:nvSpPr>
        <p:spPr>
          <a:xfrm>
            <a:off x="3204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88" name="Shape 81"/>
          <p:cNvSpPr/>
          <p:nvPr/>
        </p:nvSpPr>
        <p:spPr>
          <a:xfrm>
            <a:off x="612000" y="7117200"/>
            <a:ext cx="2952000" cy="0"/>
          </a:xfrm>
          <a:prstGeom prst="line">
            <a:avLst/>
          </a:prstGeom>
          <a:noFill/>
          <a:ln w="3810">
            <a:solidFill>
              <a:srgbClr val="C9CFC9"/>
            </a:solidFill>
            <a:prstDash val="solid"/>
          </a:ln>
        </p:spPr>
      </p:sp>
      <p:sp>
        <p:nvSpPr>
          <p:cNvPr id="89" name="Text 82"/>
          <p:cNvSpPr/>
          <p:nvPr/>
        </p:nvSpPr>
        <p:spPr>
          <a:xfrm>
            <a:off x="612000" y="7117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0" name="Text 83"/>
          <p:cNvSpPr/>
          <p:nvPr/>
        </p:nvSpPr>
        <p:spPr>
          <a:xfrm>
            <a:off x="918000" y="7117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91" name="Text 84"/>
          <p:cNvSpPr/>
          <p:nvPr/>
        </p:nvSpPr>
        <p:spPr>
          <a:xfrm>
            <a:off x="3204000" y="7117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92" name="Shape 85"/>
          <p:cNvSpPr/>
          <p:nvPr/>
        </p:nvSpPr>
        <p:spPr>
          <a:xfrm>
            <a:off x="612000" y="7318800"/>
            <a:ext cx="2952000" cy="0"/>
          </a:xfrm>
          <a:prstGeom prst="line">
            <a:avLst/>
          </a:prstGeom>
          <a:noFill/>
          <a:ln w="3810">
            <a:solidFill>
              <a:srgbClr val="C9CFC9"/>
            </a:solidFill>
            <a:prstDash val="solid"/>
          </a:ln>
        </p:spPr>
      </p:sp>
      <p:sp>
        <p:nvSpPr>
          <p:cNvPr id="93" name="Text 86"/>
          <p:cNvSpPr/>
          <p:nvPr/>
        </p:nvSpPr>
        <p:spPr>
          <a:xfrm>
            <a:off x="612000" y="7318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94" name="Text 87"/>
          <p:cNvSpPr/>
          <p:nvPr/>
        </p:nvSpPr>
        <p:spPr>
          <a:xfrm>
            <a:off x="918000" y="7318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95" name="Text 88"/>
          <p:cNvSpPr/>
          <p:nvPr/>
        </p:nvSpPr>
        <p:spPr>
          <a:xfrm>
            <a:off x="3204000" y="7318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96" name="Shape 89"/>
          <p:cNvSpPr/>
          <p:nvPr/>
        </p:nvSpPr>
        <p:spPr>
          <a:xfrm>
            <a:off x="612000" y="7520400"/>
            <a:ext cx="2952000" cy="0"/>
          </a:xfrm>
          <a:prstGeom prst="line">
            <a:avLst/>
          </a:prstGeom>
          <a:noFill/>
          <a:ln w="3810">
            <a:solidFill>
              <a:srgbClr val="C9CFC9"/>
            </a:solidFill>
            <a:prstDash val="solid"/>
          </a:ln>
        </p:spPr>
      </p:sp>
      <p:pic>
        <p:nvPicPr>
          <p:cNvPr id="97" name="Image 5" descr="/home/user/philippe1/build/deco-catalogue-scio-2026/bande-sud-ouest.png">    </p:cNvPr>
          <p:cNvPicPr>
            <a:picLocks noChangeAspect="1"/>
          </p:cNvPicPr>
          <p:nvPr/>
        </p:nvPicPr>
        <p:blipFill>
          <a:blip r:embed="rId6"/>
          <a:stretch>
            <a:fillRect/>
          </a:stretch>
        </p:blipFill>
        <p:spPr>
          <a:xfrm>
            <a:off x="3780000" y="1062000"/>
            <a:ext cx="2952000" cy="273600"/>
          </a:xfrm>
          <a:prstGeom prst="rect">
            <a:avLst/>
          </a:prstGeom>
        </p:spPr>
      </p:pic>
      <p:sp>
        <p:nvSpPr>
          <p:cNvPr id="98" name="Text 90"/>
          <p:cNvSpPr/>
          <p:nvPr/>
        </p:nvSpPr>
        <p:spPr>
          <a:xfrm>
            <a:off x="3888000" y="10620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Sud-Ouest</a:t>
            </a:r>
            <a:endParaRPr lang="en-US" sz="1300" dirty="0"/>
          </a:p>
        </p:txBody>
      </p:sp>
      <p:sp>
        <p:nvSpPr>
          <p:cNvPr id="99" name="Text 91"/>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00" name="Text 92"/>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01" name="Text 93"/>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02" name="Shape 94"/>
          <p:cNvSpPr/>
          <p:nvPr/>
        </p:nvSpPr>
        <p:spPr>
          <a:xfrm>
            <a:off x="3780000" y="1587600"/>
            <a:ext cx="2952000" cy="0"/>
          </a:xfrm>
          <a:prstGeom prst="line">
            <a:avLst/>
          </a:prstGeom>
          <a:noFill/>
          <a:ln w="3810">
            <a:solidFill>
              <a:srgbClr val="C9CFC9"/>
            </a:solidFill>
            <a:prstDash val="solid"/>
          </a:ln>
        </p:spPr>
      </p:sp>
      <p:sp>
        <p:nvSpPr>
          <p:cNvPr id="103" name="Text 95"/>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04" name="Text 96"/>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05" name="Text 97"/>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06" name="Shape 98"/>
          <p:cNvSpPr/>
          <p:nvPr/>
        </p:nvSpPr>
        <p:spPr>
          <a:xfrm>
            <a:off x="3780000" y="1789200"/>
            <a:ext cx="2952000" cy="0"/>
          </a:xfrm>
          <a:prstGeom prst="line">
            <a:avLst/>
          </a:prstGeom>
          <a:noFill/>
          <a:ln w="3810">
            <a:solidFill>
              <a:srgbClr val="C9CFC9"/>
            </a:solidFill>
            <a:prstDash val="solid"/>
          </a:ln>
        </p:spPr>
      </p:sp>
      <p:sp>
        <p:nvSpPr>
          <p:cNvPr id="107" name="Text 99"/>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08" name="Text 100"/>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09" name="Text 101"/>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10" name="Shape 102"/>
          <p:cNvSpPr/>
          <p:nvPr/>
        </p:nvSpPr>
        <p:spPr>
          <a:xfrm>
            <a:off x="3780000" y="1990800"/>
            <a:ext cx="2952000" cy="0"/>
          </a:xfrm>
          <a:prstGeom prst="line">
            <a:avLst/>
          </a:prstGeom>
          <a:noFill/>
          <a:ln w="3810">
            <a:solidFill>
              <a:srgbClr val="C9CFC9"/>
            </a:solidFill>
            <a:prstDash val="solid"/>
          </a:ln>
        </p:spPr>
      </p:sp>
      <p:pic>
        <p:nvPicPr>
          <p:cNvPr id="111" name="Image 6" descr="/home/user/philippe1/build/deco-catalogue-scio-2026/bande-bordeaux.png">    </p:cNvPr>
          <p:cNvPicPr>
            <a:picLocks noChangeAspect="1"/>
          </p:cNvPicPr>
          <p:nvPr/>
        </p:nvPicPr>
        <p:blipFill>
          <a:blip r:embed="rId7"/>
          <a:stretch>
            <a:fillRect/>
          </a:stretch>
        </p:blipFill>
        <p:spPr>
          <a:xfrm>
            <a:off x="3780000" y="2142000"/>
            <a:ext cx="2952000" cy="273600"/>
          </a:xfrm>
          <a:prstGeom prst="rect">
            <a:avLst/>
          </a:prstGeom>
        </p:spPr>
      </p:pic>
      <p:sp>
        <p:nvSpPr>
          <p:cNvPr id="112" name="Text 103"/>
          <p:cNvSpPr/>
          <p:nvPr/>
        </p:nvSpPr>
        <p:spPr>
          <a:xfrm>
            <a:off x="3888000" y="21420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Bordeaux</a:t>
            </a:r>
            <a:endParaRPr lang="en-US" sz="1300" dirty="0"/>
          </a:p>
        </p:txBody>
      </p:sp>
      <p:sp>
        <p:nvSpPr>
          <p:cNvPr id="113" name="Text 104"/>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14" name="Text 105"/>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15" name="Text 106"/>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16" name="Shape 107"/>
          <p:cNvSpPr/>
          <p:nvPr/>
        </p:nvSpPr>
        <p:spPr>
          <a:xfrm>
            <a:off x="3780000" y="2667600"/>
            <a:ext cx="2952000" cy="0"/>
          </a:xfrm>
          <a:prstGeom prst="line">
            <a:avLst/>
          </a:prstGeom>
          <a:noFill/>
          <a:ln w="3810">
            <a:solidFill>
              <a:srgbClr val="C9CFC9"/>
            </a:solidFill>
            <a:prstDash val="solid"/>
          </a:ln>
        </p:spPr>
      </p:sp>
      <p:sp>
        <p:nvSpPr>
          <p:cNvPr id="117" name="Text 108"/>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18" name="Text 109"/>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19" name="Text 110"/>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20" name="Shape 111"/>
          <p:cNvSpPr/>
          <p:nvPr/>
        </p:nvSpPr>
        <p:spPr>
          <a:xfrm>
            <a:off x="3780000" y="2869200"/>
            <a:ext cx="2952000" cy="0"/>
          </a:xfrm>
          <a:prstGeom prst="line">
            <a:avLst/>
          </a:prstGeom>
          <a:noFill/>
          <a:ln w="3810">
            <a:solidFill>
              <a:srgbClr val="C9CFC9"/>
            </a:solidFill>
            <a:prstDash val="solid"/>
          </a:ln>
        </p:spPr>
      </p:sp>
      <p:sp>
        <p:nvSpPr>
          <p:cNvPr id="121" name="Text 112"/>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22" name="Text 113"/>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23" name="Text 114"/>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24" name="Shape 115"/>
          <p:cNvSpPr/>
          <p:nvPr/>
        </p:nvSpPr>
        <p:spPr>
          <a:xfrm>
            <a:off x="3780000" y="3070800"/>
            <a:ext cx="2952000" cy="0"/>
          </a:xfrm>
          <a:prstGeom prst="line">
            <a:avLst/>
          </a:prstGeom>
          <a:noFill/>
          <a:ln w="3810">
            <a:solidFill>
              <a:srgbClr val="C9CFC9"/>
            </a:solidFill>
            <a:prstDash val="solid"/>
          </a:ln>
        </p:spPr>
      </p:sp>
      <p:sp>
        <p:nvSpPr>
          <p:cNvPr id="125" name="Text 116"/>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26" name="Text 117"/>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27" name="Text 118"/>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48</a:t>
            </a:r>
            <a:endParaRPr lang="en-US" sz="900" dirty="0"/>
          </a:p>
        </p:txBody>
      </p:sp>
      <p:sp>
        <p:nvSpPr>
          <p:cNvPr id="128" name="Shape 119"/>
          <p:cNvSpPr/>
          <p:nvPr/>
        </p:nvSpPr>
        <p:spPr>
          <a:xfrm>
            <a:off x="3780000" y="3272400"/>
            <a:ext cx="2952000" cy="0"/>
          </a:xfrm>
          <a:prstGeom prst="line">
            <a:avLst/>
          </a:prstGeom>
          <a:noFill/>
          <a:ln w="3810">
            <a:solidFill>
              <a:srgbClr val="C9CFC9"/>
            </a:solidFill>
            <a:prstDash val="solid"/>
          </a:ln>
        </p:spPr>
      </p:sp>
      <p:sp>
        <p:nvSpPr>
          <p:cNvPr id="129" name="Text 120"/>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30" name="Text 121"/>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31" name="Text 122"/>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49</a:t>
            </a:r>
            <a:endParaRPr lang="en-US" sz="900" dirty="0"/>
          </a:p>
        </p:txBody>
      </p:sp>
      <p:sp>
        <p:nvSpPr>
          <p:cNvPr id="132" name="Shape 123"/>
          <p:cNvSpPr/>
          <p:nvPr/>
        </p:nvSpPr>
        <p:spPr>
          <a:xfrm>
            <a:off x="3780000" y="3474000"/>
            <a:ext cx="2952000" cy="0"/>
          </a:xfrm>
          <a:prstGeom prst="line">
            <a:avLst/>
          </a:prstGeom>
          <a:noFill/>
          <a:ln w="3810">
            <a:solidFill>
              <a:srgbClr val="C9CFC9"/>
            </a:solidFill>
            <a:prstDash val="solid"/>
          </a:ln>
        </p:spPr>
      </p:sp>
      <p:sp>
        <p:nvSpPr>
          <p:cNvPr id="133" name="Text 124"/>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34" name="Text 125"/>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35" name="Text 126"/>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50</a:t>
            </a:r>
            <a:endParaRPr lang="en-US" sz="900" dirty="0"/>
          </a:p>
        </p:txBody>
      </p:sp>
      <p:sp>
        <p:nvSpPr>
          <p:cNvPr id="136" name="Shape 127"/>
          <p:cNvSpPr/>
          <p:nvPr/>
        </p:nvSpPr>
        <p:spPr>
          <a:xfrm>
            <a:off x="3780000" y="3675600"/>
            <a:ext cx="2952000" cy="0"/>
          </a:xfrm>
          <a:prstGeom prst="line">
            <a:avLst/>
          </a:prstGeom>
          <a:noFill/>
          <a:ln w="3810">
            <a:solidFill>
              <a:srgbClr val="C9CFC9"/>
            </a:solidFill>
            <a:prstDash val="solid"/>
          </a:ln>
        </p:spPr>
      </p:sp>
      <p:pic>
        <p:nvPicPr>
          <p:cNvPr id="137" name="Image 7" descr="/home/user/philippe1/build/deco-catalogue-scio-2026/bande-provence.png">    </p:cNvPr>
          <p:cNvPicPr>
            <a:picLocks noChangeAspect="1"/>
          </p:cNvPicPr>
          <p:nvPr/>
        </p:nvPicPr>
        <p:blipFill>
          <a:blip r:embed="rId8"/>
          <a:stretch>
            <a:fillRect/>
          </a:stretch>
        </p:blipFill>
        <p:spPr>
          <a:xfrm>
            <a:off x="3780000" y="3826800"/>
            <a:ext cx="2952000" cy="273600"/>
          </a:xfrm>
          <a:prstGeom prst="rect">
            <a:avLst/>
          </a:prstGeom>
        </p:spPr>
      </p:pic>
      <p:sp>
        <p:nvSpPr>
          <p:cNvPr id="138" name="Text 128"/>
          <p:cNvSpPr/>
          <p:nvPr/>
        </p:nvSpPr>
        <p:spPr>
          <a:xfrm>
            <a:off x="3888000" y="38268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Provence</a:t>
            </a:r>
            <a:endParaRPr lang="en-US" sz="1300" dirty="0"/>
          </a:p>
        </p:txBody>
      </p:sp>
      <p:sp>
        <p:nvSpPr>
          <p:cNvPr id="139" name="Text 12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40" name="Text 13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41" name="Text 13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52</a:t>
            </a:r>
            <a:endParaRPr lang="en-US" sz="900" dirty="0"/>
          </a:p>
        </p:txBody>
      </p:sp>
      <p:sp>
        <p:nvSpPr>
          <p:cNvPr id="142" name="Shape 132"/>
          <p:cNvSpPr/>
          <p:nvPr/>
        </p:nvSpPr>
        <p:spPr>
          <a:xfrm>
            <a:off x="3780000" y="4352400"/>
            <a:ext cx="2952000" cy="0"/>
          </a:xfrm>
          <a:prstGeom prst="line">
            <a:avLst/>
          </a:prstGeom>
          <a:noFill/>
          <a:ln w="3810">
            <a:solidFill>
              <a:srgbClr val="C9CFC9"/>
            </a:solidFill>
            <a:prstDash val="solid"/>
          </a:ln>
        </p:spPr>
      </p:sp>
      <p:pic>
        <p:nvPicPr>
          <p:cNvPr id="143" name="Image 8" descr="/home/user/philippe1/build/deco-catalogue-scio-2026/bande-languedoc.png">    </p:cNvPr>
          <p:cNvPicPr>
            <a:picLocks noChangeAspect="1"/>
          </p:cNvPicPr>
          <p:nvPr/>
        </p:nvPicPr>
        <p:blipFill>
          <a:blip r:embed="rId9"/>
          <a:stretch>
            <a:fillRect/>
          </a:stretch>
        </p:blipFill>
        <p:spPr>
          <a:xfrm>
            <a:off x="3780000" y="4503600"/>
            <a:ext cx="2952000" cy="273600"/>
          </a:xfrm>
          <a:prstGeom prst="rect">
            <a:avLst/>
          </a:prstGeom>
        </p:spPr>
      </p:pic>
      <p:sp>
        <p:nvSpPr>
          <p:cNvPr id="144" name="Text 133"/>
          <p:cNvSpPr/>
          <p:nvPr/>
        </p:nvSpPr>
        <p:spPr>
          <a:xfrm>
            <a:off x="3888000" y="45036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Languedoc</a:t>
            </a:r>
            <a:endParaRPr lang="en-US" sz="1300" dirty="0"/>
          </a:p>
        </p:txBody>
      </p:sp>
      <p:sp>
        <p:nvSpPr>
          <p:cNvPr id="145" name="Text 134"/>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46" name="Text 135"/>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47" name="Text 136"/>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54</a:t>
            </a:r>
            <a:endParaRPr lang="en-US" sz="900" dirty="0"/>
          </a:p>
        </p:txBody>
      </p:sp>
      <p:sp>
        <p:nvSpPr>
          <p:cNvPr id="148" name="Shape 137"/>
          <p:cNvSpPr/>
          <p:nvPr/>
        </p:nvSpPr>
        <p:spPr>
          <a:xfrm>
            <a:off x="3780000" y="5029200"/>
            <a:ext cx="2952000" cy="0"/>
          </a:xfrm>
          <a:prstGeom prst="line">
            <a:avLst/>
          </a:prstGeom>
          <a:noFill/>
          <a:ln w="3810">
            <a:solidFill>
              <a:srgbClr val="C9CFC9"/>
            </a:solidFill>
            <a:prstDash val="solid"/>
          </a:ln>
        </p:spPr>
      </p:sp>
      <p:sp>
        <p:nvSpPr>
          <p:cNvPr id="149" name="Text 138"/>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50" name="Text 139"/>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51" name="Text 140"/>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56</a:t>
            </a:r>
            <a:endParaRPr lang="en-US" sz="900" dirty="0"/>
          </a:p>
        </p:txBody>
      </p:sp>
      <p:sp>
        <p:nvSpPr>
          <p:cNvPr id="152" name="Shape 141"/>
          <p:cNvSpPr/>
          <p:nvPr/>
        </p:nvSpPr>
        <p:spPr>
          <a:xfrm>
            <a:off x="3780000" y="5230800"/>
            <a:ext cx="2952000" cy="0"/>
          </a:xfrm>
          <a:prstGeom prst="line">
            <a:avLst/>
          </a:prstGeom>
          <a:noFill/>
          <a:ln w="3810">
            <a:solidFill>
              <a:srgbClr val="C9CFC9"/>
            </a:solidFill>
            <a:prstDash val="solid"/>
          </a:ln>
        </p:spPr>
      </p:sp>
      <p:sp>
        <p:nvSpPr>
          <p:cNvPr id="153" name="Text 142"/>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54" name="Text 143"/>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55" name="Text 144"/>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57</a:t>
            </a:r>
            <a:endParaRPr lang="en-US" sz="900" dirty="0"/>
          </a:p>
        </p:txBody>
      </p:sp>
      <p:sp>
        <p:nvSpPr>
          <p:cNvPr id="156" name="Shape 145"/>
          <p:cNvSpPr/>
          <p:nvPr/>
        </p:nvSpPr>
        <p:spPr>
          <a:xfrm>
            <a:off x="3780000" y="5432400"/>
            <a:ext cx="2952000" cy="0"/>
          </a:xfrm>
          <a:prstGeom prst="line">
            <a:avLst/>
          </a:prstGeom>
          <a:noFill/>
          <a:ln w="3810">
            <a:solidFill>
              <a:srgbClr val="C9CFC9"/>
            </a:solidFill>
            <a:prstDash val="solid"/>
          </a:ln>
        </p:spPr>
      </p:sp>
      <p:sp>
        <p:nvSpPr>
          <p:cNvPr id="157" name="Text 146"/>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58" name="Text 147"/>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59" name="Text 148"/>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58</a:t>
            </a:r>
            <a:endParaRPr lang="en-US" sz="900" dirty="0"/>
          </a:p>
        </p:txBody>
      </p:sp>
      <p:sp>
        <p:nvSpPr>
          <p:cNvPr id="160" name="Shape 149"/>
          <p:cNvSpPr/>
          <p:nvPr/>
        </p:nvSpPr>
        <p:spPr>
          <a:xfrm>
            <a:off x="3780000" y="5634000"/>
            <a:ext cx="2952000" cy="0"/>
          </a:xfrm>
          <a:prstGeom prst="line">
            <a:avLst/>
          </a:prstGeom>
          <a:noFill/>
          <a:ln w="3810">
            <a:solidFill>
              <a:srgbClr val="C9CFC9"/>
            </a:solidFill>
            <a:prstDash val="solid"/>
          </a:ln>
        </p:spPr>
      </p:sp>
      <p:sp>
        <p:nvSpPr>
          <p:cNvPr id="161" name="Text 150"/>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62" name="Text 151"/>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63" name="Text 152"/>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59</a:t>
            </a:r>
            <a:endParaRPr lang="en-US" sz="900" dirty="0"/>
          </a:p>
        </p:txBody>
      </p:sp>
      <p:sp>
        <p:nvSpPr>
          <p:cNvPr id="164" name="Shape 153"/>
          <p:cNvSpPr/>
          <p:nvPr/>
        </p:nvSpPr>
        <p:spPr>
          <a:xfrm>
            <a:off x="3780000" y="5835600"/>
            <a:ext cx="2952000" cy="0"/>
          </a:xfrm>
          <a:prstGeom prst="line">
            <a:avLst/>
          </a:prstGeom>
          <a:noFill/>
          <a:ln w="3810">
            <a:solidFill>
              <a:srgbClr val="C9CFC9"/>
            </a:solidFill>
            <a:prstDash val="solid"/>
          </a:ln>
        </p:spPr>
      </p:sp>
      <p:pic>
        <p:nvPicPr>
          <p:cNvPr id="165" name="Image 9" descr="/home/user/philippe1/build/deco-catalogue-scio-2026/bande-champagne.png">    </p:cNvPr>
          <p:cNvPicPr>
            <a:picLocks noChangeAspect="1"/>
          </p:cNvPicPr>
          <p:nvPr/>
        </p:nvPicPr>
        <p:blipFill>
          <a:blip r:embed="rId10"/>
          <a:stretch>
            <a:fillRect/>
          </a:stretch>
        </p:blipFill>
        <p:spPr>
          <a:xfrm>
            <a:off x="3780000" y="5986800"/>
            <a:ext cx="2952000" cy="273600"/>
          </a:xfrm>
          <a:prstGeom prst="rect">
            <a:avLst/>
          </a:prstGeom>
        </p:spPr>
      </p:pic>
      <p:sp>
        <p:nvSpPr>
          <p:cNvPr id="166" name="Text 154"/>
          <p:cNvSpPr/>
          <p:nvPr/>
        </p:nvSpPr>
        <p:spPr>
          <a:xfrm>
            <a:off x="3888000" y="5986800"/>
            <a:ext cx="2736000" cy="273600"/>
          </a:xfrm>
          <a:prstGeom prst="rect">
            <a:avLst/>
          </a:prstGeom>
          <a:noFill/>
          <a:ln/>
        </p:spPr>
        <p:txBody>
          <a:bodyPr wrap="square" lIns="0" tIns="0" rIns="0" bIns="0" rtlCol="0" anchor="ctr"/>
          <a:lstStyle/>
          <a:p>
            <a:pPr indent="0" marL="0">
              <a:buNone/>
            </a:pPr>
            <a:r>
              <a:rPr lang="en-US" sz="1300" dirty="0">
                <a:solidFill>
                  <a:srgbClr val="46606E"/>
                </a:solidFill>
                <a:latin typeface="Young Serif" pitchFamily="34" charset="0"/>
                <a:ea typeface="Young Serif" pitchFamily="34" charset="-122"/>
                <a:cs typeface="Young Serif" pitchFamily="34" charset="-120"/>
              </a:rPr>
              <a:t>Champagne</a:t>
            </a:r>
            <a:endParaRPr lang="en-US" sz="1300" dirty="0"/>
          </a:p>
        </p:txBody>
      </p:sp>
      <p:sp>
        <p:nvSpPr>
          <p:cNvPr id="167" name="Text 155"/>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68" name="Text 156"/>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69" name="Text 157"/>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62</a:t>
            </a:r>
            <a:endParaRPr lang="en-US" sz="900" dirty="0"/>
          </a:p>
        </p:txBody>
      </p:sp>
      <p:sp>
        <p:nvSpPr>
          <p:cNvPr id="170" name="Shape 158"/>
          <p:cNvSpPr/>
          <p:nvPr/>
        </p:nvSpPr>
        <p:spPr>
          <a:xfrm>
            <a:off x="3780000" y="6512400"/>
            <a:ext cx="2952000" cy="0"/>
          </a:xfrm>
          <a:prstGeom prst="line">
            <a:avLst/>
          </a:prstGeom>
          <a:noFill/>
          <a:ln w="3810">
            <a:solidFill>
              <a:srgbClr val="C9CFC9"/>
            </a:solidFill>
            <a:prstDash val="solid"/>
          </a:ln>
        </p:spPr>
      </p:sp>
      <p:sp>
        <p:nvSpPr>
          <p:cNvPr id="171" name="Text 159"/>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72" name="Text 160"/>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73" name="Text 161"/>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63</a:t>
            </a:r>
            <a:endParaRPr lang="en-US" sz="900" dirty="0"/>
          </a:p>
        </p:txBody>
      </p:sp>
      <p:sp>
        <p:nvSpPr>
          <p:cNvPr id="174" name="Shape 162"/>
          <p:cNvSpPr/>
          <p:nvPr/>
        </p:nvSpPr>
        <p:spPr>
          <a:xfrm>
            <a:off x="3780000" y="6714000"/>
            <a:ext cx="2952000" cy="0"/>
          </a:xfrm>
          <a:prstGeom prst="line">
            <a:avLst/>
          </a:prstGeom>
          <a:noFill/>
          <a:ln w="3810">
            <a:solidFill>
              <a:srgbClr val="C9CFC9"/>
            </a:solidFill>
            <a:prstDash val="solid"/>
          </a:ln>
        </p:spPr>
      </p:sp>
      <p:sp>
        <p:nvSpPr>
          <p:cNvPr id="175" name="Text 163"/>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76" name="Text 164"/>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77" name="Text 165"/>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65</a:t>
            </a:r>
            <a:endParaRPr lang="en-US" sz="900" dirty="0"/>
          </a:p>
        </p:txBody>
      </p:sp>
      <p:sp>
        <p:nvSpPr>
          <p:cNvPr id="178" name="Shape 166"/>
          <p:cNvSpPr/>
          <p:nvPr/>
        </p:nvSpPr>
        <p:spPr>
          <a:xfrm>
            <a:off x="3780000" y="6915600"/>
            <a:ext cx="2952000" cy="0"/>
          </a:xfrm>
          <a:prstGeom prst="line">
            <a:avLst/>
          </a:prstGeom>
          <a:noFill/>
          <a:ln w="3810">
            <a:solidFill>
              <a:srgbClr val="C9CFC9"/>
            </a:solidFill>
            <a:prstDash val="solid"/>
          </a:ln>
        </p:spPr>
      </p:sp>
      <p:sp>
        <p:nvSpPr>
          <p:cNvPr id="179" name="Text 167"/>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80" name="Text 168"/>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81" name="Text 169"/>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66</a:t>
            </a:r>
            <a:endParaRPr lang="en-US" sz="900" dirty="0"/>
          </a:p>
        </p:txBody>
      </p:sp>
      <p:sp>
        <p:nvSpPr>
          <p:cNvPr id="182" name="Shape 170"/>
          <p:cNvSpPr/>
          <p:nvPr/>
        </p:nvSpPr>
        <p:spPr>
          <a:xfrm>
            <a:off x="3780000" y="7117200"/>
            <a:ext cx="2952000" cy="0"/>
          </a:xfrm>
          <a:prstGeom prst="line">
            <a:avLst/>
          </a:prstGeom>
          <a:noFill/>
          <a:ln w="3810">
            <a:solidFill>
              <a:srgbClr val="C9CFC9"/>
            </a:solidFill>
            <a:prstDash val="solid"/>
          </a:ln>
        </p:spPr>
      </p:sp>
      <p:sp>
        <p:nvSpPr>
          <p:cNvPr id="183" name="Shape 171"/>
          <p:cNvSpPr/>
          <p:nvPr/>
        </p:nvSpPr>
        <p:spPr>
          <a:xfrm>
            <a:off x="612000" y="8280000"/>
            <a:ext cx="6120000" cy="0"/>
          </a:xfrm>
          <a:prstGeom prst="line">
            <a:avLst/>
          </a:prstGeom>
          <a:noFill/>
          <a:ln w="10160">
            <a:solidFill>
              <a:srgbClr val="67067C"/>
            </a:solidFill>
            <a:prstDash val="solid"/>
          </a:ln>
        </p:spPr>
      </p:sp>
      <p:sp>
        <p:nvSpPr>
          <p:cNvPr id="184" name="Text 172"/>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85" name="Text 173"/>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86" name="Image 10" descr="/home/user/philippe1/build/deco-catalogue-scio-2026/label-bio.png">    </p:cNvPr>
          <p:cNvPicPr>
            <a:picLocks noChangeAspect="1"/>
          </p:cNvPicPr>
          <p:nvPr/>
        </p:nvPicPr>
        <p:blipFill>
          <a:blip r:embed="rId11"/>
          <a:stretch>
            <a:fillRect/>
          </a:stretch>
        </p:blipFill>
        <p:spPr>
          <a:xfrm>
            <a:off x="1080000" y="8559000"/>
            <a:ext cx="108000" cy="108000"/>
          </a:xfrm>
          <a:prstGeom prst="rect">
            <a:avLst/>
          </a:prstGeom>
        </p:spPr>
      </p:pic>
      <p:sp>
        <p:nvSpPr>
          <p:cNvPr id="187" name="Text 174"/>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88" name="Image 11" descr="/home/user/philippe1/build/deco-catalogue-scio-2026/label-conversion.png">    </p:cNvPr>
          <p:cNvPicPr>
            <a:picLocks noChangeAspect="1"/>
          </p:cNvPicPr>
          <p:nvPr/>
        </p:nvPicPr>
        <p:blipFill>
          <a:blip r:embed="rId12"/>
          <a:stretch>
            <a:fillRect/>
          </a:stretch>
        </p:blipFill>
        <p:spPr>
          <a:xfrm>
            <a:off x="1527093" y="8559000"/>
            <a:ext cx="108000" cy="108000"/>
          </a:xfrm>
          <a:prstGeom prst="rect">
            <a:avLst/>
          </a:prstGeom>
        </p:spPr>
      </p:pic>
      <p:sp>
        <p:nvSpPr>
          <p:cNvPr id="189" name="Text 175"/>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90" name="Image 12" descr="/home/user/philippe1/build/deco-catalogue-scio-2026/label-biobiodyn.png">    </p:cNvPr>
          <p:cNvPicPr>
            <a:picLocks noChangeAspect="1"/>
          </p:cNvPicPr>
          <p:nvPr/>
        </p:nvPicPr>
        <p:blipFill>
          <a:blip r:embed="rId13"/>
          <a:stretch>
            <a:fillRect/>
          </a:stretch>
        </p:blipFill>
        <p:spPr>
          <a:xfrm>
            <a:off x="2587593" y="8559000"/>
            <a:ext cx="108000" cy="108000"/>
          </a:xfrm>
          <a:prstGeom prst="rect">
            <a:avLst/>
          </a:prstGeom>
        </p:spPr>
      </p:pic>
      <p:sp>
        <p:nvSpPr>
          <p:cNvPr id="191" name="Text 176"/>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92" name="Image 13" descr="/home/user/philippe1/build/deco-catalogue-scio-2026/label-biobiodyn.png">    </p:cNvPr>
          <p:cNvPicPr>
            <a:picLocks noChangeAspect="1"/>
          </p:cNvPicPr>
          <p:nvPr/>
        </p:nvPicPr>
        <p:blipFill>
          <a:blip r:embed="rId14"/>
          <a:stretch>
            <a:fillRect/>
          </a:stretch>
        </p:blipFill>
        <p:spPr>
          <a:xfrm>
            <a:off x="3396791" y="8559000"/>
            <a:ext cx="108000" cy="108000"/>
          </a:xfrm>
          <a:prstGeom prst="rect">
            <a:avLst/>
          </a:prstGeom>
        </p:spPr>
      </p:pic>
      <p:sp>
        <p:nvSpPr>
          <p:cNvPr id="193" name="Text 177"/>
          <p:cNvSpPr/>
          <p:nvPr/>
        </p:nvSpPr>
        <p:spPr>
          <a:xfrm>
            <a:off x="3544391" y="8532000"/>
            <a:ext cx="800671"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 &amp; Biodynamie</a:t>
            </a:r>
            <a:endParaRPr lang="en-US" sz="740" dirty="0"/>
          </a:p>
        </p:txBody>
      </p:sp>
      <p:pic>
        <p:nvPicPr>
          <p:cNvPr id="194" name="Image 14" descr="/home/user/philippe1/build/deco-catalogue-scio-2026/label-hve.png">    </p:cNvPr>
          <p:cNvPicPr>
            <a:picLocks noChangeAspect="1"/>
          </p:cNvPicPr>
          <p:nvPr/>
        </p:nvPicPr>
        <p:blipFill>
          <a:blip r:embed="rId15"/>
          <a:stretch>
            <a:fillRect/>
          </a:stretch>
        </p:blipFill>
        <p:spPr>
          <a:xfrm>
            <a:off x="4453062" y="8559000"/>
            <a:ext cx="108000" cy="108000"/>
          </a:xfrm>
          <a:prstGeom prst="rect">
            <a:avLst/>
          </a:prstGeom>
        </p:spPr>
      </p:pic>
      <p:sp>
        <p:nvSpPr>
          <p:cNvPr id="195" name="Text 178"/>
          <p:cNvSpPr/>
          <p:nvPr/>
        </p:nvSpPr>
        <p:spPr>
          <a:xfrm>
            <a:off x="4600662"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96" name="Image 15" descr="/home/user/philippe1/build/deco-catalogue-scio-2026/label-hve.png">    </p:cNvPr>
          <p:cNvPicPr>
            <a:picLocks noChangeAspect="1"/>
          </p:cNvPicPr>
          <p:nvPr/>
        </p:nvPicPr>
        <p:blipFill>
          <a:blip r:embed="rId16"/>
          <a:stretch>
            <a:fillRect/>
          </a:stretch>
        </p:blipFill>
        <p:spPr>
          <a:xfrm>
            <a:off x="4941130" y="8559000"/>
            <a:ext cx="108000" cy="108000"/>
          </a:xfrm>
          <a:prstGeom prst="rect">
            <a:avLst/>
          </a:prstGeom>
        </p:spPr>
      </p:pic>
      <p:sp>
        <p:nvSpPr>
          <p:cNvPr id="197" name="Text 179"/>
          <p:cNvSpPr/>
          <p:nvPr/>
        </p:nvSpPr>
        <p:spPr>
          <a:xfrm>
            <a:off x="5088730"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98" name="Image 16" descr="/home/user/philippe1/build/deco-catalogue-scio-2026/label-raisonnee.png">    </p:cNvPr>
          <p:cNvPicPr>
            <a:picLocks noChangeAspect="1"/>
          </p:cNvPicPr>
          <p:nvPr/>
        </p:nvPicPr>
        <p:blipFill>
          <a:blip r:embed="rId17"/>
          <a:stretch>
            <a:fillRect/>
          </a:stretch>
        </p:blipFill>
        <p:spPr>
          <a:xfrm>
            <a:off x="5507765" y="8559000"/>
            <a:ext cx="108000" cy="108000"/>
          </a:xfrm>
          <a:prstGeom prst="rect">
            <a:avLst/>
          </a:prstGeom>
        </p:spPr>
      </p:pic>
      <p:sp>
        <p:nvSpPr>
          <p:cNvPr id="199" name="Text 180"/>
          <p:cNvSpPr/>
          <p:nvPr/>
        </p:nvSpPr>
        <p:spPr>
          <a:xfrm>
            <a:off x="5655365"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00" name="Image 17" descr="/home/user/philippe1/build/deco-catalogue-scio-2026/label-iso.png">    </p:cNvPr>
          <p:cNvPicPr>
            <a:picLocks noChangeAspect="1"/>
          </p:cNvPicPr>
          <p:nvPr/>
        </p:nvPicPr>
        <p:blipFill>
          <a:blip r:embed="rId18"/>
          <a:stretch>
            <a:fillRect/>
          </a:stretch>
        </p:blipFill>
        <p:spPr>
          <a:xfrm>
            <a:off x="6722580" y="8559000"/>
            <a:ext cx="108000" cy="108000"/>
          </a:xfrm>
          <a:prstGeom prst="rect">
            <a:avLst/>
          </a:prstGeom>
        </p:spPr>
      </p:pic>
      <p:sp>
        <p:nvSpPr>
          <p:cNvPr id="201" name="Text 181"/>
          <p:cNvSpPr/>
          <p:nvPr/>
        </p:nvSpPr>
        <p:spPr>
          <a:xfrm>
            <a:off x="6870180"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02" name="Text 182"/>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03" name="Text 18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04" name="Text 18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68</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11</a:t>
            </a:r>
            <a:endParaRPr lang="en-US" sz="860" dirty="0"/>
          </a:p>
        </p:txBody>
      </p:sp>
      <p:sp>
        <p:nvSpPr>
          <p:cNvPr id="18" name="Text 14"/>
          <p:cNvSpPr/>
          <p:nvPr/>
        </p:nvSpPr>
        <p:spPr>
          <a:xfrm>
            <a:off x="828000" y="7884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Divin No Low</a:t>
            </a:r>
            <a:r>
              <a:rPr lang="en-US" sz="860" b="1" dirty="0">
                <a:solidFill>
                  <a:srgbClr val="FBF8F1"/>
                </a:solidFill>
                <a:latin typeface="IBM Plex Sans" pitchFamily="34" charset="0"/>
                <a:ea typeface="IBM Plex Sans" pitchFamily="34" charset="-122"/>
                <a:cs typeface="IBM Plex Sans" pitchFamily="34" charset="-120"/>
              </a:rPr>
              <a:t>   13</a:t>
            </a:r>
            <a:endParaRPr lang="en-US" sz="86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612000" y="13572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5992033" y="1357200"/>
            <a:ext cx="615934" cy="2232000"/>
          </a:xfrm>
          <a:prstGeom prst="rect">
            <a:avLst/>
          </a:prstGeom>
        </p:spPr>
      </p:pic>
      <p:sp>
        <p:nvSpPr>
          <p:cNvPr id="16" name="Text 10"/>
          <p:cNvSpPr/>
          <p:nvPr/>
        </p:nvSpPr>
        <p:spPr>
          <a:xfrm>
            <a:off x="2177967" y="1261763"/>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232000" y="1404528"/>
            <a:ext cx="3456000" cy="2184573"/>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7225126"/>
            <a:ext cx="0" cy="288349"/>
          </a:xfrm>
          <a:prstGeom prst="line">
            <a:avLst/>
          </a:prstGeom>
          <a:noFill/>
          <a:ln w="17780">
            <a:solidFill>
              <a:srgbClr val="67067C"/>
            </a:solidFill>
            <a:prstDash val="solid"/>
          </a:ln>
        </p:spPr>
      </p:sp>
      <p:sp>
        <p:nvSpPr>
          <p:cNvPr id="20" name="Text 13"/>
          <p:cNvSpPr/>
          <p:nvPr/>
        </p:nvSpPr>
        <p:spPr>
          <a:xfrm>
            <a:off x="720000" y="722512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3936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03762"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037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568436"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6843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828000" y="13572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229377" y="1357200"/>
            <a:ext cx="573246" cy="2232000"/>
          </a:xfrm>
          <a:prstGeom prst="rect">
            <a:avLst/>
          </a:prstGeom>
        </p:spPr>
      </p:pic>
      <p:sp>
        <p:nvSpPr>
          <p:cNvPr id="18" name="Text 12"/>
          <p:cNvSpPr/>
          <p:nvPr/>
        </p:nvSpPr>
        <p:spPr>
          <a:xfrm>
            <a:off x="2393960" y="1352724"/>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448000" y="1462935"/>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933250"/>
            <a:ext cx="0" cy="288349"/>
          </a:xfrm>
          <a:prstGeom prst="line">
            <a:avLst/>
          </a:prstGeom>
          <a:noFill/>
          <a:ln w="17780">
            <a:solidFill>
              <a:srgbClr val="67067C"/>
            </a:solidFill>
            <a:prstDash val="solid"/>
          </a:ln>
        </p:spPr>
      </p:sp>
      <p:sp>
        <p:nvSpPr>
          <p:cNvPr id="22" name="Text 15"/>
          <p:cNvSpPr/>
          <p:nvPr/>
        </p:nvSpPr>
        <p:spPr>
          <a:xfrm>
            <a:off x="936000" y="793325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612000" y="13572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002705" y="1357200"/>
            <a:ext cx="594590" cy="2232000"/>
          </a:xfrm>
          <a:prstGeom prst="rect">
            <a:avLst/>
          </a:prstGeom>
        </p:spPr>
      </p:pic>
      <p:sp>
        <p:nvSpPr>
          <p:cNvPr id="16" name="Text 10"/>
          <p:cNvSpPr/>
          <p:nvPr/>
        </p:nvSpPr>
        <p:spPr>
          <a:xfrm>
            <a:off x="2178005" y="1483976"/>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232000" y="1610077"/>
            <a:ext cx="3456000" cy="1979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friands et expressifs.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0" name="Image 4" descr="/home/user/philippe1/build/deco-catalogue-scio-2026/sol-loire.png">    </p:cNvPr>
          <p:cNvPicPr>
            <a:picLocks noChangeAspect="1"/>
          </p:cNvPicPr>
          <p:nvPr/>
        </p:nvPicPr>
        <p:blipFill>
          <a:blip r:embed="rId5"/>
          <a:stretch>
            <a:fillRect/>
          </a:stretch>
        </p:blipFill>
        <p:spPr>
          <a:xfrm>
            <a:off x="612000" y="6214847"/>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550" dirty="0">
                <a:solidFill>
                  <a:srgbClr val="46606E"/>
                </a:solidFill>
                <a:latin typeface="Young Serif" pitchFamily="34" charset="0"/>
                <a:ea typeface="Young Serif" pitchFamily="34" charset="-122"/>
                <a:cs typeface="Young Serif" pitchFamily="34" charset="-120"/>
              </a:rPr>
              <a:t>   Domaine du Colombier / J.Y Bretaudeau</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828000" y="292666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4808232"/>
            <a:ext cx="0" cy="288349"/>
          </a:xfrm>
          <a:prstGeom prst="line">
            <a:avLst/>
          </a:prstGeom>
          <a:noFill/>
          <a:ln w="17780">
            <a:solidFill>
              <a:srgbClr val="67067C"/>
            </a:solidFill>
            <a:prstDash val="solid"/>
          </a:ln>
        </p:spPr>
      </p:sp>
      <p:sp>
        <p:nvSpPr>
          <p:cNvPr id="17" name="Text 11"/>
          <p:cNvSpPr/>
          <p:nvPr/>
        </p:nvSpPr>
        <p:spPr>
          <a:xfrm>
            <a:off x="936000" y="480823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52405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2" descr="/home/user/philippe1/build/deco-catalogue-scio-2026/sol-loire.png">    </p:cNvPr>
          <p:cNvPicPr>
            <a:picLocks noChangeAspect="1"/>
          </p:cNvPicPr>
          <p:nvPr/>
        </p:nvPicPr>
        <p:blipFill>
          <a:blip r:embed="rId3"/>
          <a:stretch>
            <a:fillRect/>
          </a:stretch>
        </p:blipFill>
        <p:spPr>
          <a:xfrm>
            <a:off x="828000" y="5388182"/>
            <a:ext cx="6120000" cy="1455953"/>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3572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357200"/>
            <a:ext cx="597639" cy="2232000"/>
          </a:xfrm>
          <a:prstGeom prst="rect">
            <a:avLst/>
          </a:prstGeom>
        </p:spPr>
      </p:pic>
      <p:sp>
        <p:nvSpPr>
          <p:cNvPr id="16" name="Text 10"/>
          <p:cNvSpPr/>
          <p:nvPr/>
        </p:nvSpPr>
        <p:spPr>
          <a:xfrm>
            <a:off x="2177965" y="1477539"/>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614506"/>
            <a:ext cx="3456000" cy="1974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609847"/>
            <a:ext cx="0" cy="288349"/>
          </a:xfrm>
          <a:prstGeom prst="line">
            <a:avLst/>
          </a:prstGeom>
          <a:noFill/>
          <a:ln w="17780">
            <a:solidFill>
              <a:srgbClr val="67067C"/>
            </a:solidFill>
            <a:prstDash val="solid"/>
          </a:ln>
        </p:spPr>
      </p:sp>
      <p:sp>
        <p:nvSpPr>
          <p:cNvPr id="20" name="Text 13"/>
          <p:cNvSpPr/>
          <p:nvPr/>
        </p:nvSpPr>
        <p:spPr>
          <a:xfrm>
            <a:off x="720000" y="760984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3572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357200"/>
            <a:ext cx="603738" cy="2232000"/>
          </a:xfrm>
          <a:prstGeom prst="rect">
            <a:avLst/>
          </a:prstGeom>
        </p:spPr>
      </p:pic>
      <p:sp>
        <p:nvSpPr>
          <p:cNvPr id="16" name="Text 10"/>
          <p:cNvSpPr/>
          <p:nvPr/>
        </p:nvSpPr>
        <p:spPr>
          <a:xfrm>
            <a:off x="2394017" y="1488545"/>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606934"/>
            <a:ext cx="3456000" cy="19821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301523"/>
            <a:ext cx="0" cy="288349"/>
          </a:xfrm>
          <a:prstGeom prst="line">
            <a:avLst/>
          </a:prstGeom>
          <a:noFill/>
          <a:ln w="17780">
            <a:solidFill>
              <a:srgbClr val="67067C"/>
            </a:solidFill>
            <a:prstDash val="solid"/>
          </a:ln>
        </p:spPr>
      </p:sp>
      <p:sp>
        <p:nvSpPr>
          <p:cNvPr id="20" name="Text 13"/>
          <p:cNvSpPr/>
          <p:nvPr/>
        </p:nvSpPr>
        <p:spPr>
          <a:xfrm>
            <a:off x="936000" y="530152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7338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5881472"/>
            <a:ext cx="6120000" cy="1315444"/>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3572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5993557" y="1357200"/>
            <a:ext cx="612885" cy="2232000"/>
          </a:xfrm>
          <a:prstGeom prst="rect">
            <a:avLst/>
          </a:prstGeom>
        </p:spPr>
      </p:pic>
      <p:sp>
        <p:nvSpPr>
          <p:cNvPr id="18" name="Text 12"/>
          <p:cNvSpPr/>
          <p:nvPr/>
        </p:nvSpPr>
        <p:spPr>
          <a:xfrm>
            <a:off x="2177960" y="1493390"/>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603600"/>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56825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612000" y="5830126"/>
            <a:ext cx="6120000" cy="1148400"/>
          </a:xfrm>
          <a:prstGeom prst="rect">
            <a:avLst/>
          </a:prstGeom>
        </p:spPr>
      </p:pic>
      <p:sp>
        <p:nvSpPr>
          <p:cNvPr id="23"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13</a:t>
            </a:r>
            <a:endParaRPr lang="en-US" sz="740" dirty="0"/>
          </a:p>
        </p:txBody>
      </p:sp>
      <p:sp>
        <p:nvSpPr>
          <p:cNvPr id="24" name="Shape 16"/>
          <p:cNvSpPr/>
          <p:nvPr/>
        </p:nvSpPr>
        <p:spPr>
          <a:xfrm>
            <a:off x="612000" y="8388000"/>
            <a:ext cx="6120000" cy="0"/>
          </a:xfrm>
          <a:prstGeom prst="line">
            <a:avLst/>
          </a:prstGeom>
          <a:noFill/>
          <a:ln w="8890">
            <a:solidFill>
              <a:srgbClr val="46606E"/>
            </a:solidFill>
            <a:prstDash val="solid"/>
          </a:ln>
        </p:spPr>
      </p:sp>
      <p:sp>
        <p:nvSpPr>
          <p:cNvPr id="25"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71195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1195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143344"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3143344"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4086901"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08690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044050"/>
            <a:ext cx="0" cy="288349"/>
          </a:xfrm>
          <a:prstGeom prst="line">
            <a:avLst/>
          </a:prstGeom>
          <a:noFill/>
          <a:ln w="17780">
            <a:solidFill>
              <a:srgbClr val="67067C"/>
            </a:solidFill>
            <a:prstDash val="solid"/>
          </a:ln>
        </p:spPr>
      </p:sp>
      <p:sp>
        <p:nvSpPr>
          <p:cNvPr id="18" name="Text 13"/>
          <p:cNvSpPr/>
          <p:nvPr/>
        </p:nvSpPr>
        <p:spPr>
          <a:xfrm>
            <a:off x="936000" y="504405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9" name="Text 14"/>
          <p:cNvSpPr/>
          <p:nvPr/>
        </p:nvSpPr>
        <p:spPr>
          <a:xfrm>
            <a:off x="828000" y="547639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0" name="Image 2" descr="/home/user/philippe1/build/deco-catalogue-scio-2026/sol-loire.png">    </p:cNvPr>
          <p:cNvPicPr>
            <a:picLocks noChangeAspect="1"/>
          </p:cNvPicPr>
          <p:nvPr/>
        </p:nvPicPr>
        <p:blipFill>
          <a:blip r:embed="rId3"/>
          <a:stretch>
            <a:fillRect/>
          </a:stretch>
        </p:blipFill>
        <p:spPr>
          <a:xfrm>
            <a:off x="828000" y="5623999"/>
            <a:ext cx="6120000" cy="1227219"/>
          </a:xfrm>
          <a:prstGeom prst="rect">
            <a:avLst/>
          </a:prstGeom>
        </p:spPr>
      </p:pic>
      <p:sp>
        <p:nvSpPr>
          <p:cNvPr id="21"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13</a:t>
            </a:r>
            <a:endParaRPr lang="en-US" sz="740" dirty="0"/>
          </a:p>
        </p:txBody>
      </p:sp>
      <p:sp>
        <p:nvSpPr>
          <p:cNvPr id="22" name="Shape 16"/>
          <p:cNvSpPr/>
          <p:nvPr/>
        </p:nvSpPr>
        <p:spPr>
          <a:xfrm>
            <a:off x="828000" y="8388000"/>
            <a:ext cx="6120000" cy="0"/>
          </a:xfrm>
          <a:prstGeom prst="line">
            <a:avLst/>
          </a:prstGeom>
          <a:noFill/>
          <a:ln w="8890">
            <a:solidFill>
              <a:srgbClr val="46606E"/>
            </a:solidFill>
            <a:prstDash val="solid"/>
          </a:ln>
        </p:spPr>
      </p:sp>
      <p:sp>
        <p:nvSpPr>
          <p:cNvPr id="23"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4"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612000" y="13572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5956967" y="1357200"/>
            <a:ext cx="686066" cy="2232000"/>
          </a:xfrm>
          <a:prstGeom prst="rect">
            <a:avLst/>
          </a:prstGeom>
        </p:spPr>
      </p:pic>
      <p:sp>
        <p:nvSpPr>
          <p:cNvPr id="13" name="Text 8"/>
          <p:cNvSpPr/>
          <p:nvPr/>
        </p:nvSpPr>
        <p:spPr>
          <a:xfrm>
            <a:off x="2178033" y="1347672"/>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232000" y="1466412"/>
            <a:ext cx="3456000" cy="212268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612000" y="7163809"/>
            <a:ext cx="0" cy="288349"/>
          </a:xfrm>
          <a:prstGeom prst="line">
            <a:avLst/>
          </a:prstGeom>
          <a:noFill/>
          <a:ln w="17780">
            <a:solidFill>
              <a:srgbClr val="67067C"/>
            </a:solidFill>
            <a:prstDash val="solid"/>
          </a:ln>
        </p:spPr>
      </p:sp>
      <p:sp>
        <p:nvSpPr>
          <p:cNvPr id="17" name="Text 11"/>
          <p:cNvSpPr/>
          <p:nvPr/>
        </p:nvSpPr>
        <p:spPr>
          <a:xfrm>
            <a:off x="720000" y="716380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11</a:t>
            </a:r>
            <a:endParaRPr lang="en-US" sz="740" dirty="0"/>
          </a:p>
        </p:txBody>
      </p:sp>
      <p:sp>
        <p:nvSpPr>
          <p:cNvPr id="19" name="Shape 13"/>
          <p:cNvSpPr/>
          <p:nvPr/>
        </p:nvSpPr>
        <p:spPr>
          <a:xfrm>
            <a:off x="612000" y="8388000"/>
            <a:ext cx="6120000" cy="0"/>
          </a:xfrm>
          <a:prstGeom prst="line">
            <a:avLst/>
          </a:prstGeom>
          <a:noFill/>
          <a:ln w="8890">
            <a:solidFill>
              <a:srgbClr val="46606E"/>
            </a:solidFill>
            <a:prstDash val="solid"/>
          </a:ln>
        </p:spPr>
      </p:sp>
      <p:sp>
        <p:nvSpPr>
          <p:cNvPr id="20"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alsa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14</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056066" y="1357200"/>
            <a:ext cx="487869" cy="2232000"/>
          </a:xfrm>
          <a:prstGeom prst="rect">
            <a:avLst/>
          </a:prstGeom>
        </p:spPr>
      </p:pic>
      <p:sp>
        <p:nvSpPr>
          <p:cNvPr id="16" name="Text 10"/>
          <p:cNvSpPr/>
          <p:nvPr/>
        </p:nvSpPr>
        <p:spPr>
          <a:xfrm>
            <a:off x="2177956" y="1351894"/>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7" name="Text 11"/>
          <p:cNvSpPr/>
          <p:nvPr/>
        </p:nvSpPr>
        <p:spPr>
          <a:xfrm>
            <a:off x="2232000" y="1463507"/>
            <a:ext cx="3456000" cy="2125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20" name="Image 4" descr="/home/user/philippe1/build/deco-catalogue-scio-2026/sol-alsace.png">    </p:cNvPr>
          <p:cNvPicPr>
            <a:picLocks noChangeAspect="1"/>
          </p:cNvPicPr>
          <p:nvPr/>
        </p:nvPicPr>
        <p:blipFill>
          <a:blip r:embed="rId5"/>
          <a:stretch>
            <a:fillRect/>
          </a:stretch>
        </p:blipFill>
        <p:spPr>
          <a:xfrm>
            <a:off x="612000" y="6276164"/>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5605430"/>
            <a:ext cx="0" cy="288349"/>
          </a:xfrm>
          <a:prstGeom prst="line">
            <a:avLst/>
          </a:prstGeom>
          <a:noFill/>
          <a:ln w="17780">
            <a:solidFill>
              <a:srgbClr val="67067C"/>
            </a:solidFill>
            <a:prstDash val="solid"/>
          </a:ln>
        </p:spPr>
      </p:sp>
      <p:sp>
        <p:nvSpPr>
          <p:cNvPr id="16" name="Text 11"/>
          <p:cNvSpPr/>
          <p:nvPr/>
        </p:nvSpPr>
        <p:spPr>
          <a:xfrm>
            <a:off x="936000" y="5605430"/>
            <a:ext cx="6012000" cy="288349"/>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17" name="Text 12"/>
          <p:cNvSpPr/>
          <p:nvPr/>
        </p:nvSpPr>
        <p:spPr>
          <a:xfrm>
            <a:off x="828000" y="603777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18" name="Image 2" descr="/home/user/philippe1/build/deco-catalogue-scio-2026/sol-alsace.png">    </p:cNvPr>
          <p:cNvPicPr>
            <a:picLocks noChangeAspect="1"/>
          </p:cNvPicPr>
          <p:nvPr/>
        </p:nvPicPr>
        <p:blipFill>
          <a:blip r:embed="rId3"/>
          <a:stretch>
            <a:fillRect/>
          </a:stretch>
        </p:blipFill>
        <p:spPr>
          <a:xfrm>
            <a:off x="828000" y="6185379"/>
            <a:ext cx="6120000" cy="1148400"/>
          </a:xfrm>
          <a:prstGeom prst="rect">
            <a:avLst/>
          </a:prstGeom>
        </p:spPr>
      </p:pic>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beaujolais.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beaujolais.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Beaujolais</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le Clos des Nugues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des Nugues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17</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3572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357200"/>
            <a:ext cx="579344" cy="2232000"/>
          </a:xfrm>
          <a:prstGeom prst="rect">
            <a:avLst/>
          </a:prstGeom>
        </p:spPr>
      </p:pic>
      <p:sp>
        <p:nvSpPr>
          <p:cNvPr id="16" name="Text 10"/>
          <p:cNvSpPr/>
          <p:nvPr/>
        </p:nvSpPr>
        <p:spPr>
          <a:xfrm>
            <a:off x="2393990" y="1270119"/>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82839"/>
            <a:ext cx="3456000" cy="2206261"/>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7225126"/>
            <a:ext cx="0" cy="288349"/>
          </a:xfrm>
          <a:prstGeom prst="line">
            <a:avLst/>
          </a:prstGeom>
          <a:noFill/>
          <a:ln w="17780">
            <a:solidFill>
              <a:srgbClr val="67067C"/>
            </a:solidFill>
            <a:prstDash val="solid"/>
          </a:ln>
        </p:spPr>
      </p:sp>
      <p:sp>
        <p:nvSpPr>
          <p:cNvPr id="20" name="Text 13"/>
          <p:cNvSpPr/>
          <p:nvPr/>
        </p:nvSpPr>
        <p:spPr>
          <a:xfrm>
            <a:off x="936000" y="722512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11   </a:t>
            </a:r>
            <a:r>
              <a:rPr lang="en-US" sz="860" dirty="0">
                <a:solidFill>
                  <a:srgbClr val="FBF8F1"/>
                </a:solidFill>
                <a:latin typeface="IBM Plex Sans" pitchFamily="34" charset="0"/>
                <a:ea typeface="IBM Plex Sans" pitchFamily="34" charset="-122"/>
                <a:cs typeface="IBM Plex Sans" pitchFamily="34" charset="-120"/>
              </a:rPr>
              <a:t>Domaine Nadine Ferrand</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217171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17171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88182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88182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346499"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346499"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828000" y="13572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223279" y="1357200"/>
            <a:ext cx="585443" cy="2232000"/>
          </a:xfrm>
          <a:prstGeom prst="rect">
            <a:avLst/>
          </a:prstGeom>
        </p:spPr>
      </p:pic>
      <p:sp>
        <p:nvSpPr>
          <p:cNvPr id="18" name="Text 12"/>
          <p:cNvSpPr/>
          <p:nvPr/>
        </p:nvSpPr>
        <p:spPr>
          <a:xfrm>
            <a:off x="2394024" y="1347810"/>
            <a:ext cx="168801" cy="451307"/>
          </a:xfrm>
          <a:prstGeom prst="rect">
            <a:avLst/>
          </a:prstGeom>
          <a:noFill/>
          <a:ln/>
        </p:spPr>
        <p:txBody>
          <a:bodyPr wrap="square" lIns="0" tIns="0" rIns="0" bIns="0" rtlCol="0" anchor="t"/>
          <a:lstStyle/>
          <a:p>
            <a:pPr algn="r" indent="0" marL="0">
              <a:lnSpc>
                <a:spcPct val="125000"/>
              </a:lnSpc>
              <a:buNone/>
            </a:pPr>
            <a:r>
              <a:rPr lang="en-US" sz="2221" dirty="0">
                <a:solidFill>
                  <a:srgbClr val="67067C"/>
                </a:solidFill>
                <a:latin typeface="Young Serif" pitchFamily="34" charset="0"/>
                <a:ea typeface="Young Serif" pitchFamily="34" charset="-122"/>
                <a:cs typeface="Young Serif" pitchFamily="34" charset="-120"/>
              </a:rPr>
              <a:t>I</a:t>
            </a:r>
            <a:endParaRPr lang="en-US" sz="2221" dirty="0"/>
          </a:p>
        </p:txBody>
      </p:sp>
      <p:sp>
        <p:nvSpPr>
          <p:cNvPr id="19" name="Text 13"/>
          <p:cNvSpPr/>
          <p:nvPr/>
        </p:nvSpPr>
        <p:spPr>
          <a:xfrm>
            <a:off x="2448000" y="1466316"/>
            <a:ext cx="3456000" cy="212278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828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828000" y="6214847"/>
            <a:ext cx="6120000" cy="1148400"/>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612000" y="5544113"/>
            <a:ext cx="0" cy="288349"/>
          </a:xfrm>
          <a:prstGeom prst="line">
            <a:avLst/>
          </a:prstGeom>
          <a:noFill/>
          <a:ln w="17780">
            <a:solidFill>
              <a:srgbClr val="67067C"/>
            </a:solidFill>
            <a:prstDash val="solid"/>
          </a:ln>
        </p:spPr>
      </p:sp>
      <p:sp>
        <p:nvSpPr>
          <p:cNvPr id="18" name="Text 13"/>
          <p:cNvSpPr/>
          <p:nvPr/>
        </p:nvSpPr>
        <p:spPr>
          <a:xfrm>
            <a:off x="720000" y="554411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9" name="Text 14"/>
          <p:cNvSpPr/>
          <p:nvPr/>
        </p:nvSpPr>
        <p:spPr>
          <a:xfrm>
            <a:off x="612000" y="597646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png">    </p:cNvPr>
          <p:cNvPicPr>
            <a:picLocks noChangeAspect="1"/>
          </p:cNvPicPr>
          <p:nvPr/>
        </p:nvPicPr>
        <p:blipFill>
          <a:blip r:embed="rId3"/>
          <a:stretch>
            <a:fillRect/>
          </a:stretch>
        </p:blipFill>
        <p:spPr>
          <a:xfrm>
            <a:off x="612000" y="6124062"/>
            <a:ext cx="6120000" cy="1169890"/>
          </a:xfrm>
          <a:prstGeom prst="rect">
            <a:avLst/>
          </a:prstGeom>
        </p:spPr>
      </p:pic>
      <p:sp>
        <p:nvSpPr>
          <p:cNvPr id="21" name="Shape 15"/>
          <p:cNvSpPr/>
          <p:nvPr/>
        </p:nvSpPr>
        <p:spPr>
          <a:xfrm>
            <a:off x="612000" y="8388000"/>
            <a:ext cx="6120000" cy="0"/>
          </a:xfrm>
          <a:prstGeom prst="line">
            <a:avLst/>
          </a:prstGeom>
          <a:noFill/>
          <a:ln w="8890">
            <a:solidFill>
              <a:srgbClr val="46606E"/>
            </a:solidFill>
            <a:prstDash val="solid"/>
          </a:ln>
        </p:spPr>
      </p:sp>
      <p:sp>
        <p:nvSpPr>
          <p:cNvPr id="22"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5"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3572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357200"/>
            <a:ext cx="588492" cy="2232000"/>
          </a:xfrm>
          <a:prstGeom prst="rect">
            <a:avLst/>
          </a:prstGeom>
        </p:spPr>
      </p:pic>
      <p:sp>
        <p:nvSpPr>
          <p:cNvPr id="17" name="Text 12"/>
          <p:cNvSpPr/>
          <p:nvPr/>
        </p:nvSpPr>
        <p:spPr>
          <a:xfrm>
            <a:off x="2393990" y="1274606"/>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88865"/>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779088"/>
            <a:ext cx="0" cy="288349"/>
          </a:xfrm>
          <a:prstGeom prst="line">
            <a:avLst/>
          </a:prstGeom>
          <a:noFill/>
          <a:ln w="17780">
            <a:solidFill>
              <a:srgbClr val="67067C"/>
            </a:solidFill>
            <a:prstDash val="solid"/>
          </a:ln>
        </p:spPr>
      </p:sp>
      <p:sp>
        <p:nvSpPr>
          <p:cNvPr id="21" name="Text 15"/>
          <p:cNvSpPr/>
          <p:nvPr/>
        </p:nvSpPr>
        <p:spPr>
          <a:xfrm>
            <a:off x="936000" y="6779088"/>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721143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png">    </p:cNvPr>
          <p:cNvPicPr>
            <a:picLocks noChangeAspect="1"/>
          </p:cNvPicPr>
          <p:nvPr/>
        </p:nvPicPr>
        <p:blipFill>
          <a:blip r:embed="rId4"/>
          <a:stretch>
            <a:fillRect/>
          </a:stretch>
        </p:blipFill>
        <p:spPr>
          <a:xfrm>
            <a:off x="828000" y="7359038"/>
            <a:ext cx="6120000" cy="729241"/>
          </a:xfrm>
          <a:prstGeom prst="rect">
            <a:avLst/>
          </a:prstGeom>
        </p:spPr>
      </p:pic>
      <p:sp>
        <p:nvSpPr>
          <p:cNvPr id="24" name="Shape 17"/>
          <p:cNvSpPr/>
          <p:nvPr/>
        </p:nvSpPr>
        <p:spPr>
          <a:xfrm>
            <a:off x="828000" y="8388000"/>
            <a:ext cx="6120000" cy="0"/>
          </a:xfrm>
          <a:prstGeom prst="line">
            <a:avLst/>
          </a:prstGeom>
          <a:noFill/>
          <a:ln w="8890">
            <a:solidFill>
              <a:srgbClr val="46606E"/>
            </a:solidFill>
            <a:prstDash val="solid"/>
          </a:ln>
        </p:spPr>
      </p:sp>
      <p:sp>
        <p:nvSpPr>
          <p:cNvPr id="25"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476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3572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357200"/>
            <a:ext cx="561049" cy="2232000"/>
          </a:xfrm>
          <a:prstGeom prst="rect">
            <a:avLst/>
          </a:prstGeom>
        </p:spPr>
      </p:pic>
      <p:sp>
        <p:nvSpPr>
          <p:cNvPr id="18" name="Text 12"/>
          <p:cNvSpPr/>
          <p:nvPr/>
        </p:nvSpPr>
        <p:spPr>
          <a:xfrm>
            <a:off x="2178034" y="1627895"/>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748504"/>
            <a:ext cx="3456000" cy="184059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58665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6734257"/>
            <a:ext cx="6120000" cy="949507"/>
          </a:xfrm>
          <a:prstGeom prst="rect">
            <a:avLst/>
          </a:prstGeom>
        </p:spPr>
      </p:pic>
      <p:sp>
        <p:nvSpPr>
          <p:cNvPr id="23"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25 · n°14 p. 26</a:t>
            </a:r>
            <a:endParaRPr lang="en-US" sz="740" dirty="0"/>
          </a:p>
        </p:txBody>
      </p:sp>
      <p:sp>
        <p:nvSpPr>
          <p:cNvPr id="24" name="Shape 16"/>
          <p:cNvSpPr/>
          <p:nvPr/>
        </p:nvSpPr>
        <p:spPr>
          <a:xfrm>
            <a:off x="612000" y="8388000"/>
            <a:ext cx="6120000" cy="0"/>
          </a:xfrm>
          <a:prstGeom prst="line">
            <a:avLst/>
          </a:prstGeom>
          <a:noFill/>
          <a:ln w="8890">
            <a:solidFill>
              <a:srgbClr val="46606E"/>
            </a:solidFill>
            <a:prstDash val="solid"/>
          </a:ln>
        </p:spPr>
      </p:sp>
      <p:sp>
        <p:nvSpPr>
          <p:cNvPr id="25"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476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828000" y="5817361"/>
            <a:ext cx="0" cy="288349"/>
          </a:xfrm>
          <a:prstGeom prst="line">
            <a:avLst/>
          </a:prstGeom>
          <a:noFill/>
          <a:ln w="17780">
            <a:solidFill>
              <a:srgbClr val="67067C"/>
            </a:solidFill>
            <a:prstDash val="solid"/>
          </a:ln>
        </p:spPr>
      </p:sp>
      <p:sp>
        <p:nvSpPr>
          <p:cNvPr id="18" name="Text 13"/>
          <p:cNvSpPr/>
          <p:nvPr/>
        </p:nvSpPr>
        <p:spPr>
          <a:xfrm>
            <a:off x="936000" y="581736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624971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png">    </p:cNvPr>
          <p:cNvPicPr>
            <a:picLocks noChangeAspect="1"/>
          </p:cNvPicPr>
          <p:nvPr/>
        </p:nvPicPr>
        <p:blipFill>
          <a:blip r:embed="rId3"/>
          <a:stretch>
            <a:fillRect/>
          </a:stretch>
        </p:blipFill>
        <p:spPr>
          <a:xfrm>
            <a:off x="828000" y="6397310"/>
            <a:ext cx="6120000" cy="1148400"/>
          </a:xfrm>
          <a:prstGeom prst="rect">
            <a:avLst/>
          </a:prstGeom>
        </p:spPr>
      </p:pic>
      <p:sp>
        <p:nvSpPr>
          <p:cNvPr id="21"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25 · n°14 p. 26</a:t>
            </a:r>
            <a:endParaRPr lang="en-US" sz="740" dirty="0"/>
          </a:p>
        </p:txBody>
      </p:sp>
      <p:sp>
        <p:nvSpPr>
          <p:cNvPr id="22" name="Shape 16"/>
          <p:cNvSpPr/>
          <p:nvPr/>
        </p:nvSpPr>
        <p:spPr>
          <a:xfrm>
            <a:off x="828000" y="8388000"/>
            <a:ext cx="6120000" cy="0"/>
          </a:xfrm>
          <a:prstGeom prst="line">
            <a:avLst/>
          </a:prstGeom>
          <a:noFill/>
          <a:ln w="8890">
            <a:solidFill>
              <a:srgbClr val="46606E"/>
            </a:solidFill>
            <a:prstDash val="solid"/>
          </a:ln>
        </p:spPr>
      </p:sp>
      <p:sp>
        <p:nvSpPr>
          <p:cNvPr id="23"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3572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357200"/>
            <a:ext cx="598337" cy="2232000"/>
          </a:xfrm>
          <a:prstGeom prst="rect">
            <a:avLst/>
          </a:prstGeom>
        </p:spPr>
      </p:pic>
      <p:sp>
        <p:nvSpPr>
          <p:cNvPr id="13" name="Text 8"/>
          <p:cNvSpPr/>
          <p:nvPr/>
        </p:nvSpPr>
        <p:spPr>
          <a:xfrm>
            <a:off x="2177990" y="1393631"/>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507890"/>
            <a:ext cx="3456000" cy="2081211"/>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986305"/>
            <a:ext cx="0" cy="288349"/>
          </a:xfrm>
          <a:prstGeom prst="line">
            <a:avLst/>
          </a:prstGeom>
          <a:noFill/>
          <a:ln w="17780">
            <a:solidFill>
              <a:srgbClr val="67067C"/>
            </a:solidFill>
            <a:prstDash val="solid"/>
          </a:ln>
        </p:spPr>
      </p:sp>
      <p:sp>
        <p:nvSpPr>
          <p:cNvPr id="17" name="Text 11"/>
          <p:cNvSpPr/>
          <p:nvPr/>
        </p:nvSpPr>
        <p:spPr>
          <a:xfrm>
            <a:off x="720000" y="49863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4186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612000" y="5566254"/>
            <a:ext cx="6120000" cy="1261866"/>
          </a:xfrm>
          <a:prstGeom prst="rect">
            <a:avLst/>
          </a:prstGeom>
        </p:spPr>
      </p:pic>
      <p:sp>
        <p:nvSpPr>
          <p:cNvPr id="20"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23 · n°14 p. 26</a:t>
            </a:r>
            <a:endParaRPr lang="en-US" sz="74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3572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357200"/>
            <a:ext cx="570197" cy="2232000"/>
          </a:xfrm>
          <a:prstGeom prst="rect">
            <a:avLst/>
          </a:prstGeom>
        </p:spPr>
      </p:pic>
      <p:sp>
        <p:nvSpPr>
          <p:cNvPr id="13" name="Text 8"/>
          <p:cNvSpPr/>
          <p:nvPr/>
        </p:nvSpPr>
        <p:spPr>
          <a:xfrm>
            <a:off x="2393990" y="1274606"/>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88865"/>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628796"/>
            <a:ext cx="0" cy="288349"/>
          </a:xfrm>
          <a:prstGeom prst="line">
            <a:avLst/>
          </a:prstGeom>
          <a:noFill/>
          <a:ln w="17780">
            <a:solidFill>
              <a:srgbClr val="67067C"/>
            </a:solidFill>
            <a:prstDash val="solid"/>
          </a:ln>
        </p:spPr>
      </p:sp>
      <p:sp>
        <p:nvSpPr>
          <p:cNvPr id="17" name="Text 11"/>
          <p:cNvSpPr/>
          <p:nvPr/>
        </p:nvSpPr>
        <p:spPr>
          <a:xfrm>
            <a:off x="936000" y="562879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606114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828000" y="6208745"/>
            <a:ext cx="6120000" cy="1148400"/>
          </a:xfrm>
          <a:prstGeom prst="rect">
            <a:avLst/>
          </a:prstGeom>
        </p:spPr>
      </p:pic>
      <p:sp>
        <p:nvSpPr>
          <p:cNvPr id="20" name="Text 13"/>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23 · n°13 p. 25</a:t>
            </a:r>
            <a:endParaRPr lang="en-US" sz="74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3572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4049" y="1357200"/>
            <a:ext cx="551902" cy="2232000"/>
          </a:xfrm>
          <a:prstGeom prst="rect">
            <a:avLst/>
          </a:prstGeom>
        </p:spPr>
      </p:pic>
      <p:sp>
        <p:nvSpPr>
          <p:cNvPr id="16" name="Text 10"/>
          <p:cNvSpPr/>
          <p:nvPr/>
        </p:nvSpPr>
        <p:spPr>
          <a:xfrm>
            <a:off x="2178017" y="1347879"/>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66269"/>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686243"/>
            <a:ext cx="0" cy="288349"/>
          </a:xfrm>
          <a:prstGeom prst="line">
            <a:avLst/>
          </a:prstGeom>
          <a:noFill/>
          <a:ln w="17780">
            <a:solidFill>
              <a:srgbClr val="67067C"/>
            </a:solidFill>
            <a:prstDash val="solid"/>
          </a:ln>
        </p:spPr>
      </p:sp>
      <p:sp>
        <p:nvSpPr>
          <p:cNvPr id="20" name="Text 13"/>
          <p:cNvSpPr/>
          <p:nvPr/>
        </p:nvSpPr>
        <p:spPr>
          <a:xfrm>
            <a:off x="720000" y="568624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611859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6266193"/>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rho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27</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des Pasquiers</a:t>
            </a: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223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011852" y="1357200"/>
            <a:ext cx="576295" cy="2232000"/>
          </a:xfrm>
          <a:prstGeom prst="rect">
            <a:avLst/>
          </a:prstGeom>
        </p:spPr>
      </p:pic>
      <p:sp>
        <p:nvSpPr>
          <p:cNvPr id="16" name="Text 10"/>
          <p:cNvSpPr/>
          <p:nvPr/>
        </p:nvSpPr>
        <p:spPr>
          <a:xfrm>
            <a:off x="2178049" y="1190137"/>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232000" y="1217729"/>
            <a:ext cx="3456000" cy="2492071"/>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8718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360905"/>
            <a:ext cx="0" cy="288349"/>
          </a:xfrm>
          <a:prstGeom prst="line">
            <a:avLst/>
          </a:prstGeom>
          <a:noFill/>
          <a:ln w="17780">
            <a:solidFill>
              <a:srgbClr val="67067C"/>
            </a:solidFill>
            <a:prstDash val="solid"/>
          </a:ln>
        </p:spPr>
      </p:sp>
      <p:sp>
        <p:nvSpPr>
          <p:cNvPr id="20" name="Text 13"/>
          <p:cNvSpPr/>
          <p:nvPr/>
        </p:nvSpPr>
        <p:spPr>
          <a:xfrm>
            <a:off x="720000" y="53609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7932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5940854"/>
            <a:ext cx="6120000" cy="1148400"/>
          </a:xfrm>
          <a:prstGeom prst="rect">
            <a:avLst/>
          </a:prstGeom>
        </p:spPr>
      </p:pic>
      <p:sp>
        <p:nvSpPr>
          <p:cNvPr id="23"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30 · n°18 p. 31 · n°19 p. 32</a:t>
            </a:r>
            <a:endParaRPr lang="en-US" sz="740" dirty="0"/>
          </a:p>
        </p:txBody>
      </p:sp>
      <p:sp>
        <p:nvSpPr>
          <p:cNvPr id="24" name="Shape 16"/>
          <p:cNvSpPr/>
          <p:nvPr/>
        </p:nvSpPr>
        <p:spPr>
          <a:xfrm>
            <a:off x="612000" y="8388000"/>
            <a:ext cx="6120000" cy="0"/>
          </a:xfrm>
          <a:prstGeom prst="line">
            <a:avLst/>
          </a:prstGeom>
          <a:noFill/>
          <a:ln w="8890">
            <a:solidFill>
              <a:srgbClr val="46606E"/>
            </a:solidFill>
            <a:prstDash val="solid"/>
          </a:ln>
        </p:spPr>
      </p:sp>
      <p:sp>
        <p:nvSpPr>
          <p:cNvPr id="25"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2008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439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439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828000" y="13572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217180" y="1357200"/>
            <a:ext cx="597639" cy="2232000"/>
          </a:xfrm>
          <a:prstGeom prst="rect">
            <a:avLst/>
          </a:prstGeom>
        </p:spPr>
      </p:pic>
      <p:sp>
        <p:nvSpPr>
          <p:cNvPr id="16" name="Text 10"/>
          <p:cNvSpPr/>
          <p:nvPr/>
        </p:nvSpPr>
        <p:spPr>
          <a:xfrm>
            <a:off x="2394017" y="1174495"/>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448000" y="1257820"/>
            <a:ext cx="3456000" cy="2813930"/>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423375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196105"/>
            <a:ext cx="0" cy="288349"/>
          </a:xfrm>
          <a:prstGeom prst="line">
            <a:avLst/>
          </a:prstGeom>
          <a:noFill/>
          <a:ln w="17780">
            <a:solidFill>
              <a:srgbClr val="67067C"/>
            </a:solidFill>
            <a:prstDash val="solid"/>
          </a:ln>
        </p:spPr>
      </p:sp>
      <p:sp>
        <p:nvSpPr>
          <p:cNvPr id="20" name="Text 13"/>
          <p:cNvSpPr/>
          <p:nvPr/>
        </p:nvSpPr>
        <p:spPr>
          <a:xfrm>
            <a:off x="936000" y="71961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29 · n°18 p. 31 · n°19 p. 32</a:t>
            </a:r>
            <a:endParaRPr lang="en-US" sz="740" dirty="0"/>
          </a:p>
        </p:txBody>
      </p:sp>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223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recadré au-dessus du verre — Domaine du Moulin Blanc">    </p:cNvPr>
          <p:cNvPicPr>
            <a:picLocks noChangeAspect="1"/>
          </p:cNvPicPr>
          <p:nvPr/>
        </p:nvPicPr>
        <p:blipFill>
          <a:blip r:embed="rId3"/>
          <a:stretch>
            <a:fillRect/>
          </a:stretch>
        </p:blipFill>
        <p:spPr>
          <a:xfrm>
            <a:off x="612000" y="1357200"/>
            <a:ext cx="1440000" cy="1440000"/>
          </a:xfrm>
          <a:prstGeom prst="rect">
            <a:avLst/>
          </a:prstGeom>
        </p:spPr>
      </p:pic>
      <p:sp>
        <p:nvSpPr>
          <p:cNvPr id="15"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2"/>
          <p:cNvSpPr/>
          <p:nvPr/>
        </p:nvSpPr>
        <p:spPr>
          <a:xfrm>
            <a:off x="2177970" y="1318030"/>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8" name="Text 13"/>
          <p:cNvSpPr/>
          <p:nvPr/>
        </p:nvSpPr>
        <p:spPr>
          <a:xfrm>
            <a:off x="2232000" y="1397825"/>
            <a:ext cx="3456000" cy="2191275"/>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612000" y="4920671"/>
            <a:ext cx="0" cy="288349"/>
          </a:xfrm>
          <a:prstGeom prst="line">
            <a:avLst/>
          </a:prstGeom>
          <a:noFill/>
          <a:ln w="17780">
            <a:solidFill>
              <a:srgbClr val="67067C"/>
            </a:solidFill>
            <a:prstDash val="solid"/>
          </a:ln>
        </p:spPr>
      </p:sp>
      <p:sp>
        <p:nvSpPr>
          <p:cNvPr id="21" name="Text 15"/>
          <p:cNvSpPr/>
          <p:nvPr/>
        </p:nvSpPr>
        <p:spPr>
          <a:xfrm>
            <a:off x="720000" y="492067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612000" y="53530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3" name="Image 3" descr="/home/user/philippe1/build/deco-catalogue-scio-2026/sol-rhone.png">    </p:cNvPr>
          <p:cNvPicPr>
            <a:picLocks noChangeAspect="1"/>
          </p:cNvPicPr>
          <p:nvPr/>
        </p:nvPicPr>
        <p:blipFill>
          <a:blip r:embed="rId4"/>
          <a:stretch>
            <a:fillRect/>
          </a:stretch>
        </p:blipFill>
        <p:spPr>
          <a:xfrm>
            <a:off x="612000" y="5500621"/>
            <a:ext cx="6120000" cy="1301246"/>
          </a:xfrm>
          <a:prstGeom prst="rect">
            <a:avLst/>
          </a:prstGeom>
        </p:spPr>
      </p:pic>
      <p:sp>
        <p:nvSpPr>
          <p:cNvPr id="24"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29 · n°17 p. 30 · n°19 p. 32</a:t>
            </a:r>
            <a:endParaRPr lang="en-US" sz="740" dirty="0"/>
          </a:p>
        </p:txBody>
      </p:sp>
      <p:sp>
        <p:nvSpPr>
          <p:cNvPr id="25" name="Shape 18"/>
          <p:cNvSpPr/>
          <p:nvPr/>
        </p:nvSpPr>
        <p:spPr>
          <a:xfrm>
            <a:off x="612000" y="8388000"/>
            <a:ext cx="6120000" cy="0"/>
          </a:xfrm>
          <a:prstGeom prst="line">
            <a:avLst/>
          </a:prstGeom>
          <a:noFill/>
          <a:ln w="8890">
            <a:solidFill>
              <a:srgbClr val="46606E"/>
            </a:solidFill>
            <a:prstDash val="solid"/>
          </a:ln>
        </p:spPr>
      </p:sp>
      <p:sp>
        <p:nvSpPr>
          <p:cNvPr id="26"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8"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9"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2008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439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439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828000" y="13572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223279" y="1357200"/>
            <a:ext cx="585443" cy="2232000"/>
          </a:xfrm>
          <a:prstGeom prst="rect">
            <a:avLst/>
          </a:prstGeom>
        </p:spPr>
      </p:pic>
      <p:sp>
        <p:nvSpPr>
          <p:cNvPr id="16" name="Text 10"/>
          <p:cNvSpPr/>
          <p:nvPr/>
        </p:nvSpPr>
        <p:spPr>
          <a:xfrm>
            <a:off x="2393990" y="1288254"/>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448000" y="1370362"/>
            <a:ext cx="3456000" cy="22187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070964"/>
            <a:ext cx="0" cy="288349"/>
          </a:xfrm>
          <a:prstGeom prst="line">
            <a:avLst/>
          </a:prstGeom>
          <a:noFill/>
          <a:ln w="17780">
            <a:solidFill>
              <a:srgbClr val="67067C"/>
            </a:solidFill>
            <a:prstDash val="solid"/>
          </a:ln>
        </p:spPr>
      </p:sp>
      <p:sp>
        <p:nvSpPr>
          <p:cNvPr id="20" name="Text 13"/>
          <p:cNvSpPr/>
          <p:nvPr/>
        </p:nvSpPr>
        <p:spPr>
          <a:xfrm>
            <a:off x="936000" y="607096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033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6650913"/>
            <a:ext cx="6120000" cy="1032851"/>
          </a:xfrm>
          <a:prstGeom prst="rect">
            <a:avLst/>
          </a:prstGeom>
        </p:spPr>
      </p:pic>
      <p:sp>
        <p:nvSpPr>
          <p:cNvPr id="23"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29 · n°17 p. 30 · n°18 p. 31</a:t>
            </a:r>
            <a:endParaRPr lang="en-US" sz="740" dirty="0"/>
          </a:p>
        </p:txBody>
      </p:sp>
      <p:sp>
        <p:nvSpPr>
          <p:cNvPr id="24" name="Shape 16"/>
          <p:cNvSpPr/>
          <p:nvPr/>
        </p:nvSpPr>
        <p:spPr>
          <a:xfrm>
            <a:off x="828000" y="8388000"/>
            <a:ext cx="6120000" cy="0"/>
          </a:xfrm>
          <a:prstGeom prst="line">
            <a:avLst/>
          </a:prstGeom>
          <a:noFill/>
          <a:ln w="8890">
            <a:solidFill>
              <a:srgbClr val="46606E"/>
            </a:solidFill>
            <a:prstDash val="solid"/>
          </a:ln>
        </p:spPr>
      </p:sp>
      <p:sp>
        <p:nvSpPr>
          <p:cNvPr id="25"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612000" y="13572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001180" y="1357200"/>
            <a:ext cx="597639" cy="2232000"/>
          </a:xfrm>
          <a:prstGeom prst="rect">
            <a:avLst/>
          </a:prstGeom>
        </p:spPr>
      </p:pic>
      <p:sp>
        <p:nvSpPr>
          <p:cNvPr id="16" name="Text 10"/>
          <p:cNvSpPr/>
          <p:nvPr/>
        </p:nvSpPr>
        <p:spPr>
          <a:xfrm>
            <a:off x="2178018" y="1358881"/>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232000" y="1492951"/>
            <a:ext cx="3456000" cy="2096149"/>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632665"/>
            <a:ext cx="0" cy="288349"/>
          </a:xfrm>
          <a:prstGeom prst="line">
            <a:avLst/>
          </a:prstGeom>
          <a:noFill/>
          <a:ln w="17780">
            <a:solidFill>
              <a:srgbClr val="67067C"/>
            </a:solidFill>
            <a:prstDash val="solid"/>
          </a:ln>
        </p:spPr>
      </p:sp>
      <p:sp>
        <p:nvSpPr>
          <p:cNvPr id="20" name="Text 13"/>
          <p:cNvSpPr/>
          <p:nvPr/>
        </p:nvSpPr>
        <p:spPr>
          <a:xfrm>
            <a:off x="720000" y="563266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06501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6212614"/>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6199083" y="1357200"/>
            <a:ext cx="633834" cy="2232000"/>
          </a:xfrm>
          <a:prstGeom prst="rect">
            <a:avLst/>
          </a:prstGeom>
        </p:spPr>
      </p:pic>
      <p:sp>
        <p:nvSpPr>
          <p:cNvPr id="16" name="Text 10"/>
          <p:cNvSpPr/>
          <p:nvPr/>
        </p:nvSpPr>
        <p:spPr>
          <a:xfrm>
            <a:off x="2393985" y="1329391"/>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448000" y="1435633"/>
            <a:ext cx="3456000" cy="2153467"/>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1175"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301523"/>
            <a:ext cx="0" cy="288349"/>
          </a:xfrm>
          <a:prstGeom prst="line">
            <a:avLst/>
          </a:prstGeom>
          <a:noFill/>
          <a:ln w="17780">
            <a:solidFill>
              <a:srgbClr val="67067C"/>
            </a:solidFill>
            <a:prstDash val="solid"/>
          </a:ln>
        </p:spPr>
      </p:sp>
      <p:sp>
        <p:nvSpPr>
          <p:cNvPr id="20" name="Text 13"/>
          <p:cNvSpPr/>
          <p:nvPr/>
        </p:nvSpPr>
        <p:spPr>
          <a:xfrm>
            <a:off x="936000" y="530152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828000" y="57338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881472"/>
            <a:ext cx="6120000" cy="1315444"/>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40</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23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Fabien Castaing</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5" name="Text 1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6" name="Text 1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476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3572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2066" y="1357200"/>
            <a:ext cx="487869" cy="2232000"/>
          </a:xfrm>
          <a:prstGeom prst="rect">
            <a:avLst/>
          </a:prstGeom>
        </p:spPr>
      </p:pic>
      <p:sp>
        <p:nvSpPr>
          <p:cNvPr id="18" name="Text 12"/>
          <p:cNvSpPr/>
          <p:nvPr/>
        </p:nvSpPr>
        <p:spPr>
          <a:xfrm>
            <a:off x="2393975" y="1470964"/>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619031"/>
            <a:ext cx="3456000" cy="197007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455685"/>
            <a:ext cx="0" cy="288349"/>
          </a:xfrm>
          <a:prstGeom prst="line">
            <a:avLst/>
          </a:prstGeom>
          <a:noFill/>
          <a:ln w="17780">
            <a:solidFill>
              <a:srgbClr val="67067C"/>
            </a:solidFill>
            <a:prstDash val="solid"/>
          </a:ln>
        </p:spPr>
      </p:sp>
      <p:sp>
        <p:nvSpPr>
          <p:cNvPr id="22" name="Text 15"/>
          <p:cNvSpPr/>
          <p:nvPr/>
        </p:nvSpPr>
        <p:spPr>
          <a:xfrm>
            <a:off x="936000" y="64556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8880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png">    </p:cNvPr>
          <p:cNvPicPr>
            <a:picLocks noChangeAspect="1"/>
          </p:cNvPicPr>
          <p:nvPr/>
        </p:nvPicPr>
        <p:blipFill>
          <a:blip r:embed="rId5"/>
          <a:stretch>
            <a:fillRect/>
          </a:stretch>
        </p:blipFill>
        <p:spPr>
          <a:xfrm>
            <a:off x="828000" y="7035634"/>
            <a:ext cx="6120000" cy="1052645"/>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3572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357200"/>
            <a:ext cx="542754" cy="2232000"/>
          </a:xfrm>
          <a:prstGeom prst="rect">
            <a:avLst/>
          </a:prstGeom>
        </p:spPr>
      </p:pic>
      <p:sp>
        <p:nvSpPr>
          <p:cNvPr id="18" name="Text 12"/>
          <p:cNvSpPr/>
          <p:nvPr/>
        </p:nvSpPr>
        <p:spPr>
          <a:xfrm>
            <a:off x="2177992" y="1329261"/>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79080"/>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828000" y="269583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2000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1990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5" name="Table 2"/>
          <p:cNvGraphicFramePr>
            <a:graphicFrameLocks noGrp="1"/>
          </p:cNvGraphicFramePr>
          <p:nvPr>
            <p:extLst>
              <p:ext uri="{D42A27DB-BD31-4B8C-83A1-F6EECF244321}">
                <p14:modId xmlns:p14="http://schemas.microsoft.com/office/powerpoint/2010/main" val="1579011935"/>
              </p:ext>
            </p:extLst>
          </p:nvPr>
        </p:nvGraphicFramePr>
        <p:xfrm>
          <a:off x="828000" y="5799423"/>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10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288528"/>
            <a:ext cx="0" cy="288349"/>
          </a:xfrm>
          <a:prstGeom prst="line">
            <a:avLst/>
          </a:prstGeom>
          <a:noFill/>
          <a:ln w="17780">
            <a:solidFill>
              <a:srgbClr val="67067C"/>
            </a:solidFill>
            <a:prstDash val="solid"/>
          </a:ln>
        </p:spPr>
      </p:sp>
      <p:sp>
        <p:nvSpPr>
          <p:cNvPr id="20" name="Text 13"/>
          <p:cNvSpPr/>
          <p:nvPr/>
        </p:nvSpPr>
        <p:spPr>
          <a:xfrm>
            <a:off x="936000" y="7288528"/>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83600"/>
            <a:ext cx="108000" cy="108000"/>
          </a:xfrm>
          <a:prstGeom prst="rect">
            <a:avLst/>
          </a:prstGeom>
        </p:spPr>
      </p:pic>
      <p:sp>
        <p:nvSpPr>
          <p:cNvPr id="12" name="Text 7"/>
          <p:cNvSpPr/>
          <p:nvPr/>
        </p:nvSpPr>
        <p:spPr>
          <a:xfrm>
            <a:off x="13252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476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476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476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3572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023794" y="1357200"/>
            <a:ext cx="552412" cy="2232000"/>
          </a:xfrm>
          <a:prstGeom prst="rect">
            <a:avLst/>
          </a:prstGeom>
        </p:spPr>
      </p:pic>
      <p:sp>
        <p:nvSpPr>
          <p:cNvPr id="21" name="Text 14"/>
          <p:cNvSpPr/>
          <p:nvPr/>
        </p:nvSpPr>
        <p:spPr>
          <a:xfrm>
            <a:off x="2177975" y="1402836"/>
            <a:ext cx="219650" cy="379171"/>
          </a:xfrm>
          <a:prstGeom prst="rect">
            <a:avLst/>
          </a:prstGeom>
          <a:noFill/>
          <a:ln/>
        </p:spPr>
        <p:txBody>
          <a:bodyPr wrap="square" lIns="0" tIns="0" rIns="0" bIns="0" rtlCol="0" anchor="t"/>
          <a:lstStyle/>
          <a:p>
            <a:pPr algn="r" indent="0" marL="0">
              <a:lnSpc>
                <a:spcPct val="125200"/>
              </a:lnSpc>
              <a:buNone/>
            </a:pPr>
            <a:r>
              <a:rPr lang="en-US" sz="1866" dirty="0">
                <a:solidFill>
                  <a:srgbClr val="67067C"/>
                </a:solidFill>
                <a:latin typeface="Young Serif" pitchFamily="34" charset="0"/>
                <a:ea typeface="Young Serif" pitchFamily="34" charset="-122"/>
                <a:cs typeface="Young Serif" pitchFamily="34" charset="-120"/>
              </a:rPr>
              <a:t>L</a:t>
            </a:r>
            <a:endParaRPr lang="en-US" sz="1866" dirty="0"/>
          </a:p>
        </p:txBody>
      </p:sp>
      <p:sp>
        <p:nvSpPr>
          <p:cNvPr id="22" name="Text 15"/>
          <p:cNvSpPr/>
          <p:nvPr/>
        </p:nvSpPr>
        <p:spPr>
          <a:xfrm>
            <a:off x="2232000" y="1501556"/>
            <a:ext cx="3456000" cy="208754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4" name="Text 16"/>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5" name="Image 5" descr="/home/user/philippe1/build/deco-catalogue-scio-2026/sol-sud-ouest.png">    </p:cNvPr>
          <p:cNvPicPr>
            <a:picLocks noChangeAspect="1"/>
          </p:cNvPicPr>
          <p:nvPr/>
        </p:nvPicPr>
        <p:blipFill>
          <a:blip r:embed="rId6"/>
          <a:stretch>
            <a:fillRect/>
          </a:stretch>
        </p:blipFill>
        <p:spPr>
          <a:xfrm>
            <a:off x="612000" y="6214847"/>
            <a:ext cx="6120000" cy="1148400"/>
          </a:xfrm>
          <a:prstGeom prst="rect">
            <a:avLst/>
          </a:prstGeom>
        </p:spPr>
      </p:pic>
      <p:sp>
        <p:nvSpPr>
          <p:cNvPr id="26" name="Shape 17"/>
          <p:cNvSpPr/>
          <p:nvPr/>
        </p:nvSpPr>
        <p:spPr>
          <a:xfrm>
            <a:off x="612000" y="8388000"/>
            <a:ext cx="6120000" cy="0"/>
          </a:xfrm>
          <a:prstGeom prst="line">
            <a:avLst/>
          </a:prstGeom>
          <a:noFill/>
          <a:ln w="8890">
            <a:solidFill>
              <a:srgbClr val="46606E"/>
            </a:solidFill>
            <a:prstDash val="solid"/>
          </a:ln>
        </p:spPr>
      </p:sp>
      <p:sp>
        <p:nvSpPr>
          <p:cNvPr id="27"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9"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30"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465651" y="1083600"/>
            <a:ext cx="108000" cy="108000"/>
          </a:xfrm>
          <a:prstGeom prst="rect">
            <a:avLst/>
          </a:prstGeom>
        </p:spPr>
      </p:pic>
      <p:sp>
        <p:nvSpPr>
          <p:cNvPr id="12" name="Text 7"/>
          <p:cNvSpPr/>
          <p:nvPr/>
        </p:nvSpPr>
        <p:spPr>
          <a:xfrm>
            <a:off x="15412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2001000" y="10476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2001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465673" y="10476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4656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409230" y="10476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4092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3696109"/>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85214"/>
            <a:ext cx="0" cy="288349"/>
          </a:xfrm>
          <a:prstGeom prst="line">
            <a:avLst/>
          </a:prstGeom>
          <a:noFill/>
          <a:ln w="17780">
            <a:solidFill>
              <a:srgbClr val="67067C"/>
            </a:solidFill>
            <a:prstDash val="solid"/>
          </a:ln>
        </p:spPr>
      </p:sp>
      <p:sp>
        <p:nvSpPr>
          <p:cNvPr id="22" name="Text 15"/>
          <p:cNvSpPr/>
          <p:nvPr/>
        </p:nvSpPr>
        <p:spPr>
          <a:xfrm>
            <a:off x="936000" y="518521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56175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3" descr="/home/user/philippe1/build/deco-catalogue-scio-2026/sol-sud-ouest.png">    </p:cNvPr>
          <p:cNvPicPr>
            <a:picLocks noChangeAspect="1"/>
          </p:cNvPicPr>
          <p:nvPr/>
        </p:nvPicPr>
        <p:blipFill>
          <a:blip r:embed="rId4"/>
          <a:stretch>
            <a:fillRect/>
          </a:stretch>
        </p:blipFill>
        <p:spPr>
          <a:xfrm>
            <a:off x="828000" y="5765163"/>
            <a:ext cx="6120000" cy="1385229"/>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bordeaux.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59</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La Passion des Terroirs</a:t>
            </a:r>
            <a:r>
              <a:rPr lang="en-US" sz="860" b="1" dirty="0">
                <a:solidFill>
                  <a:srgbClr val="FBF8F1"/>
                </a:solidFill>
                <a:latin typeface="IBM Plex Sans" pitchFamily="34" charset="0"/>
                <a:ea typeface="IBM Plex Sans" pitchFamily="34" charset="-122"/>
                <a:cs typeface="IBM Plex Sans" pitchFamily="34" charset="-120"/>
              </a:rPr>
              <a:t>   42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la Gorce</a:t>
            </a:r>
            <a:r>
              <a:rPr lang="en-US" sz="860" b="1" dirty="0">
                <a:solidFill>
                  <a:srgbClr val="FBF8F1"/>
                </a:solidFill>
                <a:latin typeface="IBM Plex Sans" pitchFamily="34" charset="0"/>
                <a:ea typeface="IBM Plex Sans" pitchFamily="34" charset="-122"/>
                <a:cs typeface="IBM Plex Sans" pitchFamily="34" charset="-120"/>
              </a:rPr>
              <a:t>   45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27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47</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28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48</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29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49</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30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50</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41</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3572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357200"/>
            <a:ext cx="545803" cy="2232000"/>
          </a:xfrm>
          <a:prstGeom prst="rect">
            <a:avLst/>
          </a:prstGeom>
        </p:spPr>
      </p:pic>
      <p:sp>
        <p:nvSpPr>
          <p:cNvPr id="18" name="Text 12"/>
          <p:cNvSpPr/>
          <p:nvPr/>
        </p:nvSpPr>
        <p:spPr>
          <a:xfrm>
            <a:off x="2394044" y="1273737"/>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96289"/>
            <a:ext cx="3456000" cy="2192812"/>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828000" y="645196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6599568"/>
            <a:ext cx="6120000" cy="1148400"/>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2"/>
          <p:cNvSpPr/>
          <p:nvPr/>
        </p:nvSpPr>
        <p:spPr>
          <a:xfrm>
            <a:off x="612000" y="67558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2" descr="/home/user/philippe1/build/deco-catalogue-scio-2026/sol-bordeaux.png">    </p:cNvPr>
          <p:cNvPicPr>
            <a:picLocks noChangeAspect="1"/>
          </p:cNvPicPr>
          <p:nvPr/>
        </p:nvPicPr>
        <p:blipFill>
          <a:blip r:embed="rId3"/>
          <a:stretch>
            <a:fillRect/>
          </a:stretch>
        </p:blipFill>
        <p:spPr>
          <a:xfrm>
            <a:off x="612000" y="6903475"/>
            <a:ext cx="6120000" cy="1148400"/>
          </a:xfrm>
          <a:prstGeom prst="rect">
            <a:avLst/>
          </a:prstGeom>
        </p:spPr>
      </p:pic>
      <p:sp>
        <p:nvSpPr>
          <p:cNvPr id="19" name="Shape 13"/>
          <p:cNvSpPr/>
          <p:nvPr/>
        </p:nvSpPr>
        <p:spPr>
          <a:xfrm>
            <a:off x="612000" y="8388000"/>
            <a:ext cx="6120000" cy="0"/>
          </a:xfrm>
          <a:prstGeom prst="line">
            <a:avLst/>
          </a:prstGeom>
          <a:noFill/>
          <a:ln w="8890">
            <a:solidFill>
              <a:srgbClr val="46606E"/>
            </a:solidFill>
            <a:prstDash val="solid"/>
          </a:ln>
        </p:spPr>
      </p:sp>
      <p:sp>
        <p:nvSpPr>
          <p:cNvPr id="20"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6313554"/>
            <a:ext cx="0" cy="288349"/>
          </a:xfrm>
          <a:prstGeom prst="line">
            <a:avLst/>
          </a:prstGeom>
          <a:noFill/>
          <a:ln w="17780">
            <a:solidFill>
              <a:srgbClr val="67067C"/>
            </a:solidFill>
            <a:prstDash val="solid"/>
          </a:ln>
        </p:spPr>
      </p:sp>
      <p:sp>
        <p:nvSpPr>
          <p:cNvPr id="18" name="Text 13"/>
          <p:cNvSpPr/>
          <p:nvPr/>
        </p:nvSpPr>
        <p:spPr>
          <a:xfrm>
            <a:off x="936000" y="631355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Text 14"/>
          <p:cNvSpPr/>
          <p:nvPr/>
        </p:nvSpPr>
        <p:spPr>
          <a:xfrm>
            <a:off x="828000" y="674590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2" descr="/home/user/philippe1/build/deco-catalogue-scio-2026/sol-bordeaux.png">    </p:cNvPr>
          <p:cNvPicPr>
            <a:picLocks noChangeAspect="1"/>
          </p:cNvPicPr>
          <p:nvPr/>
        </p:nvPicPr>
        <p:blipFill>
          <a:blip r:embed="rId3"/>
          <a:stretch>
            <a:fillRect/>
          </a:stretch>
        </p:blipFill>
        <p:spPr>
          <a:xfrm>
            <a:off x="828000" y="6893503"/>
            <a:ext cx="6120000" cy="1148400"/>
          </a:xfrm>
          <a:prstGeom prst="rect">
            <a:avLst/>
          </a:prstGeom>
        </p:spPr>
      </p:pic>
      <p:sp>
        <p:nvSpPr>
          <p:cNvPr id="21" name="Shape 15"/>
          <p:cNvSpPr/>
          <p:nvPr/>
        </p:nvSpPr>
        <p:spPr>
          <a:xfrm>
            <a:off x="828000" y="8388000"/>
            <a:ext cx="6120000" cy="0"/>
          </a:xfrm>
          <a:prstGeom prst="line">
            <a:avLst/>
          </a:prstGeom>
          <a:noFill/>
          <a:ln w="8890">
            <a:solidFill>
              <a:srgbClr val="46606E"/>
            </a:solidFill>
            <a:prstDash val="solid"/>
          </a:ln>
        </p:spPr>
      </p:sp>
      <p:sp>
        <p:nvSpPr>
          <p:cNvPr id="22"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612000" y="13572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024049" y="1357200"/>
            <a:ext cx="551902" cy="2232000"/>
          </a:xfrm>
          <a:prstGeom prst="rect">
            <a:avLst/>
          </a:prstGeom>
        </p:spPr>
      </p:pic>
      <p:sp>
        <p:nvSpPr>
          <p:cNvPr id="16" name="Text 10"/>
          <p:cNvSpPr/>
          <p:nvPr/>
        </p:nvSpPr>
        <p:spPr>
          <a:xfrm>
            <a:off x="2177992" y="1188595"/>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232000" y="1338415"/>
            <a:ext cx="3456000" cy="225068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4" descr="/home/user/philippe1/build/deco-catalogue-scio-2026/sol-bordeaux.png">    </p:cNvPr>
          <p:cNvPicPr>
            <a:picLocks noChangeAspect="1"/>
          </p:cNvPicPr>
          <p:nvPr/>
        </p:nvPicPr>
        <p:blipFill>
          <a:blip r:embed="rId5"/>
          <a:stretch>
            <a:fillRect/>
          </a:stretch>
        </p:blipFill>
        <p:spPr>
          <a:xfrm>
            <a:off x="612000" y="6276164"/>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4066547"/>
            <a:ext cx="0" cy="288349"/>
          </a:xfrm>
          <a:prstGeom prst="line">
            <a:avLst/>
          </a:prstGeom>
          <a:noFill/>
          <a:ln w="17780">
            <a:solidFill>
              <a:srgbClr val="67067C"/>
            </a:solidFill>
            <a:prstDash val="solid"/>
          </a:ln>
        </p:spPr>
      </p:sp>
      <p:sp>
        <p:nvSpPr>
          <p:cNvPr id="16" name="Text 11"/>
          <p:cNvSpPr/>
          <p:nvPr/>
        </p:nvSpPr>
        <p:spPr>
          <a:xfrm>
            <a:off x="936000" y="406654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7" name="Text 12"/>
          <p:cNvSpPr/>
          <p:nvPr/>
        </p:nvSpPr>
        <p:spPr>
          <a:xfrm>
            <a:off x="828000" y="449889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2" descr="/home/user/philippe1/build/deco-catalogue-scio-2026/sol-bordeaux.png">    </p:cNvPr>
          <p:cNvPicPr>
            <a:picLocks noChangeAspect="1"/>
          </p:cNvPicPr>
          <p:nvPr/>
        </p:nvPicPr>
        <p:blipFill>
          <a:blip r:embed="rId3"/>
          <a:stretch>
            <a:fillRect/>
          </a:stretch>
        </p:blipFill>
        <p:spPr>
          <a:xfrm>
            <a:off x="828000" y="4646496"/>
            <a:ext cx="6120000" cy="2056430"/>
          </a:xfrm>
          <a:prstGeom prst="rect">
            <a:avLst/>
          </a:prstGeom>
        </p:spPr>
      </p:pic>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357200"/>
            <a:ext cx="542754" cy="2232000"/>
          </a:xfrm>
          <a:prstGeom prst="rect">
            <a:avLst/>
          </a:prstGeom>
        </p:spPr>
      </p:pic>
      <p:sp>
        <p:nvSpPr>
          <p:cNvPr id="16" name="Text 10"/>
          <p:cNvSpPr/>
          <p:nvPr/>
        </p:nvSpPr>
        <p:spPr>
          <a:xfrm>
            <a:off x="2177960" y="1352724"/>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462935"/>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240205"/>
            <a:ext cx="0" cy="288349"/>
          </a:xfrm>
          <a:prstGeom prst="line">
            <a:avLst/>
          </a:prstGeom>
          <a:noFill/>
          <a:ln w="17780">
            <a:solidFill>
              <a:srgbClr val="67067C"/>
            </a:solidFill>
            <a:prstDash val="solid"/>
          </a:ln>
        </p:spPr>
      </p:sp>
      <p:sp>
        <p:nvSpPr>
          <p:cNvPr id="20" name="Text 13"/>
          <p:cNvSpPr/>
          <p:nvPr/>
        </p:nvSpPr>
        <p:spPr>
          <a:xfrm>
            <a:off x="720000" y="52402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67255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820155"/>
            <a:ext cx="6120000" cy="1352235"/>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3572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357200"/>
            <a:ext cx="554951" cy="2232000"/>
          </a:xfrm>
          <a:prstGeom prst="rect">
            <a:avLst/>
          </a:prstGeom>
        </p:spPr>
      </p:pic>
      <p:sp>
        <p:nvSpPr>
          <p:cNvPr id="16" name="Text 10"/>
          <p:cNvSpPr/>
          <p:nvPr/>
        </p:nvSpPr>
        <p:spPr>
          <a:xfrm>
            <a:off x="2394017" y="1347879"/>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66269"/>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240205"/>
            <a:ext cx="0" cy="288349"/>
          </a:xfrm>
          <a:prstGeom prst="line">
            <a:avLst/>
          </a:prstGeom>
          <a:noFill/>
          <a:ln w="17780">
            <a:solidFill>
              <a:srgbClr val="67067C"/>
            </a:solidFill>
            <a:prstDash val="solid"/>
          </a:ln>
        </p:spPr>
      </p:sp>
      <p:sp>
        <p:nvSpPr>
          <p:cNvPr id="20" name="Text 13"/>
          <p:cNvSpPr/>
          <p:nvPr/>
        </p:nvSpPr>
        <p:spPr>
          <a:xfrm>
            <a:off x="936000" y="52402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67255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5820155"/>
            <a:ext cx="6120000" cy="1352235"/>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3572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357200"/>
            <a:ext cx="539705" cy="2232000"/>
          </a:xfrm>
          <a:prstGeom prst="rect">
            <a:avLst/>
          </a:prstGeom>
        </p:spPr>
      </p:pic>
      <p:sp>
        <p:nvSpPr>
          <p:cNvPr id="16" name="Text 10"/>
          <p:cNvSpPr/>
          <p:nvPr/>
        </p:nvSpPr>
        <p:spPr>
          <a:xfrm>
            <a:off x="2177976" y="1476709"/>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615078"/>
            <a:ext cx="3456000" cy="1974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301523"/>
            <a:ext cx="0" cy="288349"/>
          </a:xfrm>
          <a:prstGeom prst="line">
            <a:avLst/>
          </a:prstGeom>
          <a:noFill/>
          <a:ln w="17780">
            <a:solidFill>
              <a:srgbClr val="67067C"/>
            </a:solidFill>
            <a:prstDash val="solid"/>
          </a:ln>
        </p:spPr>
      </p:sp>
      <p:sp>
        <p:nvSpPr>
          <p:cNvPr id="20" name="Text 13"/>
          <p:cNvSpPr/>
          <p:nvPr/>
        </p:nvSpPr>
        <p:spPr>
          <a:xfrm>
            <a:off x="720000" y="530152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7338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881472"/>
            <a:ext cx="6120000" cy="1315444"/>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357200"/>
            <a:ext cx="545803" cy="2232000"/>
          </a:xfrm>
          <a:prstGeom prst="rect">
            <a:avLst/>
          </a:prstGeom>
        </p:spPr>
      </p:pic>
      <p:sp>
        <p:nvSpPr>
          <p:cNvPr id="16" name="Text 10"/>
          <p:cNvSpPr/>
          <p:nvPr/>
        </p:nvSpPr>
        <p:spPr>
          <a:xfrm>
            <a:off x="2394014" y="1339504"/>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72031"/>
            <a:ext cx="3456000" cy="211706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7163809"/>
            <a:ext cx="0" cy="288349"/>
          </a:xfrm>
          <a:prstGeom prst="line">
            <a:avLst/>
          </a:prstGeom>
          <a:noFill/>
          <a:ln w="17780">
            <a:solidFill>
              <a:srgbClr val="67067C"/>
            </a:solidFill>
            <a:prstDash val="solid"/>
          </a:ln>
        </p:spPr>
      </p:sp>
      <p:sp>
        <p:nvSpPr>
          <p:cNvPr id="20" name="Text 13"/>
          <p:cNvSpPr/>
          <p:nvPr/>
        </p:nvSpPr>
        <p:spPr>
          <a:xfrm>
            <a:off x="936000" y="716380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31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52</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51</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828000" y="13572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267492" y="1357200"/>
            <a:ext cx="497016" cy="2232000"/>
          </a:xfrm>
          <a:prstGeom prst="rect">
            <a:avLst/>
          </a:prstGeom>
        </p:spPr>
      </p:pic>
      <p:sp>
        <p:nvSpPr>
          <p:cNvPr id="16" name="Text 10"/>
          <p:cNvSpPr/>
          <p:nvPr/>
        </p:nvSpPr>
        <p:spPr>
          <a:xfrm>
            <a:off x="2393992" y="1329261"/>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448000" y="1479080"/>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05" name="Table 1"/>
          <p:cNvGraphicFramePr>
            <a:graphicFrameLocks noGrp="1"/>
          </p:cNvGraphicFramePr>
          <p:nvPr>
            <p:extLst>
              <p:ext uri="{D42A27DB-BD31-4B8C-83A1-F6EECF244321}">
                <p14:modId xmlns:p14="http://schemas.microsoft.com/office/powerpoint/2010/main" val="1579011935"/>
              </p:ext>
            </p:extLst>
          </p:nvPr>
        </p:nvGraphicFramePr>
        <p:xfrm>
          <a:off x="828000" y="691600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7635669"/>
            <a:ext cx="0" cy="288349"/>
          </a:xfrm>
          <a:prstGeom prst="line">
            <a:avLst/>
          </a:prstGeom>
          <a:noFill/>
          <a:ln w="17780">
            <a:solidFill>
              <a:srgbClr val="67067C"/>
            </a:solidFill>
            <a:prstDash val="solid"/>
          </a:ln>
        </p:spPr>
      </p:sp>
      <p:sp>
        <p:nvSpPr>
          <p:cNvPr id="21" name="Text 13"/>
          <p:cNvSpPr/>
          <p:nvPr/>
        </p:nvSpPr>
        <p:spPr>
          <a:xfrm>
            <a:off x="936000" y="763566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Shape 14"/>
          <p:cNvSpPr/>
          <p:nvPr/>
        </p:nvSpPr>
        <p:spPr>
          <a:xfrm>
            <a:off x="828000" y="8388000"/>
            <a:ext cx="6120000" cy="0"/>
          </a:xfrm>
          <a:prstGeom prst="line">
            <a:avLst/>
          </a:prstGeom>
          <a:noFill/>
          <a:ln w="8890">
            <a:solidFill>
              <a:srgbClr val="46606E"/>
            </a:solidFill>
            <a:prstDash val="solid"/>
          </a:ln>
        </p:spPr>
      </p:sp>
      <p:sp>
        <p:nvSpPr>
          <p:cNvPr id="23"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4"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52</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9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32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54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33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56</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34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57</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35   </a:t>
            </a:r>
            <a:r>
              <a:rPr lang="en-US" sz="860" dirty="0">
                <a:solidFill>
                  <a:srgbClr val="FBF8F1"/>
                </a:solidFill>
                <a:latin typeface="IBM Plex Sans" pitchFamily="34" charset="0"/>
                <a:ea typeface="IBM Plex Sans" pitchFamily="34" charset="-122"/>
                <a:cs typeface="IBM Plex Sans" pitchFamily="34" charset="-120"/>
              </a:rPr>
              <a:t>Domaine Les Lys</a:t>
            </a:r>
            <a:r>
              <a:rPr lang="en-US" sz="860" b="1" dirty="0">
                <a:solidFill>
                  <a:srgbClr val="FBF8F1"/>
                </a:solidFill>
                <a:latin typeface="IBM Plex Sans" pitchFamily="34" charset="0"/>
                <a:ea typeface="IBM Plex Sans" pitchFamily="34" charset="-122"/>
                <a:cs typeface="IBM Plex Sans" pitchFamily="34" charset="-120"/>
              </a:rPr>
              <a:t>   58</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36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59</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53</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357200"/>
            <a:ext cx="585443" cy="2232000"/>
          </a:xfrm>
          <a:prstGeom prst="rect">
            <a:avLst/>
          </a:prstGeom>
        </p:spPr>
      </p:pic>
      <p:sp>
        <p:nvSpPr>
          <p:cNvPr id="16" name="Text 10"/>
          <p:cNvSpPr/>
          <p:nvPr/>
        </p:nvSpPr>
        <p:spPr>
          <a:xfrm>
            <a:off x="2393965" y="1758870"/>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95837"/>
            <a:ext cx="3456000" cy="169326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56</a:t>
            </a:r>
            <a:endParaRPr lang="en-US" sz="740" dirty="0"/>
          </a:p>
        </p:txBody>
      </p:sp>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54</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11" name="Table 1"/>
          <p:cNvGraphicFramePr>
            <a:graphicFrameLocks noGrp="1"/>
          </p:cNvGraphicFramePr>
          <p:nvPr>
            <p:extLst>
              <p:ext uri="{D42A27DB-BD31-4B8C-83A1-F6EECF244321}">
                <p14:modId xmlns:p14="http://schemas.microsoft.com/office/powerpoint/2010/main" val="1579011935"/>
              </p:ext>
            </p:extLst>
          </p:nvPr>
        </p:nvGraphicFramePr>
        <p:xfrm>
          <a:off x="612000" y="568103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50 BIB demi pal</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100 BIB 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7170135"/>
            <a:ext cx="0" cy="288349"/>
          </a:xfrm>
          <a:prstGeom prst="line">
            <a:avLst/>
          </a:prstGeom>
          <a:noFill/>
          <a:ln w="17780">
            <a:solidFill>
              <a:srgbClr val="67067C"/>
            </a:solidFill>
            <a:prstDash val="solid"/>
          </a:ln>
        </p:spPr>
      </p:sp>
      <p:sp>
        <p:nvSpPr>
          <p:cNvPr id="17" name="Text 11"/>
          <p:cNvSpPr/>
          <p:nvPr/>
        </p:nvSpPr>
        <p:spPr>
          <a:xfrm>
            <a:off x="720000" y="717013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56</a:t>
            </a:r>
            <a:endParaRPr lang="en-US" sz="740" dirty="0"/>
          </a:p>
        </p:txBody>
      </p:sp>
      <p:sp>
        <p:nvSpPr>
          <p:cNvPr id="19" name="Shape 13"/>
          <p:cNvSpPr/>
          <p:nvPr/>
        </p:nvSpPr>
        <p:spPr>
          <a:xfrm>
            <a:off x="612000" y="8388000"/>
            <a:ext cx="6120000" cy="0"/>
          </a:xfrm>
          <a:prstGeom prst="line">
            <a:avLst/>
          </a:prstGeom>
          <a:noFill/>
          <a:ln w="8890">
            <a:solidFill>
              <a:srgbClr val="46606E"/>
            </a:solidFill>
            <a:prstDash val="solid"/>
          </a:ln>
        </p:spPr>
      </p:sp>
      <p:sp>
        <p:nvSpPr>
          <p:cNvPr id="20"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55</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3572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357200"/>
            <a:ext cx="804984" cy="2232000"/>
          </a:xfrm>
          <a:prstGeom prst="rect">
            <a:avLst/>
          </a:prstGeom>
        </p:spPr>
      </p:pic>
      <p:sp>
        <p:nvSpPr>
          <p:cNvPr id="16" name="Text 10"/>
          <p:cNvSpPr/>
          <p:nvPr/>
        </p:nvSpPr>
        <p:spPr>
          <a:xfrm>
            <a:off x="2394013" y="1280867"/>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91383"/>
            <a:ext cx="3456000" cy="2197717"/>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828000" y="6085247"/>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7574352"/>
            <a:ext cx="0" cy="288349"/>
          </a:xfrm>
          <a:prstGeom prst="line">
            <a:avLst/>
          </a:prstGeom>
          <a:noFill/>
          <a:ln w="17780">
            <a:solidFill>
              <a:srgbClr val="67067C"/>
            </a:solidFill>
            <a:prstDash val="solid"/>
          </a:ln>
        </p:spPr>
      </p:sp>
      <p:sp>
        <p:nvSpPr>
          <p:cNvPr id="21" name="Text 13"/>
          <p:cNvSpPr/>
          <p:nvPr/>
        </p:nvSpPr>
        <p:spPr>
          <a:xfrm>
            <a:off x="936000" y="757435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54</a:t>
            </a:r>
            <a:endParaRPr lang="en-US" sz="740" dirty="0"/>
          </a:p>
        </p:txBody>
      </p:sp>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3572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08803" y="1357200"/>
            <a:ext cx="582393" cy="2232000"/>
          </a:xfrm>
          <a:prstGeom prst="rect">
            <a:avLst/>
          </a:prstGeom>
        </p:spPr>
      </p:pic>
      <p:sp>
        <p:nvSpPr>
          <p:cNvPr id="16" name="Text 10"/>
          <p:cNvSpPr/>
          <p:nvPr/>
        </p:nvSpPr>
        <p:spPr>
          <a:xfrm>
            <a:off x="2177976" y="1336044"/>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74413"/>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7163809"/>
            <a:ext cx="0" cy="288349"/>
          </a:xfrm>
          <a:prstGeom prst="line">
            <a:avLst/>
          </a:prstGeom>
          <a:noFill/>
          <a:ln w="17780">
            <a:solidFill>
              <a:srgbClr val="67067C"/>
            </a:solidFill>
            <a:prstDash val="solid"/>
          </a:ln>
        </p:spPr>
      </p:sp>
      <p:sp>
        <p:nvSpPr>
          <p:cNvPr id="20" name="Text 13"/>
          <p:cNvSpPr/>
          <p:nvPr/>
        </p:nvSpPr>
        <p:spPr>
          <a:xfrm>
            <a:off x="720000" y="716380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357200"/>
            <a:ext cx="582393" cy="2232000"/>
          </a:xfrm>
          <a:prstGeom prst="rect">
            <a:avLst/>
          </a:prstGeom>
        </p:spPr>
      </p:pic>
      <p:sp>
        <p:nvSpPr>
          <p:cNvPr id="16" name="Text 10"/>
          <p:cNvSpPr/>
          <p:nvPr/>
        </p:nvSpPr>
        <p:spPr>
          <a:xfrm>
            <a:off x="2393960" y="1493390"/>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603600"/>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779088"/>
            <a:ext cx="0" cy="288349"/>
          </a:xfrm>
          <a:prstGeom prst="line">
            <a:avLst/>
          </a:prstGeom>
          <a:noFill/>
          <a:ln w="17780">
            <a:solidFill>
              <a:srgbClr val="67067C"/>
            </a:solidFill>
            <a:prstDash val="solid"/>
          </a:ln>
        </p:spPr>
      </p:sp>
      <p:sp>
        <p:nvSpPr>
          <p:cNvPr id="20" name="Text 13"/>
          <p:cNvSpPr/>
          <p:nvPr/>
        </p:nvSpPr>
        <p:spPr>
          <a:xfrm>
            <a:off x="936000" y="6779088"/>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721143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828000" y="7359038"/>
            <a:ext cx="6120000" cy="729241"/>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3572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357200"/>
            <a:ext cx="487869" cy="2232000"/>
          </a:xfrm>
          <a:prstGeom prst="rect">
            <a:avLst/>
          </a:prstGeom>
        </p:spPr>
      </p:pic>
      <p:sp>
        <p:nvSpPr>
          <p:cNvPr id="16" name="Text 10"/>
          <p:cNvSpPr/>
          <p:nvPr/>
        </p:nvSpPr>
        <p:spPr>
          <a:xfrm>
            <a:off x="2177963" y="1269446"/>
            <a:ext cx="278400" cy="456794"/>
          </a:xfrm>
          <a:prstGeom prst="rect">
            <a:avLst/>
          </a:prstGeom>
          <a:noFill/>
          <a:ln/>
        </p:spPr>
        <p:txBody>
          <a:bodyPr wrap="square" lIns="0" tIns="0" rIns="0" bIns="0" rtlCol="0" anchor="t"/>
          <a:lstStyle/>
          <a:p>
            <a:pPr algn="r" indent="0" marL="0">
              <a:lnSpc>
                <a:spcPct val="122800"/>
              </a:lnSpc>
              <a:buNone/>
            </a:pPr>
            <a:r>
              <a:rPr lang="en-US" sz="2248" dirty="0">
                <a:solidFill>
                  <a:srgbClr val="67067C"/>
                </a:solidFill>
                <a:latin typeface="Young Serif" pitchFamily="34" charset="0"/>
                <a:ea typeface="Young Serif" pitchFamily="34" charset="-122"/>
                <a:cs typeface="Young Serif" pitchFamily="34" charset="-120"/>
              </a:rPr>
              <a:t>A</a:t>
            </a:r>
            <a:endParaRPr lang="en-US" sz="2248" dirty="0"/>
          </a:p>
        </p:txBody>
      </p:sp>
      <p:sp>
        <p:nvSpPr>
          <p:cNvPr id="17" name="Text 11"/>
          <p:cNvSpPr/>
          <p:nvPr/>
        </p:nvSpPr>
        <p:spPr>
          <a:xfrm>
            <a:off x="2232000" y="1399241"/>
            <a:ext cx="3456000" cy="2189859"/>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1225"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png">    </p:cNvPr>
          <p:cNvPicPr>
            <a:picLocks noChangeAspect="1"/>
          </p:cNvPicPr>
          <p:nvPr/>
        </p:nvPicPr>
        <p:blipFill>
          <a:blip r:embed="rId5"/>
          <a:stretch>
            <a:fillRect/>
          </a:stretch>
        </p:blipFill>
        <p:spPr>
          <a:xfrm>
            <a:off x="612000" y="6214847"/>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59</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BIB 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4774671"/>
            <a:ext cx="0" cy="288349"/>
          </a:xfrm>
          <a:prstGeom prst="line">
            <a:avLst/>
          </a:prstGeom>
          <a:noFill/>
          <a:ln w="17780">
            <a:solidFill>
              <a:srgbClr val="67067C"/>
            </a:solidFill>
            <a:prstDash val="solid"/>
          </a:ln>
        </p:spPr>
      </p:sp>
      <p:sp>
        <p:nvSpPr>
          <p:cNvPr id="16" name="Text 11"/>
          <p:cNvSpPr/>
          <p:nvPr/>
        </p:nvSpPr>
        <p:spPr>
          <a:xfrm>
            <a:off x="936000" y="477467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17" name="Text 12"/>
          <p:cNvSpPr/>
          <p:nvPr/>
        </p:nvSpPr>
        <p:spPr>
          <a:xfrm>
            <a:off x="828000" y="52070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8" name="Image 2" descr="/home/user/philippe1/build/deco-catalogue-scio-2026/sol-languedoc.png">    </p:cNvPr>
          <p:cNvPicPr>
            <a:picLocks noChangeAspect="1"/>
          </p:cNvPicPr>
          <p:nvPr/>
        </p:nvPicPr>
        <p:blipFill>
          <a:blip r:embed="rId3"/>
          <a:stretch>
            <a:fillRect/>
          </a:stretch>
        </p:blipFill>
        <p:spPr>
          <a:xfrm>
            <a:off x="828000" y="5354620"/>
            <a:ext cx="6120000" cy="1631555"/>
          </a:xfrm>
          <a:prstGeom prst="rect">
            <a:avLst/>
          </a:prstGeom>
        </p:spPr>
      </p:pic>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60</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champa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10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26</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37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62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38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63</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39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65</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40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66</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61</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476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3572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357200"/>
            <a:ext cx="588492" cy="2232000"/>
          </a:xfrm>
          <a:prstGeom prst="rect">
            <a:avLst/>
          </a:prstGeom>
        </p:spPr>
      </p:pic>
      <p:sp>
        <p:nvSpPr>
          <p:cNvPr id="18" name="Text 12"/>
          <p:cNvSpPr/>
          <p:nvPr/>
        </p:nvSpPr>
        <p:spPr>
          <a:xfrm>
            <a:off x="2394034" y="1487230"/>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607839"/>
            <a:ext cx="3456000" cy="198126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26,48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624926"/>
            <a:ext cx="0" cy="288349"/>
          </a:xfrm>
          <a:prstGeom prst="line">
            <a:avLst/>
          </a:prstGeom>
          <a:noFill/>
          <a:ln w="17780">
            <a:solidFill>
              <a:srgbClr val="67067C"/>
            </a:solidFill>
            <a:prstDash val="solid"/>
          </a:ln>
        </p:spPr>
      </p:sp>
      <p:sp>
        <p:nvSpPr>
          <p:cNvPr id="22" name="Text 15"/>
          <p:cNvSpPr/>
          <p:nvPr/>
        </p:nvSpPr>
        <p:spPr>
          <a:xfrm>
            <a:off x="936000" y="562492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60572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png">    </p:cNvPr>
          <p:cNvPicPr>
            <a:picLocks noChangeAspect="1"/>
          </p:cNvPicPr>
          <p:nvPr/>
        </p:nvPicPr>
        <p:blipFill>
          <a:blip r:embed="rId5"/>
          <a:stretch>
            <a:fillRect/>
          </a:stretch>
        </p:blipFill>
        <p:spPr>
          <a:xfrm>
            <a:off x="828000" y="6204875"/>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3572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357200"/>
            <a:ext cx="594590" cy="2232000"/>
          </a:xfrm>
          <a:prstGeom prst="rect">
            <a:avLst/>
          </a:prstGeom>
        </p:spPr>
      </p:pic>
      <p:sp>
        <p:nvSpPr>
          <p:cNvPr id="18" name="Text 12"/>
          <p:cNvSpPr/>
          <p:nvPr/>
        </p:nvSpPr>
        <p:spPr>
          <a:xfrm>
            <a:off x="2177992" y="1469926"/>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619745"/>
            <a:ext cx="3456000" cy="196935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13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23,17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612000" y="6276164"/>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29" name="Table 1"/>
          <p:cNvGraphicFramePr>
            <a:graphicFrameLocks noGrp="1"/>
          </p:cNvGraphicFramePr>
          <p:nvPr>
            <p:extLst>
              <p:ext uri="{D42A27DB-BD31-4B8C-83A1-F6EECF244321}">
                <p14:modId xmlns:p14="http://schemas.microsoft.com/office/powerpoint/2010/main" val="1579011935"/>
              </p:ext>
            </p:extLst>
          </p:nvPr>
        </p:nvGraphicFramePr>
        <p:xfrm>
          <a:off x="828000" y="3372705"/>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RATAFIA · RATAFIA</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026736"/>
            <a:ext cx="0" cy="288349"/>
          </a:xfrm>
          <a:prstGeom prst="line">
            <a:avLst/>
          </a:prstGeom>
          <a:noFill/>
          <a:ln w="17780">
            <a:solidFill>
              <a:srgbClr val="67067C"/>
            </a:solidFill>
            <a:prstDash val="solid"/>
          </a:ln>
        </p:spPr>
      </p:sp>
      <p:sp>
        <p:nvSpPr>
          <p:cNvPr id="19" name="Text 13"/>
          <p:cNvSpPr/>
          <p:nvPr/>
        </p:nvSpPr>
        <p:spPr>
          <a:xfrm>
            <a:off x="936000" y="402673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828000" y="44590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1" name="Image 2" descr="/home/user/philippe1/build/deco-catalogue-scio-2026/sol-champagne.png">    </p:cNvPr>
          <p:cNvPicPr>
            <a:picLocks noChangeAspect="1"/>
          </p:cNvPicPr>
          <p:nvPr/>
        </p:nvPicPr>
        <p:blipFill>
          <a:blip r:embed="rId3"/>
          <a:stretch>
            <a:fillRect/>
          </a:stretch>
        </p:blipFill>
        <p:spPr>
          <a:xfrm>
            <a:off x="828000" y="4606685"/>
            <a:ext cx="6120000" cy="2080316"/>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64</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09708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4948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 &amp; Biodynamie</a:t>
            </a:r>
            <a:endParaRPr lang="en-US" sz="720" dirty="0"/>
          </a:p>
        </p:txBody>
      </p:sp>
      <p:sp>
        <p:nvSpPr>
          <p:cNvPr id="10" name="Shape 6"/>
          <p:cNvSpPr/>
          <p:nvPr/>
        </p:nvSpPr>
        <p:spPr>
          <a:xfrm>
            <a:off x="178828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8828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2961"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296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002705" y="1357200"/>
            <a:ext cx="594590" cy="2232000"/>
          </a:xfrm>
          <a:prstGeom prst="rect">
            <a:avLst/>
          </a:prstGeom>
        </p:spPr>
      </p:pic>
      <p:sp>
        <p:nvSpPr>
          <p:cNvPr id="16" name="Text 10"/>
          <p:cNvSpPr/>
          <p:nvPr/>
        </p:nvSpPr>
        <p:spPr>
          <a:xfrm>
            <a:off x="2177976" y="1336044"/>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232000" y="1474413"/>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55685"/>
            <a:ext cx="0" cy="288349"/>
          </a:xfrm>
          <a:prstGeom prst="line">
            <a:avLst/>
          </a:prstGeom>
          <a:noFill/>
          <a:ln w="17780">
            <a:solidFill>
              <a:srgbClr val="67067C"/>
            </a:solidFill>
            <a:prstDash val="solid"/>
          </a:ln>
        </p:spPr>
      </p:sp>
      <p:sp>
        <p:nvSpPr>
          <p:cNvPr id="20" name="Text 13"/>
          <p:cNvSpPr/>
          <p:nvPr/>
        </p:nvSpPr>
        <p:spPr>
          <a:xfrm>
            <a:off x="720000" y="64556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8880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612000" y="7035634"/>
            <a:ext cx="6120000" cy="1052645"/>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2008494"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473168"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47316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828000" y="13572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6129248" y="1357200"/>
            <a:ext cx="773503" cy="2232000"/>
          </a:xfrm>
          <a:prstGeom prst="rect">
            <a:avLst/>
          </a:prstGeom>
        </p:spPr>
      </p:pic>
      <p:sp>
        <p:nvSpPr>
          <p:cNvPr id="16" name="Text 10"/>
          <p:cNvSpPr/>
          <p:nvPr/>
        </p:nvSpPr>
        <p:spPr>
          <a:xfrm>
            <a:off x="2394033" y="1473248"/>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448000" y="1617459"/>
            <a:ext cx="3456000" cy="19716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13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55685"/>
            <a:ext cx="0" cy="288349"/>
          </a:xfrm>
          <a:prstGeom prst="line">
            <a:avLst/>
          </a:prstGeom>
          <a:noFill/>
          <a:ln w="17780">
            <a:solidFill>
              <a:srgbClr val="67067C"/>
            </a:solidFill>
            <a:prstDash val="solid"/>
          </a:ln>
        </p:spPr>
      </p:sp>
      <p:sp>
        <p:nvSpPr>
          <p:cNvPr id="20" name="Text 13"/>
          <p:cNvSpPr/>
          <p:nvPr/>
        </p:nvSpPr>
        <p:spPr>
          <a:xfrm>
            <a:off x="936000" y="64556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8880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828000" y="7035634"/>
            <a:ext cx="6120000" cy="1052645"/>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612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44" name="Text 42"/>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5" name="Text 43"/>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6" name="Text 44"/>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7" name="Text 45"/>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9" name="Text 47"/>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0" name="Text 48"/>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1" name="Text 49"/>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3" name="Text 51"/>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4" name="Text 52"/>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5" name="Text 53"/>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6" name="Text 54"/>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7" name="Text 55"/>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8" name="Text 56"/>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9" name="Text 57"/>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0" name="Text 58"/>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1" name="Text 59"/>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2" name="Text 60"/>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3" name="Text 61"/>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64" name="Text 62"/>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5" name="Text 63"/>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6" name="Text 64"/>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7" name="Text 65"/>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8" name="Text 66"/>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9" name="Text 67"/>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0" name="Text 68"/>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1" name="Text 69"/>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72" name="Text 70"/>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3" name="Text 71"/>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74" name="Text 72"/>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5" name="Text 73"/>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6" name="Text 74"/>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7" name="Text 75"/>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8" name="Text 76"/>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9" name="Text 77"/>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0" name="Text 78"/>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1" name="Text 79"/>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2" name="Text 80"/>
          <p:cNvSpPr/>
          <p:nvPr/>
        </p:nvSpPr>
        <p:spPr>
          <a:xfrm>
            <a:off x="2652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4" name="Text 82"/>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5" name="Text 83"/>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6" name="Text 84"/>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7" name="Text 85"/>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8" name="Text 86"/>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89" name="Text 87"/>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0" name="Text 88"/>
          <p:cNvSpPr/>
          <p:nvPr/>
        </p:nvSpPr>
        <p:spPr>
          <a:xfrm>
            <a:off x="469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91" name="Text 89"/>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2" name="Text 90"/>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93" name="Text 91"/>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94" name="Text 92"/>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5" name="Text 93"/>
          <p:cNvSpPr/>
          <p:nvPr/>
        </p:nvSpPr>
        <p:spPr>
          <a:xfrm>
            <a:off x="469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6" name="Text 94"/>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7" name="Text 95"/>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98" name="Text 96"/>
          <p:cNvSpPr/>
          <p:nvPr/>
        </p:nvSpPr>
        <p:spPr>
          <a:xfrm>
            <a:off x="469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99" name="Text 97"/>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0" name="Text 98"/>
          <p:cNvSpPr/>
          <p:nvPr/>
        </p:nvSpPr>
        <p:spPr>
          <a:xfrm>
            <a:off x="469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01" name="Text 99"/>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2" name="Text 100"/>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3" name="Text 101"/>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4" name="Text 102"/>
          <p:cNvSpPr/>
          <p:nvPr/>
        </p:nvSpPr>
        <p:spPr>
          <a:xfrm>
            <a:off x="469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05" name="Text 103"/>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06" name="Text 104"/>
          <p:cNvSpPr/>
          <p:nvPr/>
        </p:nvSpPr>
        <p:spPr>
          <a:xfrm>
            <a:off x="469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7" name="Text 105"/>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08" name="Text 106"/>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09" name="Text 107"/>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10" name="Text 108"/>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1" name="Text 109"/>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12" name="Text 110"/>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3" name="Text 111"/>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5" name="Text 113"/>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6" name="Text 114"/>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7" name="Text 115"/>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8" name="Text 116"/>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9" name="Text 117"/>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20" name="Text 118"/>
          <p:cNvSpPr/>
          <p:nvPr/>
        </p:nvSpPr>
        <p:spPr>
          <a:xfrm>
            <a:off x="469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1" name="Text 119"/>
          <p:cNvSpPr/>
          <p:nvPr/>
        </p:nvSpPr>
        <p:spPr>
          <a:xfrm>
            <a:off x="4692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2" name="Text 1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67</a:t>
            </a:r>
            <a:endParaRPr lang="en-US" sz="750" dirty="0"/>
          </a:p>
        </p:txBody>
      </p:sp>
      <p:sp>
        <p:nvSpPr>
          <p:cNvPr id="123" name="Text 1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43" name="Text 41"/>
          <p:cNvSpPr/>
          <p:nvPr/>
        </p:nvSpPr>
        <p:spPr>
          <a:xfrm>
            <a:off x="828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44" name="Text 42"/>
          <p:cNvSpPr/>
          <p:nvPr/>
        </p:nvSpPr>
        <p:spPr>
          <a:xfrm>
            <a:off x="828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45" name="Text 43"/>
          <p:cNvSpPr/>
          <p:nvPr/>
        </p:nvSpPr>
        <p:spPr>
          <a:xfrm>
            <a:off x="828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6" name="Text 44"/>
          <p:cNvSpPr/>
          <p:nvPr/>
        </p:nvSpPr>
        <p:spPr>
          <a:xfrm>
            <a:off x="828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47" name="Text 45"/>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48" name="Text 46"/>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9" name="Text 47"/>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0" name="Text 48"/>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1" name="Text 49"/>
          <p:cNvSpPr/>
          <p:nvPr/>
        </p:nvSpPr>
        <p:spPr>
          <a:xfrm>
            <a:off x="2868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53" name="Text 51"/>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54" name="Text 52"/>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55" name="Text 53"/>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56" name="Text 54"/>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7" name="Text 55"/>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8" name="Text 56"/>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59" name="Text 57"/>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0" name="Text 58"/>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1" name="Text 59"/>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2" name="Text 60"/>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3" name="Text 61"/>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4" name="Text 62"/>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5" name="Text 63"/>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6" name="Text 64"/>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7" name="Text 65"/>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8" name="Text 66"/>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9" name="Text 67"/>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70" name="Text 68"/>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1" name="Text 69"/>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2" name="Text 70"/>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3" name="Text 71"/>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4" name="Text 72"/>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5" name="Text 73"/>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6" name="Text 74"/>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7" name="Text 75"/>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8" name="Text 76"/>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9" name="Text 77"/>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80" name="Text 78"/>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1" name="Text 79"/>
          <p:cNvSpPr/>
          <p:nvPr/>
        </p:nvSpPr>
        <p:spPr>
          <a:xfrm>
            <a:off x="286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2" name="Text 80"/>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83" name="Text 81"/>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84" name="Text 82"/>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5" name="Text 83"/>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6" name="Text 84"/>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88" name="Text 86"/>
          <p:cNvSpPr/>
          <p:nvPr/>
        </p:nvSpPr>
        <p:spPr>
          <a:xfrm>
            <a:off x="2868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89" name="Text 87"/>
          <p:cNvSpPr/>
          <p:nvPr/>
        </p:nvSpPr>
        <p:spPr>
          <a:xfrm>
            <a:off x="2868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90" name="Text 88"/>
          <p:cNvSpPr/>
          <p:nvPr/>
        </p:nvSpPr>
        <p:spPr>
          <a:xfrm>
            <a:off x="2868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1" name="Text 89"/>
          <p:cNvSpPr/>
          <p:nvPr/>
        </p:nvSpPr>
        <p:spPr>
          <a:xfrm>
            <a:off x="2868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92" name="Text 90"/>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3" name="Text 91"/>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94" name="Text 92"/>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5" name="Text 93"/>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6" name="Text 94"/>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7" name="Text 95"/>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8" name="Text 96"/>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99" name="Text 97"/>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0" name="Text 98"/>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1" name="Text 99"/>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2" name="Text 100"/>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3" name="Text 101"/>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4" name="Text 102"/>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05" name="Text 103"/>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06" name="Text 104"/>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7" name="Text 105"/>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08" name="Text 106"/>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9" name="Text 107"/>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0" name="Text 108"/>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1" name="Text 109"/>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2" name="Text 110"/>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3" name="Text 111"/>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4" name="Text 112"/>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15" name="Text 113"/>
          <p:cNvSpPr/>
          <p:nvPr/>
        </p:nvSpPr>
        <p:spPr>
          <a:xfrm>
            <a:off x="490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16" name="Text 114"/>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17" name="Text 115"/>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18" name="Text 116"/>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9" name="Text 117"/>
          <p:cNvSpPr/>
          <p:nvPr/>
        </p:nvSpPr>
        <p:spPr>
          <a:xfrm>
            <a:off x="490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0" name="Text 118"/>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1" name="Text 119"/>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48</a:t>
            </a:r>
            <a:endParaRPr lang="en-US" sz="690" dirty="0"/>
          </a:p>
        </p:txBody>
      </p:sp>
      <p:sp>
        <p:nvSpPr>
          <p:cNvPr id="122" name="Text 120"/>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48</a:t>
            </a:r>
            <a:endParaRPr lang="en-US" sz="690" dirty="0"/>
          </a:p>
        </p:txBody>
      </p:sp>
      <p:sp>
        <p:nvSpPr>
          <p:cNvPr id="123" name="Text 121"/>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24" name="Text 122"/>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48</a:t>
            </a:r>
            <a:endParaRPr lang="en-US" sz="690" dirty="0"/>
          </a:p>
        </p:txBody>
      </p:sp>
      <p:sp>
        <p:nvSpPr>
          <p:cNvPr id="125" name="Text 123"/>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126" name="Text 124"/>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27" name="Text 125"/>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8" name="Text 126"/>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9" name="Text 127"/>
          <p:cNvSpPr/>
          <p:nvPr/>
        </p:nvSpPr>
        <p:spPr>
          <a:xfrm>
            <a:off x="490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30" name="Text 128"/>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31" name="Text 129"/>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32" name="Text 130"/>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33" name="Text 131"/>
          <p:cNvSpPr/>
          <p:nvPr/>
        </p:nvSpPr>
        <p:spPr>
          <a:xfrm>
            <a:off x="4908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134" name="Text 132"/>
          <p:cNvSpPr/>
          <p:nvPr/>
        </p:nvSpPr>
        <p:spPr>
          <a:xfrm>
            <a:off x="4908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5" name="Text 133"/>
          <p:cNvSpPr/>
          <p:nvPr/>
        </p:nvSpPr>
        <p:spPr>
          <a:xfrm>
            <a:off x="4908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6" name="Text 134"/>
          <p:cNvSpPr/>
          <p:nvPr/>
        </p:nvSpPr>
        <p:spPr>
          <a:xfrm>
            <a:off x="4908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7" name="Text 13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68</a:t>
            </a:r>
            <a:endParaRPr lang="en-US" sz="750" dirty="0"/>
          </a:p>
        </p:txBody>
      </p:sp>
      <p:sp>
        <p:nvSpPr>
          <p:cNvPr id="138" name="Text 13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43" name="Text 41"/>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44" name="Text 42"/>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45" name="Text 43"/>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6" name="Text 44"/>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7" name="Text 45"/>
          <p:cNvSpPr/>
          <p:nvPr/>
        </p:nvSpPr>
        <p:spPr>
          <a:xfrm>
            <a:off x="265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8" name="Text 46"/>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9" name="Text 47"/>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0" name="Text 48"/>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1" name="Text 49"/>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52" name="Text 50"/>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53" name="Text 51"/>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54" name="Text 52"/>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55" name="Text 53"/>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6" name="Text 54"/>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57" name="Text 55"/>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58" name="Text 56"/>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9" name="Text 57"/>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0" name="Text 58"/>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61" name="Text 59"/>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62" name="Text 60"/>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3" name="Text 61"/>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4" name="Text 62"/>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65" name="Text 63"/>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66" name="Text 64"/>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7" name="Text 65"/>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8" name="Text 66"/>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9" name="Text 67"/>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0" name="Text 68"/>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1" name="Text 69"/>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2" name="Text 70"/>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3" name="Text 71"/>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4" name="Text 72"/>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5" name="Text 73"/>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6" name="Text 74"/>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7" name="Text 75"/>
          <p:cNvSpPr/>
          <p:nvPr/>
        </p:nvSpPr>
        <p:spPr>
          <a:xfrm>
            <a:off x="2652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9" name="Text 77"/>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0" name="Text 78"/>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1" name="Text 79"/>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2" name="Text 80"/>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3" name="Text 81"/>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4" name="Text 82"/>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5" name="Text 83"/>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6" name="Text 84"/>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7" name="Text 85"/>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8" name="Text 86"/>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89" name="Text 87"/>
          <p:cNvSpPr/>
          <p:nvPr/>
        </p:nvSpPr>
        <p:spPr>
          <a:xfrm>
            <a:off x="4692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2" name="Text 90"/>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3" name="Text 91"/>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4" name="Text 92"/>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5" name="Text 93"/>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6" name="Text 94"/>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7" name="Text 95"/>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8" name="Text 96"/>
          <p:cNvSpPr/>
          <p:nvPr/>
        </p:nvSpPr>
        <p:spPr>
          <a:xfrm>
            <a:off x="4692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0" name="Text 98"/>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1" name="Text 99"/>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2" name="Text 100"/>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3" name="Text 101"/>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4" name="Text 102"/>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5" name="Text 103"/>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6" name="Text 104"/>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7" name="Text 105"/>
          <p:cNvSpPr/>
          <p:nvPr/>
        </p:nvSpPr>
        <p:spPr>
          <a:xfrm>
            <a:off x="4692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9" name="Text 107"/>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0" name="Text 108"/>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1" name="Text 109"/>
          <p:cNvSpPr/>
          <p:nvPr/>
        </p:nvSpPr>
        <p:spPr>
          <a:xfrm>
            <a:off x="4692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3" name="Text 111"/>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4" name="Text 112"/>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115" name="Text 113"/>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6" name="Text 114"/>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7" name="Text 115"/>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8" name="Text 116"/>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9" name="Text 117"/>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120" name="Text 118"/>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21" name="Text 119"/>
          <p:cNvSpPr/>
          <p:nvPr/>
        </p:nvSpPr>
        <p:spPr>
          <a:xfrm>
            <a:off x="4692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3" name="Text 121"/>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4" name="Text 122"/>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5" name="Text 1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69</a:t>
            </a:r>
            <a:endParaRPr lang="en-US" sz="750" dirty="0"/>
          </a:p>
        </p:txBody>
      </p:sp>
      <p:sp>
        <p:nvSpPr>
          <p:cNvPr id="126" name="Text 1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828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828000" y="1512000"/>
            <a:ext cx="6120000" cy="0"/>
          </a:xfrm>
          <a:prstGeom prst="line">
            <a:avLst/>
          </a:prstGeom>
          <a:noFill/>
          <a:ln w="10160">
            <a:solidFill>
              <a:srgbClr val="67067C"/>
            </a:solidFill>
            <a:prstDash val="solid"/>
          </a:ln>
        </p:spPr>
      </p:sp>
      <p:sp>
        <p:nvSpPr>
          <p:cNvPr id="6" name="Text 4"/>
          <p:cNvSpPr/>
          <p:nvPr/>
        </p:nvSpPr>
        <p:spPr>
          <a:xfrm>
            <a:off x="828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7" name="Text 5"/>
          <p:cNvSpPr/>
          <p:nvPr/>
        </p:nvSpPr>
        <p:spPr>
          <a:xfrm>
            <a:off x="828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8" name="Text 6"/>
          <p:cNvSpPr/>
          <p:nvPr/>
        </p:nvSpPr>
        <p:spPr>
          <a:xfrm>
            <a:off x="828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9" name="Text 7"/>
          <p:cNvSpPr/>
          <p:nvPr/>
        </p:nvSpPr>
        <p:spPr>
          <a:xfrm>
            <a:off x="828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10" name="Text 8"/>
          <p:cNvSpPr/>
          <p:nvPr/>
        </p:nvSpPr>
        <p:spPr>
          <a:xfrm>
            <a:off x="828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11" name="Text 9"/>
          <p:cNvSpPr/>
          <p:nvPr/>
        </p:nvSpPr>
        <p:spPr>
          <a:xfrm>
            <a:off x="828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12" name="Text 10"/>
          <p:cNvSpPr/>
          <p:nvPr/>
        </p:nvSpPr>
        <p:spPr>
          <a:xfrm>
            <a:off x="828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37</a:t>
            </a:r>
            <a:endParaRPr lang="en-US" sz="740" dirty="0"/>
          </a:p>
        </p:txBody>
      </p:sp>
      <p:sp>
        <p:nvSpPr>
          <p:cNvPr id="13" name="Text 11"/>
          <p:cNvSpPr/>
          <p:nvPr/>
        </p:nvSpPr>
        <p:spPr>
          <a:xfrm>
            <a:off x="3888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4" name="Text 12"/>
          <p:cNvSpPr/>
          <p:nvPr/>
        </p:nvSpPr>
        <p:spPr>
          <a:xfrm>
            <a:off x="3888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37</a:t>
            </a:r>
            <a:endParaRPr lang="en-US" sz="740" dirty="0"/>
          </a:p>
        </p:txBody>
      </p:sp>
      <p:sp>
        <p:nvSpPr>
          <p:cNvPr id="15" name="Text 13"/>
          <p:cNvSpPr/>
          <p:nvPr/>
        </p:nvSpPr>
        <p:spPr>
          <a:xfrm>
            <a:off x="3888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52</a:t>
            </a:r>
            <a:endParaRPr lang="en-US" sz="740" dirty="0"/>
          </a:p>
        </p:txBody>
      </p:sp>
      <p:sp>
        <p:nvSpPr>
          <p:cNvPr id="16" name="Text 14"/>
          <p:cNvSpPr/>
          <p:nvPr/>
        </p:nvSpPr>
        <p:spPr>
          <a:xfrm>
            <a:off x="3888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7" name="Text 15"/>
          <p:cNvSpPr/>
          <p:nvPr/>
        </p:nvSpPr>
        <p:spPr>
          <a:xfrm>
            <a:off x="3888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8" name="Text 16"/>
          <p:cNvSpPr/>
          <p:nvPr/>
        </p:nvSpPr>
        <p:spPr>
          <a:xfrm>
            <a:off x="3888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9" name="Text 17"/>
          <p:cNvSpPr/>
          <p:nvPr/>
        </p:nvSpPr>
        <p:spPr>
          <a:xfrm>
            <a:off x="3888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59</a:t>
            </a:r>
            <a:endParaRPr lang="en-US" sz="740" dirty="0"/>
          </a:p>
        </p:txBody>
      </p:sp>
      <p:sp>
        <p:nvSpPr>
          <p:cNvPr id="20" name="Text 18"/>
          <p:cNvSpPr/>
          <p:nvPr/>
        </p:nvSpPr>
        <p:spPr>
          <a:xfrm>
            <a:off x="828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828000" y="2988000"/>
            <a:ext cx="6120000" cy="0"/>
          </a:xfrm>
          <a:prstGeom prst="line">
            <a:avLst/>
          </a:prstGeom>
          <a:noFill/>
          <a:ln w="10160">
            <a:solidFill>
              <a:srgbClr val="67067C"/>
            </a:solidFill>
            <a:prstDash val="solid"/>
          </a:ln>
        </p:spPr>
      </p:sp>
      <p:sp>
        <p:nvSpPr>
          <p:cNvPr id="22" name="Text 20"/>
          <p:cNvSpPr/>
          <p:nvPr/>
        </p:nvSpPr>
        <p:spPr>
          <a:xfrm>
            <a:off x="828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3" name="Text 21"/>
          <p:cNvSpPr/>
          <p:nvPr/>
        </p:nvSpPr>
        <p:spPr>
          <a:xfrm>
            <a:off x="828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4" name="Text 22"/>
          <p:cNvSpPr/>
          <p:nvPr/>
        </p:nvSpPr>
        <p:spPr>
          <a:xfrm>
            <a:off x="828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5" name="Text 23"/>
          <p:cNvSpPr/>
          <p:nvPr/>
        </p:nvSpPr>
        <p:spPr>
          <a:xfrm>
            <a:off x="828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6" name="Text 24"/>
          <p:cNvSpPr/>
          <p:nvPr/>
        </p:nvSpPr>
        <p:spPr>
          <a:xfrm>
            <a:off x="3888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7" name="Text 25"/>
          <p:cNvSpPr/>
          <p:nvPr/>
        </p:nvSpPr>
        <p:spPr>
          <a:xfrm>
            <a:off x="3888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8" name="Text 26"/>
          <p:cNvSpPr/>
          <p:nvPr/>
        </p:nvSpPr>
        <p:spPr>
          <a:xfrm>
            <a:off x="3888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9" name="Text 27"/>
          <p:cNvSpPr/>
          <p:nvPr/>
        </p:nvSpPr>
        <p:spPr>
          <a:xfrm>
            <a:off x="3888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30" name="Text 28"/>
          <p:cNvSpPr/>
          <p:nvPr/>
        </p:nvSpPr>
        <p:spPr>
          <a:xfrm>
            <a:off x="828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828000" y="4032000"/>
            <a:ext cx="6120000" cy="0"/>
          </a:xfrm>
          <a:prstGeom prst="line">
            <a:avLst/>
          </a:prstGeom>
          <a:noFill/>
          <a:ln w="10160">
            <a:solidFill>
              <a:srgbClr val="67067C"/>
            </a:solidFill>
            <a:prstDash val="solid"/>
          </a:ln>
        </p:spPr>
      </p:sp>
      <p:sp>
        <p:nvSpPr>
          <p:cNvPr id="32" name="Text 30"/>
          <p:cNvSpPr/>
          <p:nvPr/>
        </p:nvSpPr>
        <p:spPr>
          <a:xfrm>
            <a:off x="828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3" name="Text 31"/>
          <p:cNvSpPr/>
          <p:nvPr/>
        </p:nvSpPr>
        <p:spPr>
          <a:xfrm>
            <a:off x="828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4" name="Text 32"/>
          <p:cNvSpPr/>
          <p:nvPr/>
        </p:nvSpPr>
        <p:spPr>
          <a:xfrm>
            <a:off x="828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5" name="Text 33"/>
          <p:cNvSpPr/>
          <p:nvPr/>
        </p:nvSpPr>
        <p:spPr>
          <a:xfrm>
            <a:off x="828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6" name="Text 34"/>
          <p:cNvSpPr/>
          <p:nvPr/>
        </p:nvSpPr>
        <p:spPr>
          <a:xfrm>
            <a:off x="3888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7" name="Text 35"/>
          <p:cNvSpPr/>
          <p:nvPr/>
        </p:nvSpPr>
        <p:spPr>
          <a:xfrm>
            <a:off x="3888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56</a:t>
            </a:r>
            <a:endParaRPr lang="en-US" sz="740" dirty="0"/>
          </a:p>
        </p:txBody>
      </p:sp>
      <p:sp>
        <p:nvSpPr>
          <p:cNvPr id="38" name="Text 36"/>
          <p:cNvSpPr/>
          <p:nvPr/>
        </p:nvSpPr>
        <p:spPr>
          <a:xfrm>
            <a:off x="3888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56</a:t>
            </a:r>
            <a:endParaRPr lang="en-US" sz="740" dirty="0"/>
          </a:p>
        </p:txBody>
      </p:sp>
      <p:sp>
        <p:nvSpPr>
          <p:cNvPr id="39" name="Text 37"/>
          <p:cNvSpPr/>
          <p:nvPr/>
        </p:nvSpPr>
        <p:spPr>
          <a:xfrm>
            <a:off x="3888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56</a:t>
            </a:r>
            <a:endParaRPr lang="en-US" sz="740" dirty="0"/>
          </a:p>
        </p:txBody>
      </p:sp>
      <p:sp>
        <p:nvSpPr>
          <p:cNvPr id="40" name="Text 38"/>
          <p:cNvSpPr/>
          <p:nvPr/>
        </p:nvSpPr>
        <p:spPr>
          <a:xfrm>
            <a:off x="828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828000" y="5076000"/>
            <a:ext cx="6120000" cy="0"/>
          </a:xfrm>
          <a:prstGeom prst="line">
            <a:avLst/>
          </a:prstGeom>
          <a:noFill/>
          <a:ln w="10160">
            <a:solidFill>
              <a:srgbClr val="67067C"/>
            </a:solidFill>
            <a:prstDash val="solid"/>
          </a:ln>
        </p:spPr>
      </p:sp>
      <p:sp>
        <p:nvSpPr>
          <p:cNvPr id="42" name="Text 40"/>
          <p:cNvSpPr/>
          <p:nvPr/>
        </p:nvSpPr>
        <p:spPr>
          <a:xfrm>
            <a:off x="828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39</a:t>
            </a:r>
            <a:endParaRPr lang="en-US" sz="740" dirty="0"/>
          </a:p>
        </p:txBody>
      </p:sp>
      <p:sp>
        <p:nvSpPr>
          <p:cNvPr id="43" name="Text 41"/>
          <p:cNvSpPr/>
          <p:nvPr/>
        </p:nvSpPr>
        <p:spPr>
          <a:xfrm>
            <a:off x="828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39</a:t>
            </a:r>
            <a:endParaRPr lang="en-US" sz="740" dirty="0"/>
          </a:p>
        </p:txBody>
      </p:sp>
      <p:sp>
        <p:nvSpPr>
          <p:cNvPr id="44" name="Text 42"/>
          <p:cNvSpPr/>
          <p:nvPr/>
        </p:nvSpPr>
        <p:spPr>
          <a:xfrm>
            <a:off x="3888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39</a:t>
            </a:r>
            <a:endParaRPr lang="en-US" sz="740" dirty="0"/>
          </a:p>
        </p:txBody>
      </p:sp>
      <p:sp>
        <p:nvSpPr>
          <p:cNvPr id="45" name="Text 43"/>
          <p:cNvSpPr/>
          <p:nvPr/>
        </p:nvSpPr>
        <p:spPr>
          <a:xfrm>
            <a:off x="828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828000" y="5832000"/>
            <a:ext cx="6120000" cy="0"/>
          </a:xfrm>
          <a:prstGeom prst="line">
            <a:avLst/>
          </a:prstGeom>
          <a:noFill/>
          <a:ln w="10160">
            <a:solidFill>
              <a:srgbClr val="67067C"/>
            </a:solidFill>
            <a:prstDash val="solid"/>
          </a:ln>
        </p:spPr>
      </p:sp>
      <p:sp>
        <p:nvSpPr>
          <p:cNvPr id="47" name="Text 45"/>
          <p:cNvSpPr/>
          <p:nvPr/>
        </p:nvSpPr>
        <p:spPr>
          <a:xfrm>
            <a:off x="828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48" name="Text 46"/>
          <p:cNvSpPr/>
          <p:nvPr/>
        </p:nvSpPr>
        <p:spPr>
          <a:xfrm>
            <a:off x="828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49" name="Text 47"/>
          <p:cNvSpPr/>
          <p:nvPr/>
        </p:nvSpPr>
        <p:spPr>
          <a:xfrm>
            <a:off x="828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0" name="Text 48"/>
          <p:cNvSpPr/>
          <p:nvPr/>
        </p:nvSpPr>
        <p:spPr>
          <a:xfrm>
            <a:off x="828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1" name="Text 49"/>
          <p:cNvSpPr/>
          <p:nvPr/>
        </p:nvSpPr>
        <p:spPr>
          <a:xfrm>
            <a:off x="828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2" name="Text 50"/>
          <p:cNvSpPr/>
          <p:nvPr/>
        </p:nvSpPr>
        <p:spPr>
          <a:xfrm>
            <a:off x="3888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3" name="Text 51"/>
          <p:cNvSpPr/>
          <p:nvPr/>
        </p:nvSpPr>
        <p:spPr>
          <a:xfrm>
            <a:off x="3888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4" name="Text 52"/>
          <p:cNvSpPr/>
          <p:nvPr/>
        </p:nvSpPr>
        <p:spPr>
          <a:xfrm>
            <a:off x="3888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62</a:t>
            </a:r>
            <a:endParaRPr lang="en-US" sz="740" dirty="0"/>
          </a:p>
        </p:txBody>
      </p:sp>
      <p:sp>
        <p:nvSpPr>
          <p:cNvPr id="55" name="Text 53"/>
          <p:cNvSpPr/>
          <p:nvPr/>
        </p:nvSpPr>
        <p:spPr>
          <a:xfrm>
            <a:off x="3888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63</a:t>
            </a:r>
            <a:endParaRPr lang="en-US" sz="740" dirty="0"/>
          </a:p>
        </p:txBody>
      </p:sp>
      <p:sp>
        <p:nvSpPr>
          <p:cNvPr id="56" name="Text 5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70</a:t>
            </a:r>
            <a:endParaRPr lang="en-US" sz="750" dirty="0"/>
          </a:p>
        </p:txBody>
      </p:sp>
      <p:sp>
        <p:nvSpPr>
          <p:cNvPr id="57" name="Text 5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quarante domaines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31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52</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37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62</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38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63</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39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65</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29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49</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34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57</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27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47</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30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50</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la Gorce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11   </a:t>
            </a:r>
            <a:r>
              <a:rPr lang="en-US" sz="840" b="1" dirty="0">
                <a:solidFill>
                  <a:srgbClr val="46606E"/>
                </a:solidFill>
                <a:latin typeface="IBM Plex Sans" pitchFamily="34" charset="0"/>
                <a:ea typeface="IBM Plex Sans" pitchFamily="34" charset="-122"/>
                <a:cs typeface="IBM Plex Sans" pitchFamily="34" charset="-120"/>
              </a:rPr>
              <a:t>45</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28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48</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Divin No Low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13</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20" name="Text 18"/>
          <p:cNvSpPr/>
          <p:nvPr/>
        </p:nvSpPr>
        <p:spPr>
          <a:xfrm>
            <a:off x="612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21" name="Text 19"/>
          <p:cNvSpPr/>
          <p:nvPr/>
        </p:nvSpPr>
        <p:spPr>
          <a:xfrm>
            <a:off x="612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22" name="Text 20"/>
          <p:cNvSpPr/>
          <p:nvPr/>
        </p:nvSpPr>
        <p:spPr>
          <a:xfrm>
            <a:off x="612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des Nugues   </a:t>
            </a:r>
            <a:r>
              <a:rPr lang="en-US" sz="700" dirty="0">
                <a:solidFill>
                  <a:srgbClr val="A8515F"/>
                </a:solidFill>
                <a:latin typeface="IBM Plex Sans" pitchFamily="34" charset="0"/>
                <a:ea typeface="IBM Plex Sans" pitchFamily="34" charset="-122"/>
                <a:cs typeface="IBM Plex Sans" pitchFamily="34" charset="-120"/>
              </a:rPr>
              <a:t>Beaujolais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3" name="Text 21"/>
          <p:cNvSpPr/>
          <p:nvPr/>
        </p:nvSpPr>
        <p:spPr>
          <a:xfrm>
            <a:off x="612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des Pasquiers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24" name="Text 22"/>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25" name="Text 23"/>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14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6" name="Text 24"/>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27" name="Text 25"/>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28" name="Text 26"/>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16   </a:t>
            </a:r>
            <a:r>
              <a:rPr lang="en-US" sz="840" b="1" dirty="0">
                <a:solidFill>
                  <a:srgbClr val="46606E"/>
                </a:solidFill>
                <a:latin typeface="IBM Plex Sans" pitchFamily="34" charset="0"/>
                <a:ea typeface="IBM Plex Sans" pitchFamily="34" charset="-122"/>
                <a:cs typeface="IBM Plex Sans" pitchFamily="34" charset="-120"/>
              </a:rPr>
              <a:t>11</a:t>
            </a:r>
            <a:endParaRPr lang="en-US" sz="840" dirty="0"/>
          </a:p>
        </p:txBody>
      </p:sp>
      <p:sp>
        <p:nvSpPr>
          <p:cNvPr id="29" name="Text 27"/>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30" name="Text 28"/>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31" name="Text 29"/>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35   </a:t>
            </a:r>
            <a:r>
              <a:rPr lang="en-US" sz="840" b="1" dirty="0">
                <a:solidFill>
                  <a:srgbClr val="46606E"/>
                </a:solidFill>
                <a:latin typeface="IBM Plex Sans" pitchFamily="34" charset="0"/>
                <a:ea typeface="IBM Plex Sans" pitchFamily="34" charset="-122"/>
                <a:cs typeface="IBM Plex Sans" pitchFamily="34" charset="-120"/>
              </a:rPr>
              <a:t>Domaine Les Lys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58</a:t>
            </a:r>
            <a:endParaRPr lang="en-US" sz="840" dirty="0"/>
          </a:p>
        </p:txBody>
      </p:sp>
      <p:sp>
        <p:nvSpPr>
          <p:cNvPr id="32" name="Text 30"/>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Domaine Nadine Ferrand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33" name="Text 31"/>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34" name="Text 32"/>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5" name="Text 33"/>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36" name="Text 34"/>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Fabien Castaing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7" name="Text 35"/>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54</a:t>
            </a:r>
            <a:endParaRPr lang="en-US" sz="840" dirty="0"/>
          </a:p>
        </p:txBody>
      </p:sp>
      <p:sp>
        <p:nvSpPr>
          <p:cNvPr id="38" name="Text 36"/>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56</a:t>
            </a:r>
            <a:endParaRPr lang="en-US" sz="840" dirty="0"/>
          </a:p>
        </p:txBody>
      </p:sp>
      <p:sp>
        <p:nvSpPr>
          <p:cNvPr id="39" name="Text 37"/>
          <p:cNvSpPr/>
          <p:nvPr/>
        </p:nvSpPr>
        <p:spPr>
          <a:xfrm>
            <a:off x="367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40" name="Text 38"/>
          <p:cNvSpPr/>
          <p:nvPr/>
        </p:nvSpPr>
        <p:spPr>
          <a:xfrm>
            <a:off x="3672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La Passion des Terroirs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31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41" name="Text 39"/>
          <p:cNvSpPr/>
          <p:nvPr/>
        </p:nvSpPr>
        <p:spPr>
          <a:xfrm>
            <a:off x="3672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23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42" name="Text 40"/>
          <p:cNvSpPr/>
          <p:nvPr/>
        </p:nvSpPr>
        <p:spPr>
          <a:xfrm>
            <a:off x="3672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36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59</a:t>
            </a:r>
            <a:endParaRPr lang="en-US" sz="840" dirty="0"/>
          </a:p>
        </p:txBody>
      </p:sp>
      <p:sp>
        <p:nvSpPr>
          <p:cNvPr id="43" name="Text 41"/>
          <p:cNvSpPr/>
          <p:nvPr/>
        </p:nvSpPr>
        <p:spPr>
          <a:xfrm>
            <a:off x="3672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40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66</a:t>
            </a:r>
            <a:endParaRPr lang="en-US" sz="840" dirty="0"/>
          </a:p>
        </p:txBody>
      </p:sp>
      <p:sp>
        <p:nvSpPr>
          <p:cNvPr id="44" name="Text 42"/>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références au tarif.</a:t>
            </a:r>
            <a:endParaRPr lang="en-US" sz="800" dirty="0"/>
          </a:p>
        </p:txBody>
      </p:sp>
      <p:sp>
        <p:nvSpPr>
          <p:cNvPr id="45" name="Text 4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71</a:t>
            </a:r>
            <a:endParaRPr lang="en-US" sz="750" dirty="0"/>
          </a:p>
        </p:txBody>
      </p:sp>
      <p:sp>
        <p:nvSpPr>
          <p:cNvPr id="46" name="Text 4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2026-10-02T11:32:50Z</dcterms:created>
  <dcterms:modified xsi:type="dcterms:W3CDTF">2026-10-02T11:32:50Z</dcterms:modified>
</cp:coreProperties>
</file>