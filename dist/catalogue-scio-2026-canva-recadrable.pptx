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jp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jp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jp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jp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jp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jp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jp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971600"/>
            <a:ext cx="6120000" cy="2232000"/>
          </a:xfrm>
          <a:prstGeom prst="rect">
            <a:avLst/>
          </a:prstGeom>
        </p:spPr>
      </p:pic>
      <p:sp>
        <p:nvSpPr>
          <p:cNvPr id="11" name="Shape 7"/>
          <p:cNvSpPr/>
          <p:nvPr/>
        </p:nvSpPr>
        <p:spPr>
          <a:xfrm>
            <a:off x="828000" y="7459200"/>
            <a:ext cx="6120000" cy="0"/>
          </a:xfrm>
          <a:prstGeom prst="line">
            <a:avLst/>
          </a:prstGeom>
          <a:noFill/>
          <a:ln w="10160">
            <a:solidFill>
              <a:srgbClr val="67067C"/>
            </a:solidFill>
            <a:prstDash val="solid"/>
          </a:ln>
        </p:spPr>
      </p:sp>
      <p:sp>
        <p:nvSpPr>
          <p:cNvPr id="12" name="Text 8"/>
          <p:cNvSpPr/>
          <p:nvPr/>
        </p:nvSpPr>
        <p:spPr>
          <a:xfrm>
            <a:off x="828000" y="75672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9632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75672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9632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75672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9632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incent et Alban Orion — Domaine de la Barbinière">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6328" y="1292400"/>
            <a:ext cx="579344"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domaine — Domaine Le Prieuré des Papes">    </p:cNvPr>
          <p:cNvPicPr>
            <a:picLocks noChangeAspect="1"/>
          </p:cNvPicPr>
          <p:nvPr/>
        </p:nvPicPr>
        <p:blipFill>
          <a:blip r:embed="rId3"/>
          <a:srcRect l="10312" r="10313" t="0" b="0"/>
          <a:stretch/>
        </p:blipFill>
        <p:spPr>
          <a:xfrm>
            <a:off x="828000" y="1292400"/>
            <a:ext cx="1440000" cy="1440000"/>
          </a:xfrm>
          <a:prstGeom prst="ellipse">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chai, devant les vignes — Domaine de Coyeux">    </p:cNvPr>
          <p:cNvPicPr>
            <a:picLocks noChangeAspect="1"/>
          </p:cNvPicPr>
          <p:nvPr/>
        </p:nvPicPr>
        <p:blipFill>
          <a:blip r:embed="rId3"/>
          <a:srcRect l="0" r="0" t="101" b="203"/>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dans les vignes, devant la 4L — Domaine Stratéus">    </p:cNvPr>
          <p:cNvPicPr>
            <a:picLocks noChangeAspect="1"/>
          </p:cNvPicPr>
          <p:nvPr/>
        </p:nvPicPr>
        <p:blipFill>
          <a:blip r:embed="rId3"/>
          <a:srcRect l="0" r="0" t="6750" b="13499"/>
          <a:stretch/>
        </p:blipFill>
        <p:spPr>
          <a:xfrm>
            <a:off x="828000" y="1292400"/>
            <a:ext cx="1440000" cy="1440000"/>
          </a:xfrm>
          <a:prstGeom prst="ellipse">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a vigneronne dans les vignes — Domaine Haut Marin">    </p:cNvPr>
          <p:cNvPicPr>
            <a:picLocks noChangeAspect="1"/>
          </p:cNvPicPr>
          <p:nvPr/>
        </p:nvPicPr>
        <p:blipFill>
          <a:blip r:embed="rId3"/>
          <a:srcRect l="30414" r="44466" t="0" b="0"/>
          <a:stretch/>
        </p:blipFill>
        <p:spPr>
          <a:xfrm>
            <a:off x="612000" y="1292400"/>
            <a:ext cx="1440000" cy="1440000"/>
          </a:xfrm>
          <a:prstGeom prst="ellipse">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6148" y="1292400"/>
            <a:ext cx="539705"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hâteau — Château Falfas">    </p:cNvPr>
          <p:cNvPicPr>
            <a:picLocks noChangeAspect="1"/>
          </p:cNvPicPr>
          <p:nvPr/>
        </p:nvPicPr>
        <p:blipFill>
          <a:blip r:embed="rId3"/>
          <a:srcRect l="17148" r="17147" t="0" b="0"/>
          <a:stretch/>
        </p:blipFill>
        <p:spPr>
          <a:xfrm>
            <a:off x="612000" y="1292400"/>
            <a:ext cx="1440000" cy="1440000"/>
          </a:xfrm>
          <a:prstGeom prst="ellipse">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a vigneronne — Famille d’Exea">    </p:cNvPr>
          <p:cNvPicPr>
            <a:picLocks noChangeAspect="1"/>
          </p:cNvPicPr>
          <p:nvPr/>
        </p:nvPicPr>
        <p:blipFill>
          <a:blip r:embed="rId3"/>
          <a:srcRect l="30534" r="10687" t="0" b="0"/>
          <a:stretch/>
        </p:blipFill>
        <p:spPr>
          <a:xfrm>
            <a:off x="828000" y="1292400"/>
            <a:ext cx="1440000" cy="1440000"/>
          </a:xfrm>
          <a:prstGeom prst="ellipse">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s vignerons au chai — Domaine Les Lys">    </p:cNvPr>
          <p:cNvPicPr>
            <a:picLocks noChangeAspect="1"/>
          </p:cNvPicPr>
          <p:nvPr/>
        </p:nvPicPr>
        <p:blipFill>
          <a:blip r:embed="rId3"/>
          <a:srcRect l="16185" r="16378" t="0" b="0"/>
          <a:stretch/>
        </p:blipFill>
        <p:spPr>
          <a:xfrm>
            <a:off x="828000" y="1292400"/>
            <a:ext cx="1440000" cy="1440000"/>
          </a:xfrm>
          <a:prstGeom prst="ellipse">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Denis Frézier au caveau — Champagne Denis Frézier">    </p:cNvPr>
          <p:cNvPicPr>
            <a:picLocks noChangeAspect="1"/>
          </p:cNvPicPr>
          <p:nvPr/>
        </p:nvPicPr>
        <p:blipFill>
          <a:blip r:embed="rId3"/>
          <a:srcRect l="10262" r="218"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Olivier Langlais — Champagne Solemme">    </p:cNvPr>
          <p:cNvPicPr>
            <a:picLocks noChangeAspect="1"/>
          </p:cNvPicPr>
          <p:nvPr/>
        </p:nvPicPr>
        <p:blipFill>
          <a:blip r:embed="rId3"/>
          <a:srcRect l="12720" r="22701" t="0" b="0"/>
          <a:stretch/>
        </p:blipFill>
        <p:spPr>
          <a:xfrm>
            <a:off x="828000" y="1292400"/>
            <a:ext cx="1440000" cy="1440000"/>
          </a:xfrm>
          <a:prstGeom prst="ellipse">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764000"/>
            <a:ext cx="1932000" cy="178743"/>
          </a:xfrm>
          <a:prstGeom prst="rect">
            <a:avLst/>
          </a:prstGeom>
          <a:noFill/>
          <a:ln/>
        </p:spPr>
        <p:txBody>
          <a:bodyPr wrap="square" lIns="0" tIns="0" rIns="0" bIns="0" rtlCol="0" anchor="ctr"/>
          <a:lstStyle/>
          <a:p>
            <a:pPr indent="0" marL="0">
              <a:buNone/>
            </a:pPr>
            <a:r>
              <a:rPr lang="en-US" sz="800" b="1" spc="30" kern="0" dirty="0">
                <a:solidFill>
                  <a:srgbClr val="46606E"/>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BULLES</a:t>
            </a:r>
            <a:endParaRPr lang="en-US" sz="800" dirty="0"/>
          </a:p>
        </p:txBody>
      </p:sp>
      <p:sp>
        <p:nvSpPr>
          <p:cNvPr id="6" name="Shape 4"/>
          <p:cNvSpPr/>
          <p:nvPr/>
        </p:nvSpPr>
        <p:spPr>
          <a:xfrm>
            <a:off x="828000" y="2069831"/>
            <a:ext cx="1932000" cy="0"/>
          </a:xfrm>
          <a:prstGeom prst="line">
            <a:avLst/>
          </a:prstGeom>
          <a:noFill/>
          <a:ln w="8890">
            <a:solidFill>
              <a:srgbClr val="67067C"/>
            </a:solidFill>
            <a:prstDash val="solid"/>
          </a:ln>
        </p:spPr>
      </p:sp>
      <p:sp>
        <p:nvSpPr>
          <p:cNvPr id="7" name="Text 5"/>
          <p:cNvSpPr/>
          <p:nvPr/>
        </p:nvSpPr>
        <p:spPr>
          <a:xfrm>
            <a:off x="828000" y="209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8" name="Text 6"/>
          <p:cNvSpPr/>
          <p:nvPr/>
        </p:nvSpPr>
        <p:spPr>
          <a:xfrm>
            <a:off x="828000" y="225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 name="Text 7"/>
          <p:cNvSpPr/>
          <p:nvPr/>
        </p:nvSpPr>
        <p:spPr>
          <a:xfrm>
            <a:off x="828000" y="241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0" name="Text 8"/>
          <p:cNvSpPr/>
          <p:nvPr/>
        </p:nvSpPr>
        <p:spPr>
          <a:xfrm>
            <a:off x="828000" y="257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 name="Text 9"/>
          <p:cNvSpPr/>
          <p:nvPr/>
        </p:nvSpPr>
        <p:spPr>
          <a:xfrm>
            <a:off x="828000" y="273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2" name="Text 10"/>
          <p:cNvSpPr/>
          <p:nvPr/>
        </p:nvSpPr>
        <p:spPr>
          <a:xfrm>
            <a:off x="828000" y="289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3" name="Text 11"/>
          <p:cNvSpPr/>
          <p:nvPr/>
        </p:nvSpPr>
        <p:spPr>
          <a:xfrm>
            <a:off x="828000" y="305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4" name="Text 12"/>
          <p:cNvSpPr/>
          <p:nvPr/>
        </p:nvSpPr>
        <p:spPr>
          <a:xfrm>
            <a:off x="828000" y="321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5" name="Text 13"/>
          <p:cNvSpPr/>
          <p:nvPr/>
        </p:nvSpPr>
        <p:spPr>
          <a:xfrm>
            <a:off x="828000" y="337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6" name="Text 14"/>
          <p:cNvSpPr/>
          <p:nvPr/>
        </p:nvSpPr>
        <p:spPr>
          <a:xfrm>
            <a:off x="828000" y="353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7" name="Text 15"/>
          <p:cNvSpPr/>
          <p:nvPr/>
        </p:nvSpPr>
        <p:spPr>
          <a:xfrm>
            <a:off x="828000" y="369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8" name="Text 16"/>
          <p:cNvSpPr/>
          <p:nvPr/>
        </p:nvSpPr>
        <p:spPr>
          <a:xfrm>
            <a:off x="828000" y="385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401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0" name="Text 18"/>
          <p:cNvSpPr/>
          <p:nvPr/>
        </p:nvSpPr>
        <p:spPr>
          <a:xfrm>
            <a:off x="828000" y="417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433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2" name="Text 20"/>
          <p:cNvSpPr/>
          <p:nvPr/>
        </p:nvSpPr>
        <p:spPr>
          <a:xfrm>
            <a:off x="828000" y="449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465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4" name="Text 22"/>
          <p:cNvSpPr/>
          <p:nvPr/>
        </p:nvSpPr>
        <p:spPr>
          <a:xfrm>
            <a:off x="828000" y="481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5" name="Text 23"/>
          <p:cNvSpPr/>
          <p:nvPr/>
        </p:nvSpPr>
        <p:spPr>
          <a:xfrm>
            <a:off x="828000" y="497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6" name="Text 24"/>
          <p:cNvSpPr/>
          <p:nvPr/>
        </p:nvSpPr>
        <p:spPr>
          <a:xfrm>
            <a:off x="828000" y="512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528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8" name="Text 26"/>
          <p:cNvSpPr/>
          <p:nvPr/>
        </p:nvSpPr>
        <p:spPr>
          <a:xfrm>
            <a:off x="828000" y="544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560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30" name="Text 28"/>
          <p:cNvSpPr/>
          <p:nvPr/>
        </p:nvSpPr>
        <p:spPr>
          <a:xfrm>
            <a:off x="828000" y="576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1" name="Text 29"/>
          <p:cNvSpPr/>
          <p:nvPr/>
        </p:nvSpPr>
        <p:spPr>
          <a:xfrm>
            <a:off x="828000" y="592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608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624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640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656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672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688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8" name="Text 36"/>
          <p:cNvSpPr/>
          <p:nvPr/>
        </p:nvSpPr>
        <p:spPr>
          <a:xfrm>
            <a:off x="828000" y="704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9" name="Text 37"/>
          <p:cNvSpPr/>
          <p:nvPr/>
        </p:nvSpPr>
        <p:spPr>
          <a:xfrm>
            <a:off x="828000" y="7348031"/>
            <a:ext cx="1932000" cy="178743"/>
          </a:xfrm>
          <a:prstGeom prst="rect">
            <a:avLst/>
          </a:prstGeom>
          <a:noFill/>
          <a:ln/>
        </p:spPr>
        <p:txBody>
          <a:bodyPr wrap="square" lIns="0" tIns="0" rIns="0" bIns="0" rtlCol="0" anchor="ctr"/>
          <a:lstStyle/>
          <a:p>
            <a:pPr indent="0" marL="0">
              <a:buNone/>
            </a:pPr>
            <a:r>
              <a:rPr lang="en-US" sz="800" b="1" spc="30" kern="0" dirty="0">
                <a:solidFill>
                  <a:srgbClr val="FBF8F1"/>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BLANC</a:t>
            </a:r>
            <a:endParaRPr lang="en-US" sz="800" dirty="0"/>
          </a:p>
        </p:txBody>
      </p:sp>
      <p:sp>
        <p:nvSpPr>
          <p:cNvPr id="40" name="Shape 38"/>
          <p:cNvSpPr/>
          <p:nvPr/>
        </p:nvSpPr>
        <p:spPr>
          <a:xfrm>
            <a:off x="828000" y="7653862"/>
            <a:ext cx="1932000" cy="0"/>
          </a:xfrm>
          <a:prstGeom prst="line">
            <a:avLst/>
          </a:prstGeom>
          <a:noFill/>
          <a:ln w="8890">
            <a:solidFill>
              <a:srgbClr val="67067C"/>
            </a:solidFill>
            <a:prstDash val="solid"/>
          </a:ln>
        </p:spPr>
      </p:sp>
      <p:sp>
        <p:nvSpPr>
          <p:cNvPr id="41" name="Text 39"/>
          <p:cNvSpPr/>
          <p:nvPr/>
        </p:nvSpPr>
        <p:spPr>
          <a:xfrm>
            <a:off x="828000" y="7682662"/>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2" name="Text 40"/>
          <p:cNvSpPr/>
          <p:nvPr/>
        </p:nvSpPr>
        <p:spPr>
          <a:xfrm>
            <a:off x="828000" y="784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3" name="Text 41"/>
          <p:cNvSpPr/>
          <p:nvPr/>
        </p:nvSpPr>
        <p:spPr>
          <a:xfrm>
            <a:off x="828000" y="800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4" name="Text 42"/>
          <p:cNvSpPr/>
          <p:nvPr/>
        </p:nvSpPr>
        <p:spPr>
          <a:xfrm>
            <a:off x="2868000" y="162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5" name="Text 43"/>
          <p:cNvSpPr/>
          <p:nvPr/>
        </p:nvSpPr>
        <p:spPr>
          <a:xfrm>
            <a:off x="2868000" y="177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6" name="Text 44"/>
          <p:cNvSpPr/>
          <p:nvPr/>
        </p:nvSpPr>
        <p:spPr>
          <a:xfrm>
            <a:off x="2868000" y="193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7" name="Text 45"/>
          <p:cNvSpPr/>
          <p:nvPr/>
        </p:nvSpPr>
        <p:spPr>
          <a:xfrm>
            <a:off x="2868000" y="209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8" name="Text 46"/>
          <p:cNvSpPr/>
          <p:nvPr/>
        </p:nvSpPr>
        <p:spPr>
          <a:xfrm>
            <a:off x="2868000" y="225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9" name="Text 47"/>
          <p:cNvSpPr/>
          <p:nvPr/>
        </p:nvSpPr>
        <p:spPr>
          <a:xfrm>
            <a:off x="2868000" y="241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0" name="Text 48"/>
          <p:cNvSpPr/>
          <p:nvPr/>
        </p:nvSpPr>
        <p:spPr>
          <a:xfrm>
            <a:off x="2868000" y="257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1" name="Text 49"/>
          <p:cNvSpPr/>
          <p:nvPr/>
        </p:nvSpPr>
        <p:spPr>
          <a:xfrm>
            <a:off x="2868000" y="273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2" name="Text 50"/>
          <p:cNvSpPr/>
          <p:nvPr/>
        </p:nvSpPr>
        <p:spPr>
          <a:xfrm>
            <a:off x="2868000" y="289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3" name="Text 51"/>
          <p:cNvSpPr/>
          <p:nvPr/>
        </p:nvSpPr>
        <p:spPr>
          <a:xfrm>
            <a:off x="2868000" y="305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4" name="Text 52"/>
          <p:cNvSpPr/>
          <p:nvPr/>
        </p:nvSpPr>
        <p:spPr>
          <a:xfrm>
            <a:off x="2868000" y="321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5" name="Text 53"/>
          <p:cNvSpPr/>
          <p:nvPr/>
        </p:nvSpPr>
        <p:spPr>
          <a:xfrm>
            <a:off x="2868000" y="337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6" name="Text 54"/>
          <p:cNvSpPr/>
          <p:nvPr/>
        </p:nvSpPr>
        <p:spPr>
          <a:xfrm>
            <a:off x="2868000" y="353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7" name="Text 55"/>
          <p:cNvSpPr/>
          <p:nvPr/>
        </p:nvSpPr>
        <p:spPr>
          <a:xfrm>
            <a:off x="2868000" y="369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85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9" name="Text 57"/>
          <p:cNvSpPr/>
          <p:nvPr/>
        </p:nvSpPr>
        <p:spPr>
          <a:xfrm>
            <a:off x="2868000" y="401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0" name="Text 58"/>
          <p:cNvSpPr/>
          <p:nvPr/>
        </p:nvSpPr>
        <p:spPr>
          <a:xfrm>
            <a:off x="2868000" y="417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1" name="Text 59"/>
          <p:cNvSpPr/>
          <p:nvPr/>
        </p:nvSpPr>
        <p:spPr>
          <a:xfrm>
            <a:off x="2868000" y="433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2" name="Text 60"/>
          <p:cNvSpPr/>
          <p:nvPr/>
        </p:nvSpPr>
        <p:spPr>
          <a:xfrm>
            <a:off x="2868000" y="449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3" name="Text 61"/>
          <p:cNvSpPr/>
          <p:nvPr/>
        </p:nvSpPr>
        <p:spPr>
          <a:xfrm>
            <a:off x="2868000" y="465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4" name="Text 62"/>
          <p:cNvSpPr/>
          <p:nvPr/>
        </p:nvSpPr>
        <p:spPr>
          <a:xfrm>
            <a:off x="2868000" y="481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5" name="Text 63"/>
          <p:cNvSpPr/>
          <p:nvPr/>
        </p:nvSpPr>
        <p:spPr>
          <a:xfrm>
            <a:off x="2868000" y="497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868000" y="512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7" name="Text 65"/>
          <p:cNvSpPr/>
          <p:nvPr/>
        </p:nvSpPr>
        <p:spPr>
          <a:xfrm>
            <a:off x="2868000" y="528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544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560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576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71" name="Text 69"/>
          <p:cNvSpPr/>
          <p:nvPr/>
        </p:nvSpPr>
        <p:spPr>
          <a:xfrm>
            <a:off x="2868000" y="592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2" name="Text 70"/>
          <p:cNvSpPr/>
          <p:nvPr/>
        </p:nvSpPr>
        <p:spPr>
          <a:xfrm>
            <a:off x="2868000" y="608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3" name="Text 71"/>
          <p:cNvSpPr/>
          <p:nvPr/>
        </p:nvSpPr>
        <p:spPr>
          <a:xfrm>
            <a:off x="2868000" y="624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4" name="Text 72"/>
          <p:cNvSpPr/>
          <p:nvPr/>
        </p:nvSpPr>
        <p:spPr>
          <a:xfrm>
            <a:off x="2868000" y="640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656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6" name="Text 74"/>
          <p:cNvSpPr/>
          <p:nvPr/>
        </p:nvSpPr>
        <p:spPr>
          <a:xfrm>
            <a:off x="2868000" y="672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7" name="Text 75"/>
          <p:cNvSpPr/>
          <p:nvPr/>
        </p:nvSpPr>
        <p:spPr>
          <a:xfrm>
            <a:off x="2868000" y="688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8" name="Text 76"/>
          <p:cNvSpPr/>
          <p:nvPr/>
        </p:nvSpPr>
        <p:spPr>
          <a:xfrm>
            <a:off x="2868000" y="704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9" name="Text 77"/>
          <p:cNvSpPr/>
          <p:nvPr/>
        </p:nvSpPr>
        <p:spPr>
          <a:xfrm>
            <a:off x="2868000" y="720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80" name="Text 78"/>
          <p:cNvSpPr/>
          <p:nvPr/>
        </p:nvSpPr>
        <p:spPr>
          <a:xfrm>
            <a:off x="2868000" y="736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1" name="Text 79"/>
          <p:cNvSpPr/>
          <p:nvPr/>
        </p:nvSpPr>
        <p:spPr>
          <a:xfrm>
            <a:off x="2868000" y="752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7682662"/>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2868000" y="784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4" name="Text 82"/>
          <p:cNvSpPr/>
          <p:nvPr/>
        </p:nvSpPr>
        <p:spPr>
          <a:xfrm>
            <a:off x="2868000" y="800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5" name="Text 83"/>
          <p:cNvSpPr/>
          <p:nvPr/>
        </p:nvSpPr>
        <p:spPr>
          <a:xfrm>
            <a:off x="4908000" y="162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6" name="Text 84"/>
          <p:cNvSpPr/>
          <p:nvPr/>
        </p:nvSpPr>
        <p:spPr>
          <a:xfrm>
            <a:off x="4908000" y="177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193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09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9" name="Text 87"/>
          <p:cNvSpPr/>
          <p:nvPr/>
        </p:nvSpPr>
        <p:spPr>
          <a:xfrm>
            <a:off x="4908000" y="225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90" name="Text 88"/>
          <p:cNvSpPr/>
          <p:nvPr/>
        </p:nvSpPr>
        <p:spPr>
          <a:xfrm>
            <a:off x="4908000" y="241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91" name="Text 89"/>
          <p:cNvSpPr/>
          <p:nvPr/>
        </p:nvSpPr>
        <p:spPr>
          <a:xfrm>
            <a:off x="4908000" y="257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3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3" name="Text 91"/>
          <p:cNvSpPr/>
          <p:nvPr/>
        </p:nvSpPr>
        <p:spPr>
          <a:xfrm>
            <a:off x="4908000" y="289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4" name="Text 92"/>
          <p:cNvSpPr/>
          <p:nvPr/>
        </p:nvSpPr>
        <p:spPr>
          <a:xfrm>
            <a:off x="4908000" y="305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5" name="Text 93"/>
          <p:cNvSpPr/>
          <p:nvPr/>
        </p:nvSpPr>
        <p:spPr>
          <a:xfrm>
            <a:off x="4908000" y="321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6" name="Text 94"/>
          <p:cNvSpPr/>
          <p:nvPr/>
        </p:nvSpPr>
        <p:spPr>
          <a:xfrm>
            <a:off x="4908000" y="337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7" name="Text 95"/>
          <p:cNvSpPr/>
          <p:nvPr/>
        </p:nvSpPr>
        <p:spPr>
          <a:xfrm>
            <a:off x="4908000" y="353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8" name="Text 96"/>
          <p:cNvSpPr/>
          <p:nvPr/>
        </p:nvSpPr>
        <p:spPr>
          <a:xfrm>
            <a:off x="4908000" y="369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9" name="Text 97"/>
          <p:cNvSpPr/>
          <p:nvPr/>
        </p:nvSpPr>
        <p:spPr>
          <a:xfrm>
            <a:off x="4908000" y="385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00" name="Text 98"/>
          <p:cNvSpPr/>
          <p:nvPr/>
        </p:nvSpPr>
        <p:spPr>
          <a:xfrm>
            <a:off x="4908000" y="401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101" name="Text 99"/>
          <p:cNvSpPr/>
          <p:nvPr/>
        </p:nvSpPr>
        <p:spPr>
          <a:xfrm>
            <a:off x="4908000" y="417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2" name="Text 100"/>
          <p:cNvSpPr/>
          <p:nvPr/>
        </p:nvSpPr>
        <p:spPr>
          <a:xfrm>
            <a:off x="4908000" y="433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3" name="Text 101"/>
          <p:cNvSpPr/>
          <p:nvPr/>
        </p:nvSpPr>
        <p:spPr>
          <a:xfrm>
            <a:off x="4908000" y="449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4" name="Text 102"/>
          <p:cNvSpPr/>
          <p:nvPr/>
        </p:nvSpPr>
        <p:spPr>
          <a:xfrm>
            <a:off x="4908000" y="465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5" name="Text 103"/>
          <p:cNvSpPr/>
          <p:nvPr/>
        </p:nvSpPr>
        <p:spPr>
          <a:xfrm>
            <a:off x="4908000" y="481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6" name="Text 104"/>
          <p:cNvSpPr/>
          <p:nvPr/>
        </p:nvSpPr>
        <p:spPr>
          <a:xfrm>
            <a:off x="4908000" y="497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7" name="Text 105"/>
          <p:cNvSpPr/>
          <p:nvPr/>
        </p:nvSpPr>
        <p:spPr>
          <a:xfrm>
            <a:off x="4908000" y="512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908000" y="528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9" name="Text 107"/>
          <p:cNvSpPr/>
          <p:nvPr/>
        </p:nvSpPr>
        <p:spPr>
          <a:xfrm>
            <a:off x="4908000" y="544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0" name="Text 108"/>
          <p:cNvSpPr/>
          <p:nvPr/>
        </p:nvSpPr>
        <p:spPr>
          <a:xfrm>
            <a:off x="4908000" y="560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76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2" name="Text 110"/>
          <p:cNvSpPr/>
          <p:nvPr/>
        </p:nvSpPr>
        <p:spPr>
          <a:xfrm>
            <a:off x="4908000" y="592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3" name="Text 111"/>
          <p:cNvSpPr/>
          <p:nvPr/>
        </p:nvSpPr>
        <p:spPr>
          <a:xfrm>
            <a:off x="4908000" y="608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4" name="Text 112"/>
          <p:cNvSpPr/>
          <p:nvPr/>
        </p:nvSpPr>
        <p:spPr>
          <a:xfrm>
            <a:off x="4908000" y="624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5" name="Text 113"/>
          <p:cNvSpPr/>
          <p:nvPr/>
        </p:nvSpPr>
        <p:spPr>
          <a:xfrm>
            <a:off x="4908000" y="640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6" name="Text 114"/>
          <p:cNvSpPr/>
          <p:nvPr/>
        </p:nvSpPr>
        <p:spPr>
          <a:xfrm>
            <a:off x="4908000" y="656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7" name="Text 115"/>
          <p:cNvSpPr/>
          <p:nvPr/>
        </p:nvSpPr>
        <p:spPr>
          <a:xfrm>
            <a:off x="4908000" y="672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8" name="Text 116"/>
          <p:cNvSpPr/>
          <p:nvPr/>
        </p:nvSpPr>
        <p:spPr>
          <a:xfrm>
            <a:off x="4908000" y="688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9" name="Text 117"/>
          <p:cNvSpPr/>
          <p:nvPr/>
        </p:nvSpPr>
        <p:spPr>
          <a:xfrm>
            <a:off x="4908000" y="704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720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736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2" name="Text 120"/>
          <p:cNvSpPr/>
          <p:nvPr/>
        </p:nvSpPr>
        <p:spPr>
          <a:xfrm>
            <a:off x="4908000" y="752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7682662"/>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5" name="Text 123"/>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4193963"/>
            <a:ext cx="1932000" cy="178743"/>
          </a:xfrm>
          <a:prstGeom prst="rect">
            <a:avLst/>
          </a:prstGeom>
          <a:noFill/>
          <a:ln/>
        </p:spPr>
        <p:txBody>
          <a:bodyPr wrap="square" lIns="0" tIns="0" rIns="0" bIns="0" rtlCol="0" anchor="ctr"/>
          <a:lstStyle/>
          <a:p>
            <a:pPr indent="0" marL="0">
              <a:buNone/>
            </a:pPr>
            <a:r>
              <a:rPr lang="en-US" sz="800" b="1" spc="30" kern="0" dirty="0">
                <a:solidFill>
                  <a:srgbClr val="D98FA0"/>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ROSÉ</a:t>
            </a:r>
            <a:endParaRPr lang="en-US" sz="800" dirty="0"/>
          </a:p>
        </p:txBody>
      </p:sp>
      <p:sp>
        <p:nvSpPr>
          <p:cNvPr id="25" name="Shape 23"/>
          <p:cNvSpPr/>
          <p:nvPr/>
        </p:nvSpPr>
        <p:spPr>
          <a:xfrm>
            <a:off x="612000" y="4499794"/>
            <a:ext cx="1932000" cy="0"/>
          </a:xfrm>
          <a:prstGeom prst="line">
            <a:avLst/>
          </a:prstGeom>
          <a:noFill/>
          <a:ln w="8890">
            <a:solidFill>
              <a:srgbClr val="67067C"/>
            </a:solidFill>
            <a:prstDash val="solid"/>
          </a:ln>
        </p:spPr>
      </p:sp>
      <p:sp>
        <p:nvSpPr>
          <p:cNvPr id="26" name="Text 24"/>
          <p:cNvSpPr/>
          <p:nvPr/>
        </p:nvSpPr>
        <p:spPr>
          <a:xfrm>
            <a:off x="612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7" name="Text 25"/>
          <p:cNvSpPr/>
          <p:nvPr/>
        </p:nvSpPr>
        <p:spPr>
          <a:xfrm>
            <a:off x="612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8" name="Text 26"/>
          <p:cNvSpPr/>
          <p:nvPr/>
        </p:nvSpPr>
        <p:spPr>
          <a:xfrm>
            <a:off x="612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0" name="Text 28"/>
          <p:cNvSpPr/>
          <p:nvPr/>
        </p:nvSpPr>
        <p:spPr>
          <a:xfrm>
            <a:off x="612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1" name="Text 29"/>
          <p:cNvSpPr/>
          <p:nvPr/>
        </p:nvSpPr>
        <p:spPr>
          <a:xfrm>
            <a:off x="612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2" name="Text 30"/>
          <p:cNvSpPr/>
          <p:nvPr/>
        </p:nvSpPr>
        <p:spPr>
          <a:xfrm>
            <a:off x="612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3" name="Text 31"/>
          <p:cNvSpPr/>
          <p:nvPr/>
        </p:nvSpPr>
        <p:spPr>
          <a:xfrm>
            <a:off x="612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4" name="Text 32"/>
          <p:cNvSpPr/>
          <p:nvPr/>
        </p:nvSpPr>
        <p:spPr>
          <a:xfrm>
            <a:off x="612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5" name="Text 33"/>
          <p:cNvSpPr/>
          <p:nvPr/>
        </p:nvSpPr>
        <p:spPr>
          <a:xfrm>
            <a:off x="612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6" name="Text 34"/>
          <p:cNvSpPr/>
          <p:nvPr/>
        </p:nvSpPr>
        <p:spPr>
          <a:xfrm>
            <a:off x="612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8" name="Text 36"/>
          <p:cNvSpPr/>
          <p:nvPr/>
        </p:nvSpPr>
        <p:spPr>
          <a:xfrm>
            <a:off x="612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9" name="Text 37"/>
          <p:cNvSpPr/>
          <p:nvPr/>
        </p:nvSpPr>
        <p:spPr>
          <a:xfrm>
            <a:off x="612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0" name="Text 38"/>
          <p:cNvSpPr/>
          <p:nvPr/>
        </p:nvSpPr>
        <p:spPr>
          <a:xfrm>
            <a:off x="612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1" name="Text 39"/>
          <p:cNvSpPr/>
          <p:nvPr/>
        </p:nvSpPr>
        <p:spPr>
          <a:xfrm>
            <a:off x="612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2" name="Text 40"/>
          <p:cNvSpPr/>
          <p:nvPr/>
        </p:nvSpPr>
        <p:spPr>
          <a:xfrm>
            <a:off x="612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3" name="Text 41"/>
          <p:cNvSpPr/>
          <p:nvPr/>
        </p:nvSpPr>
        <p:spPr>
          <a:xfrm>
            <a:off x="612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4" name="Text 42"/>
          <p:cNvSpPr/>
          <p:nvPr/>
        </p:nvSpPr>
        <p:spPr>
          <a:xfrm>
            <a:off x="612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5" name="Text 43"/>
          <p:cNvSpPr/>
          <p:nvPr/>
        </p:nvSpPr>
        <p:spPr>
          <a:xfrm>
            <a:off x="612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6" name="Text 44"/>
          <p:cNvSpPr/>
          <p:nvPr/>
        </p:nvSpPr>
        <p:spPr>
          <a:xfrm>
            <a:off x="612000" y="77194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7" name="Text 45"/>
          <p:cNvSpPr/>
          <p:nvPr/>
        </p:nvSpPr>
        <p:spPr>
          <a:xfrm>
            <a:off x="612000" y="78790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8" name="Text 46"/>
          <p:cNvSpPr/>
          <p:nvPr/>
        </p:nvSpPr>
        <p:spPr>
          <a:xfrm>
            <a:off x="2652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9" name="Text 47"/>
          <p:cNvSpPr/>
          <p:nvPr/>
        </p:nvSpPr>
        <p:spPr>
          <a:xfrm>
            <a:off x="2652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0" name="Text 48"/>
          <p:cNvSpPr/>
          <p:nvPr/>
        </p:nvSpPr>
        <p:spPr>
          <a:xfrm>
            <a:off x="2652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652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2" name="Text 50"/>
          <p:cNvSpPr/>
          <p:nvPr/>
        </p:nvSpPr>
        <p:spPr>
          <a:xfrm>
            <a:off x="2652000" y="1322175"/>
            <a:ext cx="1932000" cy="178743"/>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ROUGE</a:t>
            </a:r>
            <a:endParaRPr lang="en-US" sz="800" dirty="0"/>
          </a:p>
        </p:txBody>
      </p:sp>
      <p:sp>
        <p:nvSpPr>
          <p:cNvPr id="53" name="Shape 51"/>
          <p:cNvSpPr/>
          <p:nvPr/>
        </p:nvSpPr>
        <p:spPr>
          <a:xfrm>
            <a:off x="2652000" y="1628006"/>
            <a:ext cx="1932000" cy="0"/>
          </a:xfrm>
          <a:prstGeom prst="line">
            <a:avLst/>
          </a:prstGeom>
          <a:noFill/>
          <a:ln w="8890">
            <a:solidFill>
              <a:srgbClr val="67067C"/>
            </a:solidFill>
            <a:prstDash val="solid"/>
          </a:ln>
        </p:spPr>
      </p:sp>
      <p:sp>
        <p:nvSpPr>
          <p:cNvPr id="54" name="Text 52"/>
          <p:cNvSpPr/>
          <p:nvPr/>
        </p:nvSpPr>
        <p:spPr>
          <a:xfrm>
            <a:off x="2652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652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6" name="Text 54"/>
          <p:cNvSpPr/>
          <p:nvPr/>
        </p:nvSpPr>
        <p:spPr>
          <a:xfrm>
            <a:off x="2652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7" name="Text 55"/>
          <p:cNvSpPr/>
          <p:nvPr/>
        </p:nvSpPr>
        <p:spPr>
          <a:xfrm>
            <a:off x="2652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8" name="Text 56"/>
          <p:cNvSpPr/>
          <p:nvPr/>
        </p:nvSpPr>
        <p:spPr>
          <a:xfrm>
            <a:off x="2652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9" name="Text 57"/>
          <p:cNvSpPr/>
          <p:nvPr/>
        </p:nvSpPr>
        <p:spPr>
          <a:xfrm>
            <a:off x="2652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0" name="Text 58"/>
          <p:cNvSpPr/>
          <p:nvPr/>
        </p:nvSpPr>
        <p:spPr>
          <a:xfrm>
            <a:off x="2652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1" name="Text 59"/>
          <p:cNvSpPr/>
          <p:nvPr/>
        </p:nvSpPr>
        <p:spPr>
          <a:xfrm>
            <a:off x="2652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3" name="Text 61"/>
          <p:cNvSpPr/>
          <p:nvPr/>
        </p:nvSpPr>
        <p:spPr>
          <a:xfrm>
            <a:off x="2652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4" name="Text 62"/>
          <p:cNvSpPr/>
          <p:nvPr/>
        </p:nvSpPr>
        <p:spPr>
          <a:xfrm>
            <a:off x="2652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5" name="Text 63"/>
          <p:cNvSpPr/>
          <p:nvPr/>
        </p:nvSpPr>
        <p:spPr>
          <a:xfrm>
            <a:off x="2652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6" name="Text 64"/>
          <p:cNvSpPr/>
          <p:nvPr/>
        </p:nvSpPr>
        <p:spPr>
          <a:xfrm>
            <a:off x="2652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8" name="Text 66"/>
          <p:cNvSpPr/>
          <p:nvPr/>
        </p:nvSpPr>
        <p:spPr>
          <a:xfrm>
            <a:off x="2652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0" name="Text 68"/>
          <p:cNvSpPr/>
          <p:nvPr/>
        </p:nvSpPr>
        <p:spPr>
          <a:xfrm>
            <a:off x="2652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1" name="Text 69"/>
          <p:cNvSpPr/>
          <p:nvPr/>
        </p:nvSpPr>
        <p:spPr>
          <a:xfrm>
            <a:off x="2652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3" name="Text 71"/>
          <p:cNvSpPr/>
          <p:nvPr/>
        </p:nvSpPr>
        <p:spPr>
          <a:xfrm>
            <a:off x="2652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2652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6" name="Text 74"/>
          <p:cNvSpPr/>
          <p:nvPr/>
        </p:nvSpPr>
        <p:spPr>
          <a:xfrm>
            <a:off x="2652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7" name="Text 75"/>
          <p:cNvSpPr/>
          <p:nvPr/>
        </p:nvSpPr>
        <p:spPr>
          <a:xfrm>
            <a:off x="2652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8" name="Text 76"/>
          <p:cNvSpPr/>
          <p:nvPr/>
        </p:nvSpPr>
        <p:spPr>
          <a:xfrm>
            <a:off x="2652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1" name="Text 79"/>
          <p:cNvSpPr/>
          <p:nvPr/>
        </p:nvSpPr>
        <p:spPr>
          <a:xfrm>
            <a:off x="2652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2" name="Text 80"/>
          <p:cNvSpPr/>
          <p:nvPr/>
        </p:nvSpPr>
        <p:spPr>
          <a:xfrm>
            <a:off x="2652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3" name="Text 81"/>
          <p:cNvSpPr/>
          <p:nvPr/>
        </p:nvSpPr>
        <p:spPr>
          <a:xfrm>
            <a:off x="2652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4" name="Text 82"/>
          <p:cNvSpPr/>
          <p:nvPr/>
        </p:nvSpPr>
        <p:spPr>
          <a:xfrm>
            <a:off x="2652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5" name="Text 83"/>
          <p:cNvSpPr/>
          <p:nvPr/>
        </p:nvSpPr>
        <p:spPr>
          <a:xfrm>
            <a:off x="2652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6" name="Text 84"/>
          <p:cNvSpPr/>
          <p:nvPr/>
        </p:nvSpPr>
        <p:spPr>
          <a:xfrm>
            <a:off x="2652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7" name="Text 85"/>
          <p:cNvSpPr/>
          <p:nvPr/>
        </p:nvSpPr>
        <p:spPr>
          <a:xfrm>
            <a:off x="2652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8" name="Text 86"/>
          <p:cNvSpPr/>
          <p:nvPr/>
        </p:nvSpPr>
        <p:spPr>
          <a:xfrm>
            <a:off x="2652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9" name="Text 87"/>
          <p:cNvSpPr/>
          <p:nvPr/>
        </p:nvSpPr>
        <p:spPr>
          <a:xfrm>
            <a:off x="2652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90" name="Text 88"/>
          <p:cNvSpPr/>
          <p:nvPr/>
        </p:nvSpPr>
        <p:spPr>
          <a:xfrm>
            <a:off x="2652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91" name="Text 89"/>
          <p:cNvSpPr/>
          <p:nvPr/>
        </p:nvSpPr>
        <p:spPr>
          <a:xfrm>
            <a:off x="2652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2" name="Text 90"/>
          <p:cNvSpPr/>
          <p:nvPr/>
        </p:nvSpPr>
        <p:spPr>
          <a:xfrm>
            <a:off x="2652000" y="77194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3" name="Text 91"/>
          <p:cNvSpPr/>
          <p:nvPr/>
        </p:nvSpPr>
        <p:spPr>
          <a:xfrm>
            <a:off x="2652000" y="78790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4" name="Text 92"/>
          <p:cNvSpPr/>
          <p:nvPr/>
        </p:nvSpPr>
        <p:spPr>
          <a:xfrm>
            <a:off x="4692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5" name="Text 93"/>
          <p:cNvSpPr/>
          <p:nvPr/>
        </p:nvSpPr>
        <p:spPr>
          <a:xfrm>
            <a:off x="4692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692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8" name="Text 96"/>
          <p:cNvSpPr/>
          <p:nvPr/>
        </p:nvSpPr>
        <p:spPr>
          <a:xfrm>
            <a:off x="4692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9" name="Text 97"/>
          <p:cNvSpPr/>
          <p:nvPr/>
        </p:nvSpPr>
        <p:spPr>
          <a:xfrm>
            <a:off x="4692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1" name="Text 99"/>
          <p:cNvSpPr/>
          <p:nvPr/>
        </p:nvSpPr>
        <p:spPr>
          <a:xfrm>
            <a:off x="4692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5" name="Text 103"/>
          <p:cNvSpPr/>
          <p:nvPr/>
        </p:nvSpPr>
        <p:spPr>
          <a:xfrm>
            <a:off x="4692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6" name="Text 104"/>
          <p:cNvSpPr/>
          <p:nvPr/>
        </p:nvSpPr>
        <p:spPr>
          <a:xfrm>
            <a:off x="4692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7" name="Text 105"/>
          <p:cNvSpPr/>
          <p:nvPr/>
        </p:nvSpPr>
        <p:spPr>
          <a:xfrm>
            <a:off x="4692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8" name="Text 106"/>
          <p:cNvSpPr/>
          <p:nvPr/>
        </p:nvSpPr>
        <p:spPr>
          <a:xfrm>
            <a:off x="4692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0" name="Text 108"/>
          <p:cNvSpPr/>
          <p:nvPr/>
        </p:nvSpPr>
        <p:spPr>
          <a:xfrm>
            <a:off x="4692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5" name="Text 113"/>
          <p:cNvSpPr/>
          <p:nvPr/>
        </p:nvSpPr>
        <p:spPr>
          <a:xfrm>
            <a:off x="4692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6" name="Text 114"/>
          <p:cNvSpPr/>
          <p:nvPr/>
        </p:nvSpPr>
        <p:spPr>
          <a:xfrm>
            <a:off x="4692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7" name="Text 115"/>
          <p:cNvSpPr/>
          <p:nvPr/>
        </p:nvSpPr>
        <p:spPr>
          <a:xfrm>
            <a:off x="4692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9" name="Text 117"/>
          <p:cNvSpPr/>
          <p:nvPr/>
        </p:nvSpPr>
        <p:spPr>
          <a:xfrm>
            <a:off x="4692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20" name="Text 118"/>
          <p:cNvSpPr/>
          <p:nvPr/>
        </p:nvSpPr>
        <p:spPr>
          <a:xfrm>
            <a:off x="4692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21" name="Text 119"/>
          <p:cNvSpPr/>
          <p:nvPr/>
        </p:nvSpPr>
        <p:spPr>
          <a:xfrm>
            <a:off x="4692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2" name="Text 120"/>
          <p:cNvSpPr/>
          <p:nvPr/>
        </p:nvSpPr>
        <p:spPr>
          <a:xfrm>
            <a:off x="4692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3" name="Text 121"/>
          <p:cNvSpPr/>
          <p:nvPr/>
        </p:nvSpPr>
        <p:spPr>
          <a:xfrm>
            <a:off x="4692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4" name="Text 122"/>
          <p:cNvSpPr/>
          <p:nvPr/>
        </p:nvSpPr>
        <p:spPr>
          <a:xfrm>
            <a:off x="4692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6" name="Text 124"/>
          <p:cNvSpPr/>
          <p:nvPr/>
        </p:nvSpPr>
        <p:spPr>
          <a:xfrm>
            <a:off x="4692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7" name="Text 125"/>
          <p:cNvSpPr/>
          <p:nvPr/>
        </p:nvSpPr>
        <p:spPr>
          <a:xfrm>
            <a:off x="4692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8" name="Text 126"/>
          <p:cNvSpPr/>
          <p:nvPr/>
        </p:nvSpPr>
        <p:spPr>
          <a:xfrm>
            <a:off x="4692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9" name="Text 127"/>
          <p:cNvSpPr/>
          <p:nvPr/>
        </p:nvSpPr>
        <p:spPr>
          <a:xfrm>
            <a:off x="4692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0" name="Text 128"/>
          <p:cNvSpPr/>
          <p:nvPr/>
        </p:nvSpPr>
        <p:spPr>
          <a:xfrm>
            <a:off x="4692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1" name="Text 129"/>
          <p:cNvSpPr/>
          <p:nvPr/>
        </p:nvSpPr>
        <p:spPr>
          <a:xfrm>
            <a:off x="4692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2" name="Text 130"/>
          <p:cNvSpPr/>
          <p:nvPr/>
        </p:nvSpPr>
        <p:spPr>
          <a:xfrm>
            <a:off x="4692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3" name="Text 131"/>
          <p:cNvSpPr/>
          <p:nvPr/>
        </p:nvSpPr>
        <p:spPr>
          <a:xfrm>
            <a:off x="4692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4" name="Text 132"/>
          <p:cNvSpPr/>
          <p:nvPr/>
        </p:nvSpPr>
        <p:spPr>
          <a:xfrm>
            <a:off x="4692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5" name="Text 133"/>
          <p:cNvSpPr/>
          <p:nvPr/>
        </p:nvSpPr>
        <p:spPr>
          <a:xfrm>
            <a:off x="4692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6" name="Text 134"/>
          <p:cNvSpPr/>
          <p:nvPr/>
        </p:nvSpPr>
        <p:spPr>
          <a:xfrm>
            <a:off x="4692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4692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8" name="Text 136"/>
          <p:cNvSpPr/>
          <p:nvPr/>
        </p:nvSpPr>
        <p:spPr>
          <a:xfrm>
            <a:off x="4692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9" name="Text 13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40" name="Text 13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53263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828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828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828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828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5400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6995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8590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2949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4545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140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40499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42095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3690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0072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51667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5470313"/>
            <a:ext cx="1932000" cy="178743"/>
          </a:xfrm>
          <a:prstGeom prst="rect">
            <a:avLst/>
          </a:prstGeom>
          <a:noFill/>
          <a:ln/>
        </p:spPr>
        <p:txBody>
          <a:bodyPr wrap="square" lIns="0" tIns="0" rIns="0" bIns="0" rtlCol="0" anchor="ct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DOUX</a:t>
            </a:r>
            <a:endParaRPr lang="en-US" sz="800" dirty="0"/>
          </a:p>
        </p:txBody>
      </p:sp>
      <p:sp>
        <p:nvSpPr>
          <p:cNvPr id="78" name="Shape 76"/>
          <p:cNvSpPr/>
          <p:nvPr/>
        </p:nvSpPr>
        <p:spPr>
          <a:xfrm>
            <a:off x="2868000" y="5776144"/>
            <a:ext cx="1932000" cy="0"/>
          </a:xfrm>
          <a:prstGeom prst="line">
            <a:avLst/>
          </a:prstGeom>
          <a:noFill/>
          <a:ln w="8890">
            <a:solidFill>
              <a:srgbClr val="67067C"/>
            </a:solidFill>
            <a:prstDash val="solid"/>
          </a:ln>
        </p:spPr>
      </p:sp>
      <p:sp>
        <p:nvSpPr>
          <p:cNvPr id="79" name="Text 77"/>
          <p:cNvSpPr/>
          <p:nvPr/>
        </p:nvSpPr>
        <p:spPr>
          <a:xfrm>
            <a:off x="2868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1" name="Text 79"/>
          <p:cNvSpPr/>
          <p:nvPr/>
        </p:nvSpPr>
        <p:spPr>
          <a:xfrm>
            <a:off x="2868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2" name="Text 80"/>
          <p:cNvSpPr/>
          <p:nvPr/>
        </p:nvSpPr>
        <p:spPr>
          <a:xfrm>
            <a:off x="2868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3" name="Text 81"/>
          <p:cNvSpPr/>
          <p:nvPr/>
        </p:nvSpPr>
        <p:spPr>
          <a:xfrm>
            <a:off x="2868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2868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2868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2868000" y="69217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7" name="Text 85"/>
          <p:cNvSpPr/>
          <p:nvPr/>
        </p:nvSpPr>
        <p:spPr>
          <a:xfrm>
            <a:off x="2868000" y="70812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2868000" y="72408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9" name="Text 87"/>
          <p:cNvSpPr/>
          <p:nvPr/>
        </p:nvSpPr>
        <p:spPr>
          <a:xfrm>
            <a:off x="2868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0" name="Text 88"/>
          <p:cNvSpPr/>
          <p:nvPr/>
        </p:nvSpPr>
        <p:spPr>
          <a:xfrm>
            <a:off x="4908000" y="684000"/>
            <a:ext cx="1932000" cy="178743"/>
          </a:xfrm>
          <a:prstGeom prst="rect">
            <a:avLst/>
          </a:prstGeom>
          <a:noFill/>
          <a:ln/>
        </p:spPr>
        <p:txBody>
          <a:bodyPr wrap="square" lIns="0" tIns="0" rIns="0" bIns="0" rtlCol="0" anchor="ctr"/>
          <a:lstStyle/>
          <a:p>
            <a:pPr indent="0" marL="0">
              <a:buNone/>
            </a:pPr>
            <a:r>
              <a:rPr lang="en-US" sz="800" b="1" spc="30" kern="0" dirty="0">
                <a:solidFill>
                  <a:srgbClr val="46606E"/>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SANS ALCOOL</a:t>
            </a:r>
            <a:endParaRPr lang="en-US" sz="800" dirty="0"/>
          </a:p>
        </p:txBody>
      </p:sp>
      <p:sp>
        <p:nvSpPr>
          <p:cNvPr id="91" name="Shape 89"/>
          <p:cNvSpPr/>
          <p:nvPr/>
        </p:nvSpPr>
        <p:spPr>
          <a:xfrm>
            <a:off x="4908000" y="989831"/>
            <a:ext cx="1932000" cy="0"/>
          </a:xfrm>
          <a:prstGeom prst="line">
            <a:avLst/>
          </a:prstGeom>
          <a:noFill/>
          <a:ln w="8890">
            <a:solidFill>
              <a:srgbClr val="67067C"/>
            </a:solidFill>
            <a:prstDash val="solid"/>
          </a:ln>
        </p:spPr>
      </p:sp>
      <p:sp>
        <p:nvSpPr>
          <p:cNvPr id="92" name="Text 90"/>
          <p:cNvSpPr/>
          <p:nvPr/>
        </p:nvSpPr>
        <p:spPr>
          <a:xfrm>
            <a:off x="4908000" y="10186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1781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3377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4972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16568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181635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19758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9" name="Text 97"/>
          <p:cNvSpPr/>
          <p:nvPr/>
        </p:nvSpPr>
        <p:spPr>
          <a:xfrm>
            <a:off x="4908000" y="21354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00" name="Text 98"/>
          <p:cNvSpPr/>
          <p:nvPr/>
        </p:nvSpPr>
        <p:spPr>
          <a:xfrm>
            <a:off x="4908000" y="2438981"/>
            <a:ext cx="1932000" cy="178743"/>
          </a:xfrm>
          <a:prstGeom prst="rect">
            <a:avLst/>
          </a:prstGeom>
          <a:noFill/>
          <a:ln/>
        </p:spPr>
        <p:txBody>
          <a:bodyPr wrap="square" lIns="0" tIns="0" rIns="0" bIns="0" rtlCol="0" anchor="ctr"/>
          <a:lstStyle/>
          <a:p>
            <a:pPr indent="0" marL="0">
              <a:buNone/>
            </a:pPr>
            <a:r>
              <a:rPr lang="en-US" sz="800" b="1" spc="30" kern="0" dirty="0">
                <a:solidFill>
                  <a:srgbClr val="3C5B47"/>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JUS DE CÉPAGES</a:t>
            </a:r>
            <a:endParaRPr lang="en-US" sz="800" dirty="0"/>
          </a:p>
        </p:txBody>
      </p:sp>
      <p:sp>
        <p:nvSpPr>
          <p:cNvPr id="101" name="Shape 99"/>
          <p:cNvSpPr/>
          <p:nvPr/>
        </p:nvSpPr>
        <p:spPr>
          <a:xfrm>
            <a:off x="4908000" y="2744813"/>
            <a:ext cx="1932000" cy="0"/>
          </a:xfrm>
          <a:prstGeom prst="line">
            <a:avLst/>
          </a:prstGeom>
          <a:noFill/>
          <a:ln w="8890">
            <a:solidFill>
              <a:srgbClr val="67067C"/>
            </a:solidFill>
            <a:prstDash val="solid"/>
          </a:ln>
        </p:spPr>
      </p:sp>
      <p:sp>
        <p:nvSpPr>
          <p:cNvPr id="102" name="Text 100"/>
          <p:cNvSpPr/>
          <p:nvPr/>
        </p:nvSpPr>
        <p:spPr>
          <a:xfrm>
            <a:off x="4908000" y="277361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31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927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2522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4117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5713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8" name="Text 106"/>
          <p:cNvSpPr/>
          <p:nvPr/>
        </p:nvSpPr>
        <p:spPr>
          <a:xfrm>
            <a:off x="4908000" y="37308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9" name="Text 107"/>
          <p:cNvSpPr/>
          <p:nvPr/>
        </p:nvSpPr>
        <p:spPr>
          <a:xfrm>
            <a:off x="4908000" y="38904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10" name="Text 108"/>
          <p:cNvSpPr/>
          <p:nvPr/>
        </p:nvSpPr>
        <p:spPr>
          <a:xfrm>
            <a:off x="4908000" y="4193963"/>
            <a:ext cx="1932000" cy="178743"/>
          </a:xfrm>
          <a:prstGeom prst="rect">
            <a:avLst/>
          </a:prstGeom>
          <a:noFill/>
          <a:ln/>
        </p:spPr>
        <p:txBody>
          <a:bodyPr wrap="square" lIns="0" tIns="0" rIns="0" bIns="0" rtlCol="0" anchor="ctr"/>
          <a:lstStyle/>
          <a:p>
            <a:pPr indent="0" marL="0">
              <a:buNone/>
            </a:pPr>
            <a:r>
              <a:rPr lang="en-US" sz="800" b="1" spc="30" kern="0" dirty="0">
                <a:solidFill>
                  <a:srgbClr val="D08C3C"/>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BIÈRE</a:t>
            </a:r>
            <a:endParaRPr lang="en-US" sz="800" dirty="0"/>
          </a:p>
        </p:txBody>
      </p:sp>
      <p:sp>
        <p:nvSpPr>
          <p:cNvPr id="111" name="Shape 109"/>
          <p:cNvSpPr/>
          <p:nvPr/>
        </p:nvSpPr>
        <p:spPr>
          <a:xfrm>
            <a:off x="4908000" y="4499794"/>
            <a:ext cx="1932000" cy="0"/>
          </a:xfrm>
          <a:prstGeom prst="line">
            <a:avLst/>
          </a:prstGeom>
          <a:noFill/>
          <a:ln w="8890">
            <a:solidFill>
              <a:srgbClr val="67067C"/>
            </a:solidFill>
            <a:prstDash val="solid"/>
          </a:ln>
        </p:spPr>
      </p:sp>
      <p:sp>
        <p:nvSpPr>
          <p:cNvPr id="112" name="Text 110"/>
          <p:cNvSpPr/>
          <p:nvPr/>
        </p:nvSpPr>
        <p:spPr>
          <a:xfrm>
            <a:off x="4908000" y="452859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3" name="Text 111"/>
          <p:cNvSpPr/>
          <p:nvPr/>
        </p:nvSpPr>
        <p:spPr>
          <a:xfrm>
            <a:off x="4908000" y="468813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48476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151225"/>
            <a:ext cx="1932000" cy="178743"/>
          </a:xfrm>
          <a:prstGeom prst="rect">
            <a:avLst/>
          </a:prstGeom>
          <a:noFill/>
          <a:ln/>
        </p:spPr>
        <p:txBody>
          <a:bodyPr wrap="square" lIns="0" tIns="0" rIns="0" bIns="0" rtlCol="0" anchor="ctr"/>
          <a:lstStyle/>
          <a:p>
            <a:pPr indent="0" marL="0">
              <a:buNone/>
            </a:pPr>
            <a:r>
              <a:rPr lang="en-US" sz="800" b="1" spc="30" kern="0" dirty="0">
                <a:solidFill>
                  <a:srgbClr val="8A6230"/>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SPIRITUEUX</a:t>
            </a:r>
            <a:endParaRPr lang="en-US" sz="800" dirty="0"/>
          </a:p>
        </p:txBody>
      </p:sp>
      <p:sp>
        <p:nvSpPr>
          <p:cNvPr id="116" name="Shape 114"/>
          <p:cNvSpPr/>
          <p:nvPr/>
        </p:nvSpPr>
        <p:spPr>
          <a:xfrm>
            <a:off x="4908000" y="5457056"/>
            <a:ext cx="1932000" cy="0"/>
          </a:xfrm>
          <a:prstGeom prst="line">
            <a:avLst/>
          </a:prstGeom>
          <a:noFill/>
          <a:ln w="8890">
            <a:solidFill>
              <a:srgbClr val="67067C"/>
            </a:solidFill>
            <a:prstDash val="solid"/>
          </a:ln>
        </p:spPr>
      </p:sp>
      <p:sp>
        <p:nvSpPr>
          <p:cNvPr id="117" name="Text 115"/>
          <p:cNvSpPr/>
          <p:nvPr/>
        </p:nvSpPr>
        <p:spPr>
          <a:xfrm>
            <a:off x="4908000" y="548585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5645400"/>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5804944"/>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20" name="Text 118"/>
          <p:cNvSpPr/>
          <p:nvPr/>
        </p:nvSpPr>
        <p:spPr>
          <a:xfrm>
            <a:off x="4908000" y="5964488"/>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612403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2" name="Text 120"/>
          <p:cNvSpPr/>
          <p:nvPr/>
        </p:nvSpPr>
        <p:spPr>
          <a:xfrm>
            <a:off x="4908000" y="628357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3" name="Text 121"/>
          <p:cNvSpPr/>
          <p:nvPr/>
        </p:nvSpPr>
        <p:spPr>
          <a:xfrm>
            <a:off x="4908000" y="644311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908000" y="6602663"/>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5" name="Text 123"/>
          <p:cNvSpPr/>
          <p:nvPr/>
        </p:nvSpPr>
        <p:spPr>
          <a:xfrm>
            <a:off x="4908000" y="6762206"/>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6" name="Text 124"/>
          <p:cNvSpPr/>
          <p:nvPr/>
        </p:nvSpPr>
        <p:spPr>
          <a:xfrm>
            <a:off x="4908000" y="7065750"/>
            <a:ext cx="1932000" cy="178743"/>
          </a:xfrm>
          <a:prstGeom prst="rect">
            <a:avLst/>
          </a:prstGeom>
          <a:noFill/>
          <a:ln/>
        </p:spPr>
        <p:txBody>
          <a:bodyPr wrap="square" lIns="0" tIns="0" rIns="0" bIns="0" rtlCol="0" anchor="ctr"/>
          <a:lstStyle/>
          <a:p>
            <a:pPr indent="0" marL="0">
              <a:buNone/>
            </a:pPr>
            <a:r>
              <a:rPr lang="en-US" sz="800" b="1" spc="30" kern="0" dirty="0">
                <a:solidFill>
                  <a:srgbClr val="46606E"/>
                </a:solidFill>
                <a:latin typeface="IBM Plex Sans" pitchFamily="34" charset="0"/>
                <a:ea typeface="IBM Plex Sans" pitchFamily="34" charset="-122"/>
                <a:cs typeface="IBM Plex Sans" pitchFamily="34" charset="-120"/>
              </a:rPr>
              <a:t>●</a:t>
            </a:r>
            <a:r>
              <a:rPr lang="en-US" sz="800" b="1" spc="30" kern="0" dirty="0">
                <a:solidFill>
                  <a:srgbClr val="67067C"/>
                </a:solidFill>
                <a:latin typeface="IBM Plex Sans" pitchFamily="34" charset="0"/>
                <a:ea typeface="IBM Plex Sans" pitchFamily="34" charset="-122"/>
                <a:cs typeface="IBM Plex Sans" pitchFamily="34" charset="-120"/>
              </a:rPr>
              <a:t> AUTRE</a:t>
            </a:r>
            <a:endParaRPr lang="en-US" sz="800" dirty="0"/>
          </a:p>
        </p:txBody>
      </p:sp>
      <p:sp>
        <p:nvSpPr>
          <p:cNvPr id="127" name="Shape 125"/>
          <p:cNvSpPr/>
          <p:nvPr/>
        </p:nvSpPr>
        <p:spPr>
          <a:xfrm>
            <a:off x="4908000" y="7371581"/>
            <a:ext cx="1932000" cy="0"/>
          </a:xfrm>
          <a:prstGeom prst="line">
            <a:avLst/>
          </a:prstGeom>
          <a:noFill/>
          <a:ln w="8890">
            <a:solidFill>
              <a:srgbClr val="67067C"/>
            </a:solidFill>
            <a:prstDash val="solid"/>
          </a:ln>
        </p:spPr>
      </p:sp>
      <p:sp>
        <p:nvSpPr>
          <p:cNvPr id="128" name="Text 126"/>
          <p:cNvSpPr/>
          <p:nvPr/>
        </p:nvSpPr>
        <p:spPr>
          <a:xfrm>
            <a:off x="4908000" y="7400381"/>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9" name="Text 127"/>
          <p:cNvSpPr/>
          <p:nvPr/>
        </p:nvSpPr>
        <p:spPr>
          <a:xfrm>
            <a:off x="4908000" y="7559925"/>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30" name="Text 128"/>
          <p:cNvSpPr/>
          <p:nvPr/>
        </p:nvSpPr>
        <p:spPr>
          <a:xfrm>
            <a:off x="4908000" y="7719469"/>
            <a:ext cx="1932000" cy="159544"/>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31" name="Text 129"/>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32" name="Text 130"/>
          <p:cNvSpPr/>
          <p:nvPr/>
        </p:nvSpPr>
        <p:spPr>
          <a:xfrm>
            <a:off x="828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476000"/>
            <a:ext cx="1656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656000"/>
            <a:ext cx="1656000" cy="324000"/>
          </a:xfrm>
          <a:prstGeom prst="rect">
            <a:avLst/>
          </a:prstGeom>
          <a:noFill/>
          <a:ln/>
        </p:spPr>
        <p:txBody>
          <a:bodyPr wrap="square" lIns="0" tIns="0" rIns="0" bIns="0" rtlCol="0" anchor="ctr"/>
          <a:lstStyle/>
          <a:p>
            <a:pPr indent="0" marL="0">
              <a:buNone/>
            </a:pPr>
            <a:r>
              <a:rPr lang="en-US" sz="1500" dirty="0">
                <a:solidFill>
                  <a:srgbClr val="67067C"/>
                </a:solidFill>
                <a:latin typeface="Young Serif" pitchFamily="34" charset="0"/>
                <a:ea typeface="Young Serif" pitchFamily="34" charset="-122"/>
                <a:cs typeface="Young Serif" pitchFamily="34" charset="-120"/>
              </a:rPr>
              <a:t>06 80 88 07 55</a:t>
            </a:r>
            <a:endParaRPr lang="en-US" sz="1500" dirty="0"/>
          </a:p>
        </p:txBody>
      </p:sp>
      <p:sp>
        <p:nvSpPr>
          <p:cNvPr id="5" name="Text 2"/>
          <p:cNvSpPr/>
          <p:nvPr/>
        </p:nvSpPr>
        <p:spPr>
          <a:xfrm>
            <a:off x="2610000" y="1476000"/>
            <a:ext cx="1656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610000" y="1656000"/>
            <a:ext cx="1656000" cy="324000"/>
          </a:xfrm>
          <a:prstGeom prst="rect">
            <a:avLst/>
          </a:prstGeom>
          <a:noFill/>
          <a:ln/>
        </p:spPr>
        <p:txBody>
          <a:bodyPr wrap="square" lIns="0" tIns="0" rIns="0" bIns="0" rtlCol="0" anchor="ctr"/>
          <a:lstStyle/>
          <a:p>
            <a:pPr indent="0" marL="0">
              <a:buNone/>
            </a:pPr>
            <a:r>
              <a:rPr lang="en-US" sz="1500" dirty="0">
                <a:solidFill>
                  <a:srgbClr val="67067C"/>
                </a:solidFill>
                <a:latin typeface="Young Serif" pitchFamily="34" charset="0"/>
                <a:ea typeface="Young Serif" pitchFamily="34" charset="-122"/>
                <a:cs typeface="Young Serif" pitchFamily="34" charset="-120"/>
              </a:rPr>
              <a:t>06 49 19 16 75</a:t>
            </a:r>
            <a:endParaRPr lang="en-US" sz="1500" dirty="0"/>
          </a:p>
        </p:txBody>
      </p:sp>
      <p:sp>
        <p:nvSpPr>
          <p:cNvPr id="7" name="Text 4"/>
          <p:cNvSpPr/>
          <p:nvPr/>
        </p:nvSpPr>
        <p:spPr>
          <a:xfrm>
            <a:off x="828000" y="210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3628800"/>
            <a:ext cx="6120000" cy="1231200"/>
          </a:xfrm>
          <a:prstGeom prst="rect">
            <a:avLst/>
          </a:prstGeom>
        </p:spPr>
      </p:pic>
      <p:sp>
        <p:nvSpPr>
          <p:cNvPr id="9" name="Shape 5"/>
          <p:cNvSpPr/>
          <p:nvPr/>
        </p:nvSpPr>
        <p:spPr>
          <a:xfrm>
            <a:off x="828000" y="5068800"/>
            <a:ext cx="6120000" cy="0"/>
          </a:xfrm>
          <a:prstGeom prst="line">
            <a:avLst/>
          </a:prstGeom>
          <a:noFill/>
          <a:ln w="10160">
            <a:solidFill>
              <a:srgbClr val="67067C"/>
            </a:solidFill>
            <a:prstDash val="solid"/>
          </a:ln>
        </p:spPr>
      </p:sp>
      <p:sp>
        <p:nvSpPr>
          <p:cNvPr id="10" name="Text 6"/>
          <p:cNvSpPr/>
          <p:nvPr/>
        </p:nvSpPr>
        <p:spPr>
          <a:xfrm>
            <a:off x="828000" y="5230800"/>
            <a:ext cx="1872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464800"/>
            <a:ext cx="1872000" cy="3024000"/>
          </a:xfrm>
          <a:prstGeom prst="rect">
            <a:avLst/>
          </a:prstGeom>
          <a:noFill/>
          <a:ln/>
        </p:spPr>
        <p:txBody>
          <a:bodyPr wrap="square" lIns="0" tIns="0" rIns="0" bIns="0" rtlCol="0" anchor="t"/>
          <a:lstStyle/>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952000" y="5230800"/>
            <a:ext cx="1872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952000" y="5464800"/>
            <a:ext cx="1872000" cy="3024000"/>
          </a:xfrm>
          <a:prstGeom prst="rect">
            <a:avLst/>
          </a:prstGeom>
          <a:noFill/>
          <a:ln/>
        </p:spPr>
        <p:txBody>
          <a:bodyPr wrap="square" lIns="0" tIns="0" rIns="0" bIns="0" rtlCol="0" anchor="t"/>
          <a:lstStyle/>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5076000" y="5230800"/>
            <a:ext cx="1872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5076000" y="5464800"/>
            <a:ext cx="1872000" cy="3024000"/>
          </a:xfrm>
          <a:prstGeom prst="rect">
            <a:avLst/>
          </a:prstGeom>
          <a:noFill/>
          <a:ln/>
        </p:spPr>
        <p:txBody>
          <a:bodyPr wrap="square" lIns="0" tIns="0" rIns="0" bIns="0" rtlCol="0" anchor="t"/>
          <a:lstStyle/>
          <a:p>
            <a:pPr indent="0" marL="0">
              <a:lnSpc>
                <a:spcPct val="95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 Benoît Prieur (CC0).</a:t>
            </a:r>
            <a:endParaRPr lang="en-US" sz="780" dirty="0"/>
          </a:p>
        </p:txBody>
      </p:sp>
      <p:sp>
        <p:nvSpPr>
          <p:cNvPr id="16" name="Shape 12"/>
          <p:cNvSpPr/>
          <p:nvPr/>
        </p:nvSpPr>
        <p:spPr>
          <a:xfrm>
            <a:off x="828000" y="85356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5356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
        <p:nvSpPr>
          <p:cNvPr id="18" name="Text 14"/>
          <p:cNvSpPr/>
          <p:nvPr/>
        </p:nvSpPr>
        <p:spPr>
          <a:xfrm>
            <a:off x="6408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2026-10-09T09:43:34Z</dcterms:created>
  <dcterms:modified xsi:type="dcterms:W3CDTF">2026-10-09T09:43:34Z</dcterms:modified>
</cp:coreProperties>
</file>