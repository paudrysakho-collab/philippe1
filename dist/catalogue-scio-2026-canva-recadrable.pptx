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Lst>
  <p:notesMasterIdLst>
    <p:notesMasterId r:id="rId74"/>
  </p:notesMasterIdLst>
  <p:sldSz cx="7560000" cy="9360000"/>
  <p:notesSz cx="9360000" cy="7560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notesMaster" Target="notesMasters/notesMaster1.xml"/><Relationship Id="rId75" Type="http://schemas.openxmlformats.org/officeDocument/2006/relationships/presProps" Target="presProps.xml"/><Relationship Id="rId76" Type="http://schemas.openxmlformats.org/officeDocument/2006/relationships/viewProps" Target="viewProps.xml"/><Relationship Id="rId77" Type="http://schemas.openxmlformats.org/officeDocument/2006/relationships/theme" Target="theme/theme1.xml"/><Relationship Id="rId7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3.png"/><Relationship Id="rId5" Type="http://schemas.openxmlformats.org/officeDocument/2006/relationships/image" Target="../media/image-3-5.png"/><Relationship Id="rId6" Type="http://schemas.openxmlformats.org/officeDocument/2006/relationships/image" Target="../media/image-3-5.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slideLayout" Target="../slideLayouts/slideLayout1.xml"/><Relationship Id="rId10"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jp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jp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jp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jp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jp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1.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jp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1.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jpg"/><Relationship Id="rId3" Type="http://schemas.openxmlformats.org/officeDocument/2006/relationships/image" Target="../media/image-13-3.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slideLayout" Target="../slideLayouts/slideLayout1.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1.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jpg"/><Relationship Id="rId4" Type="http://schemas.openxmlformats.org/officeDocument/2006/relationships/image" Target="../media/image-18-4.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slideLayout" Target="../slideLayouts/slideLayout1.xml"/><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1.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jp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slideLayout" Target="../slideLayouts/slideLayout1.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slideLayout" Target="../slideLayouts/slideLayout1.xml"/><Relationship Id="rId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slideLayout" Target="../slideLayouts/slideLayout1.xml"/><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jp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slideLayout" Target="../slideLayouts/slideLayout1.xml"/><Relationship Id="rId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slideLayout" Target="../slideLayouts/slideLayout1.xml"/><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jp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slideLayout" Target="../slideLayouts/slideLayout1.xml"/><Relationship Id="rId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slideLayout" Target="../slideLayouts/slideLayout1.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image" Target="../media/image-29-5.png"/><Relationship Id="rId6" Type="http://schemas.openxmlformats.org/officeDocument/2006/relationships/slideLayout" Target="../slideLayouts/slideLayout1.xml"/><Relationship Id="rId7"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jpg"/><Relationship Id="rId4" Type="http://schemas.openxmlformats.org/officeDocument/2006/relationships/image" Target="../media/image-30-4.png"/><Relationship Id="rId5" Type="http://schemas.openxmlformats.org/officeDocument/2006/relationships/slideLayout" Target="../slideLayouts/slideLayout1.xml"/><Relationship Id="rId6"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slideLayout" Target="../slideLayouts/slideLayout1.xml"/><Relationship Id="rId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jpg"/><Relationship Id="rId4" Type="http://schemas.openxmlformats.org/officeDocument/2006/relationships/image" Target="../media/image-32-4.png"/><Relationship Id="rId5" Type="http://schemas.openxmlformats.org/officeDocument/2006/relationships/image" Target="../media/image-32-5.png"/><Relationship Id="rId6" Type="http://schemas.openxmlformats.org/officeDocument/2006/relationships/slideLayout" Target="../slideLayouts/slideLayout1.xml"/><Relationship Id="rId7"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image" Target="../media/image-33-3.jpg"/><Relationship Id="rId4" Type="http://schemas.openxmlformats.org/officeDocument/2006/relationships/image" Target="../media/image-33-4.png"/><Relationship Id="rId5" Type="http://schemas.openxmlformats.org/officeDocument/2006/relationships/image" Target="../media/image-33-5.png"/><Relationship Id="rId6" Type="http://schemas.openxmlformats.org/officeDocument/2006/relationships/slideLayout" Target="../slideLayouts/slideLayout1.xml"/><Relationship Id="rId7"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png"/><Relationship Id="rId4" Type="http://schemas.openxmlformats.org/officeDocument/2006/relationships/image" Target="../media/image-34-4.png"/><Relationship Id="rId5" Type="http://schemas.openxmlformats.org/officeDocument/2006/relationships/image" Target="../media/image-34-5.png"/><Relationship Id="rId6" Type="http://schemas.openxmlformats.org/officeDocument/2006/relationships/slideLayout" Target="../slideLayouts/slideLayout1.xml"/><Relationship Id="rId7"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slideLayout" Target="../slideLayouts/slideLayout1.xml"/><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image" Target="../media/image-36-3.png"/><Relationship Id="rId4" Type="http://schemas.openxmlformats.org/officeDocument/2006/relationships/image" Target="../media/image-36-4.png"/><Relationship Id="rId5" Type="http://schemas.openxmlformats.org/officeDocument/2006/relationships/image" Target="../media/image-36-5.png"/><Relationship Id="rId6" Type="http://schemas.openxmlformats.org/officeDocument/2006/relationships/slideLayout" Target="../slideLayouts/slideLayout1.xml"/><Relationship Id="rId7"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image" Target="../media/image-37-3.png"/><Relationship Id="rId4" Type="http://schemas.openxmlformats.org/officeDocument/2006/relationships/image" Target="../media/image-37-4.png"/><Relationship Id="rId5" Type="http://schemas.openxmlformats.org/officeDocument/2006/relationships/slideLayout" Target="../slideLayouts/slideLayout1.xml"/><Relationship Id="rId6"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slideLayout" Target="../slideLayouts/slideLayout1.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image" Target="../media/image-39-3.png"/><Relationship Id="rId4" Type="http://schemas.openxmlformats.org/officeDocument/2006/relationships/image" Target="../media/image-39-4.jpg"/><Relationship Id="rId5" Type="http://schemas.openxmlformats.org/officeDocument/2006/relationships/image" Target="../media/image-39-5.png"/><Relationship Id="rId6" Type="http://schemas.openxmlformats.org/officeDocument/2006/relationships/image" Target="../media/image-39-6.png"/><Relationship Id="rId7" Type="http://schemas.openxmlformats.org/officeDocument/2006/relationships/slideLayout" Target="../slideLayouts/slideLayout1.xml"/><Relationship Id="rId8"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image" Target="../media/image-40-3.png"/><Relationship Id="rId4" Type="http://schemas.openxmlformats.org/officeDocument/2006/relationships/image" Target="../media/image-40-4.png"/><Relationship Id="rId5" Type="http://schemas.openxmlformats.org/officeDocument/2006/relationships/slideLayout" Target="../slideLayouts/slideLayout1.xml"/><Relationship Id="rId6"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slideLayout" Target="../slideLayouts/slideLayout1.xml"/><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image" Target="../media/image-42-2.png"/><Relationship Id="rId3" Type="http://schemas.openxmlformats.org/officeDocument/2006/relationships/image" Target="../media/image-42-3.jpg"/><Relationship Id="rId4" Type="http://schemas.openxmlformats.org/officeDocument/2006/relationships/image" Target="../media/image-42-4.png"/><Relationship Id="rId5" Type="http://schemas.openxmlformats.org/officeDocument/2006/relationships/image" Target="../media/image-42-5.png"/><Relationship Id="rId6" Type="http://schemas.openxmlformats.org/officeDocument/2006/relationships/slideLayout" Target="../slideLayouts/slideLayout1.xml"/><Relationship Id="rId7"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image" Target="../media/image-43-3.png"/><Relationship Id="rId4" Type="http://schemas.openxmlformats.org/officeDocument/2006/relationships/slideLayout" Target="../slideLayouts/slideLayout1.xml"/><Relationship Id="rId5"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image" Target="../media/image-44-3.png"/><Relationship Id="rId4" Type="http://schemas.openxmlformats.org/officeDocument/2006/relationships/slideLayout" Target="../slideLayouts/slideLayout1.xml"/><Relationship Id="rId5"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image" Target="../media/image-45-2.png"/><Relationship Id="rId3" Type="http://schemas.openxmlformats.org/officeDocument/2006/relationships/image" Target="../media/image-45-3.jpg"/><Relationship Id="rId4" Type="http://schemas.openxmlformats.org/officeDocument/2006/relationships/image" Target="../media/image-45-4.png"/><Relationship Id="rId5" Type="http://schemas.openxmlformats.org/officeDocument/2006/relationships/image" Target="../media/image-45-5.png"/><Relationship Id="rId6" Type="http://schemas.openxmlformats.org/officeDocument/2006/relationships/slideLayout" Target="../slideLayouts/slideLayout1.xml"/><Relationship Id="rId7"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image" Target="../media/image-46-2.png"/><Relationship Id="rId3" Type="http://schemas.openxmlformats.org/officeDocument/2006/relationships/image" Target="../media/image-46-3.png"/><Relationship Id="rId4" Type="http://schemas.openxmlformats.org/officeDocument/2006/relationships/slideLayout" Target="../slideLayouts/slideLayout1.xml"/><Relationship Id="rId5"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image" Target="../media/image-47-2.png"/><Relationship Id="rId3" Type="http://schemas.openxmlformats.org/officeDocument/2006/relationships/image" Target="../media/image-47-3.png"/><Relationship Id="rId4" Type="http://schemas.openxmlformats.org/officeDocument/2006/relationships/image" Target="../media/image-47-4.png"/><Relationship Id="rId5" Type="http://schemas.openxmlformats.org/officeDocument/2006/relationships/image" Target="../media/image-47-5.png"/><Relationship Id="rId6" Type="http://schemas.openxmlformats.org/officeDocument/2006/relationships/slideLayout" Target="../slideLayouts/slideLayout1.xml"/><Relationship Id="rId7"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image" Target="../media/image-48-2.png"/><Relationship Id="rId3" Type="http://schemas.openxmlformats.org/officeDocument/2006/relationships/image" Target="../media/image-48-3.jpg"/><Relationship Id="rId4" Type="http://schemas.openxmlformats.org/officeDocument/2006/relationships/image" Target="../media/image-48-4.png"/><Relationship Id="rId5" Type="http://schemas.openxmlformats.org/officeDocument/2006/relationships/image" Target="../media/image-48-5.png"/><Relationship Id="rId6" Type="http://schemas.openxmlformats.org/officeDocument/2006/relationships/slideLayout" Target="../slideLayouts/slideLayout1.xml"/><Relationship Id="rId7"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image" Target="../media/image-49-2.png"/><Relationship Id="rId3" Type="http://schemas.openxmlformats.org/officeDocument/2006/relationships/image" Target="../media/image-49-3.jpg"/><Relationship Id="rId4" Type="http://schemas.openxmlformats.org/officeDocument/2006/relationships/image" Target="../media/image-49-4.png"/><Relationship Id="rId5" Type="http://schemas.openxmlformats.org/officeDocument/2006/relationships/image" Target="../media/image-49-5.png"/><Relationship Id="rId6" Type="http://schemas.openxmlformats.org/officeDocument/2006/relationships/slideLayout" Target="../slideLayouts/slideLayout1.xml"/><Relationship Id="rId7"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image" Target="../media/image-50-2.png"/><Relationship Id="rId3" Type="http://schemas.openxmlformats.org/officeDocument/2006/relationships/image" Target="../media/image-50-3.png"/><Relationship Id="rId4" Type="http://schemas.openxmlformats.org/officeDocument/2006/relationships/image" Target="../media/image-50-4.png"/><Relationship Id="rId5" Type="http://schemas.openxmlformats.org/officeDocument/2006/relationships/slideLayout" Target="../slideLayouts/slideLayout1.xml"/><Relationship Id="rId6"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image" Target="../media/image-51-2.png"/><Relationship Id="rId3" Type="http://schemas.openxmlformats.org/officeDocument/2006/relationships/slideLayout" Target="../slideLayouts/slideLayout1.xml"/><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image" Target="../media/image-52-2.png"/><Relationship Id="rId3" Type="http://schemas.openxmlformats.org/officeDocument/2006/relationships/image" Target="../media/image-52-3.jpg"/><Relationship Id="rId4" Type="http://schemas.openxmlformats.org/officeDocument/2006/relationships/image" Target="../media/image-52-4.png"/><Relationship Id="rId5" Type="http://schemas.openxmlformats.org/officeDocument/2006/relationships/slideLayout" Target="../slideLayouts/slideLayout1.xml"/><Relationship Id="rId6"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image" Target="../media/image-53-2.png"/><Relationship Id="rId3" Type="http://schemas.openxmlformats.org/officeDocument/2006/relationships/slideLayout" Target="../slideLayouts/slideLayout1.xml"/><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image" Target="../media/image-54-2.png"/><Relationship Id="rId3" Type="http://schemas.openxmlformats.org/officeDocument/2006/relationships/image" Target="../media/image-54-3.png"/><Relationship Id="rId4" Type="http://schemas.openxmlformats.org/officeDocument/2006/relationships/image" Target="../media/image-54-4.png"/><Relationship Id="rId5" Type="http://schemas.openxmlformats.org/officeDocument/2006/relationships/slideLayout" Target="../slideLayouts/slideLayout1.xml"/><Relationship Id="rId6"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image" Target="../media/image-55-2.png"/><Relationship Id="rId3" Type="http://schemas.openxmlformats.org/officeDocument/2006/relationships/slideLayout" Target="../slideLayouts/slideLayout1.xml"/><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image" Target="../media/image-56-2.png"/><Relationship Id="rId3" Type="http://schemas.openxmlformats.org/officeDocument/2006/relationships/image" Target="../media/image-56-3.jpg"/><Relationship Id="rId4" Type="http://schemas.openxmlformats.org/officeDocument/2006/relationships/image" Target="../media/image-56-4.png"/><Relationship Id="rId5" Type="http://schemas.openxmlformats.org/officeDocument/2006/relationships/slideLayout" Target="../slideLayouts/slideLayout1.xml"/><Relationship Id="rId6"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image" Target="../media/image-57-2.png"/><Relationship Id="rId3" Type="http://schemas.openxmlformats.org/officeDocument/2006/relationships/image" Target="../media/image-57-3.jpg"/><Relationship Id="rId4" Type="http://schemas.openxmlformats.org/officeDocument/2006/relationships/image" Target="../media/image-57-4.png"/><Relationship Id="rId5" Type="http://schemas.openxmlformats.org/officeDocument/2006/relationships/slideLayout" Target="../slideLayouts/slideLayout1.xml"/><Relationship Id="rId6"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image" Target="../media/image-58-2.png"/><Relationship Id="rId3" Type="http://schemas.openxmlformats.org/officeDocument/2006/relationships/image" Target="../media/image-58-3.png"/><Relationship Id="rId4" Type="http://schemas.openxmlformats.org/officeDocument/2006/relationships/image" Target="../media/image-58-4.png"/><Relationship Id="rId5" Type="http://schemas.openxmlformats.org/officeDocument/2006/relationships/image" Target="../media/image-58-5.png"/><Relationship Id="rId6" Type="http://schemas.openxmlformats.org/officeDocument/2006/relationships/slideLayout" Target="../slideLayouts/slideLayout1.xml"/><Relationship Id="rId7"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image" Target="../media/image-59-2.png"/><Relationship Id="rId3" Type="http://schemas.openxmlformats.org/officeDocument/2006/relationships/image" Target="../media/image-59-3.jpg"/><Relationship Id="rId4" Type="http://schemas.openxmlformats.org/officeDocument/2006/relationships/image" Target="../media/image-59-4.png"/><Relationship Id="rId5" Type="http://schemas.openxmlformats.org/officeDocument/2006/relationships/image" Target="../media/image-59-5.png"/><Relationship Id="rId6" Type="http://schemas.openxmlformats.org/officeDocument/2006/relationships/slideLayout" Target="../slideLayouts/slideLayout1.xml"/><Relationship Id="rId7"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image" Target="../media/image-60-2.png"/><Relationship Id="rId3" Type="http://schemas.openxmlformats.org/officeDocument/2006/relationships/image" Target="../media/image-60-3.png"/><Relationship Id="rId4" Type="http://schemas.openxmlformats.org/officeDocument/2006/relationships/slideLayout" Target="../slideLayouts/slideLayout1.xml"/><Relationship Id="rId5"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image" Target="../media/image-61-2.png"/><Relationship Id="rId3" Type="http://schemas.openxmlformats.org/officeDocument/2006/relationships/slideLayout" Target="../slideLayouts/slideLayout1.xml"/><Relationship Id="rId4"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image" Target="../media/image-62-2.png"/><Relationship Id="rId3" Type="http://schemas.openxmlformats.org/officeDocument/2006/relationships/image" Target="../media/image-62-3.png"/><Relationship Id="rId4" Type="http://schemas.openxmlformats.org/officeDocument/2006/relationships/image" Target="../media/image-62-4.png"/><Relationship Id="rId5" Type="http://schemas.openxmlformats.org/officeDocument/2006/relationships/image" Target="../media/image-62-5.png"/><Relationship Id="rId6" Type="http://schemas.openxmlformats.org/officeDocument/2006/relationships/slideLayout" Target="../slideLayouts/slideLayout1.xml"/><Relationship Id="rId7"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image" Target="../media/image-63-2.png"/><Relationship Id="rId3" Type="http://schemas.openxmlformats.org/officeDocument/2006/relationships/image" Target="../media/image-63-3.jpg"/><Relationship Id="rId4" Type="http://schemas.openxmlformats.org/officeDocument/2006/relationships/image" Target="../media/image-63-4.png"/><Relationship Id="rId5" Type="http://schemas.openxmlformats.org/officeDocument/2006/relationships/image" Target="../media/image-63-5.png"/><Relationship Id="rId6" Type="http://schemas.openxmlformats.org/officeDocument/2006/relationships/slideLayout" Target="../slideLayouts/slideLayout1.xml"/><Relationship Id="rId7"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image" Target="../media/image-64-2.png"/><Relationship Id="rId3" Type="http://schemas.openxmlformats.org/officeDocument/2006/relationships/image" Target="../media/image-64-3.png"/><Relationship Id="rId4" Type="http://schemas.openxmlformats.org/officeDocument/2006/relationships/slideLayout" Target="../slideLayouts/slideLayout1.xml"/><Relationship Id="rId5"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image" Target="../media/image-65-2.png"/><Relationship Id="rId3" Type="http://schemas.openxmlformats.org/officeDocument/2006/relationships/image" Target="../media/image-65-3.png"/><Relationship Id="rId4" Type="http://schemas.openxmlformats.org/officeDocument/2006/relationships/image" Target="../media/image-65-4.png"/><Relationship Id="rId5" Type="http://schemas.openxmlformats.org/officeDocument/2006/relationships/image" Target="../media/image-65-5.png"/><Relationship Id="rId6" Type="http://schemas.openxmlformats.org/officeDocument/2006/relationships/slideLayout" Target="../slideLayouts/slideLayout1.xml"/><Relationship Id="rId7"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image" Target="../media/image-66-2.png"/><Relationship Id="rId3" Type="http://schemas.openxmlformats.org/officeDocument/2006/relationships/image" Target="../media/image-66-3.jpg"/><Relationship Id="rId4" Type="http://schemas.openxmlformats.org/officeDocument/2006/relationships/image" Target="../media/image-66-4.png"/><Relationship Id="rId5" Type="http://schemas.openxmlformats.org/officeDocument/2006/relationships/image" Target="../media/image-66-5.png"/><Relationship Id="rId6" Type="http://schemas.openxmlformats.org/officeDocument/2006/relationships/slideLayout" Target="../slideLayouts/slideLayout1.xml"/><Relationship Id="rId7"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png"/><Relationship Id="rId2" Type="http://schemas.openxmlformats.org/officeDocument/2006/relationships/image" Target="../media/image-72-2.png"/><Relationship Id="rId3" Type="http://schemas.openxmlformats.org/officeDocument/2006/relationships/slideLayout" Target="../slideLayouts/slideLayout1.xml"/><Relationship Id="rId4" Type="http://schemas.openxmlformats.org/officeDocument/2006/relationships/notesSlide" Target="../notesSlides/notesSlide7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oupe-titree.png">    </p:cNvPr>
          <p:cNvPicPr>
            <a:picLocks noChangeAspect="1"/>
          </p:cNvPicPr>
          <p:nvPr/>
        </p:nvPicPr>
        <p:blipFill>
          <a:blip r:embed="rId1"/>
          <a:stretch>
            <a:fillRect/>
          </a:stretch>
        </p:blipFill>
        <p:spPr>
          <a:xfrm>
            <a:off x="0" y="4032000"/>
            <a:ext cx="7560000" cy="5328000"/>
          </a:xfrm>
          <a:prstGeom prst="rect">
            <a:avLst/>
          </a:prstGeom>
        </p:spPr>
      </p:pic>
      <p:pic>
        <p:nvPicPr>
          <p:cNvPr id="3" name="Image 1" descr="/home/user/philippe1/src/images/logo-agence-scio-detoure.png">    </p:cNvPr>
          <p:cNvPicPr>
            <a:picLocks noChangeAspect="1"/>
          </p:cNvPicPr>
          <p:nvPr/>
        </p:nvPicPr>
        <p:blipFill>
          <a:blip r:embed="rId2"/>
          <a:stretch>
            <a:fillRect/>
          </a:stretch>
        </p:blipFill>
        <p:spPr>
          <a:xfrm>
            <a:off x="612000" y="612000"/>
            <a:ext cx="2232000" cy="543915"/>
          </a:xfrm>
          <a:prstGeom prst="rect">
            <a:avLst/>
          </a:prstGeom>
        </p:spPr>
      </p:pic>
      <p:sp>
        <p:nvSpPr>
          <p:cNvPr id="4" name="Text 0"/>
          <p:cNvSpPr/>
          <p:nvPr/>
        </p:nvSpPr>
        <p:spPr>
          <a:xfrm>
            <a:off x="612000" y="1512000"/>
            <a:ext cx="5400000" cy="1800000"/>
          </a:xfrm>
          <a:prstGeom prst="rect">
            <a:avLst/>
          </a:prstGeom>
          <a:noFill/>
          <a:ln/>
        </p:spPr>
        <p:txBody>
          <a:bodyPr wrap="square" lIns="0" tIns="0" rIns="0" bIns="0" rtlCol="0" anchor="ctr"/>
          <a:lstStyle/>
          <a:p>
            <a:pPr indent="0" marL="0">
              <a:lnSpc>
                <a:spcPct val="92000"/>
              </a:lnSpc>
              <a:buNone/>
            </a:pPr>
            <a:r>
              <a:rPr lang="en-US" sz="4600" dirty="0">
                <a:solidFill>
                  <a:srgbClr val="46606E"/>
                </a:solidFill>
                <a:latin typeface="Young Serif" pitchFamily="34" charset="0"/>
                <a:ea typeface="Young Serif" pitchFamily="34" charset="-122"/>
                <a:cs typeface="Young Serif" pitchFamily="34" charset="-120"/>
              </a:rPr>
              <a:t>Sous</a:t>
            </a:r>
            <a:endParaRPr lang="en-US" sz="4600" dirty="0"/>
          </a:p>
          <a:p>
            <a:pPr indent="0" marL="0">
              <a:lnSpc>
                <a:spcPct val="92000"/>
              </a:lnSpc>
              <a:buNone/>
            </a:pPr>
            <a:r>
              <a:rPr lang="en-US" sz="4600" dirty="0">
                <a:solidFill>
                  <a:srgbClr val="46606E"/>
                </a:solidFill>
                <a:latin typeface="Young Serif" pitchFamily="34" charset="0"/>
                <a:ea typeface="Young Serif" pitchFamily="34" charset="-122"/>
                <a:cs typeface="Young Serif" pitchFamily="34" charset="-120"/>
              </a:rPr>
              <a:t>nos</a:t>
            </a:r>
            <a:endParaRPr lang="en-US" sz="4600" dirty="0"/>
          </a:p>
          <a:p>
            <a:pPr indent="0" marL="0">
              <a:lnSpc>
                <a:spcPct val="92000"/>
              </a:lnSpc>
              <a:buNone/>
            </a:pPr>
            <a:r>
              <a:rPr lang="en-US" sz="4600" dirty="0">
                <a:solidFill>
                  <a:srgbClr val="67067C"/>
                </a:solidFill>
                <a:latin typeface="Young Serif" pitchFamily="34" charset="0"/>
                <a:ea typeface="Young Serif" pitchFamily="34" charset="-122"/>
                <a:cs typeface="Young Serif" pitchFamily="34" charset="-120"/>
              </a:rPr>
              <a:t>pieds</a:t>
            </a:r>
            <a:endParaRPr lang="en-US" sz="4600" dirty="0"/>
          </a:p>
        </p:txBody>
      </p:sp>
      <p:sp>
        <p:nvSpPr>
          <p:cNvPr id="5" name="Text 1"/>
          <p:cNvSpPr/>
          <p:nvPr/>
        </p:nvSpPr>
        <p:spPr>
          <a:xfrm>
            <a:off x="612000" y="3420000"/>
            <a:ext cx="4320000" cy="504000"/>
          </a:xfrm>
          <a:prstGeom prst="rect">
            <a:avLst/>
          </a:prstGeom>
          <a:noFill/>
          <a:ln/>
        </p:spPr>
        <p:txBody>
          <a:bodyPr wrap="square" lIns="0" tIns="0" rIns="0" bIns="0" rtlCol="0" anchor="ctr"/>
          <a:lstStyle/>
          <a:p>
            <a:pPr indent="0" marL="0">
              <a:lnSpc>
                <a:spcPct val="140000"/>
              </a:lnSpc>
              <a:buNone/>
            </a:pPr>
            <a:r>
              <a:rPr lang="en-US" sz="1050" dirty="0">
                <a:solidFill>
                  <a:srgbClr val="46606E"/>
                </a:solidFill>
                <a:latin typeface="Spectral" pitchFamily="34" charset="0"/>
                <a:ea typeface="Spectral" pitchFamily="34" charset="-122"/>
                <a:cs typeface="Spectral" pitchFamily="34" charset="-120"/>
              </a:rPr>
              <a:t>Quarante domaines, dix régions,</a:t>
            </a:r>
            <a:endParaRPr lang="en-US" sz="1050" dirty="0"/>
          </a:p>
          <a:p>
            <a:pPr indent="0" marL="0">
              <a:lnSpc>
                <a:spcPct val="140000"/>
              </a:lnSpc>
              <a:buNone/>
            </a:pPr>
            <a:r>
              <a:rPr lang="en-US" sz="1050" dirty="0">
                <a:solidFill>
                  <a:srgbClr val="46606E"/>
                </a:solidFill>
                <a:latin typeface="Spectral" pitchFamily="34" charset="0"/>
                <a:ea typeface="Spectral" pitchFamily="34" charset="-122"/>
                <a:cs typeface="Spectral" pitchFamily="34" charset="-120"/>
              </a:rPr>
              <a:t>et la terre qu'ils ont sous les pieds.</a:t>
            </a:r>
            <a:endParaRPr lang="en-US" sz="1050" dirty="0"/>
          </a:p>
        </p:txBody>
      </p:sp>
      <p:sp>
        <p:nvSpPr>
          <p:cNvPr id="6" name="Text 2"/>
          <p:cNvSpPr/>
          <p:nvPr/>
        </p:nvSpPr>
        <p:spPr>
          <a:xfrm>
            <a:off x="4068000" y="612000"/>
            <a:ext cx="2880000" cy="180000"/>
          </a:xfrm>
          <a:prstGeom prst="rect">
            <a:avLst/>
          </a:prstGeom>
          <a:noFill/>
          <a:ln/>
        </p:spPr>
        <p:txBody>
          <a:bodyPr wrap="square" lIns="0" tIns="0" rIns="0" bIns="0" rtlCol="0" anchor="ctr"/>
          <a:lstStyle/>
          <a:p>
            <a:pPr algn="r" indent="0" marL="0">
              <a:buNone/>
            </a:pPr>
            <a:r>
              <a:rPr lang="en-US" sz="900" b="1" spc="30" kern="0" dirty="0">
                <a:solidFill>
                  <a:srgbClr val="46606E"/>
                </a:solidFill>
                <a:latin typeface="IBM Plex Sans" pitchFamily="34" charset="0"/>
                <a:ea typeface="IBM Plex Sans" pitchFamily="34" charset="-122"/>
                <a:cs typeface="IBM Plex Sans" pitchFamily="34" charset="-120"/>
              </a:rPr>
              <a:t>TARIFS CAVISTES VENDÉE (85)</a:t>
            </a:r>
            <a:endParaRPr lang="en-US" sz="900" dirty="0"/>
          </a:p>
        </p:txBody>
      </p:sp>
      <p:sp>
        <p:nvSpPr>
          <p:cNvPr id="7" name="Text 3"/>
          <p:cNvSpPr/>
          <p:nvPr/>
        </p:nvSpPr>
        <p:spPr>
          <a:xfrm>
            <a:off x="4788000" y="810000"/>
            <a:ext cx="2160000" cy="468000"/>
          </a:xfrm>
          <a:prstGeom prst="rect">
            <a:avLst/>
          </a:prstGeom>
          <a:noFill/>
          <a:ln/>
        </p:spPr>
        <p:txBody>
          <a:bodyPr wrap="square" lIns="0" tIns="0" rIns="0" bIns="0" rtlCol="0" anchor="t"/>
          <a:lstStyle/>
          <a:p>
            <a:pPr algn="r" indent="0" marL="0">
              <a:buNone/>
            </a:pPr>
            <a:r>
              <a:rPr lang="en-US" sz="3400" dirty="0">
                <a:solidFill>
                  <a:srgbClr val="67067C"/>
                </a:solidFill>
                <a:latin typeface="Young Serif" pitchFamily="34" charset="0"/>
                <a:ea typeface="Young Serif" pitchFamily="34" charset="-122"/>
                <a:cs typeface="Young Serif" pitchFamily="34" charset="-120"/>
              </a:rPr>
              <a:t>2026</a:t>
            </a:r>
            <a:endParaRPr lang="en-US" sz="3400" dirty="0"/>
          </a:p>
        </p:txBody>
      </p:sp>
      <p:sp>
        <p:nvSpPr>
          <p:cNvPr id="8" name="Text 4"/>
          <p:cNvSpPr/>
          <p:nvPr/>
        </p:nvSpPr>
        <p:spPr>
          <a:xfrm>
            <a:off x="612000" y="8892000"/>
            <a:ext cx="5040000" cy="180000"/>
          </a:xfrm>
          <a:prstGeom prst="rect">
            <a:avLst/>
          </a:prstGeom>
          <a:noFill/>
          <a:ln/>
        </p:spPr>
        <p:txBody>
          <a:bodyPr wrap="square" lIns="0" tIns="0" rIns="0" bIns="0" rtlCol="0" anchor="ctr"/>
          <a:lstStyle/>
          <a:p>
            <a:pPr indent="0" marL="0">
              <a:buNone/>
            </a:pPr>
            <a:r>
              <a:rPr lang="en-US" sz="560" dirty="0">
                <a:solidFill>
                  <a:srgbClr val="FBF8F1"/>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2EADA"/>
        </a:solidFill>
      </p:bgPr>
    </p:bg>
    <p:spTree>
      <p:nvGrpSpPr>
        <p:cNvPr id="1" name=""/>
        <p:cNvGrpSpPr/>
        <p:nvPr/>
      </p:nvGrpSpPr>
      <p:grpSpPr>
        <a:xfrm>
          <a:off x="0" y="0"/>
          <a:ext cx="0" cy="0"/>
          <a:chOff x="0" y="0"/>
          <a:chExt cx="0" cy="0"/>
        </a:xfrm>
      </p:grpSpPr>
      <p:pic>
        <p:nvPicPr>
          <p:cNvPr id="2" name="Image 0" descr="/home/user/philippe1/src/images/logo-agence-scio-detoure.png">    </p:cNvPr>
          <p:cNvPicPr>
            <a:picLocks noChangeAspect="1"/>
          </p:cNvPicPr>
          <p:nvPr/>
        </p:nvPicPr>
        <p:blipFill>
          <a:blip r:embed="rId1"/>
          <a:stretch>
            <a:fillRect/>
          </a:stretch>
        </p:blipFill>
        <p:spPr>
          <a:xfrm>
            <a:off x="828000" y="540000"/>
            <a:ext cx="2664000" cy="649188"/>
          </a:xfrm>
          <a:prstGeom prst="rect">
            <a:avLst/>
          </a:prstGeom>
        </p:spPr>
      </p:pic>
      <p:sp>
        <p:nvSpPr>
          <p:cNvPr id="3" name="Text 0"/>
          <p:cNvSpPr/>
          <p:nvPr/>
        </p:nvSpPr>
        <p:spPr>
          <a:xfrm>
            <a:off x="828000" y="1692000"/>
            <a:ext cx="5400000" cy="1440000"/>
          </a:xfrm>
          <a:prstGeom prst="rect">
            <a:avLst/>
          </a:prstGeom>
          <a:noFill/>
          <a:ln/>
        </p:spPr>
        <p:txBody>
          <a:bodyPr wrap="square" lIns="0" tIns="0" rIns="0" bIns="0" rtlCol="0" anchor="ctr"/>
          <a:lstStyle/>
          <a:p>
            <a:pPr indent="0" marL="0">
              <a:lnSpc>
                <a:spcPct val="128000"/>
              </a:lnSpc>
              <a:buNone/>
            </a:pPr>
            <a:r>
              <a:rPr lang="en-US" sz="1600" dirty="0">
                <a:solidFill>
                  <a:srgbClr val="46606E"/>
                </a:solidFill>
                <a:latin typeface="Young Serif" pitchFamily="34" charset="0"/>
                <a:ea typeface="Young Serif" pitchFamily="34" charset="-122"/>
                <a:cs typeface="Young Serif" pitchFamily="34" charset="-120"/>
              </a:rPr>
              <a:t>L'Agence SCIO, c'est </a:t>
            </a:r>
            <a:r>
              <a:rPr lang="en-US" sz="1600" dirty="0">
                <a:solidFill>
                  <a:srgbClr val="67067C"/>
                </a:solidFill>
                <a:latin typeface="Young Serif" pitchFamily="34" charset="0"/>
                <a:ea typeface="Young Serif" pitchFamily="34" charset="-122"/>
                <a:cs typeface="Young Serif" pitchFamily="34" charset="-120"/>
              </a:rPr>
              <a:t>partager notre savoir et notre passion</a:t>
            </a:r>
            <a:r>
              <a:rPr lang="en-US" sz="1600" dirty="0">
                <a:solidFill>
                  <a:srgbClr val="46606E"/>
                </a:solidFill>
                <a:latin typeface="Young Serif" pitchFamily="34" charset="0"/>
                <a:ea typeface="Young Serif" pitchFamily="34" charset="-122"/>
                <a:cs typeface="Young Serif" pitchFamily="34" charset="-120"/>
              </a:rPr>
              <a:t> en vous proposant des vignerons de tous horizons, avant-gardistes et respectueux de la nature. Découvrez notre sélection. Laissez-vous guider et conseiller.</a:t>
            </a:r>
            <a:endParaRPr lang="en-US" sz="1600" dirty="0"/>
          </a:p>
        </p:txBody>
      </p:sp>
      <p:sp>
        <p:nvSpPr>
          <p:cNvPr id="4" name="Text 1"/>
          <p:cNvSpPr/>
          <p:nvPr/>
        </p:nvSpPr>
        <p:spPr>
          <a:xfrm>
            <a:off x="828000" y="3276000"/>
            <a:ext cx="180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LAURENT</a:t>
            </a:r>
            <a:endParaRPr lang="en-US" sz="800" dirty="0"/>
          </a:p>
        </p:txBody>
      </p:sp>
      <p:sp>
        <p:nvSpPr>
          <p:cNvPr id="5" name="Text 2"/>
          <p:cNvSpPr/>
          <p:nvPr/>
        </p:nvSpPr>
        <p:spPr>
          <a:xfrm>
            <a:off x="828000" y="3456000"/>
            <a:ext cx="1800000" cy="324000"/>
          </a:xfrm>
          <a:prstGeom prst="rect">
            <a:avLst/>
          </a:prstGeom>
          <a:noFill/>
          <a:ln/>
        </p:spPr>
        <p:txBody>
          <a:bodyPr wrap="square" lIns="0" tIns="0" rIns="0" bIns="0" rtlCol="0" anchor="ctr"/>
          <a:lstStyle/>
          <a:p>
            <a:pPr indent="0" marL="0">
              <a:buNone/>
            </a:pPr>
            <a:r>
              <a:rPr lang="en-US" sz="1700" dirty="0">
                <a:solidFill>
                  <a:srgbClr val="67067C"/>
                </a:solidFill>
                <a:latin typeface="Young Serif" pitchFamily="34" charset="0"/>
                <a:ea typeface="Young Serif" pitchFamily="34" charset="-122"/>
                <a:cs typeface="Young Serif" pitchFamily="34" charset="-120"/>
              </a:rPr>
              <a:t>06 80 88 07 55</a:t>
            </a:r>
            <a:endParaRPr lang="en-US" sz="1700" dirty="0"/>
          </a:p>
        </p:txBody>
      </p:sp>
      <p:sp>
        <p:nvSpPr>
          <p:cNvPr id="6" name="Text 3"/>
          <p:cNvSpPr/>
          <p:nvPr/>
        </p:nvSpPr>
        <p:spPr>
          <a:xfrm>
            <a:off x="2808000" y="3276000"/>
            <a:ext cx="180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CARLINE</a:t>
            </a:r>
            <a:endParaRPr lang="en-US" sz="800" dirty="0"/>
          </a:p>
        </p:txBody>
      </p:sp>
      <p:sp>
        <p:nvSpPr>
          <p:cNvPr id="7" name="Text 4"/>
          <p:cNvSpPr/>
          <p:nvPr/>
        </p:nvSpPr>
        <p:spPr>
          <a:xfrm>
            <a:off x="2808000" y="3456000"/>
            <a:ext cx="1800000" cy="324000"/>
          </a:xfrm>
          <a:prstGeom prst="rect">
            <a:avLst/>
          </a:prstGeom>
          <a:noFill/>
          <a:ln/>
        </p:spPr>
        <p:txBody>
          <a:bodyPr wrap="square" lIns="0" tIns="0" rIns="0" bIns="0" rtlCol="0" anchor="ctr"/>
          <a:lstStyle/>
          <a:p>
            <a:pPr indent="0" marL="0">
              <a:buNone/>
            </a:pPr>
            <a:r>
              <a:rPr lang="en-US" sz="1700" dirty="0">
                <a:solidFill>
                  <a:srgbClr val="67067C"/>
                </a:solidFill>
                <a:latin typeface="Young Serif" pitchFamily="34" charset="0"/>
                <a:ea typeface="Young Serif" pitchFamily="34" charset="-122"/>
                <a:cs typeface="Young Serif" pitchFamily="34" charset="-120"/>
              </a:rPr>
              <a:t>06 49 19 16 75</a:t>
            </a:r>
            <a:endParaRPr lang="en-US" sz="1700" dirty="0"/>
          </a:p>
        </p:txBody>
      </p:sp>
      <p:sp>
        <p:nvSpPr>
          <p:cNvPr id="8" name="Text 5"/>
          <p:cNvSpPr/>
          <p:nvPr/>
        </p:nvSpPr>
        <p:spPr>
          <a:xfrm>
            <a:off x="828000" y="3924000"/>
            <a:ext cx="4320000" cy="720000"/>
          </a:xfrm>
          <a:prstGeom prst="rect">
            <a:avLst/>
          </a:prstGeom>
          <a:noFill/>
          <a:ln/>
        </p:spPr>
        <p:txBody>
          <a:bodyPr wrap="square" lIns="0" tIns="0" rIns="0" bIns="0" rtlCol="0" anchor="ctr"/>
          <a:lstStyle/>
          <a:p>
            <a:pPr indent="0" marL="0">
              <a:lnSpc>
                <a:spcPct val="160000"/>
              </a:lnSpc>
              <a:buNone/>
            </a:pPr>
            <a:r>
              <a:rPr lang="en-US" sz="1000" dirty="0">
                <a:solidFill>
                  <a:srgbClr val="46606E"/>
                </a:solidFill>
                <a:latin typeface="Spectral" pitchFamily="34" charset="0"/>
                <a:ea typeface="Spectral" pitchFamily="34" charset="-122"/>
                <a:cs typeface="Spectral" pitchFamily="34" charset="-120"/>
              </a:rPr>
              <a:t>71 avenue de la Libération — 44400 Rezé</a:t>
            </a:r>
            <a:endParaRPr lang="en-US" sz="1000" dirty="0"/>
          </a:p>
          <a:p>
            <a:pPr indent="0" marL="0">
              <a:lnSpc>
                <a:spcPct val="160000"/>
              </a:lnSpc>
              <a:buNone/>
            </a:pPr>
            <a:r>
              <a:rPr lang="en-US" sz="1000" dirty="0">
                <a:solidFill>
                  <a:srgbClr val="46606E"/>
                </a:solidFill>
                <a:latin typeface="Spectral" pitchFamily="34" charset="0"/>
                <a:ea typeface="Spectral" pitchFamily="34" charset="-122"/>
                <a:cs typeface="Spectral" pitchFamily="34" charset="-120"/>
              </a:rPr>
              <a:t>contact@agencescio.com</a:t>
            </a:r>
            <a:endParaRPr lang="en-US" sz="1000" dirty="0"/>
          </a:p>
          <a:p>
            <a:pPr indent="0" marL="0">
              <a:lnSpc>
                <a:spcPct val="160000"/>
              </a:lnSpc>
              <a:buNone/>
            </a:pPr>
            <a:r>
              <a:rPr lang="en-US" sz="1000" dirty="0">
                <a:solidFill>
                  <a:srgbClr val="46606E"/>
                </a:solidFill>
                <a:latin typeface="Spectral" pitchFamily="34" charset="0"/>
                <a:ea typeface="Spectral" pitchFamily="34" charset="-122"/>
                <a:cs typeface="Spectral" pitchFamily="34" charset="-120"/>
              </a:rPr>
              <a:t>www.agencescio.com</a:t>
            </a:r>
            <a:endParaRPr lang="en-US" sz="1000" dirty="0"/>
          </a:p>
        </p:txBody>
      </p:sp>
      <p:pic>
        <p:nvPicPr>
          <p:cNvPr id="9" name="Image 1" descr="/home/user/philippe1/build/deco-catalogue-scio-2026/coupe-nue.png">    </p:cNvPr>
          <p:cNvPicPr>
            <a:picLocks noChangeAspect="1"/>
          </p:cNvPicPr>
          <p:nvPr/>
        </p:nvPicPr>
        <p:blipFill>
          <a:blip r:embed="rId2"/>
          <a:stretch>
            <a:fillRect/>
          </a:stretch>
        </p:blipFill>
        <p:spPr>
          <a:xfrm>
            <a:off x="828000" y="4860000"/>
            <a:ext cx="6120000" cy="1460455"/>
          </a:xfrm>
          <a:prstGeom prst="rect">
            <a:avLst/>
          </a:prstGeom>
        </p:spPr>
      </p:pic>
      <p:sp>
        <p:nvSpPr>
          <p:cNvPr id="10" name="Shape 6"/>
          <p:cNvSpPr/>
          <p:nvPr/>
        </p:nvSpPr>
        <p:spPr>
          <a:xfrm>
            <a:off x="828000" y="6732000"/>
            <a:ext cx="6120000" cy="0"/>
          </a:xfrm>
          <a:prstGeom prst="line">
            <a:avLst/>
          </a:prstGeom>
          <a:noFill/>
          <a:ln w="10160">
            <a:solidFill>
              <a:srgbClr val="67067C"/>
            </a:solidFill>
            <a:prstDash val="solid"/>
          </a:ln>
        </p:spPr>
      </p:sp>
      <p:sp>
        <p:nvSpPr>
          <p:cNvPr id="11" name="Text 7"/>
          <p:cNvSpPr/>
          <p:nvPr/>
        </p:nvSpPr>
        <p:spPr>
          <a:xfrm>
            <a:off x="828000" y="6840000"/>
            <a:ext cx="1440000" cy="396000"/>
          </a:xfrm>
          <a:prstGeom prst="rect">
            <a:avLst/>
          </a:prstGeom>
          <a:noFill/>
          <a:ln/>
        </p:spPr>
        <p:txBody>
          <a:bodyPr wrap="square" lIns="0" tIns="0" rIns="0" bIns="0" rtlCol="0" anchor="ctr"/>
          <a:lstStyle/>
          <a:p>
            <a:pPr indent="0" marL="0">
              <a:buNone/>
            </a:pPr>
            <a:r>
              <a:rPr lang="en-US" sz="2600" dirty="0">
                <a:solidFill>
                  <a:srgbClr val="67067C"/>
                </a:solidFill>
                <a:latin typeface="Young Serif" pitchFamily="34" charset="0"/>
                <a:ea typeface="Young Serif" pitchFamily="34" charset="-122"/>
                <a:cs typeface="Young Serif" pitchFamily="34" charset="-120"/>
              </a:rPr>
              <a:t>40</a:t>
            </a:r>
            <a:endParaRPr lang="en-US" sz="2600" dirty="0"/>
          </a:p>
        </p:txBody>
      </p:sp>
      <p:sp>
        <p:nvSpPr>
          <p:cNvPr id="12" name="Text 8"/>
          <p:cNvSpPr/>
          <p:nvPr/>
        </p:nvSpPr>
        <p:spPr>
          <a:xfrm>
            <a:off x="828000" y="7236000"/>
            <a:ext cx="1440000" cy="180000"/>
          </a:xfrm>
          <a:prstGeom prst="rect">
            <a:avLst/>
          </a:prstGeom>
          <a:noFill/>
          <a:ln/>
        </p:spPr>
        <p:txBody>
          <a:bodyPr wrap="square" lIns="0" tIns="0" rIns="0" bIns="0" rtlCol="0" anchor="ctr"/>
          <a:lstStyle/>
          <a:p>
            <a:pPr indent="0" marL="0">
              <a:buNone/>
            </a:pPr>
            <a:r>
              <a:rPr lang="en-US" sz="900" dirty="0">
                <a:solidFill>
                  <a:srgbClr val="46606E"/>
                </a:solidFill>
                <a:latin typeface="IBM Plex Sans" pitchFamily="34" charset="0"/>
                <a:ea typeface="IBM Plex Sans" pitchFamily="34" charset="-122"/>
                <a:cs typeface="IBM Plex Sans" pitchFamily="34" charset="-120"/>
              </a:rPr>
              <a:t>domaines</a:t>
            </a:r>
            <a:endParaRPr lang="en-US" sz="900" dirty="0"/>
          </a:p>
        </p:txBody>
      </p:sp>
      <p:sp>
        <p:nvSpPr>
          <p:cNvPr id="13" name="Text 9"/>
          <p:cNvSpPr/>
          <p:nvPr/>
        </p:nvSpPr>
        <p:spPr>
          <a:xfrm>
            <a:off x="2340000" y="6840000"/>
            <a:ext cx="1440000" cy="396000"/>
          </a:xfrm>
          <a:prstGeom prst="rect">
            <a:avLst/>
          </a:prstGeom>
          <a:noFill/>
          <a:ln/>
        </p:spPr>
        <p:txBody>
          <a:bodyPr wrap="square" lIns="0" tIns="0" rIns="0" bIns="0" rtlCol="0" anchor="ctr"/>
          <a:lstStyle/>
          <a:p>
            <a:pPr indent="0" marL="0">
              <a:buNone/>
            </a:pPr>
            <a:r>
              <a:rPr lang="en-US" sz="2600" dirty="0">
                <a:solidFill>
                  <a:srgbClr val="67067C"/>
                </a:solidFill>
                <a:latin typeface="Young Serif" pitchFamily="34" charset="0"/>
                <a:ea typeface="Young Serif" pitchFamily="34" charset="-122"/>
                <a:cs typeface="Young Serif" pitchFamily="34" charset="-120"/>
              </a:rPr>
              <a:t>10</a:t>
            </a:r>
            <a:endParaRPr lang="en-US" sz="2600" dirty="0"/>
          </a:p>
        </p:txBody>
      </p:sp>
      <p:sp>
        <p:nvSpPr>
          <p:cNvPr id="14" name="Text 10"/>
          <p:cNvSpPr/>
          <p:nvPr/>
        </p:nvSpPr>
        <p:spPr>
          <a:xfrm>
            <a:off x="2340000" y="7236000"/>
            <a:ext cx="1440000" cy="180000"/>
          </a:xfrm>
          <a:prstGeom prst="rect">
            <a:avLst/>
          </a:prstGeom>
          <a:noFill/>
          <a:ln/>
        </p:spPr>
        <p:txBody>
          <a:bodyPr wrap="square" lIns="0" tIns="0" rIns="0" bIns="0" rtlCol="0" anchor="ctr"/>
          <a:lstStyle/>
          <a:p>
            <a:pPr indent="0" marL="0">
              <a:buNone/>
            </a:pPr>
            <a:r>
              <a:rPr lang="en-US" sz="900" dirty="0">
                <a:solidFill>
                  <a:srgbClr val="46606E"/>
                </a:solidFill>
                <a:latin typeface="IBM Plex Sans" pitchFamily="34" charset="0"/>
                <a:ea typeface="IBM Plex Sans" pitchFamily="34" charset="-122"/>
                <a:cs typeface="IBM Plex Sans" pitchFamily="34" charset="-120"/>
              </a:rPr>
              <a:t>régions</a:t>
            </a:r>
            <a:endParaRPr lang="en-US" sz="900" dirty="0"/>
          </a:p>
        </p:txBody>
      </p:sp>
      <p:sp>
        <p:nvSpPr>
          <p:cNvPr id="15" name="Text 11"/>
          <p:cNvSpPr/>
          <p:nvPr/>
        </p:nvSpPr>
        <p:spPr>
          <a:xfrm>
            <a:off x="3852000" y="6840000"/>
            <a:ext cx="1440000" cy="396000"/>
          </a:xfrm>
          <a:prstGeom prst="rect">
            <a:avLst/>
          </a:prstGeom>
          <a:noFill/>
          <a:ln/>
        </p:spPr>
        <p:txBody>
          <a:bodyPr wrap="square" lIns="0" tIns="0" rIns="0" bIns="0" rtlCol="0" anchor="ctr"/>
          <a:lstStyle/>
          <a:p>
            <a:pPr indent="0" marL="0">
              <a:buNone/>
            </a:pPr>
            <a:r>
              <a:rPr lang="en-US" sz="2600" dirty="0">
                <a:solidFill>
                  <a:srgbClr val="67067C"/>
                </a:solidFill>
                <a:latin typeface="Young Serif" pitchFamily="34" charset="0"/>
                <a:ea typeface="Young Serif" pitchFamily="34" charset="-122"/>
                <a:cs typeface="Young Serif" pitchFamily="34" charset="-120"/>
              </a:rPr>
              <a:t>365</a:t>
            </a:r>
            <a:endParaRPr lang="en-US" sz="2600" dirty="0"/>
          </a:p>
        </p:txBody>
      </p:sp>
      <p:sp>
        <p:nvSpPr>
          <p:cNvPr id="16" name="Text 12"/>
          <p:cNvSpPr/>
          <p:nvPr/>
        </p:nvSpPr>
        <p:spPr>
          <a:xfrm>
            <a:off x="3852000" y="7236000"/>
            <a:ext cx="1440000" cy="180000"/>
          </a:xfrm>
          <a:prstGeom prst="rect">
            <a:avLst/>
          </a:prstGeom>
          <a:noFill/>
          <a:ln/>
        </p:spPr>
        <p:txBody>
          <a:bodyPr wrap="square" lIns="0" tIns="0" rIns="0" bIns="0" rtlCol="0" anchor="ctr"/>
          <a:lstStyle/>
          <a:p>
            <a:pPr indent="0" marL="0">
              <a:buNone/>
            </a:pPr>
            <a:r>
              <a:rPr lang="en-US" sz="900" dirty="0">
                <a:solidFill>
                  <a:srgbClr val="46606E"/>
                </a:solidFill>
                <a:latin typeface="IBM Plex Sans" pitchFamily="34" charset="0"/>
                <a:ea typeface="IBM Plex Sans" pitchFamily="34" charset="-122"/>
                <a:cs typeface="IBM Plex Sans" pitchFamily="34" charset="-120"/>
              </a:rPr>
              <a:t>références</a:t>
            </a:r>
            <a:endParaRPr lang="en-US" sz="900" dirty="0"/>
          </a:p>
        </p:txBody>
      </p:sp>
      <p:sp>
        <p:nvSpPr>
          <p:cNvPr id="17" name="Text 13"/>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a:t>
            </a:r>
            <a:endParaRPr lang="en-US" sz="750" dirty="0"/>
          </a:p>
        </p:txBody>
      </p:sp>
      <p:sp>
        <p:nvSpPr>
          <p:cNvPr id="18" name="Text 14"/>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612000" y="540000"/>
            <a:ext cx="6120000" cy="324000"/>
          </a:xfrm>
          <a:prstGeom prst="rect">
            <a:avLst/>
          </a:prstGeom>
          <a:noFill/>
          <a:ln/>
        </p:spPr>
        <p:txBody>
          <a:bodyPr wrap="square" lIns="0" tIns="0" rIns="0" bIns="0" rtlCol="0" anchor="t"/>
          <a:lstStyle/>
          <a:p>
            <a:pPr indent="0" marL="0">
              <a:buNone/>
            </a:pPr>
            <a:r>
              <a:rPr lang="en-US" sz="2400" dirty="0">
                <a:solidFill>
                  <a:srgbClr val="67067C"/>
                </a:solidFill>
                <a:latin typeface="Young Serif" pitchFamily="34" charset="0"/>
                <a:ea typeface="Young Serif" pitchFamily="34" charset="-122"/>
                <a:cs typeface="Young Serif" pitchFamily="34" charset="-120"/>
              </a:rPr>
              <a:t>Sommaire</a:t>
            </a:r>
            <a:endParaRPr lang="en-US" sz="2400" dirty="0"/>
          </a:p>
        </p:txBody>
      </p:sp>
      <p:sp>
        <p:nvSpPr>
          <p:cNvPr id="3" name="Shape 1"/>
          <p:cNvSpPr/>
          <p:nvPr/>
        </p:nvSpPr>
        <p:spPr>
          <a:xfrm>
            <a:off x="612000" y="1141200"/>
            <a:ext cx="115200" cy="115200"/>
          </a:xfrm>
          <a:prstGeom prst="rect">
            <a:avLst/>
          </a:prstGeom>
          <a:solidFill>
            <a:srgbClr val="46606E"/>
          </a:solidFill>
          <a:ln w="7620">
            <a:solidFill>
              <a:srgbClr val="46606E"/>
            </a:solidFill>
            <a:prstDash val="solid"/>
          </a:ln>
        </p:spPr>
      </p:sp>
      <p:sp>
        <p:nvSpPr>
          <p:cNvPr id="4" name="Text 2"/>
          <p:cNvSpPr/>
          <p:nvPr/>
        </p:nvSpPr>
        <p:spPr>
          <a:xfrm>
            <a:off x="806400" y="10620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Loire</a:t>
            </a:r>
            <a:endParaRPr lang="en-US" sz="1300" dirty="0"/>
          </a:p>
        </p:txBody>
      </p:sp>
      <p:sp>
        <p:nvSpPr>
          <p:cNvPr id="5" name="Shape 3"/>
          <p:cNvSpPr/>
          <p:nvPr/>
        </p:nvSpPr>
        <p:spPr>
          <a:xfrm>
            <a:off x="612000" y="1335600"/>
            <a:ext cx="2952000" cy="0"/>
          </a:xfrm>
          <a:prstGeom prst="line">
            <a:avLst/>
          </a:prstGeom>
          <a:noFill/>
          <a:ln w="11430">
            <a:solidFill>
              <a:srgbClr val="67067C"/>
            </a:solidFill>
            <a:prstDash val="solid"/>
          </a:ln>
        </p:spPr>
      </p:sp>
      <p:sp>
        <p:nvSpPr>
          <p:cNvPr id="6" name="Text 4"/>
          <p:cNvSpPr/>
          <p:nvPr/>
        </p:nvSpPr>
        <p:spPr>
          <a:xfrm>
            <a:off x="612000" y="1386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a:t>
            </a:r>
            <a:endParaRPr lang="en-US" sz="850" dirty="0"/>
          </a:p>
        </p:txBody>
      </p:sp>
      <p:sp>
        <p:nvSpPr>
          <p:cNvPr id="7" name="Text 5"/>
          <p:cNvSpPr/>
          <p:nvPr/>
        </p:nvSpPr>
        <p:spPr>
          <a:xfrm>
            <a:off x="918000" y="1386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François Reverdy</a:t>
            </a:r>
            <a:endParaRPr lang="en-US" sz="1000" dirty="0"/>
          </a:p>
        </p:txBody>
      </p:sp>
      <p:sp>
        <p:nvSpPr>
          <p:cNvPr id="8" name="Text 6"/>
          <p:cNvSpPr/>
          <p:nvPr/>
        </p:nvSpPr>
        <p:spPr>
          <a:xfrm>
            <a:off x="3204000" y="1386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5</a:t>
            </a:r>
            <a:endParaRPr lang="en-US" sz="900" dirty="0"/>
          </a:p>
        </p:txBody>
      </p:sp>
      <p:sp>
        <p:nvSpPr>
          <p:cNvPr id="9" name="Shape 7"/>
          <p:cNvSpPr/>
          <p:nvPr/>
        </p:nvSpPr>
        <p:spPr>
          <a:xfrm>
            <a:off x="612000" y="1587600"/>
            <a:ext cx="2952000" cy="0"/>
          </a:xfrm>
          <a:prstGeom prst="line">
            <a:avLst/>
          </a:prstGeom>
          <a:noFill/>
          <a:ln w="3810">
            <a:solidFill>
              <a:srgbClr val="C9CFC9"/>
            </a:solidFill>
            <a:prstDash val="solid"/>
          </a:ln>
        </p:spPr>
      </p:sp>
      <p:sp>
        <p:nvSpPr>
          <p:cNvPr id="10" name="Text 8"/>
          <p:cNvSpPr/>
          <p:nvPr/>
        </p:nvSpPr>
        <p:spPr>
          <a:xfrm>
            <a:off x="612000" y="1587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a:t>
            </a:r>
            <a:endParaRPr lang="en-US" sz="850" dirty="0"/>
          </a:p>
        </p:txBody>
      </p:sp>
      <p:sp>
        <p:nvSpPr>
          <p:cNvPr id="11" name="Text 9"/>
          <p:cNvSpPr/>
          <p:nvPr/>
        </p:nvSpPr>
        <p:spPr>
          <a:xfrm>
            <a:off x="918000" y="1587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 la Barbinière</a:t>
            </a:r>
            <a:endParaRPr lang="en-US" sz="1000" dirty="0"/>
          </a:p>
        </p:txBody>
      </p:sp>
      <p:sp>
        <p:nvSpPr>
          <p:cNvPr id="12" name="Text 10"/>
          <p:cNvSpPr/>
          <p:nvPr/>
        </p:nvSpPr>
        <p:spPr>
          <a:xfrm>
            <a:off x="3204000" y="1587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6</a:t>
            </a:r>
            <a:endParaRPr lang="en-US" sz="900" dirty="0"/>
          </a:p>
        </p:txBody>
      </p:sp>
      <p:sp>
        <p:nvSpPr>
          <p:cNvPr id="13" name="Shape 11"/>
          <p:cNvSpPr/>
          <p:nvPr/>
        </p:nvSpPr>
        <p:spPr>
          <a:xfrm>
            <a:off x="612000" y="1789200"/>
            <a:ext cx="2952000" cy="0"/>
          </a:xfrm>
          <a:prstGeom prst="line">
            <a:avLst/>
          </a:prstGeom>
          <a:noFill/>
          <a:ln w="3810">
            <a:solidFill>
              <a:srgbClr val="C9CFC9"/>
            </a:solidFill>
            <a:prstDash val="solid"/>
          </a:ln>
        </p:spPr>
      </p:sp>
      <p:sp>
        <p:nvSpPr>
          <p:cNvPr id="14" name="Text 12"/>
          <p:cNvSpPr/>
          <p:nvPr/>
        </p:nvSpPr>
        <p:spPr>
          <a:xfrm>
            <a:off x="612000" y="1789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a:t>
            </a:r>
            <a:endParaRPr lang="en-US" sz="850" dirty="0"/>
          </a:p>
        </p:txBody>
      </p:sp>
      <p:sp>
        <p:nvSpPr>
          <p:cNvPr id="15" name="Text 13"/>
          <p:cNvSpPr/>
          <p:nvPr/>
        </p:nvSpPr>
        <p:spPr>
          <a:xfrm>
            <a:off x="918000" y="1789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du Colombier / J.Y Bretaudeau</a:t>
            </a:r>
            <a:endParaRPr lang="en-US" sz="1000" dirty="0"/>
          </a:p>
        </p:txBody>
      </p:sp>
      <p:sp>
        <p:nvSpPr>
          <p:cNvPr id="16" name="Text 14"/>
          <p:cNvSpPr/>
          <p:nvPr/>
        </p:nvSpPr>
        <p:spPr>
          <a:xfrm>
            <a:off x="3204000" y="1789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7</a:t>
            </a:r>
            <a:endParaRPr lang="en-US" sz="900" dirty="0"/>
          </a:p>
        </p:txBody>
      </p:sp>
      <p:sp>
        <p:nvSpPr>
          <p:cNvPr id="17" name="Shape 15"/>
          <p:cNvSpPr/>
          <p:nvPr/>
        </p:nvSpPr>
        <p:spPr>
          <a:xfrm>
            <a:off x="612000" y="1990800"/>
            <a:ext cx="2952000" cy="0"/>
          </a:xfrm>
          <a:prstGeom prst="line">
            <a:avLst/>
          </a:prstGeom>
          <a:noFill/>
          <a:ln w="3810">
            <a:solidFill>
              <a:srgbClr val="C9CFC9"/>
            </a:solidFill>
            <a:prstDash val="solid"/>
          </a:ln>
        </p:spPr>
      </p:sp>
      <p:sp>
        <p:nvSpPr>
          <p:cNvPr id="18" name="Text 16"/>
          <p:cNvSpPr/>
          <p:nvPr/>
        </p:nvSpPr>
        <p:spPr>
          <a:xfrm>
            <a:off x="612000" y="1990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4</a:t>
            </a:r>
            <a:endParaRPr lang="en-US" sz="850" dirty="0"/>
          </a:p>
        </p:txBody>
      </p:sp>
      <p:sp>
        <p:nvSpPr>
          <p:cNvPr id="19" name="Text 17"/>
          <p:cNvSpPr/>
          <p:nvPr/>
        </p:nvSpPr>
        <p:spPr>
          <a:xfrm>
            <a:off x="918000" y="1990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des Noëls</a:t>
            </a:r>
            <a:endParaRPr lang="en-US" sz="1000" dirty="0"/>
          </a:p>
        </p:txBody>
      </p:sp>
      <p:sp>
        <p:nvSpPr>
          <p:cNvPr id="20" name="Text 18"/>
          <p:cNvSpPr/>
          <p:nvPr/>
        </p:nvSpPr>
        <p:spPr>
          <a:xfrm>
            <a:off x="3204000" y="1990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9</a:t>
            </a:r>
            <a:endParaRPr lang="en-US" sz="900" dirty="0"/>
          </a:p>
        </p:txBody>
      </p:sp>
      <p:sp>
        <p:nvSpPr>
          <p:cNvPr id="21" name="Shape 19"/>
          <p:cNvSpPr/>
          <p:nvPr/>
        </p:nvSpPr>
        <p:spPr>
          <a:xfrm>
            <a:off x="612000" y="2192400"/>
            <a:ext cx="2952000" cy="0"/>
          </a:xfrm>
          <a:prstGeom prst="line">
            <a:avLst/>
          </a:prstGeom>
          <a:noFill/>
          <a:ln w="3810">
            <a:solidFill>
              <a:srgbClr val="C9CFC9"/>
            </a:solidFill>
            <a:prstDash val="solid"/>
          </a:ln>
        </p:spPr>
      </p:sp>
      <p:sp>
        <p:nvSpPr>
          <p:cNvPr id="22" name="Text 20"/>
          <p:cNvSpPr/>
          <p:nvPr/>
        </p:nvSpPr>
        <p:spPr>
          <a:xfrm>
            <a:off x="612000" y="2192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5</a:t>
            </a:r>
            <a:endParaRPr lang="en-US" sz="850" dirty="0"/>
          </a:p>
        </p:txBody>
      </p:sp>
      <p:sp>
        <p:nvSpPr>
          <p:cNvPr id="23" name="Text 21"/>
          <p:cNvSpPr/>
          <p:nvPr/>
        </p:nvSpPr>
        <p:spPr>
          <a:xfrm>
            <a:off x="918000" y="2192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Chai Berteaud Manceau</a:t>
            </a:r>
            <a:endParaRPr lang="en-US" sz="1000" dirty="0"/>
          </a:p>
        </p:txBody>
      </p:sp>
      <p:sp>
        <p:nvSpPr>
          <p:cNvPr id="24" name="Text 22"/>
          <p:cNvSpPr/>
          <p:nvPr/>
        </p:nvSpPr>
        <p:spPr>
          <a:xfrm>
            <a:off x="3204000" y="2192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10</a:t>
            </a:r>
            <a:endParaRPr lang="en-US" sz="900" dirty="0"/>
          </a:p>
        </p:txBody>
      </p:sp>
      <p:sp>
        <p:nvSpPr>
          <p:cNvPr id="25" name="Shape 23"/>
          <p:cNvSpPr/>
          <p:nvPr/>
        </p:nvSpPr>
        <p:spPr>
          <a:xfrm>
            <a:off x="612000" y="2394000"/>
            <a:ext cx="2952000" cy="0"/>
          </a:xfrm>
          <a:prstGeom prst="line">
            <a:avLst/>
          </a:prstGeom>
          <a:noFill/>
          <a:ln w="3810">
            <a:solidFill>
              <a:srgbClr val="C9CFC9"/>
            </a:solidFill>
            <a:prstDash val="solid"/>
          </a:ln>
        </p:spPr>
      </p:sp>
      <p:sp>
        <p:nvSpPr>
          <p:cNvPr id="26" name="Text 24"/>
          <p:cNvSpPr/>
          <p:nvPr/>
        </p:nvSpPr>
        <p:spPr>
          <a:xfrm>
            <a:off x="612000" y="2394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6</a:t>
            </a:r>
            <a:endParaRPr lang="en-US" sz="850" dirty="0"/>
          </a:p>
        </p:txBody>
      </p:sp>
      <p:sp>
        <p:nvSpPr>
          <p:cNvPr id="27" name="Text 25"/>
          <p:cNvSpPr/>
          <p:nvPr/>
        </p:nvSpPr>
        <p:spPr>
          <a:xfrm>
            <a:off x="918000" y="2394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Jean de Villebois</a:t>
            </a:r>
            <a:endParaRPr lang="en-US" sz="1000" dirty="0"/>
          </a:p>
        </p:txBody>
      </p:sp>
      <p:sp>
        <p:nvSpPr>
          <p:cNvPr id="28" name="Text 26"/>
          <p:cNvSpPr/>
          <p:nvPr/>
        </p:nvSpPr>
        <p:spPr>
          <a:xfrm>
            <a:off x="3204000" y="2394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11</a:t>
            </a:r>
            <a:endParaRPr lang="en-US" sz="900" dirty="0"/>
          </a:p>
        </p:txBody>
      </p:sp>
      <p:sp>
        <p:nvSpPr>
          <p:cNvPr id="29" name="Shape 27"/>
          <p:cNvSpPr/>
          <p:nvPr/>
        </p:nvSpPr>
        <p:spPr>
          <a:xfrm>
            <a:off x="612000" y="2595600"/>
            <a:ext cx="2952000" cy="0"/>
          </a:xfrm>
          <a:prstGeom prst="line">
            <a:avLst/>
          </a:prstGeom>
          <a:noFill/>
          <a:ln w="3810">
            <a:solidFill>
              <a:srgbClr val="C9CFC9"/>
            </a:solidFill>
            <a:prstDash val="solid"/>
          </a:ln>
        </p:spPr>
      </p:sp>
      <p:sp>
        <p:nvSpPr>
          <p:cNvPr id="30" name="Text 28"/>
          <p:cNvSpPr/>
          <p:nvPr/>
        </p:nvSpPr>
        <p:spPr>
          <a:xfrm>
            <a:off x="612000" y="2595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7</a:t>
            </a:r>
            <a:endParaRPr lang="en-US" sz="850" dirty="0"/>
          </a:p>
        </p:txBody>
      </p:sp>
      <p:sp>
        <p:nvSpPr>
          <p:cNvPr id="31" name="Text 29"/>
          <p:cNvSpPr/>
          <p:nvPr/>
        </p:nvSpPr>
        <p:spPr>
          <a:xfrm>
            <a:off x="918000" y="2595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Divin No Low</a:t>
            </a:r>
            <a:endParaRPr lang="en-US" sz="1000" dirty="0"/>
          </a:p>
        </p:txBody>
      </p:sp>
      <p:sp>
        <p:nvSpPr>
          <p:cNvPr id="32" name="Text 30"/>
          <p:cNvSpPr/>
          <p:nvPr/>
        </p:nvSpPr>
        <p:spPr>
          <a:xfrm>
            <a:off x="3204000" y="2595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13</a:t>
            </a:r>
            <a:endParaRPr lang="en-US" sz="900" dirty="0"/>
          </a:p>
        </p:txBody>
      </p:sp>
      <p:sp>
        <p:nvSpPr>
          <p:cNvPr id="33" name="Shape 31"/>
          <p:cNvSpPr/>
          <p:nvPr/>
        </p:nvSpPr>
        <p:spPr>
          <a:xfrm>
            <a:off x="612000" y="2797200"/>
            <a:ext cx="2952000" cy="0"/>
          </a:xfrm>
          <a:prstGeom prst="line">
            <a:avLst/>
          </a:prstGeom>
          <a:noFill/>
          <a:ln w="3810">
            <a:solidFill>
              <a:srgbClr val="C9CFC9"/>
            </a:solidFill>
            <a:prstDash val="solid"/>
          </a:ln>
        </p:spPr>
      </p:sp>
      <p:sp>
        <p:nvSpPr>
          <p:cNvPr id="34" name="Shape 32"/>
          <p:cNvSpPr/>
          <p:nvPr/>
        </p:nvSpPr>
        <p:spPr>
          <a:xfrm>
            <a:off x="612000" y="3027600"/>
            <a:ext cx="115200" cy="115200"/>
          </a:xfrm>
          <a:prstGeom prst="rect">
            <a:avLst/>
          </a:prstGeom>
          <a:solidFill>
            <a:srgbClr val="3C5B47"/>
          </a:solidFill>
          <a:ln w="7620">
            <a:solidFill>
              <a:srgbClr val="3C5B47"/>
            </a:solidFill>
            <a:prstDash val="solid"/>
          </a:ln>
        </p:spPr>
      </p:sp>
      <p:sp>
        <p:nvSpPr>
          <p:cNvPr id="35" name="Text 33"/>
          <p:cNvSpPr/>
          <p:nvPr/>
        </p:nvSpPr>
        <p:spPr>
          <a:xfrm>
            <a:off x="806400" y="29484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Alsace</a:t>
            </a:r>
            <a:endParaRPr lang="en-US" sz="1300" dirty="0"/>
          </a:p>
        </p:txBody>
      </p:sp>
      <p:sp>
        <p:nvSpPr>
          <p:cNvPr id="36" name="Shape 34"/>
          <p:cNvSpPr/>
          <p:nvPr/>
        </p:nvSpPr>
        <p:spPr>
          <a:xfrm>
            <a:off x="612000" y="3222000"/>
            <a:ext cx="2952000" cy="0"/>
          </a:xfrm>
          <a:prstGeom prst="line">
            <a:avLst/>
          </a:prstGeom>
          <a:noFill/>
          <a:ln w="11430">
            <a:solidFill>
              <a:srgbClr val="67067C"/>
            </a:solidFill>
            <a:prstDash val="solid"/>
          </a:ln>
        </p:spPr>
      </p:sp>
      <p:sp>
        <p:nvSpPr>
          <p:cNvPr id="37" name="Text 35"/>
          <p:cNvSpPr/>
          <p:nvPr/>
        </p:nvSpPr>
        <p:spPr>
          <a:xfrm>
            <a:off x="612000" y="3272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8</a:t>
            </a:r>
            <a:endParaRPr lang="en-US" sz="850" dirty="0"/>
          </a:p>
        </p:txBody>
      </p:sp>
      <p:sp>
        <p:nvSpPr>
          <p:cNvPr id="38" name="Text 36"/>
          <p:cNvSpPr/>
          <p:nvPr/>
        </p:nvSpPr>
        <p:spPr>
          <a:xfrm>
            <a:off x="918000" y="3272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Boehler</a:t>
            </a:r>
            <a:endParaRPr lang="en-US" sz="1000" dirty="0"/>
          </a:p>
        </p:txBody>
      </p:sp>
      <p:sp>
        <p:nvSpPr>
          <p:cNvPr id="39" name="Text 37"/>
          <p:cNvSpPr/>
          <p:nvPr/>
        </p:nvSpPr>
        <p:spPr>
          <a:xfrm>
            <a:off x="3204000" y="3272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15</a:t>
            </a:r>
            <a:endParaRPr lang="en-US" sz="900" dirty="0"/>
          </a:p>
        </p:txBody>
      </p:sp>
      <p:sp>
        <p:nvSpPr>
          <p:cNvPr id="40" name="Shape 38"/>
          <p:cNvSpPr/>
          <p:nvPr/>
        </p:nvSpPr>
        <p:spPr>
          <a:xfrm>
            <a:off x="612000" y="3474000"/>
            <a:ext cx="2952000" cy="0"/>
          </a:xfrm>
          <a:prstGeom prst="line">
            <a:avLst/>
          </a:prstGeom>
          <a:noFill/>
          <a:ln w="3810">
            <a:solidFill>
              <a:srgbClr val="C9CFC9"/>
            </a:solidFill>
            <a:prstDash val="solid"/>
          </a:ln>
        </p:spPr>
      </p:sp>
      <p:sp>
        <p:nvSpPr>
          <p:cNvPr id="41" name="Shape 39"/>
          <p:cNvSpPr/>
          <p:nvPr/>
        </p:nvSpPr>
        <p:spPr>
          <a:xfrm>
            <a:off x="612000" y="3704400"/>
            <a:ext cx="115200" cy="115200"/>
          </a:xfrm>
          <a:prstGeom prst="rect">
            <a:avLst/>
          </a:prstGeom>
          <a:solidFill>
            <a:srgbClr val="A8515F"/>
          </a:solidFill>
          <a:ln w="7620">
            <a:solidFill>
              <a:srgbClr val="A8515F"/>
            </a:solidFill>
            <a:prstDash val="solid"/>
          </a:ln>
        </p:spPr>
      </p:sp>
      <p:sp>
        <p:nvSpPr>
          <p:cNvPr id="42" name="Text 40"/>
          <p:cNvSpPr/>
          <p:nvPr/>
        </p:nvSpPr>
        <p:spPr>
          <a:xfrm>
            <a:off x="806400" y="36252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Beaujolais</a:t>
            </a:r>
            <a:endParaRPr lang="en-US" sz="1300" dirty="0"/>
          </a:p>
        </p:txBody>
      </p:sp>
      <p:sp>
        <p:nvSpPr>
          <p:cNvPr id="43" name="Shape 41"/>
          <p:cNvSpPr/>
          <p:nvPr/>
        </p:nvSpPr>
        <p:spPr>
          <a:xfrm>
            <a:off x="612000" y="3898800"/>
            <a:ext cx="2952000" cy="0"/>
          </a:xfrm>
          <a:prstGeom prst="line">
            <a:avLst/>
          </a:prstGeom>
          <a:noFill/>
          <a:ln w="11430">
            <a:solidFill>
              <a:srgbClr val="67067C"/>
            </a:solidFill>
            <a:prstDash val="solid"/>
          </a:ln>
        </p:spPr>
      </p:sp>
      <p:sp>
        <p:nvSpPr>
          <p:cNvPr id="44" name="Text 42"/>
          <p:cNvSpPr/>
          <p:nvPr/>
        </p:nvSpPr>
        <p:spPr>
          <a:xfrm>
            <a:off x="612000" y="3949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9</a:t>
            </a:r>
            <a:endParaRPr lang="en-US" sz="850" dirty="0"/>
          </a:p>
        </p:txBody>
      </p:sp>
      <p:sp>
        <p:nvSpPr>
          <p:cNvPr id="45" name="Text 43"/>
          <p:cNvSpPr/>
          <p:nvPr/>
        </p:nvSpPr>
        <p:spPr>
          <a:xfrm>
            <a:off x="918000" y="3949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des Nugues</a:t>
            </a:r>
            <a:endParaRPr lang="en-US" sz="1000" dirty="0"/>
          </a:p>
        </p:txBody>
      </p:sp>
      <p:sp>
        <p:nvSpPr>
          <p:cNvPr id="46" name="Text 44"/>
          <p:cNvSpPr/>
          <p:nvPr/>
        </p:nvSpPr>
        <p:spPr>
          <a:xfrm>
            <a:off x="3204000" y="3949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18</a:t>
            </a:r>
            <a:endParaRPr lang="en-US" sz="900" dirty="0"/>
          </a:p>
        </p:txBody>
      </p:sp>
      <p:sp>
        <p:nvSpPr>
          <p:cNvPr id="47" name="Shape 45"/>
          <p:cNvSpPr/>
          <p:nvPr/>
        </p:nvSpPr>
        <p:spPr>
          <a:xfrm>
            <a:off x="612000" y="4150800"/>
            <a:ext cx="2952000" cy="0"/>
          </a:xfrm>
          <a:prstGeom prst="line">
            <a:avLst/>
          </a:prstGeom>
          <a:noFill/>
          <a:ln w="3810">
            <a:solidFill>
              <a:srgbClr val="C9CFC9"/>
            </a:solidFill>
            <a:prstDash val="solid"/>
          </a:ln>
        </p:spPr>
      </p:sp>
      <p:sp>
        <p:nvSpPr>
          <p:cNvPr id="48" name="Shape 46"/>
          <p:cNvSpPr/>
          <p:nvPr/>
        </p:nvSpPr>
        <p:spPr>
          <a:xfrm>
            <a:off x="612000" y="4381200"/>
            <a:ext cx="115200" cy="115200"/>
          </a:xfrm>
          <a:prstGeom prst="rect">
            <a:avLst/>
          </a:prstGeom>
          <a:solidFill>
            <a:srgbClr val="D08C3C"/>
          </a:solidFill>
          <a:ln w="7620">
            <a:solidFill>
              <a:srgbClr val="D08C3C"/>
            </a:solidFill>
            <a:prstDash val="solid"/>
          </a:ln>
        </p:spPr>
      </p:sp>
      <p:sp>
        <p:nvSpPr>
          <p:cNvPr id="49" name="Text 47"/>
          <p:cNvSpPr/>
          <p:nvPr/>
        </p:nvSpPr>
        <p:spPr>
          <a:xfrm>
            <a:off x="806400" y="43020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Bourgogne</a:t>
            </a:r>
            <a:endParaRPr lang="en-US" sz="1300" dirty="0"/>
          </a:p>
        </p:txBody>
      </p:sp>
      <p:sp>
        <p:nvSpPr>
          <p:cNvPr id="50" name="Shape 48"/>
          <p:cNvSpPr/>
          <p:nvPr/>
        </p:nvSpPr>
        <p:spPr>
          <a:xfrm>
            <a:off x="612000" y="4575600"/>
            <a:ext cx="2952000" cy="0"/>
          </a:xfrm>
          <a:prstGeom prst="line">
            <a:avLst/>
          </a:prstGeom>
          <a:noFill/>
          <a:ln w="11430">
            <a:solidFill>
              <a:srgbClr val="67067C"/>
            </a:solidFill>
            <a:prstDash val="solid"/>
          </a:ln>
        </p:spPr>
      </p:sp>
      <p:sp>
        <p:nvSpPr>
          <p:cNvPr id="51" name="Text 49"/>
          <p:cNvSpPr/>
          <p:nvPr/>
        </p:nvSpPr>
        <p:spPr>
          <a:xfrm>
            <a:off x="612000" y="4626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10</a:t>
            </a:r>
            <a:endParaRPr lang="en-US" sz="850" dirty="0"/>
          </a:p>
        </p:txBody>
      </p:sp>
      <p:sp>
        <p:nvSpPr>
          <p:cNvPr id="52" name="Text 50"/>
          <p:cNvSpPr/>
          <p:nvPr/>
        </p:nvSpPr>
        <p:spPr>
          <a:xfrm>
            <a:off x="918000" y="4626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Sébastien Magnien</a:t>
            </a:r>
            <a:endParaRPr lang="en-US" sz="1000" dirty="0"/>
          </a:p>
        </p:txBody>
      </p:sp>
      <p:sp>
        <p:nvSpPr>
          <p:cNvPr id="53" name="Text 51"/>
          <p:cNvSpPr/>
          <p:nvPr/>
        </p:nvSpPr>
        <p:spPr>
          <a:xfrm>
            <a:off x="3204000" y="4626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20</a:t>
            </a:r>
            <a:endParaRPr lang="en-US" sz="900" dirty="0"/>
          </a:p>
        </p:txBody>
      </p:sp>
      <p:sp>
        <p:nvSpPr>
          <p:cNvPr id="54" name="Shape 52"/>
          <p:cNvSpPr/>
          <p:nvPr/>
        </p:nvSpPr>
        <p:spPr>
          <a:xfrm>
            <a:off x="612000" y="4827600"/>
            <a:ext cx="2952000" cy="0"/>
          </a:xfrm>
          <a:prstGeom prst="line">
            <a:avLst/>
          </a:prstGeom>
          <a:noFill/>
          <a:ln w="3810">
            <a:solidFill>
              <a:srgbClr val="C9CFC9"/>
            </a:solidFill>
            <a:prstDash val="solid"/>
          </a:ln>
        </p:spPr>
      </p:sp>
      <p:sp>
        <p:nvSpPr>
          <p:cNvPr id="55" name="Text 53"/>
          <p:cNvSpPr/>
          <p:nvPr/>
        </p:nvSpPr>
        <p:spPr>
          <a:xfrm>
            <a:off x="612000" y="4827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11</a:t>
            </a:r>
            <a:endParaRPr lang="en-US" sz="850" dirty="0"/>
          </a:p>
        </p:txBody>
      </p:sp>
      <p:sp>
        <p:nvSpPr>
          <p:cNvPr id="56" name="Text 54"/>
          <p:cNvSpPr/>
          <p:nvPr/>
        </p:nvSpPr>
        <p:spPr>
          <a:xfrm>
            <a:off x="918000" y="4827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Nadine Ferrand</a:t>
            </a:r>
            <a:endParaRPr lang="en-US" sz="1000" dirty="0"/>
          </a:p>
        </p:txBody>
      </p:sp>
      <p:sp>
        <p:nvSpPr>
          <p:cNvPr id="57" name="Text 55"/>
          <p:cNvSpPr/>
          <p:nvPr/>
        </p:nvSpPr>
        <p:spPr>
          <a:xfrm>
            <a:off x="3204000" y="4827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22</a:t>
            </a:r>
            <a:endParaRPr lang="en-US" sz="900" dirty="0"/>
          </a:p>
        </p:txBody>
      </p:sp>
      <p:sp>
        <p:nvSpPr>
          <p:cNvPr id="58" name="Shape 56"/>
          <p:cNvSpPr/>
          <p:nvPr/>
        </p:nvSpPr>
        <p:spPr>
          <a:xfrm>
            <a:off x="612000" y="5029200"/>
            <a:ext cx="2952000" cy="0"/>
          </a:xfrm>
          <a:prstGeom prst="line">
            <a:avLst/>
          </a:prstGeom>
          <a:noFill/>
          <a:ln w="3810">
            <a:solidFill>
              <a:srgbClr val="C9CFC9"/>
            </a:solidFill>
            <a:prstDash val="solid"/>
          </a:ln>
        </p:spPr>
      </p:sp>
      <p:sp>
        <p:nvSpPr>
          <p:cNvPr id="59" name="Text 57"/>
          <p:cNvSpPr/>
          <p:nvPr/>
        </p:nvSpPr>
        <p:spPr>
          <a:xfrm>
            <a:off x="612000" y="5029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12</a:t>
            </a:r>
            <a:endParaRPr lang="en-US" sz="850" dirty="0"/>
          </a:p>
        </p:txBody>
      </p:sp>
      <p:sp>
        <p:nvSpPr>
          <p:cNvPr id="60" name="Text 58"/>
          <p:cNvSpPr/>
          <p:nvPr/>
        </p:nvSpPr>
        <p:spPr>
          <a:xfrm>
            <a:off x="918000" y="5029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Maison et Domaine André Goichot</a:t>
            </a:r>
            <a:endParaRPr lang="en-US" sz="1000" dirty="0"/>
          </a:p>
        </p:txBody>
      </p:sp>
      <p:sp>
        <p:nvSpPr>
          <p:cNvPr id="61" name="Text 59"/>
          <p:cNvSpPr/>
          <p:nvPr/>
        </p:nvSpPr>
        <p:spPr>
          <a:xfrm>
            <a:off x="3204000" y="5029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23</a:t>
            </a:r>
            <a:endParaRPr lang="en-US" sz="900" dirty="0"/>
          </a:p>
        </p:txBody>
      </p:sp>
      <p:sp>
        <p:nvSpPr>
          <p:cNvPr id="62" name="Shape 60"/>
          <p:cNvSpPr/>
          <p:nvPr/>
        </p:nvSpPr>
        <p:spPr>
          <a:xfrm>
            <a:off x="612000" y="5230800"/>
            <a:ext cx="2952000" cy="0"/>
          </a:xfrm>
          <a:prstGeom prst="line">
            <a:avLst/>
          </a:prstGeom>
          <a:noFill/>
          <a:ln w="3810">
            <a:solidFill>
              <a:srgbClr val="C9CFC9"/>
            </a:solidFill>
            <a:prstDash val="solid"/>
          </a:ln>
        </p:spPr>
      </p:sp>
      <p:sp>
        <p:nvSpPr>
          <p:cNvPr id="63" name="Text 61"/>
          <p:cNvSpPr/>
          <p:nvPr/>
        </p:nvSpPr>
        <p:spPr>
          <a:xfrm>
            <a:off x="612000" y="5230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13</a:t>
            </a:r>
            <a:endParaRPr lang="en-US" sz="850" dirty="0"/>
          </a:p>
        </p:txBody>
      </p:sp>
      <p:sp>
        <p:nvSpPr>
          <p:cNvPr id="64" name="Text 62"/>
          <p:cNvSpPr/>
          <p:nvPr/>
        </p:nvSpPr>
        <p:spPr>
          <a:xfrm>
            <a:off x="918000" y="5230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du Cray</a:t>
            </a:r>
            <a:endParaRPr lang="en-US" sz="1000" dirty="0"/>
          </a:p>
        </p:txBody>
      </p:sp>
      <p:sp>
        <p:nvSpPr>
          <p:cNvPr id="65" name="Text 63"/>
          <p:cNvSpPr/>
          <p:nvPr/>
        </p:nvSpPr>
        <p:spPr>
          <a:xfrm>
            <a:off x="3204000" y="5230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25</a:t>
            </a:r>
            <a:endParaRPr lang="en-US" sz="900" dirty="0"/>
          </a:p>
        </p:txBody>
      </p:sp>
      <p:sp>
        <p:nvSpPr>
          <p:cNvPr id="66" name="Shape 64"/>
          <p:cNvSpPr/>
          <p:nvPr/>
        </p:nvSpPr>
        <p:spPr>
          <a:xfrm>
            <a:off x="612000" y="5432400"/>
            <a:ext cx="2952000" cy="0"/>
          </a:xfrm>
          <a:prstGeom prst="line">
            <a:avLst/>
          </a:prstGeom>
          <a:noFill/>
          <a:ln w="3810">
            <a:solidFill>
              <a:srgbClr val="C9CFC9"/>
            </a:solidFill>
            <a:prstDash val="solid"/>
          </a:ln>
        </p:spPr>
      </p:sp>
      <p:sp>
        <p:nvSpPr>
          <p:cNvPr id="67" name="Text 65"/>
          <p:cNvSpPr/>
          <p:nvPr/>
        </p:nvSpPr>
        <p:spPr>
          <a:xfrm>
            <a:off x="612000" y="5432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14</a:t>
            </a:r>
            <a:endParaRPr lang="en-US" sz="850" dirty="0"/>
          </a:p>
        </p:txBody>
      </p:sp>
      <p:sp>
        <p:nvSpPr>
          <p:cNvPr id="68" name="Text 66"/>
          <p:cNvSpPr/>
          <p:nvPr/>
        </p:nvSpPr>
        <p:spPr>
          <a:xfrm>
            <a:off x="918000" y="5432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Les Guignottes</a:t>
            </a:r>
            <a:endParaRPr lang="en-US" sz="1000" dirty="0"/>
          </a:p>
        </p:txBody>
      </p:sp>
      <p:sp>
        <p:nvSpPr>
          <p:cNvPr id="69" name="Text 67"/>
          <p:cNvSpPr/>
          <p:nvPr/>
        </p:nvSpPr>
        <p:spPr>
          <a:xfrm>
            <a:off x="3204000" y="5432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26</a:t>
            </a:r>
            <a:endParaRPr lang="en-US" sz="900" dirty="0"/>
          </a:p>
        </p:txBody>
      </p:sp>
      <p:sp>
        <p:nvSpPr>
          <p:cNvPr id="70" name="Shape 68"/>
          <p:cNvSpPr/>
          <p:nvPr/>
        </p:nvSpPr>
        <p:spPr>
          <a:xfrm>
            <a:off x="612000" y="5634000"/>
            <a:ext cx="2952000" cy="0"/>
          </a:xfrm>
          <a:prstGeom prst="line">
            <a:avLst/>
          </a:prstGeom>
          <a:noFill/>
          <a:ln w="3810">
            <a:solidFill>
              <a:srgbClr val="C9CFC9"/>
            </a:solidFill>
            <a:prstDash val="solid"/>
          </a:ln>
        </p:spPr>
      </p:sp>
      <p:sp>
        <p:nvSpPr>
          <p:cNvPr id="71" name="Text 69"/>
          <p:cNvSpPr/>
          <p:nvPr/>
        </p:nvSpPr>
        <p:spPr>
          <a:xfrm>
            <a:off x="612000" y="5634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15</a:t>
            </a:r>
            <a:endParaRPr lang="en-US" sz="850" dirty="0"/>
          </a:p>
        </p:txBody>
      </p:sp>
      <p:sp>
        <p:nvSpPr>
          <p:cNvPr id="72" name="Text 70"/>
          <p:cNvSpPr/>
          <p:nvPr/>
        </p:nvSpPr>
        <p:spPr>
          <a:xfrm>
            <a:off x="918000" y="5634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des Verchères</a:t>
            </a:r>
            <a:endParaRPr lang="en-US" sz="1000" dirty="0"/>
          </a:p>
        </p:txBody>
      </p:sp>
      <p:sp>
        <p:nvSpPr>
          <p:cNvPr id="73" name="Text 71"/>
          <p:cNvSpPr/>
          <p:nvPr/>
        </p:nvSpPr>
        <p:spPr>
          <a:xfrm>
            <a:off x="3204000" y="5634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27</a:t>
            </a:r>
            <a:endParaRPr lang="en-US" sz="900" dirty="0"/>
          </a:p>
        </p:txBody>
      </p:sp>
      <p:sp>
        <p:nvSpPr>
          <p:cNvPr id="74" name="Shape 72"/>
          <p:cNvSpPr/>
          <p:nvPr/>
        </p:nvSpPr>
        <p:spPr>
          <a:xfrm>
            <a:off x="612000" y="5835600"/>
            <a:ext cx="2952000" cy="0"/>
          </a:xfrm>
          <a:prstGeom prst="line">
            <a:avLst/>
          </a:prstGeom>
          <a:noFill/>
          <a:ln w="3810">
            <a:solidFill>
              <a:srgbClr val="C9CFC9"/>
            </a:solidFill>
            <a:prstDash val="solid"/>
          </a:ln>
        </p:spPr>
      </p:sp>
      <p:sp>
        <p:nvSpPr>
          <p:cNvPr id="75" name="Shape 73"/>
          <p:cNvSpPr/>
          <p:nvPr/>
        </p:nvSpPr>
        <p:spPr>
          <a:xfrm>
            <a:off x="612000" y="6066000"/>
            <a:ext cx="115200" cy="115200"/>
          </a:xfrm>
          <a:prstGeom prst="rect">
            <a:avLst/>
          </a:prstGeom>
          <a:solidFill>
            <a:srgbClr val="3C5B47"/>
          </a:solidFill>
          <a:ln w="7620">
            <a:solidFill>
              <a:srgbClr val="3C5B47"/>
            </a:solidFill>
            <a:prstDash val="solid"/>
          </a:ln>
        </p:spPr>
      </p:sp>
      <p:sp>
        <p:nvSpPr>
          <p:cNvPr id="76" name="Text 74"/>
          <p:cNvSpPr/>
          <p:nvPr/>
        </p:nvSpPr>
        <p:spPr>
          <a:xfrm>
            <a:off x="806400" y="59868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Rhône</a:t>
            </a:r>
            <a:endParaRPr lang="en-US" sz="1300" dirty="0"/>
          </a:p>
        </p:txBody>
      </p:sp>
      <p:sp>
        <p:nvSpPr>
          <p:cNvPr id="77" name="Shape 75"/>
          <p:cNvSpPr/>
          <p:nvPr/>
        </p:nvSpPr>
        <p:spPr>
          <a:xfrm>
            <a:off x="612000" y="6260400"/>
            <a:ext cx="2952000" cy="0"/>
          </a:xfrm>
          <a:prstGeom prst="line">
            <a:avLst/>
          </a:prstGeom>
          <a:noFill/>
          <a:ln w="11430">
            <a:solidFill>
              <a:srgbClr val="67067C"/>
            </a:solidFill>
            <a:prstDash val="solid"/>
          </a:ln>
        </p:spPr>
      </p:sp>
      <p:sp>
        <p:nvSpPr>
          <p:cNvPr id="78" name="Text 76"/>
          <p:cNvSpPr/>
          <p:nvPr/>
        </p:nvSpPr>
        <p:spPr>
          <a:xfrm>
            <a:off x="612000" y="6310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16</a:t>
            </a:r>
            <a:endParaRPr lang="en-US" sz="850" dirty="0"/>
          </a:p>
        </p:txBody>
      </p:sp>
      <p:sp>
        <p:nvSpPr>
          <p:cNvPr id="79" name="Text 77"/>
          <p:cNvSpPr/>
          <p:nvPr/>
        </p:nvSpPr>
        <p:spPr>
          <a:xfrm>
            <a:off x="918000" y="6310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Le Prieuré des Papes</a:t>
            </a:r>
            <a:endParaRPr lang="en-US" sz="1000" dirty="0"/>
          </a:p>
        </p:txBody>
      </p:sp>
      <p:sp>
        <p:nvSpPr>
          <p:cNvPr id="80" name="Text 78"/>
          <p:cNvSpPr/>
          <p:nvPr/>
        </p:nvSpPr>
        <p:spPr>
          <a:xfrm>
            <a:off x="3204000" y="6310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29</a:t>
            </a:r>
            <a:endParaRPr lang="en-US" sz="900" dirty="0"/>
          </a:p>
        </p:txBody>
      </p:sp>
      <p:sp>
        <p:nvSpPr>
          <p:cNvPr id="81" name="Shape 79"/>
          <p:cNvSpPr/>
          <p:nvPr/>
        </p:nvSpPr>
        <p:spPr>
          <a:xfrm>
            <a:off x="612000" y="6512400"/>
            <a:ext cx="2952000" cy="0"/>
          </a:xfrm>
          <a:prstGeom prst="line">
            <a:avLst/>
          </a:prstGeom>
          <a:noFill/>
          <a:ln w="3810">
            <a:solidFill>
              <a:srgbClr val="C9CFC9"/>
            </a:solidFill>
            <a:prstDash val="solid"/>
          </a:ln>
        </p:spPr>
      </p:sp>
      <p:sp>
        <p:nvSpPr>
          <p:cNvPr id="82" name="Text 80"/>
          <p:cNvSpPr/>
          <p:nvPr/>
        </p:nvSpPr>
        <p:spPr>
          <a:xfrm>
            <a:off x="612000" y="6512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17</a:t>
            </a:r>
            <a:endParaRPr lang="en-US" sz="850" dirty="0"/>
          </a:p>
        </p:txBody>
      </p:sp>
      <p:sp>
        <p:nvSpPr>
          <p:cNvPr id="83" name="Text 81"/>
          <p:cNvSpPr/>
          <p:nvPr/>
        </p:nvSpPr>
        <p:spPr>
          <a:xfrm>
            <a:off x="918000" y="6512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 Coyeux</a:t>
            </a:r>
            <a:endParaRPr lang="en-US" sz="1000" dirty="0"/>
          </a:p>
        </p:txBody>
      </p:sp>
      <p:sp>
        <p:nvSpPr>
          <p:cNvPr id="84" name="Text 82"/>
          <p:cNvSpPr/>
          <p:nvPr/>
        </p:nvSpPr>
        <p:spPr>
          <a:xfrm>
            <a:off x="3204000" y="6512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30</a:t>
            </a:r>
            <a:endParaRPr lang="en-US" sz="900" dirty="0"/>
          </a:p>
        </p:txBody>
      </p:sp>
      <p:sp>
        <p:nvSpPr>
          <p:cNvPr id="85" name="Shape 83"/>
          <p:cNvSpPr/>
          <p:nvPr/>
        </p:nvSpPr>
        <p:spPr>
          <a:xfrm>
            <a:off x="612000" y="6714000"/>
            <a:ext cx="2952000" cy="0"/>
          </a:xfrm>
          <a:prstGeom prst="line">
            <a:avLst/>
          </a:prstGeom>
          <a:noFill/>
          <a:ln w="3810">
            <a:solidFill>
              <a:srgbClr val="C9CFC9"/>
            </a:solidFill>
            <a:prstDash val="solid"/>
          </a:ln>
        </p:spPr>
      </p:sp>
      <p:sp>
        <p:nvSpPr>
          <p:cNvPr id="86" name="Text 84"/>
          <p:cNvSpPr/>
          <p:nvPr/>
        </p:nvSpPr>
        <p:spPr>
          <a:xfrm>
            <a:off x="612000" y="6714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18</a:t>
            </a:r>
            <a:endParaRPr lang="en-US" sz="850" dirty="0"/>
          </a:p>
        </p:txBody>
      </p:sp>
      <p:sp>
        <p:nvSpPr>
          <p:cNvPr id="87" name="Text 85"/>
          <p:cNvSpPr/>
          <p:nvPr/>
        </p:nvSpPr>
        <p:spPr>
          <a:xfrm>
            <a:off x="918000" y="6714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du Moulin Blanc</a:t>
            </a:r>
            <a:endParaRPr lang="en-US" sz="1000" dirty="0"/>
          </a:p>
        </p:txBody>
      </p:sp>
      <p:sp>
        <p:nvSpPr>
          <p:cNvPr id="88" name="Text 86"/>
          <p:cNvSpPr/>
          <p:nvPr/>
        </p:nvSpPr>
        <p:spPr>
          <a:xfrm>
            <a:off x="3204000" y="6714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31</a:t>
            </a:r>
            <a:endParaRPr lang="en-US" sz="900" dirty="0"/>
          </a:p>
        </p:txBody>
      </p:sp>
      <p:sp>
        <p:nvSpPr>
          <p:cNvPr id="89" name="Shape 87"/>
          <p:cNvSpPr/>
          <p:nvPr/>
        </p:nvSpPr>
        <p:spPr>
          <a:xfrm>
            <a:off x="612000" y="6915600"/>
            <a:ext cx="2952000" cy="0"/>
          </a:xfrm>
          <a:prstGeom prst="line">
            <a:avLst/>
          </a:prstGeom>
          <a:noFill/>
          <a:ln w="3810">
            <a:solidFill>
              <a:srgbClr val="C9CFC9"/>
            </a:solidFill>
            <a:prstDash val="solid"/>
          </a:ln>
        </p:spPr>
      </p:sp>
      <p:sp>
        <p:nvSpPr>
          <p:cNvPr id="90" name="Text 88"/>
          <p:cNvSpPr/>
          <p:nvPr/>
        </p:nvSpPr>
        <p:spPr>
          <a:xfrm>
            <a:off x="612000" y="6915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19</a:t>
            </a:r>
            <a:endParaRPr lang="en-US" sz="850" dirty="0"/>
          </a:p>
        </p:txBody>
      </p:sp>
      <p:sp>
        <p:nvSpPr>
          <p:cNvPr id="91" name="Text 89"/>
          <p:cNvSpPr/>
          <p:nvPr/>
        </p:nvSpPr>
        <p:spPr>
          <a:xfrm>
            <a:off x="918000" y="6915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 la Pousterle</a:t>
            </a:r>
            <a:endParaRPr lang="en-US" sz="1000" dirty="0"/>
          </a:p>
        </p:txBody>
      </p:sp>
      <p:sp>
        <p:nvSpPr>
          <p:cNvPr id="92" name="Text 90"/>
          <p:cNvSpPr/>
          <p:nvPr/>
        </p:nvSpPr>
        <p:spPr>
          <a:xfrm>
            <a:off x="3204000" y="6915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32</a:t>
            </a:r>
            <a:endParaRPr lang="en-US" sz="900" dirty="0"/>
          </a:p>
        </p:txBody>
      </p:sp>
      <p:sp>
        <p:nvSpPr>
          <p:cNvPr id="93" name="Shape 91"/>
          <p:cNvSpPr/>
          <p:nvPr/>
        </p:nvSpPr>
        <p:spPr>
          <a:xfrm>
            <a:off x="612000" y="7117200"/>
            <a:ext cx="2952000" cy="0"/>
          </a:xfrm>
          <a:prstGeom prst="line">
            <a:avLst/>
          </a:prstGeom>
          <a:noFill/>
          <a:ln w="3810">
            <a:solidFill>
              <a:srgbClr val="C9CFC9"/>
            </a:solidFill>
            <a:prstDash val="solid"/>
          </a:ln>
        </p:spPr>
      </p:sp>
      <p:sp>
        <p:nvSpPr>
          <p:cNvPr id="94" name="Text 92"/>
          <p:cNvSpPr/>
          <p:nvPr/>
        </p:nvSpPr>
        <p:spPr>
          <a:xfrm>
            <a:off x="612000" y="7117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20</a:t>
            </a:r>
            <a:endParaRPr lang="en-US" sz="850" dirty="0"/>
          </a:p>
        </p:txBody>
      </p:sp>
      <p:sp>
        <p:nvSpPr>
          <p:cNvPr id="95" name="Text 93"/>
          <p:cNvSpPr/>
          <p:nvPr/>
        </p:nvSpPr>
        <p:spPr>
          <a:xfrm>
            <a:off x="918000" y="7117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des Pasquiers</a:t>
            </a:r>
            <a:endParaRPr lang="en-US" sz="1000" dirty="0"/>
          </a:p>
        </p:txBody>
      </p:sp>
      <p:sp>
        <p:nvSpPr>
          <p:cNvPr id="96" name="Text 94"/>
          <p:cNvSpPr/>
          <p:nvPr/>
        </p:nvSpPr>
        <p:spPr>
          <a:xfrm>
            <a:off x="3204000" y="7117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33</a:t>
            </a:r>
            <a:endParaRPr lang="en-US" sz="900" dirty="0"/>
          </a:p>
        </p:txBody>
      </p:sp>
      <p:sp>
        <p:nvSpPr>
          <p:cNvPr id="97" name="Shape 95"/>
          <p:cNvSpPr/>
          <p:nvPr/>
        </p:nvSpPr>
        <p:spPr>
          <a:xfrm>
            <a:off x="612000" y="7318800"/>
            <a:ext cx="2952000" cy="0"/>
          </a:xfrm>
          <a:prstGeom prst="line">
            <a:avLst/>
          </a:prstGeom>
          <a:noFill/>
          <a:ln w="3810">
            <a:solidFill>
              <a:srgbClr val="C9CFC9"/>
            </a:solidFill>
            <a:prstDash val="solid"/>
          </a:ln>
        </p:spPr>
      </p:sp>
      <p:sp>
        <p:nvSpPr>
          <p:cNvPr id="98" name="Text 96"/>
          <p:cNvSpPr/>
          <p:nvPr/>
        </p:nvSpPr>
        <p:spPr>
          <a:xfrm>
            <a:off x="612000" y="7318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21</a:t>
            </a:r>
            <a:endParaRPr lang="en-US" sz="850" dirty="0"/>
          </a:p>
        </p:txBody>
      </p:sp>
      <p:sp>
        <p:nvSpPr>
          <p:cNvPr id="99" name="Text 97"/>
          <p:cNvSpPr/>
          <p:nvPr/>
        </p:nvSpPr>
        <p:spPr>
          <a:xfrm>
            <a:off x="918000" y="7318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Trichon</a:t>
            </a:r>
            <a:endParaRPr lang="en-US" sz="1000" dirty="0"/>
          </a:p>
        </p:txBody>
      </p:sp>
      <p:sp>
        <p:nvSpPr>
          <p:cNvPr id="100" name="Text 98"/>
          <p:cNvSpPr/>
          <p:nvPr/>
        </p:nvSpPr>
        <p:spPr>
          <a:xfrm>
            <a:off x="3204000" y="7318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34</a:t>
            </a:r>
            <a:endParaRPr lang="en-US" sz="900" dirty="0"/>
          </a:p>
        </p:txBody>
      </p:sp>
      <p:sp>
        <p:nvSpPr>
          <p:cNvPr id="101" name="Shape 99"/>
          <p:cNvSpPr/>
          <p:nvPr/>
        </p:nvSpPr>
        <p:spPr>
          <a:xfrm>
            <a:off x="612000" y="7520400"/>
            <a:ext cx="2952000" cy="0"/>
          </a:xfrm>
          <a:prstGeom prst="line">
            <a:avLst/>
          </a:prstGeom>
          <a:noFill/>
          <a:ln w="3810">
            <a:solidFill>
              <a:srgbClr val="C9CFC9"/>
            </a:solidFill>
            <a:prstDash val="solid"/>
          </a:ln>
        </p:spPr>
      </p:sp>
      <p:sp>
        <p:nvSpPr>
          <p:cNvPr id="102" name="Shape 100"/>
          <p:cNvSpPr/>
          <p:nvPr/>
        </p:nvSpPr>
        <p:spPr>
          <a:xfrm>
            <a:off x="3780000" y="1141200"/>
            <a:ext cx="115200" cy="115200"/>
          </a:xfrm>
          <a:prstGeom prst="rect">
            <a:avLst/>
          </a:prstGeom>
          <a:solidFill>
            <a:srgbClr val="D08C3C"/>
          </a:solidFill>
          <a:ln w="7620">
            <a:solidFill>
              <a:srgbClr val="D08C3C"/>
            </a:solidFill>
            <a:prstDash val="solid"/>
          </a:ln>
        </p:spPr>
      </p:sp>
      <p:sp>
        <p:nvSpPr>
          <p:cNvPr id="103" name="Text 101"/>
          <p:cNvSpPr/>
          <p:nvPr/>
        </p:nvSpPr>
        <p:spPr>
          <a:xfrm>
            <a:off x="3974400" y="10620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Sud-Ouest</a:t>
            </a:r>
            <a:endParaRPr lang="en-US" sz="1300" dirty="0"/>
          </a:p>
        </p:txBody>
      </p:sp>
      <p:sp>
        <p:nvSpPr>
          <p:cNvPr id="104" name="Shape 102"/>
          <p:cNvSpPr/>
          <p:nvPr/>
        </p:nvSpPr>
        <p:spPr>
          <a:xfrm>
            <a:off x="3780000" y="1335600"/>
            <a:ext cx="2952000" cy="0"/>
          </a:xfrm>
          <a:prstGeom prst="line">
            <a:avLst/>
          </a:prstGeom>
          <a:noFill/>
          <a:ln w="11430">
            <a:solidFill>
              <a:srgbClr val="67067C"/>
            </a:solidFill>
            <a:prstDash val="solid"/>
          </a:ln>
        </p:spPr>
      </p:sp>
      <p:sp>
        <p:nvSpPr>
          <p:cNvPr id="105" name="Text 103"/>
          <p:cNvSpPr/>
          <p:nvPr/>
        </p:nvSpPr>
        <p:spPr>
          <a:xfrm>
            <a:off x="3780000" y="1386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22</a:t>
            </a:r>
            <a:endParaRPr lang="en-US" sz="850" dirty="0"/>
          </a:p>
        </p:txBody>
      </p:sp>
      <p:sp>
        <p:nvSpPr>
          <p:cNvPr id="106" name="Text 104"/>
          <p:cNvSpPr/>
          <p:nvPr/>
        </p:nvSpPr>
        <p:spPr>
          <a:xfrm>
            <a:off x="4086000" y="1386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Stratéus</a:t>
            </a:r>
            <a:endParaRPr lang="en-US" sz="1000" dirty="0"/>
          </a:p>
        </p:txBody>
      </p:sp>
      <p:sp>
        <p:nvSpPr>
          <p:cNvPr id="107" name="Text 105"/>
          <p:cNvSpPr/>
          <p:nvPr/>
        </p:nvSpPr>
        <p:spPr>
          <a:xfrm>
            <a:off x="6372000" y="1386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36</a:t>
            </a:r>
            <a:endParaRPr lang="en-US" sz="900" dirty="0"/>
          </a:p>
        </p:txBody>
      </p:sp>
      <p:sp>
        <p:nvSpPr>
          <p:cNvPr id="108" name="Shape 106"/>
          <p:cNvSpPr/>
          <p:nvPr/>
        </p:nvSpPr>
        <p:spPr>
          <a:xfrm>
            <a:off x="3780000" y="1587600"/>
            <a:ext cx="2952000" cy="0"/>
          </a:xfrm>
          <a:prstGeom prst="line">
            <a:avLst/>
          </a:prstGeom>
          <a:noFill/>
          <a:ln w="3810">
            <a:solidFill>
              <a:srgbClr val="C9CFC9"/>
            </a:solidFill>
            <a:prstDash val="solid"/>
          </a:ln>
        </p:spPr>
      </p:sp>
      <p:sp>
        <p:nvSpPr>
          <p:cNvPr id="109" name="Text 107"/>
          <p:cNvSpPr/>
          <p:nvPr/>
        </p:nvSpPr>
        <p:spPr>
          <a:xfrm>
            <a:off x="3780000" y="1587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23</a:t>
            </a:r>
            <a:endParaRPr lang="en-US" sz="850" dirty="0"/>
          </a:p>
        </p:txBody>
      </p:sp>
      <p:sp>
        <p:nvSpPr>
          <p:cNvPr id="110" name="Text 108"/>
          <p:cNvSpPr/>
          <p:nvPr/>
        </p:nvSpPr>
        <p:spPr>
          <a:xfrm>
            <a:off x="4086000" y="1587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Haut Marin</a:t>
            </a:r>
            <a:endParaRPr lang="en-US" sz="1000" dirty="0"/>
          </a:p>
        </p:txBody>
      </p:sp>
      <p:sp>
        <p:nvSpPr>
          <p:cNvPr id="111" name="Text 109"/>
          <p:cNvSpPr/>
          <p:nvPr/>
        </p:nvSpPr>
        <p:spPr>
          <a:xfrm>
            <a:off x="6372000" y="1587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37</a:t>
            </a:r>
            <a:endParaRPr lang="en-US" sz="900" dirty="0"/>
          </a:p>
        </p:txBody>
      </p:sp>
      <p:sp>
        <p:nvSpPr>
          <p:cNvPr id="112" name="Shape 110"/>
          <p:cNvSpPr/>
          <p:nvPr/>
        </p:nvSpPr>
        <p:spPr>
          <a:xfrm>
            <a:off x="3780000" y="1789200"/>
            <a:ext cx="2952000" cy="0"/>
          </a:xfrm>
          <a:prstGeom prst="line">
            <a:avLst/>
          </a:prstGeom>
          <a:noFill/>
          <a:ln w="3810">
            <a:solidFill>
              <a:srgbClr val="C9CFC9"/>
            </a:solidFill>
            <a:prstDash val="solid"/>
          </a:ln>
        </p:spPr>
      </p:sp>
      <p:sp>
        <p:nvSpPr>
          <p:cNvPr id="113" name="Text 111"/>
          <p:cNvSpPr/>
          <p:nvPr/>
        </p:nvSpPr>
        <p:spPr>
          <a:xfrm>
            <a:off x="3780000" y="1789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24</a:t>
            </a:r>
            <a:endParaRPr lang="en-US" sz="850" dirty="0"/>
          </a:p>
        </p:txBody>
      </p:sp>
      <p:sp>
        <p:nvSpPr>
          <p:cNvPr id="114" name="Text 112"/>
          <p:cNvSpPr/>
          <p:nvPr/>
        </p:nvSpPr>
        <p:spPr>
          <a:xfrm>
            <a:off x="4086000" y="1789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Fabien Castaing</a:t>
            </a:r>
            <a:endParaRPr lang="en-US" sz="1000" dirty="0"/>
          </a:p>
        </p:txBody>
      </p:sp>
      <p:sp>
        <p:nvSpPr>
          <p:cNvPr id="115" name="Text 113"/>
          <p:cNvSpPr/>
          <p:nvPr/>
        </p:nvSpPr>
        <p:spPr>
          <a:xfrm>
            <a:off x="6372000" y="1789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39</a:t>
            </a:r>
            <a:endParaRPr lang="en-US" sz="900" dirty="0"/>
          </a:p>
        </p:txBody>
      </p:sp>
      <p:sp>
        <p:nvSpPr>
          <p:cNvPr id="116" name="Shape 114"/>
          <p:cNvSpPr/>
          <p:nvPr/>
        </p:nvSpPr>
        <p:spPr>
          <a:xfrm>
            <a:off x="3780000" y="1990800"/>
            <a:ext cx="2952000" cy="0"/>
          </a:xfrm>
          <a:prstGeom prst="line">
            <a:avLst/>
          </a:prstGeom>
          <a:noFill/>
          <a:ln w="3810">
            <a:solidFill>
              <a:srgbClr val="C9CFC9"/>
            </a:solidFill>
            <a:prstDash val="solid"/>
          </a:ln>
        </p:spPr>
      </p:sp>
      <p:sp>
        <p:nvSpPr>
          <p:cNvPr id="117" name="Shape 115"/>
          <p:cNvSpPr/>
          <p:nvPr/>
        </p:nvSpPr>
        <p:spPr>
          <a:xfrm>
            <a:off x="3780000" y="2221200"/>
            <a:ext cx="115200" cy="115200"/>
          </a:xfrm>
          <a:prstGeom prst="rect">
            <a:avLst/>
          </a:prstGeom>
          <a:solidFill>
            <a:srgbClr val="A8515F"/>
          </a:solidFill>
          <a:ln w="7620">
            <a:solidFill>
              <a:srgbClr val="A8515F"/>
            </a:solidFill>
            <a:prstDash val="solid"/>
          </a:ln>
        </p:spPr>
      </p:sp>
      <p:sp>
        <p:nvSpPr>
          <p:cNvPr id="118" name="Text 116"/>
          <p:cNvSpPr/>
          <p:nvPr/>
        </p:nvSpPr>
        <p:spPr>
          <a:xfrm>
            <a:off x="3974400" y="21420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Bordeaux</a:t>
            </a:r>
            <a:endParaRPr lang="en-US" sz="1300" dirty="0"/>
          </a:p>
        </p:txBody>
      </p:sp>
      <p:sp>
        <p:nvSpPr>
          <p:cNvPr id="119" name="Shape 117"/>
          <p:cNvSpPr/>
          <p:nvPr/>
        </p:nvSpPr>
        <p:spPr>
          <a:xfrm>
            <a:off x="3780000" y="2415600"/>
            <a:ext cx="2952000" cy="0"/>
          </a:xfrm>
          <a:prstGeom prst="line">
            <a:avLst/>
          </a:prstGeom>
          <a:noFill/>
          <a:ln w="11430">
            <a:solidFill>
              <a:srgbClr val="67067C"/>
            </a:solidFill>
            <a:prstDash val="solid"/>
          </a:ln>
        </p:spPr>
      </p:sp>
      <p:sp>
        <p:nvSpPr>
          <p:cNvPr id="120" name="Text 118"/>
          <p:cNvSpPr/>
          <p:nvPr/>
        </p:nvSpPr>
        <p:spPr>
          <a:xfrm>
            <a:off x="3780000" y="2466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25</a:t>
            </a:r>
            <a:endParaRPr lang="en-US" sz="850" dirty="0"/>
          </a:p>
        </p:txBody>
      </p:sp>
      <p:sp>
        <p:nvSpPr>
          <p:cNvPr id="121" name="Text 119"/>
          <p:cNvSpPr/>
          <p:nvPr/>
        </p:nvSpPr>
        <p:spPr>
          <a:xfrm>
            <a:off x="4086000" y="2466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La Passion des Terroirs</a:t>
            </a:r>
            <a:endParaRPr lang="en-US" sz="1000" dirty="0"/>
          </a:p>
        </p:txBody>
      </p:sp>
      <p:sp>
        <p:nvSpPr>
          <p:cNvPr id="122" name="Text 120"/>
          <p:cNvSpPr/>
          <p:nvPr/>
        </p:nvSpPr>
        <p:spPr>
          <a:xfrm>
            <a:off x="6372000" y="2466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42</a:t>
            </a:r>
            <a:endParaRPr lang="en-US" sz="900" dirty="0"/>
          </a:p>
        </p:txBody>
      </p:sp>
      <p:sp>
        <p:nvSpPr>
          <p:cNvPr id="123" name="Shape 121"/>
          <p:cNvSpPr/>
          <p:nvPr/>
        </p:nvSpPr>
        <p:spPr>
          <a:xfrm>
            <a:off x="3780000" y="2667600"/>
            <a:ext cx="2952000" cy="0"/>
          </a:xfrm>
          <a:prstGeom prst="line">
            <a:avLst/>
          </a:prstGeom>
          <a:noFill/>
          <a:ln w="3810">
            <a:solidFill>
              <a:srgbClr val="C9CFC9"/>
            </a:solidFill>
            <a:prstDash val="solid"/>
          </a:ln>
        </p:spPr>
      </p:sp>
      <p:sp>
        <p:nvSpPr>
          <p:cNvPr id="124" name="Text 122"/>
          <p:cNvSpPr/>
          <p:nvPr/>
        </p:nvSpPr>
        <p:spPr>
          <a:xfrm>
            <a:off x="3780000" y="2667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26</a:t>
            </a:r>
            <a:endParaRPr lang="en-US" sz="850" dirty="0"/>
          </a:p>
        </p:txBody>
      </p:sp>
      <p:sp>
        <p:nvSpPr>
          <p:cNvPr id="125" name="Text 123"/>
          <p:cNvSpPr/>
          <p:nvPr/>
        </p:nvSpPr>
        <p:spPr>
          <a:xfrm>
            <a:off x="4086000" y="2667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la Gorce</a:t>
            </a:r>
            <a:endParaRPr lang="en-US" sz="1000" dirty="0"/>
          </a:p>
        </p:txBody>
      </p:sp>
      <p:sp>
        <p:nvSpPr>
          <p:cNvPr id="126" name="Text 124"/>
          <p:cNvSpPr/>
          <p:nvPr/>
        </p:nvSpPr>
        <p:spPr>
          <a:xfrm>
            <a:off x="6372000" y="2667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45</a:t>
            </a:r>
            <a:endParaRPr lang="en-US" sz="900" dirty="0"/>
          </a:p>
        </p:txBody>
      </p:sp>
      <p:sp>
        <p:nvSpPr>
          <p:cNvPr id="127" name="Shape 125"/>
          <p:cNvSpPr/>
          <p:nvPr/>
        </p:nvSpPr>
        <p:spPr>
          <a:xfrm>
            <a:off x="3780000" y="2869200"/>
            <a:ext cx="2952000" cy="0"/>
          </a:xfrm>
          <a:prstGeom prst="line">
            <a:avLst/>
          </a:prstGeom>
          <a:noFill/>
          <a:ln w="3810">
            <a:solidFill>
              <a:srgbClr val="C9CFC9"/>
            </a:solidFill>
            <a:prstDash val="solid"/>
          </a:ln>
        </p:spPr>
      </p:sp>
      <p:sp>
        <p:nvSpPr>
          <p:cNvPr id="128" name="Text 126"/>
          <p:cNvSpPr/>
          <p:nvPr/>
        </p:nvSpPr>
        <p:spPr>
          <a:xfrm>
            <a:off x="3780000" y="2869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27</a:t>
            </a:r>
            <a:endParaRPr lang="en-US" sz="850" dirty="0"/>
          </a:p>
        </p:txBody>
      </p:sp>
      <p:sp>
        <p:nvSpPr>
          <p:cNvPr id="129" name="Text 127"/>
          <p:cNvSpPr/>
          <p:nvPr/>
        </p:nvSpPr>
        <p:spPr>
          <a:xfrm>
            <a:off x="4086000" y="2869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Falfas</a:t>
            </a:r>
            <a:endParaRPr lang="en-US" sz="1000" dirty="0"/>
          </a:p>
        </p:txBody>
      </p:sp>
      <p:sp>
        <p:nvSpPr>
          <p:cNvPr id="130" name="Text 128"/>
          <p:cNvSpPr/>
          <p:nvPr/>
        </p:nvSpPr>
        <p:spPr>
          <a:xfrm>
            <a:off x="6372000" y="2869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47</a:t>
            </a:r>
            <a:endParaRPr lang="en-US" sz="900" dirty="0"/>
          </a:p>
        </p:txBody>
      </p:sp>
      <p:sp>
        <p:nvSpPr>
          <p:cNvPr id="131" name="Shape 129"/>
          <p:cNvSpPr/>
          <p:nvPr/>
        </p:nvSpPr>
        <p:spPr>
          <a:xfrm>
            <a:off x="3780000" y="3070800"/>
            <a:ext cx="2952000" cy="0"/>
          </a:xfrm>
          <a:prstGeom prst="line">
            <a:avLst/>
          </a:prstGeom>
          <a:noFill/>
          <a:ln w="3810">
            <a:solidFill>
              <a:srgbClr val="C9CFC9"/>
            </a:solidFill>
            <a:prstDash val="solid"/>
          </a:ln>
        </p:spPr>
      </p:sp>
      <p:sp>
        <p:nvSpPr>
          <p:cNvPr id="132" name="Text 130"/>
          <p:cNvSpPr/>
          <p:nvPr/>
        </p:nvSpPr>
        <p:spPr>
          <a:xfrm>
            <a:off x="3780000" y="3070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28</a:t>
            </a:r>
            <a:endParaRPr lang="en-US" sz="850" dirty="0"/>
          </a:p>
        </p:txBody>
      </p:sp>
      <p:sp>
        <p:nvSpPr>
          <p:cNvPr id="133" name="Text 131"/>
          <p:cNvSpPr/>
          <p:nvPr/>
        </p:nvSpPr>
        <p:spPr>
          <a:xfrm>
            <a:off x="4086000" y="3070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Pré la Lande</a:t>
            </a:r>
            <a:endParaRPr lang="en-US" sz="1000" dirty="0"/>
          </a:p>
        </p:txBody>
      </p:sp>
      <p:sp>
        <p:nvSpPr>
          <p:cNvPr id="134" name="Text 132"/>
          <p:cNvSpPr/>
          <p:nvPr/>
        </p:nvSpPr>
        <p:spPr>
          <a:xfrm>
            <a:off x="6372000" y="3070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48</a:t>
            </a:r>
            <a:endParaRPr lang="en-US" sz="900" dirty="0"/>
          </a:p>
        </p:txBody>
      </p:sp>
      <p:sp>
        <p:nvSpPr>
          <p:cNvPr id="135" name="Shape 133"/>
          <p:cNvSpPr/>
          <p:nvPr/>
        </p:nvSpPr>
        <p:spPr>
          <a:xfrm>
            <a:off x="3780000" y="3272400"/>
            <a:ext cx="2952000" cy="0"/>
          </a:xfrm>
          <a:prstGeom prst="line">
            <a:avLst/>
          </a:prstGeom>
          <a:noFill/>
          <a:ln w="3810">
            <a:solidFill>
              <a:srgbClr val="C9CFC9"/>
            </a:solidFill>
            <a:prstDash val="solid"/>
          </a:ln>
        </p:spPr>
      </p:sp>
      <p:sp>
        <p:nvSpPr>
          <p:cNvPr id="136" name="Text 134"/>
          <p:cNvSpPr/>
          <p:nvPr/>
        </p:nvSpPr>
        <p:spPr>
          <a:xfrm>
            <a:off x="3780000" y="3272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29</a:t>
            </a:r>
            <a:endParaRPr lang="en-US" sz="850" dirty="0"/>
          </a:p>
        </p:txBody>
      </p:sp>
      <p:sp>
        <p:nvSpPr>
          <p:cNvPr id="137" name="Text 135"/>
          <p:cNvSpPr/>
          <p:nvPr/>
        </p:nvSpPr>
        <p:spPr>
          <a:xfrm>
            <a:off x="4086000" y="3272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Balac</a:t>
            </a:r>
            <a:endParaRPr lang="en-US" sz="1000" dirty="0"/>
          </a:p>
        </p:txBody>
      </p:sp>
      <p:sp>
        <p:nvSpPr>
          <p:cNvPr id="138" name="Text 136"/>
          <p:cNvSpPr/>
          <p:nvPr/>
        </p:nvSpPr>
        <p:spPr>
          <a:xfrm>
            <a:off x="6372000" y="3272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49</a:t>
            </a:r>
            <a:endParaRPr lang="en-US" sz="900" dirty="0"/>
          </a:p>
        </p:txBody>
      </p:sp>
      <p:sp>
        <p:nvSpPr>
          <p:cNvPr id="139" name="Shape 137"/>
          <p:cNvSpPr/>
          <p:nvPr/>
        </p:nvSpPr>
        <p:spPr>
          <a:xfrm>
            <a:off x="3780000" y="3474000"/>
            <a:ext cx="2952000" cy="0"/>
          </a:xfrm>
          <a:prstGeom prst="line">
            <a:avLst/>
          </a:prstGeom>
          <a:noFill/>
          <a:ln w="3810">
            <a:solidFill>
              <a:srgbClr val="C9CFC9"/>
            </a:solidFill>
            <a:prstDash val="solid"/>
          </a:ln>
        </p:spPr>
      </p:sp>
      <p:sp>
        <p:nvSpPr>
          <p:cNvPr id="140" name="Text 138"/>
          <p:cNvSpPr/>
          <p:nvPr/>
        </p:nvSpPr>
        <p:spPr>
          <a:xfrm>
            <a:off x="3780000" y="3474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30</a:t>
            </a:r>
            <a:endParaRPr lang="en-US" sz="850" dirty="0"/>
          </a:p>
        </p:txBody>
      </p:sp>
      <p:sp>
        <p:nvSpPr>
          <p:cNvPr id="141" name="Text 139"/>
          <p:cNvSpPr/>
          <p:nvPr/>
        </p:nvSpPr>
        <p:spPr>
          <a:xfrm>
            <a:off x="4086000" y="3474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l’Escarderie</a:t>
            </a:r>
            <a:endParaRPr lang="en-US" sz="1000" dirty="0"/>
          </a:p>
        </p:txBody>
      </p:sp>
      <p:sp>
        <p:nvSpPr>
          <p:cNvPr id="142" name="Text 140"/>
          <p:cNvSpPr/>
          <p:nvPr/>
        </p:nvSpPr>
        <p:spPr>
          <a:xfrm>
            <a:off x="6372000" y="3474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50</a:t>
            </a:r>
            <a:endParaRPr lang="en-US" sz="900" dirty="0"/>
          </a:p>
        </p:txBody>
      </p:sp>
      <p:sp>
        <p:nvSpPr>
          <p:cNvPr id="143" name="Shape 141"/>
          <p:cNvSpPr/>
          <p:nvPr/>
        </p:nvSpPr>
        <p:spPr>
          <a:xfrm>
            <a:off x="3780000" y="3675600"/>
            <a:ext cx="2952000" cy="0"/>
          </a:xfrm>
          <a:prstGeom prst="line">
            <a:avLst/>
          </a:prstGeom>
          <a:noFill/>
          <a:ln w="3810">
            <a:solidFill>
              <a:srgbClr val="C9CFC9"/>
            </a:solidFill>
            <a:prstDash val="solid"/>
          </a:ln>
        </p:spPr>
      </p:sp>
      <p:sp>
        <p:nvSpPr>
          <p:cNvPr id="144" name="Shape 142"/>
          <p:cNvSpPr/>
          <p:nvPr/>
        </p:nvSpPr>
        <p:spPr>
          <a:xfrm>
            <a:off x="3780000" y="3906000"/>
            <a:ext cx="115200" cy="115200"/>
          </a:xfrm>
          <a:prstGeom prst="rect">
            <a:avLst/>
          </a:prstGeom>
          <a:solidFill>
            <a:srgbClr val="46606E"/>
          </a:solidFill>
          <a:ln w="7620">
            <a:solidFill>
              <a:srgbClr val="46606E"/>
            </a:solidFill>
            <a:prstDash val="solid"/>
          </a:ln>
        </p:spPr>
      </p:sp>
      <p:sp>
        <p:nvSpPr>
          <p:cNvPr id="145" name="Text 143"/>
          <p:cNvSpPr/>
          <p:nvPr/>
        </p:nvSpPr>
        <p:spPr>
          <a:xfrm>
            <a:off x="3974400" y="38268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Provence</a:t>
            </a:r>
            <a:endParaRPr lang="en-US" sz="1300" dirty="0"/>
          </a:p>
        </p:txBody>
      </p:sp>
      <p:sp>
        <p:nvSpPr>
          <p:cNvPr id="146" name="Shape 144"/>
          <p:cNvSpPr/>
          <p:nvPr/>
        </p:nvSpPr>
        <p:spPr>
          <a:xfrm>
            <a:off x="3780000" y="4100400"/>
            <a:ext cx="2952000" cy="0"/>
          </a:xfrm>
          <a:prstGeom prst="line">
            <a:avLst/>
          </a:prstGeom>
          <a:noFill/>
          <a:ln w="11430">
            <a:solidFill>
              <a:srgbClr val="67067C"/>
            </a:solidFill>
            <a:prstDash val="solid"/>
          </a:ln>
        </p:spPr>
      </p:sp>
      <p:sp>
        <p:nvSpPr>
          <p:cNvPr id="147" name="Text 145"/>
          <p:cNvSpPr/>
          <p:nvPr/>
        </p:nvSpPr>
        <p:spPr>
          <a:xfrm>
            <a:off x="3780000" y="4150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31</a:t>
            </a:r>
            <a:endParaRPr lang="en-US" sz="850" dirty="0"/>
          </a:p>
        </p:txBody>
      </p:sp>
      <p:sp>
        <p:nvSpPr>
          <p:cNvPr id="148" name="Text 146"/>
          <p:cNvSpPr/>
          <p:nvPr/>
        </p:nvSpPr>
        <p:spPr>
          <a:xfrm>
            <a:off x="4086000" y="4150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Bastide de Blacailloux</a:t>
            </a:r>
            <a:endParaRPr lang="en-US" sz="1000" dirty="0"/>
          </a:p>
        </p:txBody>
      </p:sp>
      <p:sp>
        <p:nvSpPr>
          <p:cNvPr id="149" name="Text 147"/>
          <p:cNvSpPr/>
          <p:nvPr/>
        </p:nvSpPr>
        <p:spPr>
          <a:xfrm>
            <a:off x="6372000" y="4150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52</a:t>
            </a:r>
            <a:endParaRPr lang="en-US" sz="900" dirty="0"/>
          </a:p>
        </p:txBody>
      </p:sp>
      <p:sp>
        <p:nvSpPr>
          <p:cNvPr id="150" name="Shape 148"/>
          <p:cNvSpPr/>
          <p:nvPr/>
        </p:nvSpPr>
        <p:spPr>
          <a:xfrm>
            <a:off x="3780000" y="4352400"/>
            <a:ext cx="2952000" cy="0"/>
          </a:xfrm>
          <a:prstGeom prst="line">
            <a:avLst/>
          </a:prstGeom>
          <a:noFill/>
          <a:ln w="3810">
            <a:solidFill>
              <a:srgbClr val="C9CFC9"/>
            </a:solidFill>
            <a:prstDash val="solid"/>
          </a:ln>
        </p:spPr>
      </p:sp>
      <p:sp>
        <p:nvSpPr>
          <p:cNvPr id="151" name="Shape 149"/>
          <p:cNvSpPr/>
          <p:nvPr/>
        </p:nvSpPr>
        <p:spPr>
          <a:xfrm>
            <a:off x="3780000" y="4582800"/>
            <a:ext cx="115200" cy="115200"/>
          </a:xfrm>
          <a:prstGeom prst="rect">
            <a:avLst/>
          </a:prstGeom>
          <a:solidFill>
            <a:srgbClr val="3C5B47"/>
          </a:solidFill>
          <a:ln w="7620">
            <a:solidFill>
              <a:srgbClr val="3C5B47"/>
            </a:solidFill>
            <a:prstDash val="solid"/>
          </a:ln>
        </p:spPr>
      </p:sp>
      <p:sp>
        <p:nvSpPr>
          <p:cNvPr id="152" name="Text 150"/>
          <p:cNvSpPr/>
          <p:nvPr/>
        </p:nvSpPr>
        <p:spPr>
          <a:xfrm>
            <a:off x="3974400" y="45036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Languedoc</a:t>
            </a:r>
            <a:endParaRPr lang="en-US" sz="1300" dirty="0"/>
          </a:p>
        </p:txBody>
      </p:sp>
      <p:sp>
        <p:nvSpPr>
          <p:cNvPr id="153" name="Shape 151"/>
          <p:cNvSpPr/>
          <p:nvPr/>
        </p:nvSpPr>
        <p:spPr>
          <a:xfrm>
            <a:off x="3780000" y="4777200"/>
            <a:ext cx="2952000" cy="0"/>
          </a:xfrm>
          <a:prstGeom prst="line">
            <a:avLst/>
          </a:prstGeom>
          <a:noFill/>
          <a:ln w="11430">
            <a:solidFill>
              <a:srgbClr val="67067C"/>
            </a:solidFill>
            <a:prstDash val="solid"/>
          </a:ln>
        </p:spPr>
      </p:sp>
      <p:sp>
        <p:nvSpPr>
          <p:cNvPr id="154" name="Text 152"/>
          <p:cNvSpPr/>
          <p:nvPr/>
        </p:nvSpPr>
        <p:spPr>
          <a:xfrm>
            <a:off x="3780000" y="4827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32</a:t>
            </a:r>
            <a:endParaRPr lang="en-US" sz="850" dirty="0"/>
          </a:p>
        </p:txBody>
      </p:sp>
      <p:sp>
        <p:nvSpPr>
          <p:cNvPr id="155" name="Text 153"/>
          <p:cNvSpPr/>
          <p:nvPr/>
        </p:nvSpPr>
        <p:spPr>
          <a:xfrm>
            <a:off x="4086000" y="4827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Famille d’Exea</a:t>
            </a:r>
            <a:endParaRPr lang="en-US" sz="1000" dirty="0"/>
          </a:p>
        </p:txBody>
      </p:sp>
      <p:sp>
        <p:nvSpPr>
          <p:cNvPr id="156" name="Text 154"/>
          <p:cNvSpPr/>
          <p:nvPr/>
        </p:nvSpPr>
        <p:spPr>
          <a:xfrm>
            <a:off x="6372000" y="4827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54</a:t>
            </a:r>
            <a:endParaRPr lang="en-US" sz="900" dirty="0"/>
          </a:p>
        </p:txBody>
      </p:sp>
      <p:sp>
        <p:nvSpPr>
          <p:cNvPr id="157" name="Shape 155"/>
          <p:cNvSpPr/>
          <p:nvPr/>
        </p:nvSpPr>
        <p:spPr>
          <a:xfrm>
            <a:off x="3780000" y="5029200"/>
            <a:ext cx="2952000" cy="0"/>
          </a:xfrm>
          <a:prstGeom prst="line">
            <a:avLst/>
          </a:prstGeom>
          <a:noFill/>
          <a:ln w="3810">
            <a:solidFill>
              <a:srgbClr val="C9CFC9"/>
            </a:solidFill>
            <a:prstDash val="solid"/>
          </a:ln>
        </p:spPr>
      </p:sp>
      <p:sp>
        <p:nvSpPr>
          <p:cNvPr id="158" name="Text 156"/>
          <p:cNvSpPr/>
          <p:nvPr/>
        </p:nvSpPr>
        <p:spPr>
          <a:xfrm>
            <a:off x="3780000" y="5029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33</a:t>
            </a:r>
            <a:endParaRPr lang="en-US" sz="850" dirty="0"/>
          </a:p>
        </p:txBody>
      </p:sp>
      <p:sp>
        <p:nvSpPr>
          <p:cNvPr id="159" name="Text 157"/>
          <p:cNvSpPr/>
          <p:nvPr/>
        </p:nvSpPr>
        <p:spPr>
          <a:xfrm>
            <a:off x="4086000" y="5029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Famille d’Exea — Jus de Cépages</a:t>
            </a:r>
            <a:endParaRPr lang="en-US" sz="1000" dirty="0"/>
          </a:p>
        </p:txBody>
      </p:sp>
      <p:sp>
        <p:nvSpPr>
          <p:cNvPr id="160" name="Text 158"/>
          <p:cNvSpPr/>
          <p:nvPr/>
        </p:nvSpPr>
        <p:spPr>
          <a:xfrm>
            <a:off x="6372000" y="5029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56</a:t>
            </a:r>
            <a:endParaRPr lang="en-US" sz="900" dirty="0"/>
          </a:p>
        </p:txBody>
      </p:sp>
      <p:sp>
        <p:nvSpPr>
          <p:cNvPr id="161" name="Shape 159"/>
          <p:cNvSpPr/>
          <p:nvPr/>
        </p:nvSpPr>
        <p:spPr>
          <a:xfrm>
            <a:off x="3780000" y="5230800"/>
            <a:ext cx="2952000" cy="0"/>
          </a:xfrm>
          <a:prstGeom prst="line">
            <a:avLst/>
          </a:prstGeom>
          <a:noFill/>
          <a:ln w="3810">
            <a:solidFill>
              <a:srgbClr val="C9CFC9"/>
            </a:solidFill>
            <a:prstDash val="solid"/>
          </a:ln>
        </p:spPr>
      </p:sp>
      <p:sp>
        <p:nvSpPr>
          <p:cNvPr id="162" name="Text 160"/>
          <p:cNvSpPr/>
          <p:nvPr/>
        </p:nvSpPr>
        <p:spPr>
          <a:xfrm>
            <a:off x="3780000" y="5230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34</a:t>
            </a:r>
            <a:endParaRPr lang="en-US" sz="850" dirty="0"/>
          </a:p>
        </p:txBody>
      </p:sp>
      <p:sp>
        <p:nvSpPr>
          <p:cNvPr id="163" name="Text 161"/>
          <p:cNvSpPr/>
          <p:nvPr/>
        </p:nvSpPr>
        <p:spPr>
          <a:xfrm>
            <a:off x="4086000" y="5230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de Gragnos</a:t>
            </a:r>
            <a:endParaRPr lang="en-US" sz="1000" dirty="0"/>
          </a:p>
        </p:txBody>
      </p:sp>
      <p:sp>
        <p:nvSpPr>
          <p:cNvPr id="164" name="Text 162"/>
          <p:cNvSpPr/>
          <p:nvPr/>
        </p:nvSpPr>
        <p:spPr>
          <a:xfrm>
            <a:off x="6372000" y="5230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57</a:t>
            </a:r>
            <a:endParaRPr lang="en-US" sz="900" dirty="0"/>
          </a:p>
        </p:txBody>
      </p:sp>
      <p:sp>
        <p:nvSpPr>
          <p:cNvPr id="165" name="Shape 163"/>
          <p:cNvSpPr/>
          <p:nvPr/>
        </p:nvSpPr>
        <p:spPr>
          <a:xfrm>
            <a:off x="3780000" y="5432400"/>
            <a:ext cx="2952000" cy="0"/>
          </a:xfrm>
          <a:prstGeom prst="line">
            <a:avLst/>
          </a:prstGeom>
          <a:noFill/>
          <a:ln w="3810">
            <a:solidFill>
              <a:srgbClr val="C9CFC9"/>
            </a:solidFill>
            <a:prstDash val="solid"/>
          </a:ln>
        </p:spPr>
      </p:sp>
      <p:sp>
        <p:nvSpPr>
          <p:cNvPr id="166" name="Text 164"/>
          <p:cNvSpPr/>
          <p:nvPr/>
        </p:nvSpPr>
        <p:spPr>
          <a:xfrm>
            <a:off x="3780000" y="5432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35</a:t>
            </a:r>
            <a:endParaRPr lang="en-US" sz="850" dirty="0"/>
          </a:p>
        </p:txBody>
      </p:sp>
      <p:sp>
        <p:nvSpPr>
          <p:cNvPr id="167" name="Text 165"/>
          <p:cNvSpPr/>
          <p:nvPr/>
        </p:nvSpPr>
        <p:spPr>
          <a:xfrm>
            <a:off x="4086000" y="5432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Les Lys</a:t>
            </a:r>
            <a:endParaRPr lang="en-US" sz="1000" dirty="0"/>
          </a:p>
        </p:txBody>
      </p:sp>
      <p:sp>
        <p:nvSpPr>
          <p:cNvPr id="168" name="Text 166"/>
          <p:cNvSpPr/>
          <p:nvPr/>
        </p:nvSpPr>
        <p:spPr>
          <a:xfrm>
            <a:off x="6372000" y="5432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58</a:t>
            </a:r>
            <a:endParaRPr lang="en-US" sz="900" dirty="0"/>
          </a:p>
        </p:txBody>
      </p:sp>
      <p:sp>
        <p:nvSpPr>
          <p:cNvPr id="169" name="Shape 167"/>
          <p:cNvSpPr/>
          <p:nvPr/>
        </p:nvSpPr>
        <p:spPr>
          <a:xfrm>
            <a:off x="3780000" y="5634000"/>
            <a:ext cx="2952000" cy="0"/>
          </a:xfrm>
          <a:prstGeom prst="line">
            <a:avLst/>
          </a:prstGeom>
          <a:noFill/>
          <a:ln w="3810">
            <a:solidFill>
              <a:srgbClr val="C9CFC9"/>
            </a:solidFill>
            <a:prstDash val="solid"/>
          </a:ln>
        </p:spPr>
      </p:sp>
      <p:sp>
        <p:nvSpPr>
          <p:cNvPr id="170" name="Text 168"/>
          <p:cNvSpPr/>
          <p:nvPr/>
        </p:nvSpPr>
        <p:spPr>
          <a:xfrm>
            <a:off x="3780000" y="5634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36</a:t>
            </a:r>
            <a:endParaRPr lang="en-US" sz="850" dirty="0"/>
          </a:p>
        </p:txBody>
      </p:sp>
      <p:sp>
        <p:nvSpPr>
          <p:cNvPr id="171" name="Text 169"/>
          <p:cNvSpPr/>
          <p:nvPr/>
        </p:nvSpPr>
        <p:spPr>
          <a:xfrm>
            <a:off x="4086000" y="5634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Prieuré Sainte-Marie d’Albas</a:t>
            </a:r>
            <a:endParaRPr lang="en-US" sz="1000" dirty="0"/>
          </a:p>
        </p:txBody>
      </p:sp>
      <p:sp>
        <p:nvSpPr>
          <p:cNvPr id="172" name="Text 170"/>
          <p:cNvSpPr/>
          <p:nvPr/>
        </p:nvSpPr>
        <p:spPr>
          <a:xfrm>
            <a:off x="6372000" y="5634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59</a:t>
            </a:r>
            <a:endParaRPr lang="en-US" sz="900" dirty="0"/>
          </a:p>
        </p:txBody>
      </p:sp>
      <p:sp>
        <p:nvSpPr>
          <p:cNvPr id="173" name="Shape 171"/>
          <p:cNvSpPr/>
          <p:nvPr/>
        </p:nvSpPr>
        <p:spPr>
          <a:xfrm>
            <a:off x="3780000" y="5835600"/>
            <a:ext cx="2952000" cy="0"/>
          </a:xfrm>
          <a:prstGeom prst="line">
            <a:avLst/>
          </a:prstGeom>
          <a:noFill/>
          <a:ln w="3810">
            <a:solidFill>
              <a:srgbClr val="C9CFC9"/>
            </a:solidFill>
            <a:prstDash val="solid"/>
          </a:ln>
        </p:spPr>
      </p:sp>
      <p:sp>
        <p:nvSpPr>
          <p:cNvPr id="174" name="Shape 172"/>
          <p:cNvSpPr/>
          <p:nvPr/>
        </p:nvSpPr>
        <p:spPr>
          <a:xfrm>
            <a:off x="3780000" y="6066000"/>
            <a:ext cx="115200" cy="115200"/>
          </a:xfrm>
          <a:prstGeom prst="rect">
            <a:avLst/>
          </a:prstGeom>
          <a:solidFill>
            <a:srgbClr val="FBF8F1"/>
          </a:solidFill>
          <a:ln w="7620">
            <a:solidFill>
              <a:srgbClr val="46606E"/>
            </a:solidFill>
            <a:prstDash val="solid"/>
          </a:ln>
        </p:spPr>
      </p:sp>
      <p:sp>
        <p:nvSpPr>
          <p:cNvPr id="175" name="Text 173"/>
          <p:cNvSpPr/>
          <p:nvPr/>
        </p:nvSpPr>
        <p:spPr>
          <a:xfrm>
            <a:off x="3974400" y="59868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Champagne</a:t>
            </a:r>
            <a:endParaRPr lang="en-US" sz="1300" dirty="0"/>
          </a:p>
        </p:txBody>
      </p:sp>
      <p:sp>
        <p:nvSpPr>
          <p:cNvPr id="176" name="Shape 174"/>
          <p:cNvSpPr/>
          <p:nvPr/>
        </p:nvSpPr>
        <p:spPr>
          <a:xfrm>
            <a:off x="3780000" y="6260400"/>
            <a:ext cx="2952000" cy="0"/>
          </a:xfrm>
          <a:prstGeom prst="line">
            <a:avLst/>
          </a:prstGeom>
          <a:noFill/>
          <a:ln w="11430">
            <a:solidFill>
              <a:srgbClr val="67067C"/>
            </a:solidFill>
            <a:prstDash val="solid"/>
          </a:ln>
        </p:spPr>
      </p:sp>
      <p:sp>
        <p:nvSpPr>
          <p:cNvPr id="177" name="Text 175"/>
          <p:cNvSpPr/>
          <p:nvPr/>
        </p:nvSpPr>
        <p:spPr>
          <a:xfrm>
            <a:off x="3780000" y="6310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37</a:t>
            </a:r>
            <a:endParaRPr lang="en-US" sz="850" dirty="0"/>
          </a:p>
        </p:txBody>
      </p:sp>
      <p:sp>
        <p:nvSpPr>
          <p:cNvPr id="178" name="Text 176"/>
          <p:cNvSpPr/>
          <p:nvPr/>
        </p:nvSpPr>
        <p:spPr>
          <a:xfrm>
            <a:off x="4086000" y="6310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Champagne Dekeyne</a:t>
            </a:r>
            <a:endParaRPr lang="en-US" sz="1000" dirty="0"/>
          </a:p>
        </p:txBody>
      </p:sp>
      <p:sp>
        <p:nvSpPr>
          <p:cNvPr id="179" name="Text 177"/>
          <p:cNvSpPr/>
          <p:nvPr/>
        </p:nvSpPr>
        <p:spPr>
          <a:xfrm>
            <a:off x="6372000" y="6310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62</a:t>
            </a:r>
            <a:endParaRPr lang="en-US" sz="900" dirty="0"/>
          </a:p>
        </p:txBody>
      </p:sp>
      <p:sp>
        <p:nvSpPr>
          <p:cNvPr id="180" name="Shape 178"/>
          <p:cNvSpPr/>
          <p:nvPr/>
        </p:nvSpPr>
        <p:spPr>
          <a:xfrm>
            <a:off x="3780000" y="6512400"/>
            <a:ext cx="2952000" cy="0"/>
          </a:xfrm>
          <a:prstGeom prst="line">
            <a:avLst/>
          </a:prstGeom>
          <a:noFill/>
          <a:ln w="3810">
            <a:solidFill>
              <a:srgbClr val="C9CFC9"/>
            </a:solidFill>
            <a:prstDash val="solid"/>
          </a:ln>
        </p:spPr>
      </p:sp>
      <p:sp>
        <p:nvSpPr>
          <p:cNvPr id="181" name="Text 179"/>
          <p:cNvSpPr/>
          <p:nvPr/>
        </p:nvSpPr>
        <p:spPr>
          <a:xfrm>
            <a:off x="3780000" y="6512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38</a:t>
            </a:r>
            <a:endParaRPr lang="en-US" sz="850" dirty="0"/>
          </a:p>
        </p:txBody>
      </p:sp>
      <p:sp>
        <p:nvSpPr>
          <p:cNvPr id="182" name="Text 180"/>
          <p:cNvSpPr/>
          <p:nvPr/>
        </p:nvSpPr>
        <p:spPr>
          <a:xfrm>
            <a:off x="4086000" y="6512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Champagne Denis Frézier</a:t>
            </a:r>
            <a:endParaRPr lang="en-US" sz="1000" dirty="0"/>
          </a:p>
        </p:txBody>
      </p:sp>
      <p:sp>
        <p:nvSpPr>
          <p:cNvPr id="183" name="Text 181"/>
          <p:cNvSpPr/>
          <p:nvPr/>
        </p:nvSpPr>
        <p:spPr>
          <a:xfrm>
            <a:off x="6372000" y="6512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63</a:t>
            </a:r>
            <a:endParaRPr lang="en-US" sz="900" dirty="0"/>
          </a:p>
        </p:txBody>
      </p:sp>
      <p:sp>
        <p:nvSpPr>
          <p:cNvPr id="184" name="Shape 182"/>
          <p:cNvSpPr/>
          <p:nvPr/>
        </p:nvSpPr>
        <p:spPr>
          <a:xfrm>
            <a:off x="3780000" y="6714000"/>
            <a:ext cx="2952000" cy="0"/>
          </a:xfrm>
          <a:prstGeom prst="line">
            <a:avLst/>
          </a:prstGeom>
          <a:noFill/>
          <a:ln w="3810">
            <a:solidFill>
              <a:srgbClr val="C9CFC9"/>
            </a:solidFill>
            <a:prstDash val="solid"/>
          </a:ln>
        </p:spPr>
      </p:sp>
      <p:sp>
        <p:nvSpPr>
          <p:cNvPr id="185" name="Text 183"/>
          <p:cNvSpPr/>
          <p:nvPr/>
        </p:nvSpPr>
        <p:spPr>
          <a:xfrm>
            <a:off x="3780000" y="6714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39</a:t>
            </a:r>
            <a:endParaRPr lang="en-US" sz="850" dirty="0"/>
          </a:p>
        </p:txBody>
      </p:sp>
      <p:sp>
        <p:nvSpPr>
          <p:cNvPr id="186" name="Text 184"/>
          <p:cNvSpPr/>
          <p:nvPr/>
        </p:nvSpPr>
        <p:spPr>
          <a:xfrm>
            <a:off x="4086000" y="6714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Champagne Solemme</a:t>
            </a:r>
            <a:endParaRPr lang="en-US" sz="1000" dirty="0"/>
          </a:p>
        </p:txBody>
      </p:sp>
      <p:sp>
        <p:nvSpPr>
          <p:cNvPr id="187" name="Text 185"/>
          <p:cNvSpPr/>
          <p:nvPr/>
        </p:nvSpPr>
        <p:spPr>
          <a:xfrm>
            <a:off x="6372000" y="6714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65</a:t>
            </a:r>
            <a:endParaRPr lang="en-US" sz="900" dirty="0"/>
          </a:p>
        </p:txBody>
      </p:sp>
      <p:sp>
        <p:nvSpPr>
          <p:cNvPr id="188" name="Shape 186"/>
          <p:cNvSpPr/>
          <p:nvPr/>
        </p:nvSpPr>
        <p:spPr>
          <a:xfrm>
            <a:off x="3780000" y="6915600"/>
            <a:ext cx="2952000" cy="0"/>
          </a:xfrm>
          <a:prstGeom prst="line">
            <a:avLst/>
          </a:prstGeom>
          <a:noFill/>
          <a:ln w="3810">
            <a:solidFill>
              <a:srgbClr val="C9CFC9"/>
            </a:solidFill>
            <a:prstDash val="solid"/>
          </a:ln>
        </p:spPr>
      </p:sp>
      <p:sp>
        <p:nvSpPr>
          <p:cNvPr id="189" name="Text 187"/>
          <p:cNvSpPr/>
          <p:nvPr/>
        </p:nvSpPr>
        <p:spPr>
          <a:xfrm>
            <a:off x="3780000" y="6915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40</a:t>
            </a:r>
            <a:endParaRPr lang="en-US" sz="850" dirty="0"/>
          </a:p>
        </p:txBody>
      </p:sp>
      <p:sp>
        <p:nvSpPr>
          <p:cNvPr id="190" name="Text 188"/>
          <p:cNvSpPr/>
          <p:nvPr/>
        </p:nvSpPr>
        <p:spPr>
          <a:xfrm>
            <a:off x="4086000" y="6915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Vazart-Coquart &amp; Fils</a:t>
            </a:r>
            <a:endParaRPr lang="en-US" sz="1000" dirty="0"/>
          </a:p>
        </p:txBody>
      </p:sp>
      <p:sp>
        <p:nvSpPr>
          <p:cNvPr id="191" name="Text 189"/>
          <p:cNvSpPr/>
          <p:nvPr/>
        </p:nvSpPr>
        <p:spPr>
          <a:xfrm>
            <a:off x="6372000" y="6915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66</a:t>
            </a:r>
            <a:endParaRPr lang="en-US" sz="900" dirty="0"/>
          </a:p>
        </p:txBody>
      </p:sp>
      <p:sp>
        <p:nvSpPr>
          <p:cNvPr id="192" name="Shape 190"/>
          <p:cNvSpPr/>
          <p:nvPr/>
        </p:nvSpPr>
        <p:spPr>
          <a:xfrm>
            <a:off x="3780000" y="7117200"/>
            <a:ext cx="2952000" cy="0"/>
          </a:xfrm>
          <a:prstGeom prst="line">
            <a:avLst/>
          </a:prstGeom>
          <a:noFill/>
          <a:ln w="3810">
            <a:solidFill>
              <a:srgbClr val="C9CFC9"/>
            </a:solidFill>
            <a:prstDash val="solid"/>
          </a:ln>
        </p:spPr>
      </p:sp>
      <p:sp>
        <p:nvSpPr>
          <p:cNvPr id="193" name="Shape 191"/>
          <p:cNvSpPr/>
          <p:nvPr/>
        </p:nvSpPr>
        <p:spPr>
          <a:xfrm>
            <a:off x="612000" y="8280000"/>
            <a:ext cx="6120000" cy="0"/>
          </a:xfrm>
          <a:prstGeom prst="line">
            <a:avLst/>
          </a:prstGeom>
          <a:noFill/>
          <a:ln w="10160">
            <a:solidFill>
              <a:srgbClr val="67067C"/>
            </a:solidFill>
            <a:prstDash val="solid"/>
          </a:ln>
        </p:spPr>
      </p:sp>
      <p:sp>
        <p:nvSpPr>
          <p:cNvPr id="194" name="Text 192"/>
          <p:cNvSpPr/>
          <p:nvPr/>
        </p:nvSpPr>
        <p:spPr>
          <a:xfrm>
            <a:off x="612000" y="8352000"/>
            <a:ext cx="6120000" cy="162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Types    </a:t>
            </a:r>
            <a:r>
              <a:rPr lang="en-US" sz="740" dirty="0">
                <a:solidFill>
                  <a:srgbClr val="46606E"/>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Bulles    </a:t>
            </a:r>
            <a:r>
              <a:rPr lang="en-US" sz="740" dirty="0">
                <a:solidFill>
                  <a:srgbClr val="FBF8F1"/>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Blanc    </a:t>
            </a:r>
            <a:r>
              <a:rPr lang="en-US" sz="740" dirty="0">
                <a:solidFill>
                  <a:srgbClr val="D98FA0"/>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Rosé    </a:t>
            </a:r>
            <a:r>
              <a:rPr lang="en-US" sz="740" dirty="0">
                <a:solidFill>
                  <a:srgbClr val="A8515F"/>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Rouge    </a:t>
            </a:r>
            <a:r>
              <a:rPr lang="en-US" sz="740" dirty="0">
                <a:solidFill>
                  <a:srgbClr val="E1C853"/>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Doux    </a:t>
            </a:r>
            <a:r>
              <a:rPr lang="en-US" sz="740" dirty="0">
                <a:solidFill>
                  <a:srgbClr val="46606E"/>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Sans alcool    </a:t>
            </a:r>
            <a:r>
              <a:rPr lang="en-US" sz="740" dirty="0">
                <a:solidFill>
                  <a:srgbClr val="3C5B47"/>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Jus de cépages    </a:t>
            </a:r>
            <a:r>
              <a:rPr lang="en-US" sz="740" dirty="0">
                <a:solidFill>
                  <a:srgbClr val="D08C3C"/>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Bière    </a:t>
            </a:r>
            <a:r>
              <a:rPr lang="en-US" sz="740" dirty="0">
                <a:solidFill>
                  <a:srgbClr val="8A6230"/>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Spiritueux    </a:t>
            </a:r>
            <a:endParaRPr lang="en-US" sz="740" dirty="0"/>
          </a:p>
        </p:txBody>
      </p:sp>
      <p:sp>
        <p:nvSpPr>
          <p:cNvPr id="195" name="Text 193"/>
          <p:cNvSpPr/>
          <p:nvPr/>
        </p:nvSpPr>
        <p:spPr>
          <a:xfrm>
            <a:off x="612000" y="8532000"/>
            <a:ext cx="468000" cy="162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Labels</a:t>
            </a:r>
            <a:endParaRPr lang="en-US" sz="740" dirty="0"/>
          </a:p>
        </p:txBody>
      </p:sp>
      <p:pic>
        <p:nvPicPr>
          <p:cNvPr id="196" name="Image 0" descr="/home/user/philippe1/build/deco-catalogue-scio-2026/label-bio.png">    </p:cNvPr>
          <p:cNvPicPr>
            <a:picLocks noChangeAspect="1"/>
          </p:cNvPicPr>
          <p:nvPr/>
        </p:nvPicPr>
        <p:blipFill>
          <a:blip r:embed="rId1"/>
          <a:stretch>
            <a:fillRect/>
          </a:stretch>
        </p:blipFill>
        <p:spPr>
          <a:xfrm>
            <a:off x="1080000" y="8559000"/>
            <a:ext cx="108000" cy="108000"/>
          </a:xfrm>
          <a:prstGeom prst="rect">
            <a:avLst/>
          </a:prstGeom>
        </p:spPr>
      </p:pic>
      <p:sp>
        <p:nvSpPr>
          <p:cNvPr id="197" name="Text 194"/>
          <p:cNvSpPr/>
          <p:nvPr/>
        </p:nvSpPr>
        <p:spPr>
          <a:xfrm>
            <a:off x="1227600" y="8532000"/>
            <a:ext cx="191493"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Bio</a:t>
            </a:r>
            <a:endParaRPr lang="en-US" sz="740" dirty="0"/>
          </a:p>
        </p:txBody>
      </p:sp>
      <p:pic>
        <p:nvPicPr>
          <p:cNvPr id="198" name="Image 1" descr="/home/user/philippe1/build/deco-catalogue-scio-2026/label-conversion.png">    </p:cNvPr>
          <p:cNvPicPr>
            <a:picLocks noChangeAspect="1"/>
          </p:cNvPicPr>
          <p:nvPr/>
        </p:nvPicPr>
        <p:blipFill>
          <a:blip r:embed="rId2"/>
          <a:stretch>
            <a:fillRect/>
          </a:stretch>
        </p:blipFill>
        <p:spPr>
          <a:xfrm>
            <a:off x="1527093" y="8559000"/>
            <a:ext cx="108000" cy="108000"/>
          </a:xfrm>
          <a:prstGeom prst="rect">
            <a:avLst/>
          </a:prstGeom>
        </p:spPr>
      </p:pic>
      <p:sp>
        <p:nvSpPr>
          <p:cNvPr id="199" name="Text 195"/>
          <p:cNvSpPr/>
          <p:nvPr/>
        </p:nvSpPr>
        <p:spPr>
          <a:xfrm>
            <a:off x="1674693" y="8532000"/>
            <a:ext cx="804900"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En conversion Bio</a:t>
            </a:r>
            <a:endParaRPr lang="en-US" sz="740" dirty="0"/>
          </a:p>
        </p:txBody>
      </p:sp>
      <p:pic>
        <p:nvPicPr>
          <p:cNvPr id="200" name="Image 2" descr="/home/user/philippe1/build/deco-catalogue-scio-2026/label-biobiodyn.png">    </p:cNvPr>
          <p:cNvPicPr>
            <a:picLocks noChangeAspect="1"/>
          </p:cNvPicPr>
          <p:nvPr/>
        </p:nvPicPr>
        <p:blipFill>
          <a:blip r:embed="rId3"/>
          <a:stretch>
            <a:fillRect/>
          </a:stretch>
        </p:blipFill>
        <p:spPr>
          <a:xfrm>
            <a:off x="2587593" y="8559000"/>
            <a:ext cx="108000" cy="108000"/>
          </a:xfrm>
          <a:prstGeom prst="rect">
            <a:avLst/>
          </a:prstGeom>
        </p:spPr>
      </p:pic>
      <p:sp>
        <p:nvSpPr>
          <p:cNvPr id="201" name="Text 196"/>
          <p:cNvSpPr/>
          <p:nvPr/>
        </p:nvSpPr>
        <p:spPr>
          <a:xfrm>
            <a:off x="2735193" y="8532000"/>
            <a:ext cx="553598"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Biodynamie</a:t>
            </a:r>
            <a:endParaRPr lang="en-US" sz="740" dirty="0"/>
          </a:p>
        </p:txBody>
      </p:sp>
      <p:pic>
        <p:nvPicPr>
          <p:cNvPr id="202" name="Image 3" descr="/home/user/philippe1/build/deco-catalogue-scio-2026/label-biobiodyn.png">    </p:cNvPr>
          <p:cNvPicPr>
            <a:picLocks noChangeAspect="1"/>
          </p:cNvPicPr>
          <p:nvPr/>
        </p:nvPicPr>
        <p:blipFill>
          <a:blip r:embed="rId4"/>
          <a:stretch>
            <a:fillRect/>
          </a:stretch>
        </p:blipFill>
        <p:spPr>
          <a:xfrm>
            <a:off x="3396791" y="8559000"/>
            <a:ext cx="108000" cy="108000"/>
          </a:xfrm>
          <a:prstGeom prst="rect">
            <a:avLst/>
          </a:prstGeom>
        </p:spPr>
      </p:pic>
      <p:sp>
        <p:nvSpPr>
          <p:cNvPr id="203" name="Text 197"/>
          <p:cNvSpPr/>
          <p:nvPr/>
        </p:nvSpPr>
        <p:spPr>
          <a:xfrm>
            <a:off x="3544391" y="8532000"/>
            <a:ext cx="800671"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Bio &amp; Biodynamie</a:t>
            </a:r>
            <a:endParaRPr lang="en-US" sz="740" dirty="0"/>
          </a:p>
        </p:txBody>
      </p:sp>
      <p:pic>
        <p:nvPicPr>
          <p:cNvPr id="204" name="Image 4" descr="/home/user/philippe1/build/deco-catalogue-scio-2026/label-hve.png">    </p:cNvPr>
          <p:cNvPicPr>
            <a:picLocks noChangeAspect="1"/>
          </p:cNvPicPr>
          <p:nvPr/>
        </p:nvPicPr>
        <p:blipFill>
          <a:blip r:embed="rId5"/>
          <a:stretch>
            <a:fillRect/>
          </a:stretch>
        </p:blipFill>
        <p:spPr>
          <a:xfrm>
            <a:off x="4453062" y="8559000"/>
            <a:ext cx="108000" cy="108000"/>
          </a:xfrm>
          <a:prstGeom prst="rect">
            <a:avLst/>
          </a:prstGeom>
        </p:spPr>
      </p:pic>
      <p:sp>
        <p:nvSpPr>
          <p:cNvPr id="205" name="Text 198"/>
          <p:cNvSpPr/>
          <p:nvPr/>
        </p:nvSpPr>
        <p:spPr>
          <a:xfrm>
            <a:off x="4600662" y="8532000"/>
            <a:ext cx="232468"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HVE</a:t>
            </a:r>
            <a:endParaRPr lang="en-US" sz="740" dirty="0"/>
          </a:p>
        </p:txBody>
      </p:sp>
      <p:pic>
        <p:nvPicPr>
          <p:cNvPr id="206" name="Image 5" descr="/home/user/philippe1/build/deco-catalogue-scio-2026/label-hve.png">    </p:cNvPr>
          <p:cNvPicPr>
            <a:picLocks noChangeAspect="1"/>
          </p:cNvPicPr>
          <p:nvPr/>
        </p:nvPicPr>
        <p:blipFill>
          <a:blip r:embed="rId6"/>
          <a:stretch>
            <a:fillRect/>
          </a:stretch>
        </p:blipFill>
        <p:spPr>
          <a:xfrm>
            <a:off x="4941130" y="8559000"/>
            <a:ext cx="108000" cy="108000"/>
          </a:xfrm>
          <a:prstGeom prst="rect">
            <a:avLst/>
          </a:prstGeom>
        </p:spPr>
      </p:pic>
      <p:sp>
        <p:nvSpPr>
          <p:cNvPr id="207" name="Text 199"/>
          <p:cNvSpPr/>
          <p:nvPr/>
        </p:nvSpPr>
        <p:spPr>
          <a:xfrm>
            <a:off x="5088730" y="8532000"/>
            <a:ext cx="311035"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HVE 3</a:t>
            </a:r>
            <a:endParaRPr lang="en-US" sz="740" dirty="0"/>
          </a:p>
        </p:txBody>
      </p:sp>
      <p:pic>
        <p:nvPicPr>
          <p:cNvPr id="208" name="Image 6" descr="/home/user/philippe1/build/deco-catalogue-scio-2026/label-raisonnee.png">    </p:cNvPr>
          <p:cNvPicPr>
            <a:picLocks noChangeAspect="1"/>
          </p:cNvPicPr>
          <p:nvPr/>
        </p:nvPicPr>
        <p:blipFill>
          <a:blip r:embed="rId7"/>
          <a:stretch>
            <a:fillRect/>
          </a:stretch>
        </p:blipFill>
        <p:spPr>
          <a:xfrm>
            <a:off x="5507765" y="8559000"/>
            <a:ext cx="108000" cy="108000"/>
          </a:xfrm>
          <a:prstGeom prst="rect">
            <a:avLst/>
          </a:prstGeom>
        </p:spPr>
      </p:pic>
      <p:sp>
        <p:nvSpPr>
          <p:cNvPr id="209" name="Text 200"/>
          <p:cNvSpPr/>
          <p:nvPr/>
        </p:nvSpPr>
        <p:spPr>
          <a:xfrm>
            <a:off x="5655365" y="8532000"/>
            <a:ext cx="959215"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Agriculture raisonnée</a:t>
            </a:r>
            <a:endParaRPr lang="en-US" sz="740" dirty="0"/>
          </a:p>
        </p:txBody>
      </p:sp>
      <p:pic>
        <p:nvPicPr>
          <p:cNvPr id="210" name="Image 7" descr="/home/user/philippe1/build/deco-catalogue-scio-2026/label-iso.png">    </p:cNvPr>
          <p:cNvPicPr>
            <a:picLocks noChangeAspect="1"/>
          </p:cNvPicPr>
          <p:nvPr/>
        </p:nvPicPr>
        <p:blipFill>
          <a:blip r:embed="rId8"/>
          <a:stretch>
            <a:fillRect/>
          </a:stretch>
        </p:blipFill>
        <p:spPr>
          <a:xfrm>
            <a:off x="6722580" y="8559000"/>
            <a:ext cx="108000" cy="108000"/>
          </a:xfrm>
          <a:prstGeom prst="rect">
            <a:avLst/>
          </a:prstGeom>
        </p:spPr>
      </p:pic>
      <p:sp>
        <p:nvSpPr>
          <p:cNvPr id="211" name="Text 201"/>
          <p:cNvSpPr/>
          <p:nvPr/>
        </p:nvSpPr>
        <p:spPr>
          <a:xfrm>
            <a:off x="6870180" y="8532000"/>
            <a:ext cx="516852"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ISO 26000</a:t>
            </a:r>
            <a:endParaRPr lang="en-US" sz="740" dirty="0"/>
          </a:p>
        </p:txBody>
      </p:sp>
      <p:sp>
        <p:nvSpPr>
          <p:cNvPr id="212" name="Text 202"/>
          <p:cNvSpPr/>
          <p:nvPr/>
        </p:nvSpPr>
        <p:spPr>
          <a:xfrm>
            <a:off x="612000" y="8712000"/>
            <a:ext cx="6120000" cy="144000"/>
          </a:xfrm>
          <a:prstGeom prst="rect">
            <a:avLst/>
          </a:prstGeom>
          <a:noFill/>
          <a:ln/>
        </p:spPr>
        <p:txBody>
          <a:bodyPr wrap="square" lIns="0" tIns="0" rIns="0" bIns="0" rtlCol="0" anchor="ctr"/>
          <a:lstStyle/>
          <a:p>
            <a:pPr indent="0" marL="0">
              <a:buNone/>
            </a:pPr>
            <a:r>
              <a:rPr lang="en-US" sz="760" i="1" dirty="0">
                <a:solidFill>
                  <a:srgbClr val="46606E"/>
                </a:solidFill>
                <a:latin typeface="IBM Plex Sans" pitchFamily="34" charset="0"/>
                <a:ea typeface="IBM Plex Sans" pitchFamily="34" charset="-122"/>
                <a:cs typeface="IBM Plex Sans" pitchFamily="34" charset="-120"/>
              </a:rPr>
              <a:t>Ces pictos sont ceux de l'Agence SCIO, dessinés pour ce catalogue : ce ne sont pas les logos officiels des organismes certificateurs.</a:t>
            </a:r>
            <a:endParaRPr lang="en-US" sz="760" dirty="0"/>
          </a:p>
        </p:txBody>
      </p:sp>
      <p:sp>
        <p:nvSpPr>
          <p:cNvPr id="213" name="Text 203"/>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a:t>
            </a:r>
            <a:endParaRPr lang="en-US" sz="750" dirty="0"/>
          </a:p>
        </p:txBody>
      </p:sp>
      <p:sp>
        <p:nvSpPr>
          <p:cNvPr id="214" name="Text 204"/>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46606E"/>
        </a:solidFill>
      </p:bgPr>
    </p:bg>
    <p:spTree>
      <p:nvGrpSpPr>
        <p:cNvPr id="1" name=""/>
        <p:cNvGrpSpPr/>
        <p:nvPr/>
      </p:nvGrpSpPr>
      <p:grpSpPr>
        <a:xfrm>
          <a:off x="0" y="0"/>
          <a:ext cx="0" cy="0"/>
          <a:chOff x="0" y="0"/>
          <a:chExt cx="0" cy="0"/>
        </a:xfrm>
      </p:grpSpPr>
      <p:pic>
        <p:nvPicPr>
          <p:cNvPr id="2" name="Image 0" descr="/home/user/philippe1/build/deco-catalogue-scio-2026/ouverture-loire.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catalogue-scio-2026/carotte-loire.png">    </p:cNvPr>
          <p:cNvPicPr>
            <a:picLocks noChangeAspect="1"/>
          </p:cNvPicPr>
          <p:nvPr/>
        </p:nvPicPr>
        <p:blipFill>
          <a:blip r:embed="rId2"/>
          <a:stretch>
            <a:fillRect/>
          </a:stretch>
        </p:blipFill>
        <p:spPr>
          <a:xfrm>
            <a:off x="0" y="0"/>
            <a:ext cx="324000" cy="9360000"/>
          </a:xfrm>
          <a:prstGeom prst="rect">
            <a:avLst/>
          </a:prstGeom>
        </p:spPr>
      </p:pic>
      <p:sp>
        <p:nvSpPr>
          <p:cNvPr id="4"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5" name="Text 1"/>
          <p:cNvSpPr/>
          <p:nvPr/>
        </p:nvSpPr>
        <p:spPr>
          <a:xfrm>
            <a:off x="828000" y="540000"/>
            <a:ext cx="792000" cy="216000"/>
          </a:xfrm>
          <a:prstGeom prst="rect">
            <a:avLst/>
          </a:prstGeom>
          <a:noFill/>
          <a:ln/>
        </p:spPr>
        <p:txBody>
          <a:bodyPr wrap="square" lIns="0" tIns="0" rIns="0" bIns="0" rtlCol="0" anchor="ctr"/>
          <a:lstStyle/>
          <a:p>
            <a:pPr algn="ctr" indent="0" marL="0">
              <a:buNone/>
            </a:pPr>
            <a:r>
              <a:rPr lang="en-US" sz="800" b="1" dirty="0">
                <a:solidFill>
                  <a:srgbClr val="FBF8F1"/>
                </a:solidFill>
                <a:latin typeface="IBM Plex Sans" pitchFamily="34" charset="0"/>
                <a:ea typeface="IBM Plex Sans" pitchFamily="34" charset="-122"/>
                <a:cs typeface="IBM Plex Sans" pitchFamily="34" charset="-120"/>
              </a:rPr>
              <a:t>1 / 10</a:t>
            </a:r>
            <a:endParaRPr lang="en-US" sz="800" dirty="0"/>
          </a:p>
        </p:txBody>
      </p:sp>
      <p:sp>
        <p:nvSpPr>
          <p:cNvPr id="6" name="Text 2"/>
          <p:cNvSpPr/>
          <p:nvPr/>
        </p:nvSpPr>
        <p:spPr>
          <a:xfrm>
            <a:off x="828000" y="5112000"/>
            <a:ext cx="5040000" cy="792000"/>
          </a:xfrm>
          <a:prstGeom prst="rect">
            <a:avLst/>
          </a:prstGeom>
          <a:noFill/>
          <a:ln/>
        </p:spPr>
        <p:txBody>
          <a:bodyPr wrap="square" lIns="0" tIns="0" rIns="0" bIns="0" rtlCol="0" anchor="ctr"/>
          <a:lstStyle/>
          <a:p>
            <a:pPr indent="0" marL="0">
              <a:buNone/>
            </a:pPr>
            <a:r>
              <a:rPr lang="en-US" sz="4600" dirty="0">
                <a:solidFill>
                  <a:srgbClr val="FBF8F1"/>
                </a:solidFill>
                <a:latin typeface="Young Serif" pitchFamily="34" charset="0"/>
                <a:ea typeface="Young Serif" pitchFamily="34" charset="-122"/>
                <a:cs typeface="Young Serif" pitchFamily="34" charset="-120"/>
              </a:rPr>
              <a:t>Loire</a:t>
            </a:r>
            <a:endParaRPr lang="en-US" sz="4600" dirty="0"/>
          </a:p>
        </p:txBody>
      </p:sp>
      <p:sp>
        <p:nvSpPr>
          <p:cNvPr id="7" name="Text 3"/>
          <p:cNvSpPr/>
          <p:nvPr/>
        </p:nvSpPr>
        <p:spPr>
          <a:xfrm>
            <a:off x="828000" y="5976000"/>
            <a:ext cx="4320000" cy="252000"/>
          </a:xfrm>
          <a:prstGeom prst="rect">
            <a:avLst/>
          </a:prstGeom>
          <a:noFill/>
          <a:ln/>
        </p:spPr>
        <p:txBody>
          <a:bodyPr wrap="square" lIns="0" tIns="0" rIns="0" bIns="0" rtlCol="0" anchor="ctr"/>
          <a:lstStyle/>
          <a:p>
            <a:pPr indent="0" marL="0">
              <a:buNone/>
            </a:pPr>
            <a:r>
              <a:rPr lang="en-US" sz="1200" i="1" dirty="0">
                <a:solidFill>
                  <a:srgbClr val="FBF8F1"/>
                </a:solidFill>
                <a:latin typeface="Spectral" pitchFamily="34" charset="0"/>
                <a:ea typeface="Spectral" pitchFamily="34" charset="-122"/>
                <a:cs typeface="Spectral" pitchFamily="34" charset="-120"/>
              </a:rPr>
              <a:t>schistes et tuffeau</a:t>
            </a:r>
            <a:endParaRPr lang="en-US" sz="1200" dirty="0"/>
          </a:p>
        </p:txBody>
      </p:sp>
      <p:sp>
        <p:nvSpPr>
          <p:cNvPr id="8" name="Text 4"/>
          <p:cNvSpPr/>
          <p:nvPr/>
        </p:nvSpPr>
        <p:spPr>
          <a:xfrm>
            <a:off x="828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7</a:t>
            </a:r>
            <a:endParaRPr lang="en-US" sz="2000" dirty="0"/>
          </a:p>
        </p:txBody>
      </p:sp>
      <p:sp>
        <p:nvSpPr>
          <p:cNvPr id="9" name="Text 5"/>
          <p:cNvSpPr/>
          <p:nvPr/>
        </p:nvSpPr>
        <p:spPr>
          <a:xfrm>
            <a:off x="828000" y="6660000"/>
            <a:ext cx="864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domaines</a:t>
            </a:r>
            <a:endParaRPr lang="en-US" sz="850" dirty="0"/>
          </a:p>
        </p:txBody>
      </p:sp>
      <p:sp>
        <p:nvSpPr>
          <p:cNvPr id="10" name="Text 6"/>
          <p:cNvSpPr/>
          <p:nvPr/>
        </p:nvSpPr>
        <p:spPr>
          <a:xfrm>
            <a:off x="1836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68</a:t>
            </a:r>
            <a:endParaRPr lang="en-US" sz="2000" dirty="0"/>
          </a:p>
        </p:txBody>
      </p:sp>
      <p:sp>
        <p:nvSpPr>
          <p:cNvPr id="11" name="Text 7"/>
          <p:cNvSpPr/>
          <p:nvPr/>
        </p:nvSpPr>
        <p:spPr>
          <a:xfrm>
            <a:off x="1836000" y="6660000"/>
            <a:ext cx="1620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références</a:t>
            </a:r>
            <a:endParaRPr lang="en-US" sz="850" dirty="0"/>
          </a:p>
        </p:txBody>
      </p:sp>
      <p:sp>
        <p:nvSpPr>
          <p:cNvPr id="12" name="Text 8"/>
          <p:cNvSpPr/>
          <p:nvPr/>
        </p:nvSpPr>
        <p:spPr>
          <a:xfrm>
            <a:off x="828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   </a:t>
            </a:r>
            <a:r>
              <a:rPr lang="en-US" sz="860" dirty="0">
                <a:solidFill>
                  <a:srgbClr val="FBF8F1"/>
                </a:solidFill>
                <a:latin typeface="IBM Plex Sans" pitchFamily="34" charset="0"/>
                <a:ea typeface="IBM Plex Sans" pitchFamily="34" charset="-122"/>
                <a:cs typeface="IBM Plex Sans" pitchFamily="34" charset="-120"/>
              </a:rPr>
              <a:t>François Reverdy</a:t>
            </a:r>
            <a:r>
              <a:rPr lang="en-US" sz="860" b="1" dirty="0">
                <a:solidFill>
                  <a:srgbClr val="FBF8F1"/>
                </a:solidFill>
                <a:latin typeface="IBM Plex Sans" pitchFamily="34" charset="0"/>
                <a:ea typeface="IBM Plex Sans" pitchFamily="34" charset="-122"/>
                <a:cs typeface="IBM Plex Sans" pitchFamily="34" charset="-120"/>
              </a:rPr>
              <a:t>   5</a:t>
            </a:r>
            <a:endParaRPr lang="en-US" sz="860" dirty="0"/>
          </a:p>
        </p:txBody>
      </p:sp>
      <p:sp>
        <p:nvSpPr>
          <p:cNvPr id="13" name="Text 9"/>
          <p:cNvSpPr/>
          <p:nvPr/>
        </p:nvSpPr>
        <p:spPr>
          <a:xfrm>
            <a:off x="3888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   </a:t>
            </a:r>
            <a:r>
              <a:rPr lang="en-US" sz="860" dirty="0">
                <a:solidFill>
                  <a:srgbClr val="FBF8F1"/>
                </a:solidFill>
                <a:latin typeface="IBM Plex Sans" pitchFamily="34" charset="0"/>
                <a:ea typeface="IBM Plex Sans" pitchFamily="34" charset="-122"/>
                <a:cs typeface="IBM Plex Sans" pitchFamily="34" charset="-120"/>
              </a:rPr>
              <a:t>Domaine de la Barbinière</a:t>
            </a:r>
            <a:r>
              <a:rPr lang="en-US" sz="860" b="1" dirty="0">
                <a:solidFill>
                  <a:srgbClr val="FBF8F1"/>
                </a:solidFill>
                <a:latin typeface="IBM Plex Sans" pitchFamily="34" charset="0"/>
                <a:ea typeface="IBM Plex Sans" pitchFamily="34" charset="-122"/>
                <a:cs typeface="IBM Plex Sans" pitchFamily="34" charset="-120"/>
              </a:rPr>
              <a:t>   6</a:t>
            </a:r>
            <a:endParaRPr lang="en-US" sz="860" dirty="0"/>
          </a:p>
        </p:txBody>
      </p:sp>
      <p:sp>
        <p:nvSpPr>
          <p:cNvPr id="14" name="Text 10"/>
          <p:cNvSpPr/>
          <p:nvPr/>
        </p:nvSpPr>
        <p:spPr>
          <a:xfrm>
            <a:off x="828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3   </a:t>
            </a:r>
            <a:r>
              <a:rPr lang="en-US" sz="860" dirty="0">
                <a:solidFill>
                  <a:srgbClr val="FBF8F1"/>
                </a:solidFill>
                <a:latin typeface="IBM Plex Sans" pitchFamily="34" charset="0"/>
                <a:ea typeface="IBM Plex Sans" pitchFamily="34" charset="-122"/>
                <a:cs typeface="IBM Plex Sans" pitchFamily="34" charset="-120"/>
              </a:rPr>
              <a:t>Domaine du Colombier / J.Y Bretaudeau</a:t>
            </a:r>
            <a:r>
              <a:rPr lang="en-US" sz="860" b="1" dirty="0">
                <a:solidFill>
                  <a:srgbClr val="FBF8F1"/>
                </a:solidFill>
                <a:latin typeface="IBM Plex Sans" pitchFamily="34" charset="0"/>
                <a:ea typeface="IBM Plex Sans" pitchFamily="34" charset="-122"/>
                <a:cs typeface="IBM Plex Sans" pitchFamily="34" charset="-120"/>
              </a:rPr>
              <a:t>   7</a:t>
            </a:r>
            <a:endParaRPr lang="en-US" sz="860" dirty="0"/>
          </a:p>
        </p:txBody>
      </p:sp>
      <p:sp>
        <p:nvSpPr>
          <p:cNvPr id="15" name="Text 11"/>
          <p:cNvSpPr/>
          <p:nvPr/>
        </p:nvSpPr>
        <p:spPr>
          <a:xfrm>
            <a:off x="3888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4   </a:t>
            </a:r>
            <a:r>
              <a:rPr lang="en-US" sz="860" dirty="0">
                <a:solidFill>
                  <a:srgbClr val="FBF8F1"/>
                </a:solidFill>
                <a:latin typeface="IBM Plex Sans" pitchFamily="34" charset="0"/>
                <a:ea typeface="IBM Plex Sans" pitchFamily="34" charset="-122"/>
                <a:cs typeface="IBM Plex Sans" pitchFamily="34" charset="-120"/>
              </a:rPr>
              <a:t>Domaine des Noëls</a:t>
            </a:r>
            <a:r>
              <a:rPr lang="en-US" sz="860" b="1" dirty="0">
                <a:solidFill>
                  <a:srgbClr val="FBF8F1"/>
                </a:solidFill>
                <a:latin typeface="IBM Plex Sans" pitchFamily="34" charset="0"/>
                <a:ea typeface="IBM Plex Sans" pitchFamily="34" charset="-122"/>
                <a:cs typeface="IBM Plex Sans" pitchFamily="34" charset="-120"/>
              </a:rPr>
              <a:t>   9</a:t>
            </a:r>
            <a:endParaRPr lang="en-US" sz="860" dirty="0"/>
          </a:p>
        </p:txBody>
      </p:sp>
      <p:sp>
        <p:nvSpPr>
          <p:cNvPr id="16" name="Text 12"/>
          <p:cNvSpPr/>
          <p:nvPr/>
        </p:nvSpPr>
        <p:spPr>
          <a:xfrm>
            <a:off x="828000" y="7632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5   </a:t>
            </a:r>
            <a:r>
              <a:rPr lang="en-US" sz="860" dirty="0">
                <a:solidFill>
                  <a:srgbClr val="FBF8F1"/>
                </a:solidFill>
                <a:latin typeface="IBM Plex Sans" pitchFamily="34" charset="0"/>
                <a:ea typeface="IBM Plex Sans" pitchFamily="34" charset="-122"/>
                <a:cs typeface="IBM Plex Sans" pitchFamily="34" charset="-120"/>
              </a:rPr>
              <a:t>Chai Berteaud Manceau</a:t>
            </a:r>
            <a:r>
              <a:rPr lang="en-US" sz="860" b="1" dirty="0">
                <a:solidFill>
                  <a:srgbClr val="FBF8F1"/>
                </a:solidFill>
                <a:latin typeface="IBM Plex Sans" pitchFamily="34" charset="0"/>
                <a:ea typeface="IBM Plex Sans" pitchFamily="34" charset="-122"/>
                <a:cs typeface="IBM Plex Sans" pitchFamily="34" charset="-120"/>
              </a:rPr>
              <a:t>   10</a:t>
            </a:r>
            <a:endParaRPr lang="en-US" sz="860" dirty="0"/>
          </a:p>
        </p:txBody>
      </p:sp>
      <p:sp>
        <p:nvSpPr>
          <p:cNvPr id="17" name="Text 13"/>
          <p:cNvSpPr/>
          <p:nvPr/>
        </p:nvSpPr>
        <p:spPr>
          <a:xfrm>
            <a:off x="3888000" y="7632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6   </a:t>
            </a:r>
            <a:r>
              <a:rPr lang="en-US" sz="860" dirty="0">
                <a:solidFill>
                  <a:srgbClr val="FBF8F1"/>
                </a:solidFill>
                <a:latin typeface="IBM Plex Sans" pitchFamily="34" charset="0"/>
                <a:ea typeface="IBM Plex Sans" pitchFamily="34" charset="-122"/>
                <a:cs typeface="IBM Plex Sans" pitchFamily="34" charset="-120"/>
              </a:rPr>
              <a:t>Domaine Jean de Villebois</a:t>
            </a:r>
            <a:r>
              <a:rPr lang="en-US" sz="860" b="1" dirty="0">
                <a:solidFill>
                  <a:srgbClr val="FBF8F1"/>
                </a:solidFill>
                <a:latin typeface="IBM Plex Sans" pitchFamily="34" charset="0"/>
                <a:ea typeface="IBM Plex Sans" pitchFamily="34" charset="-122"/>
                <a:cs typeface="IBM Plex Sans" pitchFamily="34" charset="-120"/>
              </a:rPr>
              <a:t>   11</a:t>
            </a:r>
            <a:endParaRPr lang="en-US" sz="860" dirty="0"/>
          </a:p>
        </p:txBody>
      </p:sp>
      <p:sp>
        <p:nvSpPr>
          <p:cNvPr id="18" name="Text 14"/>
          <p:cNvSpPr/>
          <p:nvPr/>
        </p:nvSpPr>
        <p:spPr>
          <a:xfrm>
            <a:off x="828000" y="7884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7   </a:t>
            </a:r>
            <a:r>
              <a:rPr lang="en-US" sz="860" dirty="0">
                <a:solidFill>
                  <a:srgbClr val="FBF8F1"/>
                </a:solidFill>
                <a:latin typeface="IBM Plex Sans" pitchFamily="34" charset="0"/>
                <a:ea typeface="IBM Plex Sans" pitchFamily="34" charset="-122"/>
                <a:cs typeface="IBM Plex Sans" pitchFamily="34" charset="-120"/>
              </a:rPr>
              <a:t>Divin No Low</a:t>
            </a:r>
            <a:r>
              <a:rPr lang="en-US" sz="860" b="1" dirty="0">
                <a:solidFill>
                  <a:srgbClr val="FBF8F1"/>
                </a:solidFill>
                <a:latin typeface="IBM Plex Sans" pitchFamily="34" charset="0"/>
                <a:ea typeface="IBM Plex Sans" pitchFamily="34" charset="-122"/>
                <a:cs typeface="IBM Plex Sans" pitchFamily="34" charset="-120"/>
              </a:rPr>
              <a:t>   13</a:t>
            </a:r>
            <a:endParaRPr lang="en-US" sz="860" dirty="0"/>
          </a:p>
        </p:txBody>
      </p:sp>
      <p:sp>
        <p:nvSpPr>
          <p:cNvPr id="19" name="Text 15"/>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4</a:t>
            </a:r>
            <a:endParaRPr lang="en-US" sz="750" dirty="0"/>
          </a:p>
        </p:txBody>
      </p:sp>
      <p:sp>
        <p:nvSpPr>
          <p:cNvPr id="20" name="Text 16"/>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oir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a:t>
            </a:r>
            <a:r>
              <a:rPr lang="en-US" sz="2000" dirty="0">
                <a:solidFill>
                  <a:srgbClr val="46606E"/>
                </a:solidFill>
                <a:latin typeface="Young Serif" pitchFamily="34" charset="0"/>
                <a:ea typeface="Young Serif" pitchFamily="34" charset="-122"/>
                <a:cs typeface="Young Serif" pitchFamily="34" charset="-120"/>
              </a:rPr>
              <a:t>   François Reverdy</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83600"/>
            <a:ext cx="108000" cy="108000"/>
          </a:xfrm>
          <a:prstGeom prst="rect">
            <a:avLst/>
          </a:prstGeom>
        </p:spPr>
      </p:pic>
      <p:sp>
        <p:nvSpPr>
          <p:cNvPr id="9" name="Text 5"/>
          <p:cNvSpPr/>
          <p:nvPr/>
        </p:nvSpPr>
        <p:spPr>
          <a:xfrm>
            <a:off x="7596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476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177651"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642325" y="10476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42325"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8 références</a:t>
            </a:r>
            <a:endParaRPr lang="en-US" sz="720" dirty="0"/>
          </a:p>
        </p:txBody>
      </p:sp>
      <p:pic>
        <p:nvPicPr>
          <p:cNvPr id="14" name="Image 2" descr="portrait du vigneron, noir et blanc — François Reverdy">    </p:cNvPr>
          <p:cNvPicPr>
            <a:picLocks noChangeAspect="1"/>
          </p:cNvPicPr>
          <p:nvPr/>
        </p:nvPicPr>
        <p:blipFill>
          <a:blip r:embed="rId3"/>
          <a:srcRect l="2263" r="2470" t="0" b="0"/>
          <a:stretch/>
        </p:blipFill>
        <p:spPr>
          <a:xfrm>
            <a:off x="612000" y="1357200"/>
            <a:ext cx="1440000" cy="1440000"/>
          </a:xfrm>
          <a:prstGeom prst="ellipse">
            <a:avLst/>
          </a:prstGeom>
        </p:spPr>
      </p:pic>
      <p:pic>
        <p:nvPicPr>
          <p:cNvPr id="15" name="Image 3" descr="Une bouteille du domaine François Reverdy">    </p:cNvPr>
          <p:cNvPicPr>
            <a:picLocks noChangeAspect="1"/>
          </p:cNvPicPr>
          <p:nvPr/>
        </p:nvPicPr>
        <p:blipFill>
          <a:blip r:embed="rId4"/>
          <a:stretch>
            <a:fillRect/>
          </a:stretch>
        </p:blipFill>
        <p:spPr>
          <a:xfrm>
            <a:off x="5992033" y="1357200"/>
            <a:ext cx="615934" cy="2232000"/>
          </a:xfrm>
          <a:prstGeom prst="rect">
            <a:avLst/>
          </a:prstGeom>
        </p:spPr>
      </p:pic>
      <p:sp>
        <p:nvSpPr>
          <p:cNvPr id="16" name="Text 10"/>
          <p:cNvSpPr/>
          <p:nvPr/>
        </p:nvSpPr>
        <p:spPr>
          <a:xfrm>
            <a:off x="2177967" y="1261763"/>
            <a:ext cx="278395" cy="479349"/>
          </a:xfrm>
          <a:prstGeom prst="rect">
            <a:avLst/>
          </a:prstGeom>
          <a:noFill/>
          <a:ln/>
        </p:spPr>
        <p:txBody>
          <a:bodyPr wrap="square" lIns="0" tIns="0" rIns="0" bIns="0" rtlCol="0" anchor="t"/>
          <a:lstStyle/>
          <a:p>
            <a:pPr algn="r" indent="0" marL="0">
              <a:lnSpc>
                <a:spcPct val="121500"/>
              </a:lnSpc>
              <a:buNone/>
            </a:pPr>
            <a:r>
              <a:rPr lang="en-US" sz="2359" dirty="0">
                <a:solidFill>
                  <a:srgbClr val="67067C"/>
                </a:solidFill>
                <a:latin typeface="Young Serif" pitchFamily="34" charset="0"/>
                <a:ea typeface="Young Serif" pitchFamily="34" charset="-122"/>
                <a:cs typeface="Young Serif" pitchFamily="34" charset="-120"/>
              </a:rPr>
              <a:t>C</a:t>
            </a:r>
            <a:endParaRPr lang="en-US" sz="2359" dirty="0"/>
          </a:p>
        </p:txBody>
      </p:sp>
      <p:sp>
        <p:nvSpPr>
          <p:cNvPr id="17" name="Text 11"/>
          <p:cNvSpPr/>
          <p:nvPr/>
        </p:nvSpPr>
        <p:spPr>
          <a:xfrm>
            <a:off x="2232000" y="1404528"/>
            <a:ext cx="3456000" cy="2184573"/>
          </a:xfrm>
          <a:prstGeom prst="rect">
            <a:avLst/>
          </a:prstGeom>
          <a:noFill/>
          <a:ln/>
        </p:spPr>
        <p:txBody>
          <a:bodyPr wrap="square" lIns="0" tIns="0" rIns="0" bIns="0" rtlCol="0" anchor="t"/>
          <a:lstStyle/>
          <a:p>
            <a:pPr indent="0" marL="0">
              <a:lnSpc>
                <a:spcPct val="142000"/>
              </a:lnSpc>
              <a:buNone/>
            </a:pPr>
            <a:r>
              <a:rPr lang="en-US" sz="1225" dirty="0">
                <a:solidFill>
                  <a:srgbClr val="46606E"/>
                </a:solidFill>
                <a:latin typeface="Spectral" pitchFamily="34" charset="0"/>
                <a:ea typeface="Spectral" pitchFamily="34" charset="-122"/>
                <a:cs typeface="Spectral" pitchFamily="34" charset="-120"/>
              </a:rPr>
              <a:t>      réés ex nihilo en 2023, deux vignobles jardins conduits en agriculture biologique : l'un à Sancerre, où François Reverdy est le plus petit vigneron de l'appellation, l'autre à Roiffé entre Saumur et Chinon, en vieilles vignes de Grolleau noir, Cabernet Franc et Chenin blanc. Vendanges à la main et vins éco-conçus, en Anjou, Saumur, Chinon, Quincy et Sancerre.</a:t>
            </a:r>
            <a:endParaRPr lang="en-US" sz="1225"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12000" y="37511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Jusqu'à 36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48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Anjou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François Reverdy – Schistes Vert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14,75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13,25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12,25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Saumur</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François Reverdy – Tuffeau</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16,00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13,50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Chinon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François Reverdy – Franc / Graves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2021/2024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14,75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13,75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12,85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Quincy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François Reverdy – Graves Argileuses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19,95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17,85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16,50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François Reverdy – Les Villaudes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19,00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16,50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François Reverdy – Grolleau Noir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10,60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10,60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10,60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Grange Jaumain – Chenin Blanc</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10,00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9,25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Grange Jaumain – Les Soudannes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10,00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9,25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Shape 12"/>
          <p:cNvSpPr/>
          <p:nvPr/>
        </p:nvSpPr>
        <p:spPr>
          <a:xfrm>
            <a:off x="612000" y="7225126"/>
            <a:ext cx="0" cy="288349"/>
          </a:xfrm>
          <a:prstGeom prst="line">
            <a:avLst/>
          </a:prstGeom>
          <a:noFill/>
          <a:ln w="17780">
            <a:solidFill>
              <a:srgbClr val="67067C"/>
            </a:solidFill>
            <a:prstDash val="solid"/>
          </a:ln>
        </p:spPr>
      </p:sp>
      <p:sp>
        <p:nvSpPr>
          <p:cNvPr id="20" name="Text 13"/>
          <p:cNvSpPr/>
          <p:nvPr/>
        </p:nvSpPr>
        <p:spPr>
          <a:xfrm>
            <a:off x="720000" y="7225126"/>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Shape 14"/>
          <p:cNvSpPr/>
          <p:nvPr/>
        </p:nvSpPr>
        <p:spPr>
          <a:xfrm>
            <a:off x="612000" y="8388000"/>
            <a:ext cx="6120000" cy="0"/>
          </a:xfrm>
          <a:prstGeom prst="line">
            <a:avLst/>
          </a:prstGeom>
          <a:noFill/>
          <a:ln w="8890">
            <a:solidFill>
              <a:srgbClr val="46606E"/>
            </a:solidFill>
            <a:prstDash val="solid"/>
          </a:ln>
        </p:spPr>
      </p:sp>
      <p:sp>
        <p:nvSpPr>
          <p:cNvPr id="22" name="Text 15"/>
          <p:cNvSpPr/>
          <p:nvPr/>
        </p:nvSpPr>
        <p:spPr>
          <a:xfrm>
            <a:off x="612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3" name="Text 16"/>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4" name="Text 17"/>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5</a:t>
            </a:r>
            <a:endParaRPr lang="en-US" sz="750" dirty="0"/>
          </a:p>
        </p:txBody>
      </p:sp>
      <p:sp>
        <p:nvSpPr>
          <p:cNvPr id="25" name="Text 18"/>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oir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a:t>
            </a:r>
            <a:r>
              <a:rPr lang="en-US" sz="2000" dirty="0">
                <a:solidFill>
                  <a:srgbClr val="46606E"/>
                </a:solidFill>
                <a:latin typeface="Young Serif" pitchFamily="34" charset="0"/>
                <a:ea typeface="Young Serif" pitchFamily="34" charset="-122"/>
                <a:cs typeface="Young Serif" pitchFamily="34" charset="-120"/>
              </a:rPr>
              <a:t>   Domaine de la Barbinière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83600"/>
            <a:ext cx="108000" cy="108000"/>
          </a:xfrm>
          <a:prstGeom prst="rect">
            <a:avLst/>
          </a:prstGeom>
        </p:spPr>
      </p:pic>
      <p:sp>
        <p:nvSpPr>
          <p:cNvPr id="9" name="Text 5"/>
          <p:cNvSpPr/>
          <p:nvPr/>
        </p:nvSpPr>
        <p:spPr>
          <a:xfrm>
            <a:off x="9756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47600"/>
            <a:ext cx="630911" cy="180000"/>
          </a:xfrm>
          <a:prstGeom prst="roundRect">
            <a:avLst>
              <a:gd name="adj" fmla="val 10160"/>
            </a:avLst>
          </a:prstGeom>
          <a:solidFill>
            <a:srgbClr val="67067C"/>
          </a:solidFill>
          <a:ln w="8890">
            <a:solidFill>
              <a:srgbClr val="67067C"/>
            </a:solidFill>
            <a:prstDash val="solid"/>
          </a:ln>
        </p:spPr>
      </p:sp>
      <p:sp>
        <p:nvSpPr>
          <p:cNvPr id="11" name="Text 7"/>
          <p:cNvSpPr/>
          <p:nvPr/>
        </p:nvSpPr>
        <p:spPr>
          <a:xfrm>
            <a:off x="1393651" y="10476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2" name="Shape 8"/>
          <p:cNvSpPr/>
          <p:nvPr/>
        </p:nvSpPr>
        <p:spPr>
          <a:xfrm>
            <a:off x="2103762" y="1047600"/>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2103762"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3568436" y="10476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568436"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10 références</a:t>
            </a:r>
            <a:endParaRPr lang="en-US" sz="720" dirty="0"/>
          </a:p>
        </p:txBody>
      </p:sp>
      <p:pic>
        <p:nvPicPr>
          <p:cNvPr id="16" name="Image 2" descr="vendanges dans les vignes du domaine — Domaine de la Barbinière">    </p:cNvPr>
          <p:cNvPicPr>
            <a:picLocks noChangeAspect="1"/>
          </p:cNvPicPr>
          <p:nvPr/>
        </p:nvPicPr>
        <p:blipFill>
          <a:blip r:embed="rId3"/>
          <a:srcRect l="16680" r="16680" t="0" b="0"/>
          <a:stretch/>
        </p:blipFill>
        <p:spPr>
          <a:xfrm>
            <a:off x="828000" y="1357200"/>
            <a:ext cx="1440000" cy="1440000"/>
          </a:xfrm>
          <a:prstGeom prst="ellipse">
            <a:avLst/>
          </a:prstGeom>
        </p:spPr>
      </p:pic>
      <p:pic>
        <p:nvPicPr>
          <p:cNvPr id="17" name="Image 3" descr="Une bouteille du domaine Domaine de la Barbinière">    </p:cNvPr>
          <p:cNvPicPr>
            <a:picLocks noChangeAspect="1"/>
          </p:cNvPicPr>
          <p:nvPr/>
        </p:nvPicPr>
        <p:blipFill>
          <a:blip r:embed="rId4"/>
          <a:stretch>
            <a:fillRect/>
          </a:stretch>
        </p:blipFill>
        <p:spPr>
          <a:xfrm>
            <a:off x="6229377" y="1357200"/>
            <a:ext cx="573246" cy="2232000"/>
          </a:xfrm>
          <a:prstGeom prst="rect">
            <a:avLst/>
          </a:prstGeom>
        </p:spPr>
      </p:pic>
      <p:sp>
        <p:nvSpPr>
          <p:cNvPr id="18" name="Text 12"/>
          <p:cNvSpPr/>
          <p:nvPr/>
        </p:nvSpPr>
        <p:spPr>
          <a:xfrm>
            <a:off x="2393960" y="1352724"/>
            <a:ext cx="251415" cy="436880"/>
          </a:xfrm>
          <a:prstGeom prst="rect">
            <a:avLst/>
          </a:prstGeom>
          <a:noFill/>
          <a:ln/>
        </p:spPr>
        <p:txBody>
          <a:bodyPr wrap="square" lIns="0" tIns="0" rIns="0" bIns="0" rtlCol="0" anchor="t"/>
          <a:lstStyle/>
          <a:p>
            <a:pPr algn="r" indent="0" marL="0">
              <a:lnSpc>
                <a:spcPct val="126100"/>
              </a:lnSpc>
              <a:buNone/>
            </a:pPr>
            <a:r>
              <a:rPr lang="en-US" sz="2150" dirty="0">
                <a:solidFill>
                  <a:srgbClr val="67067C"/>
                </a:solidFill>
                <a:latin typeface="Young Serif" pitchFamily="34" charset="0"/>
                <a:ea typeface="Young Serif" pitchFamily="34" charset="-122"/>
                <a:cs typeface="Young Serif" pitchFamily="34" charset="-120"/>
              </a:rPr>
              <a:t>S</a:t>
            </a:r>
            <a:endParaRPr lang="en-US" sz="2150" dirty="0"/>
          </a:p>
        </p:txBody>
      </p:sp>
      <p:sp>
        <p:nvSpPr>
          <p:cNvPr id="19" name="Text 13"/>
          <p:cNvSpPr/>
          <p:nvPr/>
        </p:nvSpPr>
        <p:spPr>
          <a:xfrm>
            <a:off x="2448000" y="1462935"/>
            <a:ext cx="3456000" cy="2126165"/>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ur les reliefs bocagers du Chantonnais, Vincent et Alban Orion sculptent 30 hectares reflétant la diversité des terroirs chantonnaisiens. Une démarche paysanne faite de travail manuel minutieux et d’attention à la faune et à la flore, qui porte le domaine en agriculture biologique.</a:t>
            </a:r>
            <a:endParaRPr lang="en-US" sz="13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828000" y="37511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Silex</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4,43</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Silex</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3,96</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Silex</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4,25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Gorinières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7,84</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Courbes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2018</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7,23</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Amphibol</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5,66</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Gneiss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5,13</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Val de Loire Pinot Noir</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 Bois Bouquet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6,72</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Méthode Traditionnelle (Extra)</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L’O*** Brut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6,28</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 – Pétillant Naturel</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Pop’s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4,85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Shape 14"/>
          <p:cNvSpPr/>
          <p:nvPr/>
        </p:nvSpPr>
        <p:spPr>
          <a:xfrm>
            <a:off x="828000" y="7933250"/>
            <a:ext cx="0" cy="288349"/>
          </a:xfrm>
          <a:prstGeom prst="line">
            <a:avLst/>
          </a:prstGeom>
          <a:noFill/>
          <a:ln w="17780">
            <a:solidFill>
              <a:srgbClr val="67067C"/>
            </a:solidFill>
            <a:prstDash val="solid"/>
          </a:ln>
        </p:spPr>
      </p:sp>
      <p:sp>
        <p:nvSpPr>
          <p:cNvPr id="22" name="Text 15"/>
          <p:cNvSpPr/>
          <p:nvPr/>
        </p:nvSpPr>
        <p:spPr>
          <a:xfrm>
            <a:off x="936000" y="7933250"/>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3" name="Shape 16"/>
          <p:cNvSpPr/>
          <p:nvPr/>
        </p:nvSpPr>
        <p:spPr>
          <a:xfrm>
            <a:off x="828000" y="8388000"/>
            <a:ext cx="6120000" cy="0"/>
          </a:xfrm>
          <a:prstGeom prst="line">
            <a:avLst/>
          </a:prstGeom>
          <a:noFill/>
          <a:ln w="8890">
            <a:solidFill>
              <a:srgbClr val="46606E"/>
            </a:solidFill>
            <a:prstDash val="solid"/>
          </a:ln>
        </p:spPr>
      </p:sp>
      <p:sp>
        <p:nvSpPr>
          <p:cNvPr id="24" name="Text 17"/>
          <p:cNvSpPr/>
          <p:nvPr/>
        </p:nvSpPr>
        <p:spPr>
          <a:xfrm>
            <a:off x="828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16 · 35 · 44 · 49 · 53 · 56 · 85</a:t>
            </a:r>
            <a:endParaRPr lang="en-US" sz="720" dirty="0"/>
          </a:p>
        </p:txBody>
      </p:sp>
      <p:sp>
        <p:nvSpPr>
          <p:cNvPr id="25" name="Text 18"/>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Rosé    ● Rouge     pictos de l’Agence SCIO, pas les logos officiels</a:t>
            </a:r>
            <a:endParaRPr lang="en-US" sz="650" dirty="0"/>
          </a:p>
        </p:txBody>
      </p:sp>
      <p:sp>
        <p:nvSpPr>
          <p:cNvPr id="26" name="Text 19"/>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6</a:t>
            </a:r>
            <a:endParaRPr lang="en-US" sz="750" dirty="0"/>
          </a:p>
        </p:txBody>
      </p:sp>
      <p:sp>
        <p:nvSpPr>
          <p:cNvPr id="27" name="Text 20"/>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oir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a:t>
            </a:r>
            <a:r>
              <a:rPr lang="en-US" sz="1700" dirty="0">
                <a:solidFill>
                  <a:srgbClr val="46606E"/>
                </a:solidFill>
                <a:latin typeface="Young Serif" pitchFamily="34" charset="0"/>
                <a:ea typeface="Young Serif" pitchFamily="34" charset="-122"/>
                <a:cs typeface="Young Serif" pitchFamily="34" charset="-120"/>
              </a:rPr>
              <a:t>   Domaine du Colombier / J.Y Bretaudeau</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528148"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hve.png">    </p:cNvPr>
          <p:cNvPicPr>
            <a:picLocks noChangeAspect="1"/>
          </p:cNvPicPr>
          <p:nvPr/>
        </p:nvPicPr>
        <p:blipFill>
          <a:blip r:embed="rId2"/>
          <a:stretch>
            <a:fillRect/>
          </a:stretch>
        </p:blipFill>
        <p:spPr>
          <a:xfrm>
            <a:off x="684000" y="1083600"/>
            <a:ext cx="108000" cy="108000"/>
          </a:xfrm>
          <a:prstGeom prst="rect">
            <a:avLst/>
          </a:prstGeom>
        </p:spPr>
      </p:pic>
      <p:sp>
        <p:nvSpPr>
          <p:cNvPr id="9" name="Text 5"/>
          <p:cNvSpPr/>
          <p:nvPr/>
        </p:nvSpPr>
        <p:spPr>
          <a:xfrm>
            <a:off x="759600" y="10476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0" name="Shape 6"/>
          <p:cNvSpPr/>
          <p:nvPr/>
        </p:nvSpPr>
        <p:spPr>
          <a:xfrm>
            <a:off x="1219348" y="10476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219348"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684022" y="1047600"/>
            <a:ext cx="787182"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84022"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14 références</a:t>
            </a:r>
            <a:endParaRPr lang="en-US" sz="720" dirty="0"/>
          </a:p>
        </p:txBody>
      </p:sp>
      <p:pic>
        <p:nvPicPr>
          <p:cNvPr id="14" name="Image 2" descr="le vigneron au chai — Domaine du Colombier / J.Y Bretaudeau">    </p:cNvPr>
          <p:cNvPicPr>
            <a:picLocks noChangeAspect="1"/>
          </p:cNvPicPr>
          <p:nvPr/>
        </p:nvPicPr>
        <p:blipFill>
          <a:blip r:embed="rId3"/>
          <a:srcRect l="29320" r="5437" t="0" b="0"/>
          <a:stretch/>
        </p:blipFill>
        <p:spPr>
          <a:xfrm>
            <a:off x="612000" y="1357200"/>
            <a:ext cx="1440000" cy="1440000"/>
          </a:xfrm>
          <a:prstGeom prst="ellipse">
            <a:avLst/>
          </a:prstGeom>
        </p:spPr>
      </p:pic>
      <p:pic>
        <p:nvPicPr>
          <p:cNvPr id="15" name="Image 3" descr="Une bouteille du domaine Domaine du Colombier / J.Y Bretaudeau">    </p:cNvPr>
          <p:cNvPicPr>
            <a:picLocks noChangeAspect="1"/>
          </p:cNvPicPr>
          <p:nvPr/>
        </p:nvPicPr>
        <p:blipFill>
          <a:blip r:embed="rId4"/>
          <a:stretch>
            <a:fillRect/>
          </a:stretch>
        </p:blipFill>
        <p:spPr>
          <a:xfrm>
            <a:off x="6002705" y="1357200"/>
            <a:ext cx="594590" cy="2232000"/>
          </a:xfrm>
          <a:prstGeom prst="rect">
            <a:avLst/>
          </a:prstGeom>
        </p:spPr>
      </p:pic>
      <p:sp>
        <p:nvSpPr>
          <p:cNvPr id="16" name="Text 10"/>
          <p:cNvSpPr/>
          <p:nvPr/>
        </p:nvSpPr>
        <p:spPr>
          <a:xfrm>
            <a:off x="2178005" y="1483976"/>
            <a:ext cx="292645" cy="464515"/>
          </a:xfrm>
          <a:prstGeom prst="rect">
            <a:avLst/>
          </a:prstGeom>
          <a:noFill/>
          <a:ln/>
        </p:spPr>
        <p:txBody>
          <a:bodyPr wrap="square" lIns="0" tIns="0" rIns="0" bIns="0" rtlCol="0" anchor="t"/>
          <a:lstStyle/>
          <a:p>
            <a:pPr algn="r" indent="0" marL="0">
              <a:lnSpc>
                <a:spcPct val="124100"/>
              </a:lnSpc>
              <a:buNone/>
            </a:pPr>
            <a:r>
              <a:rPr lang="en-US" sz="2286" dirty="0">
                <a:solidFill>
                  <a:srgbClr val="67067C"/>
                </a:solidFill>
                <a:latin typeface="Young Serif" pitchFamily="34" charset="0"/>
                <a:ea typeface="Young Serif" pitchFamily="34" charset="-122"/>
                <a:cs typeface="Young Serif" pitchFamily="34" charset="-120"/>
              </a:rPr>
              <a:t>Q</a:t>
            </a:r>
            <a:endParaRPr lang="en-US" sz="2286" dirty="0"/>
          </a:p>
        </p:txBody>
      </p:sp>
      <p:sp>
        <p:nvSpPr>
          <p:cNvPr id="17" name="Text 11"/>
          <p:cNvSpPr/>
          <p:nvPr/>
        </p:nvSpPr>
        <p:spPr>
          <a:xfrm>
            <a:off x="2232000" y="1610077"/>
            <a:ext cx="3456000" cy="1979023"/>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uatre générations de passionnés et adhérent historique des Vignerons Indépendants : Jean-Yves Bretaudeau allie bon sens paysan et précision œnologique. Certifié HVE, le domaine préserve ses paysages ligériens pour des vins friands et expressifs.</a:t>
            </a:r>
            <a:endParaRPr lang="en-US" sz="13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12000" y="37511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Muscadet Sèvre et Maine sur lie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Cuvée des deux Colombes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2,95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Muscadet Sèvre et Maine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CRU Mouzillon – Tillières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Chardonnay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 Prestige de Beaulieu</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Sauvignon Gris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Cuvée domaine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2,85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Sauvignon Blanc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Vins du Val de Loire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2,85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Text 12"/>
          <p:cNvSpPr/>
          <p:nvPr/>
        </p:nvSpPr>
        <p:spPr>
          <a:xfrm>
            <a:off x="612000" y="6067247"/>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LOIRE — SCHISTES ET TUFFEAU</a:t>
            </a:r>
            <a:endParaRPr lang="en-US" sz="720" dirty="0"/>
          </a:p>
        </p:txBody>
      </p:sp>
      <p:pic>
        <p:nvPicPr>
          <p:cNvPr id="20" name="Image 4" descr="/home/user/philippe1/build/deco-catalogue-scio-2026/sol-loire.png">    </p:cNvPr>
          <p:cNvPicPr>
            <a:picLocks noChangeAspect="1"/>
          </p:cNvPicPr>
          <p:nvPr/>
        </p:nvPicPr>
        <p:blipFill>
          <a:blip r:embed="rId5"/>
          <a:stretch>
            <a:fillRect/>
          </a:stretch>
        </p:blipFill>
        <p:spPr>
          <a:xfrm>
            <a:off x="612000" y="6214847"/>
            <a:ext cx="6120000" cy="1148400"/>
          </a:xfrm>
          <a:prstGeom prst="rect">
            <a:avLst/>
          </a:prstGeom>
        </p:spPr>
      </p:pic>
      <p:sp>
        <p:nvSpPr>
          <p:cNvPr id="21" name="Shape 13"/>
          <p:cNvSpPr/>
          <p:nvPr/>
        </p:nvSpPr>
        <p:spPr>
          <a:xfrm>
            <a:off x="612000" y="8388000"/>
            <a:ext cx="6120000" cy="0"/>
          </a:xfrm>
          <a:prstGeom prst="line">
            <a:avLst/>
          </a:prstGeom>
          <a:noFill/>
          <a:ln w="8890">
            <a:solidFill>
              <a:srgbClr val="46606E"/>
            </a:solidFill>
            <a:prstDash val="solid"/>
          </a:ln>
        </p:spPr>
      </p:sp>
      <p:sp>
        <p:nvSpPr>
          <p:cNvPr id="22" name="Text 14"/>
          <p:cNvSpPr/>
          <p:nvPr/>
        </p:nvSpPr>
        <p:spPr>
          <a:xfrm>
            <a:off x="612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3" name="Text 15"/>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Rosé    ● Rouge     pictos de l’Agence SCIO, pas les logos officiels</a:t>
            </a:r>
            <a:endParaRPr lang="en-US" sz="650" dirty="0"/>
          </a:p>
        </p:txBody>
      </p:sp>
      <p:sp>
        <p:nvSpPr>
          <p:cNvPr id="24" name="Text 16"/>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7</a:t>
            </a:r>
            <a:endParaRPr lang="en-US" sz="750" dirty="0"/>
          </a:p>
        </p:txBody>
      </p:sp>
      <p:sp>
        <p:nvSpPr>
          <p:cNvPr id="25" name="Text 17"/>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oir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a:t>
            </a:r>
            <a:r>
              <a:rPr lang="en-US" sz="1550" dirty="0">
                <a:solidFill>
                  <a:srgbClr val="46606E"/>
                </a:solidFill>
                <a:latin typeface="Young Serif" pitchFamily="34" charset="0"/>
                <a:ea typeface="Young Serif" pitchFamily="34" charset="-122"/>
                <a:cs typeface="Young Serif" pitchFamily="34" charset="-120"/>
              </a:rPr>
              <a:t>   Domaine du Colombier / J.Y Bretaudeau</a:t>
            </a:r>
            <a:r>
              <a:rPr lang="en-US" sz="1100" i="1" dirty="0">
                <a:solidFill>
                  <a:srgbClr val="A8515F"/>
                </a:solidFill>
                <a:latin typeface="Spectral" pitchFamily="34" charset="0"/>
                <a:ea typeface="Spectral" pitchFamily="34" charset="-122"/>
                <a:cs typeface="Spectral" pitchFamily="34" charset="-120"/>
              </a:rPr>
              <a:t>  (suite)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528148"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hve.png">    </p:cNvPr>
          <p:cNvPicPr>
            <a:picLocks noChangeAspect="1"/>
          </p:cNvPicPr>
          <p:nvPr/>
        </p:nvPicPr>
        <p:blipFill>
          <a:blip r:embed="rId2"/>
          <a:stretch>
            <a:fillRect/>
          </a:stretch>
        </p:blipFill>
        <p:spPr>
          <a:xfrm>
            <a:off x="900000" y="1083600"/>
            <a:ext cx="108000" cy="108000"/>
          </a:xfrm>
          <a:prstGeom prst="rect">
            <a:avLst/>
          </a:prstGeom>
        </p:spPr>
      </p:pic>
      <p:sp>
        <p:nvSpPr>
          <p:cNvPr id="9" name="Text 5"/>
          <p:cNvSpPr/>
          <p:nvPr/>
        </p:nvSpPr>
        <p:spPr>
          <a:xfrm>
            <a:off x="975600" y="10476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0" name="Shape 6"/>
          <p:cNvSpPr/>
          <p:nvPr/>
        </p:nvSpPr>
        <p:spPr>
          <a:xfrm>
            <a:off x="1435348" y="10476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435348"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900022" y="1047600"/>
            <a:ext cx="787182"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900022"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14 références</a:t>
            </a:r>
            <a:endParaRPr lang="en-US" sz="72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828000" y="13572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 (SUITE)</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Cabernet Franc</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Rouge au lèvres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3,45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Méthode traditionnelle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perle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graphicFrame>
        <p:nvGraphicFramePr>
          <p:cNvPr id="17" name="Table 1"/>
          <p:cNvGraphicFramePr>
            <a:graphicFrameLocks noGrp="1"/>
          </p:cNvGraphicFramePr>
          <p:nvPr>
            <p:extLst>
              <p:ext uri="{D42A27DB-BD31-4B8C-83A1-F6EECF244321}">
                <p14:modId xmlns:p14="http://schemas.microsoft.com/office/powerpoint/2010/main" val="1579011935"/>
              </p:ext>
            </p:extLst>
          </p:nvPr>
        </p:nvGraphicFramePr>
        <p:xfrm>
          <a:off x="828000" y="2926668"/>
          <a:ext cx="6120000" cy="914400"/>
        </p:xfrm>
        <a:graphic>
          <a:graphicData uri="http://schemas.openxmlformats.org/drawingml/2006/table">
            <a:tbl>
              <a:tblPr/>
              <a:tblGrid>
                <a:gridCol w="216000"/>
                <a:gridCol w="2988000"/>
                <a:gridCol w="540000"/>
                <a:gridCol w="504000"/>
                <a:gridCol w="936000"/>
                <a:gridCol w="936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BIBS</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5 Litres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10 Litres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5300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Muscadet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13,80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22,70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Sauvignon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19,40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57770">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Chardonnay</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19,40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Merlot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19,40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Cabernet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19,40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Cabernet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6" name="Shape 10"/>
          <p:cNvSpPr/>
          <p:nvPr/>
        </p:nvSpPr>
        <p:spPr>
          <a:xfrm>
            <a:off x="828000" y="4808232"/>
            <a:ext cx="0" cy="288349"/>
          </a:xfrm>
          <a:prstGeom prst="line">
            <a:avLst/>
          </a:prstGeom>
          <a:noFill/>
          <a:ln w="17780">
            <a:solidFill>
              <a:srgbClr val="67067C"/>
            </a:solidFill>
            <a:prstDash val="solid"/>
          </a:ln>
        </p:spPr>
      </p:sp>
      <p:sp>
        <p:nvSpPr>
          <p:cNvPr id="17" name="Text 11"/>
          <p:cNvSpPr/>
          <p:nvPr/>
        </p:nvSpPr>
        <p:spPr>
          <a:xfrm>
            <a:off x="936000" y="4808232"/>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18" name="Text 12"/>
          <p:cNvSpPr/>
          <p:nvPr/>
        </p:nvSpPr>
        <p:spPr>
          <a:xfrm>
            <a:off x="828000" y="5240582"/>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LOIRE — SCHISTES ET TUFFEAU</a:t>
            </a:r>
            <a:endParaRPr lang="en-US" sz="720" dirty="0"/>
          </a:p>
        </p:txBody>
      </p:sp>
      <p:pic>
        <p:nvPicPr>
          <p:cNvPr id="19" name="Image 2" descr="/home/user/philippe1/build/deco-catalogue-scio-2026/sol-loire.png">    </p:cNvPr>
          <p:cNvPicPr>
            <a:picLocks noChangeAspect="1"/>
          </p:cNvPicPr>
          <p:nvPr/>
        </p:nvPicPr>
        <p:blipFill>
          <a:blip r:embed="rId3"/>
          <a:stretch>
            <a:fillRect/>
          </a:stretch>
        </p:blipFill>
        <p:spPr>
          <a:xfrm>
            <a:off x="828000" y="5388182"/>
            <a:ext cx="6120000" cy="1455953"/>
          </a:xfrm>
          <a:prstGeom prst="rect">
            <a:avLst/>
          </a:prstGeom>
        </p:spPr>
      </p:pic>
      <p:sp>
        <p:nvSpPr>
          <p:cNvPr id="20" name="Shape 13"/>
          <p:cNvSpPr/>
          <p:nvPr/>
        </p:nvSpPr>
        <p:spPr>
          <a:xfrm>
            <a:off x="828000" y="8388000"/>
            <a:ext cx="6120000" cy="0"/>
          </a:xfrm>
          <a:prstGeom prst="line">
            <a:avLst/>
          </a:prstGeom>
          <a:noFill/>
          <a:ln w="8890">
            <a:solidFill>
              <a:srgbClr val="46606E"/>
            </a:solidFill>
            <a:prstDash val="solid"/>
          </a:ln>
        </p:spPr>
      </p:sp>
      <p:sp>
        <p:nvSpPr>
          <p:cNvPr id="21" name="Text 14"/>
          <p:cNvSpPr/>
          <p:nvPr/>
        </p:nvSpPr>
        <p:spPr>
          <a:xfrm>
            <a:off x="828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2" name="Text 15"/>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Rosé    ● Rouge     pictos de l’Agence SCIO, pas les logos officiels</a:t>
            </a:r>
            <a:endParaRPr lang="en-US" sz="650" dirty="0"/>
          </a:p>
        </p:txBody>
      </p:sp>
      <p:sp>
        <p:nvSpPr>
          <p:cNvPr id="23" name="Text 16"/>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8</a:t>
            </a:r>
            <a:endParaRPr lang="en-US" sz="750" dirty="0"/>
          </a:p>
        </p:txBody>
      </p:sp>
      <p:sp>
        <p:nvSpPr>
          <p:cNvPr id="24" name="Text 17"/>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oir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4</a:t>
            </a:r>
            <a:r>
              <a:rPr lang="en-US" sz="2000" dirty="0">
                <a:solidFill>
                  <a:srgbClr val="46606E"/>
                </a:solidFill>
                <a:latin typeface="Young Serif" pitchFamily="34" charset="0"/>
                <a:ea typeface="Young Serif" pitchFamily="34" charset="-122"/>
                <a:cs typeface="Young Serif" pitchFamily="34" charset="-120"/>
              </a:rPr>
              <a:t>   Domaine des Noëls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528148"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hve.png">    </p:cNvPr>
          <p:cNvPicPr>
            <a:picLocks noChangeAspect="1"/>
          </p:cNvPicPr>
          <p:nvPr/>
        </p:nvPicPr>
        <p:blipFill>
          <a:blip r:embed="rId2"/>
          <a:stretch>
            <a:fillRect/>
          </a:stretch>
        </p:blipFill>
        <p:spPr>
          <a:xfrm>
            <a:off x="684000" y="1083600"/>
            <a:ext cx="108000" cy="108000"/>
          </a:xfrm>
          <a:prstGeom prst="rect">
            <a:avLst/>
          </a:prstGeom>
        </p:spPr>
      </p:pic>
      <p:sp>
        <p:nvSpPr>
          <p:cNvPr id="9" name="Text 5"/>
          <p:cNvSpPr/>
          <p:nvPr/>
        </p:nvSpPr>
        <p:spPr>
          <a:xfrm>
            <a:off x="759600" y="10476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0" name="Shape 6"/>
          <p:cNvSpPr/>
          <p:nvPr/>
        </p:nvSpPr>
        <p:spPr>
          <a:xfrm>
            <a:off x="1219348" y="10476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219348"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684022" y="10476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84022"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9 références</a:t>
            </a:r>
            <a:endParaRPr lang="en-US" sz="720" dirty="0"/>
          </a:p>
        </p:txBody>
      </p:sp>
      <p:pic>
        <p:nvPicPr>
          <p:cNvPr id="14" name="Image 2" descr="portrait — Domaine des Noëls">    </p:cNvPr>
          <p:cNvPicPr>
            <a:picLocks noChangeAspect="1"/>
          </p:cNvPicPr>
          <p:nvPr/>
        </p:nvPicPr>
        <p:blipFill>
          <a:blip r:embed="rId3"/>
          <a:srcRect l="0" r="0" t="8302" b="16679"/>
          <a:stretch/>
        </p:blipFill>
        <p:spPr>
          <a:xfrm>
            <a:off x="612000" y="1357200"/>
            <a:ext cx="1440000" cy="1440000"/>
          </a:xfrm>
          <a:prstGeom prst="ellipse">
            <a:avLst/>
          </a:prstGeom>
        </p:spPr>
      </p:pic>
      <p:pic>
        <p:nvPicPr>
          <p:cNvPr id="15" name="Image 3" descr="Une bouteille du domaine Domaine des Noëls">    </p:cNvPr>
          <p:cNvPicPr>
            <a:picLocks noChangeAspect="1"/>
          </p:cNvPicPr>
          <p:nvPr/>
        </p:nvPicPr>
        <p:blipFill>
          <a:blip r:embed="rId4"/>
          <a:stretch>
            <a:fillRect/>
          </a:stretch>
        </p:blipFill>
        <p:spPr>
          <a:xfrm>
            <a:off x="6001180" y="1357200"/>
            <a:ext cx="597639" cy="2232000"/>
          </a:xfrm>
          <a:prstGeom prst="rect">
            <a:avLst/>
          </a:prstGeom>
        </p:spPr>
      </p:pic>
      <p:sp>
        <p:nvSpPr>
          <p:cNvPr id="16" name="Text 10"/>
          <p:cNvSpPr/>
          <p:nvPr/>
        </p:nvSpPr>
        <p:spPr>
          <a:xfrm>
            <a:off x="2177965" y="1477539"/>
            <a:ext cx="292685" cy="483413"/>
          </a:xfrm>
          <a:prstGeom prst="rect">
            <a:avLst/>
          </a:prstGeom>
          <a:noFill/>
          <a:ln/>
        </p:spPr>
        <p:txBody>
          <a:bodyPr wrap="square" lIns="0" tIns="0" rIns="0" bIns="0" rtlCol="0" anchor="t"/>
          <a:lstStyle/>
          <a:p>
            <a:pPr algn="r" indent="0" marL="0">
              <a:lnSpc>
                <a:spcPct val="122900"/>
              </a:lnSpc>
              <a:buNone/>
            </a:pPr>
            <a:r>
              <a:rPr lang="en-US" sz="2379" dirty="0">
                <a:solidFill>
                  <a:srgbClr val="67067C"/>
                </a:solidFill>
                <a:latin typeface="Young Serif" pitchFamily="34" charset="0"/>
                <a:ea typeface="Young Serif" pitchFamily="34" charset="-122"/>
                <a:cs typeface="Young Serif" pitchFamily="34" charset="-120"/>
              </a:rPr>
              <a:t>D</a:t>
            </a:r>
            <a:endParaRPr lang="en-US" sz="2379" dirty="0"/>
          </a:p>
        </p:txBody>
      </p:sp>
      <p:sp>
        <p:nvSpPr>
          <p:cNvPr id="17" name="Text 11"/>
          <p:cNvSpPr/>
          <p:nvPr/>
        </p:nvSpPr>
        <p:spPr>
          <a:xfrm>
            <a:off x="2232000" y="1614506"/>
            <a:ext cx="3456000" cy="1974594"/>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epuis 1921 à Faye-d’Anjou, cinq générations se transmettent 24 hectares de coteaux argilo-schisteux remarquablement exposés. Le Chenin donne aussi bien les liquoreux du Coteaux du Layon que des Anjou Blanc et Crémant de Loire d’une minéralité tactile.</a:t>
            </a:r>
            <a:endParaRPr lang="en-US" sz="13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612000" y="37511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240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360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Anjou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Promenade des Noëls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Sauvignon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E1C853"/>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Coteaux du Layon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Coteaux du Layon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E1C853"/>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Coteaux du Layon Faye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Coteaux du Layon Faye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Crémant de Loire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Crémant de Loire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Crémant de Loire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Cuvée Prestige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Rosé de Loire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Rosé de Loire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Rosé d’Anjou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Rosé d’Anjou</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E1C853"/>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Cabernet d’Anjou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Cabernet d’Anjou</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612000" y="7609847"/>
            <a:ext cx="0" cy="288349"/>
          </a:xfrm>
          <a:prstGeom prst="line">
            <a:avLst/>
          </a:prstGeom>
          <a:noFill/>
          <a:ln w="17780">
            <a:solidFill>
              <a:srgbClr val="67067C"/>
            </a:solidFill>
            <a:prstDash val="solid"/>
          </a:ln>
        </p:spPr>
      </p:sp>
      <p:sp>
        <p:nvSpPr>
          <p:cNvPr id="20" name="Text 13"/>
          <p:cNvSpPr/>
          <p:nvPr/>
        </p:nvSpPr>
        <p:spPr>
          <a:xfrm>
            <a:off x="720000" y="7609847"/>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Shape 14"/>
          <p:cNvSpPr/>
          <p:nvPr/>
        </p:nvSpPr>
        <p:spPr>
          <a:xfrm>
            <a:off x="612000" y="8388000"/>
            <a:ext cx="6120000" cy="0"/>
          </a:xfrm>
          <a:prstGeom prst="line">
            <a:avLst/>
          </a:prstGeom>
          <a:noFill/>
          <a:ln w="8890">
            <a:solidFill>
              <a:srgbClr val="46606E"/>
            </a:solidFill>
            <a:prstDash val="solid"/>
          </a:ln>
        </p:spPr>
      </p:sp>
      <p:sp>
        <p:nvSpPr>
          <p:cNvPr id="22" name="Text 15"/>
          <p:cNvSpPr/>
          <p:nvPr/>
        </p:nvSpPr>
        <p:spPr>
          <a:xfrm>
            <a:off x="612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3" name="Text 16"/>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Rosé    ● Doux     pictos de l’Agence SCIO, pas les logos officiels</a:t>
            </a:r>
            <a:endParaRPr lang="en-US" sz="650" dirty="0"/>
          </a:p>
        </p:txBody>
      </p:sp>
      <p:sp>
        <p:nvSpPr>
          <p:cNvPr id="24" name="Text 17"/>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9</a:t>
            </a:r>
            <a:endParaRPr lang="en-US" sz="750" dirty="0"/>
          </a:p>
        </p:txBody>
      </p:sp>
      <p:sp>
        <p:nvSpPr>
          <p:cNvPr id="25" name="Text 18"/>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oir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5</a:t>
            </a:r>
            <a:r>
              <a:rPr lang="en-US" sz="2000" dirty="0">
                <a:solidFill>
                  <a:srgbClr val="46606E"/>
                </a:solidFill>
                <a:latin typeface="Young Serif" pitchFamily="34" charset="0"/>
                <a:ea typeface="Young Serif" pitchFamily="34" charset="-122"/>
                <a:cs typeface="Young Serif" pitchFamily="34" charset="-120"/>
              </a:rPr>
              <a:t>   Chai Berteaud Manceau</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83600"/>
            <a:ext cx="108000" cy="108000"/>
          </a:xfrm>
          <a:prstGeom prst="rect">
            <a:avLst/>
          </a:prstGeom>
        </p:spPr>
      </p:pic>
      <p:sp>
        <p:nvSpPr>
          <p:cNvPr id="9" name="Text 5"/>
          <p:cNvSpPr/>
          <p:nvPr/>
        </p:nvSpPr>
        <p:spPr>
          <a:xfrm>
            <a:off x="9756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476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858325" y="10476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58325"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pic>
        <p:nvPicPr>
          <p:cNvPr id="14" name="Image 2" descr="les deux fondateurs du chai — Chai Berteaud Manceau">    </p:cNvPr>
          <p:cNvPicPr>
            <a:picLocks noChangeAspect="1"/>
          </p:cNvPicPr>
          <p:nvPr/>
        </p:nvPicPr>
        <p:blipFill>
          <a:blip r:embed="rId3"/>
          <a:srcRect l="0" r="0" t="10078" b="20234"/>
          <a:stretch/>
        </p:blipFill>
        <p:spPr>
          <a:xfrm>
            <a:off x="828000" y="1357200"/>
            <a:ext cx="1440000" cy="1440000"/>
          </a:xfrm>
          <a:prstGeom prst="ellipse">
            <a:avLst/>
          </a:prstGeom>
        </p:spPr>
      </p:pic>
      <p:pic>
        <p:nvPicPr>
          <p:cNvPr id="15" name="Image 3" descr="Une bouteille du domaine Chai Berteaud Manceau">    </p:cNvPr>
          <p:cNvPicPr>
            <a:picLocks noChangeAspect="1"/>
          </p:cNvPicPr>
          <p:nvPr/>
        </p:nvPicPr>
        <p:blipFill>
          <a:blip r:embed="rId4"/>
          <a:stretch>
            <a:fillRect/>
          </a:stretch>
        </p:blipFill>
        <p:spPr>
          <a:xfrm>
            <a:off x="6214131" y="1357200"/>
            <a:ext cx="603738" cy="2232000"/>
          </a:xfrm>
          <a:prstGeom prst="rect">
            <a:avLst/>
          </a:prstGeom>
        </p:spPr>
      </p:pic>
      <p:sp>
        <p:nvSpPr>
          <p:cNvPr id="16" name="Text 10"/>
          <p:cNvSpPr/>
          <p:nvPr/>
        </p:nvSpPr>
        <p:spPr>
          <a:xfrm>
            <a:off x="2394017" y="1488545"/>
            <a:ext cx="251358" cy="451104"/>
          </a:xfrm>
          <a:prstGeom prst="rect">
            <a:avLst/>
          </a:prstGeom>
          <a:noFill/>
          <a:ln/>
        </p:spPr>
        <p:txBody>
          <a:bodyPr wrap="square" lIns="0" tIns="0" rIns="0" bIns="0" rtlCol="0" anchor="t"/>
          <a:lstStyle/>
          <a:p>
            <a:pPr algn="r" indent="0" marL="0">
              <a:lnSpc>
                <a:spcPct val="125000"/>
              </a:lnSpc>
              <a:buNone/>
            </a:pPr>
            <a:r>
              <a:rPr lang="en-US" sz="2220" dirty="0">
                <a:solidFill>
                  <a:srgbClr val="67067C"/>
                </a:solidFill>
                <a:latin typeface="Young Serif" pitchFamily="34" charset="0"/>
                <a:ea typeface="Young Serif" pitchFamily="34" charset="-122"/>
                <a:cs typeface="Young Serif" pitchFamily="34" charset="-120"/>
              </a:rPr>
              <a:t>P</a:t>
            </a:r>
            <a:endParaRPr lang="en-US" sz="2220" dirty="0"/>
          </a:p>
        </p:txBody>
      </p:sp>
      <p:sp>
        <p:nvSpPr>
          <p:cNvPr id="17" name="Text 11"/>
          <p:cNvSpPr/>
          <p:nvPr/>
        </p:nvSpPr>
        <p:spPr>
          <a:xfrm>
            <a:off x="2448000" y="1606934"/>
            <a:ext cx="3456000" cy="1982166"/>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remier chai urbain de La Roche-sur-Yon, à Mouilleron-le-Captif, fondé par deux amis d’enfance vendéens diplômés en ingénierie agricole à Angers. Les raisins proviennent de 8 domaines partenaires du Val de Loire. Levures indigènes : des jus digestes et éclatants.</a:t>
            </a:r>
            <a:endParaRPr lang="en-US" sz="13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828000" y="37511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60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240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Courant – Chenin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6,45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5,95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5,75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Source – Melon B.</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5,45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4,95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4,75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Reflet – Gamay</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6,45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5,95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5,75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828000" y="5301523"/>
            <a:ext cx="0" cy="288349"/>
          </a:xfrm>
          <a:prstGeom prst="line">
            <a:avLst/>
          </a:prstGeom>
          <a:noFill/>
          <a:ln w="17780">
            <a:solidFill>
              <a:srgbClr val="67067C"/>
            </a:solidFill>
            <a:prstDash val="solid"/>
          </a:ln>
        </p:spPr>
      </p:sp>
      <p:sp>
        <p:nvSpPr>
          <p:cNvPr id="20" name="Text 13"/>
          <p:cNvSpPr/>
          <p:nvPr/>
        </p:nvSpPr>
        <p:spPr>
          <a:xfrm>
            <a:off x="936000" y="5301523"/>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828000" y="5733872"/>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LOIRE — SCHISTES ET TUFFEAU</a:t>
            </a:r>
            <a:endParaRPr lang="en-US" sz="720" dirty="0"/>
          </a:p>
        </p:txBody>
      </p:sp>
      <p:pic>
        <p:nvPicPr>
          <p:cNvPr id="22" name="Image 4" descr="/home/user/philippe1/build/deco-catalogue-scio-2026/sol-loire.png">    </p:cNvPr>
          <p:cNvPicPr>
            <a:picLocks noChangeAspect="1"/>
          </p:cNvPicPr>
          <p:nvPr/>
        </p:nvPicPr>
        <p:blipFill>
          <a:blip r:embed="rId5"/>
          <a:stretch>
            <a:fillRect/>
          </a:stretch>
        </p:blipFill>
        <p:spPr>
          <a:xfrm>
            <a:off x="828000" y="5881472"/>
            <a:ext cx="6120000" cy="1315444"/>
          </a:xfrm>
          <a:prstGeom prst="rect">
            <a:avLst/>
          </a:prstGeom>
        </p:spPr>
      </p:pic>
      <p:sp>
        <p:nvSpPr>
          <p:cNvPr id="23" name="Shape 15"/>
          <p:cNvSpPr/>
          <p:nvPr/>
        </p:nvSpPr>
        <p:spPr>
          <a:xfrm>
            <a:off x="828000" y="8388000"/>
            <a:ext cx="6120000" cy="0"/>
          </a:xfrm>
          <a:prstGeom prst="line">
            <a:avLst/>
          </a:prstGeom>
          <a:noFill/>
          <a:ln w="8890">
            <a:solidFill>
              <a:srgbClr val="46606E"/>
            </a:solidFill>
            <a:prstDash val="solid"/>
          </a:ln>
        </p:spPr>
      </p:sp>
      <p:sp>
        <p:nvSpPr>
          <p:cNvPr id="24" name="Text 16"/>
          <p:cNvSpPr/>
          <p:nvPr/>
        </p:nvSpPr>
        <p:spPr>
          <a:xfrm>
            <a:off x="828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6" name="Text 18"/>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10</a:t>
            </a:r>
            <a:endParaRPr lang="en-US" sz="750" dirty="0"/>
          </a:p>
        </p:txBody>
      </p:sp>
      <p:sp>
        <p:nvSpPr>
          <p:cNvPr id="27" name="Text 19"/>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oir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6</a:t>
            </a:r>
            <a:r>
              <a:rPr lang="en-US" sz="2000" dirty="0">
                <a:solidFill>
                  <a:srgbClr val="46606E"/>
                </a:solidFill>
                <a:latin typeface="Young Serif" pitchFamily="34" charset="0"/>
                <a:ea typeface="Young Serif" pitchFamily="34" charset="-122"/>
                <a:cs typeface="Young Serif" pitchFamily="34" charset="-120"/>
              </a:rPr>
              <a:t>   Domaine Jean de Villebois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804754"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iso.png">    </p:cNvPr>
          <p:cNvPicPr>
            <a:picLocks noChangeAspect="1"/>
          </p:cNvPicPr>
          <p:nvPr/>
        </p:nvPicPr>
        <p:blipFill>
          <a:blip r:embed="rId2"/>
          <a:stretch>
            <a:fillRect/>
          </a:stretch>
        </p:blipFill>
        <p:spPr>
          <a:xfrm>
            <a:off x="684000" y="1083600"/>
            <a:ext cx="108000" cy="108000"/>
          </a:xfrm>
          <a:prstGeom prst="rect">
            <a:avLst/>
          </a:prstGeom>
        </p:spPr>
      </p:pic>
      <p:sp>
        <p:nvSpPr>
          <p:cNvPr id="9" name="Text 5"/>
          <p:cNvSpPr/>
          <p:nvPr/>
        </p:nvSpPr>
        <p:spPr>
          <a:xfrm>
            <a:off x="759600" y="1047600"/>
            <a:ext cx="65715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ISO 26000</a:t>
            </a:r>
            <a:endParaRPr lang="en-US" sz="720" dirty="0"/>
          </a:p>
        </p:txBody>
      </p:sp>
      <p:sp>
        <p:nvSpPr>
          <p:cNvPr id="10" name="Shape 6"/>
          <p:cNvSpPr/>
          <p:nvPr/>
        </p:nvSpPr>
        <p:spPr>
          <a:xfrm>
            <a:off x="1495954" y="1047600"/>
            <a:ext cx="1352190"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495954" y="10476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2" name="Shape 8"/>
          <p:cNvSpPr/>
          <p:nvPr/>
        </p:nvSpPr>
        <p:spPr>
          <a:xfrm>
            <a:off x="2927344" y="1047600"/>
            <a:ext cx="864357" cy="180000"/>
          </a:xfrm>
          <a:prstGeom prst="roundRect">
            <a:avLst>
              <a:gd name="adj" fmla="val 10160"/>
            </a:avLst>
          </a:prstGeom>
          <a:solidFill>
            <a:srgbClr val="D08C3C"/>
          </a:solidFill>
          <a:ln w="8890">
            <a:solidFill>
              <a:srgbClr val="D08C3C"/>
            </a:solidFill>
            <a:prstDash val="solid"/>
          </a:ln>
        </p:spPr>
      </p:sp>
      <p:sp>
        <p:nvSpPr>
          <p:cNvPr id="13" name="Text 9"/>
          <p:cNvSpPr/>
          <p:nvPr/>
        </p:nvSpPr>
        <p:spPr>
          <a:xfrm>
            <a:off x="2927344" y="1047600"/>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4" name="Shape 10"/>
          <p:cNvSpPr/>
          <p:nvPr/>
        </p:nvSpPr>
        <p:spPr>
          <a:xfrm>
            <a:off x="3870901" y="10476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870901"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16 références</a:t>
            </a:r>
            <a:endParaRPr lang="en-US" sz="720" dirty="0"/>
          </a:p>
        </p:txBody>
      </p:sp>
      <p:pic>
        <p:nvPicPr>
          <p:cNvPr id="16" name="Image 2" descr="dans les vignes — Domaine Jean de Villebois">    </p:cNvPr>
          <p:cNvPicPr>
            <a:picLocks noChangeAspect="1"/>
          </p:cNvPicPr>
          <p:nvPr/>
        </p:nvPicPr>
        <p:blipFill>
          <a:blip r:embed="rId3"/>
          <a:srcRect l="2667" r="30666" t="0" b="0"/>
          <a:stretch/>
        </p:blipFill>
        <p:spPr>
          <a:xfrm>
            <a:off x="612000" y="1357200"/>
            <a:ext cx="1440000" cy="1440000"/>
          </a:xfrm>
          <a:prstGeom prst="ellipse">
            <a:avLst/>
          </a:prstGeom>
        </p:spPr>
      </p:pic>
      <p:pic>
        <p:nvPicPr>
          <p:cNvPr id="17" name="Image 3" descr="Une bouteille du domaine Domaine Jean de Villebois">    </p:cNvPr>
          <p:cNvPicPr>
            <a:picLocks noChangeAspect="1"/>
          </p:cNvPicPr>
          <p:nvPr/>
        </p:nvPicPr>
        <p:blipFill>
          <a:blip r:embed="rId4"/>
          <a:stretch>
            <a:fillRect/>
          </a:stretch>
        </p:blipFill>
        <p:spPr>
          <a:xfrm>
            <a:off x="5993557" y="1357200"/>
            <a:ext cx="612885" cy="2232000"/>
          </a:xfrm>
          <a:prstGeom prst="rect">
            <a:avLst/>
          </a:prstGeom>
        </p:spPr>
      </p:pic>
      <p:sp>
        <p:nvSpPr>
          <p:cNvPr id="18" name="Text 12"/>
          <p:cNvSpPr/>
          <p:nvPr/>
        </p:nvSpPr>
        <p:spPr>
          <a:xfrm>
            <a:off x="2177960" y="1493390"/>
            <a:ext cx="251415" cy="436880"/>
          </a:xfrm>
          <a:prstGeom prst="rect">
            <a:avLst/>
          </a:prstGeom>
          <a:noFill/>
          <a:ln/>
        </p:spPr>
        <p:txBody>
          <a:bodyPr wrap="square" lIns="0" tIns="0" rIns="0" bIns="0" rtlCol="0" anchor="t"/>
          <a:lstStyle/>
          <a:p>
            <a:pPr algn="r" indent="0" marL="0">
              <a:lnSpc>
                <a:spcPct val="126100"/>
              </a:lnSpc>
              <a:buNone/>
            </a:pPr>
            <a:r>
              <a:rPr lang="en-US" sz="2150" dirty="0">
                <a:solidFill>
                  <a:srgbClr val="67067C"/>
                </a:solidFill>
                <a:latin typeface="Young Serif" pitchFamily="34" charset="0"/>
                <a:ea typeface="Young Serif" pitchFamily="34" charset="-122"/>
                <a:cs typeface="Young Serif" pitchFamily="34" charset="-120"/>
              </a:rPr>
              <a:t>S</a:t>
            </a:r>
            <a:endParaRPr lang="en-US" sz="2150" dirty="0"/>
          </a:p>
        </p:txBody>
      </p:sp>
      <p:sp>
        <p:nvSpPr>
          <p:cNvPr id="19" name="Text 13"/>
          <p:cNvSpPr/>
          <p:nvPr/>
        </p:nvSpPr>
        <p:spPr>
          <a:xfrm>
            <a:off x="2232000" y="1603600"/>
            <a:ext cx="3456000" cy="1985500"/>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pécialiste du Sauvignon Blanc ligérien, le domaine explore les plus beaux terroirs de Loire (Sancerre, Pouilly-Fumé, Menetou-Salon, Touraine). Techniques modernes et respect de la typicité des sols calcaires et de silex pour des blancs d’une grande pureté.</a:t>
            </a:r>
            <a:endParaRPr lang="en-US" sz="13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12000" y="37511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Chêne Marchand</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26,60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Chêne à la Rouline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25,40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Silex</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Marnes Kimméridgiennes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Text 14"/>
          <p:cNvSpPr/>
          <p:nvPr/>
        </p:nvSpPr>
        <p:spPr>
          <a:xfrm>
            <a:off x="612000" y="5682526"/>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LOIRE — SCHISTES ET TUFFEAU</a:t>
            </a:r>
            <a:endParaRPr lang="en-US" sz="720" dirty="0"/>
          </a:p>
        </p:txBody>
      </p:sp>
      <p:pic>
        <p:nvPicPr>
          <p:cNvPr id="22" name="Image 4" descr="/home/user/philippe1/build/deco-catalogue-scio-2026/sol-loire.png">    </p:cNvPr>
          <p:cNvPicPr>
            <a:picLocks noChangeAspect="1"/>
          </p:cNvPicPr>
          <p:nvPr/>
        </p:nvPicPr>
        <p:blipFill>
          <a:blip r:embed="rId5"/>
          <a:stretch>
            <a:fillRect/>
          </a:stretch>
        </p:blipFill>
        <p:spPr>
          <a:xfrm>
            <a:off x="612000" y="5830126"/>
            <a:ext cx="6120000" cy="1148400"/>
          </a:xfrm>
          <a:prstGeom prst="rect">
            <a:avLst/>
          </a:prstGeom>
        </p:spPr>
      </p:pic>
      <p:sp>
        <p:nvSpPr>
          <p:cNvPr id="23" name="Text 15"/>
          <p:cNvSpPr/>
          <p:nvPr/>
        </p:nvSpPr>
        <p:spPr>
          <a:xfrm>
            <a:off x="612000" y="8136000"/>
            <a:ext cx="6120000" cy="1980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Domaine Jean de Villebois et Divin No Low — n°7 p. 13</a:t>
            </a:r>
            <a:endParaRPr lang="en-US" sz="740" dirty="0"/>
          </a:p>
        </p:txBody>
      </p:sp>
      <p:sp>
        <p:nvSpPr>
          <p:cNvPr id="24" name="Shape 16"/>
          <p:cNvSpPr/>
          <p:nvPr/>
        </p:nvSpPr>
        <p:spPr>
          <a:xfrm>
            <a:off x="612000" y="8388000"/>
            <a:ext cx="6120000" cy="0"/>
          </a:xfrm>
          <a:prstGeom prst="line">
            <a:avLst/>
          </a:prstGeom>
          <a:noFill/>
          <a:ln w="8890">
            <a:solidFill>
              <a:srgbClr val="46606E"/>
            </a:solidFill>
            <a:prstDash val="solid"/>
          </a:ln>
        </p:spPr>
      </p:sp>
      <p:sp>
        <p:nvSpPr>
          <p:cNvPr id="25" name="Text 17"/>
          <p:cNvSpPr/>
          <p:nvPr/>
        </p:nvSpPr>
        <p:spPr>
          <a:xfrm>
            <a:off x="612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56 · 85</a:t>
            </a:r>
            <a:endParaRPr lang="en-US" sz="720" dirty="0"/>
          </a:p>
        </p:txBody>
      </p:sp>
      <p:sp>
        <p:nvSpPr>
          <p:cNvPr id="26" name="Text 18"/>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27" name="Text 1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11</a:t>
            </a:r>
            <a:endParaRPr lang="en-US" sz="750" dirty="0"/>
          </a:p>
        </p:txBody>
      </p:sp>
      <p:sp>
        <p:nvSpPr>
          <p:cNvPr id="28" name="Text 2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oir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6</a:t>
            </a:r>
            <a:r>
              <a:rPr lang="en-US" sz="2000" dirty="0">
                <a:solidFill>
                  <a:srgbClr val="46606E"/>
                </a:solidFill>
                <a:latin typeface="Young Serif" pitchFamily="34" charset="0"/>
                <a:ea typeface="Young Serif" pitchFamily="34" charset="-122"/>
                <a:cs typeface="Young Serif" pitchFamily="34" charset="-120"/>
              </a:rPr>
              <a:t>   Domaine Jean de Villebois</a:t>
            </a:r>
            <a:r>
              <a:rPr lang="en-US" sz="1100" i="1" dirty="0">
                <a:solidFill>
                  <a:srgbClr val="A8515F"/>
                </a:solidFill>
                <a:latin typeface="Spectral" pitchFamily="34" charset="0"/>
                <a:ea typeface="Spectral" pitchFamily="34" charset="-122"/>
                <a:cs typeface="Spectral" pitchFamily="34" charset="-120"/>
              </a:rPr>
              <a:t>  (suite)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804754"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iso.png">    </p:cNvPr>
          <p:cNvPicPr>
            <a:picLocks noChangeAspect="1"/>
          </p:cNvPicPr>
          <p:nvPr/>
        </p:nvPicPr>
        <p:blipFill>
          <a:blip r:embed="rId2"/>
          <a:stretch>
            <a:fillRect/>
          </a:stretch>
        </p:blipFill>
        <p:spPr>
          <a:xfrm>
            <a:off x="900000" y="1083600"/>
            <a:ext cx="108000" cy="108000"/>
          </a:xfrm>
          <a:prstGeom prst="rect">
            <a:avLst/>
          </a:prstGeom>
        </p:spPr>
      </p:pic>
      <p:sp>
        <p:nvSpPr>
          <p:cNvPr id="9" name="Text 5"/>
          <p:cNvSpPr/>
          <p:nvPr/>
        </p:nvSpPr>
        <p:spPr>
          <a:xfrm>
            <a:off x="975600" y="1047600"/>
            <a:ext cx="65715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ISO 26000</a:t>
            </a:r>
            <a:endParaRPr lang="en-US" sz="720" dirty="0"/>
          </a:p>
        </p:txBody>
      </p:sp>
      <p:sp>
        <p:nvSpPr>
          <p:cNvPr id="10" name="Shape 6"/>
          <p:cNvSpPr/>
          <p:nvPr/>
        </p:nvSpPr>
        <p:spPr>
          <a:xfrm>
            <a:off x="1711954" y="1047600"/>
            <a:ext cx="1352190"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711954" y="10476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2" name="Shape 8"/>
          <p:cNvSpPr/>
          <p:nvPr/>
        </p:nvSpPr>
        <p:spPr>
          <a:xfrm>
            <a:off x="3143344" y="1047600"/>
            <a:ext cx="864357" cy="180000"/>
          </a:xfrm>
          <a:prstGeom prst="roundRect">
            <a:avLst>
              <a:gd name="adj" fmla="val 10160"/>
            </a:avLst>
          </a:prstGeom>
          <a:solidFill>
            <a:srgbClr val="D08C3C"/>
          </a:solidFill>
          <a:ln w="8890">
            <a:solidFill>
              <a:srgbClr val="D08C3C"/>
            </a:solidFill>
            <a:prstDash val="solid"/>
          </a:ln>
        </p:spPr>
      </p:sp>
      <p:sp>
        <p:nvSpPr>
          <p:cNvPr id="13" name="Text 9"/>
          <p:cNvSpPr/>
          <p:nvPr/>
        </p:nvSpPr>
        <p:spPr>
          <a:xfrm>
            <a:off x="3143344" y="1047600"/>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4" name="Shape 10"/>
          <p:cNvSpPr/>
          <p:nvPr/>
        </p:nvSpPr>
        <p:spPr>
          <a:xfrm>
            <a:off x="4086901" y="10476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4086901"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16 références</a:t>
            </a:r>
            <a:endParaRPr lang="en-US" sz="72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828000" y="13572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 (SUITE)</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Pouilly-Fumé</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Silex Blancs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57770">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Pouilly-Fumé</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Menetou-Salon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9,25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57770">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Quincy</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Touraine Chenonceaux</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6,15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57770">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Val de Loire Sauvignon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Val de Loire Chenin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57770">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 Pinot Noir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Louisonne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25,40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 Pinot Noir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7" name="Shape 12"/>
          <p:cNvSpPr/>
          <p:nvPr/>
        </p:nvSpPr>
        <p:spPr>
          <a:xfrm>
            <a:off x="828000" y="5044050"/>
            <a:ext cx="0" cy="288349"/>
          </a:xfrm>
          <a:prstGeom prst="line">
            <a:avLst/>
          </a:prstGeom>
          <a:noFill/>
          <a:ln w="17780">
            <a:solidFill>
              <a:srgbClr val="67067C"/>
            </a:solidFill>
            <a:prstDash val="solid"/>
          </a:ln>
        </p:spPr>
      </p:sp>
      <p:sp>
        <p:nvSpPr>
          <p:cNvPr id="18" name="Text 13"/>
          <p:cNvSpPr/>
          <p:nvPr/>
        </p:nvSpPr>
        <p:spPr>
          <a:xfrm>
            <a:off x="936000" y="5044050"/>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19" name="Text 14"/>
          <p:cNvSpPr/>
          <p:nvPr/>
        </p:nvSpPr>
        <p:spPr>
          <a:xfrm>
            <a:off x="828000" y="5476399"/>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LOIRE — SCHISTES ET TUFFEAU</a:t>
            </a:r>
            <a:endParaRPr lang="en-US" sz="720" dirty="0"/>
          </a:p>
        </p:txBody>
      </p:sp>
      <p:pic>
        <p:nvPicPr>
          <p:cNvPr id="20" name="Image 2" descr="/home/user/philippe1/build/deco-catalogue-scio-2026/sol-loire.png">    </p:cNvPr>
          <p:cNvPicPr>
            <a:picLocks noChangeAspect="1"/>
          </p:cNvPicPr>
          <p:nvPr/>
        </p:nvPicPr>
        <p:blipFill>
          <a:blip r:embed="rId3"/>
          <a:stretch>
            <a:fillRect/>
          </a:stretch>
        </p:blipFill>
        <p:spPr>
          <a:xfrm>
            <a:off x="828000" y="5623999"/>
            <a:ext cx="6120000" cy="1227219"/>
          </a:xfrm>
          <a:prstGeom prst="rect">
            <a:avLst/>
          </a:prstGeom>
        </p:spPr>
      </p:pic>
      <p:sp>
        <p:nvSpPr>
          <p:cNvPr id="21" name="Text 15"/>
          <p:cNvSpPr/>
          <p:nvPr/>
        </p:nvSpPr>
        <p:spPr>
          <a:xfrm>
            <a:off x="828000" y="8136000"/>
            <a:ext cx="6120000" cy="1980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Domaine Jean de Villebois et Divin No Low — n°7 p. 13</a:t>
            </a:r>
            <a:endParaRPr lang="en-US" sz="740" dirty="0"/>
          </a:p>
        </p:txBody>
      </p:sp>
      <p:sp>
        <p:nvSpPr>
          <p:cNvPr id="22" name="Shape 16"/>
          <p:cNvSpPr/>
          <p:nvPr/>
        </p:nvSpPr>
        <p:spPr>
          <a:xfrm>
            <a:off x="828000" y="8388000"/>
            <a:ext cx="6120000" cy="0"/>
          </a:xfrm>
          <a:prstGeom prst="line">
            <a:avLst/>
          </a:prstGeom>
          <a:noFill/>
          <a:ln w="8890">
            <a:solidFill>
              <a:srgbClr val="46606E"/>
            </a:solidFill>
            <a:prstDash val="solid"/>
          </a:ln>
        </p:spPr>
      </p:sp>
      <p:sp>
        <p:nvSpPr>
          <p:cNvPr id="23" name="Text 17"/>
          <p:cNvSpPr/>
          <p:nvPr/>
        </p:nvSpPr>
        <p:spPr>
          <a:xfrm>
            <a:off x="828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56 · 85</a:t>
            </a:r>
            <a:endParaRPr lang="en-US" sz="720" dirty="0"/>
          </a:p>
        </p:txBody>
      </p:sp>
      <p:sp>
        <p:nvSpPr>
          <p:cNvPr id="24" name="Text 18"/>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25" name="Text 19"/>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12</a:t>
            </a:r>
            <a:endParaRPr lang="en-US" sz="750" dirty="0"/>
          </a:p>
        </p:txBody>
      </p:sp>
      <p:sp>
        <p:nvSpPr>
          <p:cNvPr id="26" name="Text 20"/>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oir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7</a:t>
            </a:r>
            <a:r>
              <a:rPr lang="en-US" sz="2000" dirty="0">
                <a:solidFill>
                  <a:srgbClr val="46606E"/>
                </a:solidFill>
                <a:latin typeface="Young Serif" pitchFamily="34" charset="0"/>
                <a:ea typeface="Young Serif" pitchFamily="34" charset="-122"/>
                <a:cs typeface="Young Serif" pitchFamily="34" charset="-120"/>
              </a:rPr>
              <a:t>   Divin No Low</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1352190" cy="180000"/>
          </a:xfrm>
          <a:prstGeom prst="roundRect">
            <a:avLst>
              <a:gd name="adj" fmla="val 10160"/>
            </a:avLst>
          </a:prstGeom>
          <a:solidFill>
            <a:srgbClr val="F2EADA"/>
          </a:solidFill>
          <a:ln w="8890">
            <a:solidFill>
              <a:srgbClr val="A8515F"/>
            </a:solidFill>
            <a:prstDash val="solid"/>
          </a:ln>
        </p:spPr>
      </p:sp>
      <p:sp>
        <p:nvSpPr>
          <p:cNvPr id="8" name="Text 5"/>
          <p:cNvSpPr/>
          <p:nvPr/>
        </p:nvSpPr>
        <p:spPr>
          <a:xfrm>
            <a:off x="612000" y="10476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9" name="Shape 6"/>
          <p:cNvSpPr/>
          <p:nvPr/>
        </p:nvSpPr>
        <p:spPr>
          <a:xfrm>
            <a:off x="2043390" y="1047600"/>
            <a:ext cx="732318" cy="180000"/>
          </a:xfrm>
          <a:prstGeom prst="roundRect">
            <a:avLst>
              <a:gd name="adj" fmla="val 10160"/>
            </a:avLst>
          </a:prstGeom>
          <a:solidFill>
            <a:srgbClr val="F2EADA"/>
          </a:solidFill>
          <a:ln w="8890">
            <a:solidFill>
              <a:srgbClr val="46606E"/>
            </a:solidFill>
            <a:prstDash val="solid"/>
          </a:ln>
        </p:spPr>
      </p:sp>
      <p:sp>
        <p:nvSpPr>
          <p:cNvPr id="10" name="Text 7"/>
          <p:cNvSpPr/>
          <p:nvPr/>
        </p:nvSpPr>
        <p:spPr>
          <a:xfrm>
            <a:off x="2043390"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8 références</a:t>
            </a:r>
            <a:endParaRPr lang="en-US" sz="720" dirty="0"/>
          </a:p>
        </p:txBody>
      </p:sp>
      <p:pic>
        <p:nvPicPr>
          <p:cNvPr id="11" name="Image 1" descr="vinification en cuverie — Divin No Low">    </p:cNvPr>
          <p:cNvPicPr>
            <a:picLocks noChangeAspect="1"/>
          </p:cNvPicPr>
          <p:nvPr/>
        </p:nvPicPr>
        <p:blipFill>
          <a:blip r:embed="rId2"/>
          <a:srcRect l="16650" r="16700" t="0" b="0"/>
          <a:stretch/>
        </p:blipFill>
        <p:spPr>
          <a:xfrm>
            <a:off x="612000" y="1357200"/>
            <a:ext cx="1440000" cy="1440000"/>
          </a:xfrm>
          <a:prstGeom prst="ellipse">
            <a:avLst/>
          </a:prstGeom>
        </p:spPr>
      </p:pic>
      <p:pic>
        <p:nvPicPr>
          <p:cNvPr id="12" name="Image 2" descr="Une bouteille du domaine Divin No Low">    </p:cNvPr>
          <p:cNvPicPr>
            <a:picLocks noChangeAspect="1"/>
          </p:cNvPicPr>
          <p:nvPr/>
        </p:nvPicPr>
        <p:blipFill>
          <a:blip r:embed="rId3"/>
          <a:stretch>
            <a:fillRect/>
          </a:stretch>
        </p:blipFill>
        <p:spPr>
          <a:xfrm>
            <a:off x="5956967" y="1357200"/>
            <a:ext cx="686066" cy="2232000"/>
          </a:xfrm>
          <a:prstGeom prst="rect">
            <a:avLst/>
          </a:prstGeom>
        </p:spPr>
      </p:pic>
      <p:sp>
        <p:nvSpPr>
          <p:cNvPr id="13" name="Text 8"/>
          <p:cNvSpPr/>
          <p:nvPr/>
        </p:nvSpPr>
        <p:spPr>
          <a:xfrm>
            <a:off x="2178033" y="1347672"/>
            <a:ext cx="251342" cy="451714"/>
          </a:xfrm>
          <a:prstGeom prst="rect">
            <a:avLst/>
          </a:prstGeom>
          <a:noFill/>
          <a:ln/>
        </p:spPr>
        <p:txBody>
          <a:bodyPr wrap="square" lIns="0" tIns="0" rIns="0" bIns="0" rtlCol="0" anchor="t"/>
          <a:lstStyle/>
          <a:p>
            <a:pPr algn="r" indent="0" marL="0">
              <a:lnSpc>
                <a:spcPct val="125000"/>
              </a:lnSpc>
              <a:buNone/>
            </a:pPr>
            <a:r>
              <a:rPr lang="en-US" sz="2223" dirty="0">
                <a:solidFill>
                  <a:srgbClr val="67067C"/>
                </a:solidFill>
                <a:latin typeface="Young Serif" pitchFamily="34" charset="0"/>
                <a:ea typeface="Young Serif" pitchFamily="34" charset="-122"/>
                <a:cs typeface="Young Serif" pitchFamily="34" charset="-120"/>
              </a:rPr>
              <a:t>L</a:t>
            </a:r>
            <a:endParaRPr lang="en-US" sz="2223" dirty="0"/>
          </a:p>
        </p:txBody>
      </p:sp>
      <p:sp>
        <p:nvSpPr>
          <p:cNvPr id="14" name="Text 9"/>
          <p:cNvSpPr/>
          <p:nvPr/>
        </p:nvSpPr>
        <p:spPr>
          <a:xfrm>
            <a:off x="2232000" y="1466412"/>
            <a:ext cx="3456000" cy="2122689"/>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e Sauvignon Blanc, le Chenin et le Pinot Noir sont des cépages polyvalents appréciés à tout moment de la journée ou de la nuit. À partir de raisins cultivés près des célèbres châteaux de la Loire, 7 cuvées sans alcool de qualité sont élaborées par des vignerons dévoués.</a:t>
            </a:r>
            <a:endParaRPr lang="en-US" sz="13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12000" y="37511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sans alcool 0,5 %</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Pinot Noir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sans alcool 0,5 %</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Sauvignon Blanc</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sans alcool</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Sauvignon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sans alcool</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Chenin Blanc</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sans alcool</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Rosé</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sans alcool</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Pinot Noir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sans alcool pétillant</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Sauvignon Blanc</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sans alcool pétillant</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Sauvignon Blanc Blush</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6" name="Shape 10"/>
          <p:cNvSpPr/>
          <p:nvPr/>
        </p:nvSpPr>
        <p:spPr>
          <a:xfrm>
            <a:off x="612000" y="7163809"/>
            <a:ext cx="0" cy="288349"/>
          </a:xfrm>
          <a:prstGeom prst="line">
            <a:avLst/>
          </a:prstGeom>
          <a:noFill/>
          <a:ln w="17780">
            <a:solidFill>
              <a:srgbClr val="67067C"/>
            </a:solidFill>
            <a:prstDash val="solid"/>
          </a:ln>
        </p:spPr>
      </p:sp>
      <p:sp>
        <p:nvSpPr>
          <p:cNvPr id="17" name="Text 11"/>
          <p:cNvSpPr/>
          <p:nvPr/>
        </p:nvSpPr>
        <p:spPr>
          <a:xfrm>
            <a:off x="720000" y="7163809"/>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18" name="Text 12"/>
          <p:cNvSpPr/>
          <p:nvPr/>
        </p:nvSpPr>
        <p:spPr>
          <a:xfrm>
            <a:off x="612000" y="8136000"/>
            <a:ext cx="6120000" cy="1980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Domaine Jean de Villebois et Divin No Low — n°6 p. 11</a:t>
            </a:r>
            <a:endParaRPr lang="en-US" sz="740" dirty="0"/>
          </a:p>
        </p:txBody>
      </p:sp>
      <p:sp>
        <p:nvSpPr>
          <p:cNvPr id="19" name="Shape 13"/>
          <p:cNvSpPr/>
          <p:nvPr/>
        </p:nvSpPr>
        <p:spPr>
          <a:xfrm>
            <a:off x="612000" y="8388000"/>
            <a:ext cx="6120000" cy="0"/>
          </a:xfrm>
          <a:prstGeom prst="line">
            <a:avLst/>
          </a:prstGeom>
          <a:noFill/>
          <a:ln w="8890">
            <a:solidFill>
              <a:srgbClr val="46606E"/>
            </a:solidFill>
            <a:prstDash val="solid"/>
          </a:ln>
        </p:spPr>
      </p:sp>
      <p:sp>
        <p:nvSpPr>
          <p:cNvPr id="20" name="Text 14"/>
          <p:cNvSpPr/>
          <p:nvPr/>
        </p:nvSpPr>
        <p:spPr>
          <a:xfrm>
            <a:off x="612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56 · 85</a:t>
            </a:r>
            <a:endParaRPr lang="en-US" sz="720" dirty="0"/>
          </a:p>
        </p:txBody>
      </p:sp>
      <p:sp>
        <p:nvSpPr>
          <p:cNvPr id="21" name="Text 15"/>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Sans alcool     pictos de l’Agence SCIO, pas les logos officiels</a:t>
            </a:r>
            <a:endParaRPr lang="en-US" sz="650" dirty="0"/>
          </a:p>
        </p:txBody>
      </p:sp>
      <p:sp>
        <p:nvSpPr>
          <p:cNvPr id="22" name="Text 16"/>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13</a:t>
            </a:r>
            <a:endParaRPr lang="en-US" sz="750" dirty="0"/>
          </a:p>
        </p:txBody>
      </p:sp>
      <p:sp>
        <p:nvSpPr>
          <p:cNvPr id="23" name="Text 17"/>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46606E"/>
        </a:solidFill>
      </p:bgPr>
    </p:bg>
    <p:spTree>
      <p:nvGrpSpPr>
        <p:cNvPr id="1" name=""/>
        <p:cNvGrpSpPr/>
        <p:nvPr/>
      </p:nvGrpSpPr>
      <p:grpSpPr>
        <a:xfrm>
          <a:off x="0" y="0"/>
          <a:ext cx="0" cy="0"/>
          <a:chOff x="0" y="0"/>
          <a:chExt cx="0" cy="0"/>
        </a:xfrm>
      </p:grpSpPr>
      <p:pic>
        <p:nvPicPr>
          <p:cNvPr id="2" name="Image 0" descr="/home/user/philippe1/build/deco-catalogue-scio-2026/ouverture-alsace.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catalogue-scio-2026/carotte-alsace.png">    </p:cNvPr>
          <p:cNvPicPr>
            <a:picLocks noChangeAspect="1"/>
          </p:cNvPicPr>
          <p:nvPr/>
        </p:nvPicPr>
        <p:blipFill>
          <a:blip r:embed="rId2"/>
          <a:stretch>
            <a:fillRect/>
          </a:stretch>
        </p:blipFill>
        <p:spPr>
          <a:xfrm>
            <a:off x="0" y="0"/>
            <a:ext cx="324000" cy="9360000"/>
          </a:xfrm>
          <a:prstGeom prst="rect">
            <a:avLst/>
          </a:prstGeom>
        </p:spPr>
      </p:pic>
      <p:sp>
        <p:nvSpPr>
          <p:cNvPr id="4"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ALSACE</a:t>
            </a:r>
            <a:endParaRPr lang="en-US" sz="660" dirty="0"/>
          </a:p>
        </p:txBody>
      </p:sp>
      <p:sp>
        <p:nvSpPr>
          <p:cNvPr id="5" name="Text 1"/>
          <p:cNvSpPr/>
          <p:nvPr/>
        </p:nvSpPr>
        <p:spPr>
          <a:xfrm>
            <a:off x="828000" y="540000"/>
            <a:ext cx="792000" cy="216000"/>
          </a:xfrm>
          <a:prstGeom prst="rect">
            <a:avLst/>
          </a:prstGeom>
          <a:noFill/>
          <a:ln/>
        </p:spPr>
        <p:txBody>
          <a:bodyPr wrap="square" lIns="0" tIns="0" rIns="0" bIns="0" rtlCol="0" anchor="ctr"/>
          <a:lstStyle/>
          <a:p>
            <a:pPr algn="ctr" indent="0" marL="0">
              <a:buNone/>
            </a:pPr>
            <a:r>
              <a:rPr lang="en-US" sz="800" b="1" dirty="0">
                <a:solidFill>
                  <a:srgbClr val="FBF8F1"/>
                </a:solidFill>
                <a:latin typeface="IBM Plex Sans" pitchFamily="34" charset="0"/>
                <a:ea typeface="IBM Plex Sans" pitchFamily="34" charset="-122"/>
                <a:cs typeface="IBM Plex Sans" pitchFamily="34" charset="-120"/>
              </a:rPr>
              <a:t>2 / 10</a:t>
            </a:r>
            <a:endParaRPr lang="en-US" sz="800" dirty="0"/>
          </a:p>
        </p:txBody>
      </p:sp>
      <p:sp>
        <p:nvSpPr>
          <p:cNvPr id="6" name="Text 2"/>
          <p:cNvSpPr/>
          <p:nvPr/>
        </p:nvSpPr>
        <p:spPr>
          <a:xfrm>
            <a:off x="828000" y="5112000"/>
            <a:ext cx="5040000" cy="792000"/>
          </a:xfrm>
          <a:prstGeom prst="rect">
            <a:avLst/>
          </a:prstGeom>
          <a:noFill/>
          <a:ln/>
        </p:spPr>
        <p:txBody>
          <a:bodyPr wrap="square" lIns="0" tIns="0" rIns="0" bIns="0" rtlCol="0" anchor="ctr"/>
          <a:lstStyle/>
          <a:p>
            <a:pPr indent="0" marL="0">
              <a:buNone/>
            </a:pPr>
            <a:r>
              <a:rPr lang="en-US" sz="4600" dirty="0">
                <a:solidFill>
                  <a:srgbClr val="FBF8F1"/>
                </a:solidFill>
                <a:latin typeface="Young Serif" pitchFamily="34" charset="0"/>
                <a:ea typeface="Young Serif" pitchFamily="34" charset="-122"/>
                <a:cs typeface="Young Serif" pitchFamily="34" charset="-120"/>
              </a:rPr>
              <a:t>Alsace</a:t>
            </a:r>
            <a:endParaRPr lang="en-US" sz="4600" dirty="0"/>
          </a:p>
        </p:txBody>
      </p:sp>
      <p:sp>
        <p:nvSpPr>
          <p:cNvPr id="7" name="Text 3"/>
          <p:cNvSpPr/>
          <p:nvPr/>
        </p:nvSpPr>
        <p:spPr>
          <a:xfrm>
            <a:off x="828000" y="5976000"/>
            <a:ext cx="4320000" cy="252000"/>
          </a:xfrm>
          <a:prstGeom prst="rect">
            <a:avLst/>
          </a:prstGeom>
          <a:noFill/>
          <a:ln/>
        </p:spPr>
        <p:txBody>
          <a:bodyPr wrap="square" lIns="0" tIns="0" rIns="0" bIns="0" rtlCol="0" anchor="ctr"/>
          <a:lstStyle/>
          <a:p>
            <a:pPr indent="0" marL="0">
              <a:buNone/>
            </a:pPr>
            <a:r>
              <a:rPr lang="en-US" sz="1200" i="1" dirty="0">
                <a:solidFill>
                  <a:srgbClr val="FBF8F1"/>
                </a:solidFill>
                <a:latin typeface="Spectral" pitchFamily="34" charset="0"/>
                <a:ea typeface="Spectral" pitchFamily="34" charset="-122"/>
                <a:cs typeface="Spectral" pitchFamily="34" charset="-120"/>
              </a:rPr>
              <a:t>coteaux du Bruderthal</a:t>
            </a:r>
            <a:endParaRPr lang="en-US" sz="1200" dirty="0"/>
          </a:p>
        </p:txBody>
      </p:sp>
      <p:sp>
        <p:nvSpPr>
          <p:cNvPr id="8" name="Text 4"/>
          <p:cNvSpPr/>
          <p:nvPr/>
        </p:nvSpPr>
        <p:spPr>
          <a:xfrm>
            <a:off x="828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1</a:t>
            </a:r>
            <a:endParaRPr lang="en-US" sz="2000" dirty="0"/>
          </a:p>
        </p:txBody>
      </p:sp>
      <p:sp>
        <p:nvSpPr>
          <p:cNvPr id="9" name="Text 5"/>
          <p:cNvSpPr/>
          <p:nvPr/>
        </p:nvSpPr>
        <p:spPr>
          <a:xfrm>
            <a:off x="828000" y="6660000"/>
            <a:ext cx="864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domaine</a:t>
            </a:r>
            <a:endParaRPr lang="en-US" sz="850" dirty="0"/>
          </a:p>
        </p:txBody>
      </p:sp>
      <p:sp>
        <p:nvSpPr>
          <p:cNvPr id="10" name="Text 6"/>
          <p:cNvSpPr/>
          <p:nvPr/>
        </p:nvSpPr>
        <p:spPr>
          <a:xfrm>
            <a:off x="1836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15</a:t>
            </a:r>
            <a:endParaRPr lang="en-US" sz="2000" dirty="0"/>
          </a:p>
        </p:txBody>
      </p:sp>
      <p:sp>
        <p:nvSpPr>
          <p:cNvPr id="11" name="Text 7"/>
          <p:cNvSpPr/>
          <p:nvPr/>
        </p:nvSpPr>
        <p:spPr>
          <a:xfrm>
            <a:off x="1836000" y="6660000"/>
            <a:ext cx="1620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références</a:t>
            </a:r>
            <a:endParaRPr lang="en-US" sz="850" dirty="0"/>
          </a:p>
        </p:txBody>
      </p:sp>
      <p:sp>
        <p:nvSpPr>
          <p:cNvPr id="12" name="Text 8"/>
          <p:cNvSpPr/>
          <p:nvPr/>
        </p:nvSpPr>
        <p:spPr>
          <a:xfrm>
            <a:off x="828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8   </a:t>
            </a:r>
            <a:r>
              <a:rPr lang="en-US" sz="860" dirty="0">
                <a:solidFill>
                  <a:srgbClr val="FBF8F1"/>
                </a:solidFill>
                <a:latin typeface="IBM Plex Sans" pitchFamily="34" charset="0"/>
                <a:ea typeface="IBM Plex Sans" pitchFamily="34" charset="-122"/>
                <a:cs typeface="IBM Plex Sans" pitchFamily="34" charset="-120"/>
              </a:rPr>
              <a:t>Domaine Boehler</a:t>
            </a:r>
            <a:r>
              <a:rPr lang="en-US" sz="860" b="1" dirty="0">
                <a:solidFill>
                  <a:srgbClr val="FBF8F1"/>
                </a:solidFill>
                <a:latin typeface="IBM Plex Sans" pitchFamily="34" charset="0"/>
                <a:ea typeface="IBM Plex Sans" pitchFamily="34" charset="-122"/>
                <a:cs typeface="IBM Plex Sans" pitchFamily="34" charset="-120"/>
              </a:rPr>
              <a:t>   15</a:t>
            </a:r>
            <a:endParaRPr lang="en-US" sz="860" dirty="0"/>
          </a:p>
        </p:txBody>
      </p:sp>
      <p:sp>
        <p:nvSpPr>
          <p:cNvPr id="13" name="Text 9"/>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14</a:t>
            </a:r>
            <a:endParaRPr lang="en-US" sz="750" dirty="0"/>
          </a:p>
        </p:txBody>
      </p:sp>
      <p:sp>
        <p:nvSpPr>
          <p:cNvPr id="14" name="Text 10"/>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alsac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ALSACE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8</a:t>
            </a:r>
            <a:r>
              <a:rPr lang="en-US" sz="2000" dirty="0">
                <a:solidFill>
                  <a:srgbClr val="46606E"/>
                </a:solidFill>
                <a:latin typeface="Young Serif" pitchFamily="34" charset="0"/>
                <a:ea typeface="Young Serif" pitchFamily="34" charset="-122"/>
                <a:cs typeface="Young Serif" pitchFamily="34" charset="-120"/>
              </a:rPr>
              <a:t>   Domaine Boehler</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ALSACE</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83600"/>
            <a:ext cx="108000" cy="108000"/>
          </a:xfrm>
          <a:prstGeom prst="rect">
            <a:avLst/>
          </a:prstGeom>
        </p:spPr>
      </p:pic>
      <p:sp>
        <p:nvSpPr>
          <p:cNvPr id="9" name="Text 5"/>
          <p:cNvSpPr/>
          <p:nvPr/>
        </p:nvSpPr>
        <p:spPr>
          <a:xfrm>
            <a:off x="7596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476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177651"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642325" y="1047600"/>
            <a:ext cx="787182"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42325"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15 références</a:t>
            </a:r>
            <a:endParaRPr lang="en-US" sz="720" dirty="0"/>
          </a:p>
        </p:txBody>
      </p:sp>
      <p:pic>
        <p:nvPicPr>
          <p:cNvPr id="14" name="Image 2" descr="logo du domaine — Domaine Boehler">    </p:cNvPr>
          <p:cNvPicPr>
            <a:picLocks noChangeAspect="1"/>
          </p:cNvPicPr>
          <p:nvPr/>
        </p:nvPicPr>
        <p:blipFill>
          <a:blip r:embed="rId3"/>
          <a:stretch>
            <a:fillRect/>
          </a:stretch>
        </p:blipFill>
        <p:spPr>
          <a:xfrm>
            <a:off x="612000" y="1357200"/>
            <a:ext cx="1440000" cy="1440000"/>
          </a:xfrm>
          <a:prstGeom prst="rect">
            <a:avLst/>
          </a:prstGeom>
        </p:spPr>
      </p:pic>
      <p:pic>
        <p:nvPicPr>
          <p:cNvPr id="15" name="Image 3" descr="Une bouteille du domaine Domaine Boehler">    </p:cNvPr>
          <p:cNvPicPr>
            <a:picLocks noChangeAspect="1"/>
          </p:cNvPicPr>
          <p:nvPr/>
        </p:nvPicPr>
        <p:blipFill>
          <a:blip r:embed="rId4"/>
          <a:stretch>
            <a:fillRect/>
          </a:stretch>
        </p:blipFill>
        <p:spPr>
          <a:xfrm>
            <a:off x="6056066" y="1357200"/>
            <a:ext cx="487869" cy="2232000"/>
          </a:xfrm>
          <a:prstGeom prst="rect">
            <a:avLst/>
          </a:prstGeom>
        </p:spPr>
      </p:pic>
      <p:sp>
        <p:nvSpPr>
          <p:cNvPr id="16" name="Text 10"/>
          <p:cNvSpPr/>
          <p:nvPr/>
        </p:nvSpPr>
        <p:spPr>
          <a:xfrm>
            <a:off x="2177956" y="1351894"/>
            <a:ext cx="251419" cy="439318"/>
          </a:xfrm>
          <a:prstGeom prst="rect">
            <a:avLst/>
          </a:prstGeom>
          <a:noFill/>
          <a:ln/>
        </p:spPr>
        <p:txBody>
          <a:bodyPr wrap="square" lIns="0" tIns="0" rIns="0" bIns="0" rtlCol="0" anchor="t"/>
          <a:lstStyle/>
          <a:p>
            <a:pPr algn="r" indent="0" marL="0">
              <a:lnSpc>
                <a:spcPct val="125900"/>
              </a:lnSpc>
              <a:buNone/>
            </a:pPr>
            <a:r>
              <a:rPr lang="en-US" sz="2162" dirty="0">
                <a:solidFill>
                  <a:srgbClr val="67067C"/>
                </a:solidFill>
                <a:latin typeface="Young Serif" pitchFamily="34" charset="0"/>
                <a:ea typeface="Young Serif" pitchFamily="34" charset="-122"/>
                <a:cs typeface="Young Serif" pitchFamily="34" charset="-120"/>
              </a:rPr>
              <a:t>B</a:t>
            </a:r>
            <a:endParaRPr lang="en-US" sz="2162" dirty="0"/>
          </a:p>
        </p:txBody>
      </p:sp>
      <p:sp>
        <p:nvSpPr>
          <p:cNvPr id="17" name="Text 11"/>
          <p:cNvSpPr/>
          <p:nvPr/>
        </p:nvSpPr>
        <p:spPr>
          <a:xfrm>
            <a:off x="2232000" y="1463507"/>
            <a:ext cx="3456000" cy="2125594"/>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erceau de tradition vigneronne à Molsheim, le Domaine Boehler aborde une nouvelle ère sous l’impulsion de Julien et Aurélie. Converti à l’agriculture biologique, le tandem explore ses coteaux et le prestigieux Grand Cru Bruderthal pour des vins verticaux, précis et profonds.</a:t>
            </a:r>
            <a:endParaRPr lang="en-US" sz="13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612000" y="37511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De 60 à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De 120 à 300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Plus de 300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Molse Rouge (Pinot Noir)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Seiler (Pinot Noir)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10,30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Hahnenberg (Pinot Noir)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Molse Blanc (Assemblage)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Thomen (Assemblage)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Text 12"/>
          <p:cNvSpPr/>
          <p:nvPr/>
        </p:nvSpPr>
        <p:spPr>
          <a:xfrm>
            <a:off x="612000" y="6128564"/>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ALSACE — COTEAUX DU BRUDERTHAL</a:t>
            </a:r>
            <a:endParaRPr lang="en-US" sz="720" dirty="0"/>
          </a:p>
        </p:txBody>
      </p:sp>
      <p:pic>
        <p:nvPicPr>
          <p:cNvPr id="20" name="Image 4" descr="/home/user/philippe1/build/deco-catalogue-scio-2026/sol-alsace.png">    </p:cNvPr>
          <p:cNvPicPr>
            <a:picLocks noChangeAspect="1"/>
          </p:cNvPicPr>
          <p:nvPr/>
        </p:nvPicPr>
        <p:blipFill>
          <a:blip r:embed="rId5"/>
          <a:stretch>
            <a:fillRect/>
          </a:stretch>
        </p:blipFill>
        <p:spPr>
          <a:xfrm>
            <a:off x="612000" y="6276164"/>
            <a:ext cx="6120000" cy="1148400"/>
          </a:xfrm>
          <a:prstGeom prst="rect">
            <a:avLst/>
          </a:prstGeom>
        </p:spPr>
      </p:pic>
      <p:sp>
        <p:nvSpPr>
          <p:cNvPr id="21" name="Shape 13"/>
          <p:cNvSpPr/>
          <p:nvPr/>
        </p:nvSpPr>
        <p:spPr>
          <a:xfrm>
            <a:off x="612000" y="8388000"/>
            <a:ext cx="6120000" cy="0"/>
          </a:xfrm>
          <a:prstGeom prst="line">
            <a:avLst/>
          </a:prstGeom>
          <a:noFill/>
          <a:ln w="8890">
            <a:solidFill>
              <a:srgbClr val="46606E"/>
            </a:solidFill>
            <a:prstDash val="solid"/>
          </a:ln>
        </p:spPr>
      </p:sp>
      <p:sp>
        <p:nvSpPr>
          <p:cNvPr id="22" name="Text 14"/>
          <p:cNvSpPr/>
          <p:nvPr/>
        </p:nvSpPr>
        <p:spPr>
          <a:xfrm>
            <a:off x="612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non précisés par le domaine — nous consulter</a:t>
            </a:r>
            <a:endParaRPr lang="en-US" sz="720" dirty="0"/>
          </a:p>
        </p:txBody>
      </p:sp>
      <p:sp>
        <p:nvSpPr>
          <p:cNvPr id="23" name="Text 15"/>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Rouge    ● Doux     pictos de l’Agence SCIO, pas les logos officiels</a:t>
            </a:r>
            <a:endParaRPr lang="en-US" sz="650" dirty="0"/>
          </a:p>
        </p:txBody>
      </p:sp>
      <p:sp>
        <p:nvSpPr>
          <p:cNvPr id="24" name="Text 16"/>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15</a:t>
            </a:r>
            <a:endParaRPr lang="en-US" sz="750" dirty="0"/>
          </a:p>
        </p:txBody>
      </p:sp>
      <p:sp>
        <p:nvSpPr>
          <p:cNvPr id="25" name="Text 17"/>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alsac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ALSACE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8</a:t>
            </a:r>
            <a:r>
              <a:rPr lang="en-US" sz="2000" dirty="0">
                <a:solidFill>
                  <a:srgbClr val="46606E"/>
                </a:solidFill>
                <a:latin typeface="Young Serif" pitchFamily="34" charset="0"/>
                <a:ea typeface="Young Serif" pitchFamily="34" charset="-122"/>
                <a:cs typeface="Young Serif" pitchFamily="34" charset="-120"/>
              </a:rPr>
              <a:t>   Domaine Boehler</a:t>
            </a:r>
            <a:r>
              <a:rPr lang="en-US" sz="1100" i="1" dirty="0">
                <a:solidFill>
                  <a:srgbClr val="A8515F"/>
                </a:solidFill>
                <a:latin typeface="Spectral" pitchFamily="34" charset="0"/>
                <a:ea typeface="Spectral" pitchFamily="34" charset="-122"/>
                <a:cs typeface="Spectral" pitchFamily="34" charset="-120"/>
              </a:rPr>
              <a:t>  (suite)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ALSACE</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83600"/>
            <a:ext cx="108000" cy="108000"/>
          </a:xfrm>
          <a:prstGeom prst="rect">
            <a:avLst/>
          </a:prstGeom>
        </p:spPr>
      </p:pic>
      <p:sp>
        <p:nvSpPr>
          <p:cNvPr id="9" name="Text 5"/>
          <p:cNvSpPr/>
          <p:nvPr/>
        </p:nvSpPr>
        <p:spPr>
          <a:xfrm>
            <a:off x="9756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476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858325" y="1047600"/>
            <a:ext cx="787182"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58325"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15 références</a:t>
            </a:r>
            <a:endParaRPr lang="en-US" sz="72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828000" y="13572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 (SUITE)</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De 60 à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De 120 à 300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Plus de 300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Leimen (Sylvaner)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Taubenstein (Pinot Blanc)</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Pfann (Pinot Gris)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Holderhurst (Riesling)</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Hahnenberg (Riesling)</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10,50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Alsace Grand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Bruderthal (Riesling)</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17,30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Alsace Grand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Bruderthal (Gewurztraminer)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15,40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Crémant d’Alsace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Brut Nature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E1C853"/>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Saint-Georges (Pinot Gris)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E1C853"/>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Saint-Georges (Gewurztraminer)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5" name="Shape 10"/>
          <p:cNvSpPr/>
          <p:nvPr/>
        </p:nvSpPr>
        <p:spPr>
          <a:xfrm>
            <a:off x="828000" y="5605430"/>
            <a:ext cx="0" cy="288349"/>
          </a:xfrm>
          <a:prstGeom prst="line">
            <a:avLst/>
          </a:prstGeom>
          <a:noFill/>
          <a:ln w="17780">
            <a:solidFill>
              <a:srgbClr val="67067C"/>
            </a:solidFill>
            <a:prstDash val="solid"/>
          </a:ln>
        </p:spPr>
      </p:sp>
      <p:sp>
        <p:nvSpPr>
          <p:cNvPr id="16" name="Text 11"/>
          <p:cNvSpPr/>
          <p:nvPr/>
        </p:nvSpPr>
        <p:spPr>
          <a:xfrm>
            <a:off x="936000" y="5605430"/>
            <a:ext cx="6012000" cy="288349"/>
          </a:xfrm>
          <a:prstGeom prst="rect">
            <a:avLst/>
          </a:prstGeom>
          <a:noFill/>
          <a:ln/>
        </p:spPr>
        <p:txBody>
          <a:bodyPr wrap="square" lIns="0" tIns="0" rIns="0" bIns="0" rtlCol="0" anchor="ctr"/>
          <a:lstStyle/>
          <a:p>
            <a:pPr indent="0" marL="0">
              <a:lnSpc>
                <a:spcPct val="110000"/>
              </a:lnSpc>
              <a:buNone/>
            </a:pPr>
            <a:r>
              <a:rPr lang="en-US" sz="1050" i="1" dirty="0">
                <a:solidFill>
                  <a:srgbClr val="2A3942"/>
                </a:solidFill>
                <a:latin typeface="IBM Plex Sans" pitchFamily="34" charset="0"/>
                <a:ea typeface="IBM Plex Sans" pitchFamily="34" charset="-122"/>
                <a:cs typeface="IBM Plex Sans" pitchFamily="34" charset="-120"/>
              </a:rPr>
              <a:t>Conditions de port non précisées par le domaine — nous consulter.</a:t>
            </a:r>
            <a:endParaRPr lang="en-US" sz="1050" dirty="0"/>
          </a:p>
        </p:txBody>
      </p:sp>
      <p:sp>
        <p:nvSpPr>
          <p:cNvPr id="17" name="Text 12"/>
          <p:cNvSpPr/>
          <p:nvPr/>
        </p:nvSpPr>
        <p:spPr>
          <a:xfrm>
            <a:off x="828000" y="6037779"/>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ALSACE — COTEAUX DU BRUDERTHAL</a:t>
            </a:r>
            <a:endParaRPr lang="en-US" sz="720" dirty="0"/>
          </a:p>
        </p:txBody>
      </p:sp>
      <p:pic>
        <p:nvPicPr>
          <p:cNvPr id="18" name="Image 2" descr="/home/user/philippe1/build/deco-catalogue-scio-2026/sol-alsace.png">    </p:cNvPr>
          <p:cNvPicPr>
            <a:picLocks noChangeAspect="1"/>
          </p:cNvPicPr>
          <p:nvPr/>
        </p:nvPicPr>
        <p:blipFill>
          <a:blip r:embed="rId3"/>
          <a:stretch>
            <a:fillRect/>
          </a:stretch>
        </p:blipFill>
        <p:spPr>
          <a:xfrm>
            <a:off x="828000" y="6185379"/>
            <a:ext cx="6120000" cy="1148400"/>
          </a:xfrm>
          <a:prstGeom prst="rect">
            <a:avLst/>
          </a:prstGeom>
        </p:spPr>
      </p:pic>
      <p:sp>
        <p:nvSpPr>
          <p:cNvPr id="19" name="Shape 13"/>
          <p:cNvSpPr/>
          <p:nvPr/>
        </p:nvSpPr>
        <p:spPr>
          <a:xfrm>
            <a:off x="828000" y="8388000"/>
            <a:ext cx="6120000" cy="0"/>
          </a:xfrm>
          <a:prstGeom prst="line">
            <a:avLst/>
          </a:prstGeom>
          <a:noFill/>
          <a:ln w="8890">
            <a:solidFill>
              <a:srgbClr val="46606E"/>
            </a:solidFill>
            <a:prstDash val="solid"/>
          </a:ln>
        </p:spPr>
      </p:sp>
      <p:sp>
        <p:nvSpPr>
          <p:cNvPr id="20" name="Text 14"/>
          <p:cNvSpPr/>
          <p:nvPr/>
        </p:nvSpPr>
        <p:spPr>
          <a:xfrm>
            <a:off x="828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non précisés par le domaine — nous consulter</a:t>
            </a:r>
            <a:endParaRPr lang="en-US" sz="720" dirty="0"/>
          </a:p>
        </p:txBody>
      </p:sp>
      <p:sp>
        <p:nvSpPr>
          <p:cNvPr id="21" name="Text 15"/>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Rouge    ● Doux     pictos de l’Agence SCIO, pas les logos officiels</a:t>
            </a:r>
            <a:endParaRPr lang="en-US" sz="650" dirty="0"/>
          </a:p>
        </p:txBody>
      </p:sp>
      <p:sp>
        <p:nvSpPr>
          <p:cNvPr id="22" name="Text 16"/>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16</a:t>
            </a:r>
            <a:endParaRPr lang="en-US" sz="750" dirty="0"/>
          </a:p>
        </p:txBody>
      </p:sp>
      <p:sp>
        <p:nvSpPr>
          <p:cNvPr id="23" name="Text 17"/>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46606E"/>
        </a:solidFill>
      </p:bgPr>
    </p:bg>
    <p:spTree>
      <p:nvGrpSpPr>
        <p:cNvPr id="1" name=""/>
        <p:cNvGrpSpPr/>
        <p:nvPr/>
      </p:nvGrpSpPr>
      <p:grpSpPr>
        <a:xfrm>
          <a:off x="0" y="0"/>
          <a:ext cx="0" cy="0"/>
          <a:chOff x="0" y="0"/>
          <a:chExt cx="0" cy="0"/>
        </a:xfrm>
      </p:grpSpPr>
      <p:pic>
        <p:nvPicPr>
          <p:cNvPr id="2" name="Image 0" descr="/home/user/philippe1/build/deco-catalogue-scio-2026/ouverture-beaujolais.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catalogue-scio-2026/carotte-beaujolais.png">    </p:cNvPr>
          <p:cNvPicPr>
            <a:picLocks noChangeAspect="1"/>
          </p:cNvPicPr>
          <p:nvPr/>
        </p:nvPicPr>
        <p:blipFill>
          <a:blip r:embed="rId2"/>
          <a:stretch>
            <a:fillRect/>
          </a:stretch>
        </p:blipFill>
        <p:spPr>
          <a:xfrm>
            <a:off x="7236000" y="0"/>
            <a:ext cx="324000" cy="9360000"/>
          </a:xfrm>
          <a:prstGeom prst="rect">
            <a:avLst/>
          </a:prstGeom>
        </p:spPr>
      </p:pic>
      <p:sp>
        <p:nvSpPr>
          <p:cNvPr id="4"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BEAUJOLAIS</a:t>
            </a:r>
            <a:endParaRPr lang="en-US" sz="660" dirty="0"/>
          </a:p>
        </p:txBody>
      </p:sp>
      <p:sp>
        <p:nvSpPr>
          <p:cNvPr id="5" name="Text 1"/>
          <p:cNvSpPr/>
          <p:nvPr/>
        </p:nvSpPr>
        <p:spPr>
          <a:xfrm>
            <a:off x="612000" y="540000"/>
            <a:ext cx="792000" cy="216000"/>
          </a:xfrm>
          <a:prstGeom prst="rect">
            <a:avLst/>
          </a:prstGeom>
          <a:noFill/>
          <a:ln/>
        </p:spPr>
        <p:txBody>
          <a:bodyPr wrap="square" lIns="0" tIns="0" rIns="0" bIns="0" rtlCol="0" anchor="ctr"/>
          <a:lstStyle/>
          <a:p>
            <a:pPr algn="ctr" indent="0" marL="0">
              <a:buNone/>
            </a:pPr>
            <a:r>
              <a:rPr lang="en-US" sz="800" b="1" dirty="0">
                <a:solidFill>
                  <a:srgbClr val="FBF8F1"/>
                </a:solidFill>
                <a:latin typeface="IBM Plex Sans" pitchFamily="34" charset="0"/>
                <a:ea typeface="IBM Plex Sans" pitchFamily="34" charset="-122"/>
                <a:cs typeface="IBM Plex Sans" pitchFamily="34" charset="-120"/>
              </a:rPr>
              <a:t>3 / 10</a:t>
            </a:r>
            <a:endParaRPr lang="en-US" sz="800" dirty="0"/>
          </a:p>
        </p:txBody>
      </p:sp>
      <p:sp>
        <p:nvSpPr>
          <p:cNvPr id="6" name="Text 2"/>
          <p:cNvSpPr/>
          <p:nvPr/>
        </p:nvSpPr>
        <p:spPr>
          <a:xfrm>
            <a:off x="612000" y="5112000"/>
            <a:ext cx="5040000" cy="792000"/>
          </a:xfrm>
          <a:prstGeom prst="rect">
            <a:avLst/>
          </a:prstGeom>
          <a:noFill/>
          <a:ln/>
        </p:spPr>
        <p:txBody>
          <a:bodyPr wrap="square" lIns="0" tIns="0" rIns="0" bIns="0" rtlCol="0" anchor="ctr"/>
          <a:lstStyle/>
          <a:p>
            <a:pPr indent="0" marL="0">
              <a:buNone/>
            </a:pPr>
            <a:r>
              <a:rPr lang="en-US" sz="4600" dirty="0">
                <a:solidFill>
                  <a:srgbClr val="FBF8F1"/>
                </a:solidFill>
                <a:latin typeface="Young Serif" pitchFamily="34" charset="0"/>
                <a:ea typeface="Young Serif" pitchFamily="34" charset="-122"/>
                <a:cs typeface="Young Serif" pitchFamily="34" charset="-120"/>
              </a:rPr>
              <a:t>Beaujolais</a:t>
            </a:r>
            <a:endParaRPr lang="en-US" sz="4600" dirty="0"/>
          </a:p>
        </p:txBody>
      </p:sp>
      <p:sp>
        <p:nvSpPr>
          <p:cNvPr id="7" name="Text 3"/>
          <p:cNvSpPr/>
          <p:nvPr/>
        </p:nvSpPr>
        <p:spPr>
          <a:xfrm>
            <a:off x="612000" y="5976000"/>
            <a:ext cx="4320000" cy="252000"/>
          </a:xfrm>
          <a:prstGeom prst="rect">
            <a:avLst/>
          </a:prstGeom>
          <a:noFill/>
          <a:ln/>
        </p:spPr>
        <p:txBody>
          <a:bodyPr wrap="square" lIns="0" tIns="0" rIns="0" bIns="0" rtlCol="0" anchor="ctr"/>
          <a:lstStyle/>
          <a:p>
            <a:pPr indent="0" marL="0">
              <a:buNone/>
            </a:pPr>
            <a:r>
              <a:rPr lang="en-US" sz="1200" i="1" dirty="0">
                <a:solidFill>
                  <a:srgbClr val="FBF8F1"/>
                </a:solidFill>
                <a:latin typeface="Spectral" pitchFamily="34" charset="0"/>
                <a:ea typeface="Spectral" pitchFamily="34" charset="-122"/>
                <a:cs typeface="Spectral" pitchFamily="34" charset="-120"/>
              </a:rPr>
              <a:t>le Clos des Nugues</a:t>
            </a:r>
            <a:endParaRPr lang="en-US" sz="1200" dirty="0"/>
          </a:p>
        </p:txBody>
      </p:sp>
      <p:sp>
        <p:nvSpPr>
          <p:cNvPr id="8" name="Text 4"/>
          <p:cNvSpPr/>
          <p:nvPr/>
        </p:nvSpPr>
        <p:spPr>
          <a:xfrm>
            <a:off x="612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1</a:t>
            </a:r>
            <a:endParaRPr lang="en-US" sz="2000" dirty="0"/>
          </a:p>
        </p:txBody>
      </p:sp>
      <p:sp>
        <p:nvSpPr>
          <p:cNvPr id="9" name="Text 5"/>
          <p:cNvSpPr/>
          <p:nvPr/>
        </p:nvSpPr>
        <p:spPr>
          <a:xfrm>
            <a:off x="612000" y="6660000"/>
            <a:ext cx="864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domaine</a:t>
            </a:r>
            <a:endParaRPr lang="en-US" sz="850" dirty="0"/>
          </a:p>
        </p:txBody>
      </p:sp>
      <p:sp>
        <p:nvSpPr>
          <p:cNvPr id="10" name="Text 6"/>
          <p:cNvSpPr/>
          <p:nvPr/>
        </p:nvSpPr>
        <p:spPr>
          <a:xfrm>
            <a:off x="1620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8</a:t>
            </a:r>
            <a:endParaRPr lang="en-US" sz="2000" dirty="0"/>
          </a:p>
        </p:txBody>
      </p:sp>
      <p:sp>
        <p:nvSpPr>
          <p:cNvPr id="11" name="Text 7"/>
          <p:cNvSpPr/>
          <p:nvPr/>
        </p:nvSpPr>
        <p:spPr>
          <a:xfrm>
            <a:off x="1620000" y="6660000"/>
            <a:ext cx="1620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références</a:t>
            </a:r>
            <a:endParaRPr lang="en-US" sz="850" dirty="0"/>
          </a:p>
        </p:txBody>
      </p:sp>
      <p:sp>
        <p:nvSpPr>
          <p:cNvPr id="12" name="Text 8"/>
          <p:cNvSpPr/>
          <p:nvPr/>
        </p:nvSpPr>
        <p:spPr>
          <a:xfrm>
            <a:off x="61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9   </a:t>
            </a:r>
            <a:r>
              <a:rPr lang="en-US" sz="860" dirty="0">
                <a:solidFill>
                  <a:srgbClr val="FBF8F1"/>
                </a:solidFill>
                <a:latin typeface="IBM Plex Sans" pitchFamily="34" charset="0"/>
                <a:ea typeface="IBM Plex Sans" pitchFamily="34" charset="-122"/>
                <a:cs typeface="IBM Plex Sans" pitchFamily="34" charset="-120"/>
              </a:rPr>
              <a:t>Domaine des Nugues</a:t>
            </a:r>
            <a:r>
              <a:rPr lang="en-US" sz="860" b="1" dirty="0">
                <a:solidFill>
                  <a:srgbClr val="FBF8F1"/>
                </a:solidFill>
                <a:latin typeface="IBM Plex Sans" pitchFamily="34" charset="0"/>
                <a:ea typeface="IBM Plex Sans" pitchFamily="34" charset="-122"/>
                <a:cs typeface="IBM Plex Sans" pitchFamily="34" charset="-120"/>
              </a:rPr>
              <a:t>   18</a:t>
            </a:r>
            <a:endParaRPr lang="en-US" sz="860" dirty="0"/>
          </a:p>
        </p:txBody>
      </p:sp>
      <p:sp>
        <p:nvSpPr>
          <p:cNvPr id="13" name="Text 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17</a:t>
            </a:r>
            <a:endParaRPr lang="en-US" sz="750" dirty="0"/>
          </a:p>
        </p:txBody>
      </p:sp>
      <p:sp>
        <p:nvSpPr>
          <p:cNvPr id="14" name="Text 1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eaujolais.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BEAUJOLAIS</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9</a:t>
            </a:r>
            <a:r>
              <a:rPr lang="en-US" sz="2000" dirty="0">
                <a:solidFill>
                  <a:srgbClr val="46606E"/>
                </a:solidFill>
                <a:latin typeface="Young Serif" pitchFamily="34" charset="0"/>
                <a:ea typeface="Young Serif" pitchFamily="34" charset="-122"/>
                <a:cs typeface="Young Serif" pitchFamily="34" charset="-120"/>
              </a:rPr>
              <a:t>   Domaine des Nugues</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BEAUJOLAIS</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528148"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hve.png">    </p:cNvPr>
          <p:cNvPicPr>
            <a:picLocks noChangeAspect="1"/>
          </p:cNvPicPr>
          <p:nvPr/>
        </p:nvPicPr>
        <p:blipFill>
          <a:blip r:embed="rId2"/>
          <a:stretch>
            <a:fillRect/>
          </a:stretch>
        </p:blipFill>
        <p:spPr>
          <a:xfrm>
            <a:off x="900000" y="1083600"/>
            <a:ext cx="108000" cy="108000"/>
          </a:xfrm>
          <a:prstGeom prst="rect">
            <a:avLst/>
          </a:prstGeom>
        </p:spPr>
      </p:pic>
      <p:sp>
        <p:nvSpPr>
          <p:cNvPr id="9" name="Text 5"/>
          <p:cNvSpPr/>
          <p:nvPr/>
        </p:nvSpPr>
        <p:spPr>
          <a:xfrm>
            <a:off x="975600" y="10476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0" name="Shape 6"/>
          <p:cNvSpPr/>
          <p:nvPr/>
        </p:nvSpPr>
        <p:spPr>
          <a:xfrm>
            <a:off x="1435348" y="10476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435348"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900022" y="10476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900022"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8 références</a:t>
            </a:r>
            <a:endParaRPr lang="en-US" sz="720" dirty="0"/>
          </a:p>
        </p:txBody>
      </p:sp>
      <p:pic>
        <p:nvPicPr>
          <p:cNvPr id="14" name="Image 2" descr="portrait des vignerons — Domaine des Nugues">    </p:cNvPr>
          <p:cNvPicPr>
            <a:picLocks noChangeAspect="1"/>
          </p:cNvPicPr>
          <p:nvPr/>
        </p:nvPicPr>
        <p:blipFill>
          <a:blip r:embed="rId3"/>
          <a:srcRect l="0" r="0" t="10991" b="22342"/>
          <a:stretch/>
        </p:blipFill>
        <p:spPr>
          <a:xfrm>
            <a:off x="828000" y="1357200"/>
            <a:ext cx="1440000" cy="1440000"/>
          </a:xfrm>
          <a:prstGeom prst="ellipse">
            <a:avLst/>
          </a:prstGeom>
        </p:spPr>
      </p:pic>
      <p:pic>
        <p:nvPicPr>
          <p:cNvPr id="15" name="Image 3" descr="Une bouteille du domaine Domaine des Nugues">    </p:cNvPr>
          <p:cNvPicPr>
            <a:picLocks noChangeAspect="1"/>
          </p:cNvPicPr>
          <p:nvPr/>
        </p:nvPicPr>
        <p:blipFill>
          <a:blip r:embed="rId4"/>
          <a:stretch>
            <a:fillRect/>
          </a:stretch>
        </p:blipFill>
        <p:spPr>
          <a:xfrm>
            <a:off x="6226328" y="1357200"/>
            <a:ext cx="579344" cy="2232000"/>
          </a:xfrm>
          <a:prstGeom prst="rect">
            <a:avLst/>
          </a:prstGeom>
        </p:spPr>
      </p:pic>
      <p:sp>
        <p:nvSpPr>
          <p:cNvPr id="16" name="Text 10"/>
          <p:cNvSpPr/>
          <p:nvPr/>
        </p:nvSpPr>
        <p:spPr>
          <a:xfrm>
            <a:off x="2393990" y="1270119"/>
            <a:ext cx="235510" cy="384658"/>
          </a:xfrm>
          <a:prstGeom prst="rect">
            <a:avLst/>
          </a:prstGeom>
          <a:noFill/>
          <a:ln/>
        </p:spPr>
        <p:txBody>
          <a:bodyPr wrap="square" lIns="0" tIns="0" rIns="0" bIns="0" rtlCol="0" anchor="t"/>
          <a:lstStyle/>
          <a:p>
            <a:pPr algn="r" indent="0" marL="0">
              <a:lnSpc>
                <a:spcPct val="121900"/>
              </a:lnSpc>
              <a:buNone/>
            </a:pPr>
            <a:r>
              <a:rPr lang="en-US" sz="1893" dirty="0">
                <a:solidFill>
                  <a:srgbClr val="67067C"/>
                </a:solidFill>
                <a:latin typeface="Young Serif" pitchFamily="34" charset="0"/>
                <a:ea typeface="Young Serif" pitchFamily="34" charset="-122"/>
                <a:cs typeface="Young Serif" pitchFamily="34" charset="-120"/>
              </a:rPr>
              <a:t>E</a:t>
            </a:r>
            <a:endParaRPr lang="en-US" sz="1893" dirty="0"/>
          </a:p>
        </p:txBody>
      </p:sp>
      <p:sp>
        <p:nvSpPr>
          <p:cNvPr id="17" name="Text 11"/>
          <p:cNvSpPr/>
          <p:nvPr/>
        </p:nvSpPr>
        <p:spPr>
          <a:xfrm>
            <a:off x="2448000" y="1382839"/>
            <a:ext cx="3456000" cy="2206261"/>
          </a:xfrm>
          <a:prstGeom prst="rect">
            <a:avLst/>
          </a:prstGeom>
          <a:noFill/>
          <a:ln/>
        </p:spPr>
        <p:txBody>
          <a:bodyPr wrap="square" lIns="0" tIns="0" rIns="0" bIns="0" rtlCol="0" anchor="t"/>
          <a:lstStyle/>
          <a:p>
            <a:pPr indent="0" marL="0">
              <a:lnSpc>
                <a:spcPct val="142000"/>
              </a:lnSpc>
              <a:buNone/>
            </a:pPr>
            <a:r>
              <a:rPr lang="en-US" sz="1000" dirty="0">
                <a:solidFill>
                  <a:srgbClr val="46606E"/>
                </a:solidFill>
                <a:latin typeface="Spectral" pitchFamily="34" charset="0"/>
                <a:ea typeface="Spectral" pitchFamily="34" charset="-122"/>
                <a:cs typeface="Spectral" pitchFamily="34" charset="-120"/>
              </a:rPr>
              <a:t>      n 1976, mon père, Gérard Gelin, fils et petit-fils de vigneron a acheté « le Clos des Nugues », c’est de là que vient le nom du Domaine. En 2000, je me suis associé avec mes parents afin de poursuivre le développement de l’exploitation. Puis, en 2008, vient le départ en retraite de mon père et l’arrivée de mon épouse Magali. En 2010, reprise totale du Domaine familial. En 2018, certification HVE (Haute Valeur Environnementale) de notre exploitation. Depuis 1976 et au fil des années, nous avons acheté des parcelles à proximité du Domaine.</a:t>
            </a:r>
            <a:endParaRPr lang="en-US" sz="10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828000" y="37511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60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240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Beaujolais-Lancié</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Grands Classiques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7,45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7,15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Beaujolais-Lancié</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Grands Classiques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5,55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Fleurie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Grands Classiques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8,65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8,25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Moulin-à-Vent</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Grands Classiques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8,85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8,15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Moulin-à-Vent</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Grands Classiques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150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19,55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17,90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Beaujolais-Villages sans soufre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Coups de Folies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5,55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Mâcon-Villages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Bourgogne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Bourgogne Chardonnay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Bourgogne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Shape 12"/>
          <p:cNvSpPr/>
          <p:nvPr/>
        </p:nvSpPr>
        <p:spPr>
          <a:xfrm>
            <a:off x="828000" y="7225126"/>
            <a:ext cx="0" cy="288349"/>
          </a:xfrm>
          <a:prstGeom prst="line">
            <a:avLst/>
          </a:prstGeom>
          <a:noFill/>
          <a:ln w="17780">
            <a:solidFill>
              <a:srgbClr val="67067C"/>
            </a:solidFill>
            <a:prstDash val="solid"/>
          </a:ln>
        </p:spPr>
      </p:sp>
      <p:sp>
        <p:nvSpPr>
          <p:cNvPr id="20" name="Text 13"/>
          <p:cNvSpPr/>
          <p:nvPr/>
        </p:nvSpPr>
        <p:spPr>
          <a:xfrm>
            <a:off x="936000" y="7225126"/>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Shape 14"/>
          <p:cNvSpPr/>
          <p:nvPr/>
        </p:nvSpPr>
        <p:spPr>
          <a:xfrm>
            <a:off x="828000" y="8388000"/>
            <a:ext cx="6120000" cy="0"/>
          </a:xfrm>
          <a:prstGeom prst="line">
            <a:avLst/>
          </a:prstGeom>
          <a:noFill/>
          <a:ln w="8890">
            <a:solidFill>
              <a:srgbClr val="46606E"/>
            </a:solidFill>
            <a:prstDash val="solid"/>
          </a:ln>
        </p:spPr>
      </p:sp>
      <p:sp>
        <p:nvSpPr>
          <p:cNvPr id="22" name="Text 15"/>
          <p:cNvSpPr/>
          <p:nvPr/>
        </p:nvSpPr>
        <p:spPr>
          <a:xfrm>
            <a:off x="828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3" name="Text 16"/>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4" name="Text 17"/>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18</a:t>
            </a:r>
            <a:endParaRPr lang="en-US" sz="750" dirty="0"/>
          </a:p>
        </p:txBody>
      </p:sp>
      <p:sp>
        <p:nvSpPr>
          <p:cNvPr id="25" name="Text 18"/>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46606E"/>
        </a:solidFill>
      </p:bgPr>
    </p:bg>
    <p:spTree>
      <p:nvGrpSpPr>
        <p:cNvPr id="1" name=""/>
        <p:cNvGrpSpPr/>
        <p:nvPr/>
      </p:nvGrpSpPr>
      <p:grpSpPr>
        <a:xfrm>
          <a:off x="0" y="0"/>
          <a:ext cx="0" cy="0"/>
          <a:chOff x="0" y="0"/>
          <a:chExt cx="0" cy="0"/>
        </a:xfrm>
      </p:grpSpPr>
      <p:pic>
        <p:nvPicPr>
          <p:cNvPr id="2" name="Image 0" descr="/home/user/philippe1/build/deco-catalogue-scio-2026/ouverture-bourgogne.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catalogue-scio-2026/carotte-bourgogne.png">    </p:cNvPr>
          <p:cNvPicPr>
            <a:picLocks noChangeAspect="1"/>
          </p:cNvPicPr>
          <p:nvPr/>
        </p:nvPicPr>
        <p:blipFill>
          <a:blip r:embed="rId2"/>
          <a:stretch>
            <a:fillRect/>
          </a:stretch>
        </p:blipFill>
        <p:spPr>
          <a:xfrm>
            <a:off x="7236000" y="0"/>
            <a:ext cx="324000" cy="9360000"/>
          </a:xfrm>
          <a:prstGeom prst="rect">
            <a:avLst/>
          </a:prstGeom>
        </p:spPr>
      </p:pic>
      <p:sp>
        <p:nvSpPr>
          <p:cNvPr id="4"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5" name="Text 1"/>
          <p:cNvSpPr/>
          <p:nvPr/>
        </p:nvSpPr>
        <p:spPr>
          <a:xfrm>
            <a:off x="612000" y="540000"/>
            <a:ext cx="792000" cy="216000"/>
          </a:xfrm>
          <a:prstGeom prst="rect">
            <a:avLst/>
          </a:prstGeom>
          <a:noFill/>
          <a:ln/>
        </p:spPr>
        <p:txBody>
          <a:bodyPr wrap="square" lIns="0" tIns="0" rIns="0" bIns="0" rtlCol="0" anchor="ctr"/>
          <a:lstStyle/>
          <a:p>
            <a:pPr algn="ctr" indent="0" marL="0">
              <a:buNone/>
            </a:pPr>
            <a:r>
              <a:rPr lang="en-US" sz="800" b="1" dirty="0">
                <a:solidFill>
                  <a:srgbClr val="FBF8F1"/>
                </a:solidFill>
                <a:latin typeface="IBM Plex Sans" pitchFamily="34" charset="0"/>
                <a:ea typeface="IBM Plex Sans" pitchFamily="34" charset="-122"/>
                <a:cs typeface="IBM Plex Sans" pitchFamily="34" charset="-120"/>
              </a:rPr>
              <a:t>4 / 10</a:t>
            </a:r>
            <a:endParaRPr lang="en-US" sz="800" dirty="0"/>
          </a:p>
        </p:txBody>
      </p:sp>
      <p:sp>
        <p:nvSpPr>
          <p:cNvPr id="6" name="Text 2"/>
          <p:cNvSpPr/>
          <p:nvPr/>
        </p:nvSpPr>
        <p:spPr>
          <a:xfrm>
            <a:off x="612000" y="5112000"/>
            <a:ext cx="5040000" cy="792000"/>
          </a:xfrm>
          <a:prstGeom prst="rect">
            <a:avLst/>
          </a:prstGeom>
          <a:noFill/>
          <a:ln/>
        </p:spPr>
        <p:txBody>
          <a:bodyPr wrap="square" lIns="0" tIns="0" rIns="0" bIns="0" rtlCol="0" anchor="ctr"/>
          <a:lstStyle/>
          <a:p>
            <a:pPr indent="0" marL="0">
              <a:buNone/>
            </a:pPr>
            <a:r>
              <a:rPr lang="en-US" sz="4600" dirty="0">
                <a:solidFill>
                  <a:srgbClr val="FBF8F1"/>
                </a:solidFill>
                <a:latin typeface="Young Serif" pitchFamily="34" charset="0"/>
                <a:ea typeface="Young Serif" pitchFamily="34" charset="-122"/>
                <a:cs typeface="Young Serif" pitchFamily="34" charset="-120"/>
              </a:rPr>
              <a:t>Bourgogne</a:t>
            </a:r>
            <a:endParaRPr lang="en-US" sz="4600" dirty="0"/>
          </a:p>
        </p:txBody>
      </p:sp>
      <p:sp>
        <p:nvSpPr>
          <p:cNvPr id="7" name="Text 3"/>
          <p:cNvSpPr/>
          <p:nvPr/>
        </p:nvSpPr>
        <p:spPr>
          <a:xfrm>
            <a:off x="612000" y="5976000"/>
            <a:ext cx="4320000" cy="252000"/>
          </a:xfrm>
          <a:prstGeom prst="rect">
            <a:avLst/>
          </a:prstGeom>
          <a:noFill/>
          <a:ln/>
        </p:spPr>
        <p:txBody>
          <a:bodyPr wrap="square" lIns="0" tIns="0" rIns="0" bIns="0" rtlCol="0" anchor="ctr"/>
          <a:lstStyle/>
          <a:p>
            <a:pPr indent="0" marL="0">
              <a:buNone/>
            </a:pPr>
            <a:r>
              <a:rPr lang="en-US" sz="1200" i="1" dirty="0">
                <a:solidFill>
                  <a:srgbClr val="FBF8F1"/>
                </a:solidFill>
                <a:latin typeface="Spectral" pitchFamily="34" charset="0"/>
                <a:ea typeface="Spectral" pitchFamily="34" charset="-122"/>
                <a:cs typeface="Spectral" pitchFamily="34" charset="-120"/>
              </a:rPr>
              <a:t>climats et terrasses</a:t>
            </a:r>
            <a:endParaRPr lang="en-US" sz="1200" dirty="0"/>
          </a:p>
        </p:txBody>
      </p:sp>
      <p:sp>
        <p:nvSpPr>
          <p:cNvPr id="8" name="Text 4"/>
          <p:cNvSpPr/>
          <p:nvPr/>
        </p:nvSpPr>
        <p:spPr>
          <a:xfrm>
            <a:off x="612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6</a:t>
            </a:r>
            <a:endParaRPr lang="en-US" sz="2000" dirty="0"/>
          </a:p>
        </p:txBody>
      </p:sp>
      <p:sp>
        <p:nvSpPr>
          <p:cNvPr id="9" name="Text 5"/>
          <p:cNvSpPr/>
          <p:nvPr/>
        </p:nvSpPr>
        <p:spPr>
          <a:xfrm>
            <a:off x="612000" y="6660000"/>
            <a:ext cx="864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domaines</a:t>
            </a:r>
            <a:endParaRPr lang="en-US" sz="850" dirty="0"/>
          </a:p>
        </p:txBody>
      </p:sp>
      <p:sp>
        <p:nvSpPr>
          <p:cNvPr id="10" name="Text 6"/>
          <p:cNvSpPr/>
          <p:nvPr/>
        </p:nvSpPr>
        <p:spPr>
          <a:xfrm>
            <a:off x="1620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57</a:t>
            </a:r>
            <a:endParaRPr lang="en-US" sz="2000" dirty="0"/>
          </a:p>
        </p:txBody>
      </p:sp>
      <p:sp>
        <p:nvSpPr>
          <p:cNvPr id="11" name="Text 7"/>
          <p:cNvSpPr/>
          <p:nvPr/>
        </p:nvSpPr>
        <p:spPr>
          <a:xfrm>
            <a:off x="1620000" y="6660000"/>
            <a:ext cx="1620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références</a:t>
            </a:r>
            <a:endParaRPr lang="en-US" sz="850" dirty="0"/>
          </a:p>
        </p:txBody>
      </p:sp>
      <p:sp>
        <p:nvSpPr>
          <p:cNvPr id="12" name="Text 8"/>
          <p:cNvSpPr/>
          <p:nvPr/>
        </p:nvSpPr>
        <p:spPr>
          <a:xfrm>
            <a:off x="61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10   </a:t>
            </a:r>
            <a:r>
              <a:rPr lang="en-US" sz="860" dirty="0">
                <a:solidFill>
                  <a:srgbClr val="FBF8F1"/>
                </a:solidFill>
                <a:latin typeface="IBM Plex Sans" pitchFamily="34" charset="0"/>
                <a:ea typeface="IBM Plex Sans" pitchFamily="34" charset="-122"/>
                <a:cs typeface="IBM Plex Sans" pitchFamily="34" charset="-120"/>
              </a:rPr>
              <a:t>Domaine Sébastien Magnien</a:t>
            </a:r>
            <a:r>
              <a:rPr lang="en-US" sz="860" b="1" dirty="0">
                <a:solidFill>
                  <a:srgbClr val="FBF8F1"/>
                </a:solidFill>
                <a:latin typeface="IBM Plex Sans" pitchFamily="34" charset="0"/>
                <a:ea typeface="IBM Plex Sans" pitchFamily="34" charset="-122"/>
                <a:cs typeface="IBM Plex Sans" pitchFamily="34" charset="-120"/>
              </a:rPr>
              <a:t>   20</a:t>
            </a:r>
            <a:endParaRPr lang="en-US" sz="860" dirty="0"/>
          </a:p>
        </p:txBody>
      </p:sp>
      <p:sp>
        <p:nvSpPr>
          <p:cNvPr id="13" name="Text 9"/>
          <p:cNvSpPr/>
          <p:nvPr/>
        </p:nvSpPr>
        <p:spPr>
          <a:xfrm>
            <a:off x="367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11   </a:t>
            </a:r>
            <a:r>
              <a:rPr lang="en-US" sz="860" dirty="0">
                <a:solidFill>
                  <a:srgbClr val="FBF8F1"/>
                </a:solidFill>
                <a:latin typeface="IBM Plex Sans" pitchFamily="34" charset="0"/>
                <a:ea typeface="IBM Plex Sans" pitchFamily="34" charset="-122"/>
                <a:cs typeface="IBM Plex Sans" pitchFamily="34" charset="-120"/>
              </a:rPr>
              <a:t>Domaine Nadine Ferrand</a:t>
            </a:r>
            <a:r>
              <a:rPr lang="en-US" sz="860" b="1" dirty="0">
                <a:solidFill>
                  <a:srgbClr val="FBF8F1"/>
                </a:solidFill>
                <a:latin typeface="IBM Plex Sans" pitchFamily="34" charset="0"/>
                <a:ea typeface="IBM Plex Sans" pitchFamily="34" charset="-122"/>
                <a:cs typeface="IBM Plex Sans" pitchFamily="34" charset="-120"/>
              </a:rPr>
              <a:t>   22</a:t>
            </a:r>
            <a:endParaRPr lang="en-US" sz="860" dirty="0"/>
          </a:p>
        </p:txBody>
      </p:sp>
      <p:sp>
        <p:nvSpPr>
          <p:cNvPr id="14" name="Text 10"/>
          <p:cNvSpPr/>
          <p:nvPr/>
        </p:nvSpPr>
        <p:spPr>
          <a:xfrm>
            <a:off x="612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12   </a:t>
            </a:r>
            <a:r>
              <a:rPr lang="en-US" sz="860" dirty="0">
                <a:solidFill>
                  <a:srgbClr val="FBF8F1"/>
                </a:solidFill>
                <a:latin typeface="IBM Plex Sans" pitchFamily="34" charset="0"/>
                <a:ea typeface="IBM Plex Sans" pitchFamily="34" charset="-122"/>
                <a:cs typeface="IBM Plex Sans" pitchFamily="34" charset="-120"/>
              </a:rPr>
              <a:t>Maison et Domaine André Goichot</a:t>
            </a:r>
            <a:r>
              <a:rPr lang="en-US" sz="860" b="1" dirty="0">
                <a:solidFill>
                  <a:srgbClr val="FBF8F1"/>
                </a:solidFill>
                <a:latin typeface="IBM Plex Sans" pitchFamily="34" charset="0"/>
                <a:ea typeface="IBM Plex Sans" pitchFamily="34" charset="-122"/>
                <a:cs typeface="IBM Plex Sans" pitchFamily="34" charset="-120"/>
              </a:rPr>
              <a:t>   23</a:t>
            </a:r>
            <a:endParaRPr lang="en-US" sz="860" dirty="0"/>
          </a:p>
        </p:txBody>
      </p:sp>
      <p:sp>
        <p:nvSpPr>
          <p:cNvPr id="15" name="Text 11"/>
          <p:cNvSpPr/>
          <p:nvPr/>
        </p:nvSpPr>
        <p:spPr>
          <a:xfrm>
            <a:off x="3672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13   </a:t>
            </a:r>
            <a:r>
              <a:rPr lang="en-US" sz="860" dirty="0">
                <a:solidFill>
                  <a:srgbClr val="FBF8F1"/>
                </a:solidFill>
                <a:latin typeface="IBM Plex Sans" pitchFamily="34" charset="0"/>
                <a:ea typeface="IBM Plex Sans" pitchFamily="34" charset="-122"/>
                <a:cs typeface="IBM Plex Sans" pitchFamily="34" charset="-120"/>
              </a:rPr>
              <a:t>Château du Cray</a:t>
            </a:r>
            <a:r>
              <a:rPr lang="en-US" sz="860" b="1" dirty="0">
                <a:solidFill>
                  <a:srgbClr val="FBF8F1"/>
                </a:solidFill>
                <a:latin typeface="IBM Plex Sans" pitchFamily="34" charset="0"/>
                <a:ea typeface="IBM Plex Sans" pitchFamily="34" charset="-122"/>
                <a:cs typeface="IBM Plex Sans" pitchFamily="34" charset="-120"/>
              </a:rPr>
              <a:t>   25</a:t>
            </a:r>
            <a:endParaRPr lang="en-US" sz="860" dirty="0"/>
          </a:p>
        </p:txBody>
      </p:sp>
      <p:sp>
        <p:nvSpPr>
          <p:cNvPr id="16" name="Text 12"/>
          <p:cNvSpPr/>
          <p:nvPr/>
        </p:nvSpPr>
        <p:spPr>
          <a:xfrm>
            <a:off x="612000" y="7632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14   </a:t>
            </a:r>
            <a:r>
              <a:rPr lang="en-US" sz="860" dirty="0">
                <a:solidFill>
                  <a:srgbClr val="FBF8F1"/>
                </a:solidFill>
                <a:latin typeface="IBM Plex Sans" pitchFamily="34" charset="0"/>
                <a:ea typeface="IBM Plex Sans" pitchFamily="34" charset="-122"/>
                <a:cs typeface="IBM Plex Sans" pitchFamily="34" charset="-120"/>
              </a:rPr>
              <a:t>Domaine Les Guignottes</a:t>
            </a:r>
            <a:r>
              <a:rPr lang="en-US" sz="860" b="1" dirty="0">
                <a:solidFill>
                  <a:srgbClr val="FBF8F1"/>
                </a:solidFill>
                <a:latin typeface="IBM Plex Sans" pitchFamily="34" charset="0"/>
                <a:ea typeface="IBM Plex Sans" pitchFamily="34" charset="-122"/>
                <a:cs typeface="IBM Plex Sans" pitchFamily="34" charset="-120"/>
              </a:rPr>
              <a:t>   26</a:t>
            </a:r>
            <a:endParaRPr lang="en-US" sz="860" dirty="0"/>
          </a:p>
        </p:txBody>
      </p:sp>
      <p:sp>
        <p:nvSpPr>
          <p:cNvPr id="17" name="Text 13"/>
          <p:cNvSpPr/>
          <p:nvPr/>
        </p:nvSpPr>
        <p:spPr>
          <a:xfrm>
            <a:off x="3672000" y="7632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15   </a:t>
            </a:r>
            <a:r>
              <a:rPr lang="en-US" sz="860" dirty="0">
                <a:solidFill>
                  <a:srgbClr val="FBF8F1"/>
                </a:solidFill>
                <a:latin typeface="IBM Plex Sans" pitchFamily="34" charset="0"/>
                <a:ea typeface="IBM Plex Sans" pitchFamily="34" charset="-122"/>
                <a:cs typeface="IBM Plex Sans" pitchFamily="34" charset="-120"/>
              </a:rPr>
              <a:t>Domaine des Verchères</a:t>
            </a:r>
            <a:r>
              <a:rPr lang="en-US" sz="860" b="1" dirty="0">
                <a:solidFill>
                  <a:srgbClr val="FBF8F1"/>
                </a:solidFill>
                <a:latin typeface="IBM Plex Sans" pitchFamily="34" charset="0"/>
                <a:ea typeface="IBM Plex Sans" pitchFamily="34" charset="-122"/>
                <a:cs typeface="IBM Plex Sans" pitchFamily="34" charset="-120"/>
              </a:rPr>
              <a:t>   27</a:t>
            </a:r>
            <a:endParaRPr lang="en-US" sz="860" dirty="0"/>
          </a:p>
        </p:txBody>
      </p:sp>
      <p:sp>
        <p:nvSpPr>
          <p:cNvPr id="18" name="Text 14"/>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19</a:t>
            </a:r>
            <a:endParaRPr lang="en-US" sz="750" dirty="0"/>
          </a:p>
        </p:txBody>
      </p:sp>
      <p:sp>
        <p:nvSpPr>
          <p:cNvPr id="19" name="Text 15"/>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urgo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10</a:t>
            </a:r>
            <a:r>
              <a:rPr lang="en-US" sz="2000" dirty="0">
                <a:solidFill>
                  <a:srgbClr val="46606E"/>
                </a:solidFill>
                <a:latin typeface="Young Serif" pitchFamily="34" charset="0"/>
                <a:ea typeface="Young Serif" pitchFamily="34" charset="-122"/>
                <a:cs typeface="Young Serif" pitchFamily="34" charset="-120"/>
              </a:rPr>
              <a:t>   Domaine Sébastien Magnien</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1264514"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raisonnee.png">    </p:cNvPr>
          <p:cNvPicPr>
            <a:picLocks noChangeAspect="1"/>
          </p:cNvPicPr>
          <p:nvPr/>
        </p:nvPicPr>
        <p:blipFill>
          <a:blip r:embed="rId2"/>
          <a:stretch>
            <a:fillRect/>
          </a:stretch>
        </p:blipFill>
        <p:spPr>
          <a:xfrm>
            <a:off x="900000" y="1083600"/>
            <a:ext cx="108000" cy="108000"/>
          </a:xfrm>
          <a:prstGeom prst="rect">
            <a:avLst/>
          </a:prstGeom>
        </p:spPr>
      </p:pic>
      <p:sp>
        <p:nvSpPr>
          <p:cNvPr id="9" name="Text 5"/>
          <p:cNvSpPr/>
          <p:nvPr/>
        </p:nvSpPr>
        <p:spPr>
          <a:xfrm>
            <a:off x="975600" y="1047600"/>
            <a:ext cx="111691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Agriculture raisonnée</a:t>
            </a:r>
            <a:endParaRPr lang="en-US" sz="720" dirty="0"/>
          </a:p>
        </p:txBody>
      </p:sp>
      <p:sp>
        <p:nvSpPr>
          <p:cNvPr id="10" name="Shape 6"/>
          <p:cNvSpPr/>
          <p:nvPr/>
        </p:nvSpPr>
        <p:spPr>
          <a:xfrm>
            <a:off x="2171714" y="1047600"/>
            <a:ext cx="630911" cy="180000"/>
          </a:xfrm>
          <a:prstGeom prst="roundRect">
            <a:avLst>
              <a:gd name="adj" fmla="val 10160"/>
            </a:avLst>
          </a:prstGeom>
          <a:solidFill>
            <a:srgbClr val="67067C"/>
          </a:solidFill>
          <a:ln w="8890">
            <a:solidFill>
              <a:srgbClr val="67067C"/>
            </a:solidFill>
            <a:prstDash val="solid"/>
          </a:ln>
        </p:spPr>
      </p:sp>
      <p:sp>
        <p:nvSpPr>
          <p:cNvPr id="11" name="Text 7"/>
          <p:cNvSpPr/>
          <p:nvPr/>
        </p:nvSpPr>
        <p:spPr>
          <a:xfrm>
            <a:off x="2171714" y="10476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2" name="Shape 8"/>
          <p:cNvSpPr/>
          <p:nvPr/>
        </p:nvSpPr>
        <p:spPr>
          <a:xfrm>
            <a:off x="2881825" y="1047600"/>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2881825"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4346499" y="10476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4346499"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15 références</a:t>
            </a:r>
            <a:endParaRPr lang="en-US" sz="720" dirty="0"/>
          </a:p>
        </p:txBody>
      </p:sp>
      <p:pic>
        <p:nvPicPr>
          <p:cNvPr id="16" name="Image 2" descr="portrait au chai, recadré au-dessus du verre — Domaine Sébastien Magnien">    </p:cNvPr>
          <p:cNvPicPr>
            <a:picLocks noChangeAspect="1"/>
          </p:cNvPicPr>
          <p:nvPr/>
        </p:nvPicPr>
        <p:blipFill>
          <a:blip r:embed="rId3"/>
          <a:stretch>
            <a:fillRect/>
          </a:stretch>
        </p:blipFill>
        <p:spPr>
          <a:xfrm>
            <a:off x="828000" y="1357200"/>
            <a:ext cx="1440000" cy="1440000"/>
          </a:xfrm>
          <a:prstGeom prst="rect">
            <a:avLst/>
          </a:prstGeom>
        </p:spPr>
      </p:pic>
      <p:pic>
        <p:nvPicPr>
          <p:cNvPr id="17" name="Image 3" descr="Une bouteille du domaine Domaine Sébastien Magnien">    </p:cNvPr>
          <p:cNvPicPr>
            <a:picLocks noChangeAspect="1"/>
          </p:cNvPicPr>
          <p:nvPr/>
        </p:nvPicPr>
        <p:blipFill>
          <a:blip r:embed="rId4"/>
          <a:stretch>
            <a:fillRect/>
          </a:stretch>
        </p:blipFill>
        <p:spPr>
          <a:xfrm>
            <a:off x="6223279" y="1357200"/>
            <a:ext cx="585443" cy="2232000"/>
          </a:xfrm>
          <a:prstGeom prst="rect">
            <a:avLst/>
          </a:prstGeom>
        </p:spPr>
      </p:pic>
      <p:sp>
        <p:nvSpPr>
          <p:cNvPr id="18" name="Text 12"/>
          <p:cNvSpPr/>
          <p:nvPr/>
        </p:nvSpPr>
        <p:spPr>
          <a:xfrm>
            <a:off x="2394024" y="1347810"/>
            <a:ext cx="168801" cy="451307"/>
          </a:xfrm>
          <a:prstGeom prst="rect">
            <a:avLst/>
          </a:prstGeom>
          <a:noFill/>
          <a:ln/>
        </p:spPr>
        <p:txBody>
          <a:bodyPr wrap="square" lIns="0" tIns="0" rIns="0" bIns="0" rtlCol="0" anchor="t"/>
          <a:lstStyle/>
          <a:p>
            <a:pPr algn="r" indent="0" marL="0">
              <a:lnSpc>
                <a:spcPct val="125000"/>
              </a:lnSpc>
              <a:buNone/>
            </a:pPr>
            <a:r>
              <a:rPr lang="en-US" sz="2221" dirty="0">
                <a:solidFill>
                  <a:srgbClr val="67067C"/>
                </a:solidFill>
                <a:latin typeface="Young Serif" pitchFamily="34" charset="0"/>
                <a:ea typeface="Young Serif" pitchFamily="34" charset="-122"/>
                <a:cs typeface="Young Serif" pitchFamily="34" charset="-120"/>
              </a:rPr>
              <a:t>I</a:t>
            </a:r>
            <a:endParaRPr lang="en-US" sz="2221" dirty="0"/>
          </a:p>
        </p:txBody>
      </p:sp>
      <p:sp>
        <p:nvSpPr>
          <p:cNvPr id="19" name="Text 13"/>
          <p:cNvSpPr/>
          <p:nvPr/>
        </p:nvSpPr>
        <p:spPr>
          <a:xfrm>
            <a:off x="2448000" y="1466316"/>
            <a:ext cx="3456000" cy="2122784"/>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nstallé à Meursault depuis 2004, Sébastien Magnien conduit 12 hectares sur les terroirs d’élite de la Côte de Beaune et des Hautes-Côtes (Pommard, Volnay, Puligny, Saint-Romain). Vendanges manuelles et élevages en fûts de chêne signent des Pinots et Chardonnays d’élégance et de tension.</a:t>
            </a:r>
            <a:endParaRPr lang="en-US" sz="13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828000" y="37511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Bourgogne Aligoté</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Bourgogne Aligoté</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Bourgogne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Chardonnay</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13,50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Hautes-Côtes de Beaune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Hautes-Côtes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13,50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Saint-Romain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Sous le Château</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19,00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Meursault</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Grands Charrons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35,00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Text 14"/>
          <p:cNvSpPr/>
          <p:nvPr/>
        </p:nvSpPr>
        <p:spPr>
          <a:xfrm>
            <a:off x="828000" y="6067247"/>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22" name="Image 4" descr="/home/user/philippe1/build/deco-catalogue-scio-2026/sol-bourgogne.png">    </p:cNvPr>
          <p:cNvPicPr>
            <a:picLocks noChangeAspect="1"/>
          </p:cNvPicPr>
          <p:nvPr/>
        </p:nvPicPr>
        <p:blipFill>
          <a:blip r:embed="rId5"/>
          <a:stretch>
            <a:fillRect/>
          </a:stretch>
        </p:blipFill>
        <p:spPr>
          <a:xfrm>
            <a:off x="828000" y="6214847"/>
            <a:ext cx="6120000" cy="1148400"/>
          </a:xfrm>
          <a:prstGeom prst="rect">
            <a:avLst/>
          </a:prstGeom>
        </p:spPr>
      </p:pic>
      <p:sp>
        <p:nvSpPr>
          <p:cNvPr id="23" name="Shape 15"/>
          <p:cNvSpPr/>
          <p:nvPr/>
        </p:nvSpPr>
        <p:spPr>
          <a:xfrm>
            <a:off x="828000" y="8388000"/>
            <a:ext cx="6120000" cy="0"/>
          </a:xfrm>
          <a:prstGeom prst="line">
            <a:avLst/>
          </a:prstGeom>
          <a:noFill/>
          <a:ln w="8890">
            <a:solidFill>
              <a:srgbClr val="46606E"/>
            </a:solidFill>
            <a:prstDash val="solid"/>
          </a:ln>
        </p:spPr>
      </p:sp>
      <p:sp>
        <p:nvSpPr>
          <p:cNvPr id="24" name="Text 16"/>
          <p:cNvSpPr/>
          <p:nvPr/>
        </p:nvSpPr>
        <p:spPr>
          <a:xfrm>
            <a:off x="828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6" name="Text 18"/>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20</a:t>
            </a:r>
            <a:endParaRPr lang="en-US" sz="750" dirty="0"/>
          </a:p>
        </p:txBody>
      </p:sp>
      <p:sp>
        <p:nvSpPr>
          <p:cNvPr id="27" name="Text 19"/>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urgo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10</a:t>
            </a:r>
            <a:r>
              <a:rPr lang="en-US" sz="2000" dirty="0">
                <a:solidFill>
                  <a:srgbClr val="46606E"/>
                </a:solidFill>
                <a:latin typeface="Young Serif" pitchFamily="34" charset="0"/>
                <a:ea typeface="Young Serif" pitchFamily="34" charset="-122"/>
                <a:cs typeface="Young Serif" pitchFamily="34" charset="-120"/>
              </a:rPr>
              <a:t>   Domaine Sébastien Magnien</a:t>
            </a:r>
            <a:r>
              <a:rPr lang="en-US" sz="1100" i="1" dirty="0">
                <a:solidFill>
                  <a:srgbClr val="A8515F"/>
                </a:solidFill>
                <a:latin typeface="Spectral" pitchFamily="34" charset="0"/>
                <a:ea typeface="Spectral" pitchFamily="34" charset="-122"/>
                <a:cs typeface="Spectral" pitchFamily="34" charset="-120"/>
              </a:rPr>
              <a:t>  (suite)</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1264514"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raisonnee.png">    </p:cNvPr>
          <p:cNvPicPr>
            <a:picLocks noChangeAspect="1"/>
          </p:cNvPicPr>
          <p:nvPr/>
        </p:nvPicPr>
        <p:blipFill>
          <a:blip r:embed="rId2"/>
          <a:stretch>
            <a:fillRect/>
          </a:stretch>
        </p:blipFill>
        <p:spPr>
          <a:xfrm>
            <a:off x="684000" y="1083600"/>
            <a:ext cx="108000" cy="108000"/>
          </a:xfrm>
          <a:prstGeom prst="rect">
            <a:avLst/>
          </a:prstGeom>
        </p:spPr>
      </p:pic>
      <p:sp>
        <p:nvSpPr>
          <p:cNvPr id="9" name="Text 5"/>
          <p:cNvSpPr/>
          <p:nvPr/>
        </p:nvSpPr>
        <p:spPr>
          <a:xfrm>
            <a:off x="759600" y="1047600"/>
            <a:ext cx="111691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Agriculture raisonnée</a:t>
            </a:r>
            <a:endParaRPr lang="en-US" sz="720" dirty="0"/>
          </a:p>
        </p:txBody>
      </p:sp>
      <p:sp>
        <p:nvSpPr>
          <p:cNvPr id="10" name="Shape 6"/>
          <p:cNvSpPr/>
          <p:nvPr/>
        </p:nvSpPr>
        <p:spPr>
          <a:xfrm>
            <a:off x="1955714" y="1047600"/>
            <a:ext cx="630911" cy="180000"/>
          </a:xfrm>
          <a:prstGeom prst="roundRect">
            <a:avLst>
              <a:gd name="adj" fmla="val 10160"/>
            </a:avLst>
          </a:prstGeom>
          <a:solidFill>
            <a:srgbClr val="67067C"/>
          </a:solidFill>
          <a:ln w="8890">
            <a:solidFill>
              <a:srgbClr val="67067C"/>
            </a:solidFill>
            <a:prstDash val="solid"/>
          </a:ln>
        </p:spPr>
      </p:sp>
      <p:sp>
        <p:nvSpPr>
          <p:cNvPr id="11" name="Text 7"/>
          <p:cNvSpPr/>
          <p:nvPr/>
        </p:nvSpPr>
        <p:spPr>
          <a:xfrm>
            <a:off x="1955714" y="10476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2" name="Shape 8"/>
          <p:cNvSpPr/>
          <p:nvPr/>
        </p:nvSpPr>
        <p:spPr>
          <a:xfrm>
            <a:off x="2665825" y="1047600"/>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2665825"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4130499" y="10476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4130499"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15 références</a:t>
            </a:r>
            <a:endParaRPr lang="en-US" sz="72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612000" y="13572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 (SUITE)</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Meursault</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Meix Chavaux</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37,00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Beaune 1er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Beaune 1er Cru</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24,00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Puligny-Montrachet 1er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Folatières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60,00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Bourgogne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Pinot Noir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11,75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Hautes-Côtes de Beaune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Vieilles Vignes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12,75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Hautes-Côtes de Beaune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Clos de la Perrière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Beaune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Bons Feuvres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Pommard</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Perrières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24,00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Pommard</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Petits Noizons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26,00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Beaune 1er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Aigrots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22,00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7" name="Shape 12"/>
          <p:cNvSpPr/>
          <p:nvPr/>
        </p:nvSpPr>
        <p:spPr>
          <a:xfrm>
            <a:off x="612000" y="5544113"/>
            <a:ext cx="0" cy="288349"/>
          </a:xfrm>
          <a:prstGeom prst="line">
            <a:avLst/>
          </a:prstGeom>
          <a:noFill/>
          <a:ln w="17780">
            <a:solidFill>
              <a:srgbClr val="67067C"/>
            </a:solidFill>
            <a:prstDash val="solid"/>
          </a:ln>
        </p:spPr>
      </p:sp>
      <p:sp>
        <p:nvSpPr>
          <p:cNvPr id="18" name="Text 13"/>
          <p:cNvSpPr/>
          <p:nvPr/>
        </p:nvSpPr>
        <p:spPr>
          <a:xfrm>
            <a:off x="720000" y="5544113"/>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19" name="Text 14"/>
          <p:cNvSpPr/>
          <p:nvPr/>
        </p:nvSpPr>
        <p:spPr>
          <a:xfrm>
            <a:off x="612000" y="5976462"/>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20" name="Image 2" descr="/home/user/philippe1/build/deco-catalogue-scio-2026/sol-bourgogne.png">    </p:cNvPr>
          <p:cNvPicPr>
            <a:picLocks noChangeAspect="1"/>
          </p:cNvPicPr>
          <p:nvPr/>
        </p:nvPicPr>
        <p:blipFill>
          <a:blip r:embed="rId3"/>
          <a:stretch>
            <a:fillRect/>
          </a:stretch>
        </p:blipFill>
        <p:spPr>
          <a:xfrm>
            <a:off x="612000" y="6124062"/>
            <a:ext cx="6120000" cy="1169890"/>
          </a:xfrm>
          <a:prstGeom prst="rect">
            <a:avLst/>
          </a:prstGeom>
        </p:spPr>
      </p:pic>
      <p:sp>
        <p:nvSpPr>
          <p:cNvPr id="21" name="Shape 15"/>
          <p:cNvSpPr/>
          <p:nvPr/>
        </p:nvSpPr>
        <p:spPr>
          <a:xfrm>
            <a:off x="612000" y="8388000"/>
            <a:ext cx="6120000" cy="0"/>
          </a:xfrm>
          <a:prstGeom prst="line">
            <a:avLst/>
          </a:prstGeom>
          <a:noFill/>
          <a:ln w="8890">
            <a:solidFill>
              <a:srgbClr val="46606E"/>
            </a:solidFill>
            <a:prstDash val="solid"/>
          </a:ln>
        </p:spPr>
      </p:sp>
      <p:sp>
        <p:nvSpPr>
          <p:cNvPr id="22" name="Text 16"/>
          <p:cNvSpPr/>
          <p:nvPr/>
        </p:nvSpPr>
        <p:spPr>
          <a:xfrm>
            <a:off x="612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3" name="Text 17"/>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4" name="Text 18"/>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21</a:t>
            </a:r>
            <a:endParaRPr lang="en-US" sz="750" dirty="0"/>
          </a:p>
        </p:txBody>
      </p:sp>
      <p:sp>
        <p:nvSpPr>
          <p:cNvPr id="25" name="Text 19"/>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urgo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11</a:t>
            </a:r>
            <a:r>
              <a:rPr lang="en-US" sz="2000" dirty="0">
                <a:solidFill>
                  <a:srgbClr val="46606E"/>
                </a:solidFill>
                <a:latin typeface="Young Serif" pitchFamily="34" charset="0"/>
                <a:ea typeface="Young Serif" pitchFamily="34" charset="-122"/>
                <a:cs typeface="Young Serif" pitchFamily="34" charset="-120"/>
              </a:rPr>
              <a:t>   Domaine Nadine Ferrand</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386766"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828000" y="1047600"/>
            <a:ext cx="386766"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AOP</a:t>
            </a:r>
            <a:endParaRPr lang="en-US" sz="720" dirty="0"/>
          </a:p>
        </p:txBody>
      </p:sp>
      <p:sp>
        <p:nvSpPr>
          <p:cNvPr id="9" name="Shape 6"/>
          <p:cNvSpPr/>
          <p:nvPr/>
        </p:nvSpPr>
        <p:spPr>
          <a:xfrm>
            <a:off x="1293966" y="1047600"/>
            <a:ext cx="630911" cy="180000"/>
          </a:xfrm>
          <a:prstGeom prst="roundRect">
            <a:avLst>
              <a:gd name="adj" fmla="val 10160"/>
            </a:avLst>
          </a:prstGeom>
          <a:solidFill>
            <a:srgbClr val="67067C"/>
          </a:solidFill>
          <a:ln w="8890">
            <a:solidFill>
              <a:srgbClr val="67067C"/>
            </a:solidFill>
            <a:prstDash val="solid"/>
          </a:ln>
        </p:spPr>
      </p:sp>
      <p:sp>
        <p:nvSpPr>
          <p:cNvPr id="10" name="Text 7"/>
          <p:cNvSpPr/>
          <p:nvPr/>
        </p:nvSpPr>
        <p:spPr>
          <a:xfrm>
            <a:off x="1293966" y="10476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1" name="Shape 8"/>
          <p:cNvSpPr/>
          <p:nvPr/>
        </p:nvSpPr>
        <p:spPr>
          <a:xfrm>
            <a:off x="2004077" y="1047600"/>
            <a:ext cx="1385474" cy="180000"/>
          </a:xfrm>
          <a:prstGeom prst="roundRect">
            <a:avLst>
              <a:gd name="adj" fmla="val 10160"/>
            </a:avLst>
          </a:prstGeom>
          <a:solidFill>
            <a:srgbClr val="F2EADA"/>
          </a:solidFill>
          <a:ln w="8890">
            <a:solidFill>
              <a:srgbClr val="A8515F"/>
            </a:solidFill>
            <a:prstDash val="solid"/>
          </a:ln>
        </p:spPr>
      </p:sp>
      <p:sp>
        <p:nvSpPr>
          <p:cNvPr id="12" name="Text 9"/>
          <p:cNvSpPr/>
          <p:nvPr/>
        </p:nvSpPr>
        <p:spPr>
          <a:xfrm>
            <a:off x="2004077"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3" name="Shape 10"/>
          <p:cNvSpPr/>
          <p:nvPr/>
        </p:nvSpPr>
        <p:spPr>
          <a:xfrm>
            <a:off x="3468750" y="1047600"/>
            <a:ext cx="732318" cy="180000"/>
          </a:xfrm>
          <a:prstGeom prst="roundRect">
            <a:avLst>
              <a:gd name="adj" fmla="val 10160"/>
            </a:avLst>
          </a:prstGeom>
          <a:solidFill>
            <a:srgbClr val="F2EADA"/>
          </a:solidFill>
          <a:ln w="8890">
            <a:solidFill>
              <a:srgbClr val="46606E"/>
            </a:solidFill>
            <a:prstDash val="solid"/>
          </a:ln>
        </p:spPr>
      </p:sp>
      <p:sp>
        <p:nvSpPr>
          <p:cNvPr id="14" name="Text 11"/>
          <p:cNvSpPr/>
          <p:nvPr/>
        </p:nvSpPr>
        <p:spPr>
          <a:xfrm>
            <a:off x="3468750"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7 références</a:t>
            </a:r>
            <a:endParaRPr lang="en-US" sz="720" dirty="0"/>
          </a:p>
        </p:txBody>
      </p:sp>
      <p:pic>
        <p:nvPicPr>
          <p:cNvPr id="15" name="Image 1" descr="les vigneronnes au chai, noir et blanc — Domaine Nadine Ferrand">    </p:cNvPr>
          <p:cNvPicPr>
            <a:picLocks noChangeAspect="1"/>
          </p:cNvPicPr>
          <p:nvPr/>
        </p:nvPicPr>
        <p:blipFill>
          <a:blip r:embed="rId2"/>
          <a:srcRect l="26875" r="16875" t="0" b="0"/>
          <a:stretch/>
        </p:blipFill>
        <p:spPr>
          <a:xfrm>
            <a:off x="828000" y="1357200"/>
            <a:ext cx="1440000" cy="1440000"/>
          </a:xfrm>
          <a:prstGeom prst="ellipse">
            <a:avLst/>
          </a:prstGeom>
        </p:spPr>
      </p:pic>
      <p:pic>
        <p:nvPicPr>
          <p:cNvPr id="16" name="Image 2" descr="Une bouteille du domaine Domaine Nadine Ferrand">    </p:cNvPr>
          <p:cNvPicPr>
            <a:picLocks noChangeAspect="1"/>
          </p:cNvPicPr>
          <p:nvPr/>
        </p:nvPicPr>
        <p:blipFill>
          <a:blip r:embed="rId3"/>
          <a:stretch>
            <a:fillRect/>
          </a:stretch>
        </p:blipFill>
        <p:spPr>
          <a:xfrm>
            <a:off x="6221754" y="1357200"/>
            <a:ext cx="588492" cy="2232000"/>
          </a:xfrm>
          <a:prstGeom prst="rect">
            <a:avLst/>
          </a:prstGeom>
        </p:spPr>
      </p:pic>
      <p:sp>
        <p:nvSpPr>
          <p:cNvPr id="17" name="Text 12"/>
          <p:cNvSpPr/>
          <p:nvPr/>
        </p:nvSpPr>
        <p:spPr>
          <a:xfrm>
            <a:off x="2393990" y="1274606"/>
            <a:ext cx="254560" cy="406197"/>
          </a:xfrm>
          <a:prstGeom prst="rect">
            <a:avLst/>
          </a:prstGeom>
          <a:noFill/>
          <a:ln/>
        </p:spPr>
        <p:txBody>
          <a:bodyPr wrap="square" lIns="0" tIns="0" rIns="0" bIns="0" rtlCol="0" anchor="t"/>
          <a:lstStyle/>
          <a:p>
            <a:pPr algn="r" indent="0" marL="0">
              <a:lnSpc>
                <a:spcPct val="123100"/>
              </a:lnSpc>
              <a:buNone/>
            </a:pPr>
            <a:r>
              <a:rPr lang="en-US" sz="1999" dirty="0">
                <a:solidFill>
                  <a:srgbClr val="67067C"/>
                </a:solidFill>
                <a:latin typeface="Young Serif" pitchFamily="34" charset="0"/>
                <a:ea typeface="Young Serif" pitchFamily="34" charset="-122"/>
                <a:cs typeface="Young Serif" pitchFamily="34" charset="-120"/>
              </a:rPr>
              <a:t>D</a:t>
            </a:r>
            <a:endParaRPr lang="en-US" sz="1999" dirty="0"/>
          </a:p>
        </p:txBody>
      </p:sp>
      <p:sp>
        <p:nvSpPr>
          <p:cNvPr id="18" name="Text 13"/>
          <p:cNvSpPr/>
          <p:nvPr/>
        </p:nvSpPr>
        <p:spPr>
          <a:xfrm>
            <a:off x="2448000" y="1388865"/>
            <a:ext cx="3456000" cy="2200235"/>
          </a:xfrm>
          <a:prstGeom prst="rect">
            <a:avLst/>
          </a:prstGeom>
          <a:noFill/>
          <a:ln/>
        </p:spPr>
        <p:txBody>
          <a:bodyPr wrap="square" lIns="0" tIns="0" rIns="0" bIns="0" rtlCol="0" anchor="t"/>
          <a:lstStyle/>
          <a:p>
            <a:pPr indent="0" marL="0">
              <a:lnSpc>
                <a:spcPct val="142000"/>
              </a:lnSpc>
              <a:buNone/>
            </a:pPr>
            <a:r>
              <a:rPr lang="en-US" sz="1100" dirty="0">
                <a:solidFill>
                  <a:srgbClr val="46606E"/>
                </a:solidFill>
                <a:latin typeface="Spectral" pitchFamily="34" charset="0"/>
                <a:ea typeface="Spectral" pitchFamily="34" charset="-122"/>
                <a:cs typeface="Spectral" pitchFamily="34" charset="-120"/>
              </a:rPr>
              <a:t>      epuis des générations, la tradition familiale vigneronne est perpétuée au cœur de l'appellation Pouilly Fuissé. Rejoint par une nouvelle génération en 2012, le domaine a mis en place une stratégie d'exportation ambitieuse qui a propulsé ses vins vers une renommée mondiale. En 2018, l'inauguration d'un caveau de dégustation modernisé a ouvert les portes du domaine à une clientèle internationale, offrant une expérience unique et mémorable.</a:t>
            </a:r>
            <a:endParaRPr lang="en-US" sz="11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828000" y="37511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Pouilly-Fuissé 1er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Pouilly</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Pouilly-Fuissé 1er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Lise-Marie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Viré-Clessé</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Nadine Ferrand</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Saint-Véran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Nadine Ferrand</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Mâcon Solutré-Pouilly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Nadine Ferrand</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Mâcon Charnay-lès-Mâcon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Signature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Mâcon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Nadine Ferrand</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0" name="Shape 14"/>
          <p:cNvSpPr/>
          <p:nvPr/>
        </p:nvSpPr>
        <p:spPr>
          <a:xfrm>
            <a:off x="828000" y="6779088"/>
            <a:ext cx="0" cy="288349"/>
          </a:xfrm>
          <a:prstGeom prst="line">
            <a:avLst/>
          </a:prstGeom>
          <a:noFill/>
          <a:ln w="17780">
            <a:solidFill>
              <a:srgbClr val="67067C"/>
            </a:solidFill>
            <a:prstDash val="solid"/>
          </a:ln>
        </p:spPr>
      </p:sp>
      <p:sp>
        <p:nvSpPr>
          <p:cNvPr id="21" name="Text 15"/>
          <p:cNvSpPr/>
          <p:nvPr/>
        </p:nvSpPr>
        <p:spPr>
          <a:xfrm>
            <a:off x="936000" y="6779088"/>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2" name="Text 16"/>
          <p:cNvSpPr/>
          <p:nvPr/>
        </p:nvSpPr>
        <p:spPr>
          <a:xfrm>
            <a:off x="828000" y="7211438"/>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23" name="Image 3" descr="/home/user/philippe1/build/deco-catalogue-scio-2026/sol-bourgogne.png">    </p:cNvPr>
          <p:cNvPicPr>
            <a:picLocks noChangeAspect="1"/>
          </p:cNvPicPr>
          <p:nvPr/>
        </p:nvPicPr>
        <p:blipFill>
          <a:blip r:embed="rId4"/>
          <a:stretch>
            <a:fillRect/>
          </a:stretch>
        </p:blipFill>
        <p:spPr>
          <a:xfrm>
            <a:off x="828000" y="7359038"/>
            <a:ext cx="6120000" cy="729241"/>
          </a:xfrm>
          <a:prstGeom prst="rect">
            <a:avLst/>
          </a:prstGeom>
        </p:spPr>
      </p:pic>
      <p:sp>
        <p:nvSpPr>
          <p:cNvPr id="24" name="Shape 17"/>
          <p:cNvSpPr/>
          <p:nvPr/>
        </p:nvSpPr>
        <p:spPr>
          <a:xfrm>
            <a:off x="828000" y="8388000"/>
            <a:ext cx="6120000" cy="0"/>
          </a:xfrm>
          <a:prstGeom prst="line">
            <a:avLst/>
          </a:prstGeom>
          <a:noFill/>
          <a:ln w="8890">
            <a:solidFill>
              <a:srgbClr val="46606E"/>
            </a:solidFill>
            <a:prstDash val="solid"/>
          </a:ln>
        </p:spPr>
      </p:sp>
      <p:sp>
        <p:nvSpPr>
          <p:cNvPr id="25" name="Text 18"/>
          <p:cNvSpPr/>
          <p:nvPr/>
        </p:nvSpPr>
        <p:spPr>
          <a:xfrm>
            <a:off x="828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44 · 85</a:t>
            </a:r>
            <a:endParaRPr lang="en-US" sz="720" dirty="0"/>
          </a:p>
        </p:txBody>
      </p:sp>
      <p:sp>
        <p:nvSpPr>
          <p:cNvPr id="26" name="Text 19"/>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pictos de l’Agence SCIO, pas les logos officiels</a:t>
            </a:r>
            <a:endParaRPr lang="en-US" sz="650" dirty="0"/>
          </a:p>
        </p:txBody>
      </p:sp>
      <p:sp>
        <p:nvSpPr>
          <p:cNvPr id="27" name="Text 20"/>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22</a:t>
            </a:r>
            <a:endParaRPr lang="en-US" sz="750" dirty="0"/>
          </a:p>
        </p:txBody>
      </p:sp>
      <p:sp>
        <p:nvSpPr>
          <p:cNvPr id="28" name="Text 21"/>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urgo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12</a:t>
            </a:r>
            <a:r>
              <a:rPr lang="en-US" sz="1950" dirty="0">
                <a:solidFill>
                  <a:srgbClr val="46606E"/>
                </a:solidFill>
                <a:latin typeface="Young Serif" pitchFamily="34" charset="0"/>
                <a:ea typeface="Young Serif" pitchFamily="34" charset="-122"/>
                <a:cs typeface="Young Serif" pitchFamily="34" charset="-120"/>
              </a:rPr>
              <a:t>   Maison et Domaine André Goichot</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528148"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hve.png">    </p:cNvPr>
          <p:cNvPicPr>
            <a:picLocks noChangeAspect="1"/>
          </p:cNvPicPr>
          <p:nvPr/>
        </p:nvPicPr>
        <p:blipFill>
          <a:blip r:embed="rId2"/>
          <a:stretch>
            <a:fillRect/>
          </a:stretch>
        </p:blipFill>
        <p:spPr>
          <a:xfrm>
            <a:off x="684000" y="1083600"/>
            <a:ext cx="108000" cy="108000"/>
          </a:xfrm>
          <a:prstGeom prst="rect">
            <a:avLst/>
          </a:prstGeom>
        </p:spPr>
      </p:pic>
      <p:sp>
        <p:nvSpPr>
          <p:cNvPr id="9" name="Text 5"/>
          <p:cNvSpPr/>
          <p:nvPr/>
        </p:nvSpPr>
        <p:spPr>
          <a:xfrm>
            <a:off x="759600" y="10476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0" name="Shape 6"/>
          <p:cNvSpPr/>
          <p:nvPr/>
        </p:nvSpPr>
        <p:spPr>
          <a:xfrm>
            <a:off x="1219348" y="1047600"/>
            <a:ext cx="630911" cy="180000"/>
          </a:xfrm>
          <a:prstGeom prst="roundRect">
            <a:avLst>
              <a:gd name="adj" fmla="val 10160"/>
            </a:avLst>
          </a:prstGeom>
          <a:solidFill>
            <a:srgbClr val="67067C"/>
          </a:solidFill>
          <a:ln w="8890">
            <a:solidFill>
              <a:srgbClr val="67067C"/>
            </a:solidFill>
            <a:prstDash val="solid"/>
          </a:ln>
        </p:spPr>
      </p:sp>
      <p:sp>
        <p:nvSpPr>
          <p:cNvPr id="11" name="Text 7"/>
          <p:cNvSpPr/>
          <p:nvPr/>
        </p:nvSpPr>
        <p:spPr>
          <a:xfrm>
            <a:off x="1219348" y="10476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2" name="Shape 8"/>
          <p:cNvSpPr/>
          <p:nvPr/>
        </p:nvSpPr>
        <p:spPr>
          <a:xfrm>
            <a:off x="1929459" y="1047600"/>
            <a:ext cx="1352190"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929459" y="10476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4" name="Shape 10"/>
          <p:cNvSpPr/>
          <p:nvPr/>
        </p:nvSpPr>
        <p:spPr>
          <a:xfrm>
            <a:off x="3360848" y="10476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360848"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23 références</a:t>
            </a:r>
            <a:endParaRPr lang="en-US" sz="720" dirty="0"/>
          </a:p>
        </p:txBody>
      </p:sp>
      <p:pic>
        <p:nvPicPr>
          <p:cNvPr id="16" name="Image 2" descr="deux portraits de la maison, côte à côte — Maison et Domaine André Goichot">    </p:cNvPr>
          <p:cNvPicPr>
            <a:picLocks noChangeAspect="1"/>
          </p:cNvPicPr>
          <p:nvPr/>
        </p:nvPicPr>
        <p:blipFill>
          <a:blip r:embed="rId3"/>
          <a:stretch>
            <a:fillRect/>
          </a:stretch>
        </p:blipFill>
        <p:spPr>
          <a:xfrm>
            <a:off x="612000" y="1357200"/>
            <a:ext cx="1440000" cy="1440000"/>
          </a:xfrm>
          <a:prstGeom prst="rect">
            <a:avLst/>
          </a:prstGeom>
        </p:spPr>
      </p:pic>
      <p:pic>
        <p:nvPicPr>
          <p:cNvPr id="17" name="Image 3" descr="Une bouteille du domaine Maison et Domaine André Goichot">    </p:cNvPr>
          <p:cNvPicPr>
            <a:picLocks noChangeAspect="1"/>
          </p:cNvPicPr>
          <p:nvPr/>
        </p:nvPicPr>
        <p:blipFill>
          <a:blip r:embed="rId4"/>
          <a:stretch>
            <a:fillRect/>
          </a:stretch>
        </p:blipFill>
        <p:spPr>
          <a:xfrm>
            <a:off x="6019475" y="1357200"/>
            <a:ext cx="561049" cy="2232000"/>
          </a:xfrm>
          <a:prstGeom prst="rect">
            <a:avLst/>
          </a:prstGeom>
        </p:spPr>
      </p:pic>
      <p:sp>
        <p:nvSpPr>
          <p:cNvPr id="18" name="Text 12"/>
          <p:cNvSpPr/>
          <p:nvPr/>
        </p:nvSpPr>
        <p:spPr>
          <a:xfrm>
            <a:off x="2178034" y="1627895"/>
            <a:ext cx="251341" cy="454965"/>
          </a:xfrm>
          <a:prstGeom prst="rect">
            <a:avLst/>
          </a:prstGeom>
          <a:noFill/>
          <a:ln/>
        </p:spPr>
        <p:txBody>
          <a:bodyPr wrap="square" lIns="0" tIns="0" rIns="0" bIns="0" rtlCol="0" anchor="t"/>
          <a:lstStyle/>
          <a:p>
            <a:pPr algn="r" indent="0" marL="0">
              <a:lnSpc>
                <a:spcPct val="124800"/>
              </a:lnSpc>
              <a:buNone/>
            </a:pPr>
            <a:r>
              <a:rPr lang="en-US" sz="2239" dirty="0">
                <a:solidFill>
                  <a:srgbClr val="67067C"/>
                </a:solidFill>
                <a:latin typeface="Young Serif" pitchFamily="34" charset="0"/>
                <a:ea typeface="Young Serif" pitchFamily="34" charset="-122"/>
                <a:cs typeface="Young Serif" pitchFamily="34" charset="-120"/>
              </a:rPr>
              <a:t>F</a:t>
            </a:r>
            <a:endParaRPr lang="en-US" sz="2239" dirty="0"/>
          </a:p>
        </p:txBody>
      </p:sp>
      <p:sp>
        <p:nvSpPr>
          <p:cNvPr id="19" name="Text 13"/>
          <p:cNvSpPr/>
          <p:nvPr/>
        </p:nvSpPr>
        <p:spPr>
          <a:xfrm>
            <a:off x="2232000" y="1748504"/>
            <a:ext cx="3456000" cy="1840596"/>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leuron familial et indépendant fondé en 1947, la Maison André Goichot porte l’exigence des grands climats de Bourgogne. Sélections parcellaires méticuleuses et cuverie d’élevage de pointe inaugurée en 2020.</a:t>
            </a:r>
            <a:endParaRPr lang="en-US" sz="13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612000" y="3751100"/>
          <a:ext cx="6120000" cy="914400"/>
        </p:xfrm>
        <a:graphic>
          <a:graphicData uri="http://schemas.openxmlformats.org/drawingml/2006/table">
            <a:tbl>
              <a:tblPr/>
              <a:tblGrid>
                <a:gridCol w="216000"/>
                <a:gridCol w="2988000"/>
                <a:gridCol w="540000"/>
                <a:gridCol w="504000"/>
                <a:gridCol w="936000"/>
                <a:gridCol w="936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78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126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Mâcon-Lugny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Genièvres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Saint-Véran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Pouilly-Fuissé 1er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Clos Reyssier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24,40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24,10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Saint-Bris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57770">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Petit Chablis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Chablis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Coteaux Bourguignons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Givry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Champ La Dame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16,20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15,90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Text 14"/>
          <p:cNvSpPr/>
          <p:nvPr/>
        </p:nvSpPr>
        <p:spPr>
          <a:xfrm>
            <a:off x="612000" y="6586657"/>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22" name="Image 4" descr="/home/user/philippe1/build/deco-catalogue-scio-2026/sol-bourgogne.png">    </p:cNvPr>
          <p:cNvPicPr>
            <a:picLocks noChangeAspect="1"/>
          </p:cNvPicPr>
          <p:nvPr/>
        </p:nvPicPr>
        <p:blipFill>
          <a:blip r:embed="rId5"/>
          <a:stretch>
            <a:fillRect/>
          </a:stretch>
        </p:blipFill>
        <p:spPr>
          <a:xfrm>
            <a:off x="612000" y="6734257"/>
            <a:ext cx="6120000" cy="949507"/>
          </a:xfrm>
          <a:prstGeom prst="rect">
            <a:avLst/>
          </a:prstGeom>
        </p:spPr>
      </p:pic>
      <p:sp>
        <p:nvSpPr>
          <p:cNvPr id="23" name="Text 15"/>
          <p:cNvSpPr/>
          <p:nvPr/>
        </p:nvSpPr>
        <p:spPr>
          <a:xfrm>
            <a:off x="612000" y="8136000"/>
            <a:ext cx="6120000" cy="1980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Maison André Goichot, Château du Cray et Domaine Les Guignottes — n°13 p. 25 · n°14 p. 26</a:t>
            </a:r>
            <a:endParaRPr lang="en-US" sz="740" dirty="0"/>
          </a:p>
        </p:txBody>
      </p:sp>
      <p:sp>
        <p:nvSpPr>
          <p:cNvPr id="24" name="Shape 16"/>
          <p:cNvSpPr/>
          <p:nvPr/>
        </p:nvSpPr>
        <p:spPr>
          <a:xfrm>
            <a:off x="612000" y="8388000"/>
            <a:ext cx="6120000" cy="0"/>
          </a:xfrm>
          <a:prstGeom prst="line">
            <a:avLst/>
          </a:prstGeom>
          <a:noFill/>
          <a:ln w="8890">
            <a:solidFill>
              <a:srgbClr val="46606E"/>
            </a:solidFill>
            <a:prstDash val="solid"/>
          </a:ln>
        </p:spPr>
      </p:sp>
      <p:sp>
        <p:nvSpPr>
          <p:cNvPr id="25" name="Text 17"/>
          <p:cNvSpPr/>
          <p:nvPr/>
        </p:nvSpPr>
        <p:spPr>
          <a:xfrm>
            <a:off x="612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6" name="Text 18"/>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7" name="Text 1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23</a:t>
            </a:r>
            <a:endParaRPr lang="en-US" sz="750" dirty="0"/>
          </a:p>
        </p:txBody>
      </p:sp>
      <p:sp>
        <p:nvSpPr>
          <p:cNvPr id="28" name="Text 2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urgo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12</a:t>
            </a:r>
            <a:r>
              <a:rPr lang="en-US" sz="1750" dirty="0">
                <a:solidFill>
                  <a:srgbClr val="46606E"/>
                </a:solidFill>
                <a:latin typeface="Young Serif" pitchFamily="34" charset="0"/>
                <a:ea typeface="Young Serif" pitchFamily="34" charset="-122"/>
                <a:cs typeface="Young Serif" pitchFamily="34" charset="-120"/>
              </a:rPr>
              <a:t>   Maison et Domaine André Goichot</a:t>
            </a:r>
            <a:r>
              <a:rPr lang="en-US" sz="1100" i="1" dirty="0">
                <a:solidFill>
                  <a:srgbClr val="A8515F"/>
                </a:solidFill>
                <a:latin typeface="Spectral" pitchFamily="34" charset="0"/>
                <a:ea typeface="Spectral" pitchFamily="34" charset="-122"/>
                <a:cs typeface="Spectral" pitchFamily="34" charset="-120"/>
              </a:rPr>
              <a:t>  (suite)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528148"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hve.png">    </p:cNvPr>
          <p:cNvPicPr>
            <a:picLocks noChangeAspect="1"/>
          </p:cNvPicPr>
          <p:nvPr/>
        </p:nvPicPr>
        <p:blipFill>
          <a:blip r:embed="rId2"/>
          <a:stretch>
            <a:fillRect/>
          </a:stretch>
        </p:blipFill>
        <p:spPr>
          <a:xfrm>
            <a:off x="900000" y="1083600"/>
            <a:ext cx="108000" cy="108000"/>
          </a:xfrm>
          <a:prstGeom prst="rect">
            <a:avLst/>
          </a:prstGeom>
        </p:spPr>
      </p:pic>
      <p:sp>
        <p:nvSpPr>
          <p:cNvPr id="9" name="Text 5"/>
          <p:cNvSpPr/>
          <p:nvPr/>
        </p:nvSpPr>
        <p:spPr>
          <a:xfrm>
            <a:off x="975600" y="10476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0" name="Shape 6"/>
          <p:cNvSpPr/>
          <p:nvPr/>
        </p:nvSpPr>
        <p:spPr>
          <a:xfrm>
            <a:off x="1435348" y="1047600"/>
            <a:ext cx="630911" cy="180000"/>
          </a:xfrm>
          <a:prstGeom prst="roundRect">
            <a:avLst>
              <a:gd name="adj" fmla="val 10160"/>
            </a:avLst>
          </a:prstGeom>
          <a:solidFill>
            <a:srgbClr val="67067C"/>
          </a:solidFill>
          <a:ln w="8890">
            <a:solidFill>
              <a:srgbClr val="67067C"/>
            </a:solidFill>
            <a:prstDash val="solid"/>
          </a:ln>
        </p:spPr>
      </p:sp>
      <p:sp>
        <p:nvSpPr>
          <p:cNvPr id="11" name="Text 7"/>
          <p:cNvSpPr/>
          <p:nvPr/>
        </p:nvSpPr>
        <p:spPr>
          <a:xfrm>
            <a:off x="1435348" y="10476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2" name="Shape 8"/>
          <p:cNvSpPr/>
          <p:nvPr/>
        </p:nvSpPr>
        <p:spPr>
          <a:xfrm>
            <a:off x="2145459" y="1047600"/>
            <a:ext cx="1352190"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2145459" y="10476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4" name="Shape 10"/>
          <p:cNvSpPr/>
          <p:nvPr/>
        </p:nvSpPr>
        <p:spPr>
          <a:xfrm>
            <a:off x="3576848" y="10476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576848"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23 références</a:t>
            </a:r>
            <a:endParaRPr lang="en-US" sz="72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828000" y="1357200"/>
          <a:ext cx="6120000" cy="914400"/>
        </p:xfrm>
        <a:graphic>
          <a:graphicData uri="http://schemas.openxmlformats.org/drawingml/2006/table">
            <a:tbl>
              <a:tblPr/>
              <a:tblGrid>
                <a:gridCol w="216000"/>
                <a:gridCol w="2988000"/>
                <a:gridCol w="540000"/>
                <a:gridCol w="504000"/>
                <a:gridCol w="936000"/>
                <a:gridCol w="936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 (SUITE)</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78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126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Givry 1er Cru</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Mercurey</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16,20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15,90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Saint-Romain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16,20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15,90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Monthélie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16,70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16,40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Chassagne-Montrachet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23,60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23,30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Aloxe-Corton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25,40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25,10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Auxey-Duresses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15,60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15,30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Gevrey-Chambertin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43,20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42,90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Fixin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20,90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20,60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Clos Vougeot Grand Cru</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138,00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137,70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Meursault *</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Vireuils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48,70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48,40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Chablis 1er Cru *</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23,60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23,30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Bourgogne Hautes-Côtes de Beaune *</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10,60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10,30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Rully *</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15,20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Corton Grand Cru *</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Maréchaudes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88,70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88,40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7" name="Shape 12"/>
          <p:cNvSpPr/>
          <p:nvPr/>
        </p:nvSpPr>
        <p:spPr>
          <a:xfrm>
            <a:off x="828000" y="5817361"/>
            <a:ext cx="0" cy="288349"/>
          </a:xfrm>
          <a:prstGeom prst="line">
            <a:avLst/>
          </a:prstGeom>
          <a:noFill/>
          <a:ln w="17780">
            <a:solidFill>
              <a:srgbClr val="67067C"/>
            </a:solidFill>
            <a:prstDash val="solid"/>
          </a:ln>
        </p:spPr>
      </p:sp>
      <p:sp>
        <p:nvSpPr>
          <p:cNvPr id="18" name="Text 13"/>
          <p:cNvSpPr/>
          <p:nvPr/>
        </p:nvSpPr>
        <p:spPr>
          <a:xfrm>
            <a:off x="936000" y="5817361"/>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19" name="Text 14"/>
          <p:cNvSpPr/>
          <p:nvPr/>
        </p:nvSpPr>
        <p:spPr>
          <a:xfrm>
            <a:off x="828000" y="6249710"/>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20" name="Image 2" descr="/home/user/philippe1/build/deco-catalogue-scio-2026/sol-bourgogne.png">    </p:cNvPr>
          <p:cNvPicPr>
            <a:picLocks noChangeAspect="1"/>
          </p:cNvPicPr>
          <p:nvPr/>
        </p:nvPicPr>
        <p:blipFill>
          <a:blip r:embed="rId3"/>
          <a:stretch>
            <a:fillRect/>
          </a:stretch>
        </p:blipFill>
        <p:spPr>
          <a:xfrm>
            <a:off x="828000" y="6397310"/>
            <a:ext cx="6120000" cy="1148400"/>
          </a:xfrm>
          <a:prstGeom prst="rect">
            <a:avLst/>
          </a:prstGeom>
        </p:spPr>
      </p:pic>
      <p:sp>
        <p:nvSpPr>
          <p:cNvPr id="21" name="Text 15"/>
          <p:cNvSpPr/>
          <p:nvPr/>
        </p:nvSpPr>
        <p:spPr>
          <a:xfrm>
            <a:off x="828000" y="8136000"/>
            <a:ext cx="6120000" cy="1980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Maison André Goichot, Château du Cray et Domaine Les Guignottes — n°13 p. 25 · n°14 p. 26</a:t>
            </a:r>
            <a:endParaRPr lang="en-US" sz="740" dirty="0"/>
          </a:p>
        </p:txBody>
      </p:sp>
      <p:sp>
        <p:nvSpPr>
          <p:cNvPr id="22" name="Shape 16"/>
          <p:cNvSpPr/>
          <p:nvPr/>
        </p:nvSpPr>
        <p:spPr>
          <a:xfrm>
            <a:off x="828000" y="8388000"/>
            <a:ext cx="6120000" cy="0"/>
          </a:xfrm>
          <a:prstGeom prst="line">
            <a:avLst/>
          </a:prstGeom>
          <a:noFill/>
          <a:ln w="8890">
            <a:solidFill>
              <a:srgbClr val="46606E"/>
            </a:solidFill>
            <a:prstDash val="solid"/>
          </a:ln>
        </p:spPr>
      </p:sp>
      <p:sp>
        <p:nvSpPr>
          <p:cNvPr id="23" name="Text 17"/>
          <p:cNvSpPr/>
          <p:nvPr/>
        </p:nvSpPr>
        <p:spPr>
          <a:xfrm>
            <a:off x="828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4" name="Text 18"/>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5" name="Text 19"/>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24</a:t>
            </a:r>
            <a:endParaRPr lang="en-US" sz="750" dirty="0"/>
          </a:p>
        </p:txBody>
      </p:sp>
      <p:sp>
        <p:nvSpPr>
          <p:cNvPr id="26" name="Text 20"/>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urgo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13</a:t>
            </a:r>
            <a:r>
              <a:rPr lang="en-US" sz="2000" dirty="0">
                <a:solidFill>
                  <a:srgbClr val="46606E"/>
                </a:solidFill>
                <a:latin typeface="Young Serif" pitchFamily="34" charset="0"/>
                <a:ea typeface="Young Serif" pitchFamily="34" charset="-122"/>
                <a:cs typeface="Young Serif" pitchFamily="34" charset="-120"/>
              </a:rPr>
              <a:t>   Château du Cray</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1352190" cy="180000"/>
          </a:xfrm>
          <a:prstGeom prst="roundRect">
            <a:avLst>
              <a:gd name="adj" fmla="val 10160"/>
            </a:avLst>
          </a:prstGeom>
          <a:solidFill>
            <a:srgbClr val="F2EADA"/>
          </a:solidFill>
          <a:ln w="8890">
            <a:solidFill>
              <a:srgbClr val="A8515F"/>
            </a:solidFill>
            <a:prstDash val="solid"/>
          </a:ln>
        </p:spPr>
      </p:sp>
      <p:sp>
        <p:nvSpPr>
          <p:cNvPr id="8" name="Text 5"/>
          <p:cNvSpPr/>
          <p:nvPr/>
        </p:nvSpPr>
        <p:spPr>
          <a:xfrm>
            <a:off x="612000" y="10476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9" name="Shape 6"/>
          <p:cNvSpPr/>
          <p:nvPr/>
        </p:nvSpPr>
        <p:spPr>
          <a:xfrm>
            <a:off x="2043390" y="1047600"/>
            <a:ext cx="732318" cy="180000"/>
          </a:xfrm>
          <a:prstGeom prst="roundRect">
            <a:avLst>
              <a:gd name="adj" fmla="val 10160"/>
            </a:avLst>
          </a:prstGeom>
          <a:solidFill>
            <a:srgbClr val="F2EADA"/>
          </a:solidFill>
          <a:ln w="8890">
            <a:solidFill>
              <a:srgbClr val="46606E"/>
            </a:solidFill>
            <a:prstDash val="solid"/>
          </a:ln>
        </p:spPr>
      </p:sp>
      <p:sp>
        <p:nvSpPr>
          <p:cNvPr id="10" name="Text 7"/>
          <p:cNvSpPr/>
          <p:nvPr/>
        </p:nvSpPr>
        <p:spPr>
          <a:xfrm>
            <a:off x="2043390"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pic>
        <p:nvPicPr>
          <p:cNvPr id="11" name="Image 1" descr="le vignoble du Château du Cray (bannière de sa page) — Château du Cray">    </p:cNvPr>
          <p:cNvPicPr>
            <a:picLocks noChangeAspect="1"/>
          </p:cNvPicPr>
          <p:nvPr/>
        </p:nvPicPr>
        <p:blipFill>
          <a:blip r:embed="rId2"/>
          <a:srcRect l="20619" r="20708" t="0" b="0"/>
          <a:stretch/>
        </p:blipFill>
        <p:spPr>
          <a:xfrm>
            <a:off x="612000" y="1357200"/>
            <a:ext cx="1440000" cy="1440000"/>
          </a:xfrm>
          <a:prstGeom prst="ellipse">
            <a:avLst/>
          </a:prstGeom>
        </p:spPr>
      </p:pic>
      <p:pic>
        <p:nvPicPr>
          <p:cNvPr id="12" name="Image 2" descr="Une bouteille du domaine Château du Cray">    </p:cNvPr>
          <p:cNvPicPr>
            <a:picLocks noChangeAspect="1"/>
          </p:cNvPicPr>
          <p:nvPr/>
        </p:nvPicPr>
        <p:blipFill>
          <a:blip r:embed="rId3"/>
          <a:stretch>
            <a:fillRect/>
          </a:stretch>
        </p:blipFill>
        <p:spPr>
          <a:xfrm>
            <a:off x="6000831" y="1357200"/>
            <a:ext cx="598337" cy="2232000"/>
          </a:xfrm>
          <a:prstGeom prst="rect">
            <a:avLst/>
          </a:prstGeom>
        </p:spPr>
      </p:pic>
      <p:sp>
        <p:nvSpPr>
          <p:cNvPr id="13" name="Text 8"/>
          <p:cNvSpPr/>
          <p:nvPr/>
        </p:nvSpPr>
        <p:spPr>
          <a:xfrm>
            <a:off x="2177990" y="1393631"/>
            <a:ext cx="254560" cy="406197"/>
          </a:xfrm>
          <a:prstGeom prst="rect">
            <a:avLst/>
          </a:prstGeom>
          <a:noFill/>
          <a:ln/>
        </p:spPr>
        <p:txBody>
          <a:bodyPr wrap="square" lIns="0" tIns="0" rIns="0" bIns="0" rtlCol="0" anchor="t"/>
          <a:lstStyle/>
          <a:p>
            <a:pPr algn="r" indent="0" marL="0">
              <a:lnSpc>
                <a:spcPct val="123100"/>
              </a:lnSpc>
              <a:buNone/>
            </a:pPr>
            <a:r>
              <a:rPr lang="en-US" sz="1999" dirty="0">
                <a:solidFill>
                  <a:srgbClr val="67067C"/>
                </a:solidFill>
                <a:latin typeface="Young Serif" pitchFamily="34" charset="0"/>
                <a:ea typeface="Young Serif" pitchFamily="34" charset="-122"/>
                <a:cs typeface="Young Serif" pitchFamily="34" charset="-120"/>
              </a:rPr>
              <a:t>D</a:t>
            </a:r>
            <a:endParaRPr lang="en-US" sz="1999" dirty="0"/>
          </a:p>
        </p:txBody>
      </p:sp>
      <p:sp>
        <p:nvSpPr>
          <p:cNvPr id="14" name="Text 9"/>
          <p:cNvSpPr/>
          <p:nvPr/>
        </p:nvSpPr>
        <p:spPr>
          <a:xfrm>
            <a:off x="2232000" y="1507890"/>
            <a:ext cx="3456000" cy="2081211"/>
          </a:xfrm>
          <a:prstGeom prst="rect">
            <a:avLst/>
          </a:prstGeom>
          <a:noFill/>
          <a:ln/>
        </p:spPr>
        <p:txBody>
          <a:bodyPr wrap="square" lIns="0" tIns="0" rIns="0" bIns="0" rtlCol="0" anchor="t"/>
          <a:lstStyle/>
          <a:p>
            <a:pPr indent="0" marL="0">
              <a:lnSpc>
                <a:spcPct val="142000"/>
              </a:lnSpc>
              <a:buNone/>
            </a:pPr>
            <a:r>
              <a:rPr lang="en-US" sz="1100" dirty="0">
                <a:solidFill>
                  <a:srgbClr val="46606E"/>
                </a:solidFill>
                <a:latin typeface="Spectral" pitchFamily="34" charset="0"/>
                <a:ea typeface="Spectral" pitchFamily="34" charset="-122"/>
                <a:cs typeface="Spectral" pitchFamily="34" charset="-120"/>
              </a:rPr>
              <a:t>      epuis 2016, la famille Goichot est aux commandes de ce charmant domaine, précieuse propriété de la famille Perret du Cray depuis 1798. Situé au nord de Buxy, en Saône-et-Loire, le Château du Cray s’étend sur un domaine viticole de 22 hectares. Les vignes s’étendent autour du château, au milieu du coteau et bénéficient d’une exposition privilégiée Est-Sud-Est. Le domaine bénéficie d’un MONOPOLE : Le Cornevent</a:t>
            </a:r>
            <a:endParaRPr lang="en-US" sz="11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612000" y="3751100"/>
          <a:ext cx="6120000" cy="914400"/>
        </p:xfrm>
        <a:graphic>
          <a:graphicData uri="http://schemas.openxmlformats.org/drawingml/2006/table">
            <a:tbl>
              <a:tblPr/>
              <a:tblGrid>
                <a:gridCol w="216000"/>
                <a:gridCol w="2988000"/>
                <a:gridCol w="540000"/>
                <a:gridCol w="504000"/>
                <a:gridCol w="936000"/>
                <a:gridCol w="936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78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126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5300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Bourgogne Aligoté</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Bourgogne Chardonnay</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10,80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10,50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Bourgogne Pinot Noir</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 Cornevent MONOPOLE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6" name="Shape 10"/>
          <p:cNvSpPr/>
          <p:nvPr/>
        </p:nvSpPr>
        <p:spPr>
          <a:xfrm>
            <a:off x="612000" y="4986305"/>
            <a:ext cx="0" cy="288349"/>
          </a:xfrm>
          <a:prstGeom prst="line">
            <a:avLst/>
          </a:prstGeom>
          <a:noFill/>
          <a:ln w="17780">
            <a:solidFill>
              <a:srgbClr val="67067C"/>
            </a:solidFill>
            <a:prstDash val="solid"/>
          </a:ln>
        </p:spPr>
      </p:sp>
      <p:sp>
        <p:nvSpPr>
          <p:cNvPr id="17" name="Text 11"/>
          <p:cNvSpPr/>
          <p:nvPr/>
        </p:nvSpPr>
        <p:spPr>
          <a:xfrm>
            <a:off x="720000" y="4986305"/>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18" name="Text 12"/>
          <p:cNvSpPr/>
          <p:nvPr/>
        </p:nvSpPr>
        <p:spPr>
          <a:xfrm>
            <a:off x="612000" y="5418654"/>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19" name="Image 3" descr="/home/user/philippe1/build/deco-catalogue-scio-2026/sol-bourgogne.png">    </p:cNvPr>
          <p:cNvPicPr>
            <a:picLocks noChangeAspect="1"/>
          </p:cNvPicPr>
          <p:nvPr/>
        </p:nvPicPr>
        <p:blipFill>
          <a:blip r:embed="rId4"/>
          <a:stretch>
            <a:fillRect/>
          </a:stretch>
        </p:blipFill>
        <p:spPr>
          <a:xfrm>
            <a:off x="612000" y="5566254"/>
            <a:ext cx="6120000" cy="1261866"/>
          </a:xfrm>
          <a:prstGeom prst="rect">
            <a:avLst/>
          </a:prstGeom>
        </p:spPr>
      </p:pic>
      <p:sp>
        <p:nvSpPr>
          <p:cNvPr id="20" name="Text 13"/>
          <p:cNvSpPr/>
          <p:nvPr/>
        </p:nvSpPr>
        <p:spPr>
          <a:xfrm>
            <a:off x="612000" y="8136000"/>
            <a:ext cx="6120000" cy="1980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Maison André Goichot, Château du Cray et Domaine Les Guignottes — n°12 p. 23 · n°14 p. 26</a:t>
            </a:r>
            <a:endParaRPr lang="en-US" sz="740" dirty="0"/>
          </a:p>
        </p:txBody>
      </p:sp>
      <p:sp>
        <p:nvSpPr>
          <p:cNvPr id="21" name="Shape 14"/>
          <p:cNvSpPr/>
          <p:nvPr/>
        </p:nvSpPr>
        <p:spPr>
          <a:xfrm>
            <a:off x="612000" y="8388000"/>
            <a:ext cx="6120000" cy="0"/>
          </a:xfrm>
          <a:prstGeom prst="line">
            <a:avLst/>
          </a:prstGeom>
          <a:noFill/>
          <a:ln w="8890">
            <a:solidFill>
              <a:srgbClr val="46606E"/>
            </a:solidFill>
            <a:prstDash val="solid"/>
          </a:ln>
        </p:spPr>
      </p:sp>
      <p:sp>
        <p:nvSpPr>
          <p:cNvPr id="22" name="Text 15"/>
          <p:cNvSpPr/>
          <p:nvPr/>
        </p:nvSpPr>
        <p:spPr>
          <a:xfrm>
            <a:off x="612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3" name="Text 16"/>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4" name="Text 17"/>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25</a:t>
            </a:r>
            <a:endParaRPr lang="en-US" sz="750" dirty="0"/>
          </a:p>
        </p:txBody>
      </p:sp>
      <p:sp>
        <p:nvSpPr>
          <p:cNvPr id="25" name="Text 18"/>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urgo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14</a:t>
            </a:r>
            <a:r>
              <a:rPr lang="en-US" sz="2000" dirty="0">
                <a:solidFill>
                  <a:srgbClr val="46606E"/>
                </a:solidFill>
                <a:latin typeface="Young Serif" pitchFamily="34" charset="0"/>
                <a:ea typeface="Young Serif" pitchFamily="34" charset="-122"/>
                <a:cs typeface="Young Serif" pitchFamily="34" charset="-120"/>
              </a:rPr>
              <a:t>   Domaine Les Guignottes</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1352190" cy="180000"/>
          </a:xfrm>
          <a:prstGeom prst="roundRect">
            <a:avLst>
              <a:gd name="adj" fmla="val 10160"/>
            </a:avLst>
          </a:prstGeom>
          <a:solidFill>
            <a:srgbClr val="F2EADA"/>
          </a:solidFill>
          <a:ln w="8890">
            <a:solidFill>
              <a:srgbClr val="A8515F"/>
            </a:solidFill>
            <a:prstDash val="solid"/>
          </a:ln>
        </p:spPr>
      </p:sp>
      <p:sp>
        <p:nvSpPr>
          <p:cNvPr id="8" name="Text 5"/>
          <p:cNvSpPr/>
          <p:nvPr/>
        </p:nvSpPr>
        <p:spPr>
          <a:xfrm>
            <a:off x="828000" y="10476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9" name="Shape 6"/>
          <p:cNvSpPr/>
          <p:nvPr/>
        </p:nvSpPr>
        <p:spPr>
          <a:xfrm>
            <a:off x="2259390" y="1047600"/>
            <a:ext cx="732318" cy="180000"/>
          </a:xfrm>
          <a:prstGeom prst="roundRect">
            <a:avLst>
              <a:gd name="adj" fmla="val 10160"/>
            </a:avLst>
          </a:prstGeom>
          <a:solidFill>
            <a:srgbClr val="F2EADA"/>
          </a:solidFill>
          <a:ln w="8890">
            <a:solidFill>
              <a:srgbClr val="46606E"/>
            </a:solidFill>
            <a:prstDash val="solid"/>
          </a:ln>
        </p:spPr>
      </p:sp>
      <p:sp>
        <p:nvSpPr>
          <p:cNvPr id="10" name="Text 7"/>
          <p:cNvSpPr/>
          <p:nvPr/>
        </p:nvSpPr>
        <p:spPr>
          <a:xfrm>
            <a:off x="2259390"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5 références</a:t>
            </a:r>
            <a:endParaRPr lang="en-US" sz="720" dirty="0"/>
          </a:p>
        </p:txBody>
      </p:sp>
      <p:pic>
        <p:nvPicPr>
          <p:cNvPr id="11" name="Image 1" descr="nom du domaine sur ses vignes — Domaine Les Guignottes">    </p:cNvPr>
          <p:cNvPicPr>
            <a:picLocks noChangeAspect="1"/>
          </p:cNvPicPr>
          <p:nvPr/>
        </p:nvPicPr>
        <p:blipFill>
          <a:blip r:embed="rId2"/>
          <a:stretch>
            <a:fillRect/>
          </a:stretch>
        </p:blipFill>
        <p:spPr>
          <a:xfrm>
            <a:off x="828000" y="1357200"/>
            <a:ext cx="1440000" cy="1440000"/>
          </a:xfrm>
          <a:prstGeom prst="rect">
            <a:avLst/>
          </a:prstGeom>
        </p:spPr>
      </p:pic>
      <p:pic>
        <p:nvPicPr>
          <p:cNvPr id="12" name="Image 2" descr="Une bouteille du domaine Domaine Les Guignottes">    </p:cNvPr>
          <p:cNvPicPr>
            <a:picLocks noChangeAspect="1"/>
          </p:cNvPicPr>
          <p:nvPr/>
        </p:nvPicPr>
        <p:blipFill>
          <a:blip r:embed="rId3"/>
          <a:stretch>
            <a:fillRect/>
          </a:stretch>
        </p:blipFill>
        <p:spPr>
          <a:xfrm>
            <a:off x="6230902" y="1357200"/>
            <a:ext cx="570197" cy="2232000"/>
          </a:xfrm>
          <a:prstGeom prst="rect">
            <a:avLst/>
          </a:prstGeom>
        </p:spPr>
      </p:pic>
      <p:sp>
        <p:nvSpPr>
          <p:cNvPr id="13" name="Text 8"/>
          <p:cNvSpPr/>
          <p:nvPr/>
        </p:nvSpPr>
        <p:spPr>
          <a:xfrm>
            <a:off x="2393990" y="1274606"/>
            <a:ext cx="254560" cy="406197"/>
          </a:xfrm>
          <a:prstGeom prst="rect">
            <a:avLst/>
          </a:prstGeom>
          <a:noFill/>
          <a:ln/>
        </p:spPr>
        <p:txBody>
          <a:bodyPr wrap="square" lIns="0" tIns="0" rIns="0" bIns="0" rtlCol="0" anchor="t"/>
          <a:lstStyle/>
          <a:p>
            <a:pPr algn="r" indent="0" marL="0">
              <a:lnSpc>
                <a:spcPct val="123100"/>
              </a:lnSpc>
              <a:buNone/>
            </a:pPr>
            <a:r>
              <a:rPr lang="en-US" sz="1999" dirty="0">
                <a:solidFill>
                  <a:srgbClr val="67067C"/>
                </a:solidFill>
                <a:latin typeface="Young Serif" pitchFamily="34" charset="0"/>
                <a:ea typeface="Young Serif" pitchFamily="34" charset="-122"/>
                <a:cs typeface="Young Serif" pitchFamily="34" charset="-120"/>
              </a:rPr>
              <a:t>D</a:t>
            </a:r>
            <a:endParaRPr lang="en-US" sz="1999" dirty="0"/>
          </a:p>
        </p:txBody>
      </p:sp>
      <p:sp>
        <p:nvSpPr>
          <p:cNvPr id="14" name="Text 9"/>
          <p:cNvSpPr/>
          <p:nvPr/>
        </p:nvSpPr>
        <p:spPr>
          <a:xfrm>
            <a:off x="2448000" y="1388865"/>
            <a:ext cx="3456000" cy="2200235"/>
          </a:xfrm>
          <a:prstGeom prst="rect">
            <a:avLst/>
          </a:prstGeom>
          <a:noFill/>
          <a:ln/>
        </p:spPr>
        <p:txBody>
          <a:bodyPr wrap="square" lIns="0" tIns="0" rIns="0" bIns="0" rtlCol="0" anchor="t"/>
          <a:lstStyle/>
          <a:p>
            <a:pPr indent="0" marL="0">
              <a:lnSpc>
                <a:spcPct val="142000"/>
              </a:lnSpc>
              <a:buNone/>
            </a:pPr>
            <a:r>
              <a:rPr lang="en-US" sz="1100" dirty="0">
                <a:solidFill>
                  <a:srgbClr val="46606E"/>
                </a:solidFill>
                <a:latin typeface="Spectral" pitchFamily="34" charset="0"/>
                <a:ea typeface="Spectral" pitchFamily="34" charset="-122"/>
                <a:cs typeface="Spectral" pitchFamily="34" charset="-120"/>
              </a:rPr>
              <a:t>      epuis 2015, la famille Goichot est fière de diriger la distribution exclusive du Domaine Les Guignottes, une propriété de 10 hectares à Saint-Valérien en Côte Châlonnaise. Avec une palette de cépage incluant l’Aligoté, Le Pinot Noir et le Chardonnay, les vins du domaine reflètent avec élégance leur terroir d’origine. En harmonie avec les tendances actuelles, ils mettent en valeur la minéralité et la légèreté, une expérience qui célèbre la tradition et la qualité de la Côte Châlonnaise.</a:t>
            </a:r>
            <a:endParaRPr lang="en-US" sz="11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828000" y="3751100"/>
          <a:ext cx="6120000" cy="914400"/>
        </p:xfrm>
        <a:graphic>
          <a:graphicData uri="http://schemas.openxmlformats.org/drawingml/2006/table">
            <a:tbl>
              <a:tblPr/>
              <a:tblGrid>
                <a:gridCol w="216000"/>
                <a:gridCol w="2988000"/>
                <a:gridCol w="540000"/>
                <a:gridCol w="504000"/>
                <a:gridCol w="936000"/>
                <a:gridCol w="936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78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126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5300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Bourgogne Aligoté</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Bourgogne Chardonnay</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Bourgogne Pinot Noir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Maranges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 Saugeot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15,20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Santenay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Vaux Dessus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16,00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15,70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6" name="Shape 10"/>
          <p:cNvSpPr/>
          <p:nvPr/>
        </p:nvSpPr>
        <p:spPr>
          <a:xfrm>
            <a:off x="828000" y="5628796"/>
            <a:ext cx="0" cy="288349"/>
          </a:xfrm>
          <a:prstGeom prst="line">
            <a:avLst/>
          </a:prstGeom>
          <a:noFill/>
          <a:ln w="17780">
            <a:solidFill>
              <a:srgbClr val="67067C"/>
            </a:solidFill>
            <a:prstDash val="solid"/>
          </a:ln>
        </p:spPr>
      </p:sp>
      <p:sp>
        <p:nvSpPr>
          <p:cNvPr id="17" name="Text 11"/>
          <p:cNvSpPr/>
          <p:nvPr/>
        </p:nvSpPr>
        <p:spPr>
          <a:xfrm>
            <a:off x="936000" y="5628796"/>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Prix de la bouteille H.T. Franco de port.</a:t>
            </a:r>
            <a:endParaRPr lang="en-US" sz="1050" dirty="0"/>
          </a:p>
        </p:txBody>
      </p:sp>
      <p:sp>
        <p:nvSpPr>
          <p:cNvPr id="18" name="Text 12"/>
          <p:cNvSpPr/>
          <p:nvPr/>
        </p:nvSpPr>
        <p:spPr>
          <a:xfrm>
            <a:off x="828000" y="6061145"/>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19" name="Image 3" descr="/home/user/philippe1/build/deco-catalogue-scio-2026/sol-bourgogne.png">    </p:cNvPr>
          <p:cNvPicPr>
            <a:picLocks noChangeAspect="1"/>
          </p:cNvPicPr>
          <p:nvPr/>
        </p:nvPicPr>
        <p:blipFill>
          <a:blip r:embed="rId4"/>
          <a:stretch>
            <a:fillRect/>
          </a:stretch>
        </p:blipFill>
        <p:spPr>
          <a:xfrm>
            <a:off x="828000" y="6208745"/>
            <a:ext cx="6120000" cy="1148400"/>
          </a:xfrm>
          <a:prstGeom prst="rect">
            <a:avLst/>
          </a:prstGeom>
        </p:spPr>
      </p:pic>
      <p:sp>
        <p:nvSpPr>
          <p:cNvPr id="20" name="Text 13"/>
          <p:cNvSpPr/>
          <p:nvPr/>
        </p:nvSpPr>
        <p:spPr>
          <a:xfrm>
            <a:off x="828000" y="8136000"/>
            <a:ext cx="6120000" cy="1980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Maison André Goichot, Château du Cray et Domaine Les Guignottes — n°12 p. 23 · n°13 p. 25</a:t>
            </a:r>
            <a:endParaRPr lang="en-US" sz="740" dirty="0"/>
          </a:p>
        </p:txBody>
      </p:sp>
      <p:sp>
        <p:nvSpPr>
          <p:cNvPr id="21" name="Shape 14"/>
          <p:cNvSpPr/>
          <p:nvPr/>
        </p:nvSpPr>
        <p:spPr>
          <a:xfrm>
            <a:off x="828000" y="8388000"/>
            <a:ext cx="6120000" cy="0"/>
          </a:xfrm>
          <a:prstGeom prst="line">
            <a:avLst/>
          </a:prstGeom>
          <a:noFill/>
          <a:ln w="8890">
            <a:solidFill>
              <a:srgbClr val="46606E"/>
            </a:solidFill>
            <a:prstDash val="solid"/>
          </a:ln>
        </p:spPr>
      </p:sp>
      <p:sp>
        <p:nvSpPr>
          <p:cNvPr id="22" name="Text 15"/>
          <p:cNvSpPr/>
          <p:nvPr/>
        </p:nvSpPr>
        <p:spPr>
          <a:xfrm>
            <a:off x="828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56 · 85</a:t>
            </a:r>
            <a:endParaRPr lang="en-US" sz="720" dirty="0"/>
          </a:p>
        </p:txBody>
      </p:sp>
      <p:sp>
        <p:nvSpPr>
          <p:cNvPr id="23" name="Text 16"/>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4" name="Text 17"/>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26</a:t>
            </a:r>
            <a:endParaRPr lang="en-US" sz="750" dirty="0"/>
          </a:p>
        </p:txBody>
      </p:sp>
      <p:sp>
        <p:nvSpPr>
          <p:cNvPr id="25" name="Text 18"/>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urgo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15</a:t>
            </a:r>
            <a:r>
              <a:rPr lang="en-US" sz="2000" dirty="0">
                <a:solidFill>
                  <a:srgbClr val="46606E"/>
                </a:solidFill>
                <a:latin typeface="Young Serif" pitchFamily="34" charset="0"/>
                <a:ea typeface="Young Serif" pitchFamily="34" charset="-122"/>
                <a:cs typeface="Young Serif" pitchFamily="34" charset="-120"/>
              </a:rPr>
              <a:t>   Domaine des Verchères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528148"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hve.png">    </p:cNvPr>
          <p:cNvPicPr>
            <a:picLocks noChangeAspect="1"/>
          </p:cNvPicPr>
          <p:nvPr/>
        </p:nvPicPr>
        <p:blipFill>
          <a:blip r:embed="rId2"/>
          <a:stretch>
            <a:fillRect/>
          </a:stretch>
        </p:blipFill>
        <p:spPr>
          <a:xfrm>
            <a:off x="684000" y="1083600"/>
            <a:ext cx="108000" cy="108000"/>
          </a:xfrm>
          <a:prstGeom prst="rect">
            <a:avLst/>
          </a:prstGeom>
        </p:spPr>
      </p:pic>
      <p:sp>
        <p:nvSpPr>
          <p:cNvPr id="9" name="Text 5"/>
          <p:cNvSpPr/>
          <p:nvPr/>
        </p:nvSpPr>
        <p:spPr>
          <a:xfrm>
            <a:off x="759600" y="10476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0" name="Shape 6"/>
          <p:cNvSpPr/>
          <p:nvPr/>
        </p:nvSpPr>
        <p:spPr>
          <a:xfrm>
            <a:off x="1219348" y="10476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219348"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684022" y="10476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84022"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4 références</a:t>
            </a:r>
            <a:endParaRPr lang="en-US" sz="720" dirty="0"/>
          </a:p>
        </p:txBody>
      </p:sp>
      <p:pic>
        <p:nvPicPr>
          <p:cNvPr id="14" name="Image 2" descr="portrait du vigneron — Domaine des Verchères">    </p:cNvPr>
          <p:cNvPicPr>
            <a:picLocks noChangeAspect="1"/>
          </p:cNvPicPr>
          <p:nvPr/>
        </p:nvPicPr>
        <p:blipFill>
          <a:blip r:embed="rId3"/>
          <a:srcRect l="6000" r="6040" t="0" b="0"/>
          <a:stretch/>
        </p:blipFill>
        <p:spPr>
          <a:xfrm>
            <a:off x="612000" y="1357200"/>
            <a:ext cx="1440000" cy="1440000"/>
          </a:xfrm>
          <a:prstGeom prst="ellipse">
            <a:avLst/>
          </a:prstGeom>
        </p:spPr>
      </p:pic>
      <p:pic>
        <p:nvPicPr>
          <p:cNvPr id="15" name="Image 3" descr="Une bouteille du domaine Domaine des Verchères">    </p:cNvPr>
          <p:cNvPicPr>
            <a:picLocks noChangeAspect="1"/>
          </p:cNvPicPr>
          <p:nvPr/>
        </p:nvPicPr>
        <p:blipFill>
          <a:blip r:embed="rId4"/>
          <a:stretch>
            <a:fillRect/>
          </a:stretch>
        </p:blipFill>
        <p:spPr>
          <a:xfrm>
            <a:off x="6024049" y="1357200"/>
            <a:ext cx="551902" cy="2232000"/>
          </a:xfrm>
          <a:prstGeom prst="rect">
            <a:avLst/>
          </a:prstGeom>
        </p:spPr>
      </p:pic>
      <p:sp>
        <p:nvSpPr>
          <p:cNvPr id="16" name="Text 10"/>
          <p:cNvSpPr/>
          <p:nvPr/>
        </p:nvSpPr>
        <p:spPr>
          <a:xfrm>
            <a:off x="2178017" y="1347879"/>
            <a:ext cx="251358" cy="451104"/>
          </a:xfrm>
          <a:prstGeom prst="rect">
            <a:avLst/>
          </a:prstGeom>
          <a:noFill/>
          <a:ln/>
        </p:spPr>
        <p:txBody>
          <a:bodyPr wrap="square" lIns="0" tIns="0" rIns="0" bIns="0" rtlCol="0" anchor="t"/>
          <a:lstStyle/>
          <a:p>
            <a:pPr algn="r" indent="0" marL="0">
              <a:lnSpc>
                <a:spcPct val="125000"/>
              </a:lnSpc>
              <a:buNone/>
            </a:pPr>
            <a:r>
              <a:rPr lang="en-US" sz="2220" dirty="0">
                <a:solidFill>
                  <a:srgbClr val="67067C"/>
                </a:solidFill>
                <a:latin typeface="Young Serif" pitchFamily="34" charset="0"/>
                <a:ea typeface="Young Serif" pitchFamily="34" charset="-122"/>
                <a:cs typeface="Young Serif" pitchFamily="34" charset="-120"/>
              </a:rPr>
              <a:t>P</a:t>
            </a:r>
            <a:endParaRPr lang="en-US" sz="2220" dirty="0"/>
          </a:p>
        </p:txBody>
      </p:sp>
      <p:sp>
        <p:nvSpPr>
          <p:cNvPr id="17" name="Text 11"/>
          <p:cNvSpPr/>
          <p:nvPr/>
        </p:nvSpPr>
        <p:spPr>
          <a:xfrm>
            <a:off x="2232000" y="1466269"/>
            <a:ext cx="3456000" cy="2122832"/>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ropriété familiale transmise depuis sept générations, établie à Mancey au cœur du Mâconnais. Certifié HVE, le domaine limite rigoureusement ses intrants pour préserver la vie des sols et alimente sa cave en énergie solaire, pour des vins purs, gourmands et équilibrés.</a:t>
            </a:r>
            <a:endParaRPr lang="en-US" sz="13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612000" y="37511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180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Mâcon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Mâcon Chardonnay</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5,45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5,75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Mâcon Mancey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Mâcon Mancey</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Mâcon Mancey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Mâcon Mancey</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5,75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Bourgogne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Bourgogne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7,25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Shape 12"/>
          <p:cNvSpPr/>
          <p:nvPr/>
        </p:nvSpPr>
        <p:spPr>
          <a:xfrm>
            <a:off x="612000" y="5686243"/>
            <a:ext cx="0" cy="288349"/>
          </a:xfrm>
          <a:prstGeom prst="line">
            <a:avLst/>
          </a:prstGeom>
          <a:noFill/>
          <a:ln w="17780">
            <a:solidFill>
              <a:srgbClr val="67067C"/>
            </a:solidFill>
            <a:prstDash val="solid"/>
          </a:ln>
        </p:spPr>
      </p:sp>
      <p:sp>
        <p:nvSpPr>
          <p:cNvPr id="20" name="Text 13"/>
          <p:cNvSpPr/>
          <p:nvPr/>
        </p:nvSpPr>
        <p:spPr>
          <a:xfrm>
            <a:off x="720000" y="5686243"/>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départ chai.</a:t>
            </a:r>
            <a:endParaRPr lang="en-US" sz="1050" dirty="0"/>
          </a:p>
        </p:txBody>
      </p:sp>
      <p:sp>
        <p:nvSpPr>
          <p:cNvPr id="21" name="Text 14"/>
          <p:cNvSpPr/>
          <p:nvPr/>
        </p:nvSpPr>
        <p:spPr>
          <a:xfrm>
            <a:off x="612000" y="6118593"/>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22" name="Image 4" descr="/home/user/philippe1/build/deco-catalogue-scio-2026/sol-bourgogne.png">    </p:cNvPr>
          <p:cNvPicPr>
            <a:picLocks noChangeAspect="1"/>
          </p:cNvPicPr>
          <p:nvPr/>
        </p:nvPicPr>
        <p:blipFill>
          <a:blip r:embed="rId5"/>
          <a:stretch>
            <a:fillRect/>
          </a:stretch>
        </p:blipFill>
        <p:spPr>
          <a:xfrm>
            <a:off x="612000" y="6266193"/>
            <a:ext cx="6120000" cy="1148400"/>
          </a:xfrm>
          <a:prstGeom prst="rect">
            <a:avLst/>
          </a:prstGeom>
        </p:spPr>
      </p:pic>
      <p:sp>
        <p:nvSpPr>
          <p:cNvPr id="23" name="Shape 15"/>
          <p:cNvSpPr/>
          <p:nvPr/>
        </p:nvSpPr>
        <p:spPr>
          <a:xfrm>
            <a:off x="612000" y="8388000"/>
            <a:ext cx="6120000" cy="0"/>
          </a:xfrm>
          <a:prstGeom prst="line">
            <a:avLst/>
          </a:prstGeom>
          <a:noFill/>
          <a:ln w="8890">
            <a:solidFill>
              <a:srgbClr val="46606E"/>
            </a:solidFill>
            <a:prstDash val="solid"/>
          </a:ln>
        </p:spPr>
      </p:sp>
      <p:sp>
        <p:nvSpPr>
          <p:cNvPr id="24" name="Text 16"/>
          <p:cNvSpPr/>
          <p:nvPr/>
        </p:nvSpPr>
        <p:spPr>
          <a:xfrm>
            <a:off x="612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6" name="Text 18"/>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27</a:t>
            </a:r>
            <a:endParaRPr lang="en-US" sz="750" dirty="0"/>
          </a:p>
        </p:txBody>
      </p:sp>
      <p:sp>
        <p:nvSpPr>
          <p:cNvPr id="27" name="Text 19"/>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46606E"/>
        </a:solidFill>
      </p:bgPr>
    </p:bg>
    <p:spTree>
      <p:nvGrpSpPr>
        <p:cNvPr id="1" name=""/>
        <p:cNvGrpSpPr/>
        <p:nvPr/>
      </p:nvGrpSpPr>
      <p:grpSpPr>
        <a:xfrm>
          <a:off x="0" y="0"/>
          <a:ext cx="0" cy="0"/>
          <a:chOff x="0" y="0"/>
          <a:chExt cx="0" cy="0"/>
        </a:xfrm>
      </p:grpSpPr>
      <p:pic>
        <p:nvPicPr>
          <p:cNvPr id="2" name="Image 0" descr="/home/user/philippe1/build/deco-catalogue-scio-2026/ouverture-rhone.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catalogue-scio-2026/carotte-rhone.png">    </p:cNvPr>
          <p:cNvPicPr>
            <a:picLocks noChangeAspect="1"/>
          </p:cNvPicPr>
          <p:nvPr/>
        </p:nvPicPr>
        <p:blipFill>
          <a:blip r:embed="rId2"/>
          <a:stretch>
            <a:fillRect/>
          </a:stretch>
        </p:blipFill>
        <p:spPr>
          <a:xfrm>
            <a:off x="0" y="0"/>
            <a:ext cx="324000" cy="9360000"/>
          </a:xfrm>
          <a:prstGeom prst="rect">
            <a:avLst/>
          </a:prstGeom>
        </p:spPr>
      </p:pic>
      <p:sp>
        <p:nvSpPr>
          <p:cNvPr id="4"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5" name="Text 1"/>
          <p:cNvSpPr/>
          <p:nvPr/>
        </p:nvSpPr>
        <p:spPr>
          <a:xfrm>
            <a:off x="828000" y="540000"/>
            <a:ext cx="792000" cy="216000"/>
          </a:xfrm>
          <a:prstGeom prst="rect">
            <a:avLst/>
          </a:prstGeom>
          <a:noFill/>
          <a:ln/>
        </p:spPr>
        <p:txBody>
          <a:bodyPr wrap="square" lIns="0" tIns="0" rIns="0" bIns="0" rtlCol="0" anchor="ctr"/>
          <a:lstStyle/>
          <a:p>
            <a:pPr algn="ctr" indent="0" marL="0">
              <a:buNone/>
            </a:pPr>
            <a:r>
              <a:rPr lang="en-US" sz="800" b="1" dirty="0">
                <a:solidFill>
                  <a:srgbClr val="FBF8F1"/>
                </a:solidFill>
                <a:latin typeface="IBM Plex Sans" pitchFamily="34" charset="0"/>
                <a:ea typeface="IBM Plex Sans" pitchFamily="34" charset="-122"/>
                <a:cs typeface="IBM Plex Sans" pitchFamily="34" charset="-120"/>
              </a:rPr>
              <a:t>5 / 10</a:t>
            </a:r>
            <a:endParaRPr lang="en-US" sz="800" dirty="0"/>
          </a:p>
        </p:txBody>
      </p:sp>
      <p:sp>
        <p:nvSpPr>
          <p:cNvPr id="6" name="Text 2"/>
          <p:cNvSpPr/>
          <p:nvPr/>
        </p:nvSpPr>
        <p:spPr>
          <a:xfrm>
            <a:off x="828000" y="5112000"/>
            <a:ext cx="5040000" cy="792000"/>
          </a:xfrm>
          <a:prstGeom prst="rect">
            <a:avLst/>
          </a:prstGeom>
          <a:noFill/>
          <a:ln/>
        </p:spPr>
        <p:txBody>
          <a:bodyPr wrap="square" lIns="0" tIns="0" rIns="0" bIns="0" rtlCol="0" anchor="ctr"/>
          <a:lstStyle/>
          <a:p>
            <a:pPr indent="0" marL="0">
              <a:buNone/>
            </a:pPr>
            <a:r>
              <a:rPr lang="en-US" sz="4600" dirty="0">
                <a:solidFill>
                  <a:srgbClr val="FBF8F1"/>
                </a:solidFill>
                <a:latin typeface="Young Serif" pitchFamily="34" charset="0"/>
                <a:ea typeface="Young Serif" pitchFamily="34" charset="-122"/>
                <a:cs typeface="Young Serif" pitchFamily="34" charset="-120"/>
              </a:rPr>
              <a:t>Rhône</a:t>
            </a:r>
            <a:endParaRPr lang="en-US" sz="4600" dirty="0"/>
          </a:p>
        </p:txBody>
      </p:sp>
      <p:sp>
        <p:nvSpPr>
          <p:cNvPr id="7" name="Text 3"/>
          <p:cNvSpPr/>
          <p:nvPr/>
        </p:nvSpPr>
        <p:spPr>
          <a:xfrm>
            <a:off x="828000" y="5976000"/>
            <a:ext cx="4320000" cy="252000"/>
          </a:xfrm>
          <a:prstGeom prst="rect">
            <a:avLst/>
          </a:prstGeom>
          <a:noFill/>
          <a:ln/>
        </p:spPr>
        <p:txBody>
          <a:bodyPr wrap="square" lIns="0" tIns="0" rIns="0" bIns="0" rtlCol="0" anchor="ctr"/>
          <a:lstStyle/>
          <a:p>
            <a:pPr indent="0" marL="0">
              <a:buNone/>
            </a:pPr>
            <a:r>
              <a:rPr lang="en-US" sz="1200" i="1" dirty="0">
                <a:solidFill>
                  <a:srgbClr val="FBF8F1"/>
                </a:solidFill>
                <a:latin typeface="Spectral" pitchFamily="34" charset="0"/>
                <a:ea typeface="Spectral" pitchFamily="34" charset="-122"/>
                <a:cs typeface="Spectral" pitchFamily="34" charset="-120"/>
              </a:rPr>
              <a:t>sables, grès et Trias</a:t>
            </a:r>
            <a:endParaRPr lang="en-US" sz="1200" dirty="0"/>
          </a:p>
        </p:txBody>
      </p:sp>
      <p:sp>
        <p:nvSpPr>
          <p:cNvPr id="8" name="Text 4"/>
          <p:cNvSpPr/>
          <p:nvPr/>
        </p:nvSpPr>
        <p:spPr>
          <a:xfrm>
            <a:off x="828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6</a:t>
            </a:r>
            <a:endParaRPr lang="en-US" sz="2000" dirty="0"/>
          </a:p>
        </p:txBody>
      </p:sp>
      <p:sp>
        <p:nvSpPr>
          <p:cNvPr id="9" name="Text 5"/>
          <p:cNvSpPr/>
          <p:nvPr/>
        </p:nvSpPr>
        <p:spPr>
          <a:xfrm>
            <a:off x="828000" y="6660000"/>
            <a:ext cx="864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domaines</a:t>
            </a:r>
            <a:endParaRPr lang="en-US" sz="850" dirty="0"/>
          </a:p>
        </p:txBody>
      </p:sp>
      <p:sp>
        <p:nvSpPr>
          <p:cNvPr id="10" name="Text 6"/>
          <p:cNvSpPr/>
          <p:nvPr/>
        </p:nvSpPr>
        <p:spPr>
          <a:xfrm>
            <a:off x="1836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27</a:t>
            </a:r>
            <a:endParaRPr lang="en-US" sz="2000" dirty="0"/>
          </a:p>
        </p:txBody>
      </p:sp>
      <p:sp>
        <p:nvSpPr>
          <p:cNvPr id="11" name="Text 7"/>
          <p:cNvSpPr/>
          <p:nvPr/>
        </p:nvSpPr>
        <p:spPr>
          <a:xfrm>
            <a:off x="1836000" y="6660000"/>
            <a:ext cx="1620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références</a:t>
            </a:r>
            <a:endParaRPr lang="en-US" sz="850" dirty="0"/>
          </a:p>
        </p:txBody>
      </p:sp>
      <p:sp>
        <p:nvSpPr>
          <p:cNvPr id="12" name="Text 8"/>
          <p:cNvSpPr/>
          <p:nvPr/>
        </p:nvSpPr>
        <p:spPr>
          <a:xfrm>
            <a:off x="828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16   </a:t>
            </a:r>
            <a:r>
              <a:rPr lang="en-US" sz="860" dirty="0">
                <a:solidFill>
                  <a:srgbClr val="FBF8F1"/>
                </a:solidFill>
                <a:latin typeface="IBM Plex Sans" pitchFamily="34" charset="0"/>
                <a:ea typeface="IBM Plex Sans" pitchFamily="34" charset="-122"/>
                <a:cs typeface="IBM Plex Sans" pitchFamily="34" charset="-120"/>
              </a:rPr>
              <a:t>Domaine Le Prieuré des Papes</a:t>
            </a:r>
            <a:r>
              <a:rPr lang="en-US" sz="860" b="1" dirty="0">
                <a:solidFill>
                  <a:srgbClr val="FBF8F1"/>
                </a:solidFill>
                <a:latin typeface="IBM Plex Sans" pitchFamily="34" charset="0"/>
                <a:ea typeface="IBM Plex Sans" pitchFamily="34" charset="-122"/>
                <a:cs typeface="IBM Plex Sans" pitchFamily="34" charset="-120"/>
              </a:rPr>
              <a:t>   29</a:t>
            </a:r>
            <a:endParaRPr lang="en-US" sz="860" dirty="0"/>
          </a:p>
        </p:txBody>
      </p:sp>
      <p:sp>
        <p:nvSpPr>
          <p:cNvPr id="13" name="Text 9"/>
          <p:cNvSpPr/>
          <p:nvPr/>
        </p:nvSpPr>
        <p:spPr>
          <a:xfrm>
            <a:off x="3888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17   </a:t>
            </a:r>
            <a:r>
              <a:rPr lang="en-US" sz="860" dirty="0">
                <a:solidFill>
                  <a:srgbClr val="FBF8F1"/>
                </a:solidFill>
                <a:latin typeface="IBM Plex Sans" pitchFamily="34" charset="0"/>
                <a:ea typeface="IBM Plex Sans" pitchFamily="34" charset="-122"/>
                <a:cs typeface="IBM Plex Sans" pitchFamily="34" charset="-120"/>
              </a:rPr>
              <a:t>Domaine de Coyeux</a:t>
            </a:r>
            <a:r>
              <a:rPr lang="en-US" sz="860" b="1" dirty="0">
                <a:solidFill>
                  <a:srgbClr val="FBF8F1"/>
                </a:solidFill>
                <a:latin typeface="IBM Plex Sans" pitchFamily="34" charset="0"/>
                <a:ea typeface="IBM Plex Sans" pitchFamily="34" charset="-122"/>
                <a:cs typeface="IBM Plex Sans" pitchFamily="34" charset="-120"/>
              </a:rPr>
              <a:t>   30</a:t>
            </a:r>
            <a:endParaRPr lang="en-US" sz="860" dirty="0"/>
          </a:p>
        </p:txBody>
      </p:sp>
      <p:sp>
        <p:nvSpPr>
          <p:cNvPr id="14" name="Text 10"/>
          <p:cNvSpPr/>
          <p:nvPr/>
        </p:nvSpPr>
        <p:spPr>
          <a:xfrm>
            <a:off x="828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18   </a:t>
            </a:r>
            <a:r>
              <a:rPr lang="en-US" sz="860" dirty="0">
                <a:solidFill>
                  <a:srgbClr val="FBF8F1"/>
                </a:solidFill>
                <a:latin typeface="IBM Plex Sans" pitchFamily="34" charset="0"/>
                <a:ea typeface="IBM Plex Sans" pitchFamily="34" charset="-122"/>
                <a:cs typeface="IBM Plex Sans" pitchFamily="34" charset="-120"/>
              </a:rPr>
              <a:t>Domaine du Moulin Blanc</a:t>
            </a:r>
            <a:r>
              <a:rPr lang="en-US" sz="860" b="1" dirty="0">
                <a:solidFill>
                  <a:srgbClr val="FBF8F1"/>
                </a:solidFill>
                <a:latin typeface="IBM Plex Sans" pitchFamily="34" charset="0"/>
                <a:ea typeface="IBM Plex Sans" pitchFamily="34" charset="-122"/>
                <a:cs typeface="IBM Plex Sans" pitchFamily="34" charset="-120"/>
              </a:rPr>
              <a:t>   31</a:t>
            </a:r>
            <a:endParaRPr lang="en-US" sz="860" dirty="0"/>
          </a:p>
        </p:txBody>
      </p:sp>
      <p:sp>
        <p:nvSpPr>
          <p:cNvPr id="15" name="Text 11"/>
          <p:cNvSpPr/>
          <p:nvPr/>
        </p:nvSpPr>
        <p:spPr>
          <a:xfrm>
            <a:off x="3888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19   </a:t>
            </a:r>
            <a:r>
              <a:rPr lang="en-US" sz="860" dirty="0">
                <a:solidFill>
                  <a:srgbClr val="FBF8F1"/>
                </a:solidFill>
                <a:latin typeface="IBM Plex Sans" pitchFamily="34" charset="0"/>
                <a:ea typeface="IBM Plex Sans" pitchFamily="34" charset="-122"/>
                <a:cs typeface="IBM Plex Sans" pitchFamily="34" charset="-120"/>
              </a:rPr>
              <a:t>Domaine de la Pousterle</a:t>
            </a:r>
            <a:r>
              <a:rPr lang="en-US" sz="860" b="1" dirty="0">
                <a:solidFill>
                  <a:srgbClr val="FBF8F1"/>
                </a:solidFill>
                <a:latin typeface="IBM Plex Sans" pitchFamily="34" charset="0"/>
                <a:ea typeface="IBM Plex Sans" pitchFamily="34" charset="-122"/>
                <a:cs typeface="IBM Plex Sans" pitchFamily="34" charset="-120"/>
              </a:rPr>
              <a:t>   32</a:t>
            </a:r>
            <a:endParaRPr lang="en-US" sz="860" dirty="0"/>
          </a:p>
        </p:txBody>
      </p:sp>
      <p:sp>
        <p:nvSpPr>
          <p:cNvPr id="16" name="Text 12"/>
          <p:cNvSpPr/>
          <p:nvPr/>
        </p:nvSpPr>
        <p:spPr>
          <a:xfrm>
            <a:off x="828000" y="7632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20   </a:t>
            </a:r>
            <a:r>
              <a:rPr lang="en-US" sz="860" dirty="0">
                <a:solidFill>
                  <a:srgbClr val="FBF8F1"/>
                </a:solidFill>
                <a:latin typeface="IBM Plex Sans" pitchFamily="34" charset="0"/>
                <a:ea typeface="IBM Plex Sans" pitchFamily="34" charset="-122"/>
                <a:cs typeface="IBM Plex Sans" pitchFamily="34" charset="-120"/>
              </a:rPr>
              <a:t>Domaine des Pasquiers</a:t>
            </a:r>
            <a:r>
              <a:rPr lang="en-US" sz="860" b="1" dirty="0">
                <a:solidFill>
                  <a:srgbClr val="FBF8F1"/>
                </a:solidFill>
                <a:latin typeface="IBM Plex Sans" pitchFamily="34" charset="0"/>
                <a:ea typeface="IBM Plex Sans" pitchFamily="34" charset="-122"/>
                <a:cs typeface="IBM Plex Sans" pitchFamily="34" charset="-120"/>
              </a:rPr>
              <a:t>   33</a:t>
            </a:r>
            <a:endParaRPr lang="en-US" sz="860" dirty="0"/>
          </a:p>
        </p:txBody>
      </p:sp>
      <p:sp>
        <p:nvSpPr>
          <p:cNvPr id="17" name="Text 13"/>
          <p:cNvSpPr/>
          <p:nvPr/>
        </p:nvSpPr>
        <p:spPr>
          <a:xfrm>
            <a:off x="3888000" y="7632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21   </a:t>
            </a:r>
            <a:r>
              <a:rPr lang="en-US" sz="860" dirty="0">
                <a:solidFill>
                  <a:srgbClr val="FBF8F1"/>
                </a:solidFill>
                <a:latin typeface="IBM Plex Sans" pitchFamily="34" charset="0"/>
                <a:ea typeface="IBM Plex Sans" pitchFamily="34" charset="-122"/>
                <a:cs typeface="IBM Plex Sans" pitchFamily="34" charset="-120"/>
              </a:rPr>
              <a:t>Domaine Trichon</a:t>
            </a:r>
            <a:r>
              <a:rPr lang="en-US" sz="860" b="1" dirty="0">
                <a:solidFill>
                  <a:srgbClr val="FBF8F1"/>
                </a:solidFill>
                <a:latin typeface="IBM Plex Sans" pitchFamily="34" charset="0"/>
                <a:ea typeface="IBM Plex Sans" pitchFamily="34" charset="-122"/>
                <a:cs typeface="IBM Plex Sans" pitchFamily="34" charset="-120"/>
              </a:rPr>
              <a:t>   34</a:t>
            </a:r>
            <a:endParaRPr lang="en-US" sz="860" dirty="0"/>
          </a:p>
        </p:txBody>
      </p:sp>
      <p:sp>
        <p:nvSpPr>
          <p:cNvPr id="18" name="Text 14"/>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28</a:t>
            </a:r>
            <a:endParaRPr lang="en-US" sz="750" dirty="0"/>
          </a:p>
        </p:txBody>
      </p:sp>
      <p:sp>
        <p:nvSpPr>
          <p:cNvPr id="19" name="Text 15"/>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rho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16</a:t>
            </a:r>
            <a:r>
              <a:rPr lang="en-US" sz="2000" dirty="0">
                <a:solidFill>
                  <a:srgbClr val="46606E"/>
                </a:solidFill>
                <a:latin typeface="Young Serif" pitchFamily="34" charset="0"/>
                <a:ea typeface="Young Serif" pitchFamily="34" charset="-122"/>
                <a:cs typeface="Young Serif" pitchFamily="34" charset="-120"/>
              </a:rPr>
              <a:t>   Domaine Le Prieuré des Papes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1101294"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conversion.png">    </p:cNvPr>
          <p:cNvPicPr>
            <a:picLocks noChangeAspect="1"/>
          </p:cNvPicPr>
          <p:nvPr/>
        </p:nvPicPr>
        <p:blipFill>
          <a:blip r:embed="rId2"/>
          <a:stretch>
            <a:fillRect/>
          </a:stretch>
        </p:blipFill>
        <p:spPr>
          <a:xfrm>
            <a:off x="684000" y="1083600"/>
            <a:ext cx="108000" cy="108000"/>
          </a:xfrm>
          <a:prstGeom prst="rect">
            <a:avLst/>
          </a:prstGeom>
        </p:spPr>
      </p:pic>
      <p:sp>
        <p:nvSpPr>
          <p:cNvPr id="9" name="Text 5"/>
          <p:cNvSpPr/>
          <p:nvPr/>
        </p:nvSpPr>
        <p:spPr>
          <a:xfrm>
            <a:off x="759600" y="1047600"/>
            <a:ext cx="95369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En conversion Bio</a:t>
            </a:r>
            <a:endParaRPr lang="en-US" sz="720" dirty="0"/>
          </a:p>
        </p:txBody>
      </p:sp>
      <p:sp>
        <p:nvSpPr>
          <p:cNvPr id="10" name="Shape 6"/>
          <p:cNvSpPr/>
          <p:nvPr/>
        </p:nvSpPr>
        <p:spPr>
          <a:xfrm>
            <a:off x="1792494" y="1047600"/>
            <a:ext cx="1352190"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792494" y="10476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2" name="Shape 8"/>
          <p:cNvSpPr/>
          <p:nvPr/>
        </p:nvSpPr>
        <p:spPr>
          <a:xfrm>
            <a:off x="3223884" y="10476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3223884"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pic>
        <p:nvPicPr>
          <p:cNvPr id="14" name="Image 2" descr="logo du domaine — Domaine Le Prieuré des Papes">    </p:cNvPr>
          <p:cNvPicPr>
            <a:picLocks noChangeAspect="1"/>
          </p:cNvPicPr>
          <p:nvPr/>
        </p:nvPicPr>
        <p:blipFill>
          <a:blip r:embed="rId3"/>
          <a:stretch>
            <a:fillRect/>
          </a:stretch>
        </p:blipFill>
        <p:spPr>
          <a:xfrm>
            <a:off x="612000" y="1357200"/>
            <a:ext cx="1440000" cy="1440000"/>
          </a:xfrm>
          <a:prstGeom prst="rect">
            <a:avLst/>
          </a:prstGeom>
        </p:spPr>
      </p:pic>
      <p:pic>
        <p:nvPicPr>
          <p:cNvPr id="15" name="Image 3" descr="Une bouteille du domaine Domaine Le Prieuré des Papes">    </p:cNvPr>
          <p:cNvPicPr>
            <a:picLocks noChangeAspect="1"/>
          </p:cNvPicPr>
          <p:nvPr/>
        </p:nvPicPr>
        <p:blipFill>
          <a:blip r:embed="rId4"/>
          <a:stretch>
            <a:fillRect/>
          </a:stretch>
        </p:blipFill>
        <p:spPr>
          <a:xfrm>
            <a:off x="6011852" y="1357200"/>
            <a:ext cx="576295" cy="2232000"/>
          </a:xfrm>
          <a:prstGeom prst="rect">
            <a:avLst/>
          </a:prstGeom>
        </p:spPr>
      </p:pic>
      <p:sp>
        <p:nvSpPr>
          <p:cNvPr id="16" name="Text 10"/>
          <p:cNvSpPr/>
          <p:nvPr/>
        </p:nvSpPr>
        <p:spPr>
          <a:xfrm>
            <a:off x="2178049" y="1190137"/>
            <a:ext cx="165601" cy="227178"/>
          </a:xfrm>
          <a:prstGeom prst="rect">
            <a:avLst/>
          </a:prstGeom>
          <a:noFill/>
          <a:ln/>
        </p:spPr>
        <p:txBody>
          <a:bodyPr wrap="square" lIns="0" tIns="0" rIns="0" bIns="0" rtlCol="0" anchor="t"/>
          <a:lstStyle/>
          <a:p>
            <a:pPr algn="r" indent="0" marL="0">
              <a:lnSpc>
                <a:spcPct val="134200"/>
              </a:lnSpc>
              <a:buNone/>
            </a:pPr>
            <a:r>
              <a:rPr lang="en-US" sz="1118" dirty="0">
                <a:solidFill>
                  <a:srgbClr val="67067C"/>
                </a:solidFill>
                <a:latin typeface="Young Serif" pitchFamily="34" charset="0"/>
                <a:ea typeface="Young Serif" pitchFamily="34" charset="-122"/>
                <a:cs typeface="Young Serif" pitchFamily="34" charset="-120"/>
              </a:rPr>
              <a:t>A</a:t>
            </a:r>
            <a:endParaRPr lang="en-US" sz="1118" dirty="0"/>
          </a:p>
        </p:txBody>
      </p:sp>
      <p:sp>
        <p:nvSpPr>
          <p:cNvPr id="17" name="Text 11"/>
          <p:cNvSpPr/>
          <p:nvPr/>
        </p:nvSpPr>
        <p:spPr>
          <a:xfrm>
            <a:off x="2232000" y="1217729"/>
            <a:ext cx="3456000" cy="2492071"/>
          </a:xfrm>
          <a:prstGeom prst="rect">
            <a:avLst/>
          </a:prstGeom>
          <a:noFill/>
          <a:ln/>
        </p:spPr>
        <p:txBody>
          <a:bodyPr wrap="square" lIns="0" tIns="0" rIns="0" bIns="0" rtlCol="0" anchor="t"/>
          <a:lstStyle/>
          <a:p>
            <a:pPr indent="0" marL="0">
              <a:lnSpc>
                <a:spcPct val="136000"/>
              </a:lnSpc>
              <a:buNone/>
            </a:pPr>
            <a:r>
              <a:rPr lang="en-US" sz="950" dirty="0">
                <a:solidFill>
                  <a:srgbClr val="46606E"/>
                </a:solidFill>
                <a:latin typeface="Spectral" pitchFamily="34" charset="0"/>
                <a:ea typeface="Spectral" pitchFamily="34" charset="-122"/>
                <a:cs typeface="Spectral" pitchFamily="34" charset="-120"/>
              </a:rPr>
              <a:t>    u nord de l’appellation Châteauneuf-du-Pape, dans le quartier de Cabrières, le domaine du Prieuré des Papes compte 12 hectares de vignes étendues sur des sols de sable. S’ajoutent à cela, 8 hectares répartis entre Côtes du Rhône sur le terroir du Grès. Le nom de domaine a été choisi en référence au bâtiment emblématique du village de Châteauneuf du Pape situé au pied du Château et ancienne résidence papale. La majorité de nos vins sont des vins rouges avec une dominance de grenache. Nous produisons un Châteauneuf du Pape blanc confidentiel sur une parcelle de moins d’un hectare. Notre vignoble, certifié Agriculture Biologique, bénéficie d’un environnement doux et préservé offrant aux vins une chair déliée et de grand raffinement.</a:t>
            </a:r>
            <a:endParaRPr lang="en-US" sz="95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612000" y="3871800"/>
          <a:ext cx="6120000" cy="914400"/>
        </p:xfrm>
        <a:graphic>
          <a:graphicData uri="http://schemas.openxmlformats.org/drawingml/2006/table">
            <a:tbl>
              <a:tblPr/>
              <a:tblGrid>
                <a:gridCol w="216000"/>
                <a:gridCol w="2988000"/>
                <a:gridCol w="540000"/>
                <a:gridCol w="504000"/>
                <a:gridCol w="936000"/>
                <a:gridCol w="936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Palette</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Côtes du Rhône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 Prieuré</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Châteauneuf-du-Pape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Vieilles Vignes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2021</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Châteauneuf-du-Pape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Vieilles Vignes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21,20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20,90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612000" y="5360905"/>
            <a:ext cx="0" cy="288349"/>
          </a:xfrm>
          <a:prstGeom prst="line">
            <a:avLst/>
          </a:prstGeom>
          <a:noFill/>
          <a:ln w="17780">
            <a:solidFill>
              <a:srgbClr val="67067C"/>
            </a:solidFill>
            <a:prstDash val="solid"/>
          </a:ln>
        </p:spPr>
      </p:sp>
      <p:sp>
        <p:nvSpPr>
          <p:cNvPr id="20" name="Text 13"/>
          <p:cNvSpPr/>
          <p:nvPr/>
        </p:nvSpPr>
        <p:spPr>
          <a:xfrm>
            <a:off x="720000" y="5360905"/>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612000" y="5793254"/>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RHÔNE — SABLES, GRÈS ET TRIAS</a:t>
            </a:r>
            <a:endParaRPr lang="en-US" sz="720" dirty="0"/>
          </a:p>
        </p:txBody>
      </p:sp>
      <p:pic>
        <p:nvPicPr>
          <p:cNvPr id="22" name="Image 4" descr="/home/user/philippe1/build/deco-catalogue-scio-2026/sol-rhone.png">    </p:cNvPr>
          <p:cNvPicPr>
            <a:picLocks noChangeAspect="1"/>
          </p:cNvPicPr>
          <p:nvPr/>
        </p:nvPicPr>
        <p:blipFill>
          <a:blip r:embed="rId5"/>
          <a:stretch>
            <a:fillRect/>
          </a:stretch>
        </p:blipFill>
        <p:spPr>
          <a:xfrm>
            <a:off x="612000" y="5940854"/>
            <a:ext cx="6120000" cy="1148400"/>
          </a:xfrm>
          <a:prstGeom prst="rect">
            <a:avLst/>
          </a:prstGeom>
        </p:spPr>
      </p:pic>
      <p:sp>
        <p:nvSpPr>
          <p:cNvPr id="23" name="Text 15"/>
          <p:cNvSpPr/>
          <p:nvPr/>
        </p:nvSpPr>
        <p:spPr>
          <a:xfrm>
            <a:off x="612000" y="8136000"/>
            <a:ext cx="6120000" cy="1980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Les quatre domaines Strasser Radziwill — n°17 p. 30 · n°18 p. 31 · n°19 p. 32</a:t>
            </a:r>
            <a:endParaRPr lang="en-US" sz="740" dirty="0"/>
          </a:p>
        </p:txBody>
      </p:sp>
      <p:sp>
        <p:nvSpPr>
          <p:cNvPr id="24" name="Shape 16"/>
          <p:cNvSpPr/>
          <p:nvPr/>
        </p:nvSpPr>
        <p:spPr>
          <a:xfrm>
            <a:off x="612000" y="8388000"/>
            <a:ext cx="6120000" cy="0"/>
          </a:xfrm>
          <a:prstGeom prst="line">
            <a:avLst/>
          </a:prstGeom>
          <a:noFill/>
          <a:ln w="8890">
            <a:solidFill>
              <a:srgbClr val="46606E"/>
            </a:solidFill>
            <a:prstDash val="solid"/>
          </a:ln>
        </p:spPr>
      </p:sp>
      <p:sp>
        <p:nvSpPr>
          <p:cNvPr id="25" name="Text 17"/>
          <p:cNvSpPr/>
          <p:nvPr/>
        </p:nvSpPr>
        <p:spPr>
          <a:xfrm>
            <a:off x="612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6" name="Text 18"/>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7" name="Text 1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29</a:t>
            </a:r>
            <a:endParaRPr lang="en-US" sz="750" dirty="0"/>
          </a:p>
        </p:txBody>
      </p:sp>
      <p:sp>
        <p:nvSpPr>
          <p:cNvPr id="28" name="Text 2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rho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17</a:t>
            </a:r>
            <a:r>
              <a:rPr lang="en-US" sz="2000" dirty="0">
                <a:solidFill>
                  <a:srgbClr val="46606E"/>
                </a:solidFill>
                <a:latin typeface="Young Serif" pitchFamily="34" charset="0"/>
                <a:ea typeface="Young Serif" pitchFamily="34" charset="-122"/>
                <a:cs typeface="Young Serif" pitchFamily="34" charset="-120"/>
              </a:rPr>
              <a:t>   Domaine de Coyeux</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1101294"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conversion.png">    </p:cNvPr>
          <p:cNvPicPr>
            <a:picLocks noChangeAspect="1"/>
          </p:cNvPicPr>
          <p:nvPr/>
        </p:nvPicPr>
        <p:blipFill>
          <a:blip r:embed="rId2"/>
          <a:stretch>
            <a:fillRect/>
          </a:stretch>
        </p:blipFill>
        <p:spPr>
          <a:xfrm>
            <a:off x="900000" y="1083600"/>
            <a:ext cx="108000" cy="108000"/>
          </a:xfrm>
          <a:prstGeom prst="rect">
            <a:avLst/>
          </a:prstGeom>
        </p:spPr>
      </p:pic>
      <p:sp>
        <p:nvSpPr>
          <p:cNvPr id="9" name="Text 5"/>
          <p:cNvSpPr/>
          <p:nvPr/>
        </p:nvSpPr>
        <p:spPr>
          <a:xfrm>
            <a:off x="975600" y="1047600"/>
            <a:ext cx="95369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En conversion Bio</a:t>
            </a:r>
            <a:endParaRPr lang="en-US" sz="720" dirty="0"/>
          </a:p>
        </p:txBody>
      </p:sp>
      <p:sp>
        <p:nvSpPr>
          <p:cNvPr id="10" name="Shape 6"/>
          <p:cNvSpPr/>
          <p:nvPr/>
        </p:nvSpPr>
        <p:spPr>
          <a:xfrm>
            <a:off x="2008494" y="1047600"/>
            <a:ext cx="1352190"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2008494" y="10476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2" name="Shape 8"/>
          <p:cNvSpPr/>
          <p:nvPr/>
        </p:nvSpPr>
        <p:spPr>
          <a:xfrm>
            <a:off x="3439884" y="10476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3439884"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7 références</a:t>
            </a:r>
            <a:endParaRPr lang="en-US" sz="720" dirty="0"/>
          </a:p>
        </p:txBody>
      </p:sp>
      <p:pic>
        <p:nvPicPr>
          <p:cNvPr id="14" name="Image 2" descr="le domaine — Domaine de Coyeux">    </p:cNvPr>
          <p:cNvPicPr>
            <a:picLocks noChangeAspect="1"/>
          </p:cNvPicPr>
          <p:nvPr/>
        </p:nvPicPr>
        <p:blipFill>
          <a:blip r:embed="rId3"/>
          <a:srcRect l="2570" r="2693" t="0" b="0"/>
          <a:stretch/>
        </p:blipFill>
        <p:spPr>
          <a:xfrm>
            <a:off x="828000" y="1357200"/>
            <a:ext cx="1440000" cy="1440000"/>
          </a:xfrm>
          <a:prstGeom prst="ellipse">
            <a:avLst/>
          </a:prstGeom>
        </p:spPr>
      </p:pic>
      <p:pic>
        <p:nvPicPr>
          <p:cNvPr id="15" name="Image 3" descr="Une bouteille du domaine Domaine de Coyeux">    </p:cNvPr>
          <p:cNvPicPr>
            <a:picLocks noChangeAspect="1"/>
          </p:cNvPicPr>
          <p:nvPr/>
        </p:nvPicPr>
        <p:blipFill>
          <a:blip r:embed="rId4"/>
          <a:stretch>
            <a:fillRect/>
          </a:stretch>
        </p:blipFill>
        <p:spPr>
          <a:xfrm>
            <a:off x="6217180" y="1357200"/>
            <a:ext cx="597639" cy="2232000"/>
          </a:xfrm>
          <a:prstGeom prst="rect">
            <a:avLst/>
          </a:prstGeom>
        </p:spPr>
      </p:pic>
      <p:sp>
        <p:nvSpPr>
          <p:cNvPr id="16" name="Text 10"/>
          <p:cNvSpPr/>
          <p:nvPr/>
        </p:nvSpPr>
        <p:spPr>
          <a:xfrm>
            <a:off x="2394017" y="1174495"/>
            <a:ext cx="195795" cy="324104"/>
          </a:xfrm>
          <a:prstGeom prst="rect">
            <a:avLst/>
          </a:prstGeom>
          <a:noFill/>
          <a:ln/>
        </p:spPr>
        <p:txBody>
          <a:bodyPr wrap="square" lIns="0" tIns="0" rIns="0" bIns="0" rtlCol="0" anchor="t"/>
          <a:lstStyle/>
          <a:p>
            <a:pPr algn="r" indent="0" marL="0">
              <a:lnSpc>
                <a:spcPct val="125600"/>
              </a:lnSpc>
              <a:buNone/>
            </a:pPr>
            <a:r>
              <a:rPr lang="en-US" sz="1595" dirty="0">
                <a:solidFill>
                  <a:srgbClr val="67067C"/>
                </a:solidFill>
                <a:latin typeface="Young Serif" pitchFamily="34" charset="0"/>
                <a:ea typeface="Young Serif" pitchFamily="34" charset="-122"/>
                <a:cs typeface="Young Serif" pitchFamily="34" charset="-120"/>
              </a:rPr>
              <a:t>P</a:t>
            </a:r>
            <a:endParaRPr lang="en-US" sz="1595" dirty="0"/>
          </a:p>
        </p:txBody>
      </p:sp>
      <p:sp>
        <p:nvSpPr>
          <p:cNvPr id="17" name="Text 11"/>
          <p:cNvSpPr/>
          <p:nvPr/>
        </p:nvSpPr>
        <p:spPr>
          <a:xfrm>
            <a:off x="2448000" y="1257820"/>
            <a:ext cx="3456000" cy="2813930"/>
          </a:xfrm>
          <a:prstGeom prst="rect">
            <a:avLst/>
          </a:prstGeom>
          <a:noFill/>
          <a:ln/>
        </p:spPr>
        <p:txBody>
          <a:bodyPr wrap="square" lIns="0" tIns="0" rIns="0" bIns="0" rtlCol="0" anchor="t"/>
          <a:lstStyle/>
          <a:p>
            <a:pPr indent="0" marL="0">
              <a:lnSpc>
                <a:spcPct val="142000"/>
              </a:lnSpc>
              <a:buNone/>
            </a:pPr>
            <a:r>
              <a:rPr lang="en-US" sz="950" dirty="0">
                <a:solidFill>
                  <a:srgbClr val="46606E"/>
                </a:solidFill>
                <a:latin typeface="Spectral" pitchFamily="34" charset="0"/>
                <a:ea typeface="Spectral" pitchFamily="34" charset="-122"/>
                <a:cs typeface="Spectral" pitchFamily="34" charset="-120"/>
              </a:rPr>
              <a:t>     ropriété du groupe Maisons &amp; Vignobles Strasser-Radziwill depuis 2022, le Domaine de Coyeux niché au pied des Dentelles de Montmirail s’étend sur 120 hectares d’un seul tenant, au sein de l’aire de l’appellation viticole Beaumes-de-Venise. Dans ce superbe environnement naturel, le domaine est constitué de bois, de garrigue et de vignes. Le vignoble du Domaine de Coyeux s’étend sur la formation géologique du Trias, un sol très ancien qui confère aux vins une qualité exceptionnelle. Les premières vignes du domaine de Coyeux datent des années 1950. Aujourd’hui, les vins sont issus d’un vignoble âgé de 40 à 70 ans et de parcelles plus récentes. Le domaine bénéficie de l’abri naturel de la colline. Son exposition au sud favorise un ensoleillement idéal. À 300 mètres d’altitude, la température est plus fraîche et participe à l’élégance des vins de Coyeux.</a:t>
            </a:r>
            <a:endParaRPr lang="en-US" sz="95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828000" y="423375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198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Palette</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Gigondas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Coyeux</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2021</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13,20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Beaumes de Venise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Jumelles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2021</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Beaumes de Venise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banquettes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Méditerranée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5,25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Méditerranée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Première Fleur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5,25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Muscat BDV</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Solera</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Muscat BDV</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Vintage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10,00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828000" y="7196105"/>
            <a:ext cx="0" cy="288349"/>
          </a:xfrm>
          <a:prstGeom prst="line">
            <a:avLst/>
          </a:prstGeom>
          <a:noFill/>
          <a:ln w="17780">
            <a:solidFill>
              <a:srgbClr val="67067C"/>
            </a:solidFill>
            <a:prstDash val="solid"/>
          </a:ln>
        </p:spPr>
      </p:sp>
      <p:sp>
        <p:nvSpPr>
          <p:cNvPr id="20" name="Text 13"/>
          <p:cNvSpPr/>
          <p:nvPr/>
        </p:nvSpPr>
        <p:spPr>
          <a:xfrm>
            <a:off x="936000" y="7196105"/>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828000" y="8136000"/>
            <a:ext cx="6120000" cy="1980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Les quatre domaines Strasser Radziwill — n°16 p. 29 · n°18 p. 31 · n°19 p. 32</a:t>
            </a:r>
            <a:endParaRPr lang="en-US" sz="740" dirty="0"/>
          </a:p>
        </p:txBody>
      </p:sp>
      <p:sp>
        <p:nvSpPr>
          <p:cNvPr id="22" name="Shape 15"/>
          <p:cNvSpPr/>
          <p:nvPr/>
        </p:nvSpPr>
        <p:spPr>
          <a:xfrm>
            <a:off x="828000" y="8388000"/>
            <a:ext cx="6120000" cy="0"/>
          </a:xfrm>
          <a:prstGeom prst="line">
            <a:avLst/>
          </a:prstGeom>
          <a:noFill/>
          <a:ln w="8890">
            <a:solidFill>
              <a:srgbClr val="46606E"/>
            </a:solidFill>
            <a:prstDash val="solid"/>
          </a:ln>
        </p:spPr>
      </p:sp>
      <p:sp>
        <p:nvSpPr>
          <p:cNvPr id="23" name="Text 16"/>
          <p:cNvSpPr/>
          <p:nvPr/>
        </p:nvSpPr>
        <p:spPr>
          <a:xfrm>
            <a:off x="828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4" name="Text 17"/>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5" name="Text 18"/>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30</a:t>
            </a:r>
            <a:endParaRPr lang="en-US" sz="750" dirty="0"/>
          </a:p>
        </p:txBody>
      </p:sp>
      <p:sp>
        <p:nvSpPr>
          <p:cNvPr id="26" name="Text 19"/>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rho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18</a:t>
            </a:r>
            <a:r>
              <a:rPr lang="en-US" sz="2000" dirty="0">
                <a:solidFill>
                  <a:srgbClr val="46606E"/>
                </a:solidFill>
                <a:latin typeface="Young Serif" pitchFamily="34" charset="0"/>
                <a:ea typeface="Young Serif" pitchFamily="34" charset="-122"/>
                <a:cs typeface="Young Serif" pitchFamily="34" charset="-120"/>
              </a:rPr>
              <a:t>   Domaine du Moulin Blanc</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1101294"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conversion.png">    </p:cNvPr>
          <p:cNvPicPr>
            <a:picLocks noChangeAspect="1"/>
          </p:cNvPicPr>
          <p:nvPr/>
        </p:nvPicPr>
        <p:blipFill>
          <a:blip r:embed="rId2"/>
          <a:stretch>
            <a:fillRect/>
          </a:stretch>
        </p:blipFill>
        <p:spPr>
          <a:xfrm>
            <a:off x="684000" y="1083600"/>
            <a:ext cx="108000" cy="108000"/>
          </a:xfrm>
          <a:prstGeom prst="rect">
            <a:avLst/>
          </a:prstGeom>
        </p:spPr>
      </p:pic>
      <p:sp>
        <p:nvSpPr>
          <p:cNvPr id="9" name="Text 5"/>
          <p:cNvSpPr/>
          <p:nvPr/>
        </p:nvSpPr>
        <p:spPr>
          <a:xfrm>
            <a:off x="759600" y="1047600"/>
            <a:ext cx="95369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En conversion Bio</a:t>
            </a:r>
            <a:endParaRPr lang="en-US" sz="720" dirty="0"/>
          </a:p>
        </p:txBody>
      </p:sp>
      <p:sp>
        <p:nvSpPr>
          <p:cNvPr id="10" name="Shape 6"/>
          <p:cNvSpPr/>
          <p:nvPr/>
        </p:nvSpPr>
        <p:spPr>
          <a:xfrm>
            <a:off x="1792494" y="1047600"/>
            <a:ext cx="1352190"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792494" y="10476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2" name="Shape 8"/>
          <p:cNvSpPr/>
          <p:nvPr/>
        </p:nvSpPr>
        <p:spPr>
          <a:xfrm>
            <a:off x="3223884" y="10476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3223884"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pic>
        <p:nvPicPr>
          <p:cNvPr id="14" name="Image 2" descr="le couple, recadré au-dessus du verre — Domaine du Moulin Blanc">    </p:cNvPr>
          <p:cNvPicPr>
            <a:picLocks noChangeAspect="1"/>
          </p:cNvPicPr>
          <p:nvPr/>
        </p:nvPicPr>
        <p:blipFill>
          <a:blip r:embed="rId3"/>
          <a:stretch>
            <a:fillRect/>
          </a:stretch>
        </p:blipFill>
        <p:spPr>
          <a:xfrm>
            <a:off x="612000" y="1357200"/>
            <a:ext cx="1440000" cy="1440000"/>
          </a:xfrm>
          <a:prstGeom prst="rect">
            <a:avLst/>
          </a:prstGeom>
        </p:spPr>
      </p:pic>
      <p:sp>
        <p:nvSpPr>
          <p:cNvPr id="15" name="Shape 10"/>
          <p:cNvSpPr/>
          <p:nvPr/>
        </p:nvSpPr>
        <p:spPr>
          <a:xfrm>
            <a:off x="5868000" y="1357200"/>
            <a:ext cx="864000" cy="2232000"/>
          </a:xfrm>
          <a:prstGeom prst="roundRect">
            <a:avLst>
              <a:gd name="adj" fmla="val 2117"/>
            </a:avLst>
          </a:prstGeom>
          <a:solidFill>
            <a:srgbClr val="F2EADA"/>
          </a:solidFill>
          <a:ln w="12700">
            <a:solidFill>
              <a:srgbClr val="46606E"/>
            </a:solidFill>
            <a:prstDash val="dash"/>
          </a:ln>
        </p:spPr>
      </p:sp>
      <p:sp>
        <p:nvSpPr>
          <p:cNvPr id="16" name="Text 11"/>
          <p:cNvSpPr/>
          <p:nvPr/>
        </p:nvSpPr>
        <p:spPr>
          <a:xfrm>
            <a:off x="5868000" y="1357200"/>
            <a:ext cx="864000" cy="2232000"/>
          </a:xfrm>
          <a:prstGeom prst="rect">
            <a:avLst/>
          </a:prstGeom>
          <a:noFill/>
          <a:ln/>
        </p:spPr>
        <p:txBody>
          <a:bodyPr wrap="square" lIns="0" tIns="0" rIns="0" bIns="0" rtlCol="0" anchor="ctr"/>
          <a:lstStyle/>
          <a:p>
            <a:pPr algn="ctr" indent="0" marL="0">
              <a:buNone/>
            </a:pPr>
            <a:r>
              <a:rPr lang="en-US" sz="620" b="1" dirty="0">
                <a:solidFill>
                  <a:srgbClr val="46606E">
                    <a:alpha val="50000"/>
                  </a:srgbClr>
                </a:solidFill>
                <a:latin typeface="IBM Plex Sans" pitchFamily="34" charset="0"/>
                <a:ea typeface="IBM Plex Sans" pitchFamily="34" charset="-122"/>
                <a:cs typeface="IBM Plex Sans" pitchFamily="34" charset="-120"/>
              </a:rPr>
              <a:t>BOUTEILLE</a:t>
            </a:r>
            <a:endParaRPr lang="en-US" sz="620" dirty="0"/>
          </a:p>
        </p:txBody>
      </p:sp>
      <p:sp>
        <p:nvSpPr>
          <p:cNvPr id="17" name="Text 12"/>
          <p:cNvSpPr/>
          <p:nvPr/>
        </p:nvSpPr>
        <p:spPr>
          <a:xfrm>
            <a:off x="2177970" y="1318030"/>
            <a:ext cx="199812" cy="322682"/>
          </a:xfrm>
          <a:prstGeom prst="rect">
            <a:avLst/>
          </a:prstGeom>
          <a:noFill/>
          <a:ln/>
        </p:spPr>
        <p:txBody>
          <a:bodyPr wrap="square" lIns="0" tIns="0" rIns="0" bIns="0" rtlCol="0" anchor="t"/>
          <a:lstStyle/>
          <a:p>
            <a:pPr algn="r" indent="0" marL="0">
              <a:lnSpc>
                <a:spcPct val="126600"/>
              </a:lnSpc>
              <a:buNone/>
            </a:pPr>
            <a:r>
              <a:rPr lang="en-US" sz="1588" dirty="0">
                <a:solidFill>
                  <a:srgbClr val="67067C"/>
                </a:solidFill>
                <a:latin typeface="Young Serif" pitchFamily="34" charset="0"/>
                <a:ea typeface="Young Serif" pitchFamily="34" charset="-122"/>
                <a:cs typeface="Young Serif" pitchFamily="34" charset="-120"/>
              </a:rPr>
              <a:t>S</a:t>
            </a:r>
            <a:endParaRPr lang="en-US" sz="1588" dirty="0"/>
          </a:p>
        </p:txBody>
      </p:sp>
      <p:sp>
        <p:nvSpPr>
          <p:cNvPr id="18" name="Text 13"/>
          <p:cNvSpPr/>
          <p:nvPr/>
        </p:nvSpPr>
        <p:spPr>
          <a:xfrm>
            <a:off x="2232000" y="1397825"/>
            <a:ext cx="3456000" cy="2191275"/>
          </a:xfrm>
          <a:prstGeom prst="rect">
            <a:avLst/>
          </a:prstGeom>
          <a:noFill/>
          <a:ln/>
        </p:spPr>
        <p:txBody>
          <a:bodyPr wrap="square" lIns="0" tIns="0" rIns="0" bIns="0" rtlCol="0" anchor="t"/>
          <a:lstStyle/>
          <a:p>
            <a:pPr indent="0" marL="0">
              <a:lnSpc>
                <a:spcPct val="142000"/>
              </a:lnSpc>
              <a:buNone/>
            </a:pPr>
            <a:r>
              <a:rPr lang="en-US" sz="975" dirty="0">
                <a:solidFill>
                  <a:srgbClr val="46606E"/>
                </a:solidFill>
                <a:latin typeface="Spectral" pitchFamily="34" charset="0"/>
                <a:ea typeface="Spectral" pitchFamily="34" charset="-122"/>
                <a:cs typeface="Spectral" pitchFamily="34" charset="-120"/>
              </a:rPr>
              <a:t>     itué au cœur d’un terroir d’exception, le Domaine du Moulin Blanc incarne l’authenticité et le savoir-faire viticole transmis de génération en génération. Alliant tradition et modernité, le domaine cultive ses vignes avec passion et rigueur pour produire des vins reflétant toute la richesse de leurs origines. Le vignoble s’étend sur un sol généreux, bénéficiant d’un climat idéal, propice à l’expression de cépages nobles et typiques. Chaque cuvée est élaborée avec soin, dans le respect de l’environnement et du cycle naturel de la vigne, pour offrir des vins équilibrés, élégants et sincères.</a:t>
            </a:r>
            <a:endParaRPr lang="en-US" sz="975"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612000" y="37511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198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Palette</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53008">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Tavel</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Côtes du Rhône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Côtes du Rhône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0" name="Shape 14"/>
          <p:cNvSpPr/>
          <p:nvPr/>
        </p:nvSpPr>
        <p:spPr>
          <a:xfrm>
            <a:off x="612000" y="4920671"/>
            <a:ext cx="0" cy="288349"/>
          </a:xfrm>
          <a:prstGeom prst="line">
            <a:avLst/>
          </a:prstGeom>
          <a:noFill/>
          <a:ln w="17780">
            <a:solidFill>
              <a:srgbClr val="67067C"/>
            </a:solidFill>
            <a:prstDash val="solid"/>
          </a:ln>
        </p:spPr>
      </p:sp>
      <p:sp>
        <p:nvSpPr>
          <p:cNvPr id="21" name="Text 15"/>
          <p:cNvSpPr/>
          <p:nvPr/>
        </p:nvSpPr>
        <p:spPr>
          <a:xfrm>
            <a:off x="720000" y="4920671"/>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2" name="Text 16"/>
          <p:cNvSpPr/>
          <p:nvPr/>
        </p:nvSpPr>
        <p:spPr>
          <a:xfrm>
            <a:off x="612000" y="5353021"/>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RHÔNE — SABLES, GRÈS ET TRIAS</a:t>
            </a:r>
            <a:endParaRPr lang="en-US" sz="720" dirty="0"/>
          </a:p>
        </p:txBody>
      </p:sp>
      <p:pic>
        <p:nvPicPr>
          <p:cNvPr id="23" name="Image 3" descr="/home/user/philippe1/build/deco-catalogue-scio-2026/sol-rhone.png">    </p:cNvPr>
          <p:cNvPicPr>
            <a:picLocks noChangeAspect="1"/>
          </p:cNvPicPr>
          <p:nvPr/>
        </p:nvPicPr>
        <p:blipFill>
          <a:blip r:embed="rId4"/>
          <a:stretch>
            <a:fillRect/>
          </a:stretch>
        </p:blipFill>
        <p:spPr>
          <a:xfrm>
            <a:off x="612000" y="5500621"/>
            <a:ext cx="6120000" cy="1301246"/>
          </a:xfrm>
          <a:prstGeom prst="rect">
            <a:avLst/>
          </a:prstGeom>
        </p:spPr>
      </p:pic>
      <p:sp>
        <p:nvSpPr>
          <p:cNvPr id="24" name="Text 17"/>
          <p:cNvSpPr/>
          <p:nvPr/>
        </p:nvSpPr>
        <p:spPr>
          <a:xfrm>
            <a:off x="612000" y="8136000"/>
            <a:ext cx="6120000" cy="1980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Les quatre domaines Strasser Radziwill — n°16 p. 29 · n°17 p. 30 · n°19 p. 32</a:t>
            </a:r>
            <a:endParaRPr lang="en-US" sz="740" dirty="0"/>
          </a:p>
        </p:txBody>
      </p:sp>
      <p:sp>
        <p:nvSpPr>
          <p:cNvPr id="25" name="Shape 18"/>
          <p:cNvSpPr/>
          <p:nvPr/>
        </p:nvSpPr>
        <p:spPr>
          <a:xfrm>
            <a:off x="612000" y="8388000"/>
            <a:ext cx="6120000" cy="0"/>
          </a:xfrm>
          <a:prstGeom prst="line">
            <a:avLst/>
          </a:prstGeom>
          <a:noFill/>
          <a:ln w="8890">
            <a:solidFill>
              <a:srgbClr val="46606E"/>
            </a:solidFill>
            <a:prstDash val="solid"/>
          </a:ln>
        </p:spPr>
      </p:sp>
      <p:sp>
        <p:nvSpPr>
          <p:cNvPr id="26" name="Text 19"/>
          <p:cNvSpPr/>
          <p:nvPr/>
        </p:nvSpPr>
        <p:spPr>
          <a:xfrm>
            <a:off x="612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7" name="Text 20"/>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28" name="Text 21"/>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31</a:t>
            </a:r>
            <a:endParaRPr lang="en-US" sz="750" dirty="0"/>
          </a:p>
        </p:txBody>
      </p:sp>
      <p:sp>
        <p:nvSpPr>
          <p:cNvPr id="29" name="Text 22"/>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rho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19</a:t>
            </a:r>
            <a:r>
              <a:rPr lang="en-US" sz="2000" dirty="0">
                <a:solidFill>
                  <a:srgbClr val="46606E"/>
                </a:solidFill>
                <a:latin typeface="Young Serif" pitchFamily="34" charset="0"/>
                <a:ea typeface="Young Serif" pitchFamily="34" charset="-122"/>
                <a:cs typeface="Young Serif" pitchFamily="34" charset="-120"/>
              </a:rPr>
              <a:t>   Domaine de la Pousterle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1101294"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conversion.png">    </p:cNvPr>
          <p:cNvPicPr>
            <a:picLocks noChangeAspect="1"/>
          </p:cNvPicPr>
          <p:nvPr/>
        </p:nvPicPr>
        <p:blipFill>
          <a:blip r:embed="rId2"/>
          <a:stretch>
            <a:fillRect/>
          </a:stretch>
        </p:blipFill>
        <p:spPr>
          <a:xfrm>
            <a:off x="900000" y="1083600"/>
            <a:ext cx="108000" cy="108000"/>
          </a:xfrm>
          <a:prstGeom prst="rect">
            <a:avLst/>
          </a:prstGeom>
        </p:spPr>
      </p:pic>
      <p:sp>
        <p:nvSpPr>
          <p:cNvPr id="9" name="Text 5"/>
          <p:cNvSpPr/>
          <p:nvPr/>
        </p:nvSpPr>
        <p:spPr>
          <a:xfrm>
            <a:off x="975600" y="1047600"/>
            <a:ext cx="95369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En conversion Bio</a:t>
            </a:r>
            <a:endParaRPr lang="en-US" sz="720" dirty="0"/>
          </a:p>
        </p:txBody>
      </p:sp>
      <p:sp>
        <p:nvSpPr>
          <p:cNvPr id="10" name="Shape 6"/>
          <p:cNvSpPr/>
          <p:nvPr/>
        </p:nvSpPr>
        <p:spPr>
          <a:xfrm>
            <a:off x="2008494" y="1047600"/>
            <a:ext cx="1352190"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2008494" y="10476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2" name="Shape 8"/>
          <p:cNvSpPr/>
          <p:nvPr/>
        </p:nvSpPr>
        <p:spPr>
          <a:xfrm>
            <a:off x="3439884" y="10476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3439884"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5 références</a:t>
            </a:r>
            <a:endParaRPr lang="en-US" sz="720" dirty="0"/>
          </a:p>
        </p:txBody>
      </p:sp>
      <p:pic>
        <p:nvPicPr>
          <p:cNvPr id="14" name="Image 2" descr="vendanges dans les vignes — Domaine de la Pousterle">    </p:cNvPr>
          <p:cNvPicPr>
            <a:picLocks noChangeAspect="1"/>
          </p:cNvPicPr>
          <p:nvPr/>
        </p:nvPicPr>
        <p:blipFill>
          <a:blip r:embed="rId3"/>
          <a:srcRect l="0" r="10156" t="0" b="0"/>
          <a:stretch/>
        </p:blipFill>
        <p:spPr>
          <a:xfrm>
            <a:off x="828000" y="1357200"/>
            <a:ext cx="1440000" cy="1440000"/>
          </a:xfrm>
          <a:prstGeom prst="ellipse">
            <a:avLst/>
          </a:prstGeom>
        </p:spPr>
      </p:pic>
      <p:pic>
        <p:nvPicPr>
          <p:cNvPr id="15" name="Image 3" descr="Une bouteille du domaine Domaine de la Pousterle">    </p:cNvPr>
          <p:cNvPicPr>
            <a:picLocks noChangeAspect="1"/>
          </p:cNvPicPr>
          <p:nvPr/>
        </p:nvPicPr>
        <p:blipFill>
          <a:blip r:embed="rId4"/>
          <a:stretch>
            <a:fillRect/>
          </a:stretch>
        </p:blipFill>
        <p:spPr>
          <a:xfrm>
            <a:off x="6223279" y="1357200"/>
            <a:ext cx="585443" cy="2232000"/>
          </a:xfrm>
          <a:prstGeom prst="rect">
            <a:avLst/>
          </a:prstGeom>
        </p:spPr>
      </p:pic>
      <p:sp>
        <p:nvSpPr>
          <p:cNvPr id="16" name="Text 10"/>
          <p:cNvSpPr/>
          <p:nvPr/>
        </p:nvSpPr>
        <p:spPr>
          <a:xfrm>
            <a:off x="2393990" y="1288254"/>
            <a:ext cx="203760" cy="331419"/>
          </a:xfrm>
          <a:prstGeom prst="rect">
            <a:avLst/>
          </a:prstGeom>
          <a:noFill/>
          <a:ln/>
        </p:spPr>
        <p:txBody>
          <a:bodyPr wrap="square" lIns="0" tIns="0" rIns="0" bIns="0" rtlCol="0" anchor="t"/>
          <a:lstStyle/>
          <a:p>
            <a:pPr algn="r" indent="0" marL="0">
              <a:lnSpc>
                <a:spcPct val="126500"/>
              </a:lnSpc>
              <a:buNone/>
            </a:pPr>
            <a:r>
              <a:rPr lang="en-US" sz="1631" dirty="0">
                <a:solidFill>
                  <a:srgbClr val="67067C"/>
                </a:solidFill>
                <a:latin typeface="Young Serif" pitchFamily="34" charset="0"/>
                <a:ea typeface="Young Serif" pitchFamily="34" charset="-122"/>
                <a:cs typeface="Young Serif" pitchFamily="34" charset="-120"/>
              </a:rPr>
              <a:t>S</a:t>
            </a:r>
            <a:endParaRPr lang="en-US" sz="1631" dirty="0"/>
          </a:p>
        </p:txBody>
      </p:sp>
      <p:sp>
        <p:nvSpPr>
          <p:cNvPr id="17" name="Text 11"/>
          <p:cNvSpPr/>
          <p:nvPr/>
        </p:nvSpPr>
        <p:spPr>
          <a:xfrm>
            <a:off x="2448000" y="1370362"/>
            <a:ext cx="3456000" cy="2218739"/>
          </a:xfrm>
          <a:prstGeom prst="rect">
            <a:avLst/>
          </a:prstGeom>
          <a:noFill/>
          <a:ln/>
        </p:spPr>
        <p:txBody>
          <a:bodyPr wrap="square" lIns="0" tIns="0" rIns="0" bIns="0" rtlCol="0" anchor="t"/>
          <a:lstStyle/>
          <a:p>
            <a:pPr indent="0" marL="0">
              <a:lnSpc>
                <a:spcPct val="142000"/>
              </a:lnSpc>
              <a:buNone/>
            </a:pPr>
            <a:r>
              <a:rPr lang="en-US" sz="1000" dirty="0">
                <a:solidFill>
                  <a:srgbClr val="46606E"/>
                </a:solidFill>
                <a:latin typeface="Spectral" pitchFamily="34" charset="0"/>
                <a:ea typeface="Spectral" pitchFamily="34" charset="-122"/>
                <a:cs typeface="Spectral" pitchFamily="34" charset="-120"/>
              </a:rPr>
              <a:t>     itué au cœur de la vallée du Rhône le Domaine de la Pousterle est un domaine viticole familial qui incarne l’authenticité et la diversité de cette région emblématique. Entouré de collines baignées de soleil et bercé par le mistral, le vignoble bénéficie de conditions idéales pour l’élaboration de vins généreux, expressifs et empreints de caractère. Le domaine cultive avec soins des cépages typiques de la région en alliant traditions viticoles et pratiques respectueuses de l’environnement. Chaque cuvée reflète l’identité du terroir et le savoir faire transmis au fil des générations.</a:t>
            </a:r>
            <a:endParaRPr lang="en-US" sz="10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828000" y="37511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198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Palette</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Pousterle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4,75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France-Syrah</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Pousterle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4,75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Luberon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Terroir d'Ansouis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5,25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4,75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Luberon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Terroir d'Ansouis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2021</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5,25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4,75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Luberon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Terroir d'Ansouis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2021</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5,25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828000" y="6070964"/>
            <a:ext cx="0" cy="288349"/>
          </a:xfrm>
          <a:prstGeom prst="line">
            <a:avLst/>
          </a:prstGeom>
          <a:noFill/>
          <a:ln w="17780">
            <a:solidFill>
              <a:srgbClr val="67067C"/>
            </a:solidFill>
            <a:prstDash val="solid"/>
          </a:ln>
        </p:spPr>
      </p:sp>
      <p:sp>
        <p:nvSpPr>
          <p:cNvPr id="20" name="Text 13"/>
          <p:cNvSpPr/>
          <p:nvPr/>
        </p:nvSpPr>
        <p:spPr>
          <a:xfrm>
            <a:off x="936000" y="6070964"/>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828000" y="6503313"/>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RHÔNE — SABLES, GRÈS ET TRIAS</a:t>
            </a:r>
            <a:endParaRPr lang="en-US" sz="720" dirty="0"/>
          </a:p>
        </p:txBody>
      </p:sp>
      <p:pic>
        <p:nvPicPr>
          <p:cNvPr id="22" name="Image 4" descr="/home/user/philippe1/build/deco-catalogue-scio-2026/sol-rhone.png">    </p:cNvPr>
          <p:cNvPicPr>
            <a:picLocks noChangeAspect="1"/>
          </p:cNvPicPr>
          <p:nvPr/>
        </p:nvPicPr>
        <p:blipFill>
          <a:blip r:embed="rId5"/>
          <a:stretch>
            <a:fillRect/>
          </a:stretch>
        </p:blipFill>
        <p:spPr>
          <a:xfrm>
            <a:off x="828000" y="6650913"/>
            <a:ext cx="6120000" cy="1032851"/>
          </a:xfrm>
          <a:prstGeom prst="rect">
            <a:avLst/>
          </a:prstGeom>
        </p:spPr>
      </p:pic>
      <p:sp>
        <p:nvSpPr>
          <p:cNvPr id="23" name="Text 15"/>
          <p:cNvSpPr/>
          <p:nvPr/>
        </p:nvSpPr>
        <p:spPr>
          <a:xfrm>
            <a:off x="828000" y="8136000"/>
            <a:ext cx="6120000" cy="1980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Les quatre domaines Strasser Radziwill — n°16 p. 29 · n°17 p. 30 · n°18 p. 31</a:t>
            </a:r>
            <a:endParaRPr lang="en-US" sz="740" dirty="0"/>
          </a:p>
        </p:txBody>
      </p:sp>
      <p:sp>
        <p:nvSpPr>
          <p:cNvPr id="24" name="Shape 16"/>
          <p:cNvSpPr/>
          <p:nvPr/>
        </p:nvSpPr>
        <p:spPr>
          <a:xfrm>
            <a:off x="828000" y="8388000"/>
            <a:ext cx="6120000" cy="0"/>
          </a:xfrm>
          <a:prstGeom prst="line">
            <a:avLst/>
          </a:prstGeom>
          <a:noFill/>
          <a:ln w="8890">
            <a:solidFill>
              <a:srgbClr val="46606E"/>
            </a:solidFill>
            <a:prstDash val="solid"/>
          </a:ln>
        </p:spPr>
      </p:sp>
      <p:sp>
        <p:nvSpPr>
          <p:cNvPr id="25" name="Text 17"/>
          <p:cNvSpPr/>
          <p:nvPr/>
        </p:nvSpPr>
        <p:spPr>
          <a:xfrm>
            <a:off x="828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6" name="Text 18"/>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27" name="Text 19"/>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32</a:t>
            </a:r>
            <a:endParaRPr lang="en-US" sz="750" dirty="0"/>
          </a:p>
        </p:txBody>
      </p:sp>
      <p:sp>
        <p:nvSpPr>
          <p:cNvPr id="28" name="Text 20"/>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rho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20</a:t>
            </a:r>
            <a:r>
              <a:rPr lang="en-US" sz="2000" dirty="0">
                <a:solidFill>
                  <a:srgbClr val="46606E"/>
                </a:solidFill>
                <a:latin typeface="Young Serif" pitchFamily="34" charset="0"/>
                <a:ea typeface="Young Serif" pitchFamily="34" charset="-122"/>
                <a:cs typeface="Young Serif" pitchFamily="34" charset="-120"/>
              </a:rPr>
              <a:t>   Domaine des Pasquiers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83600"/>
            <a:ext cx="108000" cy="108000"/>
          </a:xfrm>
          <a:prstGeom prst="rect">
            <a:avLst/>
          </a:prstGeom>
        </p:spPr>
      </p:pic>
      <p:sp>
        <p:nvSpPr>
          <p:cNvPr id="9" name="Text 5"/>
          <p:cNvSpPr/>
          <p:nvPr/>
        </p:nvSpPr>
        <p:spPr>
          <a:xfrm>
            <a:off x="7596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476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177651"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642325" y="10476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42325"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6 références</a:t>
            </a:r>
            <a:endParaRPr lang="en-US" sz="720" dirty="0"/>
          </a:p>
        </p:txBody>
      </p:sp>
      <p:pic>
        <p:nvPicPr>
          <p:cNvPr id="14" name="Image 2" descr="portrait de la famille — Domaine des Pasquiers">    </p:cNvPr>
          <p:cNvPicPr>
            <a:picLocks noChangeAspect="1"/>
          </p:cNvPicPr>
          <p:nvPr/>
        </p:nvPicPr>
        <p:blipFill>
          <a:blip r:embed="rId3"/>
          <a:srcRect l="12500" r="12500" t="0" b="0"/>
          <a:stretch/>
        </p:blipFill>
        <p:spPr>
          <a:xfrm>
            <a:off x="612000" y="1357200"/>
            <a:ext cx="1440000" cy="1440000"/>
          </a:xfrm>
          <a:prstGeom prst="ellipse">
            <a:avLst/>
          </a:prstGeom>
        </p:spPr>
      </p:pic>
      <p:pic>
        <p:nvPicPr>
          <p:cNvPr id="15" name="Image 3" descr="Une bouteille du domaine Domaine des Pasquiers">    </p:cNvPr>
          <p:cNvPicPr>
            <a:picLocks noChangeAspect="1"/>
          </p:cNvPicPr>
          <p:nvPr/>
        </p:nvPicPr>
        <p:blipFill>
          <a:blip r:embed="rId4"/>
          <a:stretch>
            <a:fillRect/>
          </a:stretch>
        </p:blipFill>
        <p:spPr>
          <a:xfrm>
            <a:off x="6001180" y="1357200"/>
            <a:ext cx="597639" cy="2232000"/>
          </a:xfrm>
          <a:prstGeom prst="rect">
            <a:avLst/>
          </a:prstGeom>
        </p:spPr>
      </p:pic>
      <p:sp>
        <p:nvSpPr>
          <p:cNvPr id="16" name="Text 10"/>
          <p:cNvSpPr/>
          <p:nvPr/>
        </p:nvSpPr>
        <p:spPr>
          <a:xfrm>
            <a:off x="2178018" y="1358881"/>
            <a:ext cx="287869" cy="473659"/>
          </a:xfrm>
          <a:prstGeom prst="rect">
            <a:avLst/>
          </a:prstGeom>
          <a:noFill/>
          <a:ln/>
        </p:spPr>
        <p:txBody>
          <a:bodyPr wrap="square" lIns="0" tIns="0" rIns="0" bIns="0" rtlCol="0" anchor="t"/>
          <a:lstStyle/>
          <a:p>
            <a:pPr algn="r" indent="0" marL="0">
              <a:lnSpc>
                <a:spcPct val="123000"/>
              </a:lnSpc>
              <a:buNone/>
            </a:pPr>
            <a:r>
              <a:rPr lang="en-US" sz="2331" dirty="0">
                <a:solidFill>
                  <a:srgbClr val="67067C"/>
                </a:solidFill>
                <a:latin typeface="Young Serif" pitchFamily="34" charset="0"/>
                <a:ea typeface="Young Serif" pitchFamily="34" charset="-122"/>
                <a:cs typeface="Young Serif" pitchFamily="34" charset="-120"/>
              </a:rPr>
              <a:t>D</a:t>
            </a:r>
            <a:endParaRPr lang="en-US" sz="2331" dirty="0"/>
          </a:p>
        </p:txBody>
      </p:sp>
      <p:sp>
        <p:nvSpPr>
          <p:cNvPr id="17" name="Text 11"/>
          <p:cNvSpPr/>
          <p:nvPr/>
        </p:nvSpPr>
        <p:spPr>
          <a:xfrm>
            <a:off x="2232000" y="1492951"/>
            <a:ext cx="3456000" cy="2096149"/>
          </a:xfrm>
          <a:prstGeom prst="rect">
            <a:avLst/>
          </a:prstGeom>
          <a:noFill/>
          <a:ln/>
        </p:spPr>
        <p:txBody>
          <a:bodyPr wrap="square" lIns="0" tIns="0" rIns="0" bIns="0" rtlCol="0" anchor="t"/>
          <a:lstStyle/>
          <a:p>
            <a:pPr indent="0" marL="0">
              <a:lnSpc>
                <a:spcPct val="142000"/>
              </a:lnSpc>
              <a:buNone/>
            </a:pPr>
            <a:r>
              <a:rPr lang="en-US" sz="1275" dirty="0">
                <a:solidFill>
                  <a:srgbClr val="46606E"/>
                </a:solidFill>
                <a:latin typeface="Spectral" pitchFamily="34" charset="0"/>
                <a:ea typeface="Spectral" pitchFamily="34" charset="-122"/>
                <a:cs typeface="Spectral" pitchFamily="34" charset="-120"/>
              </a:rPr>
              <a:t>      epuis 1935, le Domaine des Pasquiers, un lieu viticole de 87 hectares, est niché au cœur de plusieurs appellations prestigieuses de Provence. La propriété tisse l'histoire de la vigne depuis quatre générations avec passion, s'orientant vers une viticulture biologique pour promouvoir la durabilité et le respect de la terre.</a:t>
            </a:r>
            <a:endParaRPr lang="en-US" sz="1275"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612000" y="37511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53008">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Pays de Vaucluse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Côtes du Rhône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CDR villages Plan de Dieu</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CDR villages Sablet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57770">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CDR villages Sablet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7,25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Gigondas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Shape 12"/>
          <p:cNvSpPr/>
          <p:nvPr/>
        </p:nvSpPr>
        <p:spPr>
          <a:xfrm>
            <a:off x="612000" y="5632665"/>
            <a:ext cx="0" cy="288349"/>
          </a:xfrm>
          <a:prstGeom prst="line">
            <a:avLst/>
          </a:prstGeom>
          <a:noFill/>
          <a:ln w="17780">
            <a:solidFill>
              <a:srgbClr val="67067C"/>
            </a:solidFill>
            <a:prstDash val="solid"/>
          </a:ln>
        </p:spPr>
      </p:sp>
      <p:sp>
        <p:nvSpPr>
          <p:cNvPr id="20" name="Text 13"/>
          <p:cNvSpPr/>
          <p:nvPr/>
        </p:nvSpPr>
        <p:spPr>
          <a:xfrm>
            <a:off x="720000" y="5632665"/>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612000" y="6065014"/>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RHÔNE — SABLES, GRÈS ET TRIAS</a:t>
            </a:r>
            <a:endParaRPr lang="en-US" sz="720" dirty="0"/>
          </a:p>
        </p:txBody>
      </p:sp>
      <p:pic>
        <p:nvPicPr>
          <p:cNvPr id="22" name="Image 4" descr="/home/user/philippe1/build/deco-catalogue-scio-2026/sol-rhone.png">    </p:cNvPr>
          <p:cNvPicPr>
            <a:picLocks noChangeAspect="1"/>
          </p:cNvPicPr>
          <p:nvPr/>
        </p:nvPicPr>
        <p:blipFill>
          <a:blip r:embed="rId5"/>
          <a:stretch>
            <a:fillRect/>
          </a:stretch>
        </p:blipFill>
        <p:spPr>
          <a:xfrm>
            <a:off x="612000" y="6212614"/>
            <a:ext cx="6120000" cy="1148400"/>
          </a:xfrm>
          <a:prstGeom prst="rect">
            <a:avLst/>
          </a:prstGeom>
        </p:spPr>
      </p:pic>
      <p:sp>
        <p:nvSpPr>
          <p:cNvPr id="23" name="Shape 15"/>
          <p:cNvSpPr/>
          <p:nvPr/>
        </p:nvSpPr>
        <p:spPr>
          <a:xfrm>
            <a:off x="612000" y="8388000"/>
            <a:ext cx="6120000" cy="0"/>
          </a:xfrm>
          <a:prstGeom prst="line">
            <a:avLst/>
          </a:prstGeom>
          <a:noFill/>
          <a:ln w="8890">
            <a:solidFill>
              <a:srgbClr val="46606E"/>
            </a:solidFill>
            <a:prstDash val="solid"/>
          </a:ln>
        </p:spPr>
      </p:sp>
      <p:sp>
        <p:nvSpPr>
          <p:cNvPr id="24" name="Text 16"/>
          <p:cNvSpPr/>
          <p:nvPr/>
        </p:nvSpPr>
        <p:spPr>
          <a:xfrm>
            <a:off x="612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6" name="Text 18"/>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33</a:t>
            </a:r>
            <a:endParaRPr lang="en-US" sz="750" dirty="0"/>
          </a:p>
        </p:txBody>
      </p:sp>
      <p:sp>
        <p:nvSpPr>
          <p:cNvPr id="27" name="Text 19"/>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rho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21</a:t>
            </a:r>
            <a:r>
              <a:rPr lang="en-US" sz="2000" dirty="0">
                <a:solidFill>
                  <a:srgbClr val="46606E"/>
                </a:solidFill>
                <a:latin typeface="Young Serif" pitchFamily="34" charset="0"/>
                <a:ea typeface="Young Serif" pitchFamily="34" charset="-122"/>
                <a:cs typeface="Young Serif" pitchFamily="34" charset="-120"/>
              </a:rPr>
              <a:t>   Domaine Trichon</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83600"/>
            <a:ext cx="108000" cy="108000"/>
          </a:xfrm>
          <a:prstGeom prst="rect">
            <a:avLst/>
          </a:prstGeom>
        </p:spPr>
      </p:pic>
      <p:sp>
        <p:nvSpPr>
          <p:cNvPr id="9" name="Text 5"/>
          <p:cNvSpPr/>
          <p:nvPr/>
        </p:nvSpPr>
        <p:spPr>
          <a:xfrm>
            <a:off x="9756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476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858325" y="10476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58325"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pic>
        <p:nvPicPr>
          <p:cNvPr id="14" name="Image 2" descr="les deux vignerons, recadrés sur leurs visages — Domaine Trichon">    </p:cNvPr>
          <p:cNvPicPr>
            <a:picLocks noChangeAspect="1"/>
          </p:cNvPicPr>
          <p:nvPr/>
        </p:nvPicPr>
        <p:blipFill>
          <a:blip r:embed="rId3"/>
          <a:stretch>
            <a:fillRect/>
          </a:stretch>
        </p:blipFill>
        <p:spPr>
          <a:xfrm>
            <a:off x="828000" y="1357200"/>
            <a:ext cx="1440000" cy="1440000"/>
          </a:xfrm>
          <a:prstGeom prst="rect">
            <a:avLst/>
          </a:prstGeom>
        </p:spPr>
      </p:pic>
      <p:pic>
        <p:nvPicPr>
          <p:cNvPr id="15" name="Image 3" descr="Une bouteille du domaine Domaine Trichon">    </p:cNvPr>
          <p:cNvPicPr>
            <a:picLocks noChangeAspect="1"/>
          </p:cNvPicPr>
          <p:nvPr/>
        </p:nvPicPr>
        <p:blipFill>
          <a:blip r:embed="rId4"/>
          <a:stretch>
            <a:fillRect/>
          </a:stretch>
        </p:blipFill>
        <p:spPr>
          <a:xfrm>
            <a:off x="6199083" y="1357200"/>
            <a:ext cx="633834" cy="2232000"/>
          </a:xfrm>
          <a:prstGeom prst="rect">
            <a:avLst/>
          </a:prstGeom>
        </p:spPr>
      </p:pic>
      <p:sp>
        <p:nvSpPr>
          <p:cNvPr id="16" name="Text 10"/>
          <p:cNvSpPr/>
          <p:nvPr/>
        </p:nvSpPr>
        <p:spPr>
          <a:xfrm>
            <a:off x="2393985" y="1329391"/>
            <a:ext cx="231546" cy="406400"/>
          </a:xfrm>
          <a:prstGeom prst="rect">
            <a:avLst/>
          </a:prstGeom>
          <a:noFill/>
          <a:ln/>
        </p:spPr>
        <p:txBody>
          <a:bodyPr wrap="square" lIns="0" tIns="0" rIns="0" bIns="0" rtlCol="0" anchor="t"/>
          <a:lstStyle/>
          <a:p>
            <a:pPr algn="r" indent="0" marL="0">
              <a:lnSpc>
                <a:spcPct val="125100"/>
              </a:lnSpc>
              <a:buNone/>
            </a:pPr>
            <a:r>
              <a:rPr lang="en-US" sz="2000" dirty="0">
                <a:solidFill>
                  <a:srgbClr val="67067C"/>
                </a:solidFill>
                <a:latin typeface="Young Serif" pitchFamily="34" charset="0"/>
                <a:ea typeface="Young Serif" pitchFamily="34" charset="-122"/>
                <a:cs typeface="Young Serif" pitchFamily="34" charset="-120"/>
              </a:rPr>
              <a:t>L</a:t>
            </a:r>
            <a:endParaRPr lang="en-US" sz="2000" dirty="0"/>
          </a:p>
        </p:txBody>
      </p:sp>
      <p:sp>
        <p:nvSpPr>
          <p:cNvPr id="17" name="Text 11"/>
          <p:cNvSpPr/>
          <p:nvPr/>
        </p:nvSpPr>
        <p:spPr>
          <a:xfrm>
            <a:off x="2448000" y="1435633"/>
            <a:ext cx="3456000" cy="2153467"/>
          </a:xfrm>
          <a:prstGeom prst="rect">
            <a:avLst/>
          </a:prstGeom>
          <a:noFill/>
          <a:ln/>
        </p:spPr>
        <p:txBody>
          <a:bodyPr wrap="square" lIns="0" tIns="0" rIns="0" bIns="0" rtlCol="0" anchor="t"/>
          <a:lstStyle/>
          <a:p>
            <a:pPr indent="0" marL="0">
              <a:lnSpc>
                <a:spcPct val="142000"/>
              </a:lnSpc>
              <a:buNone/>
            </a:pPr>
            <a:r>
              <a:rPr lang="en-US" sz="1175" dirty="0">
                <a:solidFill>
                  <a:srgbClr val="46606E"/>
                </a:solidFill>
                <a:latin typeface="Spectral" pitchFamily="34" charset="0"/>
                <a:ea typeface="Spectral" pitchFamily="34" charset="-122"/>
                <a:cs typeface="Spectral" pitchFamily="34" charset="-120"/>
              </a:rPr>
              <a:t>     es Vignobles Trichon-Bernard réunissent deux terroirs certifiés en agriculture biologique. Les Côtes du Rhône méridionales donnent le Grenache, la Syrah, le Mourvèdre, la Clairette, le Muscat et le Viognier ; le Bugey donne le Chardonnay, l’Altesse, le Gamay, le Pinot Noir et la Mondeuse. Claire et Stéphane allient leurs savoir-faire à la vigne et dans la création des cuvées.</a:t>
            </a:r>
            <a:endParaRPr lang="en-US" sz="1175"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828000" y="37511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120 cols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300 cols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600 cols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Côtes du Rhône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Côtes du Rhône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4,67</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4,54</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Vacqueyras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Vacqueyras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9,55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9,12</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8,68</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Vacqueyras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Vacqueyras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9,35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8,93</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828000" y="5301523"/>
            <a:ext cx="0" cy="288349"/>
          </a:xfrm>
          <a:prstGeom prst="line">
            <a:avLst/>
          </a:prstGeom>
          <a:noFill/>
          <a:ln w="17780">
            <a:solidFill>
              <a:srgbClr val="67067C"/>
            </a:solidFill>
            <a:prstDash val="solid"/>
          </a:ln>
        </p:spPr>
      </p:sp>
      <p:sp>
        <p:nvSpPr>
          <p:cNvPr id="20" name="Text 13"/>
          <p:cNvSpPr/>
          <p:nvPr/>
        </p:nvSpPr>
        <p:spPr>
          <a:xfrm>
            <a:off x="936000" y="5301523"/>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départ cave.</a:t>
            </a:r>
            <a:endParaRPr lang="en-US" sz="1050" dirty="0"/>
          </a:p>
        </p:txBody>
      </p:sp>
      <p:sp>
        <p:nvSpPr>
          <p:cNvPr id="21" name="Text 14"/>
          <p:cNvSpPr/>
          <p:nvPr/>
        </p:nvSpPr>
        <p:spPr>
          <a:xfrm>
            <a:off x="828000" y="5733872"/>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RHÔNE — SABLES, GRÈS ET TRIAS</a:t>
            </a:r>
            <a:endParaRPr lang="en-US" sz="720" dirty="0"/>
          </a:p>
        </p:txBody>
      </p:sp>
      <p:pic>
        <p:nvPicPr>
          <p:cNvPr id="22" name="Image 4" descr="/home/user/philippe1/build/deco-catalogue-scio-2026/sol-rhone.png">    </p:cNvPr>
          <p:cNvPicPr>
            <a:picLocks noChangeAspect="1"/>
          </p:cNvPicPr>
          <p:nvPr/>
        </p:nvPicPr>
        <p:blipFill>
          <a:blip r:embed="rId5"/>
          <a:stretch>
            <a:fillRect/>
          </a:stretch>
        </p:blipFill>
        <p:spPr>
          <a:xfrm>
            <a:off x="828000" y="5881472"/>
            <a:ext cx="6120000" cy="1315444"/>
          </a:xfrm>
          <a:prstGeom prst="rect">
            <a:avLst/>
          </a:prstGeom>
        </p:spPr>
      </p:pic>
      <p:sp>
        <p:nvSpPr>
          <p:cNvPr id="23" name="Shape 15"/>
          <p:cNvSpPr/>
          <p:nvPr/>
        </p:nvSpPr>
        <p:spPr>
          <a:xfrm>
            <a:off x="828000" y="8388000"/>
            <a:ext cx="6120000" cy="0"/>
          </a:xfrm>
          <a:prstGeom prst="line">
            <a:avLst/>
          </a:prstGeom>
          <a:noFill/>
          <a:ln w="8890">
            <a:solidFill>
              <a:srgbClr val="46606E"/>
            </a:solidFill>
            <a:prstDash val="solid"/>
          </a:ln>
        </p:spPr>
      </p:sp>
      <p:sp>
        <p:nvSpPr>
          <p:cNvPr id="24" name="Text 16"/>
          <p:cNvSpPr/>
          <p:nvPr/>
        </p:nvSpPr>
        <p:spPr>
          <a:xfrm>
            <a:off x="828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6" name="Text 18"/>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34</a:t>
            </a:r>
            <a:endParaRPr lang="en-US" sz="750" dirty="0"/>
          </a:p>
        </p:txBody>
      </p:sp>
      <p:sp>
        <p:nvSpPr>
          <p:cNvPr id="27" name="Text 19"/>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46606E"/>
        </a:solidFill>
      </p:bgPr>
    </p:bg>
    <p:spTree>
      <p:nvGrpSpPr>
        <p:cNvPr id="1" name=""/>
        <p:cNvGrpSpPr/>
        <p:nvPr/>
      </p:nvGrpSpPr>
      <p:grpSpPr>
        <a:xfrm>
          <a:off x="0" y="0"/>
          <a:ext cx="0" cy="0"/>
          <a:chOff x="0" y="0"/>
          <a:chExt cx="0" cy="0"/>
        </a:xfrm>
      </p:grpSpPr>
      <p:pic>
        <p:nvPicPr>
          <p:cNvPr id="2" name="Image 0" descr="/home/user/philippe1/build/deco-catalogue-scio-2026/ouverture-sud-ouest.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catalogue-scio-2026/carotte-sud-ouest.png">    </p:cNvPr>
          <p:cNvPicPr>
            <a:picLocks noChangeAspect="1"/>
          </p:cNvPicPr>
          <p:nvPr/>
        </p:nvPicPr>
        <p:blipFill>
          <a:blip r:embed="rId2"/>
          <a:stretch>
            <a:fillRect/>
          </a:stretch>
        </p:blipFill>
        <p:spPr>
          <a:xfrm>
            <a:off x="7236000" y="0"/>
            <a:ext cx="324000" cy="9360000"/>
          </a:xfrm>
          <a:prstGeom prst="rect">
            <a:avLst/>
          </a:prstGeom>
        </p:spPr>
      </p:pic>
      <p:sp>
        <p:nvSpPr>
          <p:cNvPr id="4"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SUD-OUEST</a:t>
            </a:r>
            <a:endParaRPr lang="en-US" sz="660" dirty="0"/>
          </a:p>
        </p:txBody>
      </p:sp>
      <p:sp>
        <p:nvSpPr>
          <p:cNvPr id="5" name="Text 1"/>
          <p:cNvSpPr/>
          <p:nvPr/>
        </p:nvSpPr>
        <p:spPr>
          <a:xfrm>
            <a:off x="612000" y="540000"/>
            <a:ext cx="792000" cy="216000"/>
          </a:xfrm>
          <a:prstGeom prst="rect">
            <a:avLst/>
          </a:prstGeom>
          <a:noFill/>
          <a:ln/>
        </p:spPr>
        <p:txBody>
          <a:bodyPr wrap="square" lIns="0" tIns="0" rIns="0" bIns="0" rtlCol="0" anchor="ctr"/>
          <a:lstStyle/>
          <a:p>
            <a:pPr algn="ctr" indent="0" marL="0">
              <a:buNone/>
            </a:pPr>
            <a:r>
              <a:rPr lang="en-US" sz="800" b="1" dirty="0">
                <a:solidFill>
                  <a:srgbClr val="FBF8F1"/>
                </a:solidFill>
                <a:latin typeface="IBM Plex Sans" pitchFamily="34" charset="0"/>
                <a:ea typeface="IBM Plex Sans" pitchFamily="34" charset="-122"/>
                <a:cs typeface="IBM Plex Sans" pitchFamily="34" charset="-120"/>
              </a:rPr>
              <a:t>6 / 10</a:t>
            </a:r>
            <a:endParaRPr lang="en-US" sz="800" dirty="0"/>
          </a:p>
        </p:txBody>
      </p:sp>
      <p:sp>
        <p:nvSpPr>
          <p:cNvPr id="6" name="Text 2"/>
          <p:cNvSpPr/>
          <p:nvPr/>
        </p:nvSpPr>
        <p:spPr>
          <a:xfrm>
            <a:off x="612000" y="5112000"/>
            <a:ext cx="5040000" cy="792000"/>
          </a:xfrm>
          <a:prstGeom prst="rect">
            <a:avLst/>
          </a:prstGeom>
          <a:noFill/>
          <a:ln/>
        </p:spPr>
        <p:txBody>
          <a:bodyPr wrap="square" lIns="0" tIns="0" rIns="0" bIns="0" rtlCol="0" anchor="ctr"/>
          <a:lstStyle/>
          <a:p>
            <a:pPr indent="0" marL="0">
              <a:buNone/>
            </a:pPr>
            <a:r>
              <a:rPr lang="en-US" sz="4600" dirty="0">
                <a:solidFill>
                  <a:srgbClr val="FBF8F1"/>
                </a:solidFill>
                <a:latin typeface="Young Serif" pitchFamily="34" charset="0"/>
                <a:ea typeface="Young Serif" pitchFamily="34" charset="-122"/>
                <a:cs typeface="Young Serif" pitchFamily="34" charset="-120"/>
              </a:rPr>
              <a:t>Sud-Ouest</a:t>
            </a:r>
            <a:endParaRPr lang="en-US" sz="4600" dirty="0"/>
          </a:p>
        </p:txBody>
      </p:sp>
      <p:sp>
        <p:nvSpPr>
          <p:cNvPr id="7" name="Text 3"/>
          <p:cNvSpPr/>
          <p:nvPr/>
        </p:nvSpPr>
        <p:spPr>
          <a:xfrm>
            <a:off x="612000" y="5976000"/>
            <a:ext cx="4320000" cy="252000"/>
          </a:xfrm>
          <a:prstGeom prst="rect">
            <a:avLst/>
          </a:prstGeom>
          <a:noFill/>
          <a:ln/>
        </p:spPr>
        <p:txBody>
          <a:bodyPr wrap="square" lIns="0" tIns="0" rIns="0" bIns="0" rtlCol="0" anchor="ctr"/>
          <a:lstStyle/>
          <a:p>
            <a:pPr indent="0" marL="0">
              <a:buNone/>
            </a:pPr>
            <a:r>
              <a:rPr lang="en-US" sz="1200" i="1" dirty="0">
                <a:solidFill>
                  <a:srgbClr val="FBF8F1"/>
                </a:solidFill>
                <a:latin typeface="Spectral" pitchFamily="34" charset="0"/>
                <a:ea typeface="Spectral" pitchFamily="34" charset="-122"/>
                <a:cs typeface="Spectral" pitchFamily="34" charset="-120"/>
              </a:rPr>
              <a:t>sables fauves et fossiles marins</a:t>
            </a:r>
            <a:endParaRPr lang="en-US" sz="1200" dirty="0"/>
          </a:p>
        </p:txBody>
      </p:sp>
      <p:sp>
        <p:nvSpPr>
          <p:cNvPr id="8" name="Text 4"/>
          <p:cNvSpPr/>
          <p:nvPr/>
        </p:nvSpPr>
        <p:spPr>
          <a:xfrm>
            <a:off x="612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3</a:t>
            </a:r>
            <a:endParaRPr lang="en-US" sz="2000" dirty="0"/>
          </a:p>
        </p:txBody>
      </p:sp>
      <p:sp>
        <p:nvSpPr>
          <p:cNvPr id="9" name="Text 5"/>
          <p:cNvSpPr/>
          <p:nvPr/>
        </p:nvSpPr>
        <p:spPr>
          <a:xfrm>
            <a:off x="612000" y="6660000"/>
            <a:ext cx="864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domaines</a:t>
            </a:r>
            <a:endParaRPr lang="en-US" sz="850" dirty="0"/>
          </a:p>
        </p:txBody>
      </p:sp>
      <p:sp>
        <p:nvSpPr>
          <p:cNvPr id="10" name="Text 6"/>
          <p:cNvSpPr/>
          <p:nvPr/>
        </p:nvSpPr>
        <p:spPr>
          <a:xfrm>
            <a:off x="1620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40</a:t>
            </a:r>
            <a:endParaRPr lang="en-US" sz="2000" dirty="0"/>
          </a:p>
        </p:txBody>
      </p:sp>
      <p:sp>
        <p:nvSpPr>
          <p:cNvPr id="11" name="Text 7"/>
          <p:cNvSpPr/>
          <p:nvPr/>
        </p:nvSpPr>
        <p:spPr>
          <a:xfrm>
            <a:off x="1620000" y="6660000"/>
            <a:ext cx="1620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références</a:t>
            </a:r>
            <a:endParaRPr lang="en-US" sz="850" dirty="0"/>
          </a:p>
        </p:txBody>
      </p:sp>
      <p:sp>
        <p:nvSpPr>
          <p:cNvPr id="12" name="Text 8"/>
          <p:cNvSpPr/>
          <p:nvPr/>
        </p:nvSpPr>
        <p:spPr>
          <a:xfrm>
            <a:off x="61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22   </a:t>
            </a:r>
            <a:r>
              <a:rPr lang="en-US" sz="860" dirty="0">
                <a:solidFill>
                  <a:srgbClr val="FBF8F1"/>
                </a:solidFill>
                <a:latin typeface="IBM Plex Sans" pitchFamily="34" charset="0"/>
                <a:ea typeface="IBM Plex Sans" pitchFamily="34" charset="-122"/>
                <a:cs typeface="IBM Plex Sans" pitchFamily="34" charset="-120"/>
              </a:rPr>
              <a:t>Domaine Stratéus</a:t>
            </a:r>
            <a:r>
              <a:rPr lang="en-US" sz="860" b="1" dirty="0">
                <a:solidFill>
                  <a:srgbClr val="FBF8F1"/>
                </a:solidFill>
                <a:latin typeface="IBM Plex Sans" pitchFamily="34" charset="0"/>
                <a:ea typeface="IBM Plex Sans" pitchFamily="34" charset="-122"/>
                <a:cs typeface="IBM Plex Sans" pitchFamily="34" charset="-120"/>
              </a:rPr>
              <a:t>   36</a:t>
            </a:r>
            <a:endParaRPr lang="en-US" sz="860" dirty="0"/>
          </a:p>
        </p:txBody>
      </p:sp>
      <p:sp>
        <p:nvSpPr>
          <p:cNvPr id="13" name="Text 9"/>
          <p:cNvSpPr/>
          <p:nvPr/>
        </p:nvSpPr>
        <p:spPr>
          <a:xfrm>
            <a:off x="367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23   </a:t>
            </a:r>
            <a:r>
              <a:rPr lang="en-US" sz="860" dirty="0">
                <a:solidFill>
                  <a:srgbClr val="FBF8F1"/>
                </a:solidFill>
                <a:latin typeface="IBM Plex Sans" pitchFamily="34" charset="0"/>
                <a:ea typeface="IBM Plex Sans" pitchFamily="34" charset="-122"/>
                <a:cs typeface="IBM Plex Sans" pitchFamily="34" charset="-120"/>
              </a:rPr>
              <a:t>Domaine Haut Marin</a:t>
            </a:r>
            <a:r>
              <a:rPr lang="en-US" sz="860" b="1" dirty="0">
                <a:solidFill>
                  <a:srgbClr val="FBF8F1"/>
                </a:solidFill>
                <a:latin typeface="IBM Plex Sans" pitchFamily="34" charset="0"/>
                <a:ea typeface="IBM Plex Sans" pitchFamily="34" charset="-122"/>
                <a:cs typeface="IBM Plex Sans" pitchFamily="34" charset="-120"/>
              </a:rPr>
              <a:t>   37</a:t>
            </a:r>
            <a:endParaRPr lang="en-US" sz="860" dirty="0"/>
          </a:p>
        </p:txBody>
      </p:sp>
      <p:sp>
        <p:nvSpPr>
          <p:cNvPr id="14" name="Text 10"/>
          <p:cNvSpPr/>
          <p:nvPr/>
        </p:nvSpPr>
        <p:spPr>
          <a:xfrm>
            <a:off x="612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24   </a:t>
            </a:r>
            <a:r>
              <a:rPr lang="en-US" sz="860" dirty="0">
                <a:solidFill>
                  <a:srgbClr val="FBF8F1"/>
                </a:solidFill>
                <a:latin typeface="IBM Plex Sans" pitchFamily="34" charset="0"/>
                <a:ea typeface="IBM Plex Sans" pitchFamily="34" charset="-122"/>
                <a:cs typeface="IBM Plex Sans" pitchFamily="34" charset="-120"/>
              </a:rPr>
              <a:t>Fabien Castaing</a:t>
            </a:r>
            <a:r>
              <a:rPr lang="en-US" sz="860" b="1" dirty="0">
                <a:solidFill>
                  <a:srgbClr val="FBF8F1"/>
                </a:solidFill>
                <a:latin typeface="IBM Plex Sans" pitchFamily="34" charset="0"/>
                <a:ea typeface="IBM Plex Sans" pitchFamily="34" charset="-122"/>
                <a:cs typeface="IBM Plex Sans" pitchFamily="34" charset="-120"/>
              </a:rPr>
              <a:t>   39</a:t>
            </a:r>
            <a:endParaRPr lang="en-US" sz="860" dirty="0"/>
          </a:p>
        </p:txBody>
      </p:sp>
      <p:sp>
        <p:nvSpPr>
          <p:cNvPr id="15" name="Text 11"/>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35</a:t>
            </a:r>
            <a:endParaRPr lang="en-US" sz="750" dirty="0"/>
          </a:p>
        </p:txBody>
      </p:sp>
      <p:sp>
        <p:nvSpPr>
          <p:cNvPr id="16" name="Text 12"/>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sud-ouest.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SUD-OUEST</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22</a:t>
            </a:r>
            <a:r>
              <a:rPr lang="en-US" sz="2000" dirty="0">
                <a:solidFill>
                  <a:srgbClr val="46606E"/>
                </a:solidFill>
                <a:latin typeface="Young Serif" pitchFamily="34" charset="0"/>
                <a:ea typeface="Young Serif" pitchFamily="34" charset="-122"/>
                <a:cs typeface="Young Serif" pitchFamily="34" charset="-120"/>
              </a:rPr>
              <a:t>   Domaine Stratéus</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SUD-OUEST</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1101294"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conversion.png">    </p:cNvPr>
          <p:cNvPicPr>
            <a:picLocks noChangeAspect="1"/>
          </p:cNvPicPr>
          <p:nvPr/>
        </p:nvPicPr>
        <p:blipFill>
          <a:blip r:embed="rId2"/>
          <a:stretch>
            <a:fillRect/>
          </a:stretch>
        </p:blipFill>
        <p:spPr>
          <a:xfrm>
            <a:off x="900000" y="1083600"/>
            <a:ext cx="108000" cy="108000"/>
          </a:xfrm>
          <a:prstGeom prst="rect">
            <a:avLst/>
          </a:prstGeom>
        </p:spPr>
      </p:pic>
      <p:sp>
        <p:nvSpPr>
          <p:cNvPr id="9" name="Text 5"/>
          <p:cNvSpPr/>
          <p:nvPr/>
        </p:nvSpPr>
        <p:spPr>
          <a:xfrm>
            <a:off x="975600" y="1047600"/>
            <a:ext cx="95369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En conversion Bio</a:t>
            </a:r>
            <a:endParaRPr lang="en-US" sz="720" dirty="0"/>
          </a:p>
        </p:txBody>
      </p:sp>
      <p:sp>
        <p:nvSpPr>
          <p:cNvPr id="10" name="Shape 6"/>
          <p:cNvSpPr/>
          <p:nvPr/>
        </p:nvSpPr>
        <p:spPr>
          <a:xfrm>
            <a:off x="2008494" y="1047600"/>
            <a:ext cx="630911" cy="180000"/>
          </a:xfrm>
          <a:prstGeom prst="roundRect">
            <a:avLst>
              <a:gd name="adj" fmla="val 10160"/>
            </a:avLst>
          </a:prstGeom>
          <a:solidFill>
            <a:srgbClr val="67067C"/>
          </a:solidFill>
          <a:ln w="8890">
            <a:solidFill>
              <a:srgbClr val="67067C"/>
            </a:solidFill>
            <a:prstDash val="solid"/>
          </a:ln>
        </p:spPr>
      </p:sp>
      <p:sp>
        <p:nvSpPr>
          <p:cNvPr id="11" name="Text 7"/>
          <p:cNvSpPr/>
          <p:nvPr/>
        </p:nvSpPr>
        <p:spPr>
          <a:xfrm>
            <a:off x="2008494" y="10476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2" name="Shape 8"/>
          <p:cNvSpPr/>
          <p:nvPr/>
        </p:nvSpPr>
        <p:spPr>
          <a:xfrm>
            <a:off x="2718605" y="1047600"/>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2718605"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4183278" y="1047600"/>
            <a:ext cx="732318"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4183278"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6 références</a:t>
            </a:r>
            <a:endParaRPr lang="en-US" sz="720" dirty="0"/>
          </a:p>
        </p:txBody>
      </p:sp>
      <p:pic>
        <p:nvPicPr>
          <p:cNvPr id="16" name="Image 2" descr="logo du domaine — Domaine Stratéus">    </p:cNvPr>
          <p:cNvPicPr>
            <a:picLocks noChangeAspect="1"/>
          </p:cNvPicPr>
          <p:nvPr/>
        </p:nvPicPr>
        <p:blipFill>
          <a:blip r:embed="rId3"/>
          <a:stretch>
            <a:fillRect/>
          </a:stretch>
        </p:blipFill>
        <p:spPr>
          <a:xfrm>
            <a:off x="828000" y="1357200"/>
            <a:ext cx="1440000" cy="1440000"/>
          </a:xfrm>
          <a:prstGeom prst="rect">
            <a:avLst/>
          </a:prstGeom>
        </p:spPr>
      </p:pic>
      <p:pic>
        <p:nvPicPr>
          <p:cNvPr id="17" name="Image 3" descr="Une bouteille du domaine Domaine Stratéus">    </p:cNvPr>
          <p:cNvPicPr>
            <a:picLocks noChangeAspect="1"/>
          </p:cNvPicPr>
          <p:nvPr/>
        </p:nvPicPr>
        <p:blipFill>
          <a:blip r:embed="rId4"/>
          <a:stretch>
            <a:fillRect/>
          </a:stretch>
        </p:blipFill>
        <p:spPr>
          <a:xfrm>
            <a:off x="6272066" y="1357200"/>
            <a:ext cx="487869" cy="2232000"/>
          </a:xfrm>
          <a:prstGeom prst="rect">
            <a:avLst/>
          </a:prstGeom>
        </p:spPr>
      </p:pic>
      <p:sp>
        <p:nvSpPr>
          <p:cNvPr id="18" name="Text 12"/>
          <p:cNvSpPr/>
          <p:nvPr/>
        </p:nvSpPr>
        <p:spPr>
          <a:xfrm>
            <a:off x="2393975" y="1470964"/>
            <a:ext cx="333950" cy="502717"/>
          </a:xfrm>
          <a:prstGeom prst="rect">
            <a:avLst/>
          </a:prstGeom>
          <a:noFill/>
          <a:ln/>
        </p:spPr>
        <p:txBody>
          <a:bodyPr wrap="square" lIns="0" tIns="0" rIns="0" bIns="0" rtlCol="0" anchor="t"/>
          <a:lstStyle/>
          <a:p>
            <a:pPr algn="r" indent="0" marL="0">
              <a:lnSpc>
                <a:spcPct val="121800"/>
              </a:lnSpc>
              <a:buNone/>
            </a:pPr>
            <a:r>
              <a:rPr lang="en-US" sz="2474" dirty="0">
                <a:solidFill>
                  <a:srgbClr val="67067C"/>
                </a:solidFill>
                <a:latin typeface="Young Serif" pitchFamily="34" charset="0"/>
                <a:ea typeface="Young Serif" pitchFamily="34" charset="-122"/>
                <a:cs typeface="Young Serif" pitchFamily="34" charset="-120"/>
              </a:rPr>
              <a:t>N</a:t>
            </a:r>
            <a:endParaRPr lang="en-US" sz="2474" dirty="0"/>
          </a:p>
        </p:txBody>
      </p:sp>
      <p:sp>
        <p:nvSpPr>
          <p:cNvPr id="19" name="Text 13"/>
          <p:cNvSpPr/>
          <p:nvPr/>
        </p:nvSpPr>
        <p:spPr>
          <a:xfrm>
            <a:off x="2448000" y="1619031"/>
            <a:ext cx="3456000" cy="1970070"/>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é de la transmission d’une vigne de 80 ans en Madiran par son grand-père, le projet de Simon cultive la rareté : produire peu pour produire sain. Environ six hectares en Madiran et Pacherenc-du-Vic-Bilh, en symbiose avec un élevage de bœufs Angus sur la ferme.</a:t>
            </a:r>
            <a:endParaRPr lang="en-US" sz="13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828000" y="37511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36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60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Madiran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Koloss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Madiran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Strateus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11,45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Pacherenc du Vic-Bilh Sec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Strateus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11,45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VDF</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Koloss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E1C853"/>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VDF</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Strateus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11,45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Madiran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Néolitik</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15,00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Shape 14"/>
          <p:cNvSpPr/>
          <p:nvPr/>
        </p:nvSpPr>
        <p:spPr>
          <a:xfrm>
            <a:off x="828000" y="6455685"/>
            <a:ext cx="0" cy="288349"/>
          </a:xfrm>
          <a:prstGeom prst="line">
            <a:avLst/>
          </a:prstGeom>
          <a:noFill/>
          <a:ln w="17780">
            <a:solidFill>
              <a:srgbClr val="67067C"/>
            </a:solidFill>
            <a:prstDash val="solid"/>
          </a:ln>
        </p:spPr>
      </p:sp>
      <p:sp>
        <p:nvSpPr>
          <p:cNvPr id="22" name="Text 15"/>
          <p:cNvSpPr/>
          <p:nvPr/>
        </p:nvSpPr>
        <p:spPr>
          <a:xfrm>
            <a:off x="936000" y="6455685"/>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23" name="Text 16"/>
          <p:cNvSpPr/>
          <p:nvPr/>
        </p:nvSpPr>
        <p:spPr>
          <a:xfrm>
            <a:off x="828000" y="6888034"/>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SUD-OUEST — SABLES FAUVES ET FOSSILES MARINS</a:t>
            </a:r>
            <a:endParaRPr lang="en-US" sz="720" dirty="0"/>
          </a:p>
        </p:txBody>
      </p:sp>
      <p:pic>
        <p:nvPicPr>
          <p:cNvPr id="24" name="Image 4" descr="/home/user/philippe1/build/deco-catalogue-scio-2026/sol-sud-ouest.png">    </p:cNvPr>
          <p:cNvPicPr>
            <a:picLocks noChangeAspect="1"/>
          </p:cNvPicPr>
          <p:nvPr/>
        </p:nvPicPr>
        <p:blipFill>
          <a:blip r:embed="rId5"/>
          <a:stretch>
            <a:fillRect/>
          </a:stretch>
        </p:blipFill>
        <p:spPr>
          <a:xfrm>
            <a:off x="828000" y="7035634"/>
            <a:ext cx="6120000" cy="1052645"/>
          </a:xfrm>
          <a:prstGeom prst="rect">
            <a:avLst/>
          </a:prstGeom>
        </p:spPr>
      </p:pic>
      <p:sp>
        <p:nvSpPr>
          <p:cNvPr id="25" name="Shape 17"/>
          <p:cNvSpPr/>
          <p:nvPr/>
        </p:nvSpPr>
        <p:spPr>
          <a:xfrm>
            <a:off x="828000" y="8388000"/>
            <a:ext cx="6120000" cy="0"/>
          </a:xfrm>
          <a:prstGeom prst="line">
            <a:avLst/>
          </a:prstGeom>
          <a:noFill/>
          <a:ln w="8890">
            <a:solidFill>
              <a:srgbClr val="46606E"/>
            </a:solidFill>
            <a:prstDash val="solid"/>
          </a:ln>
        </p:spPr>
      </p:sp>
      <p:sp>
        <p:nvSpPr>
          <p:cNvPr id="26" name="Text 18"/>
          <p:cNvSpPr/>
          <p:nvPr/>
        </p:nvSpPr>
        <p:spPr>
          <a:xfrm>
            <a:off x="828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7" name="Text 19"/>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 Doux     pictos de l’Agence SCIO, pas les logos officiels</a:t>
            </a:r>
            <a:endParaRPr lang="en-US" sz="650" dirty="0"/>
          </a:p>
        </p:txBody>
      </p:sp>
      <p:sp>
        <p:nvSpPr>
          <p:cNvPr id="28" name="Text 20"/>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36</a:t>
            </a:r>
            <a:endParaRPr lang="en-US" sz="750" dirty="0"/>
          </a:p>
        </p:txBody>
      </p:sp>
      <p:sp>
        <p:nvSpPr>
          <p:cNvPr id="29" name="Text 21"/>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sud-ouest.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SUD-OUEST</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23</a:t>
            </a:r>
            <a:r>
              <a:rPr lang="en-US" sz="2000" dirty="0">
                <a:solidFill>
                  <a:srgbClr val="46606E"/>
                </a:solidFill>
                <a:latin typeface="Young Serif" pitchFamily="34" charset="0"/>
                <a:ea typeface="Young Serif" pitchFamily="34" charset="-122"/>
                <a:cs typeface="Young Serif" pitchFamily="34" charset="-120"/>
              </a:rPr>
              <a:t>   Domaine Haut Marin</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SUD-OUEST</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604592"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hve.png">    </p:cNvPr>
          <p:cNvPicPr>
            <a:picLocks noChangeAspect="1"/>
          </p:cNvPicPr>
          <p:nvPr/>
        </p:nvPicPr>
        <p:blipFill>
          <a:blip r:embed="rId2"/>
          <a:stretch>
            <a:fillRect/>
          </a:stretch>
        </p:blipFill>
        <p:spPr>
          <a:xfrm>
            <a:off x="684000" y="1083600"/>
            <a:ext cx="108000" cy="108000"/>
          </a:xfrm>
          <a:prstGeom prst="rect">
            <a:avLst/>
          </a:prstGeom>
        </p:spPr>
      </p:pic>
      <p:sp>
        <p:nvSpPr>
          <p:cNvPr id="9" name="Text 5"/>
          <p:cNvSpPr/>
          <p:nvPr/>
        </p:nvSpPr>
        <p:spPr>
          <a:xfrm>
            <a:off x="759600" y="1047600"/>
            <a:ext cx="456992"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 3</a:t>
            </a:r>
            <a:endParaRPr lang="en-US" sz="720" dirty="0"/>
          </a:p>
        </p:txBody>
      </p:sp>
      <p:sp>
        <p:nvSpPr>
          <p:cNvPr id="10" name="Shape 6"/>
          <p:cNvSpPr/>
          <p:nvPr/>
        </p:nvSpPr>
        <p:spPr>
          <a:xfrm>
            <a:off x="1295792" y="10476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295792"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760466" y="1047600"/>
            <a:ext cx="864357" cy="180000"/>
          </a:xfrm>
          <a:prstGeom prst="roundRect">
            <a:avLst>
              <a:gd name="adj" fmla="val 10160"/>
            </a:avLst>
          </a:prstGeom>
          <a:solidFill>
            <a:srgbClr val="D08C3C"/>
          </a:solidFill>
          <a:ln w="8890">
            <a:solidFill>
              <a:srgbClr val="D08C3C"/>
            </a:solidFill>
            <a:prstDash val="solid"/>
          </a:ln>
        </p:spPr>
      </p:sp>
      <p:sp>
        <p:nvSpPr>
          <p:cNvPr id="13" name="Text 9"/>
          <p:cNvSpPr/>
          <p:nvPr/>
        </p:nvSpPr>
        <p:spPr>
          <a:xfrm>
            <a:off x="2760466" y="1047600"/>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4" name="Shape 10"/>
          <p:cNvSpPr/>
          <p:nvPr/>
        </p:nvSpPr>
        <p:spPr>
          <a:xfrm>
            <a:off x="3704023" y="10476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704023"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21 références</a:t>
            </a:r>
            <a:endParaRPr lang="en-US" sz="720" dirty="0"/>
          </a:p>
        </p:txBody>
      </p:sp>
      <p:pic>
        <p:nvPicPr>
          <p:cNvPr id="16" name="Image 2" descr="logo du domaine — Domaine Haut Marin">    </p:cNvPr>
          <p:cNvPicPr>
            <a:picLocks noChangeAspect="1"/>
          </p:cNvPicPr>
          <p:nvPr/>
        </p:nvPicPr>
        <p:blipFill>
          <a:blip r:embed="rId3"/>
          <a:stretch>
            <a:fillRect/>
          </a:stretch>
        </p:blipFill>
        <p:spPr>
          <a:xfrm>
            <a:off x="612000" y="1357200"/>
            <a:ext cx="1440000" cy="1440000"/>
          </a:xfrm>
          <a:prstGeom prst="rect">
            <a:avLst/>
          </a:prstGeom>
        </p:spPr>
      </p:pic>
      <p:pic>
        <p:nvPicPr>
          <p:cNvPr id="17" name="Image 3" descr="Une bouteille du domaine Domaine Haut Marin">    </p:cNvPr>
          <p:cNvPicPr>
            <a:picLocks noChangeAspect="1"/>
          </p:cNvPicPr>
          <p:nvPr/>
        </p:nvPicPr>
        <p:blipFill>
          <a:blip r:embed="rId4"/>
          <a:stretch>
            <a:fillRect/>
          </a:stretch>
        </p:blipFill>
        <p:spPr>
          <a:xfrm>
            <a:off x="6028623" y="1357200"/>
            <a:ext cx="542754" cy="2232000"/>
          </a:xfrm>
          <a:prstGeom prst="rect">
            <a:avLst/>
          </a:prstGeom>
        </p:spPr>
      </p:pic>
      <p:sp>
        <p:nvSpPr>
          <p:cNvPr id="18" name="Text 12"/>
          <p:cNvSpPr/>
          <p:nvPr/>
        </p:nvSpPr>
        <p:spPr>
          <a:xfrm>
            <a:off x="2177992" y="1329261"/>
            <a:ext cx="292658" cy="505765"/>
          </a:xfrm>
          <a:prstGeom prst="rect">
            <a:avLst/>
          </a:prstGeom>
          <a:noFill/>
          <a:ln/>
        </p:spPr>
        <p:txBody>
          <a:bodyPr wrap="square" lIns="0" tIns="0" rIns="0" bIns="0" rtlCol="0" anchor="t"/>
          <a:lstStyle/>
          <a:p>
            <a:pPr algn="r" indent="0" marL="0">
              <a:lnSpc>
                <a:spcPct val="121600"/>
              </a:lnSpc>
              <a:buNone/>
            </a:pPr>
            <a:r>
              <a:rPr lang="en-US" sz="2489" dirty="0">
                <a:solidFill>
                  <a:srgbClr val="67067C"/>
                </a:solidFill>
                <a:latin typeface="Young Serif" pitchFamily="34" charset="0"/>
                <a:ea typeface="Young Serif" pitchFamily="34" charset="-122"/>
                <a:cs typeface="Young Serif" pitchFamily="34" charset="-120"/>
              </a:rPr>
              <a:t>E</a:t>
            </a:r>
            <a:endParaRPr lang="en-US" sz="2489" dirty="0"/>
          </a:p>
        </p:txBody>
      </p:sp>
      <p:sp>
        <p:nvSpPr>
          <p:cNvPr id="19" name="Text 13"/>
          <p:cNvSpPr/>
          <p:nvPr/>
        </p:nvSpPr>
        <p:spPr>
          <a:xfrm>
            <a:off x="2232000" y="1479080"/>
            <a:ext cx="3456000" cy="2110020"/>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n plein cœur de la Gascogne à Gondrin, les familles Jegerlehner et Prataviera subliment sables fauves et sous-sols argilo-calcaires riches en fossiles marins. Cette fraîcheur insuffle aux cépages gascons éclat aromatique et vivacité saline. IGP Côtes de Gascogne et Bas-Armagnacs.</a:t>
            </a:r>
            <a:endParaRPr lang="en-US" sz="130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612000" y="3751100"/>
          <a:ext cx="6120000" cy="914400"/>
        </p:xfrm>
        <a:graphic>
          <a:graphicData uri="http://schemas.openxmlformats.org/drawingml/2006/table">
            <a:tbl>
              <a:tblPr/>
              <a:tblGrid>
                <a:gridCol w="216000"/>
                <a:gridCol w="2988000"/>
                <a:gridCol w="540000"/>
                <a:gridCol w="504000"/>
                <a:gridCol w="624000"/>
                <a:gridCol w="624000"/>
                <a:gridCol w="624000"/>
              </a:tblGrid>
              <a:tr h="407194">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72 bouteilles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300 bouteilles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600 bouteilles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N°1 Littorine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2,68</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2,28</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N°2 Amande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2,79</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2,38</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N°6 Fossiles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2,99</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2,91</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2,56</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Cuvée Denise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3,74</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3,63</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3,18</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E1C853"/>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N°7 Venus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3,45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3,35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3,08</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E1C853"/>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N°8 Grand Pavois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3,98</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3,87</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N°3 Gulf Stream</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2,99</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2,91</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2,56</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N°4 Triton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2,99</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2,91</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2,56</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Cuvée Philippe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3,31</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3,22</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2,84</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4"/>
          <p:cNvSpPr/>
          <p:nvPr/>
        </p:nvSpPr>
        <p:spPr>
          <a:xfrm>
            <a:off x="612000" y="8388000"/>
            <a:ext cx="6120000" cy="0"/>
          </a:xfrm>
          <a:prstGeom prst="line">
            <a:avLst/>
          </a:prstGeom>
          <a:noFill/>
          <a:ln w="8890">
            <a:solidFill>
              <a:srgbClr val="46606E"/>
            </a:solidFill>
            <a:prstDash val="solid"/>
          </a:ln>
        </p:spPr>
      </p:sp>
      <p:sp>
        <p:nvSpPr>
          <p:cNvPr id="22" name="Text 15"/>
          <p:cNvSpPr/>
          <p:nvPr/>
        </p:nvSpPr>
        <p:spPr>
          <a:xfrm>
            <a:off x="612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16 · 17 · 44 · 79 · 85</a:t>
            </a:r>
            <a:endParaRPr lang="en-US" sz="720" dirty="0"/>
          </a:p>
        </p:txBody>
      </p:sp>
      <p:sp>
        <p:nvSpPr>
          <p:cNvPr id="23" name="Text 16"/>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Rosé    ● Rouge    ● Doux    ● Spiritueux     pictos de l’Agence SCIO, pas les logos officiels</a:t>
            </a:r>
            <a:endParaRPr lang="en-US" sz="650" dirty="0"/>
          </a:p>
        </p:txBody>
      </p:sp>
      <p:sp>
        <p:nvSpPr>
          <p:cNvPr id="24" name="Text 17"/>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37</a:t>
            </a:r>
            <a:endParaRPr lang="en-US" sz="750" dirty="0"/>
          </a:p>
        </p:txBody>
      </p:sp>
      <p:sp>
        <p:nvSpPr>
          <p:cNvPr id="25" name="Text 18"/>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sud-ouest.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SUD-OUEST</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23</a:t>
            </a:r>
            <a:r>
              <a:rPr lang="en-US" sz="2000" dirty="0">
                <a:solidFill>
                  <a:srgbClr val="46606E"/>
                </a:solidFill>
                <a:latin typeface="Young Serif" pitchFamily="34" charset="0"/>
                <a:ea typeface="Young Serif" pitchFamily="34" charset="-122"/>
                <a:cs typeface="Young Serif" pitchFamily="34" charset="-120"/>
              </a:rPr>
              <a:t>   Domaine Haut Marin</a:t>
            </a:r>
            <a:r>
              <a:rPr lang="en-US" sz="1100" i="1" dirty="0">
                <a:solidFill>
                  <a:srgbClr val="A8515F"/>
                </a:solidFill>
                <a:latin typeface="Spectral" pitchFamily="34" charset="0"/>
                <a:ea typeface="Spectral" pitchFamily="34" charset="-122"/>
                <a:cs typeface="Spectral" pitchFamily="34" charset="-120"/>
              </a:rPr>
              <a:t>  (suite)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SUD-OUEST</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604592"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hve.png">    </p:cNvPr>
          <p:cNvPicPr>
            <a:picLocks noChangeAspect="1"/>
          </p:cNvPicPr>
          <p:nvPr/>
        </p:nvPicPr>
        <p:blipFill>
          <a:blip r:embed="rId2"/>
          <a:stretch>
            <a:fillRect/>
          </a:stretch>
        </p:blipFill>
        <p:spPr>
          <a:xfrm>
            <a:off x="900000" y="1083600"/>
            <a:ext cx="108000" cy="108000"/>
          </a:xfrm>
          <a:prstGeom prst="rect">
            <a:avLst/>
          </a:prstGeom>
        </p:spPr>
      </p:pic>
      <p:sp>
        <p:nvSpPr>
          <p:cNvPr id="9" name="Text 5"/>
          <p:cNvSpPr/>
          <p:nvPr/>
        </p:nvSpPr>
        <p:spPr>
          <a:xfrm>
            <a:off x="975600" y="1047600"/>
            <a:ext cx="456992"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 3</a:t>
            </a:r>
            <a:endParaRPr lang="en-US" sz="720" dirty="0"/>
          </a:p>
        </p:txBody>
      </p:sp>
      <p:sp>
        <p:nvSpPr>
          <p:cNvPr id="10" name="Shape 6"/>
          <p:cNvSpPr/>
          <p:nvPr/>
        </p:nvSpPr>
        <p:spPr>
          <a:xfrm>
            <a:off x="1511792" y="10476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511792"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976466" y="1047600"/>
            <a:ext cx="864357" cy="180000"/>
          </a:xfrm>
          <a:prstGeom prst="roundRect">
            <a:avLst>
              <a:gd name="adj" fmla="val 10160"/>
            </a:avLst>
          </a:prstGeom>
          <a:solidFill>
            <a:srgbClr val="D08C3C"/>
          </a:solidFill>
          <a:ln w="8890">
            <a:solidFill>
              <a:srgbClr val="D08C3C"/>
            </a:solidFill>
            <a:prstDash val="solid"/>
          </a:ln>
        </p:spPr>
      </p:sp>
      <p:sp>
        <p:nvSpPr>
          <p:cNvPr id="13" name="Text 9"/>
          <p:cNvSpPr/>
          <p:nvPr/>
        </p:nvSpPr>
        <p:spPr>
          <a:xfrm>
            <a:off x="2976466" y="1047600"/>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4" name="Shape 10"/>
          <p:cNvSpPr/>
          <p:nvPr/>
        </p:nvSpPr>
        <p:spPr>
          <a:xfrm>
            <a:off x="3920023" y="10476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920023"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21 références</a:t>
            </a:r>
            <a:endParaRPr lang="en-US" sz="72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828000" y="1357200"/>
          <a:ext cx="6120000" cy="914400"/>
        </p:xfrm>
        <a:graphic>
          <a:graphicData uri="http://schemas.openxmlformats.org/drawingml/2006/table">
            <a:tbl>
              <a:tblPr/>
              <a:tblGrid>
                <a:gridCol w="216000"/>
                <a:gridCol w="2988000"/>
                <a:gridCol w="540000"/>
                <a:gridCol w="504000"/>
                <a:gridCol w="624000"/>
                <a:gridCol w="624000"/>
                <a:gridCol w="624000"/>
              </a:tblGrid>
              <a:tr h="407194">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 (SUITE)</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72 bouteilles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300 bouteilles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600 bouteilles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N°10</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N°10</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graphicFrame>
        <p:nvGraphicFramePr>
          <p:cNvPr id="77" name="Table 1"/>
          <p:cNvGraphicFramePr>
            <a:graphicFrameLocks noGrp="1"/>
          </p:cNvGraphicFramePr>
          <p:nvPr>
            <p:extLst>
              <p:ext uri="{D42A27DB-BD31-4B8C-83A1-F6EECF244321}">
                <p14:modId xmlns:p14="http://schemas.microsoft.com/office/powerpoint/2010/main" val="1579011935"/>
              </p:ext>
            </p:extLst>
          </p:nvPr>
        </p:nvGraphicFramePr>
        <p:xfrm>
          <a:off x="828000" y="2695835"/>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 · ARMAGNAC</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8A623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Bas-Armagnac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Blanche Armagnac</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70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22,00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8A623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Bas-Armagnac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Réserve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70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25,00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8A623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Bas-Armagnac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V.S.O.P.</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70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28,00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8A623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Bas-Armagnac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X.O.</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70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30,00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8A623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Bas-Armagnac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Hors d'Age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70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33,00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8A623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Bas-Armagnac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Millésimés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2000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70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39,00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8A623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Bas-Armagnac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Millésimés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1990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70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49,00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graphicFrame>
        <p:nvGraphicFramePr>
          <p:cNvPr id="115" name="Table 2"/>
          <p:cNvGraphicFramePr>
            <a:graphicFrameLocks noGrp="1"/>
          </p:cNvGraphicFramePr>
          <p:nvPr>
            <p:extLst>
              <p:ext uri="{D42A27DB-BD31-4B8C-83A1-F6EECF244321}">
                <p14:modId xmlns:p14="http://schemas.microsoft.com/office/powerpoint/2010/main" val="1579011935"/>
              </p:ext>
            </p:extLst>
          </p:nvPr>
        </p:nvGraphicFramePr>
        <p:xfrm>
          <a:off x="828000" y="5799423"/>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BIB · BAG-IN-BOX</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Amande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3 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7,75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Gulf Stream</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5 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Triton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10 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20,25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828000" y="7288528"/>
            <a:ext cx="0" cy="288349"/>
          </a:xfrm>
          <a:prstGeom prst="line">
            <a:avLst/>
          </a:prstGeom>
          <a:noFill/>
          <a:ln w="17780">
            <a:solidFill>
              <a:srgbClr val="67067C"/>
            </a:solidFill>
            <a:prstDash val="solid"/>
          </a:ln>
        </p:spPr>
      </p:sp>
      <p:sp>
        <p:nvSpPr>
          <p:cNvPr id="20" name="Text 13"/>
          <p:cNvSpPr/>
          <p:nvPr/>
        </p:nvSpPr>
        <p:spPr>
          <a:xfrm>
            <a:off x="936000" y="7288528"/>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Shape 14"/>
          <p:cNvSpPr/>
          <p:nvPr/>
        </p:nvSpPr>
        <p:spPr>
          <a:xfrm>
            <a:off x="828000" y="8388000"/>
            <a:ext cx="6120000" cy="0"/>
          </a:xfrm>
          <a:prstGeom prst="line">
            <a:avLst/>
          </a:prstGeom>
          <a:noFill/>
          <a:ln w="8890">
            <a:solidFill>
              <a:srgbClr val="46606E"/>
            </a:solidFill>
            <a:prstDash val="solid"/>
          </a:ln>
        </p:spPr>
      </p:sp>
      <p:sp>
        <p:nvSpPr>
          <p:cNvPr id="22" name="Text 15"/>
          <p:cNvSpPr/>
          <p:nvPr/>
        </p:nvSpPr>
        <p:spPr>
          <a:xfrm>
            <a:off x="828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16 · 17 · 44 · 79 · 85</a:t>
            </a:r>
            <a:endParaRPr lang="en-US" sz="720" dirty="0"/>
          </a:p>
        </p:txBody>
      </p:sp>
      <p:sp>
        <p:nvSpPr>
          <p:cNvPr id="23" name="Text 16"/>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Rosé    ● Rouge    ● Doux    ● Spiritueux     pictos de l’Agence SCIO, pas les logos officiels</a:t>
            </a:r>
            <a:endParaRPr lang="en-US" sz="650" dirty="0"/>
          </a:p>
        </p:txBody>
      </p:sp>
      <p:sp>
        <p:nvSpPr>
          <p:cNvPr id="24" name="Text 17"/>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38</a:t>
            </a:r>
            <a:endParaRPr lang="en-US" sz="750" dirty="0"/>
          </a:p>
        </p:txBody>
      </p:sp>
      <p:sp>
        <p:nvSpPr>
          <p:cNvPr id="25" name="Text 18"/>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sud-ouest.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SUD-OUEST</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24</a:t>
            </a:r>
            <a:r>
              <a:rPr lang="en-US" sz="2000" dirty="0">
                <a:solidFill>
                  <a:srgbClr val="46606E"/>
                </a:solidFill>
                <a:latin typeface="Young Serif" pitchFamily="34" charset="0"/>
                <a:ea typeface="Young Serif" pitchFamily="34" charset="-122"/>
                <a:cs typeface="Young Serif" pitchFamily="34" charset="-120"/>
              </a:rPr>
              <a:t>   Fabien Castaing</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SUD-OUEST</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83600"/>
            <a:ext cx="108000" cy="108000"/>
          </a:xfrm>
          <a:prstGeom prst="rect">
            <a:avLst/>
          </a:prstGeom>
        </p:spPr>
      </p:pic>
      <p:sp>
        <p:nvSpPr>
          <p:cNvPr id="9" name="Text 5"/>
          <p:cNvSpPr/>
          <p:nvPr/>
        </p:nvSpPr>
        <p:spPr>
          <a:xfrm>
            <a:off x="7596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47600"/>
            <a:ext cx="528148" cy="180000"/>
          </a:xfrm>
          <a:prstGeom prst="roundRect">
            <a:avLst>
              <a:gd name="adj" fmla="val 10160"/>
            </a:avLst>
          </a:prstGeom>
          <a:solidFill>
            <a:srgbClr val="F2EADA"/>
          </a:solidFill>
          <a:ln w="8890">
            <a:solidFill>
              <a:srgbClr val="3C5B47"/>
            </a:solidFill>
            <a:prstDash val="solid"/>
          </a:ln>
        </p:spPr>
      </p:sp>
      <p:pic>
        <p:nvPicPr>
          <p:cNvPr id="11" name="Image 2" descr="/home/user/philippe1/build/deco-catalogue-scio-2026/label-hve.png">    </p:cNvPr>
          <p:cNvPicPr>
            <a:picLocks noChangeAspect="1"/>
          </p:cNvPicPr>
          <p:nvPr/>
        </p:nvPicPr>
        <p:blipFill>
          <a:blip r:embed="rId3"/>
          <a:stretch>
            <a:fillRect/>
          </a:stretch>
        </p:blipFill>
        <p:spPr>
          <a:xfrm>
            <a:off x="1249651" y="1083600"/>
            <a:ext cx="108000" cy="108000"/>
          </a:xfrm>
          <a:prstGeom prst="rect">
            <a:avLst/>
          </a:prstGeom>
        </p:spPr>
      </p:pic>
      <p:sp>
        <p:nvSpPr>
          <p:cNvPr id="12" name="Text 7"/>
          <p:cNvSpPr/>
          <p:nvPr/>
        </p:nvSpPr>
        <p:spPr>
          <a:xfrm>
            <a:off x="1325251" y="10476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3" name="Shape 8"/>
          <p:cNvSpPr/>
          <p:nvPr/>
        </p:nvSpPr>
        <p:spPr>
          <a:xfrm>
            <a:off x="1785000" y="1047600"/>
            <a:ext cx="1385474" cy="180000"/>
          </a:xfrm>
          <a:prstGeom prst="roundRect">
            <a:avLst>
              <a:gd name="adj" fmla="val 10160"/>
            </a:avLst>
          </a:prstGeom>
          <a:solidFill>
            <a:srgbClr val="F2EADA"/>
          </a:solidFill>
          <a:ln w="8890">
            <a:solidFill>
              <a:srgbClr val="A8515F"/>
            </a:solidFill>
            <a:prstDash val="solid"/>
          </a:ln>
        </p:spPr>
      </p:sp>
      <p:sp>
        <p:nvSpPr>
          <p:cNvPr id="14" name="Text 9"/>
          <p:cNvSpPr/>
          <p:nvPr/>
        </p:nvSpPr>
        <p:spPr>
          <a:xfrm>
            <a:off x="1785000"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5" name="Shape 10"/>
          <p:cNvSpPr/>
          <p:nvPr/>
        </p:nvSpPr>
        <p:spPr>
          <a:xfrm>
            <a:off x="3249673" y="1047600"/>
            <a:ext cx="864357" cy="180000"/>
          </a:xfrm>
          <a:prstGeom prst="roundRect">
            <a:avLst>
              <a:gd name="adj" fmla="val 10160"/>
            </a:avLst>
          </a:prstGeom>
          <a:solidFill>
            <a:srgbClr val="D08C3C"/>
          </a:solidFill>
          <a:ln w="8890">
            <a:solidFill>
              <a:srgbClr val="D08C3C"/>
            </a:solidFill>
            <a:prstDash val="solid"/>
          </a:ln>
        </p:spPr>
      </p:sp>
      <p:sp>
        <p:nvSpPr>
          <p:cNvPr id="16" name="Text 11"/>
          <p:cNvSpPr/>
          <p:nvPr/>
        </p:nvSpPr>
        <p:spPr>
          <a:xfrm>
            <a:off x="3249673" y="1047600"/>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7" name="Shape 12"/>
          <p:cNvSpPr/>
          <p:nvPr/>
        </p:nvSpPr>
        <p:spPr>
          <a:xfrm>
            <a:off x="4193230" y="1047600"/>
            <a:ext cx="787182" cy="180000"/>
          </a:xfrm>
          <a:prstGeom prst="roundRect">
            <a:avLst>
              <a:gd name="adj" fmla="val 10160"/>
            </a:avLst>
          </a:prstGeom>
          <a:solidFill>
            <a:srgbClr val="F2EADA"/>
          </a:solidFill>
          <a:ln w="8890">
            <a:solidFill>
              <a:srgbClr val="46606E"/>
            </a:solidFill>
            <a:prstDash val="solid"/>
          </a:ln>
        </p:spPr>
      </p:sp>
      <p:sp>
        <p:nvSpPr>
          <p:cNvPr id="18" name="Text 13"/>
          <p:cNvSpPr/>
          <p:nvPr/>
        </p:nvSpPr>
        <p:spPr>
          <a:xfrm>
            <a:off x="4193230"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13 références</a:t>
            </a:r>
            <a:endParaRPr lang="en-US" sz="720" dirty="0"/>
          </a:p>
        </p:txBody>
      </p:sp>
      <p:pic>
        <p:nvPicPr>
          <p:cNvPr id="19" name="Image 3" descr="portrait du vigneron dans ses vignes — Fabien Castaing">    </p:cNvPr>
          <p:cNvPicPr>
            <a:picLocks noChangeAspect="1"/>
          </p:cNvPicPr>
          <p:nvPr/>
        </p:nvPicPr>
        <p:blipFill>
          <a:blip r:embed="rId4"/>
          <a:srcRect l="0" r="0" t="8320" b="16680"/>
          <a:stretch/>
        </p:blipFill>
        <p:spPr>
          <a:xfrm>
            <a:off x="612000" y="1357200"/>
            <a:ext cx="1440000" cy="1440000"/>
          </a:xfrm>
          <a:prstGeom prst="ellipse">
            <a:avLst/>
          </a:prstGeom>
        </p:spPr>
      </p:pic>
      <p:pic>
        <p:nvPicPr>
          <p:cNvPr id="20" name="Image 4" descr="Une bouteille du domaine Fabien Castaing">    </p:cNvPr>
          <p:cNvPicPr>
            <a:picLocks noChangeAspect="1"/>
          </p:cNvPicPr>
          <p:nvPr/>
        </p:nvPicPr>
        <p:blipFill>
          <a:blip r:embed="rId5"/>
          <a:stretch>
            <a:fillRect/>
          </a:stretch>
        </p:blipFill>
        <p:spPr>
          <a:xfrm>
            <a:off x="6023794" y="1357200"/>
            <a:ext cx="552412" cy="2232000"/>
          </a:xfrm>
          <a:prstGeom prst="rect">
            <a:avLst/>
          </a:prstGeom>
        </p:spPr>
      </p:pic>
      <p:sp>
        <p:nvSpPr>
          <p:cNvPr id="21" name="Text 14"/>
          <p:cNvSpPr/>
          <p:nvPr/>
        </p:nvSpPr>
        <p:spPr>
          <a:xfrm>
            <a:off x="2177975" y="1402836"/>
            <a:ext cx="219650" cy="379171"/>
          </a:xfrm>
          <a:prstGeom prst="rect">
            <a:avLst/>
          </a:prstGeom>
          <a:noFill/>
          <a:ln/>
        </p:spPr>
        <p:txBody>
          <a:bodyPr wrap="square" lIns="0" tIns="0" rIns="0" bIns="0" rtlCol="0" anchor="t"/>
          <a:lstStyle/>
          <a:p>
            <a:pPr algn="r" indent="0" marL="0">
              <a:lnSpc>
                <a:spcPct val="125200"/>
              </a:lnSpc>
              <a:buNone/>
            </a:pPr>
            <a:r>
              <a:rPr lang="en-US" sz="1866" dirty="0">
                <a:solidFill>
                  <a:srgbClr val="67067C"/>
                </a:solidFill>
                <a:latin typeface="Young Serif" pitchFamily="34" charset="0"/>
                <a:ea typeface="Young Serif" pitchFamily="34" charset="-122"/>
                <a:cs typeface="Young Serif" pitchFamily="34" charset="-120"/>
              </a:rPr>
              <a:t>L</a:t>
            </a:r>
            <a:endParaRPr lang="en-US" sz="1866" dirty="0"/>
          </a:p>
        </p:txBody>
      </p:sp>
      <p:sp>
        <p:nvSpPr>
          <p:cNvPr id="22" name="Text 15"/>
          <p:cNvSpPr/>
          <p:nvPr/>
        </p:nvSpPr>
        <p:spPr>
          <a:xfrm>
            <a:off x="2232000" y="1501556"/>
            <a:ext cx="3456000" cy="2087545"/>
          </a:xfrm>
          <a:prstGeom prst="rect">
            <a:avLst/>
          </a:prstGeom>
          <a:noFill/>
          <a:ln/>
        </p:spPr>
        <p:txBody>
          <a:bodyPr wrap="square" lIns="0" tIns="0" rIns="0" bIns="0" rtlCol="0" anchor="t"/>
          <a:lstStyle/>
          <a:p>
            <a:pPr indent="0" marL="0">
              <a:lnSpc>
                <a:spcPct val="142000"/>
              </a:lnSpc>
              <a:buNone/>
            </a:pPr>
            <a:r>
              <a:rPr lang="en-US" sz="1100" dirty="0">
                <a:solidFill>
                  <a:srgbClr val="46606E"/>
                </a:solidFill>
                <a:latin typeface="Spectral" pitchFamily="34" charset="0"/>
                <a:ea typeface="Spectral" pitchFamily="34" charset="-122"/>
                <a:cs typeface="Spectral" pitchFamily="34" charset="-120"/>
              </a:rPr>
              <a:t>     e Domaine de Moulin-Pouzy, ancré en Dordogne, est l'héritage historique des Castaing depuis 1898, résultant d'un art viticole transmis avec flamme. Fabien Castaing, digne représentant de la 5ème génération, s'engage avec ferveur à perpétuer les traditions et les valeurs familiales : une passion profonde pour le terroir, un profond respect de l'environnement et un savoir-faire vigneron authentique.</a:t>
            </a:r>
            <a:endParaRPr lang="en-US" sz="110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612000" y="3751100"/>
          <a:ext cx="6120000" cy="914400"/>
        </p:xfrm>
        <a:graphic>
          <a:graphicData uri="http://schemas.openxmlformats.org/drawingml/2006/table">
            <a:tbl>
              <a:tblPr/>
              <a:tblGrid>
                <a:gridCol w="216000"/>
                <a:gridCol w="2988000"/>
                <a:gridCol w="540000"/>
                <a:gridCol w="504000"/>
                <a:gridCol w="936000"/>
                <a:gridCol w="936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180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E1C853"/>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Monbazillac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Classiques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Bergerac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Classiques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4,05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Périgord</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Adn 24</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2,95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Périgord</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Adn 24</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2,95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Périgord</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Adn 24</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2,95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4" name="Text 16"/>
          <p:cNvSpPr/>
          <p:nvPr/>
        </p:nvSpPr>
        <p:spPr>
          <a:xfrm>
            <a:off x="612000" y="6067247"/>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SUD-OUEST — SABLES FAUVES ET FOSSILES MARINS</a:t>
            </a:r>
            <a:endParaRPr lang="en-US" sz="720" dirty="0"/>
          </a:p>
        </p:txBody>
      </p:sp>
      <p:pic>
        <p:nvPicPr>
          <p:cNvPr id="25" name="Image 5" descr="/home/user/philippe1/build/deco-catalogue-scio-2026/sol-sud-ouest.png">    </p:cNvPr>
          <p:cNvPicPr>
            <a:picLocks noChangeAspect="1"/>
          </p:cNvPicPr>
          <p:nvPr/>
        </p:nvPicPr>
        <p:blipFill>
          <a:blip r:embed="rId6"/>
          <a:stretch>
            <a:fillRect/>
          </a:stretch>
        </p:blipFill>
        <p:spPr>
          <a:xfrm>
            <a:off x="612000" y="6214847"/>
            <a:ext cx="6120000" cy="1148400"/>
          </a:xfrm>
          <a:prstGeom prst="rect">
            <a:avLst/>
          </a:prstGeom>
        </p:spPr>
      </p:pic>
      <p:sp>
        <p:nvSpPr>
          <p:cNvPr id="26" name="Shape 17"/>
          <p:cNvSpPr/>
          <p:nvPr/>
        </p:nvSpPr>
        <p:spPr>
          <a:xfrm>
            <a:off x="612000" y="8388000"/>
            <a:ext cx="6120000" cy="0"/>
          </a:xfrm>
          <a:prstGeom prst="line">
            <a:avLst/>
          </a:prstGeom>
          <a:noFill/>
          <a:ln w="8890">
            <a:solidFill>
              <a:srgbClr val="46606E"/>
            </a:solidFill>
            <a:prstDash val="solid"/>
          </a:ln>
        </p:spPr>
      </p:sp>
      <p:sp>
        <p:nvSpPr>
          <p:cNvPr id="27" name="Text 18"/>
          <p:cNvSpPr/>
          <p:nvPr/>
        </p:nvSpPr>
        <p:spPr>
          <a:xfrm>
            <a:off x="612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8" name="Text 19"/>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 Doux    ● Bière     pictos de l’Agence SCIO, pas les logos officiels</a:t>
            </a:r>
            <a:endParaRPr lang="en-US" sz="650" dirty="0"/>
          </a:p>
        </p:txBody>
      </p:sp>
      <p:sp>
        <p:nvSpPr>
          <p:cNvPr id="29" name="Text 20"/>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39</a:t>
            </a:r>
            <a:endParaRPr lang="en-US" sz="750" dirty="0"/>
          </a:p>
        </p:txBody>
      </p:sp>
      <p:sp>
        <p:nvSpPr>
          <p:cNvPr id="30" name="Text 21"/>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sud-ouest.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SUD-OUEST</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24</a:t>
            </a:r>
            <a:r>
              <a:rPr lang="en-US" sz="2000" dirty="0">
                <a:solidFill>
                  <a:srgbClr val="46606E"/>
                </a:solidFill>
                <a:latin typeface="Young Serif" pitchFamily="34" charset="0"/>
                <a:ea typeface="Young Serif" pitchFamily="34" charset="-122"/>
                <a:cs typeface="Young Serif" pitchFamily="34" charset="-120"/>
              </a:rPr>
              <a:t>   Fabien Castaing</a:t>
            </a:r>
            <a:r>
              <a:rPr lang="en-US" sz="1100" i="1" dirty="0">
                <a:solidFill>
                  <a:srgbClr val="A8515F"/>
                </a:solidFill>
                <a:latin typeface="Spectral" pitchFamily="34" charset="0"/>
                <a:ea typeface="Spectral" pitchFamily="34" charset="-122"/>
                <a:cs typeface="Spectral" pitchFamily="34" charset="-120"/>
              </a:rPr>
              <a:t>  (suite)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SUD-OUEST</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83600"/>
            <a:ext cx="108000" cy="108000"/>
          </a:xfrm>
          <a:prstGeom prst="rect">
            <a:avLst/>
          </a:prstGeom>
        </p:spPr>
      </p:pic>
      <p:sp>
        <p:nvSpPr>
          <p:cNvPr id="9" name="Text 5"/>
          <p:cNvSpPr/>
          <p:nvPr/>
        </p:nvSpPr>
        <p:spPr>
          <a:xfrm>
            <a:off x="9756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47600"/>
            <a:ext cx="528148" cy="180000"/>
          </a:xfrm>
          <a:prstGeom prst="roundRect">
            <a:avLst>
              <a:gd name="adj" fmla="val 10160"/>
            </a:avLst>
          </a:prstGeom>
          <a:solidFill>
            <a:srgbClr val="F2EADA"/>
          </a:solidFill>
          <a:ln w="8890">
            <a:solidFill>
              <a:srgbClr val="3C5B47"/>
            </a:solidFill>
            <a:prstDash val="solid"/>
          </a:ln>
        </p:spPr>
      </p:sp>
      <p:pic>
        <p:nvPicPr>
          <p:cNvPr id="11" name="Image 2" descr="/home/user/philippe1/build/deco-catalogue-scio-2026/label-hve.png">    </p:cNvPr>
          <p:cNvPicPr>
            <a:picLocks noChangeAspect="1"/>
          </p:cNvPicPr>
          <p:nvPr/>
        </p:nvPicPr>
        <p:blipFill>
          <a:blip r:embed="rId3"/>
          <a:stretch>
            <a:fillRect/>
          </a:stretch>
        </p:blipFill>
        <p:spPr>
          <a:xfrm>
            <a:off x="1465651" y="1083600"/>
            <a:ext cx="108000" cy="108000"/>
          </a:xfrm>
          <a:prstGeom prst="rect">
            <a:avLst/>
          </a:prstGeom>
        </p:spPr>
      </p:pic>
      <p:sp>
        <p:nvSpPr>
          <p:cNvPr id="12" name="Text 7"/>
          <p:cNvSpPr/>
          <p:nvPr/>
        </p:nvSpPr>
        <p:spPr>
          <a:xfrm>
            <a:off x="1541251" y="10476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3" name="Shape 8"/>
          <p:cNvSpPr/>
          <p:nvPr/>
        </p:nvSpPr>
        <p:spPr>
          <a:xfrm>
            <a:off x="2001000" y="1047600"/>
            <a:ext cx="1385474" cy="180000"/>
          </a:xfrm>
          <a:prstGeom prst="roundRect">
            <a:avLst>
              <a:gd name="adj" fmla="val 10160"/>
            </a:avLst>
          </a:prstGeom>
          <a:solidFill>
            <a:srgbClr val="F2EADA"/>
          </a:solidFill>
          <a:ln w="8890">
            <a:solidFill>
              <a:srgbClr val="A8515F"/>
            </a:solidFill>
            <a:prstDash val="solid"/>
          </a:ln>
        </p:spPr>
      </p:sp>
      <p:sp>
        <p:nvSpPr>
          <p:cNvPr id="14" name="Text 9"/>
          <p:cNvSpPr/>
          <p:nvPr/>
        </p:nvSpPr>
        <p:spPr>
          <a:xfrm>
            <a:off x="2001000"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5" name="Shape 10"/>
          <p:cNvSpPr/>
          <p:nvPr/>
        </p:nvSpPr>
        <p:spPr>
          <a:xfrm>
            <a:off x="3465673" y="1047600"/>
            <a:ext cx="864357" cy="180000"/>
          </a:xfrm>
          <a:prstGeom prst="roundRect">
            <a:avLst>
              <a:gd name="adj" fmla="val 10160"/>
            </a:avLst>
          </a:prstGeom>
          <a:solidFill>
            <a:srgbClr val="D08C3C"/>
          </a:solidFill>
          <a:ln w="8890">
            <a:solidFill>
              <a:srgbClr val="D08C3C"/>
            </a:solidFill>
            <a:prstDash val="solid"/>
          </a:ln>
        </p:spPr>
      </p:sp>
      <p:sp>
        <p:nvSpPr>
          <p:cNvPr id="16" name="Text 11"/>
          <p:cNvSpPr/>
          <p:nvPr/>
        </p:nvSpPr>
        <p:spPr>
          <a:xfrm>
            <a:off x="3465673" y="1047600"/>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7" name="Shape 12"/>
          <p:cNvSpPr/>
          <p:nvPr/>
        </p:nvSpPr>
        <p:spPr>
          <a:xfrm>
            <a:off x="4409230" y="1047600"/>
            <a:ext cx="787182" cy="180000"/>
          </a:xfrm>
          <a:prstGeom prst="roundRect">
            <a:avLst>
              <a:gd name="adj" fmla="val 10160"/>
            </a:avLst>
          </a:prstGeom>
          <a:solidFill>
            <a:srgbClr val="F2EADA"/>
          </a:solidFill>
          <a:ln w="8890">
            <a:solidFill>
              <a:srgbClr val="46606E"/>
            </a:solidFill>
            <a:prstDash val="solid"/>
          </a:ln>
        </p:spPr>
      </p:sp>
      <p:sp>
        <p:nvSpPr>
          <p:cNvPr id="18" name="Text 13"/>
          <p:cNvSpPr/>
          <p:nvPr/>
        </p:nvSpPr>
        <p:spPr>
          <a:xfrm>
            <a:off x="4409230"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13 références</a:t>
            </a:r>
            <a:endParaRPr lang="en-US" sz="720" dirty="0"/>
          </a:p>
        </p:txBody>
      </p:sp>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828000" y="1357200"/>
          <a:ext cx="6120000" cy="914400"/>
        </p:xfrm>
        <a:graphic>
          <a:graphicData uri="http://schemas.openxmlformats.org/drawingml/2006/table">
            <a:tbl>
              <a:tblPr/>
              <a:tblGrid>
                <a:gridCol w="216000"/>
                <a:gridCol w="2988000"/>
                <a:gridCol w="540000"/>
                <a:gridCol w="504000"/>
                <a:gridCol w="936000"/>
                <a:gridCol w="936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 (SUITE)</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180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84721">
                <a:tc>
                  <a:txBody>
                    <a:bodyPr/>
                    <a:lstStyle/>
                    <a:p>
                      <a:pPr algn="ctr" indent="0" marL="0">
                        <a:buNone/>
                      </a:pPr>
                      <a:r>
                        <a:rPr lang="en-US" sz="900" dirty="0">
                          <a:solidFill>
                            <a:srgbClr val="E1C853"/>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Périgord</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Adn 24</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2,95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Pécharmant</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Hauts des Olivoux</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Cahors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L'esprit Sud-Ouest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3,55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3,45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Fronton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L'esprit Sud-Ouest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3,55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3,45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Blanc de Blancs 100% Chardonnay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Fines Bulles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graphicFrame>
        <p:nvGraphicFramePr>
          <p:cNvPr id="81" name="Table 1"/>
          <p:cNvGraphicFramePr>
            <a:graphicFrameLocks noGrp="1"/>
          </p:cNvGraphicFramePr>
          <p:nvPr>
            <p:extLst>
              <p:ext uri="{D42A27DB-BD31-4B8C-83A1-F6EECF244321}">
                <p14:modId xmlns:p14="http://schemas.microsoft.com/office/powerpoint/2010/main" val="1579011935"/>
              </p:ext>
            </p:extLst>
          </p:nvPr>
        </p:nvGraphicFramePr>
        <p:xfrm>
          <a:off x="828000" y="3696109"/>
          <a:ext cx="6120000" cy="914400"/>
        </p:xfrm>
        <a:graphic>
          <a:graphicData uri="http://schemas.openxmlformats.org/drawingml/2006/table">
            <a:tbl>
              <a:tblPr/>
              <a:tblGrid>
                <a:gridCol w="216000"/>
                <a:gridCol w="2988000"/>
                <a:gridCol w="540000"/>
                <a:gridCol w="504000"/>
                <a:gridCol w="936000"/>
                <a:gridCol w="936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 · BIÈRES</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180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D08C3C"/>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La Barbe Blanche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barbe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D08C3C"/>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La Barbe Blonde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barbe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D08C3C"/>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La Barbe Ambrée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barbe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4"/>
          <p:cNvSpPr/>
          <p:nvPr/>
        </p:nvSpPr>
        <p:spPr>
          <a:xfrm>
            <a:off x="828000" y="5185214"/>
            <a:ext cx="0" cy="288349"/>
          </a:xfrm>
          <a:prstGeom prst="line">
            <a:avLst/>
          </a:prstGeom>
          <a:noFill/>
          <a:ln w="17780">
            <a:solidFill>
              <a:srgbClr val="67067C"/>
            </a:solidFill>
            <a:prstDash val="solid"/>
          </a:ln>
        </p:spPr>
      </p:sp>
      <p:sp>
        <p:nvSpPr>
          <p:cNvPr id="22" name="Text 15"/>
          <p:cNvSpPr/>
          <p:nvPr/>
        </p:nvSpPr>
        <p:spPr>
          <a:xfrm>
            <a:off x="936000" y="5185214"/>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3" name="Text 16"/>
          <p:cNvSpPr/>
          <p:nvPr/>
        </p:nvSpPr>
        <p:spPr>
          <a:xfrm>
            <a:off x="828000" y="5617563"/>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SUD-OUEST — SABLES FAUVES ET FOSSILES MARINS</a:t>
            </a:r>
            <a:endParaRPr lang="en-US" sz="720" dirty="0"/>
          </a:p>
        </p:txBody>
      </p:sp>
      <p:pic>
        <p:nvPicPr>
          <p:cNvPr id="24" name="Image 3" descr="/home/user/philippe1/build/deco-catalogue-scio-2026/sol-sud-ouest.png">    </p:cNvPr>
          <p:cNvPicPr>
            <a:picLocks noChangeAspect="1"/>
          </p:cNvPicPr>
          <p:nvPr/>
        </p:nvPicPr>
        <p:blipFill>
          <a:blip r:embed="rId4"/>
          <a:stretch>
            <a:fillRect/>
          </a:stretch>
        </p:blipFill>
        <p:spPr>
          <a:xfrm>
            <a:off x="828000" y="5765163"/>
            <a:ext cx="6120000" cy="1385229"/>
          </a:xfrm>
          <a:prstGeom prst="rect">
            <a:avLst/>
          </a:prstGeom>
        </p:spPr>
      </p:pic>
      <p:sp>
        <p:nvSpPr>
          <p:cNvPr id="25" name="Shape 17"/>
          <p:cNvSpPr/>
          <p:nvPr/>
        </p:nvSpPr>
        <p:spPr>
          <a:xfrm>
            <a:off x="828000" y="8388000"/>
            <a:ext cx="6120000" cy="0"/>
          </a:xfrm>
          <a:prstGeom prst="line">
            <a:avLst/>
          </a:prstGeom>
          <a:noFill/>
          <a:ln w="8890">
            <a:solidFill>
              <a:srgbClr val="46606E"/>
            </a:solidFill>
            <a:prstDash val="solid"/>
          </a:ln>
        </p:spPr>
      </p:sp>
      <p:sp>
        <p:nvSpPr>
          <p:cNvPr id="26" name="Text 18"/>
          <p:cNvSpPr/>
          <p:nvPr/>
        </p:nvSpPr>
        <p:spPr>
          <a:xfrm>
            <a:off x="828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7" name="Text 19"/>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 Doux    ● Bière     pictos de l’Agence SCIO, pas les logos officiels</a:t>
            </a:r>
            <a:endParaRPr lang="en-US" sz="650" dirty="0"/>
          </a:p>
        </p:txBody>
      </p:sp>
      <p:sp>
        <p:nvSpPr>
          <p:cNvPr id="28" name="Text 20"/>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40</a:t>
            </a:r>
            <a:endParaRPr lang="en-US" sz="750" dirty="0"/>
          </a:p>
        </p:txBody>
      </p:sp>
      <p:sp>
        <p:nvSpPr>
          <p:cNvPr id="29" name="Text 21"/>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46606E"/>
        </a:solidFill>
      </p:bgPr>
    </p:bg>
    <p:spTree>
      <p:nvGrpSpPr>
        <p:cNvPr id="1" name=""/>
        <p:cNvGrpSpPr/>
        <p:nvPr/>
      </p:nvGrpSpPr>
      <p:grpSpPr>
        <a:xfrm>
          <a:off x="0" y="0"/>
          <a:ext cx="0" cy="0"/>
          <a:chOff x="0" y="0"/>
          <a:chExt cx="0" cy="0"/>
        </a:xfrm>
      </p:grpSpPr>
      <p:pic>
        <p:nvPicPr>
          <p:cNvPr id="2" name="Image 0" descr="/home/user/philippe1/build/deco-catalogue-scio-2026/ouverture-bordeaux.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catalogue-scio-2026/carotte-bordeaux.png">    </p:cNvPr>
          <p:cNvPicPr>
            <a:picLocks noChangeAspect="1"/>
          </p:cNvPicPr>
          <p:nvPr/>
        </p:nvPicPr>
        <p:blipFill>
          <a:blip r:embed="rId2"/>
          <a:stretch>
            <a:fillRect/>
          </a:stretch>
        </p:blipFill>
        <p:spPr>
          <a:xfrm>
            <a:off x="7236000" y="0"/>
            <a:ext cx="324000" cy="9360000"/>
          </a:xfrm>
          <a:prstGeom prst="rect">
            <a:avLst/>
          </a:prstGeom>
        </p:spPr>
      </p:pic>
      <p:sp>
        <p:nvSpPr>
          <p:cNvPr id="4"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5" name="Text 1"/>
          <p:cNvSpPr/>
          <p:nvPr/>
        </p:nvSpPr>
        <p:spPr>
          <a:xfrm>
            <a:off x="612000" y="540000"/>
            <a:ext cx="792000" cy="216000"/>
          </a:xfrm>
          <a:prstGeom prst="rect">
            <a:avLst/>
          </a:prstGeom>
          <a:noFill/>
          <a:ln/>
        </p:spPr>
        <p:txBody>
          <a:bodyPr wrap="square" lIns="0" tIns="0" rIns="0" bIns="0" rtlCol="0" anchor="ctr"/>
          <a:lstStyle/>
          <a:p>
            <a:pPr algn="ctr" indent="0" marL="0">
              <a:buNone/>
            </a:pPr>
            <a:r>
              <a:rPr lang="en-US" sz="800" b="1" dirty="0">
                <a:solidFill>
                  <a:srgbClr val="FBF8F1"/>
                </a:solidFill>
                <a:latin typeface="IBM Plex Sans" pitchFamily="34" charset="0"/>
                <a:ea typeface="IBM Plex Sans" pitchFamily="34" charset="-122"/>
                <a:cs typeface="IBM Plex Sans" pitchFamily="34" charset="-120"/>
              </a:rPr>
              <a:t>7 / 10</a:t>
            </a:r>
            <a:endParaRPr lang="en-US" sz="800" dirty="0"/>
          </a:p>
        </p:txBody>
      </p:sp>
      <p:sp>
        <p:nvSpPr>
          <p:cNvPr id="6" name="Text 2"/>
          <p:cNvSpPr/>
          <p:nvPr/>
        </p:nvSpPr>
        <p:spPr>
          <a:xfrm>
            <a:off x="612000" y="5112000"/>
            <a:ext cx="5040000" cy="792000"/>
          </a:xfrm>
          <a:prstGeom prst="rect">
            <a:avLst/>
          </a:prstGeom>
          <a:noFill/>
          <a:ln/>
        </p:spPr>
        <p:txBody>
          <a:bodyPr wrap="square" lIns="0" tIns="0" rIns="0" bIns="0" rtlCol="0" anchor="ctr"/>
          <a:lstStyle/>
          <a:p>
            <a:pPr indent="0" marL="0">
              <a:buNone/>
            </a:pPr>
            <a:r>
              <a:rPr lang="en-US" sz="4600" dirty="0">
                <a:solidFill>
                  <a:srgbClr val="FBF8F1"/>
                </a:solidFill>
                <a:latin typeface="Young Serif" pitchFamily="34" charset="0"/>
                <a:ea typeface="Young Serif" pitchFamily="34" charset="-122"/>
                <a:cs typeface="Young Serif" pitchFamily="34" charset="-120"/>
              </a:rPr>
              <a:t>Bordeaux</a:t>
            </a:r>
            <a:endParaRPr lang="en-US" sz="4600" dirty="0"/>
          </a:p>
        </p:txBody>
      </p:sp>
      <p:sp>
        <p:nvSpPr>
          <p:cNvPr id="7" name="Text 3"/>
          <p:cNvSpPr/>
          <p:nvPr/>
        </p:nvSpPr>
        <p:spPr>
          <a:xfrm>
            <a:off x="612000" y="5976000"/>
            <a:ext cx="4320000" cy="252000"/>
          </a:xfrm>
          <a:prstGeom prst="rect">
            <a:avLst/>
          </a:prstGeom>
          <a:noFill/>
          <a:ln/>
        </p:spPr>
        <p:txBody>
          <a:bodyPr wrap="square" lIns="0" tIns="0" rIns="0" bIns="0" rtlCol="0" anchor="ctr"/>
          <a:lstStyle/>
          <a:p>
            <a:pPr indent="0" marL="0">
              <a:buNone/>
            </a:pPr>
            <a:r>
              <a:rPr lang="en-US" sz="1200" i="1" dirty="0">
                <a:solidFill>
                  <a:srgbClr val="FBF8F1"/>
                </a:solidFill>
                <a:latin typeface="Spectral" pitchFamily="34" charset="0"/>
                <a:ea typeface="Spectral" pitchFamily="34" charset="-122"/>
                <a:cs typeface="Spectral" pitchFamily="34" charset="-120"/>
              </a:rPr>
              <a:t>graves et argilo-calcaire</a:t>
            </a:r>
            <a:endParaRPr lang="en-US" sz="1200" dirty="0"/>
          </a:p>
        </p:txBody>
      </p:sp>
      <p:sp>
        <p:nvSpPr>
          <p:cNvPr id="8" name="Text 4"/>
          <p:cNvSpPr/>
          <p:nvPr/>
        </p:nvSpPr>
        <p:spPr>
          <a:xfrm>
            <a:off x="612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6</a:t>
            </a:r>
            <a:endParaRPr lang="en-US" sz="2000" dirty="0"/>
          </a:p>
        </p:txBody>
      </p:sp>
      <p:sp>
        <p:nvSpPr>
          <p:cNvPr id="9" name="Text 5"/>
          <p:cNvSpPr/>
          <p:nvPr/>
        </p:nvSpPr>
        <p:spPr>
          <a:xfrm>
            <a:off x="612000" y="6660000"/>
            <a:ext cx="864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domaines</a:t>
            </a:r>
            <a:endParaRPr lang="en-US" sz="850" dirty="0"/>
          </a:p>
        </p:txBody>
      </p:sp>
      <p:sp>
        <p:nvSpPr>
          <p:cNvPr id="10" name="Text 6"/>
          <p:cNvSpPr/>
          <p:nvPr/>
        </p:nvSpPr>
        <p:spPr>
          <a:xfrm>
            <a:off x="1620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59</a:t>
            </a:r>
            <a:endParaRPr lang="en-US" sz="2000" dirty="0"/>
          </a:p>
        </p:txBody>
      </p:sp>
      <p:sp>
        <p:nvSpPr>
          <p:cNvPr id="11" name="Text 7"/>
          <p:cNvSpPr/>
          <p:nvPr/>
        </p:nvSpPr>
        <p:spPr>
          <a:xfrm>
            <a:off x="1620000" y="6660000"/>
            <a:ext cx="1620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références</a:t>
            </a:r>
            <a:endParaRPr lang="en-US" sz="850" dirty="0"/>
          </a:p>
        </p:txBody>
      </p:sp>
      <p:sp>
        <p:nvSpPr>
          <p:cNvPr id="12" name="Text 8"/>
          <p:cNvSpPr/>
          <p:nvPr/>
        </p:nvSpPr>
        <p:spPr>
          <a:xfrm>
            <a:off x="61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25   </a:t>
            </a:r>
            <a:r>
              <a:rPr lang="en-US" sz="860" dirty="0">
                <a:solidFill>
                  <a:srgbClr val="FBF8F1"/>
                </a:solidFill>
                <a:latin typeface="IBM Plex Sans" pitchFamily="34" charset="0"/>
                <a:ea typeface="IBM Plex Sans" pitchFamily="34" charset="-122"/>
                <a:cs typeface="IBM Plex Sans" pitchFamily="34" charset="-120"/>
              </a:rPr>
              <a:t>La Passion des Terroirs</a:t>
            </a:r>
            <a:r>
              <a:rPr lang="en-US" sz="860" b="1" dirty="0">
                <a:solidFill>
                  <a:srgbClr val="FBF8F1"/>
                </a:solidFill>
                <a:latin typeface="IBM Plex Sans" pitchFamily="34" charset="0"/>
                <a:ea typeface="IBM Plex Sans" pitchFamily="34" charset="-122"/>
                <a:cs typeface="IBM Plex Sans" pitchFamily="34" charset="-120"/>
              </a:rPr>
              <a:t>   42</a:t>
            </a:r>
            <a:endParaRPr lang="en-US" sz="860" dirty="0"/>
          </a:p>
        </p:txBody>
      </p:sp>
      <p:sp>
        <p:nvSpPr>
          <p:cNvPr id="13" name="Text 9"/>
          <p:cNvSpPr/>
          <p:nvPr/>
        </p:nvSpPr>
        <p:spPr>
          <a:xfrm>
            <a:off x="367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26   </a:t>
            </a:r>
            <a:r>
              <a:rPr lang="en-US" sz="860" dirty="0">
                <a:solidFill>
                  <a:srgbClr val="FBF8F1"/>
                </a:solidFill>
                <a:latin typeface="IBM Plex Sans" pitchFamily="34" charset="0"/>
                <a:ea typeface="IBM Plex Sans" pitchFamily="34" charset="-122"/>
                <a:cs typeface="IBM Plex Sans" pitchFamily="34" charset="-120"/>
              </a:rPr>
              <a:t>Château la Gorce</a:t>
            </a:r>
            <a:r>
              <a:rPr lang="en-US" sz="860" b="1" dirty="0">
                <a:solidFill>
                  <a:srgbClr val="FBF8F1"/>
                </a:solidFill>
                <a:latin typeface="IBM Plex Sans" pitchFamily="34" charset="0"/>
                <a:ea typeface="IBM Plex Sans" pitchFamily="34" charset="-122"/>
                <a:cs typeface="IBM Plex Sans" pitchFamily="34" charset="-120"/>
              </a:rPr>
              <a:t>   45</a:t>
            </a:r>
            <a:endParaRPr lang="en-US" sz="860" dirty="0"/>
          </a:p>
        </p:txBody>
      </p:sp>
      <p:sp>
        <p:nvSpPr>
          <p:cNvPr id="14" name="Text 10"/>
          <p:cNvSpPr/>
          <p:nvPr/>
        </p:nvSpPr>
        <p:spPr>
          <a:xfrm>
            <a:off x="612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27   </a:t>
            </a:r>
            <a:r>
              <a:rPr lang="en-US" sz="860" dirty="0">
                <a:solidFill>
                  <a:srgbClr val="FBF8F1"/>
                </a:solidFill>
                <a:latin typeface="IBM Plex Sans" pitchFamily="34" charset="0"/>
                <a:ea typeface="IBM Plex Sans" pitchFamily="34" charset="-122"/>
                <a:cs typeface="IBM Plex Sans" pitchFamily="34" charset="-120"/>
              </a:rPr>
              <a:t>Château Falfas</a:t>
            </a:r>
            <a:r>
              <a:rPr lang="en-US" sz="860" b="1" dirty="0">
                <a:solidFill>
                  <a:srgbClr val="FBF8F1"/>
                </a:solidFill>
                <a:latin typeface="IBM Plex Sans" pitchFamily="34" charset="0"/>
                <a:ea typeface="IBM Plex Sans" pitchFamily="34" charset="-122"/>
                <a:cs typeface="IBM Plex Sans" pitchFamily="34" charset="-120"/>
              </a:rPr>
              <a:t>   47</a:t>
            </a:r>
            <a:endParaRPr lang="en-US" sz="860" dirty="0"/>
          </a:p>
        </p:txBody>
      </p:sp>
      <p:sp>
        <p:nvSpPr>
          <p:cNvPr id="15" name="Text 11"/>
          <p:cNvSpPr/>
          <p:nvPr/>
        </p:nvSpPr>
        <p:spPr>
          <a:xfrm>
            <a:off x="3672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28   </a:t>
            </a:r>
            <a:r>
              <a:rPr lang="en-US" sz="860" dirty="0">
                <a:solidFill>
                  <a:srgbClr val="FBF8F1"/>
                </a:solidFill>
                <a:latin typeface="IBM Plex Sans" pitchFamily="34" charset="0"/>
                <a:ea typeface="IBM Plex Sans" pitchFamily="34" charset="-122"/>
                <a:cs typeface="IBM Plex Sans" pitchFamily="34" charset="-120"/>
              </a:rPr>
              <a:t>Château Pré la Lande</a:t>
            </a:r>
            <a:r>
              <a:rPr lang="en-US" sz="860" b="1" dirty="0">
                <a:solidFill>
                  <a:srgbClr val="FBF8F1"/>
                </a:solidFill>
                <a:latin typeface="IBM Plex Sans" pitchFamily="34" charset="0"/>
                <a:ea typeface="IBM Plex Sans" pitchFamily="34" charset="-122"/>
                <a:cs typeface="IBM Plex Sans" pitchFamily="34" charset="-120"/>
              </a:rPr>
              <a:t>   48</a:t>
            </a:r>
            <a:endParaRPr lang="en-US" sz="860" dirty="0"/>
          </a:p>
        </p:txBody>
      </p:sp>
      <p:sp>
        <p:nvSpPr>
          <p:cNvPr id="16" name="Text 12"/>
          <p:cNvSpPr/>
          <p:nvPr/>
        </p:nvSpPr>
        <p:spPr>
          <a:xfrm>
            <a:off x="612000" y="7632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29   </a:t>
            </a:r>
            <a:r>
              <a:rPr lang="en-US" sz="860" dirty="0">
                <a:solidFill>
                  <a:srgbClr val="FBF8F1"/>
                </a:solidFill>
                <a:latin typeface="IBM Plex Sans" pitchFamily="34" charset="0"/>
                <a:ea typeface="IBM Plex Sans" pitchFamily="34" charset="-122"/>
                <a:cs typeface="IBM Plex Sans" pitchFamily="34" charset="-120"/>
              </a:rPr>
              <a:t>Château Balac</a:t>
            </a:r>
            <a:r>
              <a:rPr lang="en-US" sz="860" b="1" dirty="0">
                <a:solidFill>
                  <a:srgbClr val="FBF8F1"/>
                </a:solidFill>
                <a:latin typeface="IBM Plex Sans" pitchFamily="34" charset="0"/>
                <a:ea typeface="IBM Plex Sans" pitchFamily="34" charset="-122"/>
                <a:cs typeface="IBM Plex Sans" pitchFamily="34" charset="-120"/>
              </a:rPr>
              <a:t>   49</a:t>
            </a:r>
            <a:endParaRPr lang="en-US" sz="860" dirty="0"/>
          </a:p>
        </p:txBody>
      </p:sp>
      <p:sp>
        <p:nvSpPr>
          <p:cNvPr id="17" name="Text 13"/>
          <p:cNvSpPr/>
          <p:nvPr/>
        </p:nvSpPr>
        <p:spPr>
          <a:xfrm>
            <a:off x="3672000" y="7632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30   </a:t>
            </a:r>
            <a:r>
              <a:rPr lang="en-US" sz="860" dirty="0">
                <a:solidFill>
                  <a:srgbClr val="FBF8F1"/>
                </a:solidFill>
                <a:latin typeface="IBM Plex Sans" pitchFamily="34" charset="0"/>
                <a:ea typeface="IBM Plex Sans" pitchFamily="34" charset="-122"/>
                <a:cs typeface="IBM Plex Sans" pitchFamily="34" charset="-120"/>
              </a:rPr>
              <a:t>Château l’Escarderie</a:t>
            </a:r>
            <a:r>
              <a:rPr lang="en-US" sz="860" b="1" dirty="0">
                <a:solidFill>
                  <a:srgbClr val="FBF8F1"/>
                </a:solidFill>
                <a:latin typeface="IBM Plex Sans" pitchFamily="34" charset="0"/>
                <a:ea typeface="IBM Plex Sans" pitchFamily="34" charset="-122"/>
                <a:cs typeface="IBM Plex Sans" pitchFamily="34" charset="-120"/>
              </a:rPr>
              <a:t>   50</a:t>
            </a:r>
            <a:endParaRPr lang="en-US" sz="860" dirty="0"/>
          </a:p>
        </p:txBody>
      </p:sp>
      <p:sp>
        <p:nvSpPr>
          <p:cNvPr id="18" name="Text 14"/>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41</a:t>
            </a:r>
            <a:endParaRPr lang="en-US" sz="750" dirty="0"/>
          </a:p>
        </p:txBody>
      </p:sp>
      <p:sp>
        <p:nvSpPr>
          <p:cNvPr id="19" name="Text 15"/>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rdeaux.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25</a:t>
            </a:r>
            <a:r>
              <a:rPr lang="en-US" sz="2000" dirty="0">
                <a:solidFill>
                  <a:srgbClr val="46606E"/>
                </a:solidFill>
                <a:latin typeface="Young Serif" pitchFamily="34" charset="0"/>
                <a:ea typeface="Young Serif" pitchFamily="34" charset="-122"/>
                <a:cs typeface="Young Serif" pitchFamily="34" charset="-120"/>
              </a:rPr>
              <a:t>   La Passion des Terroirs</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83600"/>
            <a:ext cx="108000" cy="108000"/>
          </a:xfrm>
          <a:prstGeom prst="rect">
            <a:avLst/>
          </a:prstGeom>
        </p:spPr>
      </p:pic>
      <p:sp>
        <p:nvSpPr>
          <p:cNvPr id="9" name="Text 5"/>
          <p:cNvSpPr/>
          <p:nvPr/>
        </p:nvSpPr>
        <p:spPr>
          <a:xfrm>
            <a:off x="9756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476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858325" y="1047600"/>
            <a:ext cx="864357" cy="180000"/>
          </a:xfrm>
          <a:prstGeom prst="roundRect">
            <a:avLst>
              <a:gd name="adj" fmla="val 10160"/>
            </a:avLst>
          </a:prstGeom>
          <a:solidFill>
            <a:srgbClr val="D08C3C"/>
          </a:solidFill>
          <a:ln w="8890">
            <a:solidFill>
              <a:srgbClr val="D08C3C"/>
            </a:solidFill>
            <a:prstDash val="solid"/>
          </a:ln>
        </p:spPr>
      </p:sp>
      <p:sp>
        <p:nvSpPr>
          <p:cNvPr id="13" name="Text 9"/>
          <p:cNvSpPr/>
          <p:nvPr/>
        </p:nvSpPr>
        <p:spPr>
          <a:xfrm>
            <a:off x="2858325" y="1047600"/>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4" name="Shape 10"/>
          <p:cNvSpPr/>
          <p:nvPr/>
        </p:nvSpPr>
        <p:spPr>
          <a:xfrm>
            <a:off x="3801882" y="10476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801882"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31 références</a:t>
            </a:r>
            <a:endParaRPr lang="en-US" sz="720" dirty="0"/>
          </a:p>
        </p:txBody>
      </p:sp>
      <p:pic>
        <p:nvPicPr>
          <p:cNvPr id="16" name="Image 2" descr="portrait de famille d'époque — La Passion des Terroirs">    </p:cNvPr>
          <p:cNvPicPr>
            <a:picLocks noChangeAspect="1"/>
          </p:cNvPicPr>
          <p:nvPr/>
        </p:nvPicPr>
        <p:blipFill>
          <a:blip r:embed="rId3"/>
          <a:srcRect l="0" r="0" t="12247" b="24677"/>
          <a:stretch/>
        </p:blipFill>
        <p:spPr>
          <a:xfrm>
            <a:off x="828000" y="1357200"/>
            <a:ext cx="1440000" cy="1440000"/>
          </a:xfrm>
          <a:prstGeom prst="ellipse">
            <a:avLst/>
          </a:prstGeom>
        </p:spPr>
      </p:pic>
      <p:pic>
        <p:nvPicPr>
          <p:cNvPr id="17" name="Image 3" descr="Une bouteille du domaine La Passion des Terroirs">    </p:cNvPr>
          <p:cNvPicPr>
            <a:picLocks noChangeAspect="1"/>
          </p:cNvPicPr>
          <p:nvPr/>
        </p:nvPicPr>
        <p:blipFill>
          <a:blip r:embed="rId4"/>
          <a:stretch>
            <a:fillRect/>
          </a:stretch>
        </p:blipFill>
        <p:spPr>
          <a:xfrm>
            <a:off x="6243098" y="1357200"/>
            <a:ext cx="545803" cy="2232000"/>
          </a:xfrm>
          <a:prstGeom prst="rect">
            <a:avLst/>
          </a:prstGeom>
        </p:spPr>
      </p:pic>
      <p:sp>
        <p:nvSpPr>
          <p:cNvPr id="18" name="Text 12"/>
          <p:cNvSpPr/>
          <p:nvPr/>
        </p:nvSpPr>
        <p:spPr>
          <a:xfrm>
            <a:off x="2394044" y="1273737"/>
            <a:ext cx="278319" cy="444195"/>
          </a:xfrm>
          <a:prstGeom prst="rect">
            <a:avLst/>
          </a:prstGeom>
          <a:noFill/>
          <a:ln/>
        </p:spPr>
        <p:txBody>
          <a:bodyPr wrap="square" lIns="0" tIns="0" rIns="0" bIns="0" rtlCol="0" anchor="t"/>
          <a:lstStyle/>
          <a:p>
            <a:pPr algn="r" indent="0" marL="0">
              <a:lnSpc>
                <a:spcPct val="123700"/>
              </a:lnSpc>
              <a:buNone/>
            </a:pPr>
            <a:r>
              <a:rPr lang="en-US" sz="2186" dirty="0">
                <a:solidFill>
                  <a:srgbClr val="67067C"/>
                </a:solidFill>
                <a:latin typeface="Young Serif" pitchFamily="34" charset="0"/>
                <a:ea typeface="Young Serif" pitchFamily="34" charset="-122"/>
                <a:cs typeface="Young Serif" pitchFamily="34" charset="-120"/>
              </a:rPr>
              <a:t>U</a:t>
            </a:r>
            <a:endParaRPr lang="en-US" sz="2186" dirty="0"/>
          </a:p>
        </p:txBody>
      </p:sp>
      <p:sp>
        <p:nvSpPr>
          <p:cNvPr id="19" name="Text 13"/>
          <p:cNvSpPr/>
          <p:nvPr/>
        </p:nvSpPr>
        <p:spPr>
          <a:xfrm>
            <a:off x="2448000" y="1396289"/>
            <a:ext cx="3456000" cy="2192812"/>
          </a:xfrm>
          <a:prstGeom prst="rect">
            <a:avLst/>
          </a:prstGeom>
          <a:noFill/>
          <a:ln/>
        </p:spPr>
        <p:txBody>
          <a:bodyPr wrap="square" lIns="0" tIns="0" rIns="0" bIns="0" rtlCol="0" anchor="t"/>
          <a:lstStyle/>
          <a:p>
            <a:pPr indent="0" marL="0">
              <a:lnSpc>
                <a:spcPct val="142000"/>
              </a:lnSpc>
              <a:buNone/>
            </a:pPr>
            <a:r>
              <a:rPr lang="en-US" sz="1225" dirty="0">
                <a:solidFill>
                  <a:srgbClr val="46606E"/>
                </a:solidFill>
                <a:latin typeface="Spectral" pitchFamily="34" charset="0"/>
                <a:ea typeface="Spectral" pitchFamily="34" charset="-122"/>
                <a:cs typeface="Spectral" pitchFamily="34" charset="-120"/>
              </a:rPr>
              <a:t>      ne recherche constante de l’excellence et de la meilleure expression des Terroirs. Depuis 3 générations, la famille Lurton est un des principaux propriétaires de Châteaux de la région de Bordeaux. Personnalité, respect de la terre, exigence, indépendance ; l’essentiel du caractère de la famille Lucien Lurton, distributrice des vins de toutes les appellations bordelaises.</a:t>
            </a:r>
            <a:endParaRPr lang="en-US" sz="1225"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828000" y="37511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Pessac-Léognan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Petit Valoux</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Pessac-Léognan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Lamothe Bouscaut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2021</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11,95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E1C853"/>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Sauternes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Du Mayne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10,95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Bordeaux</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Petite Echoppe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2,85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Haut-Médoc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L'Etoile de Villegeorge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Haut-Médoc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Esprit de Doyac</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Text 14"/>
          <p:cNvSpPr/>
          <p:nvPr/>
        </p:nvSpPr>
        <p:spPr>
          <a:xfrm>
            <a:off x="828000" y="6451968"/>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BORDEAUX — GRAVES ET ARGILO-CALCAIRE</a:t>
            </a:r>
            <a:endParaRPr lang="en-US" sz="720" dirty="0"/>
          </a:p>
        </p:txBody>
      </p:sp>
      <p:pic>
        <p:nvPicPr>
          <p:cNvPr id="22" name="Image 4" descr="/home/user/philippe1/build/deco-catalogue-scio-2026/sol-bordeaux.png">    </p:cNvPr>
          <p:cNvPicPr>
            <a:picLocks noChangeAspect="1"/>
          </p:cNvPicPr>
          <p:nvPr/>
        </p:nvPicPr>
        <p:blipFill>
          <a:blip r:embed="rId5"/>
          <a:stretch>
            <a:fillRect/>
          </a:stretch>
        </p:blipFill>
        <p:spPr>
          <a:xfrm>
            <a:off x="828000" y="6599568"/>
            <a:ext cx="6120000" cy="1148400"/>
          </a:xfrm>
          <a:prstGeom prst="rect">
            <a:avLst/>
          </a:prstGeom>
        </p:spPr>
      </p:pic>
      <p:sp>
        <p:nvSpPr>
          <p:cNvPr id="23" name="Shape 15"/>
          <p:cNvSpPr/>
          <p:nvPr/>
        </p:nvSpPr>
        <p:spPr>
          <a:xfrm>
            <a:off x="828000" y="8388000"/>
            <a:ext cx="6120000" cy="0"/>
          </a:xfrm>
          <a:prstGeom prst="line">
            <a:avLst/>
          </a:prstGeom>
          <a:noFill/>
          <a:ln w="8890">
            <a:solidFill>
              <a:srgbClr val="46606E"/>
            </a:solidFill>
            <a:prstDash val="solid"/>
          </a:ln>
        </p:spPr>
      </p:sp>
      <p:sp>
        <p:nvSpPr>
          <p:cNvPr id="24" name="Text 16"/>
          <p:cNvSpPr/>
          <p:nvPr/>
        </p:nvSpPr>
        <p:spPr>
          <a:xfrm>
            <a:off x="828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49 · 85</a:t>
            </a:r>
            <a:endParaRPr lang="en-US" sz="720" dirty="0"/>
          </a:p>
        </p:txBody>
      </p:sp>
      <p:sp>
        <p:nvSpPr>
          <p:cNvPr id="25" name="Text 17"/>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 Doux     pictos de l’Agence SCIO, pas les logos officiels</a:t>
            </a:r>
            <a:endParaRPr lang="en-US" sz="650" dirty="0"/>
          </a:p>
        </p:txBody>
      </p:sp>
      <p:sp>
        <p:nvSpPr>
          <p:cNvPr id="26" name="Text 18"/>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42</a:t>
            </a:r>
            <a:endParaRPr lang="en-US" sz="750" dirty="0"/>
          </a:p>
        </p:txBody>
      </p:sp>
      <p:sp>
        <p:nvSpPr>
          <p:cNvPr id="27" name="Text 19"/>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rdeaux.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25</a:t>
            </a:r>
            <a:r>
              <a:rPr lang="en-US" sz="2000" dirty="0">
                <a:solidFill>
                  <a:srgbClr val="46606E"/>
                </a:solidFill>
                <a:latin typeface="Young Serif" pitchFamily="34" charset="0"/>
                <a:ea typeface="Young Serif" pitchFamily="34" charset="-122"/>
                <a:cs typeface="Young Serif" pitchFamily="34" charset="-120"/>
              </a:rPr>
              <a:t>   La Passion des Terroirs</a:t>
            </a:r>
            <a:r>
              <a:rPr lang="en-US" sz="1100" i="1" dirty="0">
                <a:solidFill>
                  <a:srgbClr val="A8515F"/>
                </a:solidFill>
                <a:latin typeface="Spectral" pitchFamily="34" charset="0"/>
                <a:ea typeface="Spectral" pitchFamily="34" charset="-122"/>
                <a:cs typeface="Spectral" pitchFamily="34" charset="-120"/>
              </a:rPr>
              <a:t>  (suite)</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83600"/>
            <a:ext cx="108000" cy="108000"/>
          </a:xfrm>
          <a:prstGeom prst="rect">
            <a:avLst/>
          </a:prstGeom>
        </p:spPr>
      </p:pic>
      <p:sp>
        <p:nvSpPr>
          <p:cNvPr id="9" name="Text 5"/>
          <p:cNvSpPr/>
          <p:nvPr/>
        </p:nvSpPr>
        <p:spPr>
          <a:xfrm>
            <a:off x="7596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476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177651"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642325" y="1047600"/>
            <a:ext cx="864357" cy="180000"/>
          </a:xfrm>
          <a:prstGeom prst="roundRect">
            <a:avLst>
              <a:gd name="adj" fmla="val 10160"/>
            </a:avLst>
          </a:prstGeom>
          <a:solidFill>
            <a:srgbClr val="D08C3C"/>
          </a:solidFill>
          <a:ln w="8890">
            <a:solidFill>
              <a:srgbClr val="D08C3C"/>
            </a:solidFill>
            <a:prstDash val="solid"/>
          </a:ln>
        </p:spPr>
      </p:sp>
      <p:sp>
        <p:nvSpPr>
          <p:cNvPr id="13" name="Text 9"/>
          <p:cNvSpPr/>
          <p:nvPr/>
        </p:nvSpPr>
        <p:spPr>
          <a:xfrm>
            <a:off x="2642325" y="1047600"/>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4" name="Shape 10"/>
          <p:cNvSpPr/>
          <p:nvPr/>
        </p:nvSpPr>
        <p:spPr>
          <a:xfrm>
            <a:off x="3585882" y="10476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585882"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31 références</a:t>
            </a:r>
            <a:endParaRPr lang="en-US" sz="72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612000" y="13572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 (SUITE)</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Haut-Médoc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Doyac</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Haut-Médoc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Doyac</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19,10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Haut-Médoc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de Villegeorge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10,95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Haut-Médoc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de Villegeorge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150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25,15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Listrac-Médoc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N°2 De Fourcas Dupré</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Médoc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Ceres de Haut-Bages Libéral</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Saint-Estèphe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Hauts de Pez</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Saint-Estèphe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Charme de Cos Labory</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Margaux</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Petite Tour de Bessan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2021</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10,95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Margaux</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la Tour de Bessan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2019</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15,95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Margaux</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Plantes de Durfort-Vivens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2019</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19,00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Margaux</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 Plateau de Durfort-Vivens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22,50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Margaux</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 Hameau de Durfort-Vivens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22,50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7" name="Text 12"/>
          <p:cNvSpPr/>
          <p:nvPr/>
        </p:nvSpPr>
        <p:spPr>
          <a:xfrm>
            <a:off x="612000" y="6755875"/>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BORDEAUX — GRAVES ET ARGILO-CALCAIRE</a:t>
            </a:r>
            <a:endParaRPr lang="en-US" sz="720" dirty="0"/>
          </a:p>
        </p:txBody>
      </p:sp>
      <p:pic>
        <p:nvPicPr>
          <p:cNvPr id="18" name="Image 2" descr="/home/user/philippe1/build/deco-catalogue-scio-2026/sol-bordeaux.png">    </p:cNvPr>
          <p:cNvPicPr>
            <a:picLocks noChangeAspect="1"/>
          </p:cNvPicPr>
          <p:nvPr/>
        </p:nvPicPr>
        <p:blipFill>
          <a:blip r:embed="rId3"/>
          <a:stretch>
            <a:fillRect/>
          </a:stretch>
        </p:blipFill>
        <p:spPr>
          <a:xfrm>
            <a:off x="612000" y="6903475"/>
            <a:ext cx="6120000" cy="1148400"/>
          </a:xfrm>
          <a:prstGeom prst="rect">
            <a:avLst/>
          </a:prstGeom>
        </p:spPr>
      </p:pic>
      <p:sp>
        <p:nvSpPr>
          <p:cNvPr id="19" name="Shape 13"/>
          <p:cNvSpPr/>
          <p:nvPr/>
        </p:nvSpPr>
        <p:spPr>
          <a:xfrm>
            <a:off x="612000" y="8388000"/>
            <a:ext cx="6120000" cy="0"/>
          </a:xfrm>
          <a:prstGeom prst="line">
            <a:avLst/>
          </a:prstGeom>
          <a:noFill/>
          <a:ln w="8890">
            <a:solidFill>
              <a:srgbClr val="46606E"/>
            </a:solidFill>
            <a:prstDash val="solid"/>
          </a:ln>
        </p:spPr>
      </p:sp>
      <p:sp>
        <p:nvSpPr>
          <p:cNvPr id="20" name="Text 14"/>
          <p:cNvSpPr/>
          <p:nvPr/>
        </p:nvSpPr>
        <p:spPr>
          <a:xfrm>
            <a:off x="612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49 · 85</a:t>
            </a:r>
            <a:endParaRPr lang="en-US" sz="720" dirty="0"/>
          </a:p>
        </p:txBody>
      </p:sp>
      <p:sp>
        <p:nvSpPr>
          <p:cNvPr id="21" name="Text 15"/>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 Doux     pictos de l’Agence SCIO, pas les logos officiels</a:t>
            </a:r>
            <a:endParaRPr lang="en-US" sz="650" dirty="0"/>
          </a:p>
        </p:txBody>
      </p:sp>
      <p:sp>
        <p:nvSpPr>
          <p:cNvPr id="22" name="Text 16"/>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43</a:t>
            </a:r>
            <a:endParaRPr lang="en-US" sz="750" dirty="0"/>
          </a:p>
        </p:txBody>
      </p:sp>
      <p:sp>
        <p:nvSpPr>
          <p:cNvPr id="23" name="Text 17"/>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rdeaux.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25</a:t>
            </a:r>
            <a:r>
              <a:rPr lang="en-US" sz="2000" dirty="0">
                <a:solidFill>
                  <a:srgbClr val="46606E"/>
                </a:solidFill>
                <a:latin typeface="Young Serif" pitchFamily="34" charset="0"/>
                <a:ea typeface="Young Serif" pitchFamily="34" charset="-122"/>
                <a:cs typeface="Young Serif" pitchFamily="34" charset="-120"/>
              </a:rPr>
              <a:t>   La Passion des Terroirs</a:t>
            </a:r>
            <a:r>
              <a:rPr lang="en-US" sz="1100" i="1" dirty="0">
                <a:solidFill>
                  <a:srgbClr val="A8515F"/>
                </a:solidFill>
                <a:latin typeface="Spectral" pitchFamily="34" charset="0"/>
                <a:ea typeface="Spectral" pitchFamily="34" charset="-122"/>
                <a:cs typeface="Spectral" pitchFamily="34" charset="-120"/>
              </a:rPr>
              <a:t>  (suite)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83600"/>
            <a:ext cx="108000" cy="108000"/>
          </a:xfrm>
          <a:prstGeom prst="rect">
            <a:avLst/>
          </a:prstGeom>
        </p:spPr>
      </p:pic>
      <p:sp>
        <p:nvSpPr>
          <p:cNvPr id="9" name="Text 5"/>
          <p:cNvSpPr/>
          <p:nvPr/>
        </p:nvSpPr>
        <p:spPr>
          <a:xfrm>
            <a:off x="9756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476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858325" y="1047600"/>
            <a:ext cx="864357" cy="180000"/>
          </a:xfrm>
          <a:prstGeom prst="roundRect">
            <a:avLst>
              <a:gd name="adj" fmla="val 10160"/>
            </a:avLst>
          </a:prstGeom>
          <a:solidFill>
            <a:srgbClr val="D08C3C"/>
          </a:solidFill>
          <a:ln w="8890">
            <a:solidFill>
              <a:srgbClr val="D08C3C"/>
            </a:solidFill>
            <a:prstDash val="solid"/>
          </a:ln>
        </p:spPr>
      </p:sp>
      <p:sp>
        <p:nvSpPr>
          <p:cNvPr id="13" name="Text 9"/>
          <p:cNvSpPr/>
          <p:nvPr/>
        </p:nvSpPr>
        <p:spPr>
          <a:xfrm>
            <a:off x="2858325" y="1047600"/>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4" name="Shape 10"/>
          <p:cNvSpPr/>
          <p:nvPr/>
        </p:nvSpPr>
        <p:spPr>
          <a:xfrm>
            <a:off x="3801882" y="10476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801882"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31 références</a:t>
            </a:r>
            <a:endParaRPr lang="en-US" sz="72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828000" y="13572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 (SUITE)</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Margaux</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 Hameau de Durfort-Vivens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150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44,50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Moulis-en-Médoc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L'Oratoire de Chasse-Spleen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13,90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Saint-Julien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Eléonore du Château Teynac</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2019</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14,25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Saint-Julien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les Ormes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2017</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Pauillac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Fleur de Haut-Bages Libéral</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2019</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17,00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Graves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Graves de Bouscaut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Pessac-Léognan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Valoux</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7,95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Pessac-Léognan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Lamothe Bouscaut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2021</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11,95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Saint-Georges-Saint-Emilion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Macquin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Saint-Emilion Grand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du Cauze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8,95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Lalande-de-Pomerol</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la Croix Saint-André</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7,95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Pomerol</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Feytit-Guillot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7" name="Shape 12"/>
          <p:cNvSpPr/>
          <p:nvPr/>
        </p:nvSpPr>
        <p:spPr>
          <a:xfrm>
            <a:off x="828000" y="6313554"/>
            <a:ext cx="0" cy="288349"/>
          </a:xfrm>
          <a:prstGeom prst="line">
            <a:avLst/>
          </a:prstGeom>
          <a:noFill/>
          <a:ln w="17780">
            <a:solidFill>
              <a:srgbClr val="67067C"/>
            </a:solidFill>
            <a:prstDash val="solid"/>
          </a:ln>
        </p:spPr>
      </p:sp>
      <p:sp>
        <p:nvSpPr>
          <p:cNvPr id="18" name="Text 13"/>
          <p:cNvSpPr/>
          <p:nvPr/>
        </p:nvSpPr>
        <p:spPr>
          <a:xfrm>
            <a:off x="936000" y="6313554"/>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Demander le tarif et offre.</a:t>
            </a:r>
            <a:endParaRPr lang="en-US" sz="1050" dirty="0"/>
          </a:p>
        </p:txBody>
      </p:sp>
      <p:sp>
        <p:nvSpPr>
          <p:cNvPr id="19" name="Text 14"/>
          <p:cNvSpPr/>
          <p:nvPr/>
        </p:nvSpPr>
        <p:spPr>
          <a:xfrm>
            <a:off x="828000" y="6745903"/>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BORDEAUX — GRAVES ET ARGILO-CALCAIRE</a:t>
            </a:r>
            <a:endParaRPr lang="en-US" sz="720" dirty="0"/>
          </a:p>
        </p:txBody>
      </p:sp>
      <p:pic>
        <p:nvPicPr>
          <p:cNvPr id="20" name="Image 2" descr="/home/user/philippe1/build/deco-catalogue-scio-2026/sol-bordeaux.png">    </p:cNvPr>
          <p:cNvPicPr>
            <a:picLocks noChangeAspect="1"/>
          </p:cNvPicPr>
          <p:nvPr/>
        </p:nvPicPr>
        <p:blipFill>
          <a:blip r:embed="rId3"/>
          <a:stretch>
            <a:fillRect/>
          </a:stretch>
        </p:blipFill>
        <p:spPr>
          <a:xfrm>
            <a:off x="828000" y="6893503"/>
            <a:ext cx="6120000" cy="1148400"/>
          </a:xfrm>
          <a:prstGeom prst="rect">
            <a:avLst/>
          </a:prstGeom>
        </p:spPr>
      </p:pic>
      <p:sp>
        <p:nvSpPr>
          <p:cNvPr id="21" name="Shape 15"/>
          <p:cNvSpPr/>
          <p:nvPr/>
        </p:nvSpPr>
        <p:spPr>
          <a:xfrm>
            <a:off x="828000" y="8388000"/>
            <a:ext cx="6120000" cy="0"/>
          </a:xfrm>
          <a:prstGeom prst="line">
            <a:avLst/>
          </a:prstGeom>
          <a:noFill/>
          <a:ln w="8890">
            <a:solidFill>
              <a:srgbClr val="46606E"/>
            </a:solidFill>
            <a:prstDash val="solid"/>
          </a:ln>
        </p:spPr>
      </p:sp>
      <p:sp>
        <p:nvSpPr>
          <p:cNvPr id="22" name="Text 16"/>
          <p:cNvSpPr/>
          <p:nvPr/>
        </p:nvSpPr>
        <p:spPr>
          <a:xfrm>
            <a:off x="828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49 · 85</a:t>
            </a:r>
            <a:endParaRPr lang="en-US" sz="720" dirty="0"/>
          </a:p>
        </p:txBody>
      </p:sp>
      <p:sp>
        <p:nvSpPr>
          <p:cNvPr id="23" name="Text 17"/>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 Doux     pictos de l’Agence SCIO, pas les logos officiels</a:t>
            </a:r>
            <a:endParaRPr lang="en-US" sz="650" dirty="0"/>
          </a:p>
        </p:txBody>
      </p:sp>
      <p:sp>
        <p:nvSpPr>
          <p:cNvPr id="24" name="Text 18"/>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44</a:t>
            </a:r>
            <a:endParaRPr lang="en-US" sz="750" dirty="0"/>
          </a:p>
        </p:txBody>
      </p:sp>
      <p:sp>
        <p:nvSpPr>
          <p:cNvPr id="25" name="Text 19"/>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rdeaux.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26</a:t>
            </a:r>
            <a:r>
              <a:rPr lang="en-US" sz="2000" dirty="0">
                <a:solidFill>
                  <a:srgbClr val="46606E"/>
                </a:solidFill>
                <a:latin typeface="Young Serif" pitchFamily="34" charset="0"/>
                <a:ea typeface="Young Serif" pitchFamily="34" charset="-122"/>
                <a:cs typeface="Young Serif" pitchFamily="34" charset="-120"/>
              </a:rPr>
              <a:t>   Château la Gorce</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83600"/>
            <a:ext cx="108000" cy="108000"/>
          </a:xfrm>
          <a:prstGeom prst="rect">
            <a:avLst/>
          </a:prstGeom>
        </p:spPr>
      </p:pic>
      <p:sp>
        <p:nvSpPr>
          <p:cNvPr id="9" name="Text 5"/>
          <p:cNvSpPr/>
          <p:nvPr/>
        </p:nvSpPr>
        <p:spPr>
          <a:xfrm>
            <a:off x="7596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476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177651"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642325" y="1047600"/>
            <a:ext cx="787182"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42325"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11 références</a:t>
            </a:r>
            <a:endParaRPr lang="en-US" sz="720" dirty="0"/>
          </a:p>
        </p:txBody>
      </p:sp>
      <p:pic>
        <p:nvPicPr>
          <p:cNvPr id="14" name="Image 2" descr="portrait des vignerons — Château la Gorce">    </p:cNvPr>
          <p:cNvPicPr>
            <a:picLocks noChangeAspect="1"/>
          </p:cNvPicPr>
          <p:nvPr/>
        </p:nvPicPr>
        <p:blipFill>
          <a:blip r:embed="rId3"/>
          <a:srcRect l="0" r="0" t="11067" b="22266"/>
          <a:stretch/>
        </p:blipFill>
        <p:spPr>
          <a:xfrm>
            <a:off x="612000" y="1357200"/>
            <a:ext cx="1440000" cy="1440000"/>
          </a:xfrm>
          <a:prstGeom prst="ellipse">
            <a:avLst/>
          </a:prstGeom>
        </p:spPr>
      </p:pic>
      <p:pic>
        <p:nvPicPr>
          <p:cNvPr id="15" name="Image 3" descr="Une bouteille du domaine Château la Gorce">    </p:cNvPr>
          <p:cNvPicPr>
            <a:picLocks noChangeAspect="1"/>
          </p:cNvPicPr>
          <p:nvPr/>
        </p:nvPicPr>
        <p:blipFill>
          <a:blip r:embed="rId4"/>
          <a:stretch>
            <a:fillRect/>
          </a:stretch>
        </p:blipFill>
        <p:spPr>
          <a:xfrm>
            <a:off x="6024049" y="1357200"/>
            <a:ext cx="551902" cy="2232000"/>
          </a:xfrm>
          <a:prstGeom prst="rect">
            <a:avLst/>
          </a:prstGeom>
        </p:spPr>
      </p:pic>
      <p:sp>
        <p:nvSpPr>
          <p:cNvPr id="16" name="Text 10"/>
          <p:cNvSpPr/>
          <p:nvPr/>
        </p:nvSpPr>
        <p:spPr>
          <a:xfrm>
            <a:off x="2177992" y="1188595"/>
            <a:ext cx="292658" cy="505765"/>
          </a:xfrm>
          <a:prstGeom prst="rect">
            <a:avLst/>
          </a:prstGeom>
          <a:noFill/>
          <a:ln/>
        </p:spPr>
        <p:txBody>
          <a:bodyPr wrap="square" lIns="0" tIns="0" rIns="0" bIns="0" rtlCol="0" anchor="t"/>
          <a:lstStyle/>
          <a:p>
            <a:pPr algn="r" indent="0" marL="0">
              <a:lnSpc>
                <a:spcPct val="121600"/>
              </a:lnSpc>
              <a:buNone/>
            </a:pPr>
            <a:r>
              <a:rPr lang="en-US" sz="2489" dirty="0">
                <a:solidFill>
                  <a:srgbClr val="67067C"/>
                </a:solidFill>
                <a:latin typeface="Young Serif" pitchFamily="34" charset="0"/>
                <a:ea typeface="Young Serif" pitchFamily="34" charset="-122"/>
                <a:cs typeface="Young Serif" pitchFamily="34" charset="-120"/>
              </a:rPr>
              <a:t>E</a:t>
            </a:r>
            <a:endParaRPr lang="en-US" sz="2489" dirty="0"/>
          </a:p>
        </p:txBody>
      </p:sp>
      <p:sp>
        <p:nvSpPr>
          <p:cNvPr id="17" name="Text 11"/>
          <p:cNvSpPr/>
          <p:nvPr/>
        </p:nvSpPr>
        <p:spPr>
          <a:xfrm>
            <a:off x="2232000" y="1338415"/>
            <a:ext cx="3456000" cy="2250686"/>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n activité depuis 1822, reconnu cru bourgeois dans le classement de 1932, le domaine a été repris en 2018 par Emmanuel et Mana Martin qui initièrent immédiatement la conversion de l’intégralité des quarante-huit hectares vers l’agriculture biologique, désormais achevée sur toutes les cuvées depuis le millésime 2022.</a:t>
            </a:r>
            <a:endParaRPr lang="en-US" sz="13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612000" y="37511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90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Médoc Cru Bourgeois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la Gorce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2019</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7,05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Médoc Cru Bourgeois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la Gorce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2019</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1,5 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14,15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Médoc Cru Bourgeois (AB)</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la Gorce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7,05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Médoc Cru Bourgeois (AB)</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la Gorce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1,5 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14,15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Médoc – Série limitée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Préface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5,55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Text 12"/>
          <p:cNvSpPr/>
          <p:nvPr/>
        </p:nvSpPr>
        <p:spPr>
          <a:xfrm>
            <a:off x="612000" y="6128564"/>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BORDEAUX — GRAVES ET ARGILO-CALCAIRE</a:t>
            </a:r>
            <a:endParaRPr lang="en-US" sz="720" dirty="0"/>
          </a:p>
        </p:txBody>
      </p:sp>
      <p:pic>
        <p:nvPicPr>
          <p:cNvPr id="20" name="Image 4" descr="/home/user/philippe1/build/deco-catalogue-scio-2026/sol-bordeaux.png">    </p:cNvPr>
          <p:cNvPicPr>
            <a:picLocks noChangeAspect="1"/>
          </p:cNvPicPr>
          <p:nvPr/>
        </p:nvPicPr>
        <p:blipFill>
          <a:blip r:embed="rId5"/>
          <a:stretch>
            <a:fillRect/>
          </a:stretch>
        </p:blipFill>
        <p:spPr>
          <a:xfrm>
            <a:off x="612000" y="6276164"/>
            <a:ext cx="6120000" cy="1148400"/>
          </a:xfrm>
          <a:prstGeom prst="rect">
            <a:avLst/>
          </a:prstGeom>
        </p:spPr>
      </p:pic>
      <p:sp>
        <p:nvSpPr>
          <p:cNvPr id="21" name="Shape 13"/>
          <p:cNvSpPr/>
          <p:nvPr/>
        </p:nvSpPr>
        <p:spPr>
          <a:xfrm>
            <a:off x="612000" y="8388000"/>
            <a:ext cx="6120000" cy="0"/>
          </a:xfrm>
          <a:prstGeom prst="line">
            <a:avLst/>
          </a:prstGeom>
          <a:noFill/>
          <a:ln w="8890">
            <a:solidFill>
              <a:srgbClr val="46606E"/>
            </a:solidFill>
            <a:prstDash val="solid"/>
          </a:ln>
        </p:spPr>
      </p:sp>
      <p:sp>
        <p:nvSpPr>
          <p:cNvPr id="22" name="Text 14"/>
          <p:cNvSpPr/>
          <p:nvPr/>
        </p:nvSpPr>
        <p:spPr>
          <a:xfrm>
            <a:off x="612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3" name="Text 15"/>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Rosé    ● Rouge     pictos de l’Agence SCIO, pas les logos officiels</a:t>
            </a:r>
            <a:endParaRPr lang="en-US" sz="650" dirty="0"/>
          </a:p>
        </p:txBody>
      </p:sp>
      <p:sp>
        <p:nvSpPr>
          <p:cNvPr id="24" name="Text 16"/>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45</a:t>
            </a:r>
            <a:endParaRPr lang="en-US" sz="750" dirty="0"/>
          </a:p>
        </p:txBody>
      </p:sp>
      <p:sp>
        <p:nvSpPr>
          <p:cNvPr id="25" name="Text 17"/>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rdeaux.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26</a:t>
            </a:r>
            <a:r>
              <a:rPr lang="en-US" sz="2000" dirty="0">
                <a:solidFill>
                  <a:srgbClr val="46606E"/>
                </a:solidFill>
                <a:latin typeface="Young Serif" pitchFamily="34" charset="0"/>
                <a:ea typeface="Young Serif" pitchFamily="34" charset="-122"/>
                <a:cs typeface="Young Serif" pitchFamily="34" charset="-120"/>
              </a:rPr>
              <a:t>   Château la Gorce</a:t>
            </a:r>
            <a:r>
              <a:rPr lang="en-US" sz="1100" i="1" dirty="0">
                <a:solidFill>
                  <a:srgbClr val="A8515F"/>
                </a:solidFill>
                <a:latin typeface="Spectral" pitchFamily="34" charset="0"/>
                <a:ea typeface="Spectral" pitchFamily="34" charset="-122"/>
                <a:cs typeface="Spectral" pitchFamily="34" charset="-120"/>
              </a:rPr>
              <a:t>  (suite)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83600"/>
            <a:ext cx="108000" cy="108000"/>
          </a:xfrm>
          <a:prstGeom prst="rect">
            <a:avLst/>
          </a:prstGeom>
        </p:spPr>
      </p:pic>
      <p:sp>
        <p:nvSpPr>
          <p:cNvPr id="9" name="Text 5"/>
          <p:cNvSpPr/>
          <p:nvPr/>
        </p:nvSpPr>
        <p:spPr>
          <a:xfrm>
            <a:off x="9756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476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858325" y="1047600"/>
            <a:ext cx="787182"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58325"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11 références</a:t>
            </a:r>
            <a:endParaRPr lang="en-US" sz="72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828000" y="13572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 (SUITE)</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90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Médoc (AB)</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Prétexte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6,55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6,45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Médoc (AB)</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Rouge Intense – sans sulfites ajoutés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6,25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Médoc (AB)</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L'An 022 – élevé en amphore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9,75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9,65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Rosé DADA</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6,45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Médoc (AB)</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Bonne Résolution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6,35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Médoc (AB)</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Canteloup</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5,05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4,95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5" name="Shape 10"/>
          <p:cNvSpPr/>
          <p:nvPr/>
        </p:nvSpPr>
        <p:spPr>
          <a:xfrm>
            <a:off x="828000" y="4066547"/>
            <a:ext cx="0" cy="288349"/>
          </a:xfrm>
          <a:prstGeom prst="line">
            <a:avLst/>
          </a:prstGeom>
          <a:noFill/>
          <a:ln w="17780">
            <a:solidFill>
              <a:srgbClr val="67067C"/>
            </a:solidFill>
            <a:prstDash val="solid"/>
          </a:ln>
        </p:spPr>
      </p:sp>
      <p:sp>
        <p:nvSpPr>
          <p:cNvPr id="16" name="Text 11"/>
          <p:cNvSpPr/>
          <p:nvPr/>
        </p:nvSpPr>
        <p:spPr>
          <a:xfrm>
            <a:off x="936000" y="4066547"/>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17" name="Text 12"/>
          <p:cNvSpPr/>
          <p:nvPr/>
        </p:nvSpPr>
        <p:spPr>
          <a:xfrm>
            <a:off x="828000" y="4498896"/>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BORDEAUX — GRAVES ET ARGILO-CALCAIRE</a:t>
            </a:r>
            <a:endParaRPr lang="en-US" sz="720" dirty="0"/>
          </a:p>
        </p:txBody>
      </p:sp>
      <p:pic>
        <p:nvPicPr>
          <p:cNvPr id="18" name="Image 2" descr="/home/user/philippe1/build/deco-catalogue-scio-2026/sol-bordeaux.png">    </p:cNvPr>
          <p:cNvPicPr>
            <a:picLocks noChangeAspect="1"/>
          </p:cNvPicPr>
          <p:nvPr/>
        </p:nvPicPr>
        <p:blipFill>
          <a:blip r:embed="rId3"/>
          <a:stretch>
            <a:fillRect/>
          </a:stretch>
        </p:blipFill>
        <p:spPr>
          <a:xfrm>
            <a:off x="828000" y="4646496"/>
            <a:ext cx="6120000" cy="2056430"/>
          </a:xfrm>
          <a:prstGeom prst="rect">
            <a:avLst/>
          </a:prstGeom>
        </p:spPr>
      </p:pic>
      <p:sp>
        <p:nvSpPr>
          <p:cNvPr id="19" name="Shape 13"/>
          <p:cNvSpPr/>
          <p:nvPr/>
        </p:nvSpPr>
        <p:spPr>
          <a:xfrm>
            <a:off x="828000" y="8388000"/>
            <a:ext cx="6120000" cy="0"/>
          </a:xfrm>
          <a:prstGeom prst="line">
            <a:avLst/>
          </a:prstGeom>
          <a:noFill/>
          <a:ln w="8890">
            <a:solidFill>
              <a:srgbClr val="46606E"/>
            </a:solidFill>
            <a:prstDash val="solid"/>
          </a:ln>
        </p:spPr>
      </p:sp>
      <p:sp>
        <p:nvSpPr>
          <p:cNvPr id="20" name="Text 14"/>
          <p:cNvSpPr/>
          <p:nvPr/>
        </p:nvSpPr>
        <p:spPr>
          <a:xfrm>
            <a:off x="828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1" name="Text 15"/>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Rosé    ● Rouge     pictos de l’Agence SCIO, pas les logos officiels</a:t>
            </a:r>
            <a:endParaRPr lang="en-US" sz="650" dirty="0"/>
          </a:p>
        </p:txBody>
      </p:sp>
      <p:sp>
        <p:nvSpPr>
          <p:cNvPr id="22" name="Text 16"/>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46</a:t>
            </a:r>
            <a:endParaRPr lang="en-US" sz="750" dirty="0"/>
          </a:p>
        </p:txBody>
      </p:sp>
      <p:sp>
        <p:nvSpPr>
          <p:cNvPr id="23" name="Text 17"/>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rdeaux.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27</a:t>
            </a:r>
            <a:r>
              <a:rPr lang="en-US" sz="2000" dirty="0">
                <a:solidFill>
                  <a:srgbClr val="46606E"/>
                </a:solidFill>
                <a:latin typeface="Young Serif" pitchFamily="34" charset="0"/>
                <a:ea typeface="Young Serif" pitchFamily="34" charset="-122"/>
                <a:cs typeface="Young Serif" pitchFamily="34" charset="-120"/>
              </a:rPr>
              <a:t>   Château Falfas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851480"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biodyn.png">    </p:cNvPr>
          <p:cNvPicPr>
            <a:picLocks noChangeAspect="1"/>
          </p:cNvPicPr>
          <p:nvPr/>
        </p:nvPicPr>
        <p:blipFill>
          <a:blip r:embed="rId2"/>
          <a:stretch>
            <a:fillRect/>
          </a:stretch>
        </p:blipFill>
        <p:spPr>
          <a:xfrm>
            <a:off x="684000" y="1083600"/>
            <a:ext cx="108000" cy="108000"/>
          </a:xfrm>
          <a:prstGeom prst="rect">
            <a:avLst/>
          </a:prstGeom>
        </p:spPr>
      </p:pic>
      <p:sp>
        <p:nvSpPr>
          <p:cNvPr id="9" name="Text 5"/>
          <p:cNvSpPr/>
          <p:nvPr/>
        </p:nvSpPr>
        <p:spPr>
          <a:xfrm>
            <a:off x="759600" y="1047600"/>
            <a:ext cx="703880"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Biodynamie</a:t>
            </a:r>
            <a:endParaRPr lang="en-US" sz="720" dirty="0"/>
          </a:p>
        </p:txBody>
      </p:sp>
      <p:sp>
        <p:nvSpPr>
          <p:cNvPr id="10" name="Shape 6"/>
          <p:cNvSpPr/>
          <p:nvPr/>
        </p:nvSpPr>
        <p:spPr>
          <a:xfrm>
            <a:off x="1542680" y="10476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542680"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3007354" y="10476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3007354"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pic>
        <p:nvPicPr>
          <p:cNvPr id="14" name="Image 2" descr="logo du château — Château Falfas">    </p:cNvPr>
          <p:cNvPicPr>
            <a:picLocks noChangeAspect="1"/>
          </p:cNvPicPr>
          <p:nvPr/>
        </p:nvPicPr>
        <p:blipFill>
          <a:blip r:embed="rId3"/>
          <a:stretch>
            <a:fillRect/>
          </a:stretch>
        </p:blipFill>
        <p:spPr>
          <a:xfrm>
            <a:off x="612000" y="1357200"/>
            <a:ext cx="1440000" cy="1440000"/>
          </a:xfrm>
          <a:prstGeom prst="rect">
            <a:avLst/>
          </a:prstGeom>
        </p:spPr>
      </p:pic>
      <p:pic>
        <p:nvPicPr>
          <p:cNvPr id="15" name="Image 3" descr="Une bouteille du domaine Château Falfas">    </p:cNvPr>
          <p:cNvPicPr>
            <a:picLocks noChangeAspect="1"/>
          </p:cNvPicPr>
          <p:nvPr/>
        </p:nvPicPr>
        <p:blipFill>
          <a:blip r:embed="rId4"/>
          <a:stretch>
            <a:fillRect/>
          </a:stretch>
        </p:blipFill>
        <p:spPr>
          <a:xfrm>
            <a:off x="6028623" y="1357200"/>
            <a:ext cx="542754" cy="2232000"/>
          </a:xfrm>
          <a:prstGeom prst="rect">
            <a:avLst/>
          </a:prstGeom>
        </p:spPr>
      </p:pic>
      <p:sp>
        <p:nvSpPr>
          <p:cNvPr id="16" name="Text 10"/>
          <p:cNvSpPr/>
          <p:nvPr/>
        </p:nvSpPr>
        <p:spPr>
          <a:xfrm>
            <a:off x="2177960" y="1352724"/>
            <a:ext cx="251415" cy="436880"/>
          </a:xfrm>
          <a:prstGeom prst="rect">
            <a:avLst/>
          </a:prstGeom>
          <a:noFill/>
          <a:ln/>
        </p:spPr>
        <p:txBody>
          <a:bodyPr wrap="square" lIns="0" tIns="0" rIns="0" bIns="0" rtlCol="0" anchor="t"/>
          <a:lstStyle/>
          <a:p>
            <a:pPr algn="r" indent="0" marL="0">
              <a:lnSpc>
                <a:spcPct val="126100"/>
              </a:lnSpc>
              <a:buNone/>
            </a:pPr>
            <a:r>
              <a:rPr lang="en-US" sz="2150" dirty="0">
                <a:solidFill>
                  <a:srgbClr val="67067C"/>
                </a:solidFill>
                <a:latin typeface="Young Serif" pitchFamily="34" charset="0"/>
                <a:ea typeface="Young Serif" pitchFamily="34" charset="-122"/>
                <a:cs typeface="Young Serif" pitchFamily="34" charset="-120"/>
              </a:rPr>
              <a:t>S</a:t>
            </a:r>
            <a:endParaRPr lang="en-US" sz="2150" dirty="0"/>
          </a:p>
        </p:txBody>
      </p:sp>
      <p:sp>
        <p:nvSpPr>
          <p:cNvPr id="17" name="Text 11"/>
          <p:cNvSpPr/>
          <p:nvPr/>
        </p:nvSpPr>
        <p:spPr>
          <a:xfrm>
            <a:off x="2232000" y="1462935"/>
            <a:ext cx="3456000" cy="2126165"/>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entinelle édifiée en 1612 sur les coteaux argilo-calcaires de Bayon, Falfas est une référence pionnière de la biodynamie bordelaise, membre fondateur de Biodyvin sous la houlette de John et Véronique Cochran. Vingt hectares vendangés à la main pour des Côtes de Bourg racés et de longue garde.</a:t>
            </a:r>
            <a:endParaRPr lang="en-US" sz="13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612000" y="37511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Côtes de Bourg</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Demoiselles de Falfas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Côtes de Bourg</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Falfas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Côtes de Bourg</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Falfas Le Chevalier (Vieilles Vignes)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2021</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22,50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612000" y="5240205"/>
            <a:ext cx="0" cy="288349"/>
          </a:xfrm>
          <a:prstGeom prst="line">
            <a:avLst/>
          </a:prstGeom>
          <a:noFill/>
          <a:ln w="17780">
            <a:solidFill>
              <a:srgbClr val="67067C"/>
            </a:solidFill>
            <a:prstDash val="solid"/>
          </a:ln>
        </p:spPr>
      </p:sp>
      <p:sp>
        <p:nvSpPr>
          <p:cNvPr id="20" name="Text 13"/>
          <p:cNvSpPr/>
          <p:nvPr/>
        </p:nvSpPr>
        <p:spPr>
          <a:xfrm>
            <a:off x="720000" y="5240205"/>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612000" y="5672555"/>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BORDEAUX — GRAVES ET ARGILO-CALCAIRE</a:t>
            </a:r>
            <a:endParaRPr lang="en-US" sz="720" dirty="0"/>
          </a:p>
        </p:txBody>
      </p:sp>
      <p:pic>
        <p:nvPicPr>
          <p:cNvPr id="22" name="Image 4" descr="/home/user/philippe1/build/deco-catalogue-scio-2026/sol-bordeaux.png">    </p:cNvPr>
          <p:cNvPicPr>
            <a:picLocks noChangeAspect="1"/>
          </p:cNvPicPr>
          <p:nvPr/>
        </p:nvPicPr>
        <p:blipFill>
          <a:blip r:embed="rId5"/>
          <a:stretch>
            <a:fillRect/>
          </a:stretch>
        </p:blipFill>
        <p:spPr>
          <a:xfrm>
            <a:off x="612000" y="5820155"/>
            <a:ext cx="6120000" cy="1352235"/>
          </a:xfrm>
          <a:prstGeom prst="rect">
            <a:avLst/>
          </a:prstGeom>
        </p:spPr>
      </p:pic>
      <p:sp>
        <p:nvSpPr>
          <p:cNvPr id="23" name="Shape 15"/>
          <p:cNvSpPr/>
          <p:nvPr/>
        </p:nvSpPr>
        <p:spPr>
          <a:xfrm>
            <a:off x="612000" y="8388000"/>
            <a:ext cx="6120000" cy="0"/>
          </a:xfrm>
          <a:prstGeom prst="line">
            <a:avLst/>
          </a:prstGeom>
          <a:noFill/>
          <a:ln w="8890">
            <a:solidFill>
              <a:srgbClr val="46606E"/>
            </a:solidFill>
            <a:prstDash val="solid"/>
          </a:ln>
        </p:spPr>
      </p:sp>
      <p:sp>
        <p:nvSpPr>
          <p:cNvPr id="24" name="Text 16"/>
          <p:cNvSpPr/>
          <p:nvPr/>
        </p:nvSpPr>
        <p:spPr>
          <a:xfrm>
            <a:off x="612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Rouge     pictos de l’Agence SCIO, pas les logos officiels</a:t>
            </a:r>
            <a:endParaRPr lang="en-US" sz="650" dirty="0"/>
          </a:p>
        </p:txBody>
      </p:sp>
      <p:sp>
        <p:nvSpPr>
          <p:cNvPr id="26" name="Text 18"/>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47</a:t>
            </a:r>
            <a:endParaRPr lang="en-US" sz="750" dirty="0"/>
          </a:p>
        </p:txBody>
      </p:sp>
      <p:sp>
        <p:nvSpPr>
          <p:cNvPr id="27" name="Text 19"/>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rdeaux.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28</a:t>
            </a:r>
            <a:r>
              <a:rPr lang="en-US" sz="2000" dirty="0">
                <a:solidFill>
                  <a:srgbClr val="46606E"/>
                </a:solidFill>
                <a:latin typeface="Young Serif" pitchFamily="34" charset="0"/>
                <a:ea typeface="Young Serif" pitchFamily="34" charset="-122"/>
                <a:cs typeface="Young Serif" pitchFamily="34" charset="-120"/>
              </a:rPr>
              <a:t>   Château Pré la Lande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851480"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biodyn.png">    </p:cNvPr>
          <p:cNvPicPr>
            <a:picLocks noChangeAspect="1"/>
          </p:cNvPicPr>
          <p:nvPr/>
        </p:nvPicPr>
        <p:blipFill>
          <a:blip r:embed="rId2"/>
          <a:stretch>
            <a:fillRect/>
          </a:stretch>
        </p:blipFill>
        <p:spPr>
          <a:xfrm>
            <a:off x="900000" y="1083600"/>
            <a:ext cx="108000" cy="108000"/>
          </a:xfrm>
          <a:prstGeom prst="rect">
            <a:avLst/>
          </a:prstGeom>
        </p:spPr>
      </p:pic>
      <p:sp>
        <p:nvSpPr>
          <p:cNvPr id="9" name="Text 5"/>
          <p:cNvSpPr/>
          <p:nvPr/>
        </p:nvSpPr>
        <p:spPr>
          <a:xfrm>
            <a:off x="975600" y="1047600"/>
            <a:ext cx="703880"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Biodynamie</a:t>
            </a:r>
            <a:endParaRPr lang="en-US" sz="720" dirty="0"/>
          </a:p>
        </p:txBody>
      </p:sp>
      <p:sp>
        <p:nvSpPr>
          <p:cNvPr id="10" name="Shape 6"/>
          <p:cNvSpPr/>
          <p:nvPr/>
        </p:nvSpPr>
        <p:spPr>
          <a:xfrm>
            <a:off x="1758680" y="10476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758680"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3223354" y="10476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3223354"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pic>
        <p:nvPicPr>
          <p:cNvPr id="14" name="Image 2" descr="vendanges au domaine — Château Pré la Lande">    </p:cNvPr>
          <p:cNvPicPr>
            <a:picLocks noChangeAspect="1"/>
          </p:cNvPicPr>
          <p:nvPr/>
        </p:nvPicPr>
        <p:blipFill>
          <a:blip r:embed="rId3"/>
          <a:srcRect l="10000" r="10000" t="0" b="0"/>
          <a:stretch/>
        </p:blipFill>
        <p:spPr>
          <a:xfrm>
            <a:off x="828000" y="1357200"/>
            <a:ext cx="1440000" cy="1440000"/>
          </a:xfrm>
          <a:prstGeom prst="ellipse">
            <a:avLst/>
          </a:prstGeom>
        </p:spPr>
      </p:pic>
      <p:pic>
        <p:nvPicPr>
          <p:cNvPr id="15" name="Image 3" descr="Une bouteille du domaine Château Pré la Lande">    </p:cNvPr>
          <p:cNvPicPr>
            <a:picLocks noChangeAspect="1"/>
          </p:cNvPicPr>
          <p:nvPr/>
        </p:nvPicPr>
        <p:blipFill>
          <a:blip r:embed="rId4"/>
          <a:stretch>
            <a:fillRect/>
          </a:stretch>
        </p:blipFill>
        <p:spPr>
          <a:xfrm>
            <a:off x="6238525" y="1357200"/>
            <a:ext cx="554951" cy="2232000"/>
          </a:xfrm>
          <a:prstGeom prst="rect">
            <a:avLst/>
          </a:prstGeom>
        </p:spPr>
      </p:pic>
      <p:sp>
        <p:nvSpPr>
          <p:cNvPr id="16" name="Text 10"/>
          <p:cNvSpPr/>
          <p:nvPr/>
        </p:nvSpPr>
        <p:spPr>
          <a:xfrm>
            <a:off x="2394017" y="1347879"/>
            <a:ext cx="251358" cy="451104"/>
          </a:xfrm>
          <a:prstGeom prst="rect">
            <a:avLst/>
          </a:prstGeom>
          <a:noFill/>
          <a:ln/>
        </p:spPr>
        <p:txBody>
          <a:bodyPr wrap="square" lIns="0" tIns="0" rIns="0" bIns="0" rtlCol="0" anchor="t"/>
          <a:lstStyle/>
          <a:p>
            <a:pPr algn="r" indent="0" marL="0">
              <a:lnSpc>
                <a:spcPct val="125000"/>
              </a:lnSpc>
              <a:buNone/>
            </a:pPr>
            <a:r>
              <a:rPr lang="en-US" sz="2220" dirty="0">
                <a:solidFill>
                  <a:srgbClr val="67067C"/>
                </a:solidFill>
                <a:latin typeface="Young Serif" pitchFamily="34" charset="0"/>
                <a:ea typeface="Young Serif" pitchFamily="34" charset="-122"/>
                <a:cs typeface="Young Serif" pitchFamily="34" charset="-120"/>
              </a:rPr>
              <a:t>P</a:t>
            </a:r>
            <a:endParaRPr lang="en-US" sz="2220" dirty="0"/>
          </a:p>
        </p:txBody>
      </p:sp>
      <p:sp>
        <p:nvSpPr>
          <p:cNvPr id="17" name="Text 11"/>
          <p:cNvSpPr/>
          <p:nvPr/>
        </p:nvSpPr>
        <p:spPr>
          <a:xfrm>
            <a:off x="2448000" y="1466269"/>
            <a:ext cx="3456000" cy="2122832"/>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erchée à 120 mètres au-dessus de la vallée de la Dordogne, cette propriété de 1860 conduit une biodynamie certifiée Demeter d’une remarquable précision. Vinifications douces, sulfites au strict minimum, élevages en barriques et amphores : des vins vivants, d’une grande vibration minérale.</a:t>
            </a:r>
            <a:endParaRPr lang="en-US" sz="13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828000" y="37511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Sainte-Foy Côtes de Bordeaux</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Cuvée Diane / Le Vin Cœur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Sainte-Foy Côtes de Bordeaux</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Cuvée TerraCotta / L'An Fort des Haltères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2021</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Sainte-Foy Côtes de Bordeaux</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Cuvée des Fontenelles / Y'a Rien qui Presse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828000" y="5240205"/>
            <a:ext cx="0" cy="288349"/>
          </a:xfrm>
          <a:prstGeom prst="line">
            <a:avLst/>
          </a:prstGeom>
          <a:noFill/>
          <a:ln w="17780">
            <a:solidFill>
              <a:srgbClr val="67067C"/>
            </a:solidFill>
            <a:prstDash val="solid"/>
          </a:ln>
        </p:spPr>
      </p:sp>
      <p:sp>
        <p:nvSpPr>
          <p:cNvPr id="20" name="Text 13"/>
          <p:cNvSpPr/>
          <p:nvPr/>
        </p:nvSpPr>
        <p:spPr>
          <a:xfrm>
            <a:off x="936000" y="5240205"/>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départ chai.</a:t>
            </a:r>
            <a:endParaRPr lang="en-US" sz="1050" dirty="0"/>
          </a:p>
        </p:txBody>
      </p:sp>
      <p:sp>
        <p:nvSpPr>
          <p:cNvPr id="21" name="Text 14"/>
          <p:cNvSpPr/>
          <p:nvPr/>
        </p:nvSpPr>
        <p:spPr>
          <a:xfrm>
            <a:off x="828000" y="5672555"/>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BORDEAUX — GRAVES ET ARGILO-CALCAIRE</a:t>
            </a:r>
            <a:endParaRPr lang="en-US" sz="720" dirty="0"/>
          </a:p>
        </p:txBody>
      </p:sp>
      <p:pic>
        <p:nvPicPr>
          <p:cNvPr id="22" name="Image 4" descr="/home/user/philippe1/build/deco-catalogue-scio-2026/sol-bordeaux.png">    </p:cNvPr>
          <p:cNvPicPr>
            <a:picLocks noChangeAspect="1"/>
          </p:cNvPicPr>
          <p:nvPr/>
        </p:nvPicPr>
        <p:blipFill>
          <a:blip r:embed="rId5"/>
          <a:stretch>
            <a:fillRect/>
          </a:stretch>
        </p:blipFill>
        <p:spPr>
          <a:xfrm>
            <a:off x="828000" y="5820155"/>
            <a:ext cx="6120000" cy="1352235"/>
          </a:xfrm>
          <a:prstGeom prst="rect">
            <a:avLst/>
          </a:prstGeom>
        </p:spPr>
      </p:pic>
      <p:sp>
        <p:nvSpPr>
          <p:cNvPr id="23" name="Shape 15"/>
          <p:cNvSpPr/>
          <p:nvPr/>
        </p:nvSpPr>
        <p:spPr>
          <a:xfrm>
            <a:off x="828000" y="8388000"/>
            <a:ext cx="6120000" cy="0"/>
          </a:xfrm>
          <a:prstGeom prst="line">
            <a:avLst/>
          </a:prstGeom>
          <a:noFill/>
          <a:ln w="8890">
            <a:solidFill>
              <a:srgbClr val="46606E"/>
            </a:solidFill>
            <a:prstDash val="solid"/>
          </a:ln>
        </p:spPr>
      </p:sp>
      <p:sp>
        <p:nvSpPr>
          <p:cNvPr id="24" name="Text 16"/>
          <p:cNvSpPr/>
          <p:nvPr/>
        </p:nvSpPr>
        <p:spPr>
          <a:xfrm>
            <a:off x="828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Rouge     pictos de l’Agence SCIO, pas les logos officiels</a:t>
            </a:r>
            <a:endParaRPr lang="en-US" sz="650" dirty="0"/>
          </a:p>
        </p:txBody>
      </p:sp>
      <p:sp>
        <p:nvSpPr>
          <p:cNvPr id="26" name="Text 18"/>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48</a:t>
            </a:r>
            <a:endParaRPr lang="en-US" sz="750" dirty="0"/>
          </a:p>
        </p:txBody>
      </p:sp>
      <p:sp>
        <p:nvSpPr>
          <p:cNvPr id="27" name="Text 19"/>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rdeaux.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29</a:t>
            </a:r>
            <a:r>
              <a:rPr lang="en-US" sz="2000" dirty="0">
                <a:solidFill>
                  <a:srgbClr val="46606E"/>
                </a:solidFill>
                <a:latin typeface="Young Serif" pitchFamily="34" charset="0"/>
                <a:ea typeface="Young Serif" pitchFamily="34" charset="-122"/>
                <a:cs typeface="Young Serif" pitchFamily="34" charset="-120"/>
              </a:rPr>
              <a:t>   Château Balac</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83600"/>
            <a:ext cx="108000" cy="108000"/>
          </a:xfrm>
          <a:prstGeom prst="rect">
            <a:avLst/>
          </a:prstGeom>
        </p:spPr>
      </p:pic>
      <p:sp>
        <p:nvSpPr>
          <p:cNvPr id="9" name="Text 5"/>
          <p:cNvSpPr/>
          <p:nvPr/>
        </p:nvSpPr>
        <p:spPr>
          <a:xfrm>
            <a:off x="7596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476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177651"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642325" y="10476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42325"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pic>
        <p:nvPicPr>
          <p:cNvPr id="14" name="Image 2" descr="portrait des vignerons — Château Balac">    </p:cNvPr>
          <p:cNvPicPr>
            <a:picLocks noChangeAspect="1"/>
          </p:cNvPicPr>
          <p:nvPr/>
        </p:nvPicPr>
        <p:blipFill>
          <a:blip r:embed="rId3"/>
          <a:srcRect l="16591" r="16705" t="0" b="0"/>
          <a:stretch/>
        </p:blipFill>
        <p:spPr>
          <a:xfrm>
            <a:off x="612000" y="1357200"/>
            <a:ext cx="1440000" cy="1440000"/>
          </a:xfrm>
          <a:prstGeom prst="ellipse">
            <a:avLst/>
          </a:prstGeom>
        </p:spPr>
      </p:pic>
      <p:pic>
        <p:nvPicPr>
          <p:cNvPr id="15" name="Image 3" descr="Une bouteille du domaine Château Balac">    </p:cNvPr>
          <p:cNvPicPr>
            <a:picLocks noChangeAspect="1"/>
          </p:cNvPicPr>
          <p:nvPr/>
        </p:nvPicPr>
        <p:blipFill>
          <a:blip r:embed="rId4"/>
          <a:stretch>
            <a:fillRect/>
          </a:stretch>
        </p:blipFill>
        <p:spPr>
          <a:xfrm>
            <a:off x="6030148" y="1357200"/>
            <a:ext cx="539705" cy="2232000"/>
          </a:xfrm>
          <a:prstGeom prst="rect">
            <a:avLst/>
          </a:prstGeom>
        </p:spPr>
      </p:pic>
      <p:sp>
        <p:nvSpPr>
          <p:cNvPr id="16" name="Text 10"/>
          <p:cNvSpPr/>
          <p:nvPr/>
        </p:nvSpPr>
        <p:spPr>
          <a:xfrm>
            <a:off x="2177976" y="1476709"/>
            <a:ext cx="292674" cy="485851"/>
          </a:xfrm>
          <a:prstGeom prst="rect">
            <a:avLst/>
          </a:prstGeom>
          <a:noFill/>
          <a:ln/>
        </p:spPr>
        <p:txBody>
          <a:bodyPr wrap="square" lIns="0" tIns="0" rIns="0" bIns="0" rtlCol="0" anchor="t"/>
          <a:lstStyle/>
          <a:p>
            <a:pPr algn="r" indent="0" marL="0">
              <a:lnSpc>
                <a:spcPct val="122800"/>
              </a:lnSpc>
              <a:buNone/>
            </a:pPr>
            <a:r>
              <a:rPr lang="en-US" sz="2391" dirty="0">
                <a:solidFill>
                  <a:srgbClr val="67067C"/>
                </a:solidFill>
                <a:latin typeface="Young Serif" pitchFamily="34" charset="0"/>
                <a:ea typeface="Young Serif" pitchFamily="34" charset="-122"/>
                <a:cs typeface="Young Serif" pitchFamily="34" charset="-120"/>
              </a:rPr>
              <a:t>A</a:t>
            </a:r>
            <a:endParaRPr lang="en-US" sz="2391" dirty="0"/>
          </a:p>
        </p:txBody>
      </p:sp>
      <p:sp>
        <p:nvSpPr>
          <p:cNvPr id="17" name="Text 11"/>
          <p:cNvSpPr/>
          <p:nvPr/>
        </p:nvSpPr>
        <p:spPr>
          <a:xfrm>
            <a:off x="2232000" y="1615078"/>
            <a:ext cx="3456000" cy="1974023"/>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u cœur d’une forêt de deux cents hectares, la famille Touchais veille depuis 1964 sur dix hectares de vignes à Saint-Laurent-Médoc. Classé Cru Bourgeois Supérieur et certifié bio, Balac cultive autour de sa chartreuse du XVIIIe siècle des vins de caractère et d’élégance.</a:t>
            </a:r>
            <a:endParaRPr lang="en-US" sz="13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612000" y="37511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180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Inopine (100 % Merlot)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2021</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Balac Sans Sulfites (100 % Merlot)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Syrah de Balac</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612000" y="5301523"/>
            <a:ext cx="0" cy="288349"/>
          </a:xfrm>
          <a:prstGeom prst="line">
            <a:avLst/>
          </a:prstGeom>
          <a:noFill/>
          <a:ln w="17780">
            <a:solidFill>
              <a:srgbClr val="67067C"/>
            </a:solidFill>
            <a:prstDash val="solid"/>
          </a:ln>
        </p:spPr>
      </p:sp>
      <p:sp>
        <p:nvSpPr>
          <p:cNvPr id="20" name="Text 13"/>
          <p:cNvSpPr/>
          <p:nvPr/>
        </p:nvSpPr>
        <p:spPr>
          <a:xfrm>
            <a:off x="720000" y="5301523"/>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612000" y="5733872"/>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BORDEAUX — GRAVES ET ARGILO-CALCAIRE</a:t>
            </a:r>
            <a:endParaRPr lang="en-US" sz="720" dirty="0"/>
          </a:p>
        </p:txBody>
      </p:sp>
      <p:pic>
        <p:nvPicPr>
          <p:cNvPr id="22" name="Image 4" descr="/home/user/philippe1/build/deco-catalogue-scio-2026/sol-bordeaux.png">    </p:cNvPr>
          <p:cNvPicPr>
            <a:picLocks noChangeAspect="1"/>
          </p:cNvPicPr>
          <p:nvPr/>
        </p:nvPicPr>
        <p:blipFill>
          <a:blip r:embed="rId5"/>
          <a:stretch>
            <a:fillRect/>
          </a:stretch>
        </p:blipFill>
        <p:spPr>
          <a:xfrm>
            <a:off x="612000" y="5881472"/>
            <a:ext cx="6120000" cy="1315444"/>
          </a:xfrm>
          <a:prstGeom prst="rect">
            <a:avLst/>
          </a:prstGeom>
        </p:spPr>
      </p:pic>
      <p:sp>
        <p:nvSpPr>
          <p:cNvPr id="23" name="Shape 15"/>
          <p:cNvSpPr/>
          <p:nvPr/>
        </p:nvSpPr>
        <p:spPr>
          <a:xfrm>
            <a:off x="612000" y="8388000"/>
            <a:ext cx="6120000" cy="0"/>
          </a:xfrm>
          <a:prstGeom prst="line">
            <a:avLst/>
          </a:prstGeom>
          <a:noFill/>
          <a:ln w="8890">
            <a:solidFill>
              <a:srgbClr val="46606E"/>
            </a:solidFill>
            <a:prstDash val="solid"/>
          </a:ln>
        </p:spPr>
      </p:sp>
      <p:sp>
        <p:nvSpPr>
          <p:cNvPr id="24" name="Text 16"/>
          <p:cNvSpPr/>
          <p:nvPr/>
        </p:nvSpPr>
        <p:spPr>
          <a:xfrm>
            <a:off x="612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Rouge     pictos de l’Agence SCIO, pas les logos officiels</a:t>
            </a:r>
            <a:endParaRPr lang="en-US" sz="650" dirty="0"/>
          </a:p>
        </p:txBody>
      </p:sp>
      <p:sp>
        <p:nvSpPr>
          <p:cNvPr id="26" name="Text 18"/>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49</a:t>
            </a:r>
            <a:endParaRPr lang="en-US" sz="750" dirty="0"/>
          </a:p>
        </p:txBody>
      </p:sp>
      <p:sp>
        <p:nvSpPr>
          <p:cNvPr id="27" name="Text 19"/>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rdeaux.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30</a:t>
            </a:r>
            <a:r>
              <a:rPr lang="en-US" sz="2000" dirty="0">
                <a:solidFill>
                  <a:srgbClr val="46606E"/>
                </a:solidFill>
                <a:latin typeface="Young Serif" pitchFamily="34" charset="0"/>
                <a:ea typeface="Young Serif" pitchFamily="34" charset="-122"/>
                <a:cs typeface="Young Serif" pitchFamily="34" charset="-120"/>
              </a:rPr>
              <a:t>   Château l’Escarderie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83600"/>
            <a:ext cx="108000" cy="108000"/>
          </a:xfrm>
          <a:prstGeom prst="rect">
            <a:avLst/>
          </a:prstGeom>
        </p:spPr>
      </p:pic>
      <p:sp>
        <p:nvSpPr>
          <p:cNvPr id="9" name="Text 5"/>
          <p:cNvSpPr/>
          <p:nvPr/>
        </p:nvSpPr>
        <p:spPr>
          <a:xfrm>
            <a:off x="9756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476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858325" y="10476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58325"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8 références</a:t>
            </a:r>
            <a:endParaRPr lang="en-US" sz="720" dirty="0"/>
          </a:p>
        </p:txBody>
      </p:sp>
      <p:pic>
        <p:nvPicPr>
          <p:cNvPr id="14" name="Image 2" descr="les deux vignerons, deux portraits côte à côte — Château l’Escarderie">    </p:cNvPr>
          <p:cNvPicPr>
            <a:picLocks noChangeAspect="1"/>
          </p:cNvPicPr>
          <p:nvPr/>
        </p:nvPicPr>
        <p:blipFill>
          <a:blip r:embed="rId3"/>
          <a:stretch>
            <a:fillRect/>
          </a:stretch>
        </p:blipFill>
        <p:spPr>
          <a:xfrm>
            <a:off x="828000" y="1357200"/>
            <a:ext cx="1440000" cy="1440000"/>
          </a:xfrm>
          <a:prstGeom prst="rect">
            <a:avLst/>
          </a:prstGeom>
        </p:spPr>
      </p:pic>
      <p:pic>
        <p:nvPicPr>
          <p:cNvPr id="15" name="Image 3" descr="Une bouteille du domaine Château l’Escarderie">    </p:cNvPr>
          <p:cNvPicPr>
            <a:picLocks noChangeAspect="1"/>
          </p:cNvPicPr>
          <p:nvPr/>
        </p:nvPicPr>
        <p:blipFill>
          <a:blip r:embed="rId4"/>
          <a:stretch>
            <a:fillRect/>
          </a:stretch>
        </p:blipFill>
        <p:spPr>
          <a:xfrm>
            <a:off x="6243098" y="1357200"/>
            <a:ext cx="545803" cy="2232000"/>
          </a:xfrm>
          <a:prstGeom prst="rect">
            <a:avLst/>
          </a:prstGeom>
        </p:spPr>
      </p:pic>
      <p:sp>
        <p:nvSpPr>
          <p:cNvPr id="16" name="Text 10"/>
          <p:cNvSpPr/>
          <p:nvPr/>
        </p:nvSpPr>
        <p:spPr>
          <a:xfrm>
            <a:off x="2394014" y="1339504"/>
            <a:ext cx="210086" cy="475691"/>
          </a:xfrm>
          <a:prstGeom prst="rect">
            <a:avLst/>
          </a:prstGeom>
          <a:noFill/>
          <a:ln/>
        </p:spPr>
        <p:txBody>
          <a:bodyPr wrap="square" lIns="0" tIns="0" rIns="0" bIns="0" rtlCol="0" anchor="t"/>
          <a:lstStyle/>
          <a:p>
            <a:pPr algn="r" indent="0" marL="0">
              <a:lnSpc>
                <a:spcPct val="123400"/>
              </a:lnSpc>
              <a:buNone/>
            </a:pPr>
            <a:r>
              <a:rPr lang="en-US" sz="2341" dirty="0">
                <a:solidFill>
                  <a:srgbClr val="67067C"/>
                </a:solidFill>
                <a:latin typeface="Young Serif" pitchFamily="34" charset="0"/>
                <a:ea typeface="Young Serif" pitchFamily="34" charset="-122"/>
                <a:cs typeface="Young Serif" pitchFamily="34" charset="-120"/>
              </a:rPr>
              <a:t>J</a:t>
            </a:r>
            <a:endParaRPr lang="en-US" sz="2341" dirty="0"/>
          </a:p>
        </p:txBody>
      </p:sp>
      <p:sp>
        <p:nvSpPr>
          <p:cNvPr id="17" name="Text 11"/>
          <p:cNvSpPr/>
          <p:nvPr/>
        </p:nvSpPr>
        <p:spPr>
          <a:xfrm>
            <a:off x="2448000" y="1472031"/>
            <a:ext cx="3456000" cy="2117069"/>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oyau intimiste à Saint-Germain-de-la-Rivière, en AOP Fronsac, qui renaît sous la conduite de Mélanie et Thomas. Vendanges manuelles, fermentations spontanées, sulfites mesurés et élevage sur-mesure (barriques, béton, amphores) pour des Merlots et Cabernets Francs veloutés et floraux.</a:t>
            </a:r>
            <a:endParaRPr lang="en-US" sz="13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828000" y="37511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Fronsac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Passion de Château l'Escarderie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Fronsac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Passion de Château l'Escarderie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2021</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Fronsac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l'Escarderie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10,30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Fronsac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Amphora de Château l'Escarderie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2020/2021</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10,10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Bordeaux Clairet</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Clair de Lune de l'Escarderie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6,77</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Pétillant de l'Escarderie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6,77</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Confiance de l'Escarderie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8,45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Demoiselle de Saint-Germain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Shape 12"/>
          <p:cNvSpPr/>
          <p:nvPr/>
        </p:nvSpPr>
        <p:spPr>
          <a:xfrm>
            <a:off x="828000" y="7163809"/>
            <a:ext cx="0" cy="288349"/>
          </a:xfrm>
          <a:prstGeom prst="line">
            <a:avLst/>
          </a:prstGeom>
          <a:noFill/>
          <a:ln w="17780">
            <a:solidFill>
              <a:srgbClr val="67067C"/>
            </a:solidFill>
            <a:prstDash val="solid"/>
          </a:ln>
        </p:spPr>
      </p:sp>
      <p:sp>
        <p:nvSpPr>
          <p:cNvPr id="20" name="Text 13"/>
          <p:cNvSpPr/>
          <p:nvPr/>
        </p:nvSpPr>
        <p:spPr>
          <a:xfrm>
            <a:off x="936000" y="7163809"/>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départ, franco à partir de 180 bouteilles.</a:t>
            </a:r>
            <a:endParaRPr lang="en-US" sz="1050" dirty="0"/>
          </a:p>
        </p:txBody>
      </p:sp>
      <p:sp>
        <p:nvSpPr>
          <p:cNvPr id="21" name="Shape 14"/>
          <p:cNvSpPr/>
          <p:nvPr/>
        </p:nvSpPr>
        <p:spPr>
          <a:xfrm>
            <a:off x="828000" y="8388000"/>
            <a:ext cx="6120000" cy="0"/>
          </a:xfrm>
          <a:prstGeom prst="line">
            <a:avLst/>
          </a:prstGeom>
          <a:noFill/>
          <a:ln w="8890">
            <a:solidFill>
              <a:srgbClr val="46606E"/>
            </a:solidFill>
            <a:prstDash val="solid"/>
          </a:ln>
        </p:spPr>
      </p:sp>
      <p:sp>
        <p:nvSpPr>
          <p:cNvPr id="22" name="Text 15"/>
          <p:cNvSpPr/>
          <p:nvPr/>
        </p:nvSpPr>
        <p:spPr>
          <a:xfrm>
            <a:off x="828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3" name="Text 16"/>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Rosé    ● Rouge     pictos de l’Agence SCIO, pas les logos officiels</a:t>
            </a:r>
            <a:endParaRPr lang="en-US" sz="650" dirty="0"/>
          </a:p>
        </p:txBody>
      </p:sp>
      <p:sp>
        <p:nvSpPr>
          <p:cNvPr id="24" name="Text 17"/>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50</a:t>
            </a:r>
            <a:endParaRPr lang="en-US" sz="750" dirty="0"/>
          </a:p>
        </p:txBody>
      </p:sp>
      <p:sp>
        <p:nvSpPr>
          <p:cNvPr id="25" name="Text 18"/>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46606E"/>
        </a:solidFill>
      </p:bgPr>
    </p:bg>
    <p:spTree>
      <p:nvGrpSpPr>
        <p:cNvPr id="1" name=""/>
        <p:cNvGrpSpPr/>
        <p:nvPr/>
      </p:nvGrpSpPr>
      <p:grpSpPr>
        <a:xfrm>
          <a:off x="0" y="0"/>
          <a:ext cx="0" cy="0"/>
          <a:chOff x="0" y="0"/>
          <a:chExt cx="0" cy="0"/>
        </a:xfrm>
      </p:grpSpPr>
      <p:pic>
        <p:nvPicPr>
          <p:cNvPr id="2" name="Image 0" descr="/home/user/philippe1/build/deco-catalogue-scio-2026/ouverture-provence.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catalogue-scio-2026/carotte-provence.png">    </p:cNvPr>
          <p:cNvPicPr>
            <a:picLocks noChangeAspect="1"/>
          </p:cNvPicPr>
          <p:nvPr/>
        </p:nvPicPr>
        <p:blipFill>
          <a:blip r:embed="rId2"/>
          <a:stretch>
            <a:fillRect/>
          </a:stretch>
        </p:blipFill>
        <p:spPr>
          <a:xfrm>
            <a:off x="7236000" y="0"/>
            <a:ext cx="324000" cy="9360000"/>
          </a:xfrm>
          <a:prstGeom prst="rect">
            <a:avLst/>
          </a:prstGeom>
        </p:spPr>
      </p:pic>
      <p:sp>
        <p:nvSpPr>
          <p:cNvPr id="4"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PROVENCE</a:t>
            </a:r>
            <a:endParaRPr lang="en-US" sz="660" dirty="0"/>
          </a:p>
        </p:txBody>
      </p:sp>
      <p:sp>
        <p:nvSpPr>
          <p:cNvPr id="5" name="Text 1"/>
          <p:cNvSpPr/>
          <p:nvPr/>
        </p:nvSpPr>
        <p:spPr>
          <a:xfrm>
            <a:off x="612000" y="540000"/>
            <a:ext cx="792000" cy="216000"/>
          </a:xfrm>
          <a:prstGeom prst="rect">
            <a:avLst/>
          </a:prstGeom>
          <a:noFill/>
          <a:ln/>
        </p:spPr>
        <p:txBody>
          <a:bodyPr wrap="square" lIns="0" tIns="0" rIns="0" bIns="0" rtlCol="0" anchor="ctr"/>
          <a:lstStyle/>
          <a:p>
            <a:pPr algn="ctr" indent="0" marL="0">
              <a:buNone/>
            </a:pPr>
            <a:r>
              <a:rPr lang="en-US" sz="800" b="1" dirty="0">
                <a:solidFill>
                  <a:srgbClr val="FBF8F1"/>
                </a:solidFill>
                <a:latin typeface="IBM Plex Sans" pitchFamily="34" charset="0"/>
                <a:ea typeface="IBM Plex Sans" pitchFamily="34" charset="-122"/>
                <a:cs typeface="IBM Plex Sans" pitchFamily="34" charset="-120"/>
              </a:rPr>
              <a:t>8 / 10</a:t>
            </a:r>
            <a:endParaRPr lang="en-US" sz="800" dirty="0"/>
          </a:p>
        </p:txBody>
      </p:sp>
      <p:sp>
        <p:nvSpPr>
          <p:cNvPr id="6" name="Text 2"/>
          <p:cNvSpPr/>
          <p:nvPr/>
        </p:nvSpPr>
        <p:spPr>
          <a:xfrm>
            <a:off x="612000" y="5112000"/>
            <a:ext cx="5040000" cy="792000"/>
          </a:xfrm>
          <a:prstGeom prst="rect">
            <a:avLst/>
          </a:prstGeom>
          <a:noFill/>
          <a:ln/>
        </p:spPr>
        <p:txBody>
          <a:bodyPr wrap="square" lIns="0" tIns="0" rIns="0" bIns="0" rtlCol="0" anchor="ctr"/>
          <a:lstStyle/>
          <a:p>
            <a:pPr indent="0" marL="0">
              <a:buNone/>
            </a:pPr>
            <a:r>
              <a:rPr lang="en-US" sz="4600" dirty="0">
                <a:solidFill>
                  <a:srgbClr val="FBF8F1"/>
                </a:solidFill>
                <a:latin typeface="Young Serif" pitchFamily="34" charset="0"/>
                <a:ea typeface="Young Serif" pitchFamily="34" charset="-122"/>
                <a:cs typeface="Young Serif" pitchFamily="34" charset="-120"/>
              </a:rPr>
              <a:t>Provence</a:t>
            </a:r>
            <a:endParaRPr lang="en-US" sz="4600" dirty="0"/>
          </a:p>
        </p:txBody>
      </p:sp>
      <p:sp>
        <p:nvSpPr>
          <p:cNvPr id="7" name="Text 3"/>
          <p:cNvSpPr/>
          <p:nvPr/>
        </p:nvSpPr>
        <p:spPr>
          <a:xfrm>
            <a:off x="612000" y="5976000"/>
            <a:ext cx="4320000" cy="252000"/>
          </a:xfrm>
          <a:prstGeom prst="rect">
            <a:avLst/>
          </a:prstGeom>
          <a:noFill/>
          <a:ln/>
        </p:spPr>
        <p:txBody>
          <a:bodyPr wrap="square" lIns="0" tIns="0" rIns="0" bIns="0" rtlCol="0" anchor="ctr"/>
          <a:lstStyle/>
          <a:p>
            <a:pPr indent="0" marL="0">
              <a:buNone/>
            </a:pPr>
            <a:r>
              <a:rPr lang="en-US" sz="1200" i="1" dirty="0">
                <a:solidFill>
                  <a:srgbClr val="FBF8F1"/>
                </a:solidFill>
                <a:latin typeface="Spectral" pitchFamily="34" charset="0"/>
                <a:ea typeface="Spectral" pitchFamily="34" charset="-122"/>
                <a:cs typeface="Spectral" pitchFamily="34" charset="-120"/>
              </a:rPr>
              <a:t>la Provence Verte</a:t>
            </a:r>
            <a:endParaRPr lang="en-US" sz="1200" dirty="0"/>
          </a:p>
        </p:txBody>
      </p:sp>
      <p:sp>
        <p:nvSpPr>
          <p:cNvPr id="8" name="Text 4"/>
          <p:cNvSpPr/>
          <p:nvPr/>
        </p:nvSpPr>
        <p:spPr>
          <a:xfrm>
            <a:off x="612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1</a:t>
            </a:r>
            <a:endParaRPr lang="en-US" sz="2000" dirty="0"/>
          </a:p>
        </p:txBody>
      </p:sp>
      <p:sp>
        <p:nvSpPr>
          <p:cNvPr id="9" name="Text 5"/>
          <p:cNvSpPr/>
          <p:nvPr/>
        </p:nvSpPr>
        <p:spPr>
          <a:xfrm>
            <a:off x="612000" y="6660000"/>
            <a:ext cx="864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domaine</a:t>
            </a:r>
            <a:endParaRPr lang="en-US" sz="850" dirty="0"/>
          </a:p>
        </p:txBody>
      </p:sp>
      <p:sp>
        <p:nvSpPr>
          <p:cNvPr id="10" name="Text 6"/>
          <p:cNvSpPr/>
          <p:nvPr/>
        </p:nvSpPr>
        <p:spPr>
          <a:xfrm>
            <a:off x="1620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8</a:t>
            </a:r>
            <a:endParaRPr lang="en-US" sz="2000" dirty="0"/>
          </a:p>
        </p:txBody>
      </p:sp>
      <p:sp>
        <p:nvSpPr>
          <p:cNvPr id="11" name="Text 7"/>
          <p:cNvSpPr/>
          <p:nvPr/>
        </p:nvSpPr>
        <p:spPr>
          <a:xfrm>
            <a:off x="1620000" y="6660000"/>
            <a:ext cx="1620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références</a:t>
            </a:r>
            <a:endParaRPr lang="en-US" sz="850" dirty="0"/>
          </a:p>
        </p:txBody>
      </p:sp>
      <p:sp>
        <p:nvSpPr>
          <p:cNvPr id="12" name="Text 8"/>
          <p:cNvSpPr/>
          <p:nvPr/>
        </p:nvSpPr>
        <p:spPr>
          <a:xfrm>
            <a:off x="61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31   </a:t>
            </a:r>
            <a:r>
              <a:rPr lang="en-US" sz="860" dirty="0">
                <a:solidFill>
                  <a:srgbClr val="FBF8F1"/>
                </a:solidFill>
                <a:latin typeface="IBM Plex Sans" pitchFamily="34" charset="0"/>
                <a:ea typeface="IBM Plex Sans" pitchFamily="34" charset="-122"/>
                <a:cs typeface="IBM Plex Sans" pitchFamily="34" charset="-120"/>
              </a:rPr>
              <a:t>Bastide de Blacailloux</a:t>
            </a:r>
            <a:r>
              <a:rPr lang="en-US" sz="860" b="1" dirty="0">
                <a:solidFill>
                  <a:srgbClr val="FBF8F1"/>
                </a:solidFill>
                <a:latin typeface="IBM Plex Sans" pitchFamily="34" charset="0"/>
                <a:ea typeface="IBM Plex Sans" pitchFamily="34" charset="-122"/>
                <a:cs typeface="IBM Plex Sans" pitchFamily="34" charset="-120"/>
              </a:rPr>
              <a:t>   52</a:t>
            </a:r>
            <a:endParaRPr lang="en-US" sz="860" dirty="0"/>
          </a:p>
        </p:txBody>
      </p:sp>
      <p:sp>
        <p:nvSpPr>
          <p:cNvPr id="13" name="Text 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51</a:t>
            </a:r>
            <a:endParaRPr lang="en-US" sz="750" dirty="0"/>
          </a:p>
        </p:txBody>
      </p:sp>
      <p:sp>
        <p:nvSpPr>
          <p:cNvPr id="14" name="Text 1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provenc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PROVENCE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31</a:t>
            </a:r>
            <a:r>
              <a:rPr lang="en-US" sz="2000" dirty="0">
                <a:solidFill>
                  <a:srgbClr val="46606E"/>
                </a:solidFill>
                <a:latin typeface="Young Serif" pitchFamily="34" charset="0"/>
                <a:ea typeface="Young Serif" pitchFamily="34" charset="-122"/>
                <a:cs typeface="Young Serif" pitchFamily="34" charset="-120"/>
              </a:rPr>
              <a:t>   Bastide de Blacailloux</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PROVENCE</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83600"/>
            <a:ext cx="108000" cy="108000"/>
          </a:xfrm>
          <a:prstGeom prst="rect">
            <a:avLst/>
          </a:prstGeom>
        </p:spPr>
      </p:pic>
      <p:sp>
        <p:nvSpPr>
          <p:cNvPr id="9" name="Text 5"/>
          <p:cNvSpPr/>
          <p:nvPr/>
        </p:nvSpPr>
        <p:spPr>
          <a:xfrm>
            <a:off x="9756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476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858325" y="10476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58325"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8 références</a:t>
            </a:r>
            <a:endParaRPr lang="en-US" sz="720" dirty="0"/>
          </a:p>
        </p:txBody>
      </p:sp>
      <p:pic>
        <p:nvPicPr>
          <p:cNvPr id="14" name="Image 2" descr="borie en pierre sèche du domaine — Bastide de Blacailloux">    </p:cNvPr>
          <p:cNvPicPr>
            <a:picLocks noChangeAspect="1"/>
          </p:cNvPicPr>
          <p:nvPr/>
        </p:nvPicPr>
        <p:blipFill>
          <a:blip r:embed="rId3"/>
          <a:srcRect l="16602" r="16640" t="0" b="0"/>
          <a:stretch/>
        </p:blipFill>
        <p:spPr>
          <a:xfrm>
            <a:off x="828000" y="1357200"/>
            <a:ext cx="1440000" cy="1440000"/>
          </a:xfrm>
          <a:prstGeom prst="ellipse">
            <a:avLst/>
          </a:prstGeom>
        </p:spPr>
      </p:pic>
      <p:pic>
        <p:nvPicPr>
          <p:cNvPr id="15" name="Image 3" descr="Une bouteille du domaine Bastide de Blacailloux">    </p:cNvPr>
          <p:cNvPicPr>
            <a:picLocks noChangeAspect="1"/>
          </p:cNvPicPr>
          <p:nvPr/>
        </p:nvPicPr>
        <p:blipFill>
          <a:blip r:embed="rId4"/>
          <a:stretch>
            <a:fillRect/>
          </a:stretch>
        </p:blipFill>
        <p:spPr>
          <a:xfrm>
            <a:off x="6267492" y="1357200"/>
            <a:ext cx="497016" cy="2232000"/>
          </a:xfrm>
          <a:prstGeom prst="rect">
            <a:avLst/>
          </a:prstGeom>
        </p:spPr>
      </p:pic>
      <p:sp>
        <p:nvSpPr>
          <p:cNvPr id="16" name="Text 10"/>
          <p:cNvSpPr/>
          <p:nvPr/>
        </p:nvSpPr>
        <p:spPr>
          <a:xfrm>
            <a:off x="2393992" y="1329261"/>
            <a:ext cx="292658" cy="505765"/>
          </a:xfrm>
          <a:prstGeom prst="rect">
            <a:avLst/>
          </a:prstGeom>
          <a:noFill/>
          <a:ln/>
        </p:spPr>
        <p:txBody>
          <a:bodyPr wrap="square" lIns="0" tIns="0" rIns="0" bIns="0" rtlCol="0" anchor="t"/>
          <a:lstStyle/>
          <a:p>
            <a:pPr algn="r" indent="0" marL="0">
              <a:lnSpc>
                <a:spcPct val="121600"/>
              </a:lnSpc>
              <a:buNone/>
            </a:pPr>
            <a:r>
              <a:rPr lang="en-US" sz="2489" dirty="0">
                <a:solidFill>
                  <a:srgbClr val="67067C"/>
                </a:solidFill>
                <a:latin typeface="Young Serif" pitchFamily="34" charset="0"/>
                <a:ea typeface="Young Serif" pitchFamily="34" charset="-122"/>
                <a:cs typeface="Young Serif" pitchFamily="34" charset="-120"/>
              </a:rPr>
              <a:t>É</a:t>
            </a:r>
            <a:endParaRPr lang="en-US" sz="2489" dirty="0"/>
          </a:p>
        </p:txBody>
      </p:sp>
      <p:sp>
        <p:nvSpPr>
          <p:cNvPr id="17" name="Text 11"/>
          <p:cNvSpPr/>
          <p:nvPr/>
        </p:nvSpPr>
        <p:spPr>
          <a:xfrm>
            <a:off x="2448000" y="1479080"/>
            <a:ext cx="3456000" cy="2110020"/>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crin préservé à Tourves, Blacailloux incarne la Provence Verte depuis plus d’un siècle, conduit par la quatrième génération de la famille Chamoin. Chai bioclimatique à toit végétalisé et énergie photovoltaïque. Cuvées AOP Coteaux Varois et IGP Var, fraîches et aériennes.</a:t>
            </a:r>
            <a:endParaRPr lang="en-US" sz="13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828000" y="37511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60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180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Var Sainte Baume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SAINT PROBACE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5,15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Var Sainte Baume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SAINT PROBACE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5,65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5,35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Coteaux Varois en Provence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JOIO</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6,15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Coteaux Varois en Provence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JOIO</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150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14,85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14,45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14,15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Coteaux Varois en Provence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JOIO</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6,15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Coteaux Varois en Provence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JOIO</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150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14,85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14,45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14,15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Coteaux Varois en Provence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JOIO</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graphicFrame>
        <p:nvGraphicFramePr>
          <p:cNvPr id="105" name="Table 1"/>
          <p:cNvGraphicFramePr>
            <a:graphicFrameLocks noGrp="1"/>
          </p:cNvGraphicFramePr>
          <p:nvPr>
            <p:extLst>
              <p:ext uri="{D42A27DB-BD31-4B8C-83A1-F6EECF244321}">
                <p14:modId xmlns:p14="http://schemas.microsoft.com/office/powerpoint/2010/main" val="1579011935"/>
              </p:ext>
            </p:extLst>
          </p:nvPr>
        </p:nvGraphicFramePr>
        <p:xfrm>
          <a:off x="828000" y="6916005"/>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BIB · BAG-IN-BOX</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Var</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BLACAILLOUX</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5 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19,50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0" name="Shape 12"/>
          <p:cNvSpPr/>
          <p:nvPr/>
        </p:nvSpPr>
        <p:spPr>
          <a:xfrm>
            <a:off x="828000" y="7635669"/>
            <a:ext cx="0" cy="288349"/>
          </a:xfrm>
          <a:prstGeom prst="line">
            <a:avLst/>
          </a:prstGeom>
          <a:noFill/>
          <a:ln w="17780">
            <a:solidFill>
              <a:srgbClr val="67067C"/>
            </a:solidFill>
            <a:prstDash val="solid"/>
          </a:ln>
        </p:spPr>
      </p:sp>
      <p:sp>
        <p:nvSpPr>
          <p:cNvPr id="21" name="Text 13"/>
          <p:cNvSpPr/>
          <p:nvPr/>
        </p:nvSpPr>
        <p:spPr>
          <a:xfrm>
            <a:off x="936000" y="7635669"/>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22" name="Shape 14"/>
          <p:cNvSpPr/>
          <p:nvPr/>
        </p:nvSpPr>
        <p:spPr>
          <a:xfrm>
            <a:off x="828000" y="8388000"/>
            <a:ext cx="6120000" cy="0"/>
          </a:xfrm>
          <a:prstGeom prst="line">
            <a:avLst/>
          </a:prstGeom>
          <a:noFill/>
          <a:ln w="8890">
            <a:solidFill>
              <a:srgbClr val="46606E"/>
            </a:solidFill>
            <a:prstDash val="solid"/>
          </a:ln>
        </p:spPr>
      </p:sp>
      <p:sp>
        <p:nvSpPr>
          <p:cNvPr id="23" name="Text 15"/>
          <p:cNvSpPr/>
          <p:nvPr/>
        </p:nvSpPr>
        <p:spPr>
          <a:xfrm>
            <a:off x="828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56 · 85</a:t>
            </a:r>
            <a:endParaRPr lang="en-US" sz="720" dirty="0"/>
          </a:p>
        </p:txBody>
      </p:sp>
      <p:sp>
        <p:nvSpPr>
          <p:cNvPr id="24" name="Text 16"/>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25" name="Text 17"/>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52</a:t>
            </a:r>
            <a:endParaRPr lang="en-US" sz="750" dirty="0"/>
          </a:p>
        </p:txBody>
      </p:sp>
      <p:sp>
        <p:nvSpPr>
          <p:cNvPr id="26" name="Text 18"/>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46606E"/>
        </a:solidFill>
      </p:bgPr>
    </p:bg>
    <p:spTree>
      <p:nvGrpSpPr>
        <p:cNvPr id="1" name=""/>
        <p:cNvGrpSpPr/>
        <p:nvPr/>
      </p:nvGrpSpPr>
      <p:grpSpPr>
        <a:xfrm>
          <a:off x="0" y="0"/>
          <a:ext cx="0" cy="0"/>
          <a:chOff x="0" y="0"/>
          <a:chExt cx="0" cy="0"/>
        </a:xfrm>
      </p:grpSpPr>
      <p:pic>
        <p:nvPicPr>
          <p:cNvPr id="2" name="Image 0" descr="/home/user/philippe1/build/deco-catalogue-scio-2026/ouverture-languedoc.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catalogue-scio-2026/carotte-languedoc.png">    </p:cNvPr>
          <p:cNvPicPr>
            <a:picLocks noChangeAspect="1"/>
          </p:cNvPicPr>
          <p:nvPr/>
        </p:nvPicPr>
        <p:blipFill>
          <a:blip r:embed="rId2"/>
          <a:stretch>
            <a:fillRect/>
          </a:stretch>
        </p:blipFill>
        <p:spPr>
          <a:xfrm>
            <a:off x="7236000" y="0"/>
            <a:ext cx="324000" cy="9360000"/>
          </a:xfrm>
          <a:prstGeom prst="rect">
            <a:avLst/>
          </a:prstGeom>
        </p:spPr>
      </p:pic>
      <p:sp>
        <p:nvSpPr>
          <p:cNvPr id="4"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5" name="Text 1"/>
          <p:cNvSpPr/>
          <p:nvPr/>
        </p:nvSpPr>
        <p:spPr>
          <a:xfrm>
            <a:off x="612000" y="540000"/>
            <a:ext cx="792000" cy="216000"/>
          </a:xfrm>
          <a:prstGeom prst="rect">
            <a:avLst/>
          </a:prstGeom>
          <a:noFill/>
          <a:ln/>
        </p:spPr>
        <p:txBody>
          <a:bodyPr wrap="square" lIns="0" tIns="0" rIns="0" bIns="0" rtlCol="0" anchor="ctr"/>
          <a:lstStyle/>
          <a:p>
            <a:pPr algn="ctr" indent="0" marL="0">
              <a:buNone/>
            </a:pPr>
            <a:r>
              <a:rPr lang="en-US" sz="800" b="1" dirty="0">
                <a:solidFill>
                  <a:srgbClr val="FBF8F1"/>
                </a:solidFill>
                <a:latin typeface="IBM Plex Sans" pitchFamily="34" charset="0"/>
                <a:ea typeface="IBM Plex Sans" pitchFamily="34" charset="-122"/>
                <a:cs typeface="IBM Plex Sans" pitchFamily="34" charset="-120"/>
              </a:rPr>
              <a:t>9 / 10</a:t>
            </a:r>
            <a:endParaRPr lang="en-US" sz="800" dirty="0"/>
          </a:p>
        </p:txBody>
      </p:sp>
      <p:sp>
        <p:nvSpPr>
          <p:cNvPr id="6" name="Text 2"/>
          <p:cNvSpPr/>
          <p:nvPr/>
        </p:nvSpPr>
        <p:spPr>
          <a:xfrm>
            <a:off x="612000" y="5112000"/>
            <a:ext cx="5040000" cy="792000"/>
          </a:xfrm>
          <a:prstGeom prst="rect">
            <a:avLst/>
          </a:prstGeom>
          <a:noFill/>
          <a:ln/>
        </p:spPr>
        <p:txBody>
          <a:bodyPr wrap="square" lIns="0" tIns="0" rIns="0" bIns="0" rtlCol="0" anchor="ctr"/>
          <a:lstStyle/>
          <a:p>
            <a:pPr indent="0" marL="0">
              <a:buNone/>
            </a:pPr>
            <a:r>
              <a:rPr lang="en-US" sz="4600" dirty="0">
                <a:solidFill>
                  <a:srgbClr val="FBF8F1"/>
                </a:solidFill>
                <a:latin typeface="Young Serif" pitchFamily="34" charset="0"/>
                <a:ea typeface="Young Serif" pitchFamily="34" charset="-122"/>
                <a:cs typeface="Young Serif" pitchFamily="34" charset="-120"/>
              </a:rPr>
              <a:t>Languedoc</a:t>
            </a:r>
            <a:endParaRPr lang="en-US" sz="4600" dirty="0"/>
          </a:p>
        </p:txBody>
      </p:sp>
      <p:sp>
        <p:nvSpPr>
          <p:cNvPr id="7" name="Text 3"/>
          <p:cNvSpPr/>
          <p:nvPr/>
        </p:nvSpPr>
        <p:spPr>
          <a:xfrm>
            <a:off x="612000" y="5976000"/>
            <a:ext cx="4320000" cy="252000"/>
          </a:xfrm>
          <a:prstGeom prst="rect">
            <a:avLst/>
          </a:prstGeom>
          <a:noFill/>
          <a:ln/>
        </p:spPr>
        <p:txBody>
          <a:bodyPr wrap="square" lIns="0" tIns="0" rIns="0" bIns="0" rtlCol="0" anchor="ctr"/>
          <a:lstStyle/>
          <a:p>
            <a:pPr indent="0" marL="0">
              <a:buNone/>
            </a:pPr>
            <a:r>
              <a:rPr lang="en-US" sz="1200" i="1" dirty="0">
                <a:solidFill>
                  <a:srgbClr val="FBF8F1"/>
                </a:solidFill>
                <a:latin typeface="Spectral" pitchFamily="34" charset="0"/>
                <a:ea typeface="Spectral" pitchFamily="34" charset="-122"/>
                <a:cs typeface="Spectral" pitchFamily="34" charset="-120"/>
              </a:rPr>
              <a:t>terrasses et garrigue</a:t>
            </a:r>
            <a:endParaRPr lang="en-US" sz="1200" dirty="0"/>
          </a:p>
        </p:txBody>
      </p:sp>
      <p:sp>
        <p:nvSpPr>
          <p:cNvPr id="8" name="Text 4"/>
          <p:cNvSpPr/>
          <p:nvPr/>
        </p:nvSpPr>
        <p:spPr>
          <a:xfrm>
            <a:off x="612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5</a:t>
            </a:r>
            <a:endParaRPr lang="en-US" sz="2000" dirty="0"/>
          </a:p>
        </p:txBody>
      </p:sp>
      <p:sp>
        <p:nvSpPr>
          <p:cNvPr id="9" name="Text 5"/>
          <p:cNvSpPr/>
          <p:nvPr/>
        </p:nvSpPr>
        <p:spPr>
          <a:xfrm>
            <a:off x="612000" y="6660000"/>
            <a:ext cx="864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domaines</a:t>
            </a:r>
            <a:endParaRPr lang="en-US" sz="850" dirty="0"/>
          </a:p>
        </p:txBody>
      </p:sp>
      <p:sp>
        <p:nvSpPr>
          <p:cNvPr id="10" name="Text 6"/>
          <p:cNvSpPr/>
          <p:nvPr/>
        </p:nvSpPr>
        <p:spPr>
          <a:xfrm>
            <a:off x="1620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57</a:t>
            </a:r>
            <a:endParaRPr lang="en-US" sz="2000" dirty="0"/>
          </a:p>
        </p:txBody>
      </p:sp>
      <p:sp>
        <p:nvSpPr>
          <p:cNvPr id="11" name="Text 7"/>
          <p:cNvSpPr/>
          <p:nvPr/>
        </p:nvSpPr>
        <p:spPr>
          <a:xfrm>
            <a:off x="1620000" y="6660000"/>
            <a:ext cx="1620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références</a:t>
            </a:r>
            <a:endParaRPr lang="en-US" sz="850" dirty="0"/>
          </a:p>
        </p:txBody>
      </p:sp>
      <p:sp>
        <p:nvSpPr>
          <p:cNvPr id="12" name="Text 8"/>
          <p:cNvSpPr/>
          <p:nvPr/>
        </p:nvSpPr>
        <p:spPr>
          <a:xfrm>
            <a:off x="61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32   </a:t>
            </a:r>
            <a:r>
              <a:rPr lang="en-US" sz="860" dirty="0">
                <a:solidFill>
                  <a:srgbClr val="FBF8F1"/>
                </a:solidFill>
                <a:latin typeface="IBM Plex Sans" pitchFamily="34" charset="0"/>
                <a:ea typeface="IBM Plex Sans" pitchFamily="34" charset="-122"/>
                <a:cs typeface="IBM Plex Sans" pitchFamily="34" charset="-120"/>
              </a:rPr>
              <a:t>Famille d’Exea</a:t>
            </a:r>
            <a:r>
              <a:rPr lang="en-US" sz="860" b="1" dirty="0">
                <a:solidFill>
                  <a:srgbClr val="FBF8F1"/>
                </a:solidFill>
                <a:latin typeface="IBM Plex Sans" pitchFamily="34" charset="0"/>
                <a:ea typeface="IBM Plex Sans" pitchFamily="34" charset="-122"/>
                <a:cs typeface="IBM Plex Sans" pitchFamily="34" charset="-120"/>
              </a:rPr>
              <a:t>   54</a:t>
            </a:r>
            <a:endParaRPr lang="en-US" sz="860" dirty="0"/>
          </a:p>
        </p:txBody>
      </p:sp>
      <p:sp>
        <p:nvSpPr>
          <p:cNvPr id="13" name="Text 9"/>
          <p:cNvSpPr/>
          <p:nvPr/>
        </p:nvSpPr>
        <p:spPr>
          <a:xfrm>
            <a:off x="367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33   </a:t>
            </a:r>
            <a:r>
              <a:rPr lang="en-US" sz="860" dirty="0">
                <a:solidFill>
                  <a:srgbClr val="FBF8F1"/>
                </a:solidFill>
                <a:latin typeface="IBM Plex Sans" pitchFamily="34" charset="0"/>
                <a:ea typeface="IBM Plex Sans" pitchFamily="34" charset="-122"/>
                <a:cs typeface="IBM Plex Sans" pitchFamily="34" charset="-120"/>
              </a:rPr>
              <a:t>Famille d’Exea — Jus de Cépages</a:t>
            </a:r>
            <a:r>
              <a:rPr lang="en-US" sz="860" b="1" dirty="0">
                <a:solidFill>
                  <a:srgbClr val="FBF8F1"/>
                </a:solidFill>
                <a:latin typeface="IBM Plex Sans" pitchFamily="34" charset="0"/>
                <a:ea typeface="IBM Plex Sans" pitchFamily="34" charset="-122"/>
                <a:cs typeface="IBM Plex Sans" pitchFamily="34" charset="-120"/>
              </a:rPr>
              <a:t>   56</a:t>
            </a:r>
            <a:endParaRPr lang="en-US" sz="860" dirty="0"/>
          </a:p>
        </p:txBody>
      </p:sp>
      <p:sp>
        <p:nvSpPr>
          <p:cNvPr id="14" name="Text 10"/>
          <p:cNvSpPr/>
          <p:nvPr/>
        </p:nvSpPr>
        <p:spPr>
          <a:xfrm>
            <a:off x="612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34   </a:t>
            </a:r>
            <a:r>
              <a:rPr lang="en-US" sz="860" dirty="0">
                <a:solidFill>
                  <a:srgbClr val="FBF8F1"/>
                </a:solidFill>
                <a:latin typeface="IBM Plex Sans" pitchFamily="34" charset="0"/>
                <a:ea typeface="IBM Plex Sans" pitchFamily="34" charset="-122"/>
                <a:cs typeface="IBM Plex Sans" pitchFamily="34" charset="-120"/>
              </a:rPr>
              <a:t>Château de Gragnos</a:t>
            </a:r>
            <a:r>
              <a:rPr lang="en-US" sz="860" b="1" dirty="0">
                <a:solidFill>
                  <a:srgbClr val="FBF8F1"/>
                </a:solidFill>
                <a:latin typeface="IBM Plex Sans" pitchFamily="34" charset="0"/>
                <a:ea typeface="IBM Plex Sans" pitchFamily="34" charset="-122"/>
                <a:cs typeface="IBM Plex Sans" pitchFamily="34" charset="-120"/>
              </a:rPr>
              <a:t>   57</a:t>
            </a:r>
            <a:endParaRPr lang="en-US" sz="860" dirty="0"/>
          </a:p>
        </p:txBody>
      </p:sp>
      <p:sp>
        <p:nvSpPr>
          <p:cNvPr id="15" name="Text 11"/>
          <p:cNvSpPr/>
          <p:nvPr/>
        </p:nvSpPr>
        <p:spPr>
          <a:xfrm>
            <a:off x="3672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35   </a:t>
            </a:r>
            <a:r>
              <a:rPr lang="en-US" sz="860" dirty="0">
                <a:solidFill>
                  <a:srgbClr val="FBF8F1"/>
                </a:solidFill>
                <a:latin typeface="IBM Plex Sans" pitchFamily="34" charset="0"/>
                <a:ea typeface="IBM Plex Sans" pitchFamily="34" charset="-122"/>
                <a:cs typeface="IBM Plex Sans" pitchFamily="34" charset="-120"/>
              </a:rPr>
              <a:t>Domaine Les Lys</a:t>
            </a:r>
            <a:r>
              <a:rPr lang="en-US" sz="860" b="1" dirty="0">
                <a:solidFill>
                  <a:srgbClr val="FBF8F1"/>
                </a:solidFill>
                <a:latin typeface="IBM Plex Sans" pitchFamily="34" charset="0"/>
                <a:ea typeface="IBM Plex Sans" pitchFamily="34" charset="-122"/>
                <a:cs typeface="IBM Plex Sans" pitchFamily="34" charset="-120"/>
              </a:rPr>
              <a:t>   58</a:t>
            </a:r>
            <a:endParaRPr lang="en-US" sz="860" dirty="0"/>
          </a:p>
        </p:txBody>
      </p:sp>
      <p:sp>
        <p:nvSpPr>
          <p:cNvPr id="16" name="Text 12"/>
          <p:cNvSpPr/>
          <p:nvPr/>
        </p:nvSpPr>
        <p:spPr>
          <a:xfrm>
            <a:off x="612000" y="7632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36   </a:t>
            </a:r>
            <a:r>
              <a:rPr lang="en-US" sz="860" dirty="0">
                <a:solidFill>
                  <a:srgbClr val="FBF8F1"/>
                </a:solidFill>
                <a:latin typeface="IBM Plex Sans" pitchFamily="34" charset="0"/>
                <a:ea typeface="IBM Plex Sans" pitchFamily="34" charset="-122"/>
                <a:cs typeface="IBM Plex Sans" pitchFamily="34" charset="-120"/>
              </a:rPr>
              <a:t>Prieuré Sainte-Marie d’Albas</a:t>
            </a:r>
            <a:r>
              <a:rPr lang="en-US" sz="860" b="1" dirty="0">
                <a:solidFill>
                  <a:srgbClr val="FBF8F1"/>
                </a:solidFill>
                <a:latin typeface="IBM Plex Sans" pitchFamily="34" charset="0"/>
                <a:ea typeface="IBM Plex Sans" pitchFamily="34" charset="-122"/>
                <a:cs typeface="IBM Plex Sans" pitchFamily="34" charset="-120"/>
              </a:rPr>
              <a:t>   59</a:t>
            </a:r>
            <a:endParaRPr lang="en-US" sz="860" dirty="0"/>
          </a:p>
        </p:txBody>
      </p:sp>
      <p:sp>
        <p:nvSpPr>
          <p:cNvPr id="17" name="Text 13"/>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53</a:t>
            </a:r>
            <a:endParaRPr lang="en-US" sz="750" dirty="0"/>
          </a:p>
        </p:txBody>
      </p:sp>
      <p:sp>
        <p:nvSpPr>
          <p:cNvPr id="18" name="Text 14"/>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anguedoc.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32</a:t>
            </a:r>
            <a:r>
              <a:rPr lang="en-US" sz="2000" dirty="0">
                <a:solidFill>
                  <a:srgbClr val="46606E"/>
                </a:solidFill>
                <a:latin typeface="Young Serif" pitchFamily="34" charset="0"/>
                <a:ea typeface="Young Serif" pitchFamily="34" charset="-122"/>
                <a:cs typeface="Young Serif" pitchFamily="34" charset="-120"/>
              </a:rPr>
              <a:t>   Famille d’Exea</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83600"/>
            <a:ext cx="108000" cy="108000"/>
          </a:xfrm>
          <a:prstGeom prst="rect">
            <a:avLst/>
          </a:prstGeom>
        </p:spPr>
      </p:pic>
      <p:sp>
        <p:nvSpPr>
          <p:cNvPr id="9" name="Text 5"/>
          <p:cNvSpPr/>
          <p:nvPr/>
        </p:nvSpPr>
        <p:spPr>
          <a:xfrm>
            <a:off x="9756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47600"/>
            <a:ext cx="1352190"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476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2" name="Shape 8"/>
          <p:cNvSpPr/>
          <p:nvPr/>
        </p:nvSpPr>
        <p:spPr>
          <a:xfrm>
            <a:off x="2825041" y="1047600"/>
            <a:ext cx="787182"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25041"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21 références</a:t>
            </a:r>
            <a:endParaRPr lang="en-US" sz="720" dirty="0"/>
          </a:p>
        </p:txBody>
      </p:sp>
      <p:pic>
        <p:nvPicPr>
          <p:cNvPr id="14" name="Image 2" descr="logo de la maison — Famille d’Exea">    </p:cNvPr>
          <p:cNvPicPr>
            <a:picLocks noChangeAspect="1"/>
          </p:cNvPicPr>
          <p:nvPr/>
        </p:nvPicPr>
        <p:blipFill>
          <a:blip r:embed="rId3"/>
          <a:stretch>
            <a:fillRect/>
          </a:stretch>
        </p:blipFill>
        <p:spPr>
          <a:xfrm>
            <a:off x="828000" y="1357200"/>
            <a:ext cx="1440000" cy="1440000"/>
          </a:xfrm>
          <a:prstGeom prst="rect">
            <a:avLst/>
          </a:prstGeom>
        </p:spPr>
      </p:pic>
      <p:pic>
        <p:nvPicPr>
          <p:cNvPr id="15" name="Image 3" descr="Une bouteille du domaine Famille d’Exea">    </p:cNvPr>
          <p:cNvPicPr>
            <a:picLocks noChangeAspect="1"/>
          </p:cNvPicPr>
          <p:nvPr/>
        </p:nvPicPr>
        <p:blipFill>
          <a:blip r:embed="rId4"/>
          <a:stretch>
            <a:fillRect/>
          </a:stretch>
        </p:blipFill>
        <p:spPr>
          <a:xfrm>
            <a:off x="6223279" y="1357200"/>
            <a:ext cx="585443" cy="2232000"/>
          </a:xfrm>
          <a:prstGeom prst="rect">
            <a:avLst/>
          </a:prstGeom>
        </p:spPr>
      </p:pic>
      <p:sp>
        <p:nvSpPr>
          <p:cNvPr id="16" name="Text 10"/>
          <p:cNvSpPr/>
          <p:nvPr/>
        </p:nvSpPr>
        <p:spPr>
          <a:xfrm>
            <a:off x="2393965" y="1758870"/>
            <a:ext cx="292685" cy="483413"/>
          </a:xfrm>
          <a:prstGeom prst="rect">
            <a:avLst/>
          </a:prstGeom>
          <a:noFill/>
          <a:ln/>
        </p:spPr>
        <p:txBody>
          <a:bodyPr wrap="square" lIns="0" tIns="0" rIns="0" bIns="0" rtlCol="0" anchor="t"/>
          <a:lstStyle/>
          <a:p>
            <a:pPr algn="r" indent="0" marL="0">
              <a:lnSpc>
                <a:spcPct val="122900"/>
              </a:lnSpc>
              <a:buNone/>
            </a:pPr>
            <a:r>
              <a:rPr lang="en-US" sz="2379" dirty="0">
                <a:solidFill>
                  <a:srgbClr val="67067C"/>
                </a:solidFill>
                <a:latin typeface="Young Serif" pitchFamily="34" charset="0"/>
                <a:ea typeface="Young Serif" pitchFamily="34" charset="-122"/>
                <a:cs typeface="Young Serif" pitchFamily="34" charset="-120"/>
              </a:rPr>
              <a:t>D</a:t>
            </a:r>
            <a:endParaRPr lang="en-US" sz="2379" dirty="0"/>
          </a:p>
        </p:txBody>
      </p:sp>
      <p:sp>
        <p:nvSpPr>
          <p:cNvPr id="17" name="Text 11"/>
          <p:cNvSpPr/>
          <p:nvPr/>
        </p:nvSpPr>
        <p:spPr>
          <a:xfrm>
            <a:off x="2448000" y="1895837"/>
            <a:ext cx="3456000" cy="1693264"/>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epuis plusieurs générations, la famille d’Exea façonne sur les terroirs solaires du Languedoc des vins biologiques vibrants et sincères, alliant pureté du fruit et convivialité.</a:t>
            </a:r>
            <a:endParaRPr lang="en-US" sz="13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828000" y="37511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144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600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PETIT JARDIN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3,43</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3,16</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2,71</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PETIT JARDIN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3,43</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3,16</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2,71</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PETIT JARDIN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3,43</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3,16</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2,71</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JARDINS DE CORBIÈRES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4,74</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4,36</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4,08</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JARDINS DE CORBIÈRES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4,74</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4,36</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4,08</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BLANC SÉRAME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7,78</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7,16</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6,13</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ROSE SÉRAME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7,78</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7,16</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6,13</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ROUGE SÉRAME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7,78</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7,16</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6,13</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Text 12"/>
          <p:cNvSpPr/>
          <p:nvPr/>
        </p:nvSpPr>
        <p:spPr>
          <a:xfrm>
            <a:off x="828000" y="8136000"/>
            <a:ext cx="6120000" cy="1980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Famille d’Exea : les vins et les jus de cépages — n°33 p. 56</a:t>
            </a:r>
            <a:endParaRPr lang="en-US" sz="740" dirty="0"/>
          </a:p>
        </p:txBody>
      </p:sp>
      <p:sp>
        <p:nvSpPr>
          <p:cNvPr id="20" name="Shape 13"/>
          <p:cNvSpPr/>
          <p:nvPr/>
        </p:nvSpPr>
        <p:spPr>
          <a:xfrm>
            <a:off x="828000" y="8388000"/>
            <a:ext cx="6120000" cy="0"/>
          </a:xfrm>
          <a:prstGeom prst="line">
            <a:avLst/>
          </a:prstGeom>
          <a:noFill/>
          <a:ln w="8890">
            <a:solidFill>
              <a:srgbClr val="46606E"/>
            </a:solidFill>
            <a:prstDash val="solid"/>
          </a:ln>
        </p:spPr>
      </p:sp>
      <p:sp>
        <p:nvSpPr>
          <p:cNvPr id="21" name="Text 14"/>
          <p:cNvSpPr/>
          <p:nvPr/>
        </p:nvSpPr>
        <p:spPr>
          <a:xfrm>
            <a:off x="828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85</a:t>
            </a:r>
            <a:endParaRPr lang="en-US" sz="720" dirty="0"/>
          </a:p>
        </p:txBody>
      </p:sp>
      <p:sp>
        <p:nvSpPr>
          <p:cNvPr id="22" name="Text 15"/>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 Autre     pictos de l’Agence SCIO, pas les logos officiels</a:t>
            </a:r>
            <a:endParaRPr lang="en-US" sz="650" dirty="0"/>
          </a:p>
        </p:txBody>
      </p:sp>
      <p:sp>
        <p:nvSpPr>
          <p:cNvPr id="23" name="Text 16"/>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54</a:t>
            </a:r>
            <a:endParaRPr lang="en-US" sz="750" dirty="0"/>
          </a:p>
        </p:txBody>
      </p:sp>
      <p:sp>
        <p:nvSpPr>
          <p:cNvPr id="24" name="Text 17"/>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anguedoc.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32</a:t>
            </a:r>
            <a:r>
              <a:rPr lang="en-US" sz="2000" dirty="0">
                <a:solidFill>
                  <a:srgbClr val="46606E"/>
                </a:solidFill>
                <a:latin typeface="Young Serif" pitchFamily="34" charset="0"/>
                <a:ea typeface="Young Serif" pitchFamily="34" charset="-122"/>
                <a:cs typeface="Young Serif" pitchFamily="34" charset="-120"/>
              </a:rPr>
              <a:t>   Famille d’Exea</a:t>
            </a:r>
            <a:r>
              <a:rPr lang="en-US" sz="1100" i="1" dirty="0">
                <a:solidFill>
                  <a:srgbClr val="A8515F"/>
                </a:solidFill>
                <a:latin typeface="Spectral" pitchFamily="34" charset="0"/>
                <a:ea typeface="Spectral" pitchFamily="34" charset="-122"/>
                <a:cs typeface="Spectral" pitchFamily="34" charset="-120"/>
              </a:rPr>
              <a:t>  (suite)</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83600"/>
            <a:ext cx="108000" cy="108000"/>
          </a:xfrm>
          <a:prstGeom prst="rect">
            <a:avLst/>
          </a:prstGeom>
        </p:spPr>
      </p:pic>
      <p:sp>
        <p:nvSpPr>
          <p:cNvPr id="9" name="Text 5"/>
          <p:cNvSpPr/>
          <p:nvPr/>
        </p:nvSpPr>
        <p:spPr>
          <a:xfrm>
            <a:off x="7596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47600"/>
            <a:ext cx="1352190"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177651" y="10476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2" name="Shape 8"/>
          <p:cNvSpPr/>
          <p:nvPr/>
        </p:nvSpPr>
        <p:spPr>
          <a:xfrm>
            <a:off x="2609041" y="1047600"/>
            <a:ext cx="787182"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09041"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21 références</a:t>
            </a:r>
            <a:endParaRPr lang="en-US" sz="72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612000" y="13572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 (SUITE)</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144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600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 *</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LULLULA</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9,57</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7,54</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 *</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CARDUELIS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 *</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OENA</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Minervois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CHANT DE LUNE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7,78</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7,16</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6,13</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Minervois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CHANT LIBRE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9,57</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7,54</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Minervois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CHANT DE LUMIÈRE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 MUSCARIS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3,96</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3,39</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 SOUVIGNIER GRIS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3,96</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3,39</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SAUVIGNON 9,5°</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3,96</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3,39</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GRENACHE GRIS 9,5°</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3,96</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3,39</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graphicFrame>
        <p:nvGraphicFramePr>
          <p:cNvPr id="111" name="Table 1"/>
          <p:cNvGraphicFramePr>
            <a:graphicFrameLocks noGrp="1"/>
          </p:cNvGraphicFramePr>
          <p:nvPr>
            <p:extLst>
              <p:ext uri="{D42A27DB-BD31-4B8C-83A1-F6EECF244321}">
                <p14:modId xmlns:p14="http://schemas.microsoft.com/office/powerpoint/2010/main" val="1579011935"/>
              </p:ext>
            </p:extLst>
          </p:nvPr>
        </p:nvGraphicFramePr>
        <p:xfrm>
          <a:off x="612000" y="5681030"/>
          <a:ext cx="6120000" cy="914400"/>
        </p:xfrm>
        <a:graphic>
          <a:graphicData uri="http://schemas.openxmlformats.org/drawingml/2006/table">
            <a:tbl>
              <a:tblPr/>
              <a:tblGrid>
                <a:gridCol w="216000"/>
                <a:gridCol w="2988000"/>
                <a:gridCol w="540000"/>
                <a:gridCol w="504000"/>
                <a:gridCol w="936000"/>
                <a:gridCol w="936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BIB · BAG-IN-BOX</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50 BIB demi pal</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100 BIB palette</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Pergola D'Exea</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5 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11,85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11,65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Pergola D'Exea</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5 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11,85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11,65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Pergola D'Exea</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5 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11,85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11,65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6" name="Shape 10"/>
          <p:cNvSpPr/>
          <p:nvPr/>
        </p:nvSpPr>
        <p:spPr>
          <a:xfrm>
            <a:off x="612000" y="7170135"/>
            <a:ext cx="0" cy="288349"/>
          </a:xfrm>
          <a:prstGeom prst="line">
            <a:avLst/>
          </a:prstGeom>
          <a:noFill/>
          <a:ln w="17780">
            <a:solidFill>
              <a:srgbClr val="67067C"/>
            </a:solidFill>
            <a:prstDash val="solid"/>
          </a:ln>
        </p:spPr>
      </p:sp>
      <p:sp>
        <p:nvSpPr>
          <p:cNvPr id="17" name="Text 11"/>
          <p:cNvSpPr/>
          <p:nvPr/>
        </p:nvSpPr>
        <p:spPr>
          <a:xfrm>
            <a:off x="720000" y="7170135"/>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Franco de port à partir de 72 bouteilles</a:t>
            </a:r>
            <a:endParaRPr lang="en-US" sz="1050" dirty="0"/>
          </a:p>
        </p:txBody>
      </p:sp>
      <p:sp>
        <p:nvSpPr>
          <p:cNvPr id="18" name="Text 12"/>
          <p:cNvSpPr/>
          <p:nvPr/>
        </p:nvSpPr>
        <p:spPr>
          <a:xfrm>
            <a:off x="612000" y="8136000"/>
            <a:ext cx="6120000" cy="1980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Famille d’Exea : les vins et les jus de cépages — n°33 p. 56</a:t>
            </a:r>
            <a:endParaRPr lang="en-US" sz="740" dirty="0"/>
          </a:p>
        </p:txBody>
      </p:sp>
      <p:sp>
        <p:nvSpPr>
          <p:cNvPr id="19" name="Shape 13"/>
          <p:cNvSpPr/>
          <p:nvPr/>
        </p:nvSpPr>
        <p:spPr>
          <a:xfrm>
            <a:off x="612000" y="8388000"/>
            <a:ext cx="6120000" cy="0"/>
          </a:xfrm>
          <a:prstGeom prst="line">
            <a:avLst/>
          </a:prstGeom>
          <a:noFill/>
          <a:ln w="8890">
            <a:solidFill>
              <a:srgbClr val="46606E"/>
            </a:solidFill>
            <a:prstDash val="solid"/>
          </a:ln>
        </p:spPr>
      </p:sp>
      <p:sp>
        <p:nvSpPr>
          <p:cNvPr id="20" name="Text 14"/>
          <p:cNvSpPr/>
          <p:nvPr/>
        </p:nvSpPr>
        <p:spPr>
          <a:xfrm>
            <a:off x="612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85</a:t>
            </a:r>
            <a:endParaRPr lang="en-US" sz="720" dirty="0"/>
          </a:p>
        </p:txBody>
      </p:sp>
      <p:sp>
        <p:nvSpPr>
          <p:cNvPr id="21" name="Text 15"/>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 Autre     pictos de l’Agence SCIO, pas les logos officiels</a:t>
            </a:r>
            <a:endParaRPr lang="en-US" sz="650" dirty="0"/>
          </a:p>
        </p:txBody>
      </p:sp>
      <p:sp>
        <p:nvSpPr>
          <p:cNvPr id="22" name="Text 16"/>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55</a:t>
            </a:r>
            <a:endParaRPr lang="en-US" sz="750" dirty="0"/>
          </a:p>
        </p:txBody>
      </p:sp>
      <p:sp>
        <p:nvSpPr>
          <p:cNvPr id="23" name="Text 17"/>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anguedoc.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33</a:t>
            </a:r>
            <a:r>
              <a:rPr lang="en-US" sz="2000" dirty="0">
                <a:solidFill>
                  <a:srgbClr val="46606E"/>
                </a:solidFill>
                <a:latin typeface="Young Serif" pitchFamily="34" charset="0"/>
                <a:ea typeface="Young Serif" pitchFamily="34" charset="-122"/>
                <a:cs typeface="Young Serif" pitchFamily="34" charset="-120"/>
              </a:rPr>
              <a:t>   Famille d’Exea — Jus de Cépages</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83600"/>
            <a:ext cx="108000" cy="108000"/>
          </a:xfrm>
          <a:prstGeom prst="rect">
            <a:avLst/>
          </a:prstGeom>
        </p:spPr>
      </p:pic>
      <p:sp>
        <p:nvSpPr>
          <p:cNvPr id="9" name="Text 5"/>
          <p:cNvSpPr/>
          <p:nvPr/>
        </p:nvSpPr>
        <p:spPr>
          <a:xfrm>
            <a:off x="9756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47600"/>
            <a:ext cx="1352190"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476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2" name="Shape 8"/>
          <p:cNvSpPr/>
          <p:nvPr/>
        </p:nvSpPr>
        <p:spPr>
          <a:xfrm>
            <a:off x="2825041" y="10476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25041"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8 références</a:t>
            </a:r>
            <a:endParaRPr lang="en-US" sz="720" dirty="0"/>
          </a:p>
        </p:txBody>
      </p:sp>
      <p:pic>
        <p:nvPicPr>
          <p:cNvPr id="14" name="Image 2" descr="brebis dans les vignes — Famille d’Exea — Jus de Cépages">    </p:cNvPr>
          <p:cNvPicPr>
            <a:picLocks noChangeAspect="1"/>
          </p:cNvPicPr>
          <p:nvPr/>
        </p:nvPicPr>
        <p:blipFill>
          <a:blip r:embed="rId3"/>
          <a:srcRect l="11667" r="21666" t="0" b="0"/>
          <a:stretch/>
        </p:blipFill>
        <p:spPr>
          <a:xfrm>
            <a:off x="828000" y="1357200"/>
            <a:ext cx="1440000" cy="1440000"/>
          </a:xfrm>
          <a:prstGeom prst="ellipse">
            <a:avLst/>
          </a:prstGeom>
        </p:spPr>
      </p:pic>
      <p:pic>
        <p:nvPicPr>
          <p:cNvPr id="15" name="Image 3" descr="Une bouteille du domaine Famille d’Exea — Jus de Cépages">    </p:cNvPr>
          <p:cNvPicPr>
            <a:picLocks noChangeAspect="1"/>
          </p:cNvPicPr>
          <p:nvPr/>
        </p:nvPicPr>
        <p:blipFill>
          <a:blip r:embed="rId4"/>
          <a:stretch>
            <a:fillRect/>
          </a:stretch>
        </p:blipFill>
        <p:spPr>
          <a:xfrm>
            <a:off x="6113508" y="1357200"/>
            <a:ext cx="804984" cy="2232000"/>
          </a:xfrm>
          <a:prstGeom prst="rect">
            <a:avLst/>
          </a:prstGeom>
        </p:spPr>
      </p:pic>
      <p:sp>
        <p:nvSpPr>
          <p:cNvPr id="16" name="Text 10"/>
          <p:cNvSpPr/>
          <p:nvPr/>
        </p:nvSpPr>
        <p:spPr>
          <a:xfrm>
            <a:off x="2394013" y="1280867"/>
            <a:ext cx="161668" cy="423266"/>
          </a:xfrm>
          <a:prstGeom prst="rect">
            <a:avLst/>
          </a:prstGeom>
          <a:noFill/>
          <a:ln/>
        </p:spPr>
        <p:txBody>
          <a:bodyPr wrap="square" lIns="0" tIns="0" rIns="0" bIns="0" rtlCol="0" anchor="t"/>
          <a:lstStyle/>
          <a:p>
            <a:pPr algn="r" indent="0" marL="0">
              <a:lnSpc>
                <a:spcPct val="125200"/>
              </a:lnSpc>
              <a:buNone/>
            </a:pPr>
            <a:r>
              <a:rPr lang="en-US" sz="2083" dirty="0">
                <a:solidFill>
                  <a:srgbClr val="67067C"/>
                </a:solidFill>
                <a:latin typeface="Young Serif" pitchFamily="34" charset="0"/>
                <a:ea typeface="Young Serif" pitchFamily="34" charset="-122"/>
                <a:cs typeface="Young Serif" pitchFamily="34" charset="-120"/>
              </a:rPr>
              <a:t>I</a:t>
            </a:r>
            <a:endParaRPr lang="en-US" sz="2083" dirty="0"/>
          </a:p>
        </p:txBody>
      </p:sp>
      <p:sp>
        <p:nvSpPr>
          <p:cNvPr id="17" name="Text 11"/>
          <p:cNvSpPr/>
          <p:nvPr/>
        </p:nvSpPr>
        <p:spPr>
          <a:xfrm>
            <a:off x="2448000" y="1391383"/>
            <a:ext cx="3456000" cy="2197717"/>
          </a:xfrm>
          <a:prstGeom prst="rect">
            <a:avLst/>
          </a:prstGeom>
          <a:noFill/>
          <a:ln/>
        </p:spPr>
        <p:txBody>
          <a:bodyPr wrap="square" lIns="0" tIns="0" rIns="0" bIns="0" rtlCol="0" anchor="t"/>
          <a:lstStyle/>
          <a:p>
            <a:pPr indent="0" marL="0">
              <a:lnSpc>
                <a:spcPct val="142000"/>
              </a:lnSpc>
              <a:buNone/>
            </a:pPr>
            <a:r>
              <a:rPr lang="en-US" sz="1225" dirty="0">
                <a:solidFill>
                  <a:srgbClr val="46606E"/>
                </a:solidFill>
                <a:latin typeface="Spectral" pitchFamily="34" charset="0"/>
                <a:ea typeface="Spectral" pitchFamily="34" charset="-122"/>
                <a:cs typeface="Spectral" pitchFamily="34" charset="-120"/>
              </a:rPr>
              <a:t>   ssu des plus belles vignes du domaine, ces pur jus sont une expression authentique du terroir. Élaborés sans filtration ni additif, ils préservent la pureté des arômes du cépage, offrant une expérience de dégustation fruitée, fraîche et élégante. Parfait pour les amateurs de boissons saines et raffinées, ils se dégustent à tout moment de la journée.</a:t>
            </a:r>
            <a:endParaRPr lang="en-US" sz="1225"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828000" y="3751100"/>
          <a:ext cx="6120000" cy="914400"/>
        </p:xfrm>
        <a:graphic>
          <a:graphicData uri="http://schemas.openxmlformats.org/drawingml/2006/table">
            <a:tbl>
              <a:tblPr/>
              <a:tblGrid>
                <a:gridCol w="216000"/>
                <a:gridCol w="2988000"/>
                <a:gridCol w="540000"/>
                <a:gridCol w="504000"/>
                <a:gridCol w="936000"/>
                <a:gridCol w="936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 · JUS DE CÉPAGES</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144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3C5B47"/>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 SAUVIGNON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50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2,39</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2,19</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3C5B47"/>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 CARIGNAN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50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2,39</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2,19</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3C5B47"/>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 CHARDONNAY</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50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2,39</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2,19</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3C5B47"/>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 GRENACHE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50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2,39</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2,19</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3C5B47"/>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SYRAH</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50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2,39</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2,19</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graphicFrame>
        <p:nvGraphicFramePr>
          <p:cNvPr id="113" name="Table 1"/>
          <p:cNvGraphicFramePr>
            <a:graphicFrameLocks noGrp="1"/>
          </p:cNvGraphicFramePr>
          <p:nvPr>
            <p:extLst>
              <p:ext uri="{D42A27DB-BD31-4B8C-83A1-F6EECF244321}">
                <p14:modId xmlns:p14="http://schemas.microsoft.com/office/powerpoint/2010/main" val="1579011935"/>
              </p:ext>
            </p:extLst>
          </p:nvPr>
        </p:nvGraphicFramePr>
        <p:xfrm>
          <a:off x="828000" y="6085247"/>
          <a:ext cx="6120000" cy="914400"/>
        </p:xfrm>
        <a:graphic>
          <a:graphicData uri="http://schemas.openxmlformats.org/drawingml/2006/table">
            <a:tbl>
              <a:tblPr/>
              <a:tblGrid>
                <a:gridCol w="216000"/>
                <a:gridCol w="2988000"/>
                <a:gridCol w="540000"/>
                <a:gridCol w="504000"/>
                <a:gridCol w="936000"/>
                <a:gridCol w="936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 · JUS DE CÉPAGES</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144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3C5B47"/>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 CHARDONNAY</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1,84</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1,74</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3C5B47"/>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 GRENACHE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1,84</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1,74</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3C5B47"/>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SYRAH</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1,84</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1,74</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0" name="Shape 12"/>
          <p:cNvSpPr/>
          <p:nvPr/>
        </p:nvSpPr>
        <p:spPr>
          <a:xfrm>
            <a:off x="828000" y="7574352"/>
            <a:ext cx="0" cy="288349"/>
          </a:xfrm>
          <a:prstGeom prst="line">
            <a:avLst/>
          </a:prstGeom>
          <a:noFill/>
          <a:ln w="17780">
            <a:solidFill>
              <a:srgbClr val="67067C"/>
            </a:solidFill>
            <a:prstDash val="solid"/>
          </a:ln>
        </p:spPr>
      </p:sp>
      <p:sp>
        <p:nvSpPr>
          <p:cNvPr id="21" name="Text 13"/>
          <p:cNvSpPr/>
          <p:nvPr/>
        </p:nvSpPr>
        <p:spPr>
          <a:xfrm>
            <a:off x="936000" y="7574352"/>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Franco de port à partir de 72 bouteilles</a:t>
            </a:r>
            <a:endParaRPr lang="en-US" sz="1050" dirty="0"/>
          </a:p>
        </p:txBody>
      </p:sp>
      <p:sp>
        <p:nvSpPr>
          <p:cNvPr id="22" name="Text 14"/>
          <p:cNvSpPr/>
          <p:nvPr/>
        </p:nvSpPr>
        <p:spPr>
          <a:xfrm>
            <a:off x="828000" y="8136000"/>
            <a:ext cx="6120000" cy="1980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Famille d’Exea : les vins et les jus de cépages — n°32 p. 54</a:t>
            </a:r>
            <a:endParaRPr lang="en-US" sz="740" dirty="0"/>
          </a:p>
        </p:txBody>
      </p:sp>
      <p:sp>
        <p:nvSpPr>
          <p:cNvPr id="23" name="Shape 15"/>
          <p:cNvSpPr/>
          <p:nvPr/>
        </p:nvSpPr>
        <p:spPr>
          <a:xfrm>
            <a:off x="828000" y="8388000"/>
            <a:ext cx="6120000" cy="0"/>
          </a:xfrm>
          <a:prstGeom prst="line">
            <a:avLst/>
          </a:prstGeom>
          <a:noFill/>
          <a:ln w="8890">
            <a:solidFill>
              <a:srgbClr val="46606E"/>
            </a:solidFill>
            <a:prstDash val="solid"/>
          </a:ln>
        </p:spPr>
      </p:sp>
      <p:sp>
        <p:nvSpPr>
          <p:cNvPr id="24" name="Text 16"/>
          <p:cNvSpPr/>
          <p:nvPr/>
        </p:nvSpPr>
        <p:spPr>
          <a:xfrm>
            <a:off x="828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85</a:t>
            </a:r>
            <a:endParaRPr lang="en-US" sz="720" dirty="0"/>
          </a:p>
        </p:txBody>
      </p:sp>
      <p:sp>
        <p:nvSpPr>
          <p:cNvPr id="25" name="Text 17"/>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Jus de cépages     pictos de l’Agence SCIO, pas les logos officiels</a:t>
            </a:r>
            <a:endParaRPr lang="en-US" sz="650" dirty="0"/>
          </a:p>
        </p:txBody>
      </p:sp>
      <p:sp>
        <p:nvSpPr>
          <p:cNvPr id="26" name="Text 18"/>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56</a:t>
            </a:r>
            <a:endParaRPr lang="en-US" sz="750" dirty="0"/>
          </a:p>
        </p:txBody>
      </p:sp>
      <p:sp>
        <p:nvSpPr>
          <p:cNvPr id="27" name="Text 19"/>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anguedoc.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34</a:t>
            </a:r>
            <a:r>
              <a:rPr lang="en-US" sz="2000" dirty="0">
                <a:solidFill>
                  <a:srgbClr val="46606E"/>
                </a:solidFill>
                <a:latin typeface="Young Serif" pitchFamily="34" charset="0"/>
                <a:ea typeface="Young Serif" pitchFamily="34" charset="-122"/>
                <a:cs typeface="Young Serif" pitchFamily="34" charset="-120"/>
              </a:rPr>
              <a:t>   Château de Gragnos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1101294"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conversion.png">    </p:cNvPr>
          <p:cNvPicPr>
            <a:picLocks noChangeAspect="1"/>
          </p:cNvPicPr>
          <p:nvPr/>
        </p:nvPicPr>
        <p:blipFill>
          <a:blip r:embed="rId2"/>
          <a:stretch>
            <a:fillRect/>
          </a:stretch>
        </p:blipFill>
        <p:spPr>
          <a:xfrm>
            <a:off x="684000" y="1083600"/>
            <a:ext cx="108000" cy="108000"/>
          </a:xfrm>
          <a:prstGeom prst="rect">
            <a:avLst/>
          </a:prstGeom>
        </p:spPr>
      </p:pic>
      <p:sp>
        <p:nvSpPr>
          <p:cNvPr id="9" name="Text 5"/>
          <p:cNvSpPr/>
          <p:nvPr/>
        </p:nvSpPr>
        <p:spPr>
          <a:xfrm>
            <a:off x="759600" y="1047600"/>
            <a:ext cx="95369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En conversion Bio</a:t>
            </a:r>
            <a:endParaRPr lang="en-US" sz="720" dirty="0"/>
          </a:p>
        </p:txBody>
      </p:sp>
      <p:sp>
        <p:nvSpPr>
          <p:cNvPr id="10" name="Shape 6"/>
          <p:cNvSpPr/>
          <p:nvPr/>
        </p:nvSpPr>
        <p:spPr>
          <a:xfrm>
            <a:off x="1792494" y="10476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792494"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3257168" y="10476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3257168"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8 références</a:t>
            </a:r>
            <a:endParaRPr lang="en-US" sz="720" dirty="0"/>
          </a:p>
        </p:txBody>
      </p:sp>
      <p:pic>
        <p:nvPicPr>
          <p:cNvPr id="14" name="Image 2" descr="grappes à la vigne — Château de Gragnos">    </p:cNvPr>
          <p:cNvPicPr>
            <a:picLocks noChangeAspect="1"/>
          </p:cNvPicPr>
          <p:nvPr/>
        </p:nvPicPr>
        <p:blipFill>
          <a:blip r:embed="rId3"/>
          <a:srcRect l="0" r="0" t="11094" b="22239"/>
          <a:stretch/>
        </p:blipFill>
        <p:spPr>
          <a:xfrm>
            <a:off x="612000" y="1357200"/>
            <a:ext cx="1440000" cy="1440000"/>
          </a:xfrm>
          <a:prstGeom prst="ellipse">
            <a:avLst/>
          </a:prstGeom>
        </p:spPr>
      </p:pic>
      <p:pic>
        <p:nvPicPr>
          <p:cNvPr id="15" name="Image 3" descr="Une bouteille du domaine Château de Gragnos">    </p:cNvPr>
          <p:cNvPicPr>
            <a:picLocks noChangeAspect="1"/>
          </p:cNvPicPr>
          <p:nvPr/>
        </p:nvPicPr>
        <p:blipFill>
          <a:blip r:embed="rId4"/>
          <a:stretch>
            <a:fillRect/>
          </a:stretch>
        </p:blipFill>
        <p:spPr>
          <a:xfrm>
            <a:off x="6008803" y="1357200"/>
            <a:ext cx="582393" cy="2232000"/>
          </a:xfrm>
          <a:prstGeom prst="rect">
            <a:avLst/>
          </a:prstGeom>
        </p:spPr>
      </p:pic>
      <p:sp>
        <p:nvSpPr>
          <p:cNvPr id="16" name="Text 10"/>
          <p:cNvSpPr/>
          <p:nvPr/>
        </p:nvSpPr>
        <p:spPr>
          <a:xfrm>
            <a:off x="2177976" y="1336044"/>
            <a:ext cx="292674" cy="485851"/>
          </a:xfrm>
          <a:prstGeom prst="rect">
            <a:avLst/>
          </a:prstGeom>
          <a:noFill/>
          <a:ln/>
        </p:spPr>
        <p:txBody>
          <a:bodyPr wrap="square" lIns="0" tIns="0" rIns="0" bIns="0" rtlCol="0" anchor="t"/>
          <a:lstStyle/>
          <a:p>
            <a:pPr algn="r" indent="0" marL="0">
              <a:lnSpc>
                <a:spcPct val="122800"/>
              </a:lnSpc>
              <a:buNone/>
            </a:pPr>
            <a:r>
              <a:rPr lang="en-US" sz="2391" dirty="0">
                <a:solidFill>
                  <a:srgbClr val="67067C"/>
                </a:solidFill>
                <a:latin typeface="Young Serif" pitchFamily="34" charset="0"/>
                <a:ea typeface="Young Serif" pitchFamily="34" charset="-122"/>
                <a:cs typeface="Young Serif" pitchFamily="34" charset="-120"/>
              </a:rPr>
              <a:t>A</a:t>
            </a:r>
            <a:endParaRPr lang="en-US" sz="2391" dirty="0"/>
          </a:p>
        </p:txBody>
      </p:sp>
      <p:sp>
        <p:nvSpPr>
          <p:cNvPr id="17" name="Text 11"/>
          <p:cNvSpPr/>
          <p:nvPr/>
        </p:nvSpPr>
        <p:spPr>
          <a:xfrm>
            <a:off x="2232000" y="1474413"/>
            <a:ext cx="3456000" cy="2114688"/>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lain, Patricia et leurs fils révèlent l’âme de Gragnos par un soin méticuleux apporté à chaque pied de vigne. Engagé dans une conversion biologique, le domaine privilégie un accompagnement doux du végétal pour laisser rayonner l’identité du terroir sans le contraindre.</a:t>
            </a:r>
            <a:endParaRPr lang="en-US" sz="130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612000" y="37511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 Chinian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Henri</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4,85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Léon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4,85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 Chinian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Cosmos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4,85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 Chinian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Lou Daro</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 Chinian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Grain de Blanc</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 Chinian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BDM</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8,85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Syrah Nature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10,45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 Chinian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Dolmen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14,45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Shape 12"/>
          <p:cNvSpPr/>
          <p:nvPr/>
        </p:nvSpPr>
        <p:spPr>
          <a:xfrm>
            <a:off x="612000" y="7163809"/>
            <a:ext cx="0" cy="288349"/>
          </a:xfrm>
          <a:prstGeom prst="line">
            <a:avLst/>
          </a:prstGeom>
          <a:noFill/>
          <a:ln w="17780">
            <a:solidFill>
              <a:srgbClr val="67067C"/>
            </a:solidFill>
            <a:prstDash val="solid"/>
          </a:ln>
        </p:spPr>
      </p:sp>
      <p:sp>
        <p:nvSpPr>
          <p:cNvPr id="20" name="Text 13"/>
          <p:cNvSpPr/>
          <p:nvPr/>
        </p:nvSpPr>
        <p:spPr>
          <a:xfrm>
            <a:off x="720000" y="7163809"/>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 à partir de 180 bouteilles.</a:t>
            </a:r>
            <a:endParaRPr lang="en-US" sz="1050" dirty="0"/>
          </a:p>
        </p:txBody>
      </p:sp>
      <p:sp>
        <p:nvSpPr>
          <p:cNvPr id="21" name="Shape 14"/>
          <p:cNvSpPr/>
          <p:nvPr/>
        </p:nvSpPr>
        <p:spPr>
          <a:xfrm>
            <a:off x="612000" y="8388000"/>
            <a:ext cx="6120000" cy="0"/>
          </a:xfrm>
          <a:prstGeom prst="line">
            <a:avLst/>
          </a:prstGeom>
          <a:noFill/>
          <a:ln w="8890">
            <a:solidFill>
              <a:srgbClr val="46606E"/>
            </a:solidFill>
            <a:prstDash val="solid"/>
          </a:ln>
        </p:spPr>
      </p:sp>
      <p:sp>
        <p:nvSpPr>
          <p:cNvPr id="22" name="Text 15"/>
          <p:cNvSpPr/>
          <p:nvPr/>
        </p:nvSpPr>
        <p:spPr>
          <a:xfrm>
            <a:off x="612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3" name="Text 16"/>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24" name="Text 17"/>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57</a:t>
            </a:r>
            <a:endParaRPr lang="en-US" sz="750" dirty="0"/>
          </a:p>
        </p:txBody>
      </p:sp>
      <p:sp>
        <p:nvSpPr>
          <p:cNvPr id="25" name="Text 18"/>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anguedoc.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35</a:t>
            </a:r>
            <a:r>
              <a:rPr lang="en-US" sz="2000" dirty="0">
                <a:solidFill>
                  <a:srgbClr val="46606E"/>
                </a:solidFill>
                <a:latin typeface="Young Serif" pitchFamily="34" charset="0"/>
                <a:ea typeface="Young Serif" pitchFamily="34" charset="-122"/>
                <a:cs typeface="Young Serif" pitchFamily="34" charset="-120"/>
              </a:rPr>
              <a:t>   Domaine Les Lys</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83600"/>
            <a:ext cx="108000" cy="108000"/>
          </a:xfrm>
          <a:prstGeom prst="rect">
            <a:avLst/>
          </a:prstGeom>
        </p:spPr>
      </p:pic>
      <p:sp>
        <p:nvSpPr>
          <p:cNvPr id="9" name="Text 5"/>
          <p:cNvSpPr/>
          <p:nvPr/>
        </p:nvSpPr>
        <p:spPr>
          <a:xfrm>
            <a:off x="9756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476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858325" y="10476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58325"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7 références</a:t>
            </a:r>
            <a:endParaRPr lang="en-US" sz="720" dirty="0"/>
          </a:p>
        </p:txBody>
      </p:sp>
      <p:pic>
        <p:nvPicPr>
          <p:cNvPr id="14" name="Image 2" descr="logo du domaine — Domaine Les Lys">    </p:cNvPr>
          <p:cNvPicPr>
            <a:picLocks noChangeAspect="1"/>
          </p:cNvPicPr>
          <p:nvPr/>
        </p:nvPicPr>
        <p:blipFill>
          <a:blip r:embed="rId3"/>
          <a:stretch>
            <a:fillRect/>
          </a:stretch>
        </p:blipFill>
        <p:spPr>
          <a:xfrm>
            <a:off x="828000" y="1357200"/>
            <a:ext cx="1440000" cy="1440000"/>
          </a:xfrm>
          <a:prstGeom prst="rect">
            <a:avLst/>
          </a:prstGeom>
        </p:spPr>
      </p:pic>
      <p:pic>
        <p:nvPicPr>
          <p:cNvPr id="15" name="Image 3" descr="Une bouteille du domaine Domaine Les Lys">    </p:cNvPr>
          <p:cNvPicPr>
            <a:picLocks noChangeAspect="1"/>
          </p:cNvPicPr>
          <p:nvPr/>
        </p:nvPicPr>
        <p:blipFill>
          <a:blip r:embed="rId4"/>
          <a:stretch>
            <a:fillRect/>
          </a:stretch>
        </p:blipFill>
        <p:spPr>
          <a:xfrm>
            <a:off x="6224803" y="1357200"/>
            <a:ext cx="582393" cy="2232000"/>
          </a:xfrm>
          <a:prstGeom prst="rect">
            <a:avLst/>
          </a:prstGeom>
        </p:spPr>
      </p:pic>
      <p:sp>
        <p:nvSpPr>
          <p:cNvPr id="16" name="Text 10"/>
          <p:cNvSpPr/>
          <p:nvPr/>
        </p:nvSpPr>
        <p:spPr>
          <a:xfrm>
            <a:off x="2393960" y="1493390"/>
            <a:ext cx="251415" cy="436880"/>
          </a:xfrm>
          <a:prstGeom prst="rect">
            <a:avLst/>
          </a:prstGeom>
          <a:noFill/>
          <a:ln/>
        </p:spPr>
        <p:txBody>
          <a:bodyPr wrap="square" lIns="0" tIns="0" rIns="0" bIns="0" rtlCol="0" anchor="t"/>
          <a:lstStyle/>
          <a:p>
            <a:pPr algn="r" indent="0" marL="0">
              <a:lnSpc>
                <a:spcPct val="126100"/>
              </a:lnSpc>
              <a:buNone/>
            </a:pPr>
            <a:r>
              <a:rPr lang="en-US" sz="2150" dirty="0">
                <a:solidFill>
                  <a:srgbClr val="67067C"/>
                </a:solidFill>
                <a:latin typeface="Young Serif" pitchFamily="34" charset="0"/>
                <a:ea typeface="Young Serif" pitchFamily="34" charset="-122"/>
                <a:cs typeface="Young Serif" pitchFamily="34" charset="-120"/>
              </a:rPr>
              <a:t>S</a:t>
            </a:r>
            <a:endParaRPr lang="en-US" sz="2150" dirty="0"/>
          </a:p>
        </p:txBody>
      </p:sp>
      <p:sp>
        <p:nvSpPr>
          <p:cNvPr id="17" name="Text 11"/>
          <p:cNvSpPr/>
          <p:nvPr/>
        </p:nvSpPr>
        <p:spPr>
          <a:xfrm>
            <a:off x="2448000" y="1603600"/>
            <a:ext cx="3456000" cy="1985500"/>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itué entre vignes et garrigues, le domaine près d'Uzès, face aux Cévennes, produit des vins d'une fraîcheur minérale incomparable. En respectant la biodiversité, ces parcelles sont reconnues par les appellations AOP Duché d’Uzès et IGP Cévennes.</a:t>
            </a:r>
            <a:endParaRPr lang="en-US" sz="13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828000" y="37511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Cévennes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Aillargues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2021</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Cévennes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Saint Anastasie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2021</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Cévennes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Petite Syrah</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Duché d'Uzès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Duché</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5,95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Duché d'Uzès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Librotte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2019</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Cévennes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Caillasses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2021</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Cévennes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Soif</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828000" y="6779088"/>
            <a:ext cx="0" cy="288349"/>
          </a:xfrm>
          <a:prstGeom prst="line">
            <a:avLst/>
          </a:prstGeom>
          <a:noFill/>
          <a:ln w="17780">
            <a:solidFill>
              <a:srgbClr val="67067C"/>
            </a:solidFill>
            <a:prstDash val="solid"/>
          </a:ln>
        </p:spPr>
      </p:sp>
      <p:sp>
        <p:nvSpPr>
          <p:cNvPr id="20" name="Text 13"/>
          <p:cNvSpPr/>
          <p:nvPr/>
        </p:nvSpPr>
        <p:spPr>
          <a:xfrm>
            <a:off x="936000" y="6779088"/>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828000" y="7211438"/>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LANGUEDOC — TERRASSES ET GARRIGUE</a:t>
            </a:r>
            <a:endParaRPr lang="en-US" sz="720" dirty="0"/>
          </a:p>
        </p:txBody>
      </p:sp>
      <p:pic>
        <p:nvPicPr>
          <p:cNvPr id="22" name="Image 4" descr="/home/user/philippe1/build/deco-catalogue-scio-2026/sol-languedoc.png">    </p:cNvPr>
          <p:cNvPicPr>
            <a:picLocks noChangeAspect="1"/>
          </p:cNvPicPr>
          <p:nvPr/>
        </p:nvPicPr>
        <p:blipFill>
          <a:blip r:embed="rId5"/>
          <a:stretch>
            <a:fillRect/>
          </a:stretch>
        </p:blipFill>
        <p:spPr>
          <a:xfrm>
            <a:off x="828000" y="7359038"/>
            <a:ext cx="6120000" cy="729241"/>
          </a:xfrm>
          <a:prstGeom prst="rect">
            <a:avLst/>
          </a:prstGeom>
        </p:spPr>
      </p:pic>
      <p:sp>
        <p:nvSpPr>
          <p:cNvPr id="23" name="Shape 15"/>
          <p:cNvSpPr/>
          <p:nvPr/>
        </p:nvSpPr>
        <p:spPr>
          <a:xfrm>
            <a:off x="828000" y="8388000"/>
            <a:ext cx="6120000" cy="0"/>
          </a:xfrm>
          <a:prstGeom prst="line">
            <a:avLst/>
          </a:prstGeom>
          <a:noFill/>
          <a:ln w="8890">
            <a:solidFill>
              <a:srgbClr val="46606E"/>
            </a:solidFill>
            <a:prstDash val="solid"/>
          </a:ln>
        </p:spPr>
      </p:sp>
      <p:sp>
        <p:nvSpPr>
          <p:cNvPr id="24" name="Text 16"/>
          <p:cNvSpPr/>
          <p:nvPr/>
        </p:nvSpPr>
        <p:spPr>
          <a:xfrm>
            <a:off x="828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6" name="Text 18"/>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58</a:t>
            </a:r>
            <a:endParaRPr lang="en-US" sz="750" dirty="0"/>
          </a:p>
        </p:txBody>
      </p:sp>
      <p:sp>
        <p:nvSpPr>
          <p:cNvPr id="27" name="Text 19"/>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anguedoc.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36</a:t>
            </a:r>
            <a:r>
              <a:rPr lang="en-US" sz="2000" dirty="0">
                <a:solidFill>
                  <a:srgbClr val="46606E"/>
                </a:solidFill>
                <a:latin typeface="Young Serif" pitchFamily="34" charset="0"/>
                <a:ea typeface="Young Serif" pitchFamily="34" charset="-122"/>
                <a:cs typeface="Young Serif" pitchFamily="34" charset="-120"/>
              </a:rPr>
              <a:t>   Prieuré Sainte-Marie d’Albas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528148"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hve.png">    </p:cNvPr>
          <p:cNvPicPr>
            <a:picLocks noChangeAspect="1"/>
          </p:cNvPicPr>
          <p:nvPr/>
        </p:nvPicPr>
        <p:blipFill>
          <a:blip r:embed="rId2"/>
          <a:stretch>
            <a:fillRect/>
          </a:stretch>
        </p:blipFill>
        <p:spPr>
          <a:xfrm>
            <a:off x="684000" y="1083600"/>
            <a:ext cx="108000" cy="108000"/>
          </a:xfrm>
          <a:prstGeom prst="rect">
            <a:avLst/>
          </a:prstGeom>
        </p:spPr>
      </p:pic>
      <p:sp>
        <p:nvSpPr>
          <p:cNvPr id="9" name="Text 5"/>
          <p:cNvSpPr/>
          <p:nvPr/>
        </p:nvSpPr>
        <p:spPr>
          <a:xfrm>
            <a:off x="759600" y="10476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0" name="Shape 6"/>
          <p:cNvSpPr/>
          <p:nvPr/>
        </p:nvSpPr>
        <p:spPr>
          <a:xfrm>
            <a:off x="1219348" y="10476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219348"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684022" y="1047600"/>
            <a:ext cx="787182"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84022"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13 références</a:t>
            </a:r>
            <a:endParaRPr lang="en-US" sz="720" dirty="0"/>
          </a:p>
        </p:txBody>
      </p:sp>
      <p:pic>
        <p:nvPicPr>
          <p:cNvPr id="14" name="Image 2" descr="les deux vignerons et leur rosé, noir et blanc — Prieuré Sainte-Marie d’Albas">    </p:cNvPr>
          <p:cNvPicPr>
            <a:picLocks noChangeAspect="1"/>
          </p:cNvPicPr>
          <p:nvPr/>
        </p:nvPicPr>
        <p:blipFill>
          <a:blip r:embed="rId3"/>
          <a:srcRect l="0" r="0" t="0" b="0"/>
          <a:stretch/>
        </p:blipFill>
        <p:spPr>
          <a:xfrm>
            <a:off x="612000" y="1357200"/>
            <a:ext cx="1440000" cy="1440000"/>
          </a:xfrm>
          <a:prstGeom prst="ellipse">
            <a:avLst/>
          </a:prstGeom>
        </p:spPr>
      </p:pic>
      <p:pic>
        <p:nvPicPr>
          <p:cNvPr id="15" name="Image 3" descr="Une bouteille du domaine Prieuré Sainte-Marie d’Albas">    </p:cNvPr>
          <p:cNvPicPr>
            <a:picLocks noChangeAspect="1"/>
          </p:cNvPicPr>
          <p:nvPr/>
        </p:nvPicPr>
        <p:blipFill>
          <a:blip r:embed="rId4"/>
          <a:stretch>
            <a:fillRect/>
          </a:stretch>
        </p:blipFill>
        <p:spPr>
          <a:xfrm>
            <a:off x="6056066" y="1357200"/>
            <a:ext cx="487869" cy="2232000"/>
          </a:xfrm>
          <a:prstGeom prst="rect">
            <a:avLst/>
          </a:prstGeom>
        </p:spPr>
      </p:pic>
      <p:sp>
        <p:nvSpPr>
          <p:cNvPr id="16" name="Text 10"/>
          <p:cNvSpPr/>
          <p:nvPr/>
        </p:nvSpPr>
        <p:spPr>
          <a:xfrm>
            <a:off x="2177963" y="1269446"/>
            <a:ext cx="278400" cy="456794"/>
          </a:xfrm>
          <a:prstGeom prst="rect">
            <a:avLst/>
          </a:prstGeom>
          <a:noFill/>
          <a:ln/>
        </p:spPr>
        <p:txBody>
          <a:bodyPr wrap="square" lIns="0" tIns="0" rIns="0" bIns="0" rtlCol="0" anchor="t"/>
          <a:lstStyle/>
          <a:p>
            <a:pPr algn="r" indent="0" marL="0">
              <a:lnSpc>
                <a:spcPct val="122800"/>
              </a:lnSpc>
              <a:buNone/>
            </a:pPr>
            <a:r>
              <a:rPr lang="en-US" sz="2248" dirty="0">
                <a:solidFill>
                  <a:srgbClr val="67067C"/>
                </a:solidFill>
                <a:latin typeface="Young Serif" pitchFamily="34" charset="0"/>
                <a:ea typeface="Young Serif" pitchFamily="34" charset="-122"/>
                <a:cs typeface="Young Serif" pitchFamily="34" charset="-120"/>
              </a:rPr>
              <a:t>A</a:t>
            </a:r>
            <a:endParaRPr lang="en-US" sz="2248" dirty="0"/>
          </a:p>
        </p:txBody>
      </p:sp>
      <p:sp>
        <p:nvSpPr>
          <p:cNvPr id="17" name="Text 11"/>
          <p:cNvSpPr/>
          <p:nvPr/>
        </p:nvSpPr>
        <p:spPr>
          <a:xfrm>
            <a:off x="2232000" y="1399241"/>
            <a:ext cx="3456000" cy="2189859"/>
          </a:xfrm>
          <a:prstGeom prst="rect">
            <a:avLst/>
          </a:prstGeom>
          <a:noFill/>
          <a:ln/>
        </p:spPr>
        <p:txBody>
          <a:bodyPr wrap="square" lIns="0" tIns="0" rIns="0" bIns="0" rtlCol="0" anchor="t"/>
          <a:lstStyle/>
          <a:p>
            <a:pPr indent="0" marL="0">
              <a:lnSpc>
                <a:spcPct val="142000"/>
              </a:lnSpc>
              <a:buNone/>
            </a:pPr>
            <a:r>
              <a:rPr lang="en-US" sz="1225" dirty="0">
                <a:solidFill>
                  <a:srgbClr val="46606E"/>
                </a:solidFill>
                <a:latin typeface="Spectral" pitchFamily="34" charset="0"/>
                <a:ea typeface="Spectral" pitchFamily="34" charset="-122"/>
                <a:cs typeface="Spectral" pitchFamily="34" charset="-120"/>
              </a:rPr>
              <a:t>      u pied de la Montagne d’Alaric, au cœur des Corbières, Laurence et Vincent Licciardi-Pirot cultivent des vignes plantées en terrasses et balayées par le vent du Cers. Les vins sont élevés dans une ancienne cave de village à demi enterrée : des rouges chaleureux du Midi, des blancs et des rosés tout en fraîcheur. AOP Corbières et IGP Pays d’Oc.</a:t>
            </a:r>
            <a:endParaRPr lang="en-US" sz="1225" dirty="0"/>
          </a:p>
        </p:txBody>
      </p:sp>
      <p:graphicFrame>
        <p:nvGraphicFramePr>
          <p:cNvPr id="60" name="Table 0"/>
          <p:cNvGraphicFramePr>
            <a:graphicFrameLocks noGrp="1"/>
          </p:cNvGraphicFramePr>
          <p:nvPr>
            <p:extLst>
              <p:ext uri="{D42A27DB-BD31-4B8C-83A1-F6EECF244321}">
                <p14:modId xmlns:p14="http://schemas.microsoft.com/office/powerpoint/2010/main" val="1579011935"/>
              </p:ext>
            </p:extLst>
          </p:nvPr>
        </p:nvGraphicFramePr>
        <p:xfrm>
          <a:off x="612000" y="37511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Clos de Cassis – élevé en fûts de chêne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Clos de Cassis – élevé en fûts de chêne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Magnum 1,5 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20,80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Tempo – élevé en fûts de chêne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Terre Rouge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Terre Rouge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Magnum 1,5 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17,90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Text 12"/>
          <p:cNvSpPr/>
          <p:nvPr/>
        </p:nvSpPr>
        <p:spPr>
          <a:xfrm>
            <a:off x="612000" y="6067247"/>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LANGUEDOC — TERRASSES ET GARRIGUE</a:t>
            </a:r>
            <a:endParaRPr lang="en-US" sz="720" dirty="0"/>
          </a:p>
        </p:txBody>
      </p:sp>
      <p:pic>
        <p:nvPicPr>
          <p:cNvPr id="20" name="Image 4" descr="/home/user/philippe1/build/deco-catalogue-scio-2026/sol-languedoc.png">    </p:cNvPr>
          <p:cNvPicPr>
            <a:picLocks noChangeAspect="1"/>
          </p:cNvPicPr>
          <p:nvPr/>
        </p:nvPicPr>
        <p:blipFill>
          <a:blip r:embed="rId5"/>
          <a:stretch>
            <a:fillRect/>
          </a:stretch>
        </p:blipFill>
        <p:spPr>
          <a:xfrm>
            <a:off x="612000" y="6214847"/>
            <a:ext cx="6120000" cy="1148400"/>
          </a:xfrm>
          <a:prstGeom prst="rect">
            <a:avLst/>
          </a:prstGeom>
        </p:spPr>
      </p:pic>
      <p:sp>
        <p:nvSpPr>
          <p:cNvPr id="21" name="Shape 13"/>
          <p:cNvSpPr/>
          <p:nvPr/>
        </p:nvSpPr>
        <p:spPr>
          <a:xfrm>
            <a:off x="612000" y="8388000"/>
            <a:ext cx="6120000" cy="0"/>
          </a:xfrm>
          <a:prstGeom prst="line">
            <a:avLst/>
          </a:prstGeom>
          <a:noFill/>
          <a:ln w="8890">
            <a:solidFill>
              <a:srgbClr val="46606E"/>
            </a:solidFill>
            <a:prstDash val="solid"/>
          </a:ln>
        </p:spPr>
      </p:sp>
      <p:sp>
        <p:nvSpPr>
          <p:cNvPr id="22" name="Text 14"/>
          <p:cNvSpPr/>
          <p:nvPr/>
        </p:nvSpPr>
        <p:spPr>
          <a:xfrm>
            <a:off x="612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3" name="Text 15"/>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24" name="Text 16"/>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59</a:t>
            </a:r>
            <a:endParaRPr lang="en-US" sz="750" dirty="0"/>
          </a:p>
        </p:txBody>
      </p:sp>
      <p:sp>
        <p:nvSpPr>
          <p:cNvPr id="25" name="Text 17"/>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anguedoc.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36</a:t>
            </a:r>
            <a:r>
              <a:rPr lang="en-US" sz="2000" dirty="0">
                <a:solidFill>
                  <a:srgbClr val="46606E"/>
                </a:solidFill>
                <a:latin typeface="Young Serif" pitchFamily="34" charset="0"/>
                <a:ea typeface="Young Serif" pitchFamily="34" charset="-122"/>
                <a:cs typeface="Young Serif" pitchFamily="34" charset="-120"/>
              </a:rPr>
              <a:t>   Prieuré Sainte-Marie d’Albas</a:t>
            </a:r>
            <a:r>
              <a:rPr lang="en-US" sz="1100" i="1" dirty="0">
                <a:solidFill>
                  <a:srgbClr val="A8515F"/>
                </a:solidFill>
                <a:latin typeface="Spectral" pitchFamily="34" charset="0"/>
                <a:ea typeface="Spectral" pitchFamily="34" charset="-122"/>
                <a:cs typeface="Spectral" pitchFamily="34" charset="-120"/>
              </a:rPr>
              <a:t>  (suite)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528148"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hve.png">    </p:cNvPr>
          <p:cNvPicPr>
            <a:picLocks noChangeAspect="1"/>
          </p:cNvPicPr>
          <p:nvPr/>
        </p:nvPicPr>
        <p:blipFill>
          <a:blip r:embed="rId2"/>
          <a:stretch>
            <a:fillRect/>
          </a:stretch>
        </p:blipFill>
        <p:spPr>
          <a:xfrm>
            <a:off x="900000" y="1083600"/>
            <a:ext cx="108000" cy="108000"/>
          </a:xfrm>
          <a:prstGeom prst="rect">
            <a:avLst/>
          </a:prstGeom>
        </p:spPr>
      </p:pic>
      <p:sp>
        <p:nvSpPr>
          <p:cNvPr id="9" name="Text 5"/>
          <p:cNvSpPr/>
          <p:nvPr/>
        </p:nvSpPr>
        <p:spPr>
          <a:xfrm>
            <a:off x="975600" y="10476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0" name="Shape 6"/>
          <p:cNvSpPr/>
          <p:nvPr/>
        </p:nvSpPr>
        <p:spPr>
          <a:xfrm>
            <a:off x="1435348" y="10476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435348"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900022" y="1047600"/>
            <a:ext cx="787182"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900022"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13 références</a:t>
            </a:r>
            <a:endParaRPr lang="en-US" sz="720" dirty="0"/>
          </a:p>
        </p:txBody>
      </p:sp>
      <p:graphicFrame>
        <p:nvGraphicFramePr>
          <p:cNvPr id="61" name="Table 0"/>
          <p:cNvGraphicFramePr>
            <a:graphicFrameLocks noGrp="1"/>
          </p:cNvGraphicFramePr>
          <p:nvPr>
            <p:extLst>
              <p:ext uri="{D42A27DB-BD31-4B8C-83A1-F6EECF244321}">
                <p14:modId xmlns:p14="http://schemas.microsoft.com/office/powerpoint/2010/main" val="1579011935"/>
              </p:ext>
            </p:extLst>
          </p:nvPr>
        </p:nvGraphicFramePr>
        <p:xfrm>
          <a:off x="828000" y="13572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 (SUITE)</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4 Saisons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4 Saisons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Magnum 1,5 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13,40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Sonate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2021</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Potion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Arlequin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Pinot 100 % – vinification égrappée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Blanc Albas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Corbières Rouge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BIB 3 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5" name="Shape 10"/>
          <p:cNvSpPr/>
          <p:nvPr/>
        </p:nvSpPr>
        <p:spPr>
          <a:xfrm>
            <a:off x="828000" y="4774671"/>
            <a:ext cx="0" cy="288349"/>
          </a:xfrm>
          <a:prstGeom prst="line">
            <a:avLst/>
          </a:prstGeom>
          <a:noFill/>
          <a:ln w="17780">
            <a:solidFill>
              <a:srgbClr val="67067C"/>
            </a:solidFill>
            <a:prstDash val="solid"/>
          </a:ln>
        </p:spPr>
      </p:sp>
      <p:sp>
        <p:nvSpPr>
          <p:cNvPr id="16" name="Text 11"/>
          <p:cNvSpPr/>
          <p:nvPr/>
        </p:nvSpPr>
        <p:spPr>
          <a:xfrm>
            <a:off x="936000" y="4774671"/>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départ cave.</a:t>
            </a:r>
            <a:endParaRPr lang="en-US" sz="1050" dirty="0"/>
          </a:p>
        </p:txBody>
      </p:sp>
      <p:sp>
        <p:nvSpPr>
          <p:cNvPr id="17" name="Text 12"/>
          <p:cNvSpPr/>
          <p:nvPr/>
        </p:nvSpPr>
        <p:spPr>
          <a:xfrm>
            <a:off x="828000" y="5207020"/>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LANGUEDOC — TERRASSES ET GARRIGUE</a:t>
            </a:r>
            <a:endParaRPr lang="en-US" sz="720" dirty="0"/>
          </a:p>
        </p:txBody>
      </p:sp>
      <p:pic>
        <p:nvPicPr>
          <p:cNvPr id="18" name="Image 2" descr="/home/user/philippe1/build/deco-catalogue-scio-2026/sol-languedoc.png">    </p:cNvPr>
          <p:cNvPicPr>
            <a:picLocks noChangeAspect="1"/>
          </p:cNvPicPr>
          <p:nvPr/>
        </p:nvPicPr>
        <p:blipFill>
          <a:blip r:embed="rId3"/>
          <a:stretch>
            <a:fillRect/>
          </a:stretch>
        </p:blipFill>
        <p:spPr>
          <a:xfrm>
            <a:off x="828000" y="5354620"/>
            <a:ext cx="6120000" cy="1631555"/>
          </a:xfrm>
          <a:prstGeom prst="rect">
            <a:avLst/>
          </a:prstGeom>
        </p:spPr>
      </p:pic>
      <p:sp>
        <p:nvSpPr>
          <p:cNvPr id="19" name="Shape 13"/>
          <p:cNvSpPr/>
          <p:nvPr/>
        </p:nvSpPr>
        <p:spPr>
          <a:xfrm>
            <a:off x="828000" y="8388000"/>
            <a:ext cx="6120000" cy="0"/>
          </a:xfrm>
          <a:prstGeom prst="line">
            <a:avLst/>
          </a:prstGeom>
          <a:noFill/>
          <a:ln w="8890">
            <a:solidFill>
              <a:srgbClr val="46606E"/>
            </a:solidFill>
            <a:prstDash val="solid"/>
          </a:ln>
        </p:spPr>
      </p:sp>
      <p:sp>
        <p:nvSpPr>
          <p:cNvPr id="20" name="Text 14"/>
          <p:cNvSpPr/>
          <p:nvPr/>
        </p:nvSpPr>
        <p:spPr>
          <a:xfrm>
            <a:off x="828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1" name="Text 15"/>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22" name="Text 16"/>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60</a:t>
            </a:r>
            <a:endParaRPr lang="en-US" sz="750" dirty="0"/>
          </a:p>
        </p:txBody>
      </p:sp>
      <p:sp>
        <p:nvSpPr>
          <p:cNvPr id="23" name="Text 17"/>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46606E"/>
        </a:solidFill>
      </p:bgPr>
    </p:bg>
    <p:spTree>
      <p:nvGrpSpPr>
        <p:cNvPr id="1" name=""/>
        <p:cNvGrpSpPr/>
        <p:nvPr/>
      </p:nvGrpSpPr>
      <p:grpSpPr>
        <a:xfrm>
          <a:off x="0" y="0"/>
          <a:ext cx="0" cy="0"/>
          <a:chOff x="0" y="0"/>
          <a:chExt cx="0" cy="0"/>
        </a:xfrm>
      </p:grpSpPr>
      <p:pic>
        <p:nvPicPr>
          <p:cNvPr id="2" name="Image 0" descr="/home/user/philippe1/build/deco-catalogue-scio-2026/ouverture-champagne.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catalogue-scio-2026/carotte-champagne.png">    </p:cNvPr>
          <p:cNvPicPr>
            <a:picLocks noChangeAspect="1"/>
          </p:cNvPicPr>
          <p:nvPr/>
        </p:nvPicPr>
        <p:blipFill>
          <a:blip r:embed="rId2"/>
          <a:stretch>
            <a:fillRect/>
          </a:stretch>
        </p:blipFill>
        <p:spPr>
          <a:xfrm>
            <a:off x="7236000" y="0"/>
            <a:ext cx="324000" cy="9360000"/>
          </a:xfrm>
          <a:prstGeom prst="rect">
            <a:avLst/>
          </a:prstGeom>
        </p:spPr>
      </p:pic>
      <p:sp>
        <p:nvSpPr>
          <p:cNvPr id="4"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CHAMPAGNE</a:t>
            </a:r>
            <a:endParaRPr lang="en-US" sz="660" dirty="0"/>
          </a:p>
        </p:txBody>
      </p:sp>
      <p:sp>
        <p:nvSpPr>
          <p:cNvPr id="5" name="Text 1"/>
          <p:cNvSpPr/>
          <p:nvPr/>
        </p:nvSpPr>
        <p:spPr>
          <a:xfrm>
            <a:off x="612000" y="540000"/>
            <a:ext cx="792000" cy="216000"/>
          </a:xfrm>
          <a:prstGeom prst="rect">
            <a:avLst/>
          </a:prstGeom>
          <a:noFill/>
          <a:ln/>
        </p:spPr>
        <p:txBody>
          <a:bodyPr wrap="square" lIns="0" tIns="0" rIns="0" bIns="0" rtlCol="0" anchor="ctr"/>
          <a:lstStyle/>
          <a:p>
            <a:pPr algn="ctr" indent="0" marL="0">
              <a:buNone/>
            </a:pPr>
            <a:r>
              <a:rPr lang="en-US" sz="800" b="1" dirty="0">
                <a:solidFill>
                  <a:srgbClr val="46606E"/>
                </a:solidFill>
                <a:latin typeface="IBM Plex Sans" pitchFamily="34" charset="0"/>
                <a:ea typeface="IBM Plex Sans" pitchFamily="34" charset="-122"/>
                <a:cs typeface="IBM Plex Sans" pitchFamily="34" charset="-120"/>
              </a:rPr>
              <a:t>10 / 10</a:t>
            </a:r>
            <a:endParaRPr lang="en-US" sz="800" dirty="0"/>
          </a:p>
        </p:txBody>
      </p:sp>
      <p:sp>
        <p:nvSpPr>
          <p:cNvPr id="6" name="Text 2"/>
          <p:cNvSpPr/>
          <p:nvPr/>
        </p:nvSpPr>
        <p:spPr>
          <a:xfrm>
            <a:off x="612000" y="5112000"/>
            <a:ext cx="5040000" cy="792000"/>
          </a:xfrm>
          <a:prstGeom prst="rect">
            <a:avLst/>
          </a:prstGeom>
          <a:noFill/>
          <a:ln/>
        </p:spPr>
        <p:txBody>
          <a:bodyPr wrap="square" lIns="0" tIns="0" rIns="0" bIns="0" rtlCol="0" anchor="ctr"/>
          <a:lstStyle/>
          <a:p>
            <a:pPr indent="0" marL="0">
              <a:buNone/>
            </a:pPr>
            <a:r>
              <a:rPr lang="en-US" sz="4600" dirty="0">
                <a:solidFill>
                  <a:srgbClr val="46606E"/>
                </a:solidFill>
                <a:latin typeface="Young Serif" pitchFamily="34" charset="0"/>
                <a:ea typeface="Young Serif" pitchFamily="34" charset="-122"/>
                <a:cs typeface="Young Serif" pitchFamily="34" charset="-120"/>
              </a:rPr>
              <a:t>Champagne</a:t>
            </a:r>
            <a:endParaRPr lang="en-US" sz="4600" dirty="0"/>
          </a:p>
        </p:txBody>
      </p:sp>
      <p:sp>
        <p:nvSpPr>
          <p:cNvPr id="7" name="Text 3"/>
          <p:cNvSpPr/>
          <p:nvPr/>
        </p:nvSpPr>
        <p:spPr>
          <a:xfrm>
            <a:off x="612000" y="5976000"/>
            <a:ext cx="4320000" cy="252000"/>
          </a:xfrm>
          <a:prstGeom prst="rect">
            <a:avLst/>
          </a:prstGeom>
          <a:noFill/>
          <a:ln/>
        </p:spPr>
        <p:txBody>
          <a:bodyPr wrap="square" lIns="0" tIns="0" rIns="0" bIns="0" rtlCol="0" anchor="ctr"/>
          <a:lstStyle/>
          <a:p>
            <a:pPr indent="0" marL="0">
              <a:buNone/>
            </a:pPr>
            <a:r>
              <a:rPr lang="en-US" sz="1200" i="1" dirty="0">
                <a:solidFill>
                  <a:srgbClr val="46606E"/>
                </a:solidFill>
                <a:latin typeface="Spectral" pitchFamily="34" charset="0"/>
                <a:ea typeface="Spectral" pitchFamily="34" charset="-122"/>
                <a:cs typeface="Spectral" pitchFamily="34" charset="-120"/>
              </a:rPr>
              <a:t>la craie</a:t>
            </a:r>
            <a:endParaRPr lang="en-US" sz="1200" dirty="0"/>
          </a:p>
        </p:txBody>
      </p:sp>
      <p:sp>
        <p:nvSpPr>
          <p:cNvPr id="8" name="Text 4"/>
          <p:cNvSpPr/>
          <p:nvPr/>
        </p:nvSpPr>
        <p:spPr>
          <a:xfrm>
            <a:off x="612000" y="6336000"/>
            <a:ext cx="864000" cy="324000"/>
          </a:xfrm>
          <a:prstGeom prst="rect">
            <a:avLst/>
          </a:prstGeom>
          <a:noFill/>
          <a:ln/>
        </p:spPr>
        <p:txBody>
          <a:bodyPr wrap="square" lIns="0" tIns="0" rIns="0" bIns="0" rtlCol="0" anchor="ctr"/>
          <a:lstStyle/>
          <a:p>
            <a:pPr indent="0" marL="0">
              <a:buNone/>
            </a:pPr>
            <a:r>
              <a:rPr lang="en-US" sz="2000" dirty="0">
                <a:solidFill>
                  <a:srgbClr val="46606E"/>
                </a:solidFill>
                <a:latin typeface="Young Serif" pitchFamily="34" charset="0"/>
                <a:ea typeface="Young Serif" pitchFamily="34" charset="-122"/>
                <a:cs typeface="Young Serif" pitchFamily="34" charset="-120"/>
              </a:rPr>
              <a:t>4</a:t>
            </a:r>
            <a:endParaRPr lang="en-US" sz="2000" dirty="0"/>
          </a:p>
        </p:txBody>
      </p:sp>
      <p:sp>
        <p:nvSpPr>
          <p:cNvPr id="9" name="Text 5"/>
          <p:cNvSpPr/>
          <p:nvPr/>
        </p:nvSpPr>
        <p:spPr>
          <a:xfrm>
            <a:off x="612000" y="6660000"/>
            <a:ext cx="864000" cy="180000"/>
          </a:xfrm>
          <a:prstGeom prst="rect">
            <a:avLst/>
          </a:prstGeom>
          <a:noFill/>
          <a:ln/>
        </p:spPr>
        <p:txBody>
          <a:bodyPr wrap="square" lIns="0" tIns="0" rIns="0" bIns="0" rtlCol="0" anchor="ctr"/>
          <a:lstStyle/>
          <a:p>
            <a:pPr indent="0" marL="0">
              <a:buNone/>
            </a:pPr>
            <a:r>
              <a:rPr lang="en-US" sz="850" dirty="0">
                <a:solidFill>
                  <a:srgbClr val="46606E"/>
                </a:solidFill>
                <a:latin typeface="IBM Plex Sans" pitchFamily="34" charset="0"/>
                <a:ea typeface="IBM Plex Sans" pitchFamily="34" charset="-122"/>
                <a:cs typeface="IBM Plex Sans" pitchFamily="34" charset="-120"/>
              </a:rPr>
              <a:t>domaines</a:t>
            </a:r>
            <a:endParaRPr lang="en-US" sz="850" dirty="0"/>
          </a:p>
        </p:txBody>
      </p:sp>
      <p:sp>
        <p:nvSpPr>
          <p:cNvPr id="10" name="Text 6"/>
          <p:cNvSpPr/>
          <p:nvPr/>
        </p:nvSpPr>
        <p:spPr>
          <a:xfrm>
            <a:off x="1620000" y="6336000"/>
            <a:ext cx="864000" cy="324000"/>
          </a:xfrm>
          <a:prstGeom prst="rect">
            <a:avLst/>
          </a:prstGeom>
          <a:noFill/>
          <a:ln/>
        </p:spPr>
        <p:txBody>
          <a:bodyPr wrap="square" lIns="0" tIns="0" rIns="0" bIns="0" rtlCol="0" anchor="ctr"/>
          <a:lstStyle/>
          <a:p>
            <a:pPr indent="0" marL="0">
              <a:buNone/>
            </a:pPr>
            <a:r>
              <a:rPr lang="en-US" sz="2000" dirty="0">
                <a:solidFill>
                  <a:srgbClr val="46606E"/>
                </a:solidFill>
                <a:latin typeface="Young Serif" pitchFamily="34" charset="0"/>
                <a:ea typeface="Young Serif" pitchFamily="34" charset="-122"/>
                <a:cs typeface="Young Serif" pitchFamily="34" charset="-120"/>
              </a:rPr>
              <a:t>26</a:t>
            </a:r>
            <a:endParaRPr lang="en-US" sz="2000" dirty="0"/>
          </a:p>
        </p:txBody>
      </p:sp>
      <p:sp>
        <p:nvSpPr>
          <p:cNvPr id="11" name="Text 7"/>
          <p:cNvSpPr/>
          <p:nvPr/>
        </p:nvSpPr>
        <p:spPr>
          <a:xfrm>
            <a:off x="1620000" y="6660000"/>
            <a:ext cx="1620000" cy="180000"/>
          </a:xfrm>
          <a:prstGeom prst="rect">
            <a:avLst/>
          </a:prstGeom>
          <a:noFill/>
          <a:ln/>
        </p:spPr>
        <p:txBody>
          <a:bodyPr wrap="square" lIns="0" tIns="0" rIns="0" bIns="0" rtlCol="0" anchor="ctr"/>
          <a:lstStyle/>
          <a:p>
            <a:pPr indent="0" marL="0">
              <a:buNone/>
            </a:pPr>
            <a:r>
              <a:rPr lang="en-US" sz="850" dirty="0">
                <a:solidFill>
                  <a:srgbClr val="46606E"/>
                </a:solidFill>
                <a:latin typeface="IBM Plex Sans" pitchFamily="34" charset="0"/>
                <a:ea typeface="IBM Plex Sans" pitchFamily="34" charset="-122"/>
                <a:cs typeface="IBM Plex Sans" pitchFamily="34" charset="-120"/>
              </a:rPr>
              <a:t>références</a:t>
            </a:r>
            <a:endParaRPr lang="en-US" sz="850" dirty="0"/>
          </a:p>
        </p:txBody>
      </p:sp>
      <p:sp>
        <p:nvSpPr>
          <p:cNvPr id="12" name="Text 8"/>
          <p:cNvSpPr/>
          <p:nvPr/>
        </p:nvSpPr>
        <p:spPr>
          <a:xfrm>
            <a:off x="612000" y="7128000"/>
            <a:ext cx="2916000" cy="216000"/>
          </a:xfrm>
          <a:prstGeom prst="rect">
            <a:avLst/>
          </a:prstGeom>
          <a:noFill/>
          <a:ln/>
        </p:spPr>
        <p:txBody>
          <a:bodyPr wrap="square" lIns="0" tIns="0" rIns="0" bIns="0" rtlCol="0" anchor="ctr"/>
          <a:lstStyle/>
          <a:p>
            <a:pPr indent="0" marL="0">
              <a:buNone/>
            </a:pPr>
            <a:r>
              <a:rPr lang="en-US" sz="1100" dirty="0">
                <a:solidFill>
                  <a:srgbClr val="46606E"/>
                </a:solidFill>
                <a:latin typeface="Young Serif" pitchFamily="34" charset="0"/>
                <a:ea typeface="Young Serif" pitchFamily="34" charset="-122"/>
                <a:cs typeface="Young Serif" pitchFamily="34" charset="-120"/>
              </a:rPr>
              <a:t>37   </a:t>
            </a:r>
            <a:r>
              <a:rPr lang="en-US" sz="860" dirty="0">
                <a:solidFill>
                  <a:srgbClr val="46606E"/>
                </a:solidFill>
                <a:latin typeface="IBM Plex Sans" pitchFamily="34" charset="0"/>
                <a:ea typeface="IBM Plex Sans" pitchFamily="34" charset="-122"/>
                <a:cs typeface="IBM Plex Sans" pitchFamily="34" charset="-120"/>
              </a:rPr>
              <a:t>Champagne Dekeyne</a:t>
            </a:r>
            <a:r>
              <a:rPr lang="en-US" sz="860" b="1" dirty="0">
                <a:solidFill>
                  <a:srgbClr val="46606E"/>
                </a:solidFill>
                <a:latin typeface="IBM Plex Sans" pitchFamily="34" charset="0"/>
                <a:ea typeface="IBM Plex Sans" pitchFamily="34" charset="-122"/>
                <a:cs typeface="IBM Plex Sans" pitchFamily="34" charset="-120"/>
              </a:rPr>
              <a:t>   62</a:t>
            </a:r>
            <a:endParaRPr lang="en-US" sz="860" dirty="0"/>
          </a:p>
        </p:txBody>
      </p:sp>
      <p:sp>
        <p:nvSpPr>
          <p:cNvPr id="13" name="Text 9"/>
          <p:cNvSpPr/>
          <p:nvPr/>
        </p:nvSpPr>
        <p:spPr>
          <a:xfrm>
            <a:off x="3672000" y="7128000"/>
            <a:ext cx="2916000" cy="216000"/>
          </a:xfrm>
          <a:prstGeom prst="rect">
            <a:avLst/>
          </a:prstGeom>
          <a:noFill/>
          <a:ln/>
        </p:spPr>
        <p:txBody>
          <a:bodyPr wrap="square" lIns="0" tIns="0" rIns="0" bIns="0" rtlCol="0" anchor="ctr"/>
          <a:lstStyle/>
          <a:p>
            <a:pPr indent="0" marL="0">
              <a:buNone/>
            </a:pPr>
            <a:r>
              <a:rPr lang="en-US" sz="1100" dirty="0">
                <a:solidFill>
                  <a:srgbClr val="46606E"/>
                </a:solidFill>
                <a:latin typeface="Young Serif" pitchFamily="34" charset="0"/>
                <a:ea typeface="Young Serif" pitchFamily="34" charset="-122"/>
                <a:cs typeface="Young Serif" pitchFamily="34" charset="-120"/>
              </a:rPr>
              <a:t>38   </a:t>
            </a:r>
            <a:r>
              <a:rPr lang="en-US" sz="860" dirty="0">
                <a:solidFill>
                  <a:srgbClr val="46606E"/>
                </a:solidFill>
                <a:latin typeface="IBM Plex Sans" pitchFamily="34" charset="0"/>
                <a:ea typeface="IBM Plex Sans" pitchFamily="34" charset="-122"/>
                <a:cs typeface="IBM Plex Sans" pitchFamily="34" charset="-120"/>
              </a:rPr>
              <a:t>Champagne Denis Frézier</a:t>
            </a:r>
            <a:r>
              <a:rPr lang="en-US" sz="860" b="1" dirty="0">
                <a:solidFill>
                  <a:srgbClr val="46606E"/>
                </a:solidFill>
                <a:latin typeface="IBM Plex Sans" pitchFamily="34" charset="0"/>
                <a:ea typeface="IBM Plex Sans" pitchFamily="34" charset="-122"/>
                <a:cs typeface="IBM Plex Sans" pitchFamily="34" charset="-120"/>
              </a:rPr>
              <a:t>   63</a:t>
            </a:r>
            <a:endParaRPr lang="en-US" sz="860" dirty="0"/>
          </a:p>
        </p:txBody>
      </p:sp>
      <p:sp>
        <p:nvSpPr>
          <p:cNvPr id="14" name="Text 10"/>
          <p:cNvSpPr/>
          <p:nvPr/>
        </p:nvSpPr>
        <p:spPr>
          <a:xfrm>
            <a:off x="612000" y="7380000"/>
            <a:ext cx="2916000" cy="216000"/>
          </a:xfrm>
          <a:prstGeom prst="rect">
            <a:avLst/>
          </a:prstGeom>
          <a:noFill/>
          <a:ln/>
        </p:spPr>
        <p:txBody>
          <a:bodyPr wrap="square" lIns="0" tIns="0" rIns="0" bIns="0" rtlCol="0" anchor="ctr"/>
          <a:lstStyle/>
          <a:p>
            <a:pPr indent="0" marL="0">
              <a:buNone/>
            </a:pPr>
            <a:r>
              <a:rPr lang="en-US" sz="1100" dirty="0">
                <a:solidFill>
                  <a:srgbClr val="46606E"/>
                </a:solidFill>
                <a:latin typeface="Young Serif" pitchFamily="34" charset="0"/>
                <a:ea typeface="Young Serif" pitchFamily="34" charset="-122"/>
                <a:cs typeface="Young Serif" pitchFamily="34" charset="-120"/>
              </a:rPr>
              <a:t>39   </a:t>
            </a:r>
            <a:r>
              <a:rPr lang="en-US" sz="860" dirty="0">
                <a:solidFill>
                  <a:srgbClr val="46606E"/>
                </a:solidFill>
                <a:latin typeface="IBM Plex Sans" pitchFamily="34" charset="0"/>
                <a:ea typeface="IBM Plex Sans" pitchFamily="34" charset="-122"/>
                <a:cs typeface="IBM Plex Sans" pitchFamily="34" charset="-120"/>
              </a:rPr>
              <a:t>Champagne Solemme</a:t>
            </a:r>
            <a:r>
              <a:rPr lang="en-US" sz="860" b="1" dirty="0">
                <a:solidFill>
                  <a:srgbClr val="46606E"/>
                </a:solidFill>
                <a:latin typeface="IBM Plex Sans" pitchFamily="34" charset="0"/>
                <a:ea typeface="IBM Plex Sans" pitchFamily="34" charset="-122"/>
                <a:cs typeface="IBM Plex Sans" pitchFamily="34" charset="-120"/>
              </a:rPr>
              <a:t>   65</a:t>
            </a:r>
            <a:endParaRPr lang="en-US" sz="860" dirty="0"/>
          </a:p>
        </p:txBody>
      </p:sp>
      <p:sp>
        <p:nvSpPr>
          <p:cNvPr id="15" name="Text 11"/>
          <p:cNvSpPr/>
          <p:nvPr/>
        </p:nvSpPr>
        <p:spPr>
          <a:xfrm>
            <a:off x="3672000" y="7380000"/>
            <a:ext cx="2916000" cy="216000"/>
          </a:xfrm>
          <a:prstGeom prst="rect">
            <a:avLst/>
          </a:prstGeom>
          <a:noFill/>
          <a:ln/>
        </p:spPr>
        <p:txBody>
          <a:bodyPr wrap="square" lIns="0" tIns="0" rIns="0" bIns="0" rtlCol="0" anchor="ctr"/>
          <a:lstStyle/>
          <a:p>
            <a:pPr indent="0" marL="0">
              <a:buNone/>
            </a:pPr>
            <a:r>
              <a:rPr lang="en-US" sz="1100" dirty="0">
                <a:solidFill>
                  <a:srgbClr val="46606E"/>
                </a:solidFill>
                <a:latin typeface="Young Serif" pitchFamily="34" charset="0"/>
                <a:ea typeface="Young Serif" pitchFamily="34" charset="-122"/>
                <a:cs typeface="Young Serif" pitchFamily="34" charset="-120"/>
              </a:rPr>
              <a:t>40   </a:t>
            </a:r>
            <a:r>
              <a:rPr lang="en-US" sz="860" dirty="0">
                <a:solidFill>
                  <a:srgbClr val="46606E"/>
                </a:solidFill>
                <a:latin typeface="IBM Plex Sans" pitchFamily="34" charset="0"/>
                <a:ea typeface="IBM Plex Sans" pitchFamily="34" charset="-122"/>
                <a:cs typeface="IBM Plex Sans" pitchFamily="34" charset="-120"/>
              </a:rPr>
              <a:t>Vazart-Coquart &amp; Fils</a:t>
            </a:r>
            <a:r>
              <a:rPr lang="en-US" sz="860" b="1" dirty="0">
                <a:solidFill>
                  <a:srgbClr val="46606E"/>
                </a:solidFill>
                <a:latin typeface="IBM Plex Sans" pitchFamily="34" charset="0"/>
                <a:ea typeface="IBM Plex Sans" pitchFamily="34" charset="-122"/>
                <a:cs typeface="IBM Plex Sans" pitchFamily="34" charset="-120"/>
              </a:rPr>
              <a:t>   66</a:t>
            </a:r>
            <a:endParaRPr lang="en-US" sz="860" dirty="0"/>
          </a:p>
        </p:txBody>
      </p:sp>
      <p:sp>
        <p:nvSpPr>
          <p:cNvPr id="16" name="Text 12"/>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61</a:t>
            </a:r>
            <a:endParaRPr lang="en-US" sz="750" dirty="0"/>
          </a:p>
        </p:txBody>
      </p:sp>
      <p:sp>
        <p:nvSpPr>
          <p:cNvPr id="17" name="Text 13"/>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champa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CHAMPAGNE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37</a:t>
            </a:r>
            <a:r>
              <a:rPr lang="en-US" sz="2000" dirty="0">
                <a:solidFill>
                  <a:srgbClr val="46606E"/>
                </a:solidFill>
                <a:latin typeface="Young Serif" pitchFamily="34" charset="0"/>
                <a:ea typeface="Young Serif" pitchFamily="34" charset="-122"/>
                <a:cs typeface="Young Serif" pitchFamily="34" charset="-120"/>
              </a:rPr>
              <a:t>   Champagne Dekeyne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CHAMPAGNE</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1101294"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conversion.png">    </p:cNvPr>
          <p:cNvPicPr>
            <a:picLocks noChangeAspect="1"/>
          </p:cNvPicPr>
          <p:nvPr/>
        </p:nvPicPr>
        <p:blipFill>
          <a:blip r:embed="rId2"/>
          <a:stretch>
            <a:fillRect/>
          </a:stretch>
        </p:blipFill>
        <p:spPr>
          <a:xfrm>
            <a:off x="900000" y="1083600"/>
            <a:ext cx="108000" cy="108000"/>
          </a:xfrm>
          <a:prstGeom prst="rect">
            <a:avLst/>
          </a:prstGeom>
        </p:spPr>
      </p:pic>
      <p:sp>
        <p:nvSpPr>
          <p:cNvPr id="9" name="Text 5"/>
          <p:cNvSpPr/>
          <p:nvPr/>
        </p:nvSpPr>
        <p:spPr>
          <a:xfrm>
            <a:off x="975600" y="1047600"/>
            <a:ext cx="95369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En conversion Bio</a:t>
            </a:r>
            <a:endParaRPr lang="en-US" sz="720" dirty="0"/>
          </a:p>
        </p:txBody>
      </p:sp>
      <p:sp>
        <p:nvSpPr>
          <p:cNvPr id="10" name="Shape 6"/>
          <p:cNvSpPr/>
          <p:nvPr/>
        </p:nvSpPr>
        <p:spPr>
          <a:xfrm>
            <a:off x="2008494" y="1047600"/>
            <a:ext cx="630911" cy="180000"/>
          </a:xfrm>
          <a:prstGeom prst="roundRect">
            <a:avLst>
              <a:gd name="adj" fmla="val 10160"/>
            </a:avLst>
          </a:prstGeom>
          <a:solidFill>
            <a:srgbClr val="67067C"/>
          </a:solidFill>
          <a:ln w="8890">
            <a:solidFill>
              <a:srgbClr val="67067C"/>
            </a:solidFill>
            <a:prstDash val="solid"/>
          </a:ln>
        </p:spPr>
      </p:sp>
      <p:sp>
        <p:nvSpPr>
          <p:cNvPr id="11" name="Text 7"/>
          <p:cNvSpPr/>
          <p:nvPr/>
        </p:nvSpPr>
        <p:spPr>
          <a:xfrm>
            <a:off x="2008494" y="10476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2" name="Shape 8"/>
          <p:cNvSpPr/>
          <p:nvPr/>
        </p:nvSpPr>
        <p:spPr>
          <a:xfrm>
            <a:off x="2718605" y="1047600"/>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2718605"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4183278" y="1047600"/>
            <a:ext cx="732318"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4183278"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4 références</a:t>
            </a:r>
            <a:endParaRPr lang="en-US" sz="720" dirty="0"/>
          </a:p>
        </p:txBody>
      </p:sp>
      <p:pic>
        <p:nvPicPr>
          <p:cNvPr id="16" name="Image 2" descr="les deux frères dans les vignes — Champagne Dekeyne">    </p:cNvPr>
          <p:cNvPicPr>
            <a:picLocks noChangeAspect="1"/>
          </p:cNvPicPr>
          <p:nvPr/>
        </p:nvPicPr>
        <p:blipFill>
          <a:blip r:embed="rId3"/>
          <a:stretch>
            <a:fillRect/>
          </a:stretch>
        </p:blipFill>
        <p:spPr>
          <a:xfrm>
            <a:off x="828000" y="1357200"/>
            <a:ext cx="1440000" cy="1440000"/>
          </a:xfrm>
          <a:prstGeom prst="rect">
            <a:avLst/>
          </a:prstGeom>
        </p:spPr>
      </p:pic>
      <p:pic>
        <p:nvPicPr>
          <p:cNvPr id="17" name="Image 3" descr="Une bouteille du domaine Champagne Dekeyne">    </p:cNvPr>
          <p:cNvPicPr>
            <a:picLocks noChangeAspect="1"/>
          </p:cNvPicPr>
          <p:nvPr/>
        </p:nvPicPr>
        <p:blipFill>
          <a:blip r:embed="rId4"/>
          <a:stretch>
            <a:fillRect/>
          </a:stretch>
        </p:blipFill>
        <p:spPr>
          <a:xfrm>
            <a:off x="6221754" y="1357200"/>
            <a:ext cx="588492" cy="2232000"/>
          </a:xfrm>
          <a:prstGeom prst="rect">
            <a:avLst/>
          </a:prstGeom>
        </p:spPr>
      </p:pic>
      <p:sp>
        <p:nvSpPr>
          <p:cNvPr id="18" name="Text 12"/>
          <p:cNvSpPr/>
          <p:nvPr/>
        </p:nvSpPr>
        <p:spPr>
          <a:xfrm>
            <a:off x="2394034" y="1487230"/>
            <a:ext cx="251341" cy="454965"/>
          </a:xfrm>
          <a:prstGeom prst="rect">
            <a:avLst/>
          </a:prstGeom>
          <a:noFill/>
          <a:ln/>
        </p:spPr>
        <p:txBody>
          <a:bodyPr wrap="square" lIns="0" tIns="0" rIns="0" bIns="0" rtlCol="0" anchor="t"/>
          <a:lstStyle/>
          <a:p>
            <a:pPr algn="r" indent="0" marL="0">
              <a:lnSpc>
                <a:spcPct val="124800"/>
              </a:lnSpc>
              <a:buNone/>
            </a:pPr>
            <a:r>
              <a:rPr lang="en-US" sz="2239" dirty="0">
                <a:solidFill>
                  <a:srgbClr val="67067C"/>
                </a:solidFill>
                <a:latin typeface="Young Serif" pitchFamily="34" charset="0"/>
                <a:ea typeface="Young Serif" pitchFamily="34" charset="-122"/>
                <a:cs typeface="Young Serif" pitchFamily="34" charset="-120"/>
              </a:rPr>
              <a:t>F</a:t>
            </a:r>
            <a:endParaRPr lang="en-US" sz="2239" dirty="0"/>
          </a:p>
        </p:txBody>
      </p:sp>
      <p:sp>
        <p:nvSpPr>
          <p:cNvPr id="19" name="Text 13"/>
          <p:cNvSpPr/>
          <p:nvPr/>
        </p:nvSpPr>
        <p:spPr>
          <a:xfrm>
            <a:off x="2448000" y="1607839"/>
            <a:ext cx="3456000" cy="1981262"/>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idèle à la ferme de La Voglonière depuis 1919, la famille Dekeyne cultive une relation intime avec la terre champenoise. Engagé en conversion biologique, ce domaine de quatre générations élabore des champagnes d’artisan à la vibrante énergie de sol.</a:t>
            </a:r>
            <a:endParaRPr lang="en-US" sz="1300" dirty="0"/>
          </a:p>
        </p:txBody>
      </p:sp>
      <p:graphicFrame>
        <p:nvGraphicFramePr>
          <p:cNvPr id="63" name="Table 0"/>
          <p:cNvGraphicFramePr>
            <a:graphicFrameLocks noGrp="1"/>
          </p:cNvGraphicFramePr>
          <p:nvPr>
            <p:extLst>
              <p:ext uri="{D42A27DB-BD31-4B8C-83A1-F6EECF244321}">
                <p14:modId xmlns:p14="http://schemas.microsoft.com/office/powerpoint/2010/main" val="1579011935"/>
              </p:ext>
            </p:extLst>
          </p:nvPr>
        </p:nvGraphicFramePr>
        <p:xfrm>
          <a:off x="828000" y="37511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48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Chardonnay Vignes de 1962</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26,48</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Nature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25,41</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Voglonniers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19,96</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8A623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Ratafia Champenois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Vieux Ratafia</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27,07</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Shape 14"/>
          <p:cNvSpPr/>
          <p:nvPr/>
        </p:nvSpPr>
        <p:spPr>
          <a:xfrm>
            <a:off x="828000" y="5624926"/>
            <a:ext cx="0" cy="288349"/>
          </a:xfrm>
          <a:prstGeom prst="line">
            <a:avLst/>
          </a:prstGeom>
          <a:noFill/>
          <a:ln w="17780">
            <a:solidFill>
              <a:srgbClr val="67067C"/>
            </a:solidFill>
            <a:prstDash val="solid"/>
          </a:ln>
        </p:spPr>
      </p:sp>
      <p:sp>
        <p:nvSpPr>
          <p:cNvPr id="22" name="Text 15"/>
          <p:cNvSpPr/>
          <p:nvPr/>
        </p:nvSpPr>
        <p:spPr>
          <a:xfrm>
            <a:off x="936000" y="5624926"/>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 à partir de 48 bouteilles.</a:t>
            </a:r>
            <a:endParaRPr lang="en-US" sz="1050" dirty="0"/>
          </a:p>
        </p:txBody>
      </p:sp>
      <p:sp>
        <p:nvSpPr>
          <p:cNvPr id="23" name="Text 16"/>
          <p:cNvSpPr/>
          <p:nvPr/>
        </p:nvSpPr>
        <p:spPr>
          <a:xfrm>
            <a:off x="828000" y="6057275"/>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CHAMPAGNE — LA CRAIE</a:t>
            </a:r>
            <a:endParaRPr lang="en-US" sz="720" dirty="0"/>
          </a:p>
        </p:txBody>
      </p:sp>
      <p:pic>
        <p:nvPicPr>
          <p:cNvPr id="24" name="Image 4" descr="/home/user/philippe1/build/deco-catalogue-scio-2026/sol-champagne.png">    </p:cNvPr>
          <p:cNvPicPr>
            <a:picLocks noChangeAspect="1"/>
          </p:cNvPicPr>
          <p:nvPr/>
        </p:nvPicPr>
        <p:blipFill>
          <a:blip r:embed="rId5"/>
          <a:stretch>
            <a:fillRect/>
          </a:stretch>
        </p:blipFill>
        <p:spPr>
          <a:xfrm>
            <a:off x="828000" y="6204875"/>
            <a:ext cx="6120000" cy="1148400"/>
          </a:xfrm>
          <a:prstGeom prst="rect">
            <a:avLst/>
          </a:prstGeom>
        </p:spPr>
      </p:pic>
      <p:sp>
        <p:nvSpPr>
          <p:cNvPr id="25" name="Shape 17"/>
          <p:cNvSpPr/>
          <p:nvPr/>
        </p:nvSpPr>
        <p:spPr>
          <a:xfrm>
            <a:off x="828000" y="8388000"/>
            <a:ext cx="6120000" cy="0"/>
          </a:xfrm>
          <a:prstGeom prst="line">
            <a:avLst/>
          </a:prstGeom>
          <a:noFill/>
          <a:ln w="8890">
            <a:solidFill>
              <a:srgbClr val="46606E"/>
            </a:solidFill>
            <a:prstDash val="solid"/>
          </a:ln>
        </p:spPr>
      </p:sp>
      <p:sp>
        <p:nvSpPr>
          <p:cNvPr id="26" name="Text 18"/>
          <p:cNvSpPr/>
          <p:nvPr/>
        </p:nvSpPr>
        <p:spPr>
          <a:xfrm>
            <a:off x="828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44 · 85</a:t>
            </a:r>
            <a:endParaRPr lang="en-US" sz="720" dirty="0"/>
          </a:p>
        </p:txBody>
      </p:sp>
      <p:sp>
        <p:nvSpPr>
          <p:cNvPr id="27" name="Text 19"/>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Spiritueux     pictos de l’Agence SCIO, pas les logos officiels</a:t>
            </a:r>
            <a:endParaRPr lang="en-US" sz="650" dirty="0"/>
          </a:p>
        </p:txBody>
      </p:sp>
      <p:sp>
        <p:nvSpPr>
          <p:cNvPr id="28" name="Text 20"/>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62</a:t>
            </a:r>
            <a:endParaRPr lang="en-US" sz="750" dirty="0"/>
          </a:p>
        </p:txBody>
      </p:sp>
      <p:sp>
        <p:nvSpPr>
          <p:cNvPr id="29" name="Text 21"/>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champa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CHAMPAGNE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38</a:t>
            </a:r>
            <a:r>
              <a:rPr lang="en-US" sz="2000" dirty="0">
                <a:solidFill>
                  <a:srgbClr val="46606E"/>
                </a:solidFill>
                <a:latin typeface="Young Serif" pitchFamily="34" charset="0"/>
                <a:ea typeface="Young Serif" pitchFamily="34" charset="-122"/>
                <a:cs typeface="Young Serif" pitchFamily="34" charset="-120"/>
              </a:rPr>
              <a:t>   Champagne Denis Frézier</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CHAMPAGNE</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1101294"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conversion.png">    </p:cNvPr>
          <p:cNvPicPr>
            <a:picLocks noChangeAspect="1"/>
          </p:cNvPicPr>
          <p:nvPr/>
        </p:nvPicPr>
        <p:blipFill>
          <a:blip r:embed="rId2"/>
          <a:stretch>
            <a:fillRect/>
          </a:stretch>
        </p:blipFill>
        <p:spPr>
          <a:xfrm>
            <a:off x="684000" y="1083600"/>
            <a:ext cx="108000" cy="108000"/>
          </a:xfrm>
          <a:prstGeom prst="rect">
            <a:avLst/>
          </a:prstGeom>
        </p:spPr>
      </p:pic>
      <p:sp>
        <p:nvSpPr>
          <p:cNvPr id="9" name="Text 5"/>
          <p:cNvSpPr/>
          <p:nvPr/>
        </p:nvSpPr>
        <p:spPr>
          <a:xfrm>
            <a:off x="759600" y="1047600"/>
            <a:ext cx="95369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En conversion Bio</a:t>
            </a:r>
            <a:endParaRPr lang="en-US" sz="720" dirty="0"/>
          </a:p>
        </p:txBody>
      </p:sp>
      <p:sp>
        <p:nvSpPr>
          <p:cNvPr id="10" name="Shape 6"/>
          <p:cNvSpPr/>
          <p:nvPr/>
        </p:nvSpPr>
        <p:spPr>
          <a:xfrm>
            <a:off x="1792494" y="1047600"/>
            <a:ext cx="630911" cy="180000"/>
          </a:xfrm>
          <a:prstGeom prst="roundRect">
            <a:avLst>
              <a:gd name="adj" fmla="val 10160"/>
            </a:avLst>
          </a:prstGeom>
          <a:solidFill>
            <a:srgbClr val="67067C"/>
          </a:solidFill>
          <a:ln w="8890">
            <a:solidFill>
              <a:srgbClr val="67067C"/>
            </a:solidFill>
            <a:prstDash val="solid"/>
          </a:ln>
        </p:spPr>
      </p:sp>
      <p:sp>
        <p:nvSpPr>
          <p:cNvPr id="11" name="Text 7"/>
          <p:cNvSpPr/>
          <p:nvPr/>
        </p:nvSpPr>
        <p:spPr>
          <a:xfrm>
            <a:off x="1792494" y="10476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2" name="Shape 8"/>
          <p:cNvSpPr/>
          <p:nvPr/>
        </p:nvSpPr>
        <p:spPr>
          <a:xfrm>
            <a:off x="2502605" y="1047600"/>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2502605"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3967278" y="10476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967278"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10 références</a:t>
            </a:r>
            <a:endParaRPr lang="en-US" sz="720" dirty="0"/>
          </a:p>
        </p:txBody>
      </p:sp>
      <p:pic>
        <p:nvPicPr>
          <p:cNvPr id="16" name="Image 2" descr="le village dans ses vignes — Champagne Denis Frézier">    </p:cNvPr>
          <p:cNvPicPr>
            <a:picLocks noChangeAspect="1"/>
          </p:cNvPicPr>
          <p:nvPr/>
        </p:nvPicPr>
        <p:blipFill>
          <a:blip r:embed="rId3"/>
          <a:srcRect l="12500" r="12500" t="0" b="0"/>
          <a:stretch/>
        </p:blipFill>
        <p:spPr>
          <a:xfrm>
            <a:off x="612000" y="1357200"/>
            <a:ext cx="1440000" cy="1440000"/>
          </a:xfrm>
          <a:prstGeom prst="ellipse">
            <a:avLst/>
          </a:prstGeom>
        </p:spPr>
      </p:pic>
      <p:pic>
        <p:nvPicPr>
          <p:cNvPr id="17" name="Image 3" descr="Une bouteille du domaine Champagne Denis Frézier">    </p:cNvPr>
          <p:cNvPicPr>
            <a:picLocks noChangeAspect="1"/>
          </p:cNvPicPr>
          <p:nvPr/>
        </p:nvPicPr>
        <p:blipFill>
          <a:blip r:embed="rId4"/>
          <a:stretch>
            <a:fillRect/>
          </a:stretch>
        </p:blipFill>
        <p:spPr>
          <a:xfrm>
            <a:off x="6002705" y="1357200"/>
            <a:ext cx="594590" cy="2232000"/>
          </a:xfrm>
          <a:prstGeom prst="rect">
            <a:avLst/>
          </a:prstGeom>
        </p:spPr>
      </p:pic>
      <p:sp>
        <p:nvSpPr>
          <p:cNvPr id="18" name="Text 12"/>
          <p:cNvSpPr/>
          <p:nvPr/>
        </p:nvSpPr>
        <p:spPr>
          <a:xfrm>
            <a:off x="2177992" y="1469926"/>
            <a:ext cx="292658" cy="505765"/>
          </a:xfrm>
          <a:prstGeom prst="rect">
            <a:avLst/>
          </a:prstGeom>
          <a:noFill/>
          <a:ln/>
        </p:spPr>
        <p:txBody>
          <a:bodyPr wrap="square" lIns="0" tIns="0" rIns="0" bIns="0" rtlCol="0" anchor="t"/>
          <a:lstStyle/>
          <a:p>
            <a:pPr algn="r" indent="0" marL="0">
              <a:lnSpc>
                <a:spcPct val="121600"/>
              </a:lnSpc>
              <a:buNone/>
            </a:pPr>
            <a:r>
              <a:rPr lang="en-US" sz="2489" dirty="0">
                <a:solidFill>
                  <a:srgbClr val="67067C"/>
                </a:solidFill>
                <a:latin typeface="Young Serif" pitchFamily="34" charset="0"/>
                <a:ea typeface="Young Serif" pitchFamily="34" charset="-122"/>
                <a:cs typeface="Young Serif" pitchFamily="34" charset="-120"/>
              </a:rPr>
              <a:t>E</a:t>
            </a:r>
            <a:endParaRPr lang="en-US" sz="2489" dirty="0"/>
          </a:p>
        </p:txBody>
      </p:sp>
      <p:sp>
        <p:nvSpPr>
          <p:cNvPr id="19" name="Text 13"/>
          <p:cNvSpPr/>
          <p:nvPr/>
        </p:nvSpPr>
        <p:spPr>
          <a:xfrm>
            <a:off x="2232000" y="1619745"/>
            <a:ext cx="3456000" cy="1969355"/>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nracinée depuis 7 générations à Monthelon, entre Côte des Blancs et Vallée de la Marne, la Maison Denis Frézier conjugue mémoire et durabilité. Certifiée HVE et VDC, engagée en conversion biologique, elle sculpte les cuvées Trois Crus, Terroir Noir et Terroir Blanc.</a:t>
            </a:r>
            <a:endParaRPr lang="en-US" sz="1300" dirty="0"/>
          </a:p>
        </p:txBody>
      </p:sp>
      <p:graphicFrame>
        <p:nvGraphicFramePr>
          <p:cNvPr id="64" name="Table 0"/>
          <p:cNvGraphicFramePr>
            <a:graphicFrameLocks noGrp="1"/>
          </p:cNvGraphicFramePr>
          <p:nvPr>
            <p:extLst>
              <p:ext uri="{D42A27DB-BD31-4B8C-83A1-F6EECF244321}">
                <p14:modId xmlns:p14="http://schemas.microsoft.com/office/powerpoint/2010/main" val="1579011935"/>
              </p:ext>
            </p:extLst>
          </p:nvPr>
        </p:nvGraphicFramePr>
        <p:xfrm>
          <a:off x="612000" y="37511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66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126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186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Grand Cru Exception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2016</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24,09</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23,62</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23,17</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Terroir Blanc</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17,54</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17,20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16,87</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Terroir Noir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17,54</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17,20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16,87</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Terroir Meunier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17,54</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17,20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16,87</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Esprit Rose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16,87</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16,54</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16,23</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Text 14"/>
          <p:cNvSpPr/>
          <p:nvPr/>
        </p:nvSpPr>
        <p:spPr>
          <a:xfrm>
            <a:off x="612000" y="6128564"/>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CHAMPAGNE — LA CRAIE</a:t>
            </a:r>
            <a:endParaRPr lang="en-US" sz="720" dirty="0"/>
          </a:p>
        </p:txBody>
      </p:sp>
      <p:pic>
        <p:nvPicPr>
          <p:cNvPr id="22" name="Image 4" descr="/home/user/philippe1/build/deco-catalogue-scio-2026/sol-champagne.png">    </p:cNvPr>
          <p:cNvPicPr>
            <a:picLocks noChangeAspect="1"/>
          </p:cNvPicPr>
          <p:nvPr/>
        </p:nvPicPr>
        <p:blipFill>
          <a:blip r:embed="rId5"/>
          <a:stretch>
            <a:fillRect/>
          </a:stretch>
        </p:blipFill>
        <p:spPr>
          <a:xfrm>
            <a:off x="612000" y="6276164"/>
            <a:ext cx="6120000" cy="1148400"/>
          </a:xfrm>
          <a:prstGeom prst="rect">
            <a:avLst/>
          </a:prstGeom>
        </p:spPr>
      </p:pic>
      <p:sp>
        <p:nvSpPr>
          <p:cNvPr id="23" name="Shape 15"/>
          <p:cNvSpPr/>
          <p:nvPr/>
        </p:nvSpPr>
        <p:spPr>
          <a:xfrm>
            <a:off x="612000" y="8388000"/>
            <a:ext cx="6120000" cy="0"/>
          </a:xfrm>
          <a:prstGeom prst="line">
            <a:avLst/>
          </a:prstGeom>
          <a:noFill/>
          <a:ln w="8890">
            <a:solidFill>
              <a:srgbClr val="46606E"/>
            </a:solidFill>
            <a:prstDash val="solid"/>
          </a:ln>
        </p:spPr>
      </p:sp>
      <p:sp>
        <p:nvSpPr>
          <p:cNvPr id="24" name="Text 16"/>
          <p:cNvSpPr/>
          <p:nvPr/>
        </p:nvSpPr>
        <p:spPr>
          <a:xfrm>
            <a:off x="612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Spiritueux     pictos de l’Agence SCIO, pas les logos officiels</a:t>
            </a:r>
            <a:endParaRPr lang="en-US" sz="650" dirty="0"/>
          </a:p>
        </p:txBody>
      </p:sp>
      <p:sp>
        <p:nvSpPr>
          <p:cNvPr id="26" name="Text 18"/>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63</a:t>
            </a:r>
            <a:endParaRPr lang="en-US" sz="750" dirty="0"/>
          </a:p>
        </p:txBody>
      </p:sp>
      <p:sp>
        <p:nvSpPr>
          <p:cNvPr id="27" name="Text 19"/>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champa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CHAMPAGNE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38</a:t>
            </a:r>
            <a:r>
              <a:rPr lang="en-US" sz="2000" dirty="0">
                <a:solidFill>
                  <a:srgbClr val="46606E"/>
                </a:solidFill>
                <a:latin typeface="Young Serif" pitchFamily="34" charset="0"/>
                <a:ea typeface="Young Serif" pitchFamily="34" charset="-122"/>
                <a:cs typeface="Young Serif" pitchFamily="34" charset="-120"/>
              </a:rPr>
              <a:t>   Champagne Denis Frézier</a:t>
            </a:r>
            <a:r>
              <a:rPr lang="en-US" sz="1100" i="1" dirty="0">
                <a:solidFill>
                  <a:srgbClr val="A8515F"/>
                </a:solidFill>
                <a:latin typeface="Spectral" pitchFamily="34" charset="0"/>
                <a:ea typeface="Spectral" pitchFamily="34" charset="-122"/>
                <a:cs typeface="Spectral" pitchFamily="34" charset="-120"/>
              </a:rPr>
              <a:t>  (suite)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CHAMPAGNE</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1101294"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conversion.png">    </p:cNvPr>
          <p:cNvPicPr>
            <a:picLocks noChangeAspect="1"/>
          </p:cNvPicPr>
          <p:nvPr/>
        </p:nvPicPr>
        <p:blipFill>
          <a:blip r:embed="rId2"/>
          <a:stretch>
            <a:fillRect/>
          </a:stretch>
        </p:blipFill>
        <p:spPr>
          <a:xfrm>
            <a:off x="900000" y="1083600"/>
            <a:ext cx="108000" cy="108000"/>
          </a:xfrm>
          <a:prstGeom prst="rect">
            <a:avLst/>
          </a:prstGeom>
        </p:spPr>
      </p:pic>
      <p:sp>
        <p:nvSpPr>
          <p:cNvPr id="9" name="Text 5"/>
          <p:cNvSpPr/>
          <p:nvPr/>
        </p:nvSpPr>
        <p:spPr>
          <a:xfrm>
            <a:off x="975600" y="1047600"/>
            <a:ext cx="95369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En conversion Bio</a:t>
            </a:r>
            <a:endParaRPr lang="en-US" sz="720" dirty="0"/>
          </a:p>
        </p:txBody>
      </p:sp>
      <p:sp>
        <p:nvSpPr>
          <p:cNvPr id="10" name="Shape 6"/>
          <p:cNvSpPr/>
          <p:nvPr/>
        </p:nvSpPr>
        <p:spPr>
          <a:xfrm>
            <a:off x="2008494" y="1047600"/>
            <a:ext cx="630911" cy="180000"/>
          </a:xfrm>
          <a:prstGeom prst="roundRect">
            <a:avLst>
              <a:gd name="adj" fmla="val 10160"/>
            </a:avLst>
          </a:prstGeom>
          <a:solidFill>
            <a:srgbClr val="67067C"/>
          </a:solidFill>
          <a:ln w="8890">
            <a:solidFill>
              <a:srgbClr val="67067C"/>
            </a:solidFill>
            <a:prstDash val="solid"/>
          </a:ln>
        </p:spPr>
      </p:sp>
      <p:sp>
        <p:nvSpPr>
          <p:cNvPr id="11" name="Text 7"/>
          <p:cNvSpPr/>
          <p:nvPr/>
        </p:nvSpPr>
        <p:spPr>
          <a:xfrm>
            <a:off x="2008494" y="10476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2" name="Shape 8"/>
          <p:cNvSpPr/>
          <p:nvPr/>
        </p:nvSpPr>
        <p:spPr>
          <a:xfrm>
            <a:off x="2718605" y="1047600"/>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2718605"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4183278" y="10476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4183278"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10 références</a:t>
            </a:r>
            <a:endParaRPr lang="en-US" sz="720" dirty="0"/>
          </a:p>
        </p:txBody>
      </p:sp>
      <p:graphicFrame>
        <p:nvGraphicFramePr>
          <p:cNvPr id="65" name="Table 0"/>
          <p:cNvGraphicFramePr>
            <a:graphicFrameLocks noGrp="1"/>
          </p:cNvGraphicFramePr>
          <p:nvPr>
            <p:extLst>
              <p:ext uri="{D42A27DB-BD31-4B8C-83A1-F6EECF244321}">
                <p14:modId xmlns:p14="http://schemas.microsoft.com/office/powerpoint/2010/main" val="1579011935"/>
              </p:ext>
            </p:extLst>
          </p:nvPr>
        </p:nvGraphicFramePr>
        <p:xfrm>
          <a:off x="828000" y="13572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 (SUITE)</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66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126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186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Trois Crus Brut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15,76</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15,45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15,16</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Trois Crus Brut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37,5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9,37</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9,19</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9,02</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Trois Crus Extra-Dry</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15,76</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15,45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15,16</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Trois Crus Demi-Sec</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15,76</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15,45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15,16</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graphicFrame>
        <p:nvGraphicFramePr>
          <p:cNvPr id="129" name="Table 1"/>
          <p:cNvGraphicFramePr>
            <a:graphicFrameLocks noGrp="1"/>
          </p:cNvGraphicFramePr>
          <p:nvPr>
            <p:extLst>
              <p:ext uri="{D42A27DB-BD31-4B8C-83A1-F6EECF244321}">
                <p14:modId xmlns:p14="http://schemas.microsoft.com/office/powerpoint/2010/main" val="1579011935"/>
              </p:ext>
            </p:extLst>
          </p:nvPr>
        </p:nvGraphicFramePr>
        <p:xfrm>
          <a:off x="828000" y="3372705"/>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RATAFIA · RATAFIA</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66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126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186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53008">
                <a:tc>
                  <a:txBody>
                    <a:bodyPr/>
                    <a:lstStyle/>
                    <a:p>
                      <a:pPr algn="ctr" indent="0" marL="0">
                        <a:buNone/>
                      </a:pPr>
                      <a:r>
                        <a:rPr lang="en-US" sz="900" dirty="0">
                          <a:solidFill>
                            <a:srgbClr val="8A623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Vieux Ratafia Champenois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14,16</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13,88</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13,62</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8" name="Shape 12"/>
          <p:cNvSpPr/>
          <p:nvPr/>
        </p:nvSpPr>
        <p:spPr>
          <a:xfrm>
            <a:off x="828000" y="4026736"/>
            <a:ext cx="0" cy="288349"/>
          </a:xfrm>
          <a:prstGeom prst="line">
            <a:avLst/>
          </a:prstGeom>
          <a:noFill/>
          <a:ln w="17780">
            <a:solidFill>
              <a:srgbClr val="67067C"/>
            </a:solidFill>
            <a:prstDash val="solid"/>
          </a:ln>
        </p:spPr>
      </p:sp>
      <p:sp>
        <p:nvSpPr>
          <p:cNvPr id="19" name="Text 13"/>
          <p:cNvSpPr/>
          <p:nvPr/>
        </p:nvSpPr>
        <p:spPr>
          <a:xfrm>
            <a:off x="936000" y="4026736"/>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20" name="Text 14"/>
          <p:cNvSpPr/>
          <p:nvPr/>
        </p:nvSpPr>
        <p:spPr>
          <a:xfrm>
            <a:off x="828000" y="4459085"/>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CHAMPAGNE — LA CRAIE</a:t>
            </a:r>
            <a:endParaRPr lang="en-US" sz="720" dirty="0"/>
          </a:p>
        </p:txBody>
      </p:sp>
      <p:pic>
        <p:nvPicPr>
          <p:cNvPr id="21" name="Image 2" descr="/home/user/philippe1/build/deco-catalogue-scio-2026/sol-champagne.png">    </p:cNvPr>
          <p:cNvPicPr>
            <a:picLocks noChangeAspect="1"/>
          </p:cNvPicPr>
          <p:nvPr/>
        </p:nvPicPr>
        <p:blipFill>
          <a:blip r:embed="rId3"/>
          <a:stretch>
            <a:fillRect/>
          </a:stretch>
        </p:blipFill>
        <p:spPr>
          <a:xfrm>
            <a:off x="828000" y="4606685"/>
            <a:ext cx="6120000" cy="2080316"/>
          </a:xfrm>
          <a:prstGeom prst="rect">
            <a:avLst/>
          </a:prstGeom>
        </p:spPr>
      </p:pic>
      <p:sp>
        <p:nvSpPr>
          <p:cNvPr id="22" name="Shape 15"/>
          <p:cNvSpPr/>
          <p:nvPr/>
        </p:nvSpPr>
        <p:spPr>
          <a:xfrm>
            <a:off x="828000" y="8388000"/>
            <a:ext cx="6120000" cy="0"/>
          </a:xfrm>
          <a:prstGeom prst="line">
            <a:avLst/>
          </a:prstGeom>
          <a:noFill/>
          <a:ln w="8890">
            <a:solidFill>
              <a:srgbClr val="46606E"/>
            </a:solidFill>
            <a:prstDash val="solid"/>
          </a:ln>
        </p:spPr>
      </p:sp>
      <p:sp>
        <p:nvSpPr>
          <p:cNvPr id="23" name="Text 16"/>
          <p:cNvSpPr/>
          <p:nvPr/>
        </p:nvSpPr>
        <p:spPr>
          <a:xfrm>
            <a:off x="828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4" name="Text 17"/>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Spiritueux     pictos de l’Agence SCIO, pas les logos officiels</a:t>
            </a:r>
            <a:endParaRPr lang="en-US" sz="650" dirty="0"/>
          </a:p>
        </p:txBody>
      </p:sp>
      <p:sp>
        <p:nvSpPr>
          <p:cNvPr id="25" name="Text 18"/>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64</a:t>
            </a:r>
            <a:endParaRPr lang="en-US" sz="750" dirty="0"/>
          </a:p>
        </p:txBody>
      </p:sp>
      <p:sp>
        <p:nvSpPr>
          <p:cNvPr id="26" name="Text 19"/>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champa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CHAMPAGNE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39</a:t>
            </a:r>
            <a:r>
              <a:rPr lang="en-US" sz="2000" dirty="0">
                <a:solidFill>
                  <a:srgbClr val="46606E"/>
                </a:solidFill>
                <a:latin typeface="Young Serif" pitchFamily="34" charset="0"/>
                <a:ea typeface="Young Serif" pitchFamily="34" charset="-122"/>
                <a:cs typeface="Young Serif" pitchFamily="34" charset="-120"/>
              </a:rPr>
              <a:t>   Champagne Solemme</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CHAMPAGNE</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1097088"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biodyn.png">    </p:cNvPr>
          <p:cNvPicPr>
            <a:picLocks noChangeAspect="1"/>
          </p:cNvPicPr>
          <p:nvPr/>
        </p:nvPicPr>
        <p:blipFill>
          <a:blip r:embed="rId2"/>
          <a:stretch>
            <a:fillRect/>
          </a:stretch>
        </p:blipFill>
        <p:spPr>
          <a:xfrm>
            <a:off x="684000" y="1083600"/>
            <a:ext cx="108000" cy="108000"/>
          </a:xfrm>
          <a:prstGeom prst="rect">
            <a:avLst/>
          </a:prstGeom>
        </p:spPr>
      </p:pic>
      <p:sp>
        <p:nvSpPr>
          <p:cNvPr id="9" name="Text 5"/>
          <p:cNvSpPr/>
          <p:nvPr/>
        </p:nvSpPr>
        <p:spPr>
          <a:xfrm>
            <a:off x="759600" y="1047600"/>
            <a:ext cx="94948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 &amp; Biodynamie</a:t>
            </a:r>
            <a:endParaRPr lang="en-US" sz="720" dirty="0"/>
          </a:p>
        </p:txBody>
      </p:sp>
      <p:sp>
        <p:nvSpPr>
          <p:cNvPr id="10" name="Shape 6"/>
          <p:cNvSpPr/>
          <p:nvPr/>
        </p:nvSpPr>
        <p:spPr>
          <a:xfrm>
            <a:off x="1788288" y="10476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788288"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3252961" y="10476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3252961"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6 références</a:t>
            </a:r>
            <a:endParaRPr lang="en-US" sz="720" dirty="0"/>
          </a:p>
        </p:txBody>
      </p:sp>
      <p:pic>
        <p:nvPicPr>
          <p:cNvPr id="14" name="Image 2" descr="logo de la maison — Champagne Solemme">    </p:cNvPr>
          <p:cNvPicPr>
            <a:picLocks noChangeAspect="1"/>
          </p:cNvPicPr>
          <p:nvPr/>
        </p:nvPicPr>
        <p:blipFill>
          <a:blip r:embed="rId3"/>
          <a:stretch>
            <a:fillRect/>
          </a:stretch>
        </p:blipFill>
        <p:spPr>
          <a:xfrm>
            <a:off x="612000" y="1357200"/>
            <a:ext cx="1440000" cy="1440000"/>
          </a:xfrm>
          <a:prstGeom prst="rect">
            <a:avLst/>
          </a:prstGeom>
        </p:spPr>
      </p:pic>
      <p:pic>
        <p:nvPicPr>
          <p:cNvPr id="15" name="Image 3" descr="Une bouteille du domaine Champagne Solemme">    </p:cNvPr>
          <p:cNvPicPr>
            <a:picLocks noChangeAspect="1"/>
          </p:cNvPicPr>
          <p:nvPr/>
        </p:nvPicPr>
        <p:blipFill>
          <a:blip r:embed="rId4"/>
          <a:stretch>
            <a:fillRect/>
          </a:stretch>
        </p:blipFill>
        <p:spPr>
          <a:xfrm>
            <a:off x="6002705" y="1357200"/>
            <a:ext cx="594590" cy="2232000"/>
          </a:xfrm>
          <a:prstGeom prst="rect">
            <a:avLst/>
          </a:prstGeom>
        </p:spPr>
      </p:pic>
      <p:sp>
        <p:nvSpPr>
          <p:cNvPr id="16" name="Text 10"/>
          <p:cNvSpPr/>
          <p:nvPr/>
        </p:nvSpPr>
        <p:spPr>
          <a:xfrm>
            <a:off x="2177976" y="1336044"/>
            <a:ext cx="292674" cy="485851"/>
          </a:xfrm>
          <a:prstGeom prst="rect">
            <a:avLst/>
          </a:prstGeom>
          <a:noFill/>
          <a:ln/>
        </p:spPr>
        <p:txBody>
          <a:bodyPr wrap="square" lIns="0" tIns="0" rIns="0" bIns="0" rtlCol="0" anchor="t"/>
          <a:lstStyle/>
          <a:p>
            <a:pPr algn="r" indent="0" marL="0">
              <a:lnSpc>
                <a:spcPct val="122800"/>
              </a:lnSpc>
              <a:buNone/>
            </a:pPr>
            <a:r>
              <a:rPr lang="en-US" sz="2391" dirty="0">
                <a:solidFill>
                  <a:srgbClr val="67067C"/>
                </a:solidFill>
                <a:latin typeface="Young Serif" pitchFamily="34" charset="0"/>
                <a:ea typeface="Young Serif" pitchFamily="34" charset="-122"/>
                <a:cs typeface="Young Serif" pitchFamily="34" charset="-120"/>
              </a:rPr>
              <a:t>À</a:t>
            </a:r>
            <a:endParaRPr lang="en-US" sz="2391" dirty="0"/>
          </a:p>
        </p:txBody>
      </p:sp>
      <p:sp>
        <p:nvSpPr>
          <p:cNvPr id="17" name="Text 11"/>
          <p:cNvSpPr/>
          <p:nvPr/>
        </p:nvSpPr>
        <p:spPr>
          <a:xfrm>
            <a:off x="2232000" y="1474413"/>
            <a:ext cx="3456000" cy="2114688"/>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Villers-aux-Nœuds, sur les terroirs Premier Cru de la Montagne de Reims, Olivier Langlais conduit 6 hectares en biodynamie. En cave, vinifications douces, sans chaptalisation, sans filtration et sans dosage : une Champagne d’émotion, minérale et d’une lumineuse franchise de terroir.</a:t>
            </a:r>
            <a:endParaRPr lang="en-US" sz="1300" dirty="0"/>
          </a:p>
        </p:txBody>
      </p:sp>
      <p:graphicFrame>
        <p:nvGraphicFramePr>
          <p:cNvPr id="66" name="Table 0"/>
          <p:cNvGraphicFramePr>
            <a:graphicFrameLocks noGrp="1"/>
          </p:cNvGraphicFramePr>
          <p:nvPr>
            <p:extLst>
              <p:ext uri="{D42A27DB-BD31-4B8C-83A1-F6EECF244321}">
                <p14:modId xmlns:p14="http://schemas.microsoft.com/office/powerpoint/2010/main" val="1579011935"/>
              </p:ext>
            </p:extLst>
          </p:nvPr>
        </p:nvGraphicFramePr>
        <p:xfrm>
          <a:off x="612000" y="37511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60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240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 Premier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Terre de Solemme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BSA</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21,20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20,50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20,00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 Premier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Plénitude de Solemme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22,10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21,60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21,10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 Premier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Esprit de Solemme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25,80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25,10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24,50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 Premier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Nature de Solemme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2018</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32,00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31,20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30,50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 Premier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Ambre de Solemme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2018</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33,50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32,60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31,85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 Premier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Rose de Solemme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36,00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35,10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34,20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Shape 12"/>
          <p:cNvSpPr/>
          <p:nvPr/>
        </p:nvSpPr>
        <p:spPr>
          <a:xfrm>
            <a:off x="612000" y="6455685"/>
            <a:ext cx="0" cy="288349"/>
          </a:xfrm>
          <a:prstGeom prst="line">
            <a:avLst/>
          </a:prstGeom>
          <a:noFill/>
          <a:ln w="17780">
            <a:solidFill>
              <a:srgbClr val="67067C"/>
            </a:solidFill>
            <a:prstDash val="solid"/>
          </a:ln>
        </p:spPr>
      </p:sp>
      <p:sp>
        <p:nvSpPr>
          <p:cNvPr id="20" name="Text 13"/>
          <p:cNvSpPr/>
          <p:nvPr/>
        </p:nvSpPr>
        <p:spPr>
          <a:xfrm>
            <a:off x="720000" y="6455685"/>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21" name="Text 14"/>
          <p:cNvSpPr/>
          <p:nvPr/>
        </p:nvSpPr>
        <p:spPr>
          <a:xfrm>
            <a:off x="612000" y="6888034"/>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CHAMPAGNE — LA CRAIE</a:t>
            </a:r>
            <a:endParaRPr lang="en-US" sz="720" dirty="0"/>
          </a:p>
        </p:txBody>
      </p:sp>
      <p:pic>
        <p:nvPicPr>
          <p:cNvPr id="22" name="Image 4" descr="/home/user/philippe1/build/deco-catalogue-scio-2026/sol-champagne.png">    </p:cNvPr>
          <p:cNvPicPr>
            <a:picLocks noChangeAspect="1"/>
          </p:cNvPicPr>
          <p:nvPr/>
        </p:nvPicPr>
        <p:blipFill>
          <a:blip r:embed="rId5"/>
          <a:stretch>
            <a:fillRect/>
          </a:stretch>
        </p:blipFill>
        <p:spPr>
          <a:xfrm>
            <a:off x="612000" y="7035634"/>
            <a:ext cx="6120000" cy="1052645"/>
          </a:xfrm>
          <a:prstGeom prst="rect">
            <a:avLst/>
          </a:prstGeom>
        </p:spPr>
      </p:pic>
      <p:sp>
        <p:nvSpPr>
          <p:cNvPr id="23" name="Shape 15"/>
          <p:cNvSpPr/>
          <p:nvPr/>
        </p:nvSpPr>
        <p:spPr>
          <a:xfrm>
            <a:off x="612000" y="8388000"/>
            <a:ext cx="6120000" cy="0"/>
          </a:xfrm>
          <a:prstGeom prst="line">
            <a:avLst/>
          </a:prstGeom>
          <a:noFill/>
          <a:ln w="8890">
            <a:solidFill>
              <a:srgbClr val="46606E"/>
            </a:solidFill>
            <a:prstDash val="solid"/>
          </a:ln>
        </p:spPr>
      </p:sp>
      <p:sp>
        <p:nvSpPr>
          <p:cNvPr id="24" name="Text 16"/>
          <p:cNvSpPr/>
          <p:nvPr/>
        </p:nvSpPr>
        <p:spPr>
          <a:xfrm>
            <a:off x="612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pictos de l’Agence SCIO, pas les logos officiels</a:t>
            </a:r>
            <a:endParaRPr lang="en-US" sz="650" dirty="0"/>
          </a:p>
        </p:txBody>
      </p:sp>
      <p:sp>
        <p:nvSpPr>
          <p:cNvPr id="26" name="Text 18"/>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65</a:t>
            </a:r>
            <a:endParaRPr lang="en-US" sz="750" dirty="0"/>
          </a:p>
        </p:txBody>
      </p:sp>
      <p:sp>
        <p:nvSpPr>
          <p:cNvPr id="27" name="Text 19"/>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champa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CHAMPAGNE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40</a:t>
            </a:r>
            <a:r>
              <a:rPr lang="en-US" sz="2000" dirty="0">
                <a:solidFill>
                  <a:srgbClr val="46606E"/>
                </a:solidFill>
                <a:latin typeface="Young Serif" pitchFamily="34" charset="0"/>
                <a:ea typeface="Young Serif" pitchFamily="34" charset="-122"/>
                <a:cs typeface="Young Serif" pitchFamily="34" charset="-120"/>
              </a:rPr>
              <a:t>   Vazart-Coquart &amp; Fils</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CHAMPAGNE</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1101294"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conversion.png">    </p:cNvPr>
          <p:cNvPicPr>
            <a:picLocks noChangeAspect="1"/>
          </p:cNvPicPr>
          <p:nvPr/>
        </p:nvPicPr>
        <p:blipFill>
          <a:blip r:embed="rId2"/>
          <a:stretch>
            <a:fillRect/>
          </a:stretch>
        </p:blipFill>
        <p:spPr>
          <a:xfrm>
            <a:off x="900000" y="1083600"/>
            <a:ext cx="108000" cy="108000"/>
          </a:xfrm>
          <a:prstGeom prst="rect">
            <a:avLst/>
          </a:prstGeom>
        </p:spPr>
      </p:pic>
      <p:sp>
        <p:nvSpPr>
          <p:cNvPr id="9" name="Text 5"/>
          <p:cNvSpPr/>
          <p:nvPr/>
        </p:nvSpPr>
        <p:spPr>
          <a:xfrm>
            <a:off x="975600" y="1047600"/>
            <a:ext cx="95369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En conversion Bio</a:t>
            </a:r>
            <a:endParaRPr lang="en-US" sz="720" dirty="0"/>
          </a:p>
        </p:txBody>
      </p:sp>
      <p:sp>
        <p:nvSpPr>
          <p:cNvPr id="10" name="Shape 6"/>
          <p:cNvSpPr/>
          <p:nvPr/>
        </p:nvSpPr>
        <p:spPr>
          <a:xfrm>
            <a:off x="2008494" y="10476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2008494"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3473168" y="10476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3473168"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6 références</a:t>
            </a:r>
            <a:endParaRPr lang="en-US" sz="720" dirty="0"/>
          </a:p>
        </p:txBody>
      </p:sp>
      <p:pic>
        <p:nvPicPr>
          <p:cNvPr id="14" name="Image 2" descr="la maison de champagne — Vazart-Coquart &amp; Fils">    </p:cNvPr>
          <p:cNvPicPr>
            <a:picLocks noChangeAspect="1"/>
          </p:cNvPicPr>
          <p:nvPr/>
        </p:nvPicPr>
        <p:blipFill>
          <a:blip r:embed="rId3"/>
          <a:srcRect l="25260" r="25261" t="0" b="0"/>
          <a:stretch/>
        </p:blipFill>
        <p:spPr>
          <a:xfrm>
            <a:off x="828000" y="1357200"/>
            <a:ext cx="1440000" cy="1440000"/>
          </a:xfrm>
          <a:prstGeom prst="ellipse">
            <a:avLst/>
          </a:prstGeom>
        </p:spPr>
      </p:pic>
      <p:pic>
        <p:nvPicPr>
          <p:cNvPr id="15" name="Image 3" descr="Une bouteille du domaine Vazart-Coquart &amp; Fils">    </p:cNvPr>
          <p:cNvPicPr>
            <a:picLocks noChangeAspect="1"/>
          </p:cNvPicPr>
          <p:nvPr/>
        </p:nvPicPr>
        <p:blipFill>
          <a:blip r:embed="rId4"/>
          <a:stretch>
            <a:fillRect/>
          </a:stretch>
        </p:blipFill>
        <p:spPr>
          <a:xfrm>
            <a:off x="6129248" y="1357200"/>
            <a:ext cx="773503" cy="2232000"/>
          </a:xfrm>
          <a:prstGeom prst="rect">
            <a:avLst/>
          </a:prstGeom>
        </p:spPr>
      </p:pic>
      <p:sp>
        <p:nvSpPr>
          <p:cNvPr id="16" name="Text 10"/>
          <p:cNvSpPr/>
          <p:nvPr/>
        </p:nvSpPr>
        <p:spPr>
          <a:xfrm>
            <a:off x="2394033" y="1473248"/>
            <a:ext cx="375167" cy="496011"/>
          </a:xfrm>
          <a:prstGeom prst="rect">
            <a:avLst/>
          </a:prstGeom>
          <a:noFill/>
          <a:ln/>
        </p:spPr>
        <p:txBody>
          <a:bodyPr wrap="square" lIns="0" tIns="0" rIns="0" bIns="0" rtlCol="0" anchor="t"/>
          <a:lstStyle/>
          <a:p>
            <a:pPr algn="r" indent="0" marL="0">
              <a:lnSpc>
                <a:spcPct val="122200"/>
              </a:lnSpc>
              <a:buNone/>
            </a:pPr>
            <a:r>
              <a:rPr lang="en-US" sz="2441" dirty="0">
                <a:solidFill>
                  <a:srgbClr val="67067C"/>
                </a:solidFill>
                <a:latin typeface="Young Serif" pitchFamily="34" charset="0"/>
                <a:ea typeface="Young Serif" pitchFamily="34" charset="-122"/>
                <a:cs typeface="Young Serif" pitchFamily="34" charset="-120"/>
              </a:rPr>
              <a:t>M</a:t>
            </a:r>
            <a:endParaRPr lang="en-US" sz="2441" dirty="0"/>
          </a:p>
        </p:txBody>
      </p:sp>
      <p:sp>
        <p:nvSpPr>
          <p:cNvPr id="17" name="Text 11"/>
          <p:cNvSpPr/>
          <p:nvPr/>
        </p:nvSpPr>
        <p:spPr>
          <a:xfrm>
            <a:off x="2448000" y="1617459"/>
            <a:ext cx="3456000" cy="1971641"/>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aison de référence à Chouilly, Grand Cru de la Côte des Blancs, Vazart-Coquart célèbre le Chardonnay depuis 1954. Jean-Pierre et Caroline veillent sur trente parcelles (11 ha) où la craie révèle toute la finesse du cépage. Troisième domaine certifié HVE de France.</a:t>
            </a:r>
            <a:endParaRPr lang="en-US" sz="1300" dirty="0"/>
          </a:p>
        </p:txBody>
      </p:sp>
      <p:graphicFrame>
        <p:nvGraphicFramePr>
          <p:cNvPr id="67" name="Table 0"/>
          <p:cNvGraphicFramePr>
            <a:graphicFrameLocks noGrp="1"/>
          </p:cNvGraphicFramePr>
          <p:nvPr>
            <p:extLst>
              <p:ext uri="{D42A27DB-BD31-4B8C-83A1-F6EECF244321}">
                <p14:modId xmlns:p14="http://schemas.microsoft.com/office/powerpoint/2010/main" val="1579011935"/>
              </p:ext>
            </p:extLst>
          </p:nvPr>
        </p:nvGraphicFramePr>
        <p:xfrm>
          <a:off x="828000" y="37511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48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78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96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 Grand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Cuvée Camille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Base 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20,10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19,90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19,60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 Grand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Brut Réserve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Base 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20,80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20,60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20,30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 Grand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Extra Brut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Base 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25,00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24,80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24,50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 Grand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Special Club</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2017</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41,10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40,90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40,60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 Grand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TC</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2018</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46,40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46,20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45,90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 Grand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Parcellaire AD 191</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2016</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49,10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48,90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48,60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Shape 12"/>
          <p:cNvSpPr/>
          <p:nvPr/>
        </p:nvSpPr>
        <p:spPr>
          <a:xfrm>
            <a:off x="828000" y="6455685"/>
            <a:ext cx="0" cy="288349"/>
          </a:xfrm>
          <a:prstGeom prst="line">
            <a:avLst/>
          </a:prstGeom>
          <a:noFill/>
          <a:ln w="17780">
            <a:solidFill>
              <a:srgbClr val="67067C"/>
            </a:solidFill>
            <a:prstDash val="solid"/>
          </a:ln>
        </p:spPr>
      </p:sp>
      <p:sp>
        <p:nvSpPr>
          <p:cNvPr id="20" name="Text 13"/>
          <p:cNvSpPr/>
          <p:nvPr/>
        </p:nvSpPr>
        <p:spPr>
          <a:xfrm>
            <a:off x="936000" y="6455685"/>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21" name="Text 14"/>
          <p:cNvSpPr/>
          <p:nvPr/>
        </p:nvSpPr>
        <p:spPr>
          <a:xfrm>
            <a:off x="828000" y="6888034"/>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CHAMPAGNE — LA CRAIE</a:t>
            </a:r>
            <a:endParaRPr lang="en-US" sz="720" dirty="0"/>
          </a:p>
        </p:txBody>
      </p:sp>
      <p:pic>
        <p:nvPicPr>
          <p:cNvPr id="22" name="Image 4" descr="/home/user/philippe1/build/deco-catalogue-scio-2026/sol-champagne.png">    </p:cNvPr>
          <p:cNvPicPr>
            <a:picLocks noChangeAspect="1"/>
          </p:cNvPicPr>
          <p:nvPr/>
        </p:nvPicPr>
        <p:blipFill>
          <a:blip r:embed="rId5"/>
          <a:stretch>
            <a:fillRect/>
          </a:stretch>
        </p:blipFill>
        <p:spPr>
          <a:xfrm>
            <a:off x="828000" y="7035634"/>
            <a:ext cx="6120000" cy="1052645"/>
          </a:xfrm>
          <a:prstGeom prst="rect">
            <a:avLst/>
          </a:prstGeom>
        </p:spPr>
      </p:pic>
      <p:sp>
        <p:nvSpPr>
          <p:cNvPr id="23" name="Shape 15"/>
          <p:cNvSpPr/>
          <p:nvPr/>
        </p:nvSpPr>
        <p:spPr>
          <a:xfrm>
            <a:off x="828000" y="8388000"/>
            <a:ext cx="6120000" cy="0"/>
          </a:xfrm>
          <a:prstGeom prst="line">
            <a:avLst/>
          </a:prstGeom>
          <a:noFill/>
          <a:ln w="8890">
            <a:solidFill>
              <a:srgbClr val="46606E"/>
            </a:solidFill>
            <a:prstDash val="solid"/>
          </a:ln>
        </p:spPr>
      </p:sp>
      <p:sp>
        <p:nvSpPr>
          <p:cNvPr id="24" name="Text 16"/>
          <p:cNvSpPr/>
          <p:nvPr/>
        </p:nvSpPr>
        <p:spPr>
          <a:xfrm>
            <a:off x="828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pictos de l’Agence SCIO, pas les logos officiels</a:t>
            </a:r>
            <a:endParaRPr lang="en-US" sz="650" dirty="0"/>
          </a:p>
        </p:txBody>
      </p:sp>
      <p:sp>
        <p:nvSpPr>
          <p:cNvPr id="26" name="Text 18"/>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66</a:t>
            </a:r>
            <a:endParaRPr lang="en-US" sz="750" dirty="0"/>
          </a:p>
        </p:txBody>
      </p:sp>
      <p:sp>
        <p:nvSpPr>
          <p:cNvPr id="27" name="Text 19"/>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612000" y="540000"/>
            <a:ext cx="6120000" cy="432000"/>
          </a:xfrm>
          <a:prstGeom prst="rect">
            <a:avLst/>
          </a:prstGeom>
          <a:noFill/>
          <a:ln/>
        </p:spPr>
        <p:txBody>
          <a:bodyPr wrap="square" lIns="0" tIns="0" rIns="0" bIns="0" rtlCol="0" anchor="b"/>
          <a:lstStyle/>
          <a:p>
            <a:pPr indent="0" marL="0">
              <a:buNone/>
            </a:pPr>
            <a:r>
              <a:rPr lang="en-US" sz="2400" dirty="0">
                <a:solidFill>
                  <a:srgbClr val="67067C"/>
                </a:solidFill>
                <a:latin typeface="Young Serif" pitchFamily="34" charset="0"/>
                <a:ea typeface="Young Serif" pitchFamily="34" charset="-122"/>
                <a:cs typeface="Young Serif" pitchFamily="34" charset="-120"/>
              </a:rPr>
              <a:t>Index des vins</a:t>
            </a:r>
            <a:endParaRPr lang="en-US" sz="2400" dirty="0"/>
          </a:p>
        </p:txBody>
      </p:sp>
      <p:sp>
        <p:nvSpPr>
          <p:cNvPr id="3" name="Text 1"/>
          <p:cNvSpPr/>
          <p:nvPr/>
        </p:nvSpPr>
        <p:spPr>
          <a:xfrm>
            <a:off x="612000" y="990000"/>
            <a:ext cx="612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PAR TYPE, DE A À Z</a:t>
            </a:r>
            <a:endParaRPr lang="en-US" sz="800" dirty="0"/>
          </a:p>
        </p:txBody>
      </p:sp>
      <p:sp>
        <p:nvSpPr>
          <p:cNvPr id="4" name="Text 2"/>
          <p:cNvSpPr/>
          <p:nvPr/>
        </p:nvSpPr>
        <p:spPr>
          <a:xfrm>
            <a:off x="612000" y="1368000"/>
            <a:ext cx="6120000" cy="180000"/>
          </a:xfrm>
          <a:prstGeom prst="rect">
            <a:avLst/>
          </a:prstGeom>
          <a:noFill/>
          <a:ln/>
        </p:spPr>
        <p:txBody>
          <a:bodyPr wrap="square" lIns="0" tIns="0" rIns="0" bIns="0" rtlCol="0" anchor="ctr"/>
          <a:lstStyle/>
          <a:p>
            <a:pPr indent="0" marL="0">
              <a:buNone/>
            </a:pPr>
            <a:r>
              <a:rPr lang="en-US" sz="860" dirty="0">
                <a:solidFill>
                  <a:srgbClr val="46606E"/>
                </a:solidFill>
                <a:latin typeface="Spectral" pitchFamily="34" charset="0"/>
                <a:ea typeface="Spectral" pitchFamily="34" charset="-122"/>
                <a:cs typeface="Spectral" pitchFamily="34" charset="-120"/>
              </a:rPr>
              <a:t>Le numéro en violet est celui du domaine, le dernier chiffre est la page.</a:t>
            </a:r>
            <a:endParaRPr lang="en-US" sz="860" dirty="0"/>
          </a:p>
        </p:txBody>
      </p:sp>
      <p:sp>
        <p:nvSpPr>
          <p:cNvPr id="5" name="Text 3"/>
          <p:cNvSpPr/>
          <p:nvPr/>
        </p:nvSpPr>
        <p:spPr>
          <a:xfrm>
            <a:off x="612000" y="1620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BULLES</a:t>
            </a:r>
            <a:endParaRPr lang="en-US" sz="800" dirty="0"/>
          </a:p>
        </p:txBody>
      </p:sp>
      <p:sp>
        <p:nvSpPr>
          <p:cNvPr id="6" name="Text 4"/>
          <p:cNvSpPr/>
          <p:nvPr/>
        </p:nvSpPr>
        <p:spPr>
          <a:xfrm>
            <a:off x="612000" y="17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Ambre de Solemme</a:t>
            </a:r>
            <a:r>
              <a:rPr lang="en-US" sz="690" b="1" dirty="0">
                <a:solidFill>
                  <a:srgbClr val="67067C"/>
                </a:solidFill>
                <a:latin typeface="IBM Plex Sans" pitchFamily="34" charset="0"/>
                <a:ea typeface="IBM Plex Sans" pitchFamily="34" charset="-122"/>
                <a:cs typeface="IBM Plex Sans" pitchFamily="34" charset="-120"/>
              </a:rPr>
              <a:t>  39</a:t>
            </a:r>
            <a:r>
              <a:rPr lang="en-US" sz="690" dirty="0">
                <a:solidFill>
                  <a:srgbClr val="46606E"/>
                </a:solidFill>
                <a:latin typeface="IBM Plex Sans" pitchFamily="34" charset="0"/>
                <a:ea typeface="IBM Plex Sans" pitchFamily="34" charset="-122"/>
                <a:cs typeface="IBM Plex Sans" pitchFamily="34" charset="-120"/>
              </a:rPr>
              <a:t>  65</a:t>
            </a:r>
            <a:endParaRPr lang="en-US" sz="690" dirty="0"/>
          </a:p>
        </p:txBody>
      </p:sp>
      <p:sp>
        <p:nvSpPr>
          <p:cNvPr id="7" name="Text 5"/>
          <p:cNvSpPr/>
          <p:nvPr/>
        </p:nvSpPr>
        <p:spPr>
          <a:xfrm>
            <a:off x="612000" y="18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Brut Nature</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8" name="Text 6"/>
          <p:cNvSpPr/>
          <p:nvPr/>
        </p:nvSpPr>
        <p:spPr>
          <a:xfrm>
            <a:off x="612000" y="19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Brut Réserve</a:t>
            </a:r>
            <a:r>
              <a:rPr lang="en-US" sz="690" b="1" dirty="0">
                <a:solidFill>
                  <a:srgbClr val="67067C"/>
                </a:solidFill>
                <a:latin typeface="IBM Plex Sans" pitchFamily="34" charset="0"/>
                <a:ea typeface="IBM Plex Sans" pitchFamily="34" charset="-122"/>
                <a:cs typeface="IBM Plex Sans" pitchFamily="34" charset="-120"/>
              </a:rPr>
              <a:t>  40</a:t>
            </a:r>
            <a:r>
              <a:rPr lang="en-US" sz="690" dirty="0">
                <a:solidFill>
                  <a:srgbClr val="46606E"/>
                </a:solidFill>
                <a:latin typeface="IBM Plex Sans" pitchFamily="34" charset="0"/>
                <a:ea typeface="IBM Plex Sans" pitchFamily="34" charset="-122"/>
                <a:cs typeface="IBM Plex Sans" pitchFamily="34" charset="-120"/>
              </a:rPr>
              <a:t>  66</a:t>
            </a:r>
            <a:endParaRPr lang="en-US" sz="690" dirty="0"/>
          </a:p>
        </p:txBody>
      </p:sp>
      <p:sp>
        <p:nvSpPr>
          <p:cNvPr id="9" name="Text 7"/>
          <p:cNvSpPr/>
          <p:nvPr/>
        </p:nvSpPr>
        <p:spPr>
          <a:xfrm>
            <a:off x="612000" y="21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Chardonnay Vignes de 1962</a:t>
            </a:r>
            <a:r>
              <a:rPr lang="en-US" sz="690" b="1" dirty="0">
                <a:solidFill>
                  <a:srgbClr val="67067C"/>
                </a:solidFill>
                <a:latin typeface="IBM Plex Sans" pitchFamily="34" charset="0"/>
                <a:ea typeface="IBM Plex Sans" pitchFamily="34" charset="-122"/>
                <a:cs typeface="IBM Plex Sans" pitchFamily="34" charset="-120"/>
              </a:rPr>
              <a:t>  37</a:t>
            </a:r>
            <a:r>
              <a:rPr lang="en-US" sz="690" dirty="0">
                <a:solidFill>
                  <a:srgbClr val="46606E"/>
                </a:solidFill>
                <a:latin typeface="IBM Plex Sans" pitchFamily="34" charset="0"/>
                <a:ea typeface="IBM Plex Sans" pitchFamily="34" charset="-122"/>
                <a:cs typeface="IBM Plex Sans" pitchFamily="34" charset="-120"/>
              </a:rPr>
              <a:t>  62</a:t>
            </a:r>
            <a:endParaRPr lang="en-US" sz="690" dirty="0"/>
          </a:p>
        </p:txBody>
      </p:sp>
      <p:sp>
        <p:nvSpPr>
          <p:cNvPr id="10" name="Text 8"/>
          <p:cNvSpPr/>
          <p:nvPr/>
        </p:nvSpPr>
        <p:spPr>
          <a:xfrm>
            <a:off x="612000" y="22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Crémant de Loire</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11" name="Text 9"/>
          <p:cNvSpPr/>
          <p:nvPr/>
        </p:nvSpPr>
        <p:spPr>
          <a:xfrm>
            <a:off x="612000" y="23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Camille</a:t>
            </a:r>
            <a:r>
              <a:rPr lang="en-US" sz="690" b="1" dirty="0">
                <a:solidFill>
                  <a:srgbClr val="67067C"/>
                </a:solidFill>
                <a:latin typeface="IBM Plex Sans" pitchFamily="34" charset="0"/>
                <a:ea typeface="IBM Plex Sans" pitchFamily="34" charset="-122"/>
                <a:cs typeface="IBM Plex Sans" pitchFamily="34" charset="-120"/>
              </a:rPr>
              <a:t>  40</a:t>
            </a:r>
            <a:r>
              <a:rPr lang="en-US" sz="690" dirty="0">
                <a:solidFill>
                  <a:srgbClr val="46606E"/>
                </a:solidFill>
                <a:latin typeface="IBM Plex Sans" pitchFamily="34" charset="0"/>
                <a:ea typeface="IBM Plex Sans" pitchFamily="34" charset="-122"/>
                <a:cs typeface="IBM Plex Sans" pitchFamily="34" charset="-120"/>
              </a:rPr>
              <a:t>  66</a:t>
            </a:r>
            <a:endParaRPr lang="en-US" sz="690" dirty="0"/>
          </a:p>
        </p:txBody>
      </p:sp>
      <p:sp>
        <p:nvSpPr>
          <p:cNvPr id="12" name="Text 10"/>
          <p:cNvSpPr/>
          <p:nvPr/>
        </p:nvSpPr>
        <p:spPr>
          <a:xfrm>
            <a:off x="612000" y="25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Prestige</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13" name="Text 11"/>
          <p:cNvSpPr/>
          <p:nvPr/>
        </p:nvSpPr>
        <p:spPr>
          <a:xfrm>
            <a:off x="612000" y="26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Esprit de Solemme</a:t>
            </a:r>
            <a:r>
              <a:rPr lang="en-US" sz="690" b="1" dirty="0">
                <a:solidFill>
                  <a:srgbClr val="67067C"/>
                </a:solidFill>
                <a:latin typeface="IBM Plex Sans" pitchFamily="34" charset="0"/>
                <a:ea typeface="IBM Plex Sans" pitchFamily="34" charset="-122"/>
                <a:cs typeface="IBM Plex Sans" pitchFamily="34" charset="-120"/>
              </a:rPr>
              <a:t>  39</a:t>
            </a:r>
            <a:r>
              <a:rPr lang="en-US" sz="690" dirty="0">
                <a:solidFill>
                  <a:srgbClr val="46606E"/>
                </a:solidFill>
                <a:latin typeface="IBM Plex Sans" pitchFamily="34" charset="0"/>
                <a:ea typeface="IBM Plex Sans" pitchFamily="34" charset="-122"/>
                <a:cs typeface="IBM Plex Sans" pitchFamily="34" charset="-120"/>
              </a:rPr>
              <a:t>  65</a:t>
            </a:r>
            <a:endParaRPr lang="en-US" sz="690" dirty="0"/>
          </a:p>
        </p:txBody>
      </p:sp>
      <p:sp>
        <p:nvSpPr>
          <p:cNvPr id="14" name="Text 12"/>
          <p:cNvSpPr/>
          <p:nvPr/>
        </p:nvSpPr>
        <p:spPr>
          <a:xfrm>
            <a:off x="612000" y="27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Esprit Rose</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63</a:t>
            </a:r>
            <a:endParaRPr lang="en-US" sz="690" dirty="0"/>
          </a:p>
        </p:txBody>
      </p:sp>
      <p:sp>
        <p:nvSpPr>
          <p:cNvPr id="15" name="Text 13"/>
          <p:cNvSpPr/>
          <p:nvPr/>
        </p:nvSpPr>
        <p:spPr>
          <a:xfrm>
            <a:off x="612000" y="28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Extra Brut</a:t>
            </a:r>
            <a:r>
              <a:rPr lang="en-US" sz="690" b="1" dirty="0">
                <a:solidFill>
                  <a:srgbClr val="67067C"/>
                </a:solidFill>
                <a:latin typeface="IBM Plex Sans" pitchFamily="34" charset="0"/>
                <a:ea typeface="IBM Plex Sans" pitchFamily="34" charset="-122"/>
                <a:cs typeface="IBM Plex Sans" pitchFamily="34" charset="-120"/>
              </a:rPr>
              <a:t>  40</a:t>
            </a:r>
            <a:r>
              <a:rPr lang="en-US" sz="690" dirty="0">
                <a:solidFill>
                  <a:srgbClr val="46606E"/>
                </a:solidFill>
                <a:latin typeface="IBM Plex Sans" pitchFamily="34" charset="0"/>
                <a:ea typeface="IBM Plex Sans" pitchFamily="34" charset="-122"/>
                <a:cs typeface="IBM Plex Sans" pitchFamily="34" charset="-120"/>
              </a:rPr>
              <a:t>  66</a:t>
            </a:r>
            <a:endParaRPr lang="en-US" sz="690" dirty="0"/>
          </a:p>
        </p:txBody>
      </p:sp>
      <p:sp>
        <p:nvSpPr>
          <p:cNvPr id="16" name="Text 14"/>
          <p:cNvSpPr/>
          <p:nvPr/>
        </p:nvSpPr>
        <p:spPr>
          <a:xfrm>
            <a:off x="612000" y="300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Grand Cru Exception</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63</a:t>
            </a:r>
            <a:endParaRPr lang="en-US" sz="690" dirty="0"/>
          </a:p>
        </p:txBody>
      </p:sp>
      <p:sp>
        <p:nvSpPr>
          <p:cNvPr id="17" name="Text 15"/>
          <p:cNvSpPr/>
          <p:nvPr/>
        </p:nvSpPr>
        <p:spPr>
          <a:xfrm>
            <a:off x="612000" y="313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L’O*** Brut</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18" name="Text 16"/>
          <p:cNvSpPr/>
          <p:nvPr/>
        </p:nvSpPr>
        <p:spPr>
          <a:xfrm>
            <a:off x="612000" y="325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perle</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19" name="Text 17"/>
          <p:cNvSpPr/>
          <p:nvPr/>
        </p:nvSpPr>
        <p:spPr>
          <a:xfrm>
            <a:off x="612000" y="338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N°10  75 cl</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20" name="Text 18"/>
          <p:cNvSpPr/>
          <p:nvPr/>
        </p:nvSpPr>
        <p:spPr>
          <a:xfrm>
            <a:off x="612000" y="351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N°10  75 cl</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21" name="Text 19"/>
          <p:cNvSpPr/>
          <p:nvPr/>
        </p:nvSpPr>
        <p:spPr>
          <a:xfrm>
            <a:off x="612000" y="363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Nature</a:t>
            </a:r>
            <a:r>
              <a:rPr lang="en-US" sz="690" b="1" dirty="0">
                <a:solidFill>
                  <a:srgbClr val="67067C"/>
                </a:solidFill>
                <a:latin typeface="IBM Plex Sans" pitchFamily="34" charset="0"/>
                <a:ea typeface="IBM Plex Sans" pitchFamily="34" charset="-122"/>
                <a:cs typeface="IBM Plex Sans" pitchFamily="34" charset="-120"/>
              </a:rPr>
              <a:t>  37</a:t>
            </a:r>
            <a:r>
              <a:rPr lang="en-US" sz="690" dirty="0">
                <a:solidFill>
                  <a:srgbClr val="46606E"/>
                </a:solidFill>
                <a:latin typeface="IBM Plex Sans" pitchFamily="34" charset="0"/>
                <a:ea typeface="IBM Plex Sans" pitchFamily="34" charset="-122"/>
                <a:cs typeface="IBM Plex Sans" pitchFamily="34" charset="-120"/>
              </a:rPr>
              <a:t>  62</a:t>
            </a:r>
            <a:endParaRPr lang="en-US" sz="690" dirty="0"/>
          </a:p>
        </p:txBody>
      </p:sp>
      <p:sp>
        <p:nvSpPr>
          <p:cNvPr id="22" name="Text 20"/>
          <p:cNvSpPr/>
          <p:nvPr/>
        </p:nvSpPr>
        <p:spPr>
          <a:xfrm>
            <a:off x="612000" y="376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Nature de Solemme</a:t>
            </a:r>
            <a:r>
              <a:rPr lang="en-US" sz="690" b="1" dirty="0">
                <a:solidFill>
                  <a:srgbClr val="67067C"/>
                </a:solidFill>
                <a:latin typeface="IBM Plex Sans" pitchFamily="34" charset="0"/>
                <a:ea typeface="IBM Plex Sans" pitchFamily="34" charset="-122"/>
                <a:cs typeface="IBM Plex Sans" pitchFamily="34" charset="-120"/>
              </a:rPr>
              <a:t>  39</a:t>
            </a:r>
            <a:r>
              <a:rPr lang="en-US" sz="690" dirty="0">
                <a:solidFill>
                  <a:srgbClr val="46606E"/>
                </a:solidFill>
                <a:latin typeface="IBM Plex Sans" pitchFamily="34" charset="0"/>
                <a:ea typeface="IBM Plex Sans" pitchFamily="34" charset="-122"/>
                <a:cs typeface="IBM Plex Sans" pitchFamily="34" charset="-120"/>
              </a:rPr>
              <a:t>  65</a:t>
            </a:r>
            <a:endParaRPr lang="en-US" sz="690" dirty="0"/>
          </a:p>
        </p:txBody>
      </p:sp>
      <p:sp>
        <p:nvSpPr>
          <p:cNvPr id="23" name="Text 21"/>
          <p:cNvSpPr/>
          <p:nvPr/>
        </p:nvSpPr>
        <p:spPr>
          <a:xfrm>
            <a:off x="612000" y="388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Parcellaire AD 191</a:t>
            </a:r>
            <a:r>
              <a:rPr lang="en-US" sz="690" b="1" dirty="0">
                <a:solidFill>
                  <a:srgbClr val="67067C"/>
                </a:solidFill>
                <a:latin typeface="IBM Plex Sans" pitchFamily="34" charset="0"/>
                <a:ea typeface="IBM Plex Sans" pitchFamily="34" charset="-122"/>
                <a:cs typeface="IBM Plex Sans" pitchFamily="34" charset="-120"/>
              </a:rPr>
              <a:t>  40</a:t>
            </a:r>
            <a:r>
              <a:rPr lang="en-US" sz="690" dirty="0">
                <a:solidFill>
                  <a:srgbClr val="46606E"/>
                </a:solidFill>
                <a:latin typeface="IBM Plex Sans" pitchFamily="34" charset="0"/>
                <a:ea typeface="IBM Plex Sans" pitchFamily="34" charset="-122"/>
                <a:cs typeface="IBM Plex Sans" pitchFamily="34" charset="-120"/>
              </a:rPr>
              <a:t>  66</a:t>
            </a:r>
            <a:endParaRPr lang="en-US" sz="690" dirty="0"/>
          </a:p>
        </p:txBody>
      </p:sp>
      <p:sp>
        <p:nvSpPr>
          <p:cNvPr id="24" name="Text 22"/>
          <p:cNvSpPr/>
          <p:nvPr/>
        </p:nvSpPr>
        <p:spPr>
          <a:xfrm>
            <a:off x="612000" y="401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Pétillant de l'Escarderie</a:t>
            </a:r>
            <a:r>
              <a:rPr lang="en-US" sz="690" b="1" dirty="0">
                <a:solidFill>
                  <a:srgbClr val="67067C"/>
                </a:solidFill>
                <a:latin typeface="IBM Plex Sans" pitchFamily="34" charset="0"/>
                <a:ea typeface="IBM Plex Sans" pitchFamily="34" charset="-122"/>
                <a:cs typeface="IBM Plex Sans" pitchFamily="34" charset="-120"/>
              </a:rPr>
              <a:t>  30</a:t>
            </a:r>
            <a:r>
              <a:rPr lang="en-US" sz="690" dirty="0">
                <a:solidFill>
                  <a:srgbClr val="46606E"/>
                </a:solidFill>
                <a:latin typeface="IBM Plex Sans" pitchFamily="34" charset="0"/>
                <a:ea typeface="IBM Plex Sans" pitchFamily="34" charset="-122"/>
                <a:cs typeface="IBM Plex Sans" pitchFamily="34" charset="-120"/>
              </a:rPr>
              <a:t>  50</a:t>
            </a:r>
            <a:endParaRPr lang="en-US" sz="690" dirty="0"/>
          </a:p>
        </p:txBody>
      </p:sp>
      <p:sp>
        <p:nvSpPr>
          <p:cNvPr id="25" name="Text 23"/>
          <p:cNvSpPr/>
          <p:nvPr/>
        </p:nvSpPr>
        <p:spPr>
          <a:xfrm>
            <a:off x="612000" y="41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Plénitude de Solemme</a:t>
            </a:r>
            <a:r>
              <a:rPr lang="en-US" sz="690" b="1" dirty="0">
                <a:solidFill>
                  <a:srgbClr val="67067C"/>
                </a:solidFill>
                <a:latin typeface="IBM Plex Sans" pitchFamily="34" charset="0"/>
                <a:ea typeface="IBM Plex Sans" pitchFamily="34" charset="-122"/>
                <a:cs typeface="IBM Plex Sans" pitchFamily="34" charset="-120"/>
              </a:rPr>
              <a:t>  39</a:t>
            </a:r>
            <a:r>
              <a:rPr lang="en-US" sz="690" dirty="0">
                <a:solidFill>
                  <a:srgbClr val="46606E"/>
                </a:solidFill>
                <a:latin typeface="IBM Plex Sans" pitchFamily="34" charset="0"/>
                <a:ea typeface="IBM Plex Sans" pitchFamily="34" charset="-122"/>
                <a:cs typeface="IBM Plex Sans" pitchFamily="34" charset="-120"/>
              </a:rPr>
              <a:t>  65</a:t>
            </a:r>
            <a:endParaRPr lang="en-US" sz="690" dirty="0"/>
          </a:p>
        </p:txBody>
      </p:sp>
      <p:sp>
        <p:nvSpPr>
          <p:cNvPr id="26" name="Text 24"/>
          <p:cNvSpPr/>
          <p:nvPr/>
        </p:nvSpPr>
        <p:spPr>
          <a:xfrm>
            <a:off x="612000" y="42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Rose de Solemme</a:t>
            </a:r>
            <a:r>
              <a:rPr lang="en-US" sz="690" b="1" dirty="0">
                <a:solidFill>
                  <a:srgbClr val="67067C"/>
                </a:solidFill>
                <a:latin typeface="IBM Plex Sans" pitchFamily="34" charset="0"/>
                <a:ea typeface="IBM Plex Sans" pitchFamily="34" charset="-122"/>
                <a:cs typeface="IBM Plex Sans" pitchFamily="34" charset="-120"/>
              </a:rPr>
              <a:t>  39</a:t>
            </a:r>
            <a:r>
              <a:rPr lang="en-US" sz="690" dirty="0">
                <a:solidFill>
                  <a:srgbClr val="46606E"/>
                </a:solidFill>
                <a:latin typeface="IBM Plex Sans" pitchFamily="34" charset="0"/>
                <a:ea typeface="IBM Plex Sans" pitchFamily="34" charset="-122"/>
                <a:cs typeface="IBM Plex Sans" pitchFamily="34" charset="-120"/>
              </a:rPr>
              <a:t>  65</a:t>
            </a:r>
            <a:endParaRPr lang="en-US" sz="690" dirty="0"/>
          </a:p>
        </p:txBody>
      </p:sp>
      <p:sp>
        <p:nvSpPr>
          <p:cNvPr id="27" name="Text 25"/>
          <p:cNvSpPr/>
          <p:nvPr/>
        </p:nvSpPr>
        <p:spPr>
          <a:xfrm>
            <a:off x="612000" y="43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Special Club</a:t>
            </a:r>
            <a:r>
              <a:rPr lang="en-US" sz="690" b="1" dirty="0">
                <a:solidFill>
                  <a:srgbClr val="67067C"/>
                </a:solidFill>
                <a:latin typeface="IBM Plex Sans" pitchFamily="34" charset="0"/>
                <a:ea typeface="IBM Plex Sans" pitchFamily="34" charset="-122"/>
                <a:cs typeface="IBM Plex Sans" pitchFamily="34" charset="-120"/>
              </a:rPr>
              <a:t>  40</a:t>
            </a:r>
            <a:r>
              <a:rPr lang="en-US" sz="690" dirty="0">
                <a:solidFill>
                  <a:srgbClr val="46606E"/>
                </a:solidFill>
                <a:latin typeface="IBM Plex Sans" pitchFamily="34" charset="0"/>
                <a:ea typeface="IBM Plex Sans" pitchFamily="34" charset="-122"/>
                <a:cs typeface="IBM Plex Sans" pitchFamily="34" charset="-120"/>
              </a:rPr>
              <a:t>  66</a:t>
            </a:r>
            <a:endParaRPr lang="en-US" sz="690" dirty="0"/>
          </a:p>
        </p:txBody>
      </p:sp>
      <p:sp>
        <p:nvSpPr>
          <p:cNvPr id="28" name="Text 26"/>
          <p:cNvSpPr/>
          <p:nvPr/>
        </p:nvSpPr>
        <p:spPr>
          <a:xfrm>
            <a:off x="612000" y="45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TC</a:t>
            </a:r>
            <a:r>
              <a:rPr lang="en-US" sz="690" b="1" dirty="0">
                <a:solidFill>
                  <a:srgbClr val="67067C"/>
                </a:solidFill>
                <a:latin typeface="IBM Plex Sans" pitchFamily="34" charset="0"/>
                <a:ea typeface="IBM Plex Sans" pitchFamily="34" charset="-122"/>
                <a:cs typeface="IBM Plex Sans" pitchFamily="34" charset="-120"/>
              </a:rPr>
              <a:t>  40</a:t>
            </a:r>
            <a:r>
              <a:rPr lang="en-US" sz="690" dirty="0">
                <a:solidFill>
                  <a:srgbClr val="46606E"/>
                </a:solidFill>
                <a:latin typeface="IBM Plex Sans" pitchFamily="34" charset="0"/>
                <a:ea typeface="IBM Plex Sans" pitchFamily="34" charset="-122"/>
                <a:cs typeface="IBM Plex Sans" pitchFamily="34" charset="-120"/>
              </a:rPr>
              <a:t>  66</a:t>
            </a:r>
            <a:endParaRPr lang="en-US" sz="690" dirty="0"/>
          </a:p>
        </p:txBody>
      </p:sp>
      <p:sp>
        <p:nvSpPr>
          <p:cNvPr id="29" name="Text 27"/>
          <p:cNvSpPr/>
          <p:nvPr/>
        </p:nvSpPr>
        <p:spPr>
          <a:xfrm>
            <a:off x="612000" y="46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Terre de Solemme</a:t>
            </a:r>
            <a:r>
              <a:rPr lang="en-US" sz="690" b="1" dirty="0">
                <a:solidFill>
                  <a:srgbClr val="67067C"/>
                </a:solidFill>
                <a:latin typeface="IBM Plex Sans" pitchFamily="34" charset="0"/>
                <a:ea typeface="IBM Plex Sans" pitchFamily="34" charset="-122"/>
                <a:cs typeface="IBM Plex Sans" pitchFamily="34" charset="-120"/>
              </a:rPr>
              <a:t>  39</a:t>
            </a:r>
            <a:r>
              <a:rPr lang="en-US" sz="690" dirty="0">
                <a:solidFill>
                  <a:srgbClr val="46606E"/>
                </a:solidFill>
                <a:latin typeface="IBM Plex Sans" pitchFamily="34" charset="0"/>
                <a:ea typeface="IBM Plex Sans" pitchFamily="34" charset="-122"/>
                <a:cs typeface="IBM Plex Sans" pitchFamily="34" charset="-120"/>
              </a:rPr>
              <a:t>  65</a:t>
            </a:r>
            <a:endParaRPr lang="en-US" sz="690" dirty="0"/>
          </a:p>
        </p:txBody>
      </p:sp>
      <p:sp>
        <p:nvSpPr>
          <p:cNvPr id="30" name="Text 28"/>
          <p:cNvSpPr/>
          <p:nvPr/>
        </p:nvSpPr>
        <p:spPr>
          <a:xfrm>
            <a:off x="612000" y="47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Terroir Blanc</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63</a:t>
            </a:r>
            <a:endParaRPr lang="en-US" sz="690" dirty="0"/>
          </a:p>
        </p:txBody>
      </p:sp>
      <p:sp>
        <p:nvSpPr>
          <p:cNvPr id="31" name="Text 29"/>
          <p:cNvSpPr/>
          <p:nvPr/>
        </p:nvSpPr>
        <p:spPr>
          <a:xfrm>
            <a:off x="612000" y="48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Terroir Meunier</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63</a:t>
            </a:r>
            <a:endParaRPr lang="en-US" sz="690" dirty="0"/>
          </a:p>
        </p:txBody>
      </p:sp>
      <p:sp>
        <p:nvSpPr>
          <p:cNvPr id="32" name="Text 30"/>
          <p:cNvSpPr/>
          <p:nvPr/>
        </p:nvSpPr>
        <p:spPr>
          <a:xfrm>
            <a:off x="612000" y="50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Terroir Noir</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63</a:t>
            </a:r>
            <a:endParaRPr lang="en-US" sz="690" dirty="0"/>
          </a:p>
        </p:txBody>
      </p:sp>
      <p:sp>
        <p:nvSpPr>
          <p:cNvPr id="33" name="Text 31"/>
          <p:cNvSpPr/>
          <p:nvPr/>
        </p:nvSpPr>
        <p:spPr>
          <a:xfrm>
            <a:off x="612000" y="51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Trois Crus Brut  75 cl</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63</a:t>
            </a:r>
            <a:endParaRPr lang="en-US" sz="690" dirty="0"/>
          </a:p>
        </p:txBody>
      </p:sp>
      <p:sp>
        <p:nvSpPr>
          <p:cNvPr id="34" name="Text 32"/>
          <p:cNvSpPr/>
          <p:nvPr/>
        </p:nvSpPr>
        <p:spPr>
          <a:xfrm>
            <a:off x="612000" y="52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Trois Crus Brut  37,5 cl</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63</a:t>
            </a:r>
            <a:endParaRPr lang="en-US" sz="690" dirty="0"/>
          </a:p>
        </p:txBody>
      </p:sp>
      <p:sp>
        <p:nvSpPr>
          <p:cNvPr id="35" name="Text 33"/>
          <p:cNvSpPr/>
          <p:nvPr/>
        </p:nvSpPr>
        <p:spPr>
          <a:xfrm>
            <a:off x="612000" y="54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Trois Crus Demi-Sec</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63</a:t>
            </a:r>
            <a:endParaRPr lang="en-US" sz="690" dirty="0"/>
          </a:p>
        </p:txBody>
      </p:sp>
      <p:sp>
        <p:nvSpPr>
          <p:cNvPr id="36" name="Text 34"/>
          <p:cNvSpPr/>
          <p:nvPr/>
        </p:nvSpPr>
        <p:spPr>
          <a:xfrm>
            <a:off x="612000" y="55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Trois Crus Extra-Dry</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63</a:t>
            </a:r>
            <a:endParaRPr lang="en-US" sz="690" dirty="0"/>
          </a:p>
        </p:txBody>
      </p:sp>
      <p:sp>
        <p:nvSpPr>
          <p:cNvPr id="37" name="Text 35"/>
          <p:cNvSpPr/>
          <p:nvPr/>
        </p:nvSpPr>
        <p:spPr>
          <a:xfrm>
            <a:off x="612000" y="56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Voglonniers</a:t>
            </a:r>
            <a:r>
              <a:rPr lang="en-US" sz="690" b="1" dirty="0">
                <a:solidFill>
                  <a:srgbClr val="67067C"/>
                </a:solidFill>
                <a:latin typeface="IBM Plex Sans" pitchFamily="34" charset="0"/>
                <a:ea typeface="IBM Plex Sans" pitchFamily="34" charset="-122"/>
                <a:cs typeface="IBM Plex Sans" pitchFamily="34" charset="-120"/>
              </a:rPr>
              <a:t>  37</a:t>
            </a:r>
            <a:r>
              <a:rPr lang="en-US" sz="690" dirty="0">
                <a:solidFill>
                  <a:srgbClr val="46606E"/>
                </a:solidFill>
                <a:latin typeface="IBM Plex Sans" pitchFamily="34" charset="0"/>
                <a:ea typeface="IBM Plex Sans" pitchFamily="34" charset="-122"/>
                <a:cs typeface="IBM Plex Sans" pitchFamily="34" charset="-120"/>
              </a:rPr>
              <a:t>  62</a:t>
            </a:r>
            <a:endParaRPr lang="en-US" sz="690" dirty="0"/>
          </a:p>
        </p:txBody>
      </p:sp>
      <p:sp>
        <p:nvSpPr>
          <p:cNvPr id="38" name="Text 36"/>
          <p:cNvSpPr/>
          <p:nvPr/>
        </p:nvSpPr>
        <p:spPr>
          <a:xfrm>
            <a:off x="612000" y="5778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BLANC</a:t>
            </a:r>
            <a:endParaRPr lang="en-US" sz="800" dirty="0"/>
          </a:p>
        </p:txBody>
      </p:sp>
      <p:sp>
        <p:nvSpPr>
          <p:cNvPr id="39" name="Text 37"/>
          <p:cNvSpPr/>
          <p:nvPr/>
        </p:nvSpPr>
        <p:spPr>
          <a:xfrm>
            <a:off x="612000" y="59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Adn 24  75 cl</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40" name="Text 38"/>
          <p:cNvSpPr/>
          <p:nvPr/>
        </p:nvSpPr>
        <p:spPr>
          <a:xfrm>
            <a:off x="612000" y="60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Aillargues</a:t>
            </a:r>
            <a:r>
              <a:rPr lang="en-US" sz="690" b="1" dirty="0">
                <a:solidFill>
                  <a:srgbClr val="67067C"/>
                </a:solidFill>
                <a:latin typeface="IBM Plex Sans" pitchFamily="34" charset="0"/>
                <a:ea typeface="IBM Plex Sans" pitchFamily="34" charset="-122"/>
                <a:cs typeface="IBM Plex Sans" pitchFamily="34" charset="-120"/>
              </a:rPr>
              <a:t>  35</a:t>
            </a:r>
            <a:r>
              <a:rPr lang="en-US" sz="690" dirty="0">
                <a:solidFill>
                  <a:srgbClr val="46606E"/>
                </a:solidFill>
                <a:latin typeface="IBM Plex Sans" pitchFamily="34" charset="0"/>
                <a:ea typeface="IBM Plex Sans" pitchFamily="34" charset="-122"/>
                <a:cs typeface="IBM Plex Sans" pitchFamily="34" charset="-120"/>
              </a:rPr>
              <a:t>  58</a:t>
            </a:r>
            <a:endParaRPr lang="en-US" sz="690" dirty="0"/>
          </a:p>
        </p:txBody>
      </p:sp>
      <p:sp>
        <p:nvSpPr>
          <p:cNvPr id="41" name="Text 39"/>
          <p:cNvSpPr/>
          <p:nvPr/>
        </p:nvSpPr>
        <p:spPr>
          <a:xfrm>
            <a:off x="612000" y="61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Beaujolais-Lancié</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18</a:t>
            </a:r>
            <a:endParaRPr lang="en-US" sz="690" dirty="0"/>
          </a:p>
        </p:txBody>
      </p:sp>
      <p:sp>
        <p:nvSpPr>
          <p:cNvPr id="42" name="Text 40"/>
          <p:cNvSpPr/>
          <p:nvPr/>
        </p:nvSpPr>
        <p:spPr>
          <a:xfrm>
            <a:off x="612000" y="62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Bourgogne Chardonnay</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18</a:t>
            </a:r>
            <a:endParaRPr lang="en-US" sz="690" dirty="0"/>
          </a:p>
        </p:txBody>
      </p:sp>
      <p:sp>
        <p:nvSpPr>
          <p:cNvPr id="43" name="Text 41"/>
          <p:cNvSpPr/>
          <p:nvPr/>
        </p:nvSpPr>
        <p:spPr>
          <a:xfrm>
            <a:off x="612000" y="64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CDR villages Sablet  75 cl</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33</a:t>
            </a:r>
            <a:endParaRPr lang="en-US" sz="690" dirty="0"/>
          </a:p>
        </p:txBody>
      </p:sp>
      <p:sp>
        <p:nvSpPr>
          <p:cNvPr id="44" name="Text 42"/>
          <p:cNvSpPr/>
          <p:nvPr/>
        </p:nvSpPr>
        <p:spPr>
          <a:xfrm>
            <a:off x="2652000" y="16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Chablis</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45" name="Text 43"/>
          <p:cNvSpPr/>
          <p:nvPr/>
        </p:nvSpPr>
        <p:spPr>
          <a:xfrm>
            <a:off x="2652000" y="17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Chablis 1er Cru</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46" name="Text 44"/>
          <p:cNvSpPr/>
          <p:nvPr/>
        </p:nvSpPr>
        <p:spPr>
          <a:xfrm>
            <a:off x="2652000" y="18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Mâcon</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22</a:t>
            </a:r>
            <a:endParaRPr lang="en-US" sz="690" dirty="0"/>
          </a:p>
        </p:txBody>
      </p:sp>
      <p:sp>
        <p:nvSpPr>
          <p:cNvPr id="47" name="Text 45"/>
          <p:cNvSpPr/>
          <p:nvPr/>
        </p:nvSpPr>
        <p:spPr>
          <a:xfrm>
            <a:off x="2652000" y="19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Mâcon Solutré-Pouilly</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22</a:t>
            </a:r>
            <a:endParaRPr lang="en-US" sz="690" dirty="0"/>
          </a:p>
        </p:txBody>
      </p:sp>
      <p:sp>
        <p:nvSpPr>
          <p:cNvPr id="48" name="Text 46"/>
          <p:cNvSpPr/>
          <p:nvPr/>
        </p:nvSpPr>
        <p:spPr>
          <a:xfrm>
            <a:off x="2652000" y="21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Mâcon-Villages</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18</a:t>
            </a:r>
            <a:endParaRPr lang="en-US" sz="690" dirty="0"/>
          </a:p>
        </p:txBody>
      </p:sp>
      <p:sp>
        <p:nvSpPr>
          <p:cNvPr id="49" name="Text 47"/>
          <p:cNvSpPr/>
          <p:nvPr/>
        </p:nvSpPr>
        <p:spPr>
          <a:xfrm>
            <a:off x="2652000" y="22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Menetou-Salon</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50" name="Text 48"/>
          <p:cNvSpPr/>
          <p:nvPr/>
        </p:nvSpPr>
        <p:spPr>
          <a:xfrm>
            <a:off x="2652000" y="23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Muscadet</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51" name="Text 49"/>
          <p:cNvSpPr/>
          <p:nvPr/>
        </p:nvSpPr>
        <p:spPr>
          <a:xfrm>
            <a:off x="2652000" y="25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Pacherenc du Vic-Bilh Sec</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52" name="Text 50"/>
          <p:cNvSpPr/>
          <p:nvPr/>
        </p:nvSpPr>
        <p:spPr>
          <a:xfrm>
            <a:off x="2652000" y="26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Petit Chablis</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53" name="Text 51"/>
          <p:cNvSpPr/>
          <p:nvPr/>
        </p:nvSpPr>
        <p:spPr>
          <a:xfrm>
            <a:off x="2652000" y="27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Pouilly-Fumé</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54" name="Text 52"/>
          <p:cNvSpPr/>
          <p:nvPr/>
        </p:nvSpPr>
        <p:spPr>
          <a:xfrm>
            <a:off x="2652000" y="28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Quincy</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55" name="Text 53"/>
          <p:cNvSpPr/>
          <p:nvPr/>
        </p:nvSpPr>
        <p:spPr>
          <a:xfrm>
            <a:off x="2652000" y="300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Saint-Bris</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56" name="Text 54"/>
          <p:cNvSpPr/>
          <p:nvPr/>
        </p:nvSpPr>
        <p:spPr>
          <a:xfrm>
            <a:off x="2652000" y="313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Saint-Véran</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22</a:t>
            </a:r>
            <a:endParaRPr lang="en-US" sz="690" dirty="0"/>
          </a:p>
        </p:txBody>
      </p:sp>
      <p:sp>
        <p:nvSpPr>
          <p:cNvPr id="57" name="Text 55"/>
          <p:cNvSpPr/>
          <p:nvPr/>
        </p:nvSpPr>
        <p:spPr>
          <a:xfrm>
            <a:off x="2652000" y="325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Saint-Véran</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58" name="Text 56"/>
          <p:cNvSpPr/>
          <p:nvPr/>
        </p:nvSpPr>
        <p:spPr>
          <a:xfrm>
            <a:off x="2652000" y="338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Sancerre  2024/2025</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59" name="Text 57"/>
          <p:cNvSpPr/>
          <p:nvPr/>
        </p:nvSpPr>
        <p:spPr>
          <a:xfrm>
            <a:off x="2652000" y="351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Touraine Chenonceaux</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60" name="Text 58"/>
          <p:cNvSpPr/>
          <p:nvPr/>
        </p:nvSpPr>
        <p:spPr>
          <a:xfrm>
            <a:off x="2652000" y="363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Viré-Clessé</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22</a:t>
            </a:r>
            <a:endParaRPr lang="en-US" sz="690" dirty="0"/>
          </a:p>
        </p:txBody>
      </p:sp>
      <p:sp>
        <p:nvSpPr>
          <p:cNvPr id="61" name="Text 59"/>
          <p:cNvSpPr/>
          <p:nvPr/>
        </p:nvSpPr>
        <p:spPr>
          <a:xfrm>
            <a:off x="2652000" y="376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Beaune 1er Cru</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62" name="Text 60"/>
          <p:cNvSpPr/>
          <p:nvPr/>
        </p:nvSpPr>
        <p:spPr>
          <a:xfrm>
            <a:off x="2652000" y="388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Blanc Albas</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59</a:t>
            </a:r>
            <a:endParaRPr lang="en-US" sz="690" dirty="0"/>
          </a:p>
        </p:txBody>
      </p:sp>
      <p:sp>
        <p:nvSpPr>
          <p:cNvPr id="63" name="Text 61"/>
          <p:cNvSpPr/>
          <p:nvPr/>
        </p:nvSpPr>
        <p:spPr>
          <a:xfrm>
            <a:off x="2652000" y="401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BLANC SÉRAME</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54</a:t>
            </a:r>
            <a:endParaRPr lang="en-US" sz="690" dirty="0"/>
          </a:p>
        </p:txBody>
      </p:sp>
      <p:sp>
        <p:nvSpPr>
          <p:cNvPr id="64" name="Text 62"/>
          <p:cNvSpPr/>
          <p:nvPr/>
        </p:nvSpPr>
        <p:spPr>
          <a:xfrm>
            <a:off x="2652000" y="41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Bourgogne Aligoté</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65" name="Text 63"/>
          <p:cNvSpPr/>
          <p:nvPr/>
        </p:nvSpPr>
        <p:spPr>
          <a:xfrm>
            <a:off x="2652000" y="42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Bourgogne Aligoté</a:t>
            </a:r>
            <a:r>
              <a:rPr lang="en-US" sz="690" b="1" dirty="0">
                <a:solidFill>
                  <a:srgbClr val="67067C"/>
                </a:solidFill>
                <a:latin typeface="IBM Plex Sans" pitchFamily="34" charset="0"/>
                <a:ea typeface="IBM Plex Sans" pitchFamily="34" charset="-122"/>
                <a:cs typeface="IBM Plex Sans" pitchFamily="34" charset="-120"/>
              </a:rPr>
              <a:t>  13</a:t>
            </a: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66" name="Text 64"/>
          <p:cNvSpPr/>
          <p:nvPr/>
        </p:nvSpPr>
        <p:spPr>
          <a:xfrm>
            <a:off x="2652000" y="43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Bourgogne Aligoté</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26</a:t>
            </a:r>
            <a:endParaRPr lang="en-US" sz="690" dirty="0"/>
          </a:p>
        </p:txBody>
      </p:sp>
      <p:sp>
        <p:nvSpPr>
          <p:cNvPr id="67" name="Text 65"/>
          <p:cNvSpPr/>
          <p:nvPr/>
        </p:nvSpPr>
        <p:spPr>
          <a:xfrm>
            <a:off x="2652000" y="45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Bourgogne Chardonnay</a:t>
            </a:r>
            <a:r>
              <a:rPr lang="en-US" sz="690" b="1" dirty="0">
                <a:solidFill>
                  <a:srgbClr val="67067C"/>
                </a:solidFill>
                <a:latin typeface="IBM Plex Sans" pitchFamily="34" charset="0"/>
                <a:ea typeface="IBM Plex Sans" pitchFamily="34" charset="-122"/>
                <a:cs typeface="IBM Plex Sans" pitchFamily="34" charset="-120"/>
              </a:rPr>
              <a:t>  13</a:t>
            </a: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68" name="Text 66"/>
          <p:cNvSpPr/>
          <p:nvPr/>
        </p:nvSpPr>
        <p:spPr>
          <a:xfrm>
            <a:off x="2652000" y="46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Bourgogne Chardonnay</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26</a:t>
            </a:r>
            <a:endParaRPr lang="en-US" sz="690" dirty="0"/>
          </a:p>
        </p:txBody>
      </p:sp>
      <p:sp>
        <p:nvSpPr>
          <p:cNvPr id="69" name="Text 67"/>
          <p:cNvSpPr/>
          <p:nvPr/>
        </p:nvSpPr>
        <p:spPr>
          <a:xfrm>
            <a:off x="2652000" y="47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Bruderthal (Gewurztraminer)</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70" name="Text 68"/>
          <p:cNvSpPr/>
          <p:nvPr/>
        </p:nvSpPr>
        <p:spPr>
          <a:xfrm>
            <a:off x="2652000" y="48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Bruderthal (Riesling)</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71" name="Text 69"/>
          <p:cNvSpPr/>
          <p:nvPr/>
        </p:nvSpPr>
        <p:spPr>
          <a:xfrm>
            <a:off x="2652000" y="50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CARDUELIS</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54</a:t>
            </a:r>
            <a:endParaRPr lang="en-US" sz="690" dirty="0"/>
          </a:p>
        </p:txBody>
      </p:sp>
      <p:sp>
        <p:nvSpPr>
          <p:cNvPr id="72" name="Text 70"/>
          <p:cNvSpPr/>
          <p:nvPr/>
        </p:nvSpPr>
        <p:spPr>
          <a:xfrm>
            <a:off x="2652000" y="51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Chardonnay</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73" name="Text 71"/>
          <p:cNvSpPr/>
          <p:nvPr/>
        </p:nvSpPr>
        <p:spPr>
          <a:xfrm>
            <a:off x="2652000" y="52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Lamothe Bouscaut  75 cl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74" name="Text 72"/>
          <p:cNvSpPr/>
          <p:nvPr/>
        </p:nvSpPr>
        <p:spPr>
          <a:xfrm>
            <a:off x="2652000" y="54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Chêne à la Rouline</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75" name="Text 73"/>
          <p:cNvSpPr/>
          <p:nvPr/>
        </p:nvSpPr>
        <p:spPr>
          <a:xfrm>
            <a:off x="2652000" y="55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Chêne Marchand</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76" name="Text 74"/>
          <p:cNvSpPr/>
          <p:nvPr/>
        </p:nvSpPr>
        <p:spPr>
          <a:xfrm>
            <a:off x="2652000" y="56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Clos Reyssier</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77" name="Text 75"/>
          <p:cNvSpPr/>
          <p:nvPr/>
        </p:nvSpPr>
        <p:spPr>
          <a:xfrm>
            <a:off x="2652000" y="57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Côtes du Rhône  75 cl</a:t>
            </a:r>
            <a:r>
              <a:rPr lang="en-US" sz="690" b="1" dirty="0">
                <a:solidFill>
                  <a:srgbClr val="67067C"/>
                </a:solidFill>
                <a:latin typeface="IBM Plex Sans" pitchFamily="34" charset="0"/>
                <a:ea typeface="IBM Plex Sans" pitchFamily="34" charset="-122"/>
                <a:cs typeface="IBM Plex Sans" pitchFamily="34" charset="-120"/>
              </a:rPr>
              <a:t>  18</a:t>
            </a:r>
            <a:r>
              <a:rPr lang="en-US" sz="690" dirty="0">
                <a:solidFill>
                  <a:srgbClr val="46606E"/>
                </a:solidFill>
                <a:latin typeface="IBM Plex Sans" pitchFamily="34" charset="0"/>
                <a:ea typeface="IBM Plex Sans" pitchFamily="34" charset="-122"/>
                <a:cs typeface="IBM Plex Sans" pitchFamily="34" charset="-120"/>
              </a:rPr>
              <a:t>  31</a:t>
            </a:r>
            <a:endParaRPr lang="en-US" sz="690" dirty="0"/>
          </a:p>
        </p:txBody>
      </p:sp>
      <p:sp>
        <p:nvSpPr>
          <p:cNvPr id="78" name="Text 76"/>
          <p:cNvSpPr/>
          <p:nvPr/>
        </p:nvSpPr>
        <p:spPr>
          <a:xfrm>
            <a:off x="2652000" y="59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Courant – Chenin</a:t>
            </a:r>
            <a:r>
              <a:rPr lang="en-US" sz="690" b="1" dirty="0">
                <a:solidFill>
                  <a:srgbClr val="67067C"/>
                </a:solidFill>
                <a:latin typeface="IBM Plex Sans" pitchFamily="34" charset="0"/>
                <a:ea typeface="IBM Plex Sans" pitchFamily="34" charset="-122"/>
                <a:cs typeface="IBM Plex Sans" pitchFamily="34" charset="-120"/>
              </a:rPr>
              <a:t>  5</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79" name="Text 77"/>
          <p:cNvSpPr/>
          <p:nvPr/>
        </p:nvSpPr>
        <p:spPr>
          <a:xfrm>
            <a:off x="2652000" y="60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CRU Mouzillon – Tillières</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80" name="Text 78"/>
          <p:cNvSpPr/>
          <p:nvPr/>
        </p:nvSpPr>
        <p:spPr>
          <a:xfrm>
            <a:off x="2652000" y="61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Denise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81" name="Text 79"/>
          <p:cNvSpPr/>
          <p:nvPr/>
        </p:nvSpPr>
        <p:spPr>
          <a:xfrm>
            <a:off x="2652000" y="62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des deux Colombes</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82" name="Text 80"/>
          <p:cNvSpPr/>
          <p:nvPr/>
        </p:nvSpPr>
        <p:spPr>
          <a:xfrm>
            <a:off x="2652000" y="64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domaine</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83" name="Text 81"/>
          <p:cNvSpPr/>
          <p:nvPr/>
        </p:nvSpPr>
        <p:spPr>
          <a:xfrm>
            <a:off x="4692000" y="16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Fines Bulles</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84" name="Text 82"/>
          <p:cNvSpPr/>
          <p:nvPr/>
        </p:nvSpPr>
        <p:spPr>
          <a:xfrm>
            <a:off x="4692000" y="17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François Reverdy – Graves Argileuses</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85" name="Text 83"/>
          <p:cNvSpPr/>
          <p:nvPr/>
        </p:nvSpPr>
        <p:spPr>
          <a:xfrm>
            <a:off x="4692000" y="18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François Reverdy – Les Villaudes</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86" name="Text 84"/>
          <p:cNvSpPr/>
          <p:nvPr/>
        </p:nvSpPr>
        <p:spPr>
          <a:xfrm>
            <a:off x="4692000" y="19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François Reverdy – Schistes Vert</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87" name="Text 85"/>
          <p:cNvSpPr/>
          <p:nvPr/>
        </p:nvSpPr>
        <p:spPr>
          <a:xfrm>
            <a:off x="4692000" y="21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François Reverdy – Tuffeau</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88" name="Text 86"/>
          <p:cNvSpPr/>
          <p:nvPr/>
        </p:nvSpPr>
        <p:spPr>
          <a:xfrm>
            <a:off x="4692000" y="22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Grain de Blanc</a:t>
            </a:r>
            <a:r>
              <a:rPr lang="en-US" sz="690" b="1" dirty="0">
                <a:solidFill>
                  <a:srgbClr val="67067C"/>
                </a:solidFill>
                <a:latin typeface="IBM Plex Sans" pitchFamily="34" charset="0"/>
                <a:ea typeface="IBM Plex Sans" pitchFamily="34" charset="-122"/>
                <a:cs typeface="IBM Plex Sans" pitchFamily="34" charset="-120"/>
              </a:rPr>
              <a:t>  34</a:t>
            </a:r>
            <a:r>
              <a:rPr lang="en-US" sz="690" dirty="0">
                <a:solidFill>
                  <a:srgbClr val="46606E"/>
                </a:solidFill>
                <a:latin typeface="IBM Plex Sans" pitchFamily="34" charset="0"/>
                <a:ea typeface="IBM Plex Sans" pitchFamily="34" charset="-122"/>
                <a:cs typeface="IBM Plex Sans" pitchFamily="34" charset="-120"/>
              </a:rPr>
              <a:t>  57</a:t>
            </a:r>
            <a:endParaRPr lang="en-US" sz="690" dirty="0"/>
          </a:p>
        </p:txBody>
      </p:sp>
      <p:sp>
        <p:nvSpPr>
          <p:cNvPr id="89" name="Text 87"/>
          <p:cNvSpPr/>
          <p:nvPr/>
        </p:nvSpPr>
        <p:spPr>
          <a:xfrm>
            <a:off x="4692000" y="23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Hahnenberg (Riesling)</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90" name="Text 88"/>
          <p:cNvSpPr/>
          <p:nvPr/>
        </p:nvSpPr>
        <p:spPr>
          <a:xfrm>
            <a:off x="4692000" y="25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Hautes-Côtes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91" name="Text 89"/>
          <p:cNvSpPr/>
          <p:nvPr/>
        </p:nvSpPr>
        <p:spPr>
          <a:xfrm>
            <a:off x="4692000" y="26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Holderhurst (Riesling)</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92" name="Text 90"/>
          <p:cNvSpPr/>
          <p:nvPr/>
        </p:nvSpPr>
        <p:spPr>
          <a:xfrm>
            <a:off x="4692000" y="27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Chardonnay</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93" name="Text 91"/>
          <p:cNvSpPr/>
          <p:nvPr/>
        </p:nvSpPr>
        <p:spPr>
          <a:xfrm>
            <a:off x="4692000" y="28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Sauvignon</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94" name="Text 92"/>
          <p:cNvSpPr/>
          <p:nvPr/>
        </p:nvSpPr>
        <p:spPr>
          <a:xfrm>
            <a:off x="4692000" y="300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Val de Loire Chenin</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95" name="Text 93"/>
          <p:cNvSpPr/>
          <p:nvPr/>
        </p:nvSpPr>
        <p:spPr>
          <a:xfrm>
            <a:off x="4692000" y="313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Val de Loire Sauvignon</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96" name="Text 94"/>
          <p:cNvSpPr/>
          <p:nvPr/>
        </p:nvSpPr>
        <p:spPr>
          <a:xfrm>
            <a:off x="4692000" y="325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JARDINS DE CORBIÈRES  75 cl</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54</a:t>
            </a:r>
            <a:endParaRPr lang="en-US" sz="690" dirty="0"/>
          </a:p>
        </p:txBody>
      </p:sp>
      <p:sp>
        <p:nvSpPr>
          <p:cNvPr id="97" name="Text 95"/>
          <p:cNvSpPr/>
          <p:nvPr/>
        </p:nvSpPr>
        <p:spPr>
          <a:xfrm>
            <a:off x="4692000" y="338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JOIO  75 cl</a:t>
            </a:r>
            <a:r>
              <a:rPr lang="en-US" sz="690" b="1" dirty="0">
                <a:solidFill>
                  <a:srgbClr val="67067C"/>
                </a:solidFill>
                <a:latin typeface="IBM Plex Sans" pitchFamily="34" charset="0"/>
                <a:ea typeface="IBM Plex Sans" pitchFamily="34" charset="-122"/>
                <a:cs typeface="IBM Plex Sans" pitchFamily="34" charset="-120"/>
              </a:rPr>
              <a:t>  31</a:t>
            </a:r>
            <a:r>
              <a:rPr lang="en-US" sz="690" dirty="0">
                <a:solidFill>
                  <a:srgbClr val="46606E"/>
                </a:solidFill>
                <a:latin typeface="IBM Plex Sans" pitchFamily="34" charset="0"/>
                <a:ea typeface="IBM Plex Sans" pitchFamily="34" charset="-122"/>
                <a:cs typeface="IBM Plex Sans" pitchFamily="34" charset="-120"/>
              </a:rPr>
              <a:t>  52</a:t>
            </a:r>
            <a:endParaRPr lang="en-US" sz="690" dirty="0"/>
          </a:p>
        </p:txBody>
      </p:sp>
      <p:sp>
        <p:nvSpPr>
          <p:cNvPr id="98" name="Text 96"/>
          <p:cNvSpPr/>
          <p:nvPr/>
        </p:nvSpPr>
        <p:spPr>
          <a:xfrm>
            <a:off x="4692000" y="351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JOIO  150 cl</a:t>
            </a:r>
            <a:r>
              <a:rPr lang="en-US" sz="690" b="1" dirty="0">
                <a:solidFill>
                  <a:srgbClr val="67067C"/>
                </a:solidFill>
                <a:latin typeface="IBM Plex Sans" pitchFamily="34" charset="0"/>
                <a:ea typeface="IBM Plex Sans" pitchFamily="34" charset="-122"/>
                <a:cs typeface="IBM Plex Sans" pitchFamily="34" charset="-120"/>
              </a:rPr>
              <a:t>  31</a:t>
            </a:r>
            <a:r>
              <a:rPr lang="en-US" sz="690" dirty="0">
                <a:solidFill>
                  <a:srgbClr val="46606E"/>
                </a:solidFill>
                <a:latin typeface="IBM Plex Sans" pitchFamily="34" charset="0"/>
                <a:ea typeface="IBM Plex Sans" pitchFamily="34" charset="-122"/>
                <a:cs typeface="IBM Plex Sans" pitchFamily="34" charset="-120"/>
              </a:rPr>
              <a:t>  52</a:t>
            </a:r>
            <a:endParaRPr lang="en-US" sz="690" dirty="0"/>
          </a:p>
        </p:txBody>
      </p:sp>
      <p:sp>
        <p:nvSpPr>
          <p:cNvPr id="99" name="Text 97"/>
          <p:cNvSpPr/>
          <p:nvPr/>
        </p:nvSpPr>
        <p:spPr>
          <a:xfrm>
            <a:off x="4692000" y="363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Grange Jaumain – Chenin Blanc</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100" name="Text 98"/>
          <p:cNvSpPr/>
          <p:nvPr/>
        </p:nvSpPr>
        <p:spPr>
          <a:xfrm>
            <a:off x="4692000" y="376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MUSCARIS</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54</a:t>
            </a:r>
            <a:endParaRPr lang="en-US" sz="690" dirty="0"/>
          </a:p>
        </p:txBody>
      </p:sp>
      <p:sp>
        <p:nvSpPr>
          <p:cNvPr id="101" name="Text 99"/>
          <p:cNvSpPr/>
          <p:nvPr/>
        </p:nvSpPr>
        <p:spPr>
          <a:xfrm>
            <a:off x="4692000" y="388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Prestige de Beaulieu</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102" name="Text 100"/>
          <p:cNvSpPr/>
          <p:nvPr/>
        </p:nvSpPr>
        <p:spPr>
          <a:xfrm>
            <a:off x="4692000" y="401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Leimen (Sylvaner)</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103" name="Text 101"/>
          <p:cNvSpPr/>
          <p:nvPr/>
        </p:nvSpPr>
        <p:spPr>
          <a:xfrm>
            <a:off x="4692000" y="41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Amphibol</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104" name="Text 102"/>
          <p:cNvSpPr/>
          <p:nvPr/>
        </p:nvSpPr>
        <p:spPr>
          <a:xfrm>
            <a:off x="4692000" y="42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Folatières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105" name="Text 103"/>
          <p:cNvSpPr/>
          <p:nvPr/>
        </p:nvSpPr>
        <p:spPr>
          <a:xfrm>
            <a:off x="4692000" y="43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Genièvres</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106" name="Text 104"/>
          <p:cNvSpPr/>
          <p:nvPr/>
        </p:nvSpPr>
        <p:spPr>
          <a:xfrm>
            <a:off x="4692000" y="45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Gorinières</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107" name="Text 105"/>
          <p:cNvSpPr/>
          <p:nvPr/>
        </p:nvSpPr>
        <p:spPr>
          <a:xfrm>
            <a:off x="4692000" y="46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Grands Charrons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108" name="Text 106"/>
          <p:cNvSpPr/>
          <p:nvPr/>
        </p:nvSpPr>
        <p:spPr>
          <a:xfrm>
            <a:off x="4692000" y="47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Meix Chavaux</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109" name="Text 107"/>
          <p:cNvSpPr/>
          <p:nvPr/>
        </p:nvSpPr>
        <p:spPr>
          <a:xfrm>
            <a:off x="4692000" y="48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Silex  2024</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110" name="Text 108"/>
          <p:cNvSpPr/>
          <p:nvPr/>
        </p:nvSpPr>
        <p:spPr>
          <a:xfrm>
            <a:off x="4692000" y="50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Silex Blancs</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111" name="Text 109"/>
          <p:cNvSpPr/>
          <p:nvPr/>
        </p:nvSpPr>
        <p:spPr>
          <a:xfrm>
            <a:off x="4692000" y="51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Vireuils</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112" name="Text 110"/>
          <p:cNvSpPr/>
          <p:nvPr/>
        </p:nvSpPr>
        <p:spPr>
          <a:xfrm>
            <a:off x="4692000" y="52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Lise-Marie</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22</a:t>
            </a:r>
            <a:endParaRPr lang="en-US" sz="690" dirty="0"/>
          </a:p>
        </p:txBody>
      </p:sp>
      <p:sp>
        <p:nvSpPr>
          <p:cNvPr id="113" name="Text 111"/>
          <p:cNvSpPr/>
          <p:nvPr/>
        </p:nvSpPr>
        <p:spPr>
          <a:xfrm>
            <a:off x="4692000" y="54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Mâcon Chardonnay</a:t>
            </a:r>
            <a:r>
              <a:rPr lang="en-US" sz="690" b="1" dirty="0">
                <a:solidFill>
                  <a:srgbClr val="67067C"/>
                </a:solidFill>
                <a:latin typeface="IBM Plex Sans" pitchFamily="34" charset="0"/>
                <a:ea typeface="IBM Plex Sans" pitchFamily="34" charset="-122"/>
                <a:cs typeface="IBM Plex Sans" pitchFamily="34" charset="-120"/>
              </a:rPr>
              <a:t>  15</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14" name="Text 112"/>
          <p:cNvSpPr/>
          <p:nvPr/>
        </p:nvSpPr>
        <p:spPr>
          <a:xfrm>
            <a:off x="4692000" y="55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Mâcon Mancey  75 cl</a:t>
            </a:r>
            <a:r>
              <a:rPr lang="en-US" sz="690" b="1" dirty="0">
                <a:solidFill>
                  <a:srgbClr val="67067C"/>
                </a:solidFill>
                <a:latin typeface="IBM Plex Sans" pitchFamily="34" charset="0"/>
                <a:ea typeface="IBM Plex Sans" pitchFamily="34" charset="-122"/>
                <a:cs typeface="IBM Plex Sans" pitchFamily="34" charset="-120"/>
              </a:rPr>
              <a:t>  15</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15" name="Text 113"/>
          <p:cNvSpPr/>
          <p:nvPr/>
        </p:nvSpPr>
        <p:spPr>
          <a:xfrm>
            <a:off x="4692000" y="56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Marnes Kimméridgiennes</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116" name="Text 114"/>
          <p:cNvSpPr/>
          <p:nvPr/>
        </p:nvSpPr>
        <p:spPr>
          <a:xfrm>
            <a:off x="4692000" y="57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Molse Blanc (Assemblage)</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117" name="Text 115"/>
          <p:cNvSpPr/>
          <p:nvPr/>
        </p:nvSpPr>
        <p:spPr>
          <a:xfrm>
            <a:off x="4692000" y="59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N°1 Littorine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118" name="Text 116"/>
          <p:cNvSpPr/>
          <p:nvPr/>
        </p:nvSpPr>
        <p:spPr>
          <a:xfrm>
            <a:off x="4692000" y="60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N°2 Amande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119" name="Text 117"/>
          <p:cNvSpPr/>
          <p:nvPr/>
        </p:nvSpPr>
        <p:spPr>
          <a:xfrm>
            <a:off x="4692000" y="61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N°6 Fossiles</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120" name="Text 118"/>
          <p:cNvSpPr/>
          <p:nvPr/>
        </p:nvSpPr>
        <p:spPr>
          <a:xfrm>
            <a:off x="4692000" y="62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OENA</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54</a:t>
            </a:r>
            <a:endParaRPr lang="en-US" sz="690" dirty="0"/>
          </a:p>
        </p:txBody>
      </p:sp>
      <p:sp>
        <p:nvSpPr>
          <p:cNvPr id="121" name="Text 119"/>
          <p:cNvSpPr/>
          <p:nvPr/>
        </p:nvSpPr>
        <p:spPr>
          <a:xfrm>
            <a:off x="4692000" y="64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PETIT JARDIN  75 cl</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54</a:t>
            </a:r>
            <a:endParaRPr lang="en-US" sz="690" dirty="0"/>
          </a:p>
        </p:txBody>
      </p:sp>
      <p:sp>
        <p:nvSpPr>
          <p:cNvPr id="122" name="Text 120"/>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67</a:t>
            </a:r>
            <a:endParaRPr lang="en-US" sz="750" dirty="0"/>
          </a:p>
        </p:txBody>
      </p:sp>
      <p:sp>
        <p:nvSpPr>
          <p:cNvPr id="123" name="Text 121"/>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828000" y="5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Petit Valoux</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3" name="Text 1"/>
          <p:cNvSpPr/>
          <p:nvPr/>
        </p:nvSpPr>
        <p:spPr>
          <a:xfrm>
            <a:off x="828000" y="6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Pfann (Pinot Gris)</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4" name="Text 2"/>
          <p:cNvSpPr/>
          <p:nvPr/>
        </p:nvSpPr>
        <p:spPr>
          <a:xfrm>
            <a:off x="828000" y="7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Pouilly</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22</a:t>
            </a:r>
            <a:endParaRPr lang="en-US" sz="690" dirty="0"/>
          </a:p>
        </p:txBody>
      </p:sp>
      <p:sp>
        <p:nvSpPr>
          <p:cNvPr id="5" name="Text 3"/>
          <p:cNvSpPr/>
          <p:nvPr/>
        </p:nvSpPr>
        <p:spPr>
          <a:xfrm>
            <a:off x="828000" y="9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Première Fleur</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6" name="Text 4"/>
          <p:cNvSpPr/>
          <p:nvPr/>
        </p:nvSpPr>
        <p:spPr>
          <a:xfrm>
            <a:off x="828000" y="10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Promenade des Noëls</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7" name="Text 5"/>
          <p:cNvSpPr/>
          <p:nvPr/>
        </p:nvSpPr>
        <p:spPr>
          <a:xfrm>
            <a:off x="828000" y="11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Saint Anastasie</a:t>
            </a:r>
            <a:r>
              <a:rPr lang="en-US" sz="690" b="1" dirty="0">
                <a:solidFill>
                  <a:srgbClr val="67067C"/>
                </a:solidFill>
                <a:latin typeface="IBM Plex Sans" pitchFamily="34" charset="0"/>
                <a:ea typeface="IBM Plex Sans" pitchFamily="34" charset="-122"/>
                <a:cs typeface="IBM Plex Sans" pitchFamily="34" charset="-120"/>
              </a:rPr>
              <a:t>  35</a:t>
            </a:r>
            <a:r>
              <a:rPr lang="en-US" sz="690" dirty="0">
                <a:solidFill>
                  <a:srgbClr val="46606E"/>
                </a:solidFill>
                <a:latin typeface="IBM Plex Sans" pitchFamily="34" charset="0"/>
                <a:ea typeface="IBM Plex Sans" pitchFamily="34" charset="-122"/>
                <a:cs typeface="IBM Plex Sans" pitchFamily="34" charset="-120"/>
              </a:rPr>
              <a:t>  58</a:t>
            </a:r>
            <a:endParaRPr lang="en-US" sz="690" dirty="0"/>
          </a:p>
        </p:txBody>
      </p:sp>
      <p:sp>
        <p:nvSpPr>
          <p:cNvPr id="8" name="Text 6"/>
          <p:cNvSpPr/>
          <p:nvPr/>
        </p:nvSpPr>
        <p:spPr>
          <a:xfrm>
            <a:off x="828000" y="12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SAINT PROBACE  75 cl</a:t>
            </a:r>
            <a:r>
              <a:rPr lang="en-US" sz="690" b="1" dirty="0">
                <a:solidFill>
                  <a:srgbClr val="67067C"/>
                </a:solidFill>
                <a:latin typeface="IBM Plex Sans" pitchFamily="34" charset="0"/>
                <a:ea typeface="IBM Plex Sans" pitchFamily="34" charset="-122"/>
                <a:cs typeface="IBM Plex Sans" pitchFamily="34" charset="-120"/>
              </a:rPr>
              <a:t>  31</a:t>
            </a:r>
            <a:r>
              <a:rPr lang="en-US" sz="690" dirty="0">
                <a:solidFill>
                  <a:srgbClr val="46606E"/>
                </a:solidFill>
                <a:latin typeface="IBM Plex Sans" pitchFamily="34" charset="0"/>
                <a:ea typeface="IBM Plex Sans" pitchFamily="34" charset="-122"/>
                <a:cs typeface="IBM Plex Sans" pitchFamily="34" charset="-120"/>
              </a:rPr>
              <a:t>  52</a:t>
            </a:r>
            <a:endParaRPr lang="en-US" sz="690" dirty="0"/>
          </a:p>
        </p:txBody>
      </p:sp>
      <p:sp>
        <p:nvSpPr>
          <p:cNvPr id="9" name="Text 7"/>
          <p:cNvSpPr/>
          <p:nvPr/>
        </p:nvSpPr>
        <p:spPr>
          <a:xfrm>
            <a:off x="828000" y="14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Sauvignon</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10" name="Text 8"/>
          <p:cNvSpPr/>
          <p:nvPr/>
        </p:nvSpPr>
        <p:spPr>
          <a:xfrm>
            <a:off x="828000" y="15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SAUVIGNON 9,5°</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54</a:t>
            </a:r>
            <a:endParaRPr lang="en-US" sz="690" dirty="0"/>
          </a:p>
        </p:txBody>
      </p:sp>
      <p:sp>
        <p:nvSpPr>
          <p:cNvPr id="11" name="Text 9"/>
          <p:cNvSpPr/>
          <p:nvPr/>
        </p:nvSpPr>
        <p:spPr>
          <a:xfrm>
            <a:off x="828000" y="16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Signature</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22</a:t>
            </a:r>
            <a:endParaRPr lang="en-US" sz="690" dirty="0"/>
          </a:p>
        </p:txBody>
      </p:sp>
      <p:sp>
        <p:nvSpPr>
          <p:cNvPr id="12" name="Text 10"/>
          <p:cNvSpPr/>
          <p:nvPr/>
        </p:nvSpPr>
        <p:spPr>
          <a:xfrm>
            <a:off x="828000" y="18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Silex</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13" name="Text 11"/>
          <p:cNvSpPr/>
          <p:nvPr/>
        </p:nvSpPr>
        <p:spPr>
          <a:xfrm>
            <a:off x="828000" y="19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Solera</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4" name="Text 12"/>
          <p:cNvSpPr/>
          <p:nvPr/>
        </p:nvSpPr>
        <p:spPr>
          <a:xfrm>
            <a:off x="828000" y="20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Source – Melon B.</a:t>
            </a:r>
            <a:r>
              <a:rPr lang="en-US" sz="690" b="1" dirty="0">
                <a:solidFill>
                  <a:srgbClr val="67067C"/>
                </a:solidFill>
                <a:latin typeface="IBM Plex Sans" pitchFamily="34" charset="0"/>
                <a:ea typeface="IBM Plex Sans" pitchFamily="34" charset="-122"/>
                <a:cs typeface="IBM Plex Sans" pitchFamily="34" charset="-120"/>
              </a:rPr>
              <a:t>  5</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15" name="Text 13"/>
          <p:cNvSpPr/>
          <p:nvPr/>
        </p:nvSpPr>
        <p:spPr>
          <a:xfrm>
            <a:off x="828000" y="21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Sous le Château</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16" name="Text 14"/>
          <p:cNvSpPr/>
          <p:nvPr/>
        </p:nvSpPr>
        <p:spPr>
          <a:xfrm>
            <a:off x="828000" y="23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Taubenstein (Pinot Blanc)</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17" name="Text 15"/>
          <p:cNvSpPr/>
          <p:nvPr/>
        </p:nvSpPr>
        <p:spPr>
          <a:xfrm>
            <a:off x="828000" y="24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Terroir d'Ansouis  75 cl</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18" name="Text 16"/>
          <p:cNvSpPr/>
          <p:nvPr/>
        </p:nvSpPr>
        <p:spPr>
          <a:xfrm>
            <a:off x="828000" y="25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Thomen (Assemblage)</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19" name="Text 17"/>
          <p:cNvSpPr/>
          <p:nvPr/>
        </p:nvSpPr>
        <p:spPr>
          <a:xfrm>
            <a:off x="828000" y="26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Vacqueyras  75 cl</a:t>
            </a:r>
            <a:r>
              <a:rPr lang="en-US" sz="690" b="1" dirty="0">
                <a:solidFill>
                  <a:srgbClr val="67067C"/>
                </a:solidFill>
                <a:latin typeface="IBM Plex Sans" pitchFamily="34" charset="0"/>
                <a:ea typeface="IBM Plex Sans" pitchFamily="34" charset="-122"/>
                <a:cs typeface="IBM Plex Sans" pitchFamily="34" charset="-120"/>
              </a:rPr>
              <a:t>  21</a:t>
            </a:r>
            <a:r>
              <a:rPr lang="en-US" sz="690" dirty="0">
                <a:solidFill>
                  <a:srgbClr val="46606E"/>
                </a:solidFill>
                <a:latin typeface="IBM Plex Sans" pitchFamily="34" charset="0"/>
                <a:ea typeface="IBM Plex Sans" pitchFamily="34" charset="-122"/>
                <a:cs typeface="IBM Plex Sans" pitchFamily="34" charset="-120"/>
              </a:rPr>
              <a:t>  34</a:t>
            </a:r>
            <a:endParaRPr lang="en-US" sz="690" dirty="0"/>
          </a:p>
        </p:txBody>
      </p:sp>
      <p:sp>
        <p:nvSpPr>
          <p:cNvPr id="20" name="Text 18"/>
          <p:cNvSpPr/>
          <p:nvPr/>
        </p:nvSpPr>
        <p:spPr>
          <a:xfrm>
            <a:off x="828000" y="28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Vieilles Vignes  75 cl</a:t>
            </a:r>
            <a:r>
              <a:rPr lang="en-US" sz="690" b="1" dirty="0">
                <a:solidFill>
                  <a:srgbClr val="67067C"/>
                </a:solidFill>
                <a:latin typeface="IBM Plex Sans" pitchFamily="34" charset="0"/>
                <a:ea typeface="IBM Plex Sans" pitchFamily="34" charset="-122"/>
                <a:cs typeface="IBM Plex Sans" pitchFamily="34" charset="-120"/>
              </a:rPr>
              <a:t>  16</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21" name="Text 19"/>
          <p:cNvSpPr/>
          <p:nvPr/>
        </p:nvSpPr>
        <p:spPr>
          <a:xfrm>
            <a:off x="828000" y="293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de France</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22" name="Text 20"/>
          <p:cNvSpPr/>
          <p:nvPr/>
        </p:nvSpPr>
        <p:spPr>
          <a:xfrm>
            <a:off x="828000" y="306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Vins du Val de Loire</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23" name="Text 21"/>
          <p:cNvSpPr/>
          <p:nvPr/>
        </p:nvSpPr>
        <p:spPr>
          <a:xfrm>
            <a:off x="828000" y="318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Vintage</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24" name="Text 22"/>
          <p:cNvSpPr/>
          <p:nvPr/>
        </p:nvSpPr>
        <p:spPr>
          <a:xfrm>
            <a:off x="828000" y="3312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ROSÉ</a:t>
            </a:r>
            <a:endParaRPr lang="en-US" sz="800" dirty="0"/>
          </a:p>
        </p:txBody>
      </p:sp>
      <p:sp>
        <p:nvSpPr>
          <p:cNvPr id="25" name="Text 23"/>
          <p:cNvSpPr/>
          <p:nvPr/>
        </p:nvSpPr>
        <p:spPr>
          <a:xfrm>
            <a:off x="828000" y="343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Adn 24  75 cl</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26" name="Text 24"/>
          <p:cNvSpPr/>
          <p:nvPr/>
        </p:nvSpPr>
        <p:spPr>
          <a:xfrm>
            <a:off x="828000" y="356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Amande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27" name="Text 25"/>
          <p:cNvSpPr/>
          <p:nvPr/>
        </p:nvSpPr>
        <p:spPr>
          <a:xfrm>
            <a:off x="828000" y="369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Arlequin</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59</a:t>
            </a:r>
            <a:endParaRPr lang="en-US" sz="690" dirty="0"/>
          </a:p>
        </p:txBody>
      </p:sp>
      <p:sp>
        <p:nvSpPr>
          <p:cNvPr id="28" name="Text 26"/>
          <p:cNvSpPr/>
          <p:nvPr/>
        </p:nvSpPr>
        <p:spPr>
          <a:xfrm>
            <a:off x="828000" y="381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BLACAILLOUX</a:t>
            </a:r>
            <a:r>
              <a:rPr lang="en-US" sz="690" b="1" dirty="0">
                <a:solidFill>
                  <a:srgbClr val="67067C"/>
                </a:solidFill>
                <a:latin typeface="IBM Plex Sans" pitchFamily="34" charset="0"/>
                <a:ea typeface="IBM Plex Sans" pitchFamily="34" charset="-122"/>
                <a:cs typeface="IBM Plex Sans" pitchFamily="34" charset="-120"/>
              </a:rPr>
              <a:t>  31</a:t>
            </a:r>
            <a:r>
              <a:rPr lang="en-US" sz="690" dirty="0">
                <a:solidFill>
                  <a:srgbClr val="46606E"/>
                </a:solidFill>
                <a:latin typeface="IBM Plex Sans" pitchFamily="34" charset="0"/>
                <a:ea typeface="IBM Plex Sans" pitchFamily="34" charset="-122"/>
                <a:cs typeface="IBM Plex Sans" pitchFamily="34" charset="-120"/>
              </a:rPr>
              <a:t>  52</a:t>
            </a:r>
            <a:endParaRPr lang="en-US" sz="690" dirty="0"/>
          </a:p>
        </p:txBody>
      </p:sp>
      <p:sp>
        <p:nvSpPr>
          <p:cNvPr id="29" name="Text 27"/>
          <p:cNvSpPr/>
          <p:nvPr/>
        </p:nvSpPr>
        <p:spPr>
          <a:xfrm>
            <a:off x="828000" y="394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Cabernet Franc</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30" name="Text 28"/>
          <p:cNvSpPr/>
          <p:nvPr/>
        </p:nvSpPr>
        <p:spPr>
          <a:xfrm>
            <a:off x="828000" y="406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Clair de Lune de l'Escarderie</a:t>
            </a:r>
            <a:r>
              <a:rPr lang="en-US" sz="690" b="1" dirty="0">
                <a:solidFill>
                  <a:srgbClr val="67067C"/>
                </a:solidFill>
                <a:latin typeface="IBM Plex Sans" pitchFamily="34" charset="0"/>
                <a:ea typeface="IBM Plex Sans" pitchFamily="34" charset="-122"/>
                <a:cs typeface="IBM Plex Sans" pitchFamily="34" charset="-120"/>
              </a:rPr>
              <a:t>  30</a:t>
            </a:r>
            <a:r>
              <a:rPr lang="en-US" sz="690" dirty="0">
                <a:solidFill>
                  <a:srgbClr val="46606E"/>
                </a:solidFill>
                <a:latin typeface="IBM Plex Sans" pitchFamily="34" charset="0"/>
                <a:ea typeface="IBM Plex Sans" pitchFamily="34" charset="-122"/>
                <a:cs typeface="IBM Plex Sans" pitchFamily="34" charset="-120"/>
              </a:rPr>
              <a:t>  50</a:t>
            </a:r>
            <a:endParaRPr lang="en-US" sz="690" dirty="0"/>
          </a:p>
        </p:txBody>
      </p:sp>
      <p:sp>
        <p:nvSpPr>
          <p:cNvPr id="31" name="Text 29"/>
          <p:cNvSpPr/>
          <p:nvPr/>
        </p:nvSpPr>
        <p:spPr>
          <a:xfrm>
            <a:off x="828000" y="419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Cosmos</a:t>
            </a:r>
            <a:r>
              <a:rPr lang="en-US" sz="690" b="1" dirty="0">
                <a:solidFill>
                  <a:srgbClr val="67067C"/>
                </a:solidFill>
                <a:latin typeface="IBM Plex Sans" pitchFamily="34" charset="0"/>
                <a:ea typeface="IBM Plex Sans" pitchFamily="34" charset="-122"/>
                <a:cs typeface="IBM Plex Sans" pitchFamily="34" charset="-120"/>
              </a:rPr>
              <a:t>  34</a:t>
            </a:r>
            <a:r>
              <a:rPr lang="en-US" sz="690" dirty="0">
                <a:solidFill>
                  <a:srgbClr val="46606E"/>
                </a:solidFill>
                <a:latin typeface="IBM Plex Sans" pitchFamily="34" charset="0"/>
                <a:ea typeface="IBM Plex Sans" pitchFamily="34" charset="-122"/>
                <a:cs typeface="IBM Plex Sans" pitchFamily="34" charset="-120"/>
              </a:rPr>
              <a:t>  57</a:t>
            </a:r>
            <a:endParaRPr lang="en-US" sz="690" dirty="0"/>
          </a:p>
        </p:txBody>
      </p:sp>
      <p:sp>
        <p:nvSpPr>
          <p:cNvPr id="32" name="Text 30"/>
          <p:cNvSpPr/>
          <p:nvPr/>
        </p:nvSpPr>
        <p:spPr>
          <a:xfrm>
            <a:off x="828000" y="43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GRENACHE GRIS 9,5°</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54</a:t>
            </a:r>
            <a:endParaRPr lang="en-US" sz="690" dirty="0"/>
          </a:p>
        </p:txBody>
      </p:sp>
      <p:sp>
        <p:nvSpPr>
          <p:cNvPr id="33" name="Text 31"/>
          <p:cNvSpPr/>
          <p:nvPr/>
        </p:nvSpPr>
        <p:spPr>
          <a:xfrm>
            <a:off x="828000" y="44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Gulf Stream</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34" name="Text 32"/>
          <p:cNvSpPr/>
          <p:nvPr/>
        </p:nvSpPr>
        <p:spPr>
          <a:xfrm>
            <a:off x="828000" y="45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Cabernet</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35" name="Text 33"/>
          <p:cNvSpPr/>
          <p:nvPr/>
        </p:nvSpPr>
        <p:spPr>
          <a:xfrm>
            <a:off x="828000" y="46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JOIO  75 cl</a:t>
            </a:r>
            <a:r>
              <a:rPr lang="en-US" sz="690" b="1" dirty="0">
                <a:solidFill>
                  <a:srgbClr val="67067C"/>
                </a:solidFill>
                <a:latin typeface="IBM Plex Sans" pitchFamily="34" charset="0"/>
                <a:ea typeface="IBM Plex Sans" pitchFamily="34" charset="-122"/>
                <a:cs typeface="IBM Plex Sans" pitchFamily="34" charset="-120"/>
              </a:rPr>
              <a:t>  31</a:t>
            </a:r>
            <a:r>
              <a:rPr lang="en-US" sz="690" dirty="0">
                <a:solidFill>
                  <a:srgbClr val="46606E"/>
                </a:solidFill>
                <a:latin typeface="IBM Plex Sans" pitchFamily="34" charset="0"/>
                <a:ea typeface="IBM Plex Sans" pitchFamily="34" charset="-122"/>
                <a:cs typeface="IBM Plex Sans" pitchFamily="34" charset="-120"/>
              </a:rPr>
              <a:t>  52</a:t>
            </a:r>
            <a:endParaRPr lang="en-US" sz="690" dirty="0"/>
          </a:p>
        </p:txBody>
      </p:sp>
      <p:sp>
        <p:nvSpPr>
          <p:cNvPr id="36" name="Text 34"/>
          <p:cNvSpPr/>
          <p:nvPr/>
        </p:nvSpPr>
        <p:spPr>
          <a:xfrm>
            <a:off x="828000" y="48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JOIO  150 cl</a:t>
            </a:r>
            <a:r>
              <a:rPr lang="en-US" sz="690" b="1" dirty="0">
                <a:solidFill>
                  <a:srgbClr val="67067C"/>
                </a:solidFill>
                <a:latin typeface="IBM Plex Sans" pitchFamily="34" charset="0"/>
                <a:ea typeface="IBM Plex Sans" pitchFamily="34" charset="-122"/>
                <a:cs typeface="IBM Plex Sans" pitchFamily="34" charset="-120"/>
              </a:rPr>
              <a:t>  31</a:t>
            </a:r>
            <a:r>
              <a:rPr lang="en-US" sz="690" dirty="0">
                <a:solidFill>
                  <a:srgbClr val="46606E"/>
                </a:solidFill>
                <a:latin typeface="IBM Plex Sans" pitchFamily="34" charset="0"/>
                <a:ea typeface="IBM Plex Sans" pitchFamily="34" charset="-122"/>
                <a:cs typeface="IBM Plex Sans" pitchFamily="34" charset="-120"/>
              </a:rPr>
              <a:t>  52</a:t>
            </a:r>
            <a:endParaRPr lang="en-US" sz="690" dirty="0"/>
          </a:p>
        </p:txBody>
      </p:sp>
      <p:sp>
        <p:nvSpPr>
          <p:cNvPr id="37" name="Text 35"/>
          <p:cNvSpPr/>
          <p:nvPr/>
        </p:nvSpPr>
        <p:spPr>
          <a:xfrm>
            <a:off x="828000" y="49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SOUVIGNIER GRIS</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54</a:t>
            </a:r>
            <a:endParaRPr lang="en-US" sz="690" dirty="0"/>
          </a:p>
        </p:txBody>
      </p:sp>
      <p:sp>
        <p:nvSpPr>
          <p:cNvPr id="38" name="Text 36"/>
          <p:cNvSpPr/>
          <p:nvPr/>
        </p:nvSpPr>
        <p:spPr>
          <a:xfrm>
            <a:off x="828000" y="50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Silex  2024</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39" name="Text 37"/>
          <p:cNvSpPr/>
          <p:nvPr/>
        </p:nvSpPr>
        <p:spPr>
          <a:xfrm>
            <a:off x="828000" y="52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N°3 Gulf Stream</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40" name="Text 38"/>
          <p:cNvSpPr/>
          <p:nvPr/>
        </p:nvSpPr>
        <p:spPr>
          <a:xfrm>
            <a:off x="828000" y="53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PETIT JARDIN  75 cl</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54</a:t>
            </a:r>
            <a:endParaRPr lang="en-US" sz="690" dirty="0"/>
          </a:p>
        </p:txBody>
      </p:sp>
      <p:sp>
        <p:nvSpPr>
          <p:cNvPr id="41" name="Text 39"/>
          <p:cNvSpPr/>
          <p:nvPr/>
        </p:nvSpPr>
        <p:spPr>
          <a:xfrm>
            <a:off x="828000" y="54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Pop’s</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42" name="Text 40"/>
          <p:cNvSpPr/>
          <p:nvPr/>
        </p:nvSpPr>
        <p:spPr>
          <a:xfrm>
            <a:off x="828000" y="55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Rosé d’Anjou</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43" name="Text 41"/>
          <p:cNvSpPr/>
          <p:nvPr/>
        </p:nvSpPr>
        <p:spPr>
          <a:xfrm>
            <a:off x="828000" y="570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Rosé DADA</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44" name="Text 42"/>
          <p:cNvSpPr/>
          <p:nvPr/>
        </p:nvSpPr>
        <p:spPr>
          <a:xfrm>
            <a:off x="828000" y="583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Rosé de Loire</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45" name="Text 43"/>
          <p:cNvSpPr/>
          <p:nvPr/>
        </p:nvSpPr>
        <p:spPr>
          <a:xfrm>
            <a:off x="828000" y="595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ROSE SÉRAME</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54</a:t>
            </a:r>
            <a:endParaRPr lang="en-US" sz="690" dirty="0"/>
          </a:p>
        </p:txBody>
      </p:sp>
      <p:sp>
        <p:nvSpPr>
          <p:cNvPr id="46" name="Text 44"/>
          <p:cNvSpPr/>
          <p:nvPr/>
        </p:nvSpPr>
        <p:spPr>
          <a:xfrm>
            <a:off x="828000" y="608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SAINT PROBACE  75 cl</a:t>
            </a:r>
            <a:r>
              <a:rPr lang="en-US" sz="690" b="1" dirty="0">
                <a:solidFill>
                  <a:srgbClr val="67067C"/>
                </a:solidFill>
                <a:latin typeface="IBM Plex Sans" pitchFamily="34" charset="0"/>
                <a:ea typeface="IBM Plex Sans" pitchFamily="34" charset="-122"/>
                <a:cs typeface="IBM Plex Sans" pitchFamily="34" charset="-120"/>
              </a:rPr>
              <a:t>  31</a:t>
            </a:r>
            <a:r>
              <a:rPr lang="en-US" sz="690" dirty="0">
                <a:solidFill>
                  <a:srgbClr val="46606E"/>
                </a:solidFill>
                <a:latin typeface="IBM Plex Sans" pitchFamily="34" charset="0"/>
                <a:ea typeface="IBM Plex Sans" pitchFamily="34" charset="-122"/>
                <a:cs typeface="IBM Plex Sans" pitchFamily="34" charset="-120"/>
              </a:rPr>
              <a:t>  52</a:t>
            </a:r>
            <a:endParaRPr lang="en-US" sz="690" dirty="0"/>
          </a:p>
        </p:txBody>
      </p:sp>
      <p:sp>
        <p:nvSpPr>
          <p:cNvPr id="47" name="Text 45"/>
          <p:cNvSpPr/>
          <p:nvPr/>
        </p:nvSpPr>
        <p:spPr>
          <a:xfrm>
            <a:off x="2868000" y="5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Tavel</a:t>
            </a:r>
            <a:r>
              <a:rPr lang="en-US" sz="690" b="1" dirty="0">
                <a:solidFill>
                  <a:srgbClr val="67067C"/>
                </a:solidFill>
                <a:latin typeface="IBM Plex Sans" pitchFamily="34" charset="0"/>
                <a:ea typeface="IBM Plex Sans" pitchFamily="34" charset="-122"/>
                <a:cs typeface="IBM Plex Sans" pitchFamily="34" charset="-120"/>
              </a:rPr>
              <a:t>  18</a:t>
            </a:r>
            <a:r>
              <a:rPr lang="en-US" sz="690" dirty="0">
                <a:solidFill>
                  <a:srgbClr val="46606E"/>
                </a:solidFill>
                <a:latin typeface="IBM Plex Sans" pitchFamily="34" charset="0"/>
                <a:ea typeface="IBM Plex Sans" pitchFamily="34" charset="-122"/>
                <a:cs typeface="IBM Plex Sans" pitchFamily="34" charset="-120"/>
              </a:rPr>
              <a:t>  31</a:t>
            </a:r>
            <a:endParaRPr lang="en-US" sz="690" dirty="0"/>
          </a:p>
        </p:txBody>
      </p:sp>
      <p:sp>
        <p:nvSpPr>
          <p:cNvPr id="48" name="Text 46"/>
          <p:cNvSpPr/>
          <p:nvPr/>
        </p:nvSpPr>
        <p:spPr>
          <a:xfrm>
            <a:off x="2868000" y="6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Terroir d'Ansouis  75 cl</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49" name="Text 47"/>
          <p:cNvSpPr/>
          <p:nvPr/>
        </p:nvSpPr>
        <p:spPr>
          <a:xfrm>
            <a:off x="2868000" y="7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VDF</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50" name="Text 48"/>
          <p:cNvSpPr/>
          <p:nvPr/>
        </p:nvSpPr>
        <p:spPr>
          <a:xfrm>
            <a:off x="2868000" y="9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de France Pinot Noir  2023</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51" name="Text 49"/>
          <p:cNvSpPr/>
          <p:nvPr/>
        </p:nvSpPr>
        <p:spPr>
          <a:xfrm>
            <a:off x="2868000" y="1044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ROUGE</a:t>
            </a:r>
            <a:endParaRPr lang="en-US" sz="800" dirty="0"/>
          </a:p>
        </p:txBody>
      </p:sp>
      <p:sp>
        <p:nvSpPr>
          <p:cNvPr id="52" name="Text 50"/>
          <p:cNvSpPr/>
          <p:nvPr/>
        </p:nvSpPr>
        <p:spPr>
          <a:xfrm>
            <a:off x="2868000" y="11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4 Saisons  75 cl</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59</a:t>
            </a:r>
            <a:endParaRPr lang="en-US" sz="690" dirty="0"/>
          </a:p>
        </p:txBody>
      </p:sp>
      <p:sp>
        <p:nvSpPr>
          <p:cNvPr id="53" name="Text 51"/>
          <p:cNvSpPr/>
          <p:nvPr/>
        </p:nvSpPr>
        <p:spPr>
          <a:xfrm>
            <a:off x="2868000" y="12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4 Saisons  Magnum 1,5 L</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59</a:t>
            </a:r>
            <a:endParaRPr lang="en-US" sz="690" dirty="0"/>
          </a:p>
        </p:txBody>
      </p:sp>
      <p:sp>
        <p:nvSpPr>
          <p:cNvPr id="54" name="Text 52"/>
          <p:cNvSpPr/>
          <p:nvPr/>
        </p:nvSpPr>
        <p:spPr>
          <a:xfrm>
            <a:off x="2868000" y="14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Adn 24  75 cl</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55" name="Text 53"/>
          <p:cNvSpPr/>
          <p:nvPr/>
        </p:nvSpPr>
        <p:spPr>
          <a:xfrm>
            <a:off x="2868000" y="15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Amphora de Château l'Escarderie</a:t>
            </a:r>
            <a:r>
              <a:rPr lang="en-US" sz="690" b="1" dirty="0">
                <a:solidFill>
                  <a:srgbClr val="67067C"/>
                </a:solidFill>
                <a:latin typeface="IBM Plex Sans" pitchFamily="34" charset="0"/>
                <a:ea typeface="IBM Plex Sans" pitchFamily="34" charset="-122"/>
                <a:cs typeface="IBM Plex Sans" pitchFamily="34" charset="-120"/>
              </a:rPr>
              <a:t>  30</a:t>
            </a:r>
            <a:r>
              <a:rPr lang="en-US" sz="690" dirty="0">
                <a:solidFill>
                  <a:srgbClr val="46606E"/>
                </a:solidFill>
                <a:latin typeface="IBM Plex Sans" pitchFamily="34" charset="0"/>
                <a:ea typeface="IBM Plex Sans" pitchFamily="34" charset="-122"/>
                <a:cs typeface="IBM Plex Sans" pitchFamily="34" charset="-120"/>
              </a:rPr>
              <a:t>  50</a:t>
            </a:r>
            <a:endParaRPr lang="en-US" sz="690" dirty="0"/>
          </a:p>
        </p:txBody>
      </p:sp>
      <p:sp>
        <p:nvSpPr>
          <p:cNvPr id="56" name="Text 54"/>
          <p:cNvSpPr/>
          <p:nvPr/>
        </p:nvSpPr>
        <p:spPr>
          <a:xfrm>
            <a:off x="2868000" y="16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Aloxe-Corton</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57" name="Text 55"/>
          <p:cNvSpPr/>
          <p:nvPr/>
        </p:nvSpPr>
        <p:spPr>
          <a:xfrm>
            <a:off x="2868000" y="18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Auxey-Duresses</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58" name="Text 56"/>
          <p:cNvSpPr/>
          <p:nvPr/>
        </p:nvSpPr>
        <p:spPr>
          <a:xfrm>
            <a:off x="2868000" y="19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Beaujolais-Lancié</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18</a:t>
            </a:r>
            <a:endParaRPr lang="en-US" sz="690" dirty="0"/>
          </a:p>
        </p:txBody>
      </p:sp>
      <p:sp>
        <p:nvSpPr>
          <p:cNvPr id="59" name="Text 57"/>
          <p:cNvSpPr/>
          <p:nvPr/>
        </p:nvSpPr>
        <p:spPr>
          <a:xfrm>
            <a:off x="2868000" y="20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Bergerac</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60" name="Text 58"/>
          <p:cNvSpPr/>
          <p:nvPr/>
        </p:nvSpPr>
        <p:spPr>
          <a:xfrm>
            <a:off x="2868000" y="21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Bourgogne Hautes-Côtes de Beaune</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61" name="Text 59"/>
          <p:cNvSpPr/>
          <p:nvPr/>
        </p:nvSpPr>
        <p:spPr>
          <a:xfrm>
            <a:off x="2868000" y="23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Cahors</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62" name="Text 60"/>
          <p:cNvSpPr/>
          <p:nvPr/>
        </p:nvSpPr>
        <p:spPr>
          <a:xfrm>
            <a:off x="2868000" y="24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CDR villages Plan de Dieu</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33</a:t>
            </a:r>
            <a:endParaRPr lang="en-US" sz="690" dirty="0"/>
          </a:p>
        </p:txBody>
      </p:sp>
      <p:sp>
        <p:nvSpPr>
          <p:cNvPr id="63" name="Text 61"/>
          <p:cNvSpPr/>
          <p:nvPr/>
        </p:nvSpPr>
        <p:spPr>
          <a:xfrm>
            <a:off x="2868000" y="25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CDR villages Sablet  75 cl</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33</a:t>
            </a:r>
            <a:endParaRPr lang="en-US" sz="690" dirty="0"/>
          </a:p>
        </p:txBody>
      </p:sp>
      <p:sp>
        <p:nvSpPr>
          <p:cNvPr id="64" name="Text 62"/>
          <p:cNvSpPr/>
          <p:nvPr/>
        </p:nvSpPr>
        <p:spPr>
          <a:xfrm>
            <a:off x="2868000" y="26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Chassagne-Montrachet</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65" name="Text 63"/>
          <p:cNvSpPr/>
          <p:nvPr/>
        </p:nvSpPr>
        <p:spPr>
          <a:xfrm>
            <a:off x="2868000" y="28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Clos Vougeot Grand Cru</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66" name="Text 64"/>
          <p:cNvSpPr/>
          <p:nvPr/>
        </p:nvSpPr>
        <p:spPr>
          <a:xfrm>
            <a:off x="2868000" y="293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Coteaux Bourguignons</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67" name="Text 65"/>
          <p:cNvSpPr/>
          <p:nvPr/>
        </p:nvSpPr>
        <p:spPr>
          <a:xfrm>
            <a:off x="2868000" y="306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Côtes du Rhône</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33</a:t>
            </a:r>
            <a:endParaRPr lang="en-US" sz="690" dirty="0"/>
          </a:p>
        </p:txBody>
      </p:sp>
      <p:sp>
        <p:nvSpPr>
          <p:cNvPr id="68" name="Text 66"/>
          <p:cNvSpPr/>
          <p:nvPr/>
        </p:nvSpPr>
        <p:spPr>
          <a:xfrm>
            <a:off x="2868000" y="318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Fixin</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69" name="Text 67"/>
          <p:cNvSpPr/>
          <p:nvPr/>
        </p:nvSpPr>
        <p:spPr>
          <a:xfrm>
            <a:off x="2868000" y="331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Fleurie</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18</a:t>
            </a:r>
            <a:endParaRPr lang="en-US" sz="690" dirty="0"/>
          </a:p>
        </p:txBody>
      </p:sp>
      <p:sp>
        <p:nvSpPr>
          <p:cNvPr id="70" name="Text 68"/>
          <p:cNvSpPr/>
          <p:nvPr/>
        </p:nvSpPr>
        <p:spPr>
          <a:xfrm>
            <a:off x="2868000" y="343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Fronton</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71" name="Text 69"/>
          <p:cNvSpPr/>
          <p:nvPr/>
        </p:nvSpPr>
        <p:spPr>
          <a:xfrm>
            <a:off x="2868000" y="356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Gevrey-Chambertin</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72" name="Text 70"/>
          <p:cNvSpPr/>
          <p:nvPr/>
        </p:nvSpPr>
        <p:spPr>
          <a:xfrm>
            <a:off x="2868000" y="369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Gigondas</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33</a:t>
            </a:r>
            <a:endParaRPr lang="en-US" sz="690" dirty="0"/>
          </a:p>
        </p:txBody>
      </p:sp>
      <p:sp>
        <p:nvSpPr>
          <p:cNvPr id="73" name="Text 71"/>
          <p:cNvSpPr/>
          <p:nvPr/>
        </p:nvSpPr>
        <p:spPr>
          <a:xfrm>
            <a:off x="2868000" y="381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Givry 1er Cru</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74" name="Text 72"/>
          <p:cNvSpPr/>
          <p:nvPr/>
        </p:nvSpPr>
        <p:spPr>
          <a:xfrm>
            <a:off x="2868000" y="394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Madiran</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75" name="Text 73"/>
          <p:cNvSpPr/>
          <p:nvPr/>
        </p:nvSpPr>
        <p:spPr>
          <a:xfrm>
            <a:off x="2868000" y="406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Madiran</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76" name="Text 74"/>
          <p:cNvSpPr/>
          <p:nvPr/>
        </p:nvSpPr>
        <p:spPr>
          <a:xfrm>
            <a:off x="2868000" y="419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Médoc Cru Bourgeois</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77" name="Text 75"/>
          <p:cNvSpPr/>
          <p:nvPr/>
        </p:nvSpPr>
        <p:spPr>
          <a:xfrm>
            <a:off x="2868000" y="43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Médoc Cru Bourgeois</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78" name="Text 76"/>
          <p:cNvSpPr/>
          <p:nvPr/>
        </p:nvSpPr>
        <p:spPr>
          <a:xfrm>
            <a:off x="2868000" y="44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Médoc Cru Bourgeois (AB)</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79" name="Text 77"/>
          <p:cNvSpPr/>
          <p:nvPr/>
        </p:nvSpPr>
        <p:spPr>
          <a:xfrm>
            <a:off x="2868000" y="45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Médoc Cru Bourgeois (AB)</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80" name="Text 78"/>
          <p:cNvSpPr/>
          <p:nvPr/>
        </p:nvSpPr>
        <p:spPr>
          <a:xfrm>
            <a:off x="2868000" y="46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Mercurey</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81" name="Text 79"/>
          <p:cNvSpPr/>
          <p:nvPr/>
        </p:nvSpPr>
        <p:spPr>
          <a:xfrm>
            <a:off x="2868000" y="48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Monthélie</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82" name="Text 80"/>
          <p:cNvSpPr/>
          <p:nvPr/>
        </p:nvSpPr>
        <p:spPr>
          <a:xfrm>
            <a:off x="2868000" y="49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Moulin-à-Vent</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18</a:t>
            </a:r>
            <a:endParaRPr lang="en-US" sz="690" dirty="0"/>
          </a:p>
        </p:txBody>
      </p:sp>
      <p:sp>
        <p:nvSpPr>
          <p:cNvPr id="83" name="Text 81"/>
          <p:cNvSpPr/>
          <p:nvPr/>
        </p:nvSpPr>
        <p:spPr>
          <a:xfrm>
            <a:off x="2868000" y="50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Moulin-à-Vent</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18</a:t>
            </a:r>
            <a:endParaRPr lang="en-US" sz="690" dirty="0"/>
          </a:p>
        </p:txBody>
      </p:sp>
      <p:sp>
        <p:nvSpPr>
          <p:cNvPr id="84" name="Text 82"/>
          <p:cNvSpPr/>
          <p:nvPr/>
        </p:nvSpPr>
        <p:spPr>
          <a:xfrm>
            <a:off x="2868000" y="52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Rully</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85" name="Text 83"/>
          <p:cNvSpPr/>
          <p:nvPr/>
        </p:nvSpPr>
        <p:spPr>
          <a:xfrm>
            <a:off x="2868000" y="53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Saint-Romain</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86" name="Text 84"/>
          <p:cNvSpPr/>
          <p:nvPr/>
        </p:nvSpPr>
        <p:spPr>
          <a:xfrm>
            <a:off x="2868000" y="54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Sancerre  2022</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87" name="Text 85"/>
          <p:cNvSpPr/>
          <p:nvPr/>
        </p:nvSpPr>
        <p:spPr>
          <a:xfrm>
            <a:off x="2868000" y="55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Balac Sans Sulfites (100 % Merlot)</a:t>
            </a:r>
            <a:r>
              <a:rPr lang="en-US" sz="690" b="1" dirty="0">
                <a:solidFill>
                  <a:srgbClr val="67067C"/>
                </a:solidFill>
                <a:latin typeface="IBM Plex Sans" pitchFamily="34" charset="0"/>
                <a:ea typeface="IBM Plex Sans" pitchFamily="34" charset="-122"/>
                <a:cs typeface="IBM Plex Sans" pitchFamily="34" charset="-120"/>
              </a:rPr>
              <a:t>  29</a:t>
            </a:r>
            <a:r>
              <a:rPr lang="en-US" sz="690" dirty="0">
                <a:solidFill>
                  <a:srgbClr val="46606E"/>
                </a:solidFill>
                <a:latin typeface="IBM Plex Sans" pitchFamily="34" charset="0"/>
                <a:ea typeface="IBM Plex Sans" pitchFamily="34" charset="-122"/>
                <a:cs typeface="IBM Plex Sans" pitchFamily="34" charset="-120"/>
              </a:rPr>
              <a:t>  49</a:t>
            </a:r>
            <a:endParaRPr lang="en-US" sz="690" dirty="0"/>
          </a:p>
        </p:txBody>
      </p:sp>
      <p:sp>
        <p:nvSpPr>
          <p:cNvPr id="88" name="Text 86"/>
          <p:cNvSpPr/>
          <p:nvPr/>
        </p:nvSpPr>
        <p:spPr>
          <a:xfrm>
            <a:off x="2868000" y="570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BDM</a:t>
            </a:r>
            <a:r>
              <a:rPr lang="en-US" sz="690" b="1" dirty="0">
                <a:solidFill>
                  <a:srgbClr val="67067C"/>
                </a:solidFill>
                <a:latin typeface="IBM Plex Sans" pitchFamily="34" charset="0"/>
                <a:ea typeface="IBM Plex Sans" pitchFamily="34" charset="-122"/>
                <a:cs typeface="IBM Plex Sans" pitchFamily="34" charset="-120"/>
              </a:rPr>
              <a:t>  34</a:t>
            </a:r>
            <a:r>
              <a:rPr lang="en-US" sz="690" dirty="0">
                <a:solidFill>
                  <a:srgbClr val="46606E"/>
                </a:solidFill>
                <a:latin typeface="IBM Plex Sans" pitchFamily="34" charset="0"/>
                <a:ea typeface="IBM Plex Sans" pitchFamily="34" charset="-122"/>
                <a:cs typeface="IBM Plex Sans" pitchFamily="34" charset="-120"/>
              </a:rPr>
              <a:t>  57</a:t>
            </a:r>
            <a:endParaRPr lang="en-US" sz="690" dirty="0"/>
          </a:p>
        </p:txBody>
      </p:sp>
      <p:sp>
        <p:nvSpPr>
          <p:cNvPr id="89" name="Text 87"/>
          <p:cNvSpPr/>
          <p:nvPr/>
        </p:nvSpPr>
        <p:spPr>
          <a:xfrm>
            <a:off x="2868000" y="583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Bourgogne</a:t>
            </a:r>
            <a:r>
              <a:rPr lang="en-US" sz="690" b="1" dirty="0">
                <a:solidFill>
                  <a:srgbClr val="67067C"/>
                </a:solidFill>
                <a:latin typeface="IBM Plex Sans" pitchFamily="34" charset="0"/>
                <a:ea typeface="IBM Plex Sans" pitchFamily="34" charset="-122"/>
                <a:cs typeface="IBM Plex Sans" pitchFamily="34" charset="-120"/>
              </a:rPr>
              <a:t>  15</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90" name="Text 88"/>
          <p:cNvSpPr/>
          <p:nvPr/>
        </p:nvSpPr>
        <p:spPr>
          <a:xfrm>
            <a:off x="2868000" y="595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Bourgogne Pinot Noir</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26</a:t>
            </a:r>
            <a:endParaRPr lang="en-US" sz="690" dirty="0"/>
          </a:p>
        </p:txBody>
      </p:sp>
      <p:sp>
        <p:nvSpPr>
          <p:cNvPr id="91" name="Text 89"/>
          <p:cNvSpPr/>
          <p:nvPr/>
        </p:nvSpPr>
        <p:spPr>
          <a:xfrm>
            <a:off x="2868000" y="608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Caillasses</a:t>
            </a:r>
            <a:r>
              <a:rPr lang="en-US" sz="690" b="1" dirty="0">
                <a:solidFill>
                  <a:srgbClr val="67067C"/>
                </a:solidFill>
                <a:latin typeface="IBM Plex Sans" pitchFamily="34" charset="0"/>
                <a:ea typeface="IBM Plex Sans" pitchFamily="34" charset="-122"/>
                <a:cs typeface="IBM Plex Sans" pitchFamily="34" charset="-120"/>
              </a:rPr>
              <a:t>  35</a:t>
            </a:r>
            <a:r>
              <a:rPr lang="en-US" sz="690" dirty="0">
                <a:solidFill>
                  <a:srgbClr val="46606E"/>
                </a:solidFill>
                <a:latin typeface="IBM Plex Sans" pitchFamily="34" charset="0"/>
                <a:ea typeface="IBM Plex Sans" pitchFamily="34" charset="-122"/>
                <a:cs typeface="IBM Plex Sans" pitchFamily="34" charset="-120"/>
              </a:rPr>
              <a:t>  58</a:t>
            </a:r>
            <a:endParaRPr lang="en-US" sz="690" dirty="0"/>
          </a:p>
        </p:txBody>
      </p:sp>
      <p:sp>
        <p:nvSpPr>
          <p:cNvPr id="92" name="Text 90"/>
          <p:cNvSpPr/>
          <p:nvPr/>
        </p:nvSpPr>
        <p:spPr>
          <a:xfrm>
            <a:off x="4908000" y="5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Ceres de Haut-Bages Libéral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93" name="Text 91"/>
          <p:cNvSpPr/>
          <p:nvPr/>
        </p:nvSpPr>
        <p:spPr>
          <a:xfrm>
            <a:off x="4908000" y="6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Champ La Dame</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94" name="Text 92"/>
          <p:cNvSpPr/>
          <p:nvPr/>
        </p:nvSpPr>
        <p:spPr>
          <a:xfrm>
            <a:off x="4908000" y="7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CHANT DE LUMIÈRE</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54</a:t>
            </a:r>
            <a:endParaRPr lang="en-US" sz="690" dirty="0"/>
          </a:p>
        </p:txBody>
      </p:sp>
      <p:sp>
        <p:nvSpPr>
          <p:cNvPr id="95" name="Text 93"/>
          <p:cNvSpPr/>
          <p:nvPr/>
        </p:nvSpPr>
        <p:spPr>
          <a:xfrm>
            <a:off x="4908000" y="9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CHANT DE LUNE</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54</a:t>
            </a:r>
            <a:endParaRPr lang="en-US" sz="690" dirty="0"/>
          </a:p>
        </p:txBody>
      </p:sp>
      <p:sp>
        <p:nvSpPr>
          <p:cNvPr id="96" name="Text 94"/>
          <p:cNvSpPr/>
          <p:nvPr/>
        </p:nvSpPr>
        <p:spPr>
          <a:xfrm>
            <a:off x="4908000" y="10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CHANT LIBRE</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54</a:t>
            </a:r>
            <a:endParaRPr lang="en-US" sz="690" dirty="0"/>
          </a:p>
        </p:txBody>
      </p:sp>
      <p:sp>
        <p:nvSpPr>
          <p:cNvPr id="97" name="Text 95"/>
          <p:cNvSpPr/>
          <p:nvPr/>
        </p:nvSpPr>
        <p:spPr>
          <a:xfrm>
            <a:off x="4908000" y="11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Charme de Cos Labory</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98" name="Text 96"/>
          <p:cNvSpPr/>
          <p:nvPr/>
        </p:nvSpPr>
        <p:spPr>
          <a:xfrm>
            <a:off x="4908000" y="12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Canteloup</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99" name="Text 97"/>
          <p:cNvSpPr/>
          <p:nvPr/>
        </p:nvSpPr>
        <p:spPr>
          <a:xfrm>
            <a:off x="4908000" y="14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de Villegeorge  75 cl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100" name="Text 98"/>
          <p:cNvSpPr/>
          <p:nvPr/>
        </p:nvSpPr>
        <p:spPr>
          <a:xfrm>
            <a:off x="4908000" y="15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de Villegeorge  150 cl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101" name="Text 99"/>
          <p:cNvSpPr/>
          <p:nvPr/>
        </p:nvSpPr>
        <p:spPr>
          <a:xfrm>
            <a:off x="4908000" y="16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Doyac  75 cl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102" name="Text 100"/>
          <p:cNvSpPr/>
          <p:nvPr/>
        </p:nvSpPr>
        <p:spPr>
          <a:xfrm>
            <a:off x="4908000" y="18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Doyac  75 cl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103" name="Text 101"/>
          <p:cNvSpPr/>
          <p:nvPr/>
        </p:nvSpPr>
        <p:spPr>
          <a:xfrm>
            <a:off x="4908000" y="19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du Cauze</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104" name="Text 102"/>
          <p:cNvSpPr/>
          <p:nvPr/>
        </p:nvSpPr>
        <p:spPr>
          <a:xfrm>
            <a:off x="4908000" y="20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Falfas</a:t>
            </a:r>
            <a:r>
              <a:rPr lang="en-US" sz="690" b="1" dirty="0">
                <a:solidFill>
                  <a:srgbClr val="67067C"/>
                </a:solidFill>
                <a:latin typeface="IBM Plex Sans" pitchFamily="34" charset="0"/>
                <a:ea typeface="IBM Plex Sans" pitchFamily="34" charset="-122"/>
                <a:cs typeface="IBM Plex Sans" pitchFamily="34" charset="-120"/>
              </a:rPr>
              <a:t>  27</a:t>
            </a:r>
            <a:r>
              <a:rPr lang="en-US" sz="690" dirty="0">
                <a:solidFill>
                  <a:srgbClr val="46606E"/>
                </a:solidFill>
                <a:latin typeface="IBM Plex Sans" pitchFamily="34" charset="0"/>
                <a:ea typeface="IBM Plex Sans" pitchFamily="34" charset="-122"/>
                <a:cs typeface="IBM Plex Sans" pitchFamily="34" charset="-120"/>
              </a:rPr>
              <a:t>  47</a:t>
            </a:r>
            <a:endParaRPr lang="en-US" sz="690" dirty="0"/>
          </a:p>
        </p:txBody>
      </p:sp>
      <p:sp>
        <p:nvSpPr>
          <p:cNvPr id="105" name="Text 103"/>
          <p:cNvSpPr/>
          <p:nvPr/>
        </p:nvSpPr>
        <p:spPr>
          <a:xfrm>
            <a:off x="4908000" y="21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Falfas Le Chevalier (Vieilles Vignes)</a:t>
            </a:r>
            <a:r>
              <a:rPr lang="en-US" sz="690" b="1" dirty="0">
                <a:solidFill>
                  <a:srgbClr val="67067C"/>
                </a:solidFill>
                <a:latin typeface="IBM Plex Sans" pitchFamily="34" charset="0"/>
                <a:ea typeface="IBM Plex Sans" pitchFamily="34" charset="-122"/>
                <a:cs typeface="IBM Plex Sans" pitchFamily="34" charset="-120"/>
              </a:rPr>
              <a:t>  27</a:t>
            </a:r>
            <a:r>
              <a:rPr lang="en-US" sz="690" dirty="0">
                <a:solidFill>
                  <a:srgbClr val="46606E"/>
                </a:solidFill>
                <a:latin typeface="IBM Plex Sans" pitchFamily="34" charset="0"/>
                <a:ea typeface="IBM Plex Sans" pitchFamily="34" charset="-122"/>
                <a:cs typeface="IBM Plex Sans" pitchFamily="34" charset="-120"/>
              </a:rPr>
              <a:t>  47</a:t>
            </a:r>
            <a:endParaRPr lang="en-US" sz="690" dirty="0"/>
          </a:p>
        </p:txBody>
      </p:sp>
      <p:sp>
        <p:nvSpPr>
          <p:cNvPr id="106" name="Text 104"/>
          <p:cNvSpPr/>
          <p:nvPr/>
        </p:nvSpPr>
        <p:spPr>
          <a:xfrm>
            <a:off x="4908000" y="23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Feytit-Guillot</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107" name="Text 105"/>
          <p:cNvSpPr/>
          <p:nvPr/>
        </p:nvSpPr>
        <p:spPr>
          <a:xfrm>
            <a:off x="4908000" y="24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l'Escarderie</a:t>
            </a:r>
            <a:r>
              <a:rPr lang="en-US" sz="690" b="1" dirty="0">
                <a:solidFill>
                  <a:srgbClr val="67067C"/>
                </a:solidFill>
                <a:latin typeface="IBM Plex Sans" pitchFamily="34" charset="0"/>
                <a:ea typeface="IBM Plex Sans" pitchFamily="34" charset="-122"/>
                <a:cs typeface="IBM Plex Sans" pitchFamily="34" charset="-120"/>
              </a:rPr>
              <a:t>  30</a:t>
            </a:r>
            <a:r>
              <a:rPr lang="en-US" sz="690" dirty="0">
                <a:solidFill>
                  <a:srgbClr val="46606E"/>
                </a:solidFill>
                <a:latin typeface="IBM Plex Sans" pitchFamily="34" charset="0"/>
                <a:ea typeface="IBM Plex Sans" pitchFamily="34" charset="-122"/>
                <a:cs typeface="IBM Plex Sans" pitchFamily="34" charset="-120"/>
              </a:rPr>
              <a:t>  50</a:t>
            </a:r>
            <a:endParaRPr lang="en-US" sz="690" dirty="0"/>
          </a:p>
        </p:txBody>
      </p:sp>
      <p:sp>
        <p:nvSpPr>
          <p:cNvPr id="108" name="Text 106"/>
          <p:cNvSpPr/>
          <p:nvPr/>
        </p:nvSpPr>
        <p:spPr>
          <a:xfrm>
            <a:off x="4908000" y="25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la Croix Saint-André</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109" name="Text 107"/>
          <p:cNvSpPr/>
          <p:nvPr/>
        </p:nvSpPr>
        <p:spPr>
          <a:xfrm>
            <a:off x="4908000" y="26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la Tour de Bessan</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110" name="Text 108"/>
          <p:cNvSpPr/>
          <p:nvPr/>
        </p:nvSpPr>
        <p:spPr>
          <a:xfrm>
            <a:off x="4908000" y="28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Lamothe Bouscaut  75 cl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111" name="Text 109"/>
          <p:cNvSpPr/>
          <p:nvPr/>
        </p:nvSpPr>
        <p:spPr>
          <a:xfrm>
            <a:off x="4908000" y="293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les Ormes</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112" name="Text 110"/>
          <p:cNvSpPr/>
          <p:nvPr/>
        </p:nvSpPr>
        <p:spPr>
          <a:xfrm>
            <a:off x="4908000" y="306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Macquin</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113" name="Text 111"/>
          <p:cNvSpPr/>
          <p:nvPr/>
        </p:nvSpPr>
        <p:spPr>
          <a:xfrm>
            <a:off x="4908000" y="318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Valoux</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114" name="Text 112"/>
          <p:cNvSpPr/>
          <p:nvPr/>
        </p:nvSpPr>
        <p:spPr>
          <a:xfrm>
            <a:off x="4908000" y="331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Clos de Cassis – élevé en fûts de chêne  75 cl</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59</a:t>
            </a:r>
            <a:endParaRPr lang="en-US" sz="690" dirty="0"/>
          </a:p>
        </p:txBody>
      </p:sp>
      <p:sp>
        <p:nvSpPr>
          <p:cNvPr id="115" name="Text 113"/>
          <p:cNvSpPr/>
          <p:nvPr/>
        </p:nvSpPr>
        <p:spPr>
          <a:xfrm>
            <a:off x="4908000" y="343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Clos de Cassis – élevé en fûts de chêne  Magnum 1,5 L</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59</a:t>
            </a:r>
            <a:endParaRPr lang="en-US" sz="690" dirty="0"/>
          </a:p>
        </p:txBody>
      </p:sp>
      <p:sp>
        <p:nvSpPr>
          <p:cNvPr id="116" name="Text 114"/>
          <p:cNvSpPr/>
          <p:nvPr/>
        </p:nvSpPr>
        <p:spPr>
          <a:xfrm>
            <a:off x="4908000" y="356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Clos de la Perrière</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117" name="Text 115"/>
          <p:cNvSpPr/>
          <p:nvPr/>
        </p:nvSpPr>
        <p:spPr>
          <a:xfrm>
            <a:off x="4908000" y="369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Corbières Rouge</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59</a:t>
            </a:r>
            <a:endParaRPr lang="en-US" sz="690" dirty="0"/>
          </a:p>
        </p:txBody>
      </p:sp>
      <p:sp>
        <p:nvSpPr>
          <p:cNvPr id="118" name="Text 116"/>
          <p:cNvSpPr/>
          <p:nvPr/>
        </p:nvSpPr>
        <p:spPr>
          <a:xfrm>
            <a:off x="4908000" y="381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Côtes du Rhône  75 cl</a:t>
            </a:r>
            <a:r>
              <a:rPr lang="en-US" sz="690" b="1" dirty="0">
                <a:solidFill>
                  <a:srgbClr val="67067C"/>
                </a:solidFill>
                <a:latin typeface="IBM Plex Sans" pitchFamily="34" charset="0"/>
                <a:ea typeface="IBM Plex Sans" pitchFamily="34" charset="-122"/>
                <a:cs typeface="IBM Plex Sans" pitchFamily="34" charset="-120"/>
              </a:rPr>
              <a:t>  18</a:t>
            </a:r>
            <a:r>
              <a:rPr lang="en-US" sz="690" dirty="0">
                <a:solidFill>
                  <a:srgbClr val="46606E"/>
                </a:solidFill>
                <a:latin typeface="IBM Plex Sans" pitchFamily="34" charset="0"/>
                <a:ea typeface="IBM Plex Sans" pitchFamily="34" charset="-122"/>
                <a:cs typeface="IBM Plex Sans" pitchFamily="34" charset="-120"/>
              </a:rPr>
              <a:t>  31</a:t>
            </a:r>
            <a:endParaRPr lang="en-US" sz="690" dirty="0"/>
          </a:p>
        </p:txBody>
      </p:sp>
      <p:sp>
        <p:nvSpPr>
          <p:cNvPr id="119" name="Text 117"/>
          <p:cNvSpPr/>
          <p:nvPr/>
        </p:nvSpPr>
        <p:spPr>
          <a:xfrm>
            <a:off x="4908000" y="394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Côtes du Rhône</a:t>
            </a:r>
            <a:r>
              <a:rPr lang="en-US" sz="690" b="1" dirty="0">
                <a:solidFill>
                  <a:srgbClr val="67067C"/>
                </a:solidFill>
                <a:latin typeface="IBM Plex Sans" pitchFamily="34" charset="0"/>
                <a:ea typeface="IBM Plex Sans" pitchFamily="34" charset="-122"/>
                <a:cs typeface="IBM Plex Sans" pitchFamily="34" charset="-120"/>
              </a:rPr>
              <a:t>  21</a:t>
            </a:r>
            <a:r>
              <a:rPr lang="en-US" sz="690" dirty="0">
                <a:solidFill>
                  <a:srgbClr val="46606E"/>
                </a:solidFill>
                <a:latin typeface="IBM Plex Sans" pitchFamily="34" charset="0"/>
                <a:ea typeface="IBM Plex Sans" pitchFamily="34" charset="-122"/>
                <a:cs typeface="IBM Plex Sans" pitchFamily="34" charset="-120"/>
              </a:rPr>
              <a:t>  34</a:t>
            </a:r>
            <a:endParaRPr lang="en-US" sz="690" dirty="0"/>
          </a:p>
        </p:txBody>
      </p:sp>
      <p:sp>
        <p:nvSpPr>
          <p:cNvPr id="120" name="Text 118"/>
          <p:cNvSpPr/>
          <p:nvPr/>
        </p:nvSpPr>
        <p:spPr>
          <a:xfrm>
            <a:off x="4908000" y="406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Coyeux</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21" name="Text 119"/>
          <p:cNvSpPr/>
          <p:nvPr/>
        </p:nvSpPr>
        <p:spPr>
          <a:xfrm>
            <a:off x="4908000" y="419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des Fontenelles / Y'a Rien qui Presse</a:t>
            </a:r>
            <a:r>
              <a:rPr lang="en-US" sz="690" b="1" dirty="0">
                <a:solidFill>
                  <a:srgbClr val="67067C"/>
                </a:solidFill>
                <a:latin typeface="IBM Plex Sans" pitchFamily="34" charset="0"/>
                <a:ea typeface="IBM Plex Sans" pitchFamily="34" charset="-122"/>
                <a:cs typeface="IBM Plex Sans" pitchFamily="34" charset="-120"/>
              </a:rPr>
              <a:t>  28</a:t>
            </a:r>
            <a:r>
              <a:rPr lang="en-US" sz="690" dirty="0">
                <a:solidFill>
                  <a:srgbClr val="46606E"/>
                </a:solidFill>
                <a:latin typeface="IBM Plex Sans" pitchFamily="34" charset="0"/>
                <a:ea typeface="IBM Plex Sans" pitchFamily="34" charset="-122"/>
                <a:cs typeface="IBM Plex Sans" pitchFamily="34" charset="-120"/>
              </a:rPr>
              <a:t>  48</a:t>
            </a:r>
            <a:endParaRPr lang="en-US" sz="690" dirty="0"/>
          </a:p>
        </p:txBody>
      </p:sp>
      <p:sp>
        <p:nvSpPr>
          <p:cNvPr id="122" name="Text 120"/>
          <p:cNvSpPr/>
          <p:nvPr/>
        </p:nvSpPr>
        <p:spPr>
          <a:xfrm>
            <a:off x="4908000" y="43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Diane / Le Vin Cœur</a:t>
            </a:r>
            <a:r>
              <a:rPr lang="en-US" sz="690" b="1" dirty="0">
                <a:solidFill>
                  <a:srgbClr val="67067C"/>
                </a:solidFill>
                <a:latin typeface="IBM Plex Sans" pitchFamily="34" charset="0"/>
                <a:ea typeface="IBM Plex Sans" pitchFamily="34" charset="-122"/>
                <a:cs typeface="IBM Plex Sans" pitchFamily="34" charset="-120"/>
              </a:rPr>
              <a:t>  28</a:t>
            </a:r>
            <a:r>
              <a:rPr lang="en-US" sz="690" dirty="0">
                <a:solidFill>
                  <a:srgbClr val="46606E"/>
                </a:solidFill>
                <a:latin typeface="IBM Plex Sans" pitchFamily="34" charset="0"/>
                <a:ea typeface="IBM Plex Sans" pitchFamily="34" charset="-122"/>
                <a:cs typeface="IBM Plex Sans" pitchFamily="34" charset="-120"/>
              </a:rPr>
              <a:t>  48</a:t>
            </a:r>
            <a:endParaRPr lang="en-US" sz="690" dirty="0"/>
          </a:p>
        </p:txBody>
      </p:sp>
      <p:sp>
        <p:nvSpPr>
          <p:cNvPr id="123" name="Text 121"/>
          <p:cNvSpPr/>
          <p:nvPr/>
        </p:nvSpPr>
        <p:spPr>
          <a:xfrm>
            <a:off x="4908000" y="44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Philippe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124" name="Text 122"/>
          <p:cNvSpPr/>
          <p:nvPr/>
        </p:nvSpPr>
        <p:spPr>
          <a:xfrm>
            <a:off x="4908000" y="45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TerraCotta / L'An Fort des Haltères</a:t>
            </a:r>
            <a:r>
              <a:rPr lang="en-US" sz="690" b="1" dirty="0">
                <a:solidFill>
                  <a:srgbClr val="67067C"/>
                </a:solidFill>
                <a:latin typeface="IBM Plex Sans" pitchFamily="34" charset="0"/>
                <a:ea typeface="IBM Plex Sans" pitchFamily="34" charset="-122"/>
                <a:cs typeface="IBM Plex Sans" pitchFamily="34" charset="-120"/>
              </a:rPr>
              <a:t>  28</a:t>
            </a:r>
            <a:r>
              <a:rPr lang="en-US" sz="690" dirty="0">
                <a:solidFill>
                  <a:srgbClr val="46606E"/>
                </a:solidFill>
                <a:latin typeface="IBM Plex Sans" pitchFamily="34" charset="0"/>
                <a:ea typeface="IBM Plex Sans" pitchFamily="34" charset="-122"/>
                <a:cs typeface="IBM Plex Sans" pitchFamily="34" charset="-120"/>
              </a:rPr>
              <a:t>  48</a:t>
            </a:r>
            <a:endParaRPr lang="en-US" sz="690" dirty="0"/>
          </a:p>
        </p:txBody>
      </p:sp>
      <p:sp>
        <p:nvSpPr>
          <p:cNvPr id="125" name="Text 123"/>
          <p:cNvSpPr/>
          <p:nvPr/>
        </p:nvSpPr>
        <p:spPr>
          <a:xfrm>
            <a:off x="4908000" y="46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Dolmen</a:t>
            </a:r>
            <a:r>
              <a:rPr lang="en-US" sz="690" b="1" dirty="0">
                <a:solidFill>
                  <a:srgbClr val="67067C"/>
                </a:solidFill>
                <a:latin typeface="IBM Plex Sans" pitchFamily="34" charset="0"/>
                <a:ea typeface="IBM Plex Sans" pitchFamily="34" charset="-122"/>
                <a:cs typeface="IBM Plex Sans" pitchFamily="34" charset="-120"/>
              </a:rPr>
              <a:t>  34</a:t>
            </a:r>
            <a:r>
              <a:rPr lang="en-US" sz="690" dirty="0">
                <a:solidFill>
                  <a:srgbClr val="46606E"/>
                </a:solidFill>
                <a:latin typeface="IBM Plex Sans" pitchFamily="34" charset="0"/>
                <a:ea typeface="IBM Plex Sans" pitchFamily="34" charset="-122"/>
                <a:cs typeface="IBM Plex Sans" pitchFamily="34" charset="-120"/>
              </a:rPr>
              <a:t>  57</a:t>
            </a:r>
            <a:endParaRPr lang="en-US" sz="690" dirty="0"/>
          </a:p>
        </p:txBody>
      </p:sp>
      <p:sp>
        <p:nvSpPr>
          <p:cNvPr id="126" name="Text 124"/>
          <p:cNvSpPr/>
          <p:nvPr/>
        </p:nvSpPr>
        <p:spPr>
          <a:xfrm>
            <a:off x="4908000" y="48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Duché</a:t>
            </a:r>
            <a:r>
              <a:rPr lang="en-US" sz="690" b="1" dirty="0">
                <a:solidFill>
                  <a:srgbClr val="67067C"/>
                </a:solidFill>
                <a:latin typeface="IBM Plex Sans" pitchFamily="34" charset="0"/>
                <a:ea typeface="IBM Plex Sans" pitchFamily="34" charset="-122"/>
                <a:cs typeface="IBM Plex Sans" pitchFamily="34" charset="-120"/>
              </a:rPr>
              <a:t>  35</a:t>
            </a:r>
            <a:r>
              <a:rPr lang="en-US" sz="690" dirty="0">
                <a:solidFill>
                  <a:srgbClr val="46606E"/>
                </a:solidFill>
                <a:latin typeface="IBM Plex Sans" pitchFamily="34" charset="0"/>
                <a:ea typeface="IBM Plex Sans" pitchFamily="34" charset="-122"/>
                <a:cs typeface="IBM Plex Sans" pitchFamily="34" charset="-120"/>
              </a:rPr>
              <a:t>  58</a:t>
            </a:r>
            <a:endParaRPr lang="en-US" sz="690" dirty="0"/>
          </a:p>
        </p:txBody>
      </p:sp>
      <p:sp>
        <p:nvSpPr>
          <p:cNvPr id="127" name="Text 125"/>
          <p:cNvSpPr/>
          <p:nvPr/>
        </p:nvSpPr>
        <p:spPr>
          <a:xfrm>
            <a:off x="4908000" y="49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Eléonore du Château Teynac</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128" name="Text 126"/>
          <p:cNvSpPr/>
          <p:nvPr/>
        </p:nvSpPr>
        <p:spPr>
          <a:xfrm>
            <a:off x="4908000" y="50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Esprit de Doyac</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129" name="Text 127"/>
          <p:cNvSpPr/>
          <p:nvPr/>
        </p:nvSpPr>
        <p:spPr>
          <a:xfrm>
            <a:off x="4908000" y="52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François Reverdy – Franc / Graves</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130" name="Text 128"/>
          <p:cNvSpPr/>
          <p:nvPr/>
        </p:nvSpPr>
        <p:spPr>
          <a:xfrm>
            <a:off x="4908000" y="53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François Reverdy – Grolleau Noir</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131" name="Text 129"/>
          <p:cNvSpPr/>
          <p:nvPr/>
        </p:nvSpPr>
        <p:spPr>
          <a:xfrm>
            <a:off x="4908000" y="54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Graves de Bouscaut</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132" name="Text 130"/>
          <p:cNvSpPr/>
          <p:nvPr/>
        </p:nvSpPr>
        <p:spPr>
          <a:xfrm>
            <a:off x="4908000" y="55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Hahnenberg (Pinot Noir)</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133" name="Text 131"/>
          <p:cNvSpPr/>
          <p:nvPr/>
        </p:nvSpPr>
        <p:spPr>
          <a:xfrm>
            <a:off x="4908000" y="570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Henri</a:t>
            </a:r>
            <a:r>
              <a:rPr lang="en-US" sz="690" b="1" dirty="0">
                <a:solidFill>
                  <a:srgbClr val="67067C"/>
                </a:solidFill>
                <a:latin typeface="IBM Plex Sans" pitchFamily="34" charset="0"/>
                <a:ea typeface="IBM Plex Sans" pitchFamily="34" charset="-122"/>
                <a:cs typeface="IBM Plex Sans" pitchFamily="34" charset="-120"/>
              </a:rPr>
              <a:t>  34</a:t>
            </a:r>
            <a:r>
              <a:rPr lang="en-US" sz="690" dirty="0">
                <a:solidFill>
                  <a:srgbClr val="46606E"/>
                </a:solidFill>
                <a:latin typeface="IBM Plex Sans" pitchFamily="34" charset="0"/>
                <a:ea typeface="IBM Plex Sans" pitchFamily="34" charset="-122"/>
                <a:cs typeface="IBM Plex Sans" pitchFamily="34" charset="-120"/>
              </a:rPr>
              <a:t>  57</a:t>
            </a:r>
            <a:endParaRPr lang="en-US" sz="690" dirty="0"/>
          </a:p>
        </p:txBody>
      </p:sp>
      <p:sp>
        <p:nvSpPr>
          <p:cNvPr id="134" name="Text 132"/>
          <p:cNvSpPr/>
          <p:nvPr/>
        </p:nvSpPr>
        <p:spPr>
          <a:xfrm>
            <a:off x="4908000" y="583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Cabernet</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135" name="Text 133"/>
          <p:cNvSpPr/>
          <p:nvPr/>
        </p:nvSpPr>
        <p:spPr>
          <a:xfrm>
            <a:off x="4908000" y="595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Méditerranée</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36" name="Text 134"/>
          <p:cNvSpPr/>
          <p:nvPr/>
        </p:nvSpPr>
        <p:spPr>
          <a:xfrm>
            <a:off x="4908000" y="608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Merlot</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137" name="Text 135"/>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68</a:t>
            </a:r>
            <a:endParaRPr lang="en-US" sz="750" dirty="0"/>
          </a:p>
        </p:txBody>
      </p:sp>
      <p:sp>
        <p:nvSpPr>
          <p:cNvPr id="138" name="Text 136"/>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612000" y="5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Inopine (100 % Merlot)</a:t>
            </a:r>
            <a:r>
              <a:rPr lang="en-US" sz="690" b="1" dirty="0">
                <a:solidFill>
                  <a:srgbClr val="67067C"/>
                </a:solidFill>
                <a:latin typeface="IBM Plex Sans" pitchFamily="34" charset="0"/>
                <a:ea typeface="IBM Plex Sans" pitchFamily="34" charset="-122"/>
                <a:cs typeface="IBM Plex Sans" pitchFamily="34" charset="-120"/>
              </a:rPr>
              <a:t>  29</a:t>
            </a:r>
            <a:r>
              <a:rPr lang="en-US" sz="690" dirty="0">
                <a:solidFill>
                  <a:srgbClr val="46606E"/>
                </a:solidFill>
                <a:latin typeface="IBM Plex Sans" pitchFamily="34" charset="0"/>
                <a:ea typeface="IBM Plex Sans" pitchFamily="34" charset="-122"/>
                <a:cs typeface="IBM Plex Sans" pitchFamily="34" charset="-120"/>
              </a:rPr>
              <a:t>  49</a:t>
            </a:r>
            <a:endParaRPr lang="en-US" sz="690" dirty="0"/>
          </a:p>
        </p:txBody>
      </p:sp>
      <p:sp>
        <p:nvSpPr>
          <p:cNvPr id="3" name="Text 1"/>
          <p:cNvSpPr/>
          <p:nvPr/>
        </p:nvSpPr>
        <p:spPr>
          <a:xfrm>
            <a:off x="612000" y="6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JARDINS DE CORBIÈRES  75 cl</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54</a:t>
            </a:r>
            <a:endParaRPr lang="en-US" sz="690" dirty="0"/>
          </a:p>
        </p:txBody>
      </p:sp>
      <p:sp>
        <p:nvSpPr>
          <p:cNvPr id="4" name="Text 2"/>
          <p:cNvSpPr/>
          <p:nvPr/>
        </p:nvSpPr>
        <p:spPr>
          <a:xfrm>
            <a:off x="612000" y="7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JOIO  75 cl</a:t>
            </a:r>
            <a:r>
              <a:rPr lang="en-US" sz="690" b="1" dirty="0">
                <a:solidFill>
                  <a:srgbClr val="67067C"/>
                </a:solidFill>
                <a:latin typeface="IBM Plex Sans" pitchFamily="34" charset="0"/>
                <a:ea typeface="IBM Plex Sans" pitchFamily="34" charset="-122"/>
                <a:cs typeface="IBM Plex Sans" pitchFamily="34" charset="-120"/>
              </a:rPr>
              <a:t>  31</a:t>
            </a:r>
            <a:r>
              <a:rPr lang="en-US" sz="690" dirty="0">
                <a:solidFill>
                  <a:srgbClr val="46606E"/>
                </a:solidFill>
                <a:latin typeface="IBM Plex Sans" pitchFamily="34" charset="0"/>
                <a:ea typeface="IBM Plex Sans" pitchFamily="34" charset="-122"/>
                <a:cs typeface="IBM Plex Sans" pitchFamily="34" charset="-120"/>
              </a:rPr>
              <a:t>  52</a:t>
            </a:r>
            <a:endParaRPr lang="en-US" sz="690" dirty="0"/>
          </a:p>
        </p:txBody>
      </p:sp>
      <p:sp>
        <p:nvSpPr>
          <p:cNvPr id="5" name="Text 3"/>
          <p:cNvSpPr/>
          <p:nvPr/>
        </p:nvSpPr>
        <p:spPr>
          <a:xfrm>
            <a:off x="612000" y="9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L'An 022 – élevé en amphore</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6" name="Text 4"/>
          <p:cNvSpPr/>
          <p:nvPr/>
        </p:nvSpPr>
        <p:spPr>
          <a:xfrm>
            <a:off x="612000" y="10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L'Etoile de Villegeorge</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7" name="Text 5"/>
          <p:cNvSpPr/>
          <p:nvPr/>
        </p:nvSpPr>
        <p:spPr>
          <a:xfrm>
            <a:off x="612000" y="11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L'Oratoire de Chasse-Spleen</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8" name="Text 6"/>
          <p:cNvSpPr/>
          <p:nvPr/>
        </p:nvSpPr>
        <p:spPr>
          <a:xfrm>
            <a:off x="612000" y="12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Bonne Résolution</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9" name="Text 7"/>
          <p:cNvSpPr/>
          <p:nvPr/>
        </p:nvSpPr>
        <p:spPr>
          <a:xfrm>
            <a:off x="612000" y="14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Confiance de l'Escarderie</a:t>
            </a:r>
            <a:r>
              <a:rPr lang="en-US" sz="690" b="1" dirty="0">
                <a:solidFill>
                  <a:srgbClr val="67067C"/>
                </a:solidFill>
                <a:latin typeface="IBM Plex Sans" pitchFamily="34" charset="0"/>
                <a:ea typeface="IBM Plex Sans" pitchFamily="34" charset="-122"/>
                <a:cs typeface="IBM Plex Sans" pitchFamily="34" charset="-120"/>
              </a:rPr>
              <a:t>  30</a:t>
            </a:r>
            <a:r>
              <a:rPr lang="en-US" sz="690" dirty="0">
                <a:solidFill>
                  <a:srgbClr val="46606E"/>
                </a:solidFill>
                <a:latin typeface="IBM Plex Sans" pitchFamily="34" charset="0"/>
                <a:ea typeface="IBM Plex Sans" pitchFamily="34" charset="-122"/>
                <a:cs typeface="IBM Plex Sans" pitchFamily="34" charset="-120"/>
              </a:rPr>
              <a:t>  50</a:t>
            </a:r>
            <a:endParaRPr lang="en-US" sz="690" dirty="0"/>
          </a:p>
        </p:txBody>
      </p:sp>
      <p:sp>
        <p:nvSpPr>
          <p:cNvPr id="10" name="Text 8"/>
          <p:cNvSpPr/>
          <p:nvPr/>
        </p:nvSpPr>
        <p:spPr>
          <a:xfrm>
            <a:off x="612000" y="15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Demoiselle de Saint-Germain</a:t>
            </a:r>
            <a:r>
              <a:rPr lang="en-US" sz="690" b="1" dirty="0">
                <a:solidFill>
                  <a:srgbClr val="67067C"/>
                </a:solidFill>
                <a:latin typeface="IBM Plex Sans" pitchFamily="34" charset="0"/>
                <a:ea typeface="IBM Plex Sans" pitchFamily="34" charset="-122"/>
                <a:cs typeface="IBM Plex Sans" pitchFamily="34" charset="-120"/>
              </a:rPr>
              <a:t>  30</a:t>
            </a:r>
            <a:r>
              <a:rPr lang="en-US" sz="690" dirty="0">
                <a:solidFill>
                  <a:srgbClr val="46606E"/>
                </a:solidFill>
                <a:latin typeface="IBM Plex Sans" pitchFamily="34" charset="0"/>
                <a:ea typeface="IBM Plex Sans" pitchFamily="34" charset="-122"/>
                <a:cs typeface="IBM Plex Sans" pitchFamily="34" charset="-120"/>
              </a:rPr>
              <a:t>  50</a:t>
            </a:r>
            <a:endParaRPr lang="en-US" sz="690" dirty="0"/>
          </a:p>
        </p:txBody>
      </p:sp>
      <p:sp>
        <p:nvSpPr>
          <p:cNvPr id="11" name="Text 9"/>
          <p:cNvSpPr/>
          <p:nvPr/>
        </p:nvSpPr>
        <p:spPr>
          <a:xfrm>
            <a:off x="612000" y="16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Fleur de Haut-Bages Libéral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12" name="Text 10"/>
          <p:cNvSpPr/>
          <p:nvPr/>
        </p:nvSpPr>
        <p:spPr>
          <a:xfrm>
            <a:off x="612000" y="18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Grange Jaumain – Les Soudannes</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13" name="Text 11"/>
          <p:cNvSpPr/>
          <p:nvPr/>
        </p:nvSpPr>
        <p:spPr>
          <a:xfrm>
            <a:off x="612000" y="19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Louisonne</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14" name="Text 12"/>
          <p:cNvSpPr/>
          <p:nvPr/>
        </p:nvSpPr>
        <p:spPr>
          <a:xfrm>
            <a:off x="612000" y="20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Petite Echoppe</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15" name="Text 13"/>
          <p:cNvSpPr/>
          <p:nvPr/>
        </p:nvSpPr>
        <p:spPr>
          <a:xfrm>
            <a:off x="612000" y="21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Petite Syrah</a:t>
            </a:r>
            <a:r>
              <a:rPr lang="en-US" sz="690" b="1" dirty="0">
                <a:solidFill>
                  <a:srgbClr val="67067C"/>
                </a:solidFill>
                <a:latin typeface="IBM Plex Sans" pitchFamily="34" charset="0"/>
                <a:ea typeface="IBM Plex Sans" pitchFamily="34" charset="-122"/>
                <a:cs typeface="IBM Plex Sans" pitchFamily="34" charset="-120"/>
              </a:rPr>
              <a:t>  35</a:t>
            </a:r>
            <a:r>
              <a:rPr lang="en-US" sz="690" dirty="0">
                <a:solidFill>
                  <a:srgbClr val="46606E"/>
                </a:solidFill>
                <a:latin typeface="IBM Plex Sans" pitchFamily="34" charset="0"/>
                <a:ea typeface="IBM Plex Sans" pitchFamily="34" charset="-122"/>
                <a:cs typeface="IBM Plex Sans" pitchFamily="34" charset="-120"/>
              </a:rPr>
              <a:t>  58</a:t>
            </a:r>
            <a:endParaRPr lang="en-US" sz="690" dirty="0"/>
          </a:p>
        </p:txBody>
      </p:sp>
      <p:sp>
        <p:nvSpPr>
          <p:cNvPr id="16" name="Text 14"/>
          <p:cNvSpPr/>
          <p:nvPr/>
        </p:nvSpPr>
        <p:spPr>
          <a:xfrm>
            <a:off x="612000" y="23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Petite Tour de Bessan</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17" name="Text 15"/>
          <p:cNvSpPr/>
          <p:nvPr/>
        </p:nvSpPr>
        <p:spPr>
          <a:xfrm>
            <a:off x="612000" y="24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Potion</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59</a:t>
            </a:r>
            <a:endParaRPr lang="en-US" sz="690" dirty="0"/>
          </a:p>
        </p:txBody>
      </p:sp>
      <p:sp>
        <p:nvSpPr>
          <p:cNvPr id="18" name="Text 16"/>
          <p:cNvSpPr/>
          <p:nvPr/>
        </p:nvSpPr>
        <p:spPr>
          <a:xfrm>
            <a:off x="612000" y="25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Soif</a:t>
            </a:r>
            <a:r>
              <a:rPr lang="en-US" sz="690" b="1" dirty="0">
                <a:solidFill>
                  <a:srgbClr val="67067C"/>
                </a:solidFill>
                <a:latin typeface="IBM Plex Sans" pitchFamily="34" charset="0"/>
                <a:ea typeface="IBM Plex Sans" pitchFamily="34" charset="-122"/>
                <a:cs typeface="IBM Plex Sans" pitchFamily="34" charset="-120"/>
              </a:rPr>
              <a:t>  35</a:t>
            </a:r>
            <a:r>
              <a:rPr lang="en-US" sz="690" dirty="0">
                <a:solidFill>
                  <a:srgbClr val="46606E"/>
                </a:solidFill>
                <a:latin typeface="IBM Plex Sans" pitchFamily="34" charset="0"/>
                <a:ea typeface="IBM Plex Sans" pitchFamily="34" charset="-122"/>
                <a:cs typeface="IBM Plex Sans" pitchFamily="34" charset="-120"/>
              </a:rPr>
              <a:t>  58</a:t>
            </a:r>
            <a:endParaRPr lang="en-US" sz="690" dirty="0"/>
          </a:p>
        </p:txBody>
      </p:sp>
      <p:sp>
        <p:nvSpPr>
          <p:cNvPr id="19" name="Text 17"/>
          <p:cNvSpPr/>
          <p:nvPr/>
        </p:nvSpPr>
        <p:spPr>
          <a:xfrm>
            <a:off x="612000" y="26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Bois Bouquet</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20" name="Text 18"/>
          <p:cNvSpPr/>
          <p:nvPr/>
        </p:nvSpPr>
        <p:spPr>
          <a:xfrm>
            <a:off x="612000" y="28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Cornevent MONOPOLE</a:t>
            </a:r>
            <a:r>
              <a:rPr lang="en-US" sz="690" b="1" dirty="0">
                <a:solidFill>
                  <a:srgbClr val="67067C"/>
                </a:solidFill>
                <a:latin typeface="IBM Plex Sans" pitchFamily="34" charset="0"/>
                <a:ea typeface="IBM Plex Sans" pitchFamily="34" charset="-122"/>
                <a:cs typeface="IBM Plex Sans" pitchFamily="34" charset="-120"/>
              </a:rPr>
              <a:t>  13</a:t>
            </a: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21" name="Text 19"/>
          <p:cNvSpPr/>
          <p:nvPr/>
        </p:nvSpPr>
        <p:spPr>
          <a:xfrm>
            <a:off x="612000" y="293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Hameau de Durfort-Vivens  75 cl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22" name="Text 20"/>
          <p:cNvSpPr/>
          <p:nvPr/>
        </p:nvSpPr>
        <p:spPr>
          <a:xfrm>
            <a:off x="612000" y="306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Hameau de Durfort-Vivens  150 cl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23" name="Text 21"/>
          <p:cNvSpPr/>
          <p:nvPr/>
        </p:nvSpPr>
        <p:spPr>
          <a:xfrm>
            <a:off x="612000" y="318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Plateau de Durfort-Vivens</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24" name="Text 22"/>
          <p:cNvSpPr/>
          <p:nvPr/>
        </p:nvSpPr>
        <p:spPr>
          <a:xfrm>
            <a:off x="612000" y="331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Prieuré</a:t>
            </a:r>
            <a:r>
              <a:rPr lang="en-US" sz="690" b="1" dirty="0">
                <a:solidFill>
                  <a:srgbClr val="67067C"/>
                </a:solidFill>
                <a:latin typeface="IBM Plex Sans" pitchFamily="34" charset="0"/>
                <a:ea typeface="IBM Plex Sans" pitchFamily="34" charset="-122"/>
                <a:cs typeface="IBM Plex Sans" pitchFamily="34" charset="-120"/>
              </a:rPr>
              <a:t>  16</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25" name="Text 23"/>
          <p:cNvSpPr/>
          <p:nvPr/>
        </p:nvSpPr>
        <p:spPr>
          <a:xfrm>
            <a:off x="612000" y="343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Saugeot</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26</a:t>
            </a:r>
            <a:endParaRPr lang="en-US" sz="690" dirty="0"/>
          </a:p>
        </p:txBody>
      </p:sp>
      <p:sp>
        <p:nvSpPr>
          <p:cNvPr id="26" name="Text 24"/>
          <p:cNvSpPr/>
          <p:nvPr/>
        </p:nvSpPr>
        <p:spPr>
          <a:xfrm>
            <a:off x="612000" y="356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Léon</a:t>
            </a:r>
            <a:r>
              <a:rPr lang="en-US" sz="690" b="1" dirty="0">
                <a:solidFill>
                  <a:srgbClr val="67067C"/>
                </a:solidFill>
                <a:latin typeface="IBM Plex Sans" pitchFamily="34" charset="0"/>
                <a:ea typeface="IBM Plex Sans" pitchFamily="34" charset="-122"/>
                <a:cs typeface="IBM Plex Sans" pitchFamily="34" charset="-120"/>
              </a:rPr>
              <a:t>  34</a:t>
            </a:r>
            <a:r>
              <a:rPr lang="en-US" sz="690" dirty="0">
                <a:solidFill>
                  <a:srgbClr val="46606E"/>
                </a:solidFill>
                <a:latin typeface="IBM Plex Sans" pitchFamily="34" charset="0"/>
                <a:ea typeface="IBM Plex Sans" pitchFamily="34" charset="-122"/>
                <a:cs typeface="IBM Plex Sans" pitchFamily="34" charset="-120"/>
              </a:rPr>
              <a:t>  57</a:t>
            </a:r>
            <a:endParaRPr lang="en-US" sz="690" dirty="0"/>
          </a:p>
        </p:txBody>
      </p:sp>
      <p:sp>
        <p:nvSpPr>
          <p:cNvPr id="27" name="Text 25"/>
          <p:cNvSpPr/>
          <p:nvPr/>
        </p:nvSpPr>
        <p:spPr>
          <a:xfrm>
            <a:off x="612000" y="369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Aigrots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28" name="Text 26"/>
          <p:cNvSpPr/>
          <p:nvPr/>
        </p:nvSpPr>
        <p:spPr>
          <a:xfrm>
            <a:off x="612000" y="381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banquettes</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29" name="Text 27"/>
          <p:cNvSpPr/>
          <p:nvPr/>
        </p:nvSpPr>
        <p:spPr>
          <a:xfrm>
            <a:off x="612000" y="394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Bons Feuvres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30" name="Text 28"/>
          <p:cNvSpPr/>
          <p:nvPr/>
        </p:nvSpPr>
        <p:spPr>
          <a:xfrm>
            <a:off x="612000" y="406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Coups de Folies</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18</a:t>
            </a:r>
            <a:endParaRPr lang="en-US" sz="690" dirty="0"/>
          </a:p>
        </p:txBody>
      </p:sp>
      <p:sp>
        <p:nvSpPr>
          <p:cNvPr id="31" name="Text 29"/>
          <p:cNvSpPr/>
          <p:nvPr/>
        </p:nvSpPr>
        <p:spPr>
          <a:xfrm>
            <a:off x="612000" y="419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Courbes</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32" name="Text 30"/>
          <p:cNvSpPr/>
          <p:nvPr/>
        </p:nvSpPr>
        <p:spPr>
          <a:xfrm>
            <a:off x="612000" y="43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Demoiselles de Falfas</a:t>
            </a:r>
            <a:r>
              <a:rPr lang="en-US" sz="690" b="1" dirty="0">
                <a:solidFill>
                  <a:srgbClr val="67067C"/>
                </a:solidFill>
                <a:latin typeface="IBM Plex Sans" pitchFamily="34" charset="0"/>
                <a:ea typeface="IBM Plex Sans" pitchFamily="34" charset="-122"/>
                <a:cs typeface="IBM Plex Sans" pitchFamily="34" charset="-120"/>
              </a:rPr>
              <a:t>  27</a:t>
            </a:r>
            <a:r>
              <a:rPr lang="en-US" sz="690" dirty="0">
                <a:solidFill>
                  <a:srgbClr val="46606E"/>
                </a:solidFill>
                <a:latin typeface="IBM Plex Sans" pitchFamily="34" charset="0"/>
                <a:ea typeface="IBM Plex Sans" pitchFamily="34" charset="-122"/>
                <a:cs typeface="IBM Plex Sans" pitchFamily="34" charset="-120"/>
              </a:rPr>
              <a:t>  47</a:t>
            </a:r>
            <a:endParaRPr lang="en-US" sz="690" dirty="0"/>
          </a:p>
        </p:txBody>
      </p:sp>
      <p:sp>
        <p:nvSpPr>
          <p:cNvPr id="33" name="Text 31"/>
          <p:cNvSpPr/>
          <p:nvPr/>
        </p:nvSpPr>
        <p:spPr>
          <a:xfrm>
            <a:off x="612000" y="44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Gneiss</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34" name="Text 32"/>
          <p:cNvSpPr/>
          <p:nvPr/>
        </p:nvSpPr>
        <p:spPr>
          <a:xfrm>
            <a:off x="612000" y="45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Hauts de Pez</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35" name="Text 33"/>
          <p:cNvSpPr/>
          <p:nvPr/>
        </p:nvSpPr>
        <p:spPr>
          <a:xfrm>
            <a:off x="612000" y="46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Hauts des Olivoux</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36" name="Text 34"/>
          <p:cNvSpPr/>
          <p:nvPr/>
        </p:nvSpPr>
        <p:spPr>
          <a:xfrm>
            <a:off x="612000" y="48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Jumelles</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37" name="Text 35"/>
          <p:cNvSpPr/>
          <p:nvPr/>
        </p:nvSpPr>
        <p:spPr>
          <a:xfrm>
            <a:off x="612000" y="49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Maréchaudes</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38" name="Text 36"/>
          <p:cNvSpPr/>
          <p:nvPr/>
        </p:nvSpPr>
        <p:spPr>
          <a:xfrm>
            <a:off x="612000" y="50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Perrières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39" name="Text 37"/>
          <p:cNvSpPr/>
          <p:nvPr/>
        </p:nvSpPr>
        <p:spPr>
          <a:xfrm>
            <a:off x="612000" y="52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Petits Noizons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40" name="Text 38"/>
          <p:cNvSpPr/>
          <p:nvPr/>
        </p:nvSpPr>
        <p:spPr>
          <a:xfrm>
            <a:off x="612000" y="53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Plantes de Durfort-Vivens</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41" name="Text 39"/>
          <p:cNvSpPr/>
          <p:nvPr/>
        </p:nvSpPr>
        <p:spPr>
          <a:xfrm>
            <a:off x="612000" y="54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Silex  2023</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42" name="Text 40"/>
          <p:cNvSpPr/>
          <p:nvPr/>
        </p:nvSpPr>
        <p:spPr>
          <a:xfrm>
            <a:off x="612000" y="55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Vaux Dessus</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26</a:t>
            </a:r>
            <a:endParaRPr lang="en-US" sz="690" dirty="0"/>
          </a:p>
        </p:txBody>
      </p:sp>
      <p:sp>
        <p:nvSpPr>
          <p:cNvPr id="43" name="Text 41"/>
          <p:cNvSpPr/>
          <p:nvPr/>
        </p:nvSpPr>
        <p:spPr>
          <a:xfrm>
            <a:off x="2652000" y="5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Librotte</a:t>
            </a:r>
            <a:r>
              <a:rPr lang="en-US" sz="690" b="1" dirty="0">
                <a:solidFill>
                  <a:srgbClr val="67067C"/>
                </a:solidFill>
                <a:latin typeface="IBM Plex Sans" pitchFamily="34" charset="0"/>
                <a:ea typeface="IBM Plex Sans" pitchFamily="34" charset="-122"/>
                <a:cs typeface="IBM Plex Sans" pitchFamily="34" charset="-120"/>
              </a:rPr>
              <a:t>  35</a:t>
            </a:r>
            <a:r>
              <a:rPr lang="en-US" sz="690" dirty="0">
                <a:solidFill>
                  <a:srgbClr val="46606E"/>
                </a:solidFill>
                <a:latin typeface="IBM Plex Sans" pitchFamily="34" charset="0"/>
                <a:ea typeface="IBM Plex Sans" pitchFamily="34" charset="-122"/>
                <a:cs typeface="IBM Plex Sans" pitchFamily="34" charset="-120"/>
              </a:rPr>
              <a:t>  58</a:t>
            </a:r>
            <a:endParaRPr lang="en-US" sz="690" dirty="0"/>
          </a:p>
        </p:txBody>
      </p:sp>
      <p:sp>
        <p:nvSpPr>
          <p:cNvPr id="44" name="Text 42"/>
          <p:cNvSpPr/>
          <p:nvPr/>
        </p:nvSpPr>
        <p:spPr>
          <a:xfrm>
            <a:off x="2652000" y="6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Lou Daro</a:t>
            </a:r>
            <a:r>
              <a:rPr lang="en-US" sz="690" b="1" dirty="0">
                <a:solidFill>
                  <a:srgbClr val="67067C"/>
                </a:solidFill>
                <a:latin typeface="IBM Plex Sans" pitchFamily="34" charset="0"/>
                <a:ea typeface="IBM Plex Sans" pitchFamily="34" charset="-122"/>
                <a:cs typeface="IBM Plex Sans" pitchFamily="34" charset="-120"/>
              </a:rPr>
              <a:t>  34</a:t>
            </a:r>
            <a:r>
              <a:rPr lang="en-US" sz="690" dirty="0">
                <a:solidFill>
                  <a:srgbClr val="46606E"/>
                </a:solidFill>
                <a:latin typeface="IBM Plex Sans" pitchFamily="34" charset="0"/>
                <a:ea typeface="IBM Plex Sans" pitchFamily="34" charset="-122"/>
                <a:cs typeface="IBM Plex Sans" pitchFamily="34" charset="-120"/>
              </a:rPr>
              <a:t>  57</a:t>
            </a:r>
            <a:endParaRPr lang="en-US" sz="690" dirty="0"/>
          </a:p>
        </p:txBody>
      </p:sp>
      <p:sp>
        <p:nvSpPr>
          <p:cNvPr id="45" name="Text 43"/>
          <p:cNvSpPr/>
          <p:nvPr/>
        </p:nvSpPr>
        <p:spPr>
          <a:xfrm>
            <a:off x="2652000" y="7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LULLULA</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54</a:t>
            </a:r>
            <a:endParaRPr lang="en-US" sz="690" dirty="0"/>
          </a:p>
        </p:txBody>
      </p:sp>
      <p:sp>
        <p:nvSpPr>
          <p:cNvPr id="46" name="Text 44"/>
          <p:cNvSpPr/>
          <p:nvPr/>
        </p:nvSpPr>
        <p:spPr>
          <a:xfrm>
            <a:off x="2652000" y="9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Mâcon Mancey  75 cl</a:t>
            </a:r>
            <a:r>
              <a:rPr lang="en-US" sz="690" b="1" dirty="0">
                <a:solidFill>
                  <a:srgbClr val="67067C"/>
                </a:solidFill>
                <a:latin typeface="IBM Plex Sans" pitchFamily="34" charset="0"/>
                <a:ea typeface="IBM Plex Sans" pitchFamily="34" charset="-122"/>
                <a:cs typeface="IBM Plex Sans" pitchFamily="34" charset="-120"/>
              </a:rPr>
              <a:t>  15</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47" name="Text 45"/>
          <p:cNvSpPr/>
          <p:nvPr/>
        </p:nvSpPr>
        <p:spPr>
          <a:xfrm>
            <a:off x="2652000" y="10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Molse Rouge (Pinot Noir)</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48" name="Text 46"/>
          <p:cNvSpPr/>
          <p:nvPr/>
        </p:nvSpPr>
        <p:spPr>
          <a:xfrm>
            <a:off x="2652000" y="11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N°2 De Fourcas Dupré</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49" name="Text 47"/>
          <p:cNvSpPr/>
          <p:nvPr/>
        </p:nvSpPr>
        <p:spPr>
          <a:xfrm>
            <a:off x="2652000" y="12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N°4 Triton</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50" name="Text 48"/>
          <p:cNvSpPr/>
          <p:nvPr/>
        </p:nvSpPr>
        <p:spPr>
          <a:xfrm>
            <a:off x="2652000" y="14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Néolitik</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51" name="Text 49"/>
          <p:cNvSpPr/>
          <p:nvPr/>
        </p:nvSpPr>
        <p:spPr>
          <a:xfrm>
            <a:off x="2652000" y="15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Passion de Château l'Escarderie  75 cl</a:t>
            </a:r>
            <a:r>
              <a:rPr lang="en-US" sz="690" b="1" dirty="0">
                <a:solidFill>
                  <a:srgbClr val="67067C"/>
                </a:solidFill>
                <a:latin typeface="IBM Plex Sans" pitchFamily="34" charset="0"/>
                <a:ea typeface="IBM Plex Sans" pitchFamily="34" charset="-122"/>
                <a:cs typeface="IBM Plex Sans" pitchFamily="34" charset="-120"/>
              </a:rPr>
              <a:t>  30</a:t>
            </a:r>
            <a:r>
              <a:rPr lang="en-US" sz="690" dirty="0">
                <a:solidFill>
                  <a:srgbClr val="46606E"/>
                </a:solidFill>
                <a:latin typeface="IBM Plex Sans" pitchFamily="34" charset="0"/>
                <a:ea typeface="IBM Plex Sans" pitchFamily="34" charset="-122"/>
                <a:cs typeface="IBM Plex Sans" pitchFamily="34" charset="-120"/>
              </a:rPr>
              <a:t>  50</a:t>
            </a:r>
            <a:endParaRPr lang="en-US" sz="690" dirty="0"/>
          </a:p>
        </p:txBody>
      </p:sp>
      <p:sp>
        <p:nvSpPr>
          <p:cNvPr id="52" name="Text 50"/>
          <p:cNvSpPr/>
          <p:nvPr/>
        </p:nvSpPr>
        <p:spPr>
          <a:xfrm>
            <a:off x="2652000" y="16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Passion de Château l'Escarderie  75 cl</a:t>
            </a:r>
            <a:r>
              <a:rPr lang="en-US" sz="690" b="1" dirty="0">
                <a:solidFill>
                  <a:srgbClr val="67067C"/>
                </a:solidFill>
                <a:latin typeface="IBM Plex Sans" pitchFamily="34" charset="0"/>
                <a:ea typeface="IBM Plex Sans" pitchFamily="34" charset="-122"/>
                <a:cs typeface="IBM Plex Sans" pitchFamily="34" charset="-120"/>
              </a:rPr>
              <a:t>  30</a:t>
            </a:r>
            <a:r>
              <a:rPr lang="en-US" sz="690" dirty="0">
                <a:solidFill>
                  <a:srgbClr val="46606E"/>
                </a:solidFill>
                <a:latin typeface="IBM Plex Sans" pitchFamily="34" charset="0"/>
                <a:ea typeface="IBM Plex Sans" pitchFamily="34" charset="-122"/>
                <a:cs typeface="IBM Plex Sans" pitchFamily="34" charset="-120"/>
              </a:rPr>
              <a:t>  50</a:t>
            </a:r>
            <a:endParaRPr lang="en-US" sz="690" dirty="0"/>
          </a:p>
        </p:txBody>
      </p:sp>
      <p:sp>
        <p:nvSpPr>
          <p:cNvPr id="53" name="Text 51"/>
          <p:cNvSpPr/>
          <p:nvPr/>
        </p:nvSpPr>
        <p:spPr>
          <a:xfrm>
            <a:off x="2652000" y="18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PETIT JARDIN  75 cl</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54</a:t>
            </a:r>
            <a:endParaRPr lang="en-US" sz="690" dirty="0"/>
          </a:p>
        </p:txBody>
      </p:sp>
      <p:sp>
        <p:nvSpPr>
          <p:cNvPr id="54" name="Text 52"/>
          <p:cNvSpPr/>
          <p:nvPr/>
        </p:nvSpPr>
        <p:spPr>
          <a:xfrm>
            <a:off x="2652000" y="19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Pinot 100 % – vinification égrappée</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59</a:t>
            </a:r>
            <a:endParaRPr lang="en-US" sz="690" dirty="0"/>
          </a:p>
        </p:txBody>
      </p:sp>
      <p:sp>
        <p:nvSpPr>
          <p:cNvPr id="55" name="Text 53"/>
          <p:cNvSpPr/>
          <p:nvPr/>
        </p:nvSpPr>
        <p:spPr>
          <a:xfrm>
            <a:off x="2652000" y="20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Pinot Noir</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56" name="Text 54"/>
          <p:cNvSpPr/>
          <p:nvPr/>
        </p:nvSpPr>
        <p:spPr>
          <a:xfrm>
            <a:off x="2652000" y="21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Préface</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57" name="Text 55"/>
          <p:cNvSpPr/>
          <p:nvPr/>
        </p:nvSpPr>
        <p:spPr>
          <a:xfrm>
            <a:off x="2652000" y="23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Prétexte</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58" name="Text 56"/>
          <p:cNvSpPr/>
          <p:nvPr/>
        </p:nvSpPr>
        <p:spPr>
          <a:xfrm>
            <a:off x="2652000" y="24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Reflet – Gamay</a:t>
            </a:r>
            <a:r>
              <a:rPr lang="en-US" sz="690" b="1" dirty="0">
                <a:solidFill>
                  <a:srgbClr val="67067C"/>
                </a:solidFill>
                <a:latin typeface="IBM Plex Sans" pitchFamily="34" charset="0"/>
                <a:ea typeface="IBM Plex Sans" pitchFamily="34" charset="-122"/>
                <a:cs typeface="IBM Plex Sans" pitchFamily="34" charset="-120"/>
              </a:rPr>
              <a:t>  5</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59" name="Text 57"/>
          <p:cNvSpPr/>
          <p:nvPr/>
        </p:nvSpPr>
        <p:spPr>
          <a:xfrm>
            <a:off x="2652000" y="25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Rouge au lèvres</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60" name="Text 58"/>
          <p:cNvSpPr/>
          <p:nvPr/>
        </p:nvSpPr>
        <p:spPr>
          <a:xfrm>
            <a:off x="2652000" y="26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Rouge Intense – sans sulfites ajoutés</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61" name="Text 59"/>
          <p:cNvSpPr/>
          <p:nvPr/>
        </p:nvSpPr>
        <p:spPr>
          <a:xfrm>
            <a:off x="2652000" y="28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ROUGE SÉRAME</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54</a:t>
            </a:r>
            <a:endParaRPr lang="en-US" sz="690" dirty="0"/>
          </a:p>
        </p:txBody>
      </p:sp>
      <p:sp>
        <p:nvSpPr>
          <p:cNvPr id="62" name="Text 60"/>
          <p:cNvSpPr/>
          <p:nvPr/>
        </p:nvSpPr>
        <p:spPr>
          <a:xfrm>
            <a:off x="2652000" y="293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Seiler (Pinot Noir)</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63" name="Text 61"/>
          <p:cNvSpPr/>
          <p:nvPr/>
        </p:nvSpPr>
        <p:spPr>
          <a:xfrm>
            <a:off x="2652000" y="306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Sonate</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59</a:t>
            </a:r>
            <a:endParaRPr lang="en-US" sz="690" dirty="0"/>
          </a:p>
        </p:txBody>
      </p:sp>
      <p:sp>
        <p:nvSpPr>
          <p:cNvPr id="64" name="Text 62"/>
          <p:cNvSpPr/>
          <p:nvPr/>
        </p:nvSpPr>
        <p:spPr>
          <a:xfrm>
            <a:off x="2652000" y="318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Syrah de Balac</a:t>
            </a:r>
            <a:r>
              <a:rPr lang="en-US" sz="690" b="1" dirty="0">
                <a:solidFill>
                  <a:srgbClr val="67067C"/>
                </a:solidFill>
                <a:latin typeface="IBM Plex Sans" pitchFamily="34" charset="0"/>
                <a:ea typeface="IBM Plex Sans" pitchFamily="34" charset="-122"/>
                <a:cs typeface="IBM Plex Sans" pitchFamily="34" charset="-120"/>
              </a:rPr>
              <a:t>  29</a:t>
            </a:r>
            <a:r>
              <a:rPr lang="en-US" sz="690" dirty="0">
                <a:solidFill>
                  <a:srgbClr val="46606E"/>
                </a:solidFill>
                <a:latin typeface="IBM Plex Sans" pitchFamily="34" charset="0"/>
                <a:ea typeface="IBM Plex Sans" pitchFamily="34" charset="-122"/>
                <a:cs typeface="IBM Plex Sans" pitchFamily="34" charset="-120"/>
              </a:rPr>
              <a:t>  49</a:t>
            </a:r>
            <a:endParaRPr lang="en-US" sz="690" dirty="0"/>
          </a:p>
        </p:txBody>
      </p:sp>
      <p:sp>
        <p:nvSpPr>
          <p:cNvPr id="65" name="Text 63"/>
          <p:cNvSpPr/>
          <p:nvPr/>
        </p:nvSpPr>
        <p:spPr>
          <a:xfrm>
            <a:off x="2652000" y="331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Syrah Nature</a:t>
            </a:r>
            <a:r>
              <a:rPr lang="en-US" sz="690" b="1" dirty="0">
                <a:solidFill>
                  <a:srgbClr val="67067C"/>
                </a:solidFill>
                <a:latin typeface="IBM Plex Sans" pitchFamily="34" charset="0"/>
                <a:ea typeface="IBM Plex Sans" pitchFamily="34" charset="-122"/>
                <a:cs typeface="IBM Plex Sans" pitchFamily="34" charset="-120"/>
              </a:rPr>
              <a:t>  34</a:t>
            </a:r>
            <a:r>
              <a:rPr lang="en-US" sz="690" dirty="0">
                <a:solidFill>
                  <a:srgbClr val="46606E"/>
                </a:solidFill>
                <a:latin typeface="IBM Plex Sans" pitchFamily="34" charset="0"/>
                <a:ea typeface="IBM Plex Sans" pitchFamily="34" charset="-122"/>
                <a:cs typeface="IBM Plex Sans" pitchFamily="34" charset="-120"/>
              </a:rPr>
              <a:t>  57</a:t>
            </a:r>
            <a:endParaRPr lang="en-US" sz="690" dirty="0"/>
          </a:p>
        </p:txBody>
      </p:sp>
      <p:sp>
        <p:nvSpPr>
          <p:cNvPr id="66" name="Text 64"/>
          <p:cNvSpPr/>
          <p:nvPr/>
        </p:nvSpPr>
        <p:spPr>
          <a:xfrm>
            <a:off x="2652000" y="343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Tempo – élevé en fûts de chêne</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59</a:t>
            </a:r>
            <a:endParaRPr lang="en-US" sz="690" dirty="0"/>
          </a:p>
        </p:txBody>
      </p:sp>
      <p:sp>
        <p:nvSpPr>
          <p:cNvPr id="67" name="Text 65"/>
          <p:cNvSpPr/>
          <p:nvPr/>
        </p:nvSpPr>
        <p:spPr>
          <a:xfrm>
            <a:off x="2652000" y="356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Terre Rouge  75 cl</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59</a:t>
            </a:r>
            <a:endParaRPr lang="en-US" sz="690" dirty="0"/>
          </a:p>
        </p:txBody>
      </p:sp>
      <p:sp>
        <p:nvSpPr>
          <p:cNvPr id="68" name="Text 66"/>
          <p:cNvSpPr/>
          <p:nvPr/>
        </p:nvSpPr>
        <p:spPr>
          <a:xfrm>
            <a:off x="2652000" y="369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Terre Rouge  Magnum 1,5 L</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59</a:t>
            </a:r>
            <a:endParaRPr lang="en-US" sz="690" dirty="0"/>
          </a:p>
        </p:txBody>
      </p:sp>
      <p:sp>
        <p:nvSpPr>
          <p:cNvPr id="69" name="Text 67"/>
          <p:cNvSpPr/>
          <p:nvPr/>
        </p:nvSpPr>
        <p:spPr>
          <a:xfrm>
            <a:off x="2652000" y="381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Terroir d'Ansouis  75 cl</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70" name="Text 68"/>
          <p:cNvSpPr/>
          <p:nvPr/>
        </p:nvSpPr>
        <p:spPr>
          <a:xfrm>
            <a:off x="2652000" y="394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Triton</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71" name="Text 69"/>
          <p:cNvSpPr/>
          <p:nvPr/>
        </p:nvSpPr>
        <p:spPr>
          <a:xfrm>
            <a:off x="2652000" y="406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Vacqueyras  75 cl</a:t>
            </a:r>
            <a:r>
              <a:rPr lang="en-US" sz="690" b="1" dirty="0">
                <a:solidFill>
                  <a:srgbClr val="67067C"/>
                </a:solidFill>
                <a:latin typeface="IBM Plex Sans" pitchFamily="34" charset="0"/>
                <a:ea typeface="IBM Plex Sans" pitchFamily="34" charset="-122"/>
                <a:cs typeface="IBM Plex Sans" pitchFamily="34" charset="-120"/>
              </a:rPr>
              <a:t>  21</a:t>
            </a:r>
            <a:r>
              <a:rPr lang="en-US" sz="690" dirty="0">
                <a:solidFill>
                  <a:srgbClr val="46606E"/>
                </a:solidFill>
                <a:latin typeface="IBM Plex Sans" pitchFamily="34" charset="0"/>
                <a:ea typeface="IBM Plex Sans" pitchFamily="34" charset="-122"/>
                <a:cs typeface="IBM Plex Sans" pitchFamily="34" charset="-120"/>
              </a:rPr>
              <a:t>  34</a:t>
            </a:r>
            <a:endParaRPr lang="en-US" sz="690" dirty="0"/>
          </a:p>
        </p:txBody>
      </p:sp>
      <p:sp>
        <p:nvSpPr>
          <p:cNvPr id="72" name="Text 70"/>
          <p:cNvSpPr/>
          <p:nvPr/>
        </p:nvSpPr>
        <p:spPr>
          <a:xfrm>
            <a:off x="2652000" y="419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Vieilles Vignes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73" name="Text 71"/>
          <p:cNvSpPr/>
          <p:nvPr/>
        </p:nvSpPr>
        <p:spPr>
          <a:xfrm>
            <a:off x="2652000" y="43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Vieilles Vignes  75 cl</a:t>
            </a:r>
            <a:r>
              <a:rPr lang="en-US" sz="690" b="1" dirty="0">
                <a:solidFill>
                  <a:srgbClr val="67067C"/>
                </a:solidFill>
                <a:latin typeface="IBM Plex Sans" pitchFamily="34" charset="0"/>
                <a:ea typeface="IBM Plex Sans" pitchFamily="34" charset="-122"/>
                <a:cs typeface="IBM Plex Sans" pitchFamily="34" charset="-120"/>
              </a:rPr>
              <a:t>  16</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74" name="Text 72"/>
          <p:cNvSpPr/>
          <p:nvPr/>
        </p:nvSpPr>
        <p:spPr>
          <a:xfrm>
            <a:off x="2652000" y="44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de France Pinot Noir  2024/2025</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75" name="Text 73"/>
          <p:cNvSpPr/>
          <p:nvPr/>
        </p:nvSpPr>
        <p:spPr>
          <a:xfrm>
            <a:off x="2652000" y="45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de France-Syrah</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76" name="Text 74"/>
          <p:cNvSpPr/>
          <p:nvPr/>
        </p:nvSpPr>
        <p:spPr>
          <a:xfrm>
            <a:off x="2652000" y="46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de Pays de Vaucluse</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33</a:t>
            </a:r>
            <a:endParaRPr lang="en-US" sz="690" dirty="0"/>
          </a:p>
        </p:txBody>
      </p:sp>
      <p:sp>
        <p:nvSpPr>
          <p:cNvPr id="77" name="Text 75"/>
          <p:cNvSpPr/>
          <p:nvPr/>
        </p:nvSpPr>
        <p:spPr>
          <a:xfrm>
            <a:off x="2652000" y="4824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DOUX</a:t>
            </a:r>
            <a:endParaRPr lang="en-US" sz="800" dirty="0"/>
          </a:p>
        </p:txBody>
      </p:sp>
      <p:sp>
        <p:nvSpPr>
          <p:cNvPr id="78" name="Text 76"/>
          <p:cNvSpPr/>
          <p:nvPr/>
        </p:nvSpPr>
        <p:spPr>
          <a:xfrm>
            <a:off x="2652000" y="49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Adn 24  75 cl</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79" name="Text 77"/>
          <p:cNvSpPr/>
          <p:nvPr/>
        </p:nvSpPr>
        <p:spPr>
          <a:xfrm>
            <a:off x="2652000" y="50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Monbazillac</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80" name="Text 78"/>
          <p:cNvSpPr/>
          <p:nvPr/>
        </p:nvSpPr>
        <p:spPr>
          <a:xfrm>
            <a:off x="2652000" y="52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Cabernet d’Anjou</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81" name="Text 79"/>
          <p:cNvSpPr/>
          <p:nvPr/>
        </p:nvSpPr>
        <p:spPr>
          <a:xfrm>
            <a:off x="2652000" y="53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Du Mayne</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82" name="Text 80"/>
          <p:cNvSpPr/>
          <p:nvPr/>
        </p:nvSpPr>
        <p:spPr>
          <a:xfrm>
            <a:off x="2652000" y="54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Coteaux du Layon</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83" name="Text 81"/>
          <p:cNvSpPr/>
          <p:nvPr/>
        </p:nvSpPr>
        <p:spPr>
          <a:xfrm>
            <a:off x="2652000" y="55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Coteaux du Layon Faye</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84" name="Text 82"/>
          <p:cNvSpPr/>
          <p:nvPr/>
        </p:nvSpPr>
        <p:spPr>
          <a:xfrm>
            <a:off x="4692000" y="5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N°7 Venus</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85" name="Text 83"/>
          <p:cNvSpPr/>
          <p:nvPr/>
        </p:nvSpPr>
        <p:spPr>
          <a:xfrm>
            <a:off x="4692000" y="6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N°8 Grand Pavois</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86" name="Text 84"/>
          <p:cNvSpPr/>
          <p:nvPr/>
        </p:nvSpPr>
        <p:spPr>
          <a:xfrm>
            <a:off x="4692000" y="7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Saint-Georges (Gewurztraminer)</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87" name="Text 85"/>
          <p:cNvSpPr/>
          <p:nvPr/>
        </p:nvSpPr>
        <p:spPr>
          <a:xfrm>
            <a:off x="4692000" y="9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Saint-Georges (Pinot Gris)</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88" name="Text 86"/>
          <p:cNvSpPr/>
          <p:nvPr/>
        </p:nvSpPr>
        <p:spPr>
          <a:xfrm>
            <a:off x="4692000" y="10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VDF</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89" name="Text 87"/>
          <p:cNvSpPr/>
          <p:nvPr/>
        </p:nvSpPr>
        <p:spPr>
          <a:xfrm>
            <a:off x="4692000" y="1170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SANS ALCOOL</a:t>
            </a:r>
            <a:endParaRPr lang="en-US" sz="800" dirty="0"/>
          </a:p>
        </p:txBody>
      </p:sp>
      <p:sp>
        <p:nvSpPr>
          <p:cNvPr id="90" name="Text 88"/>
          <p:cNvSpPr/>
          <p:nvPr/>
        </p:nvSpPr>
        <p:spPr>
          <a:xfrm>
            <a:off x="4692000" y="12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Chenin Blanc</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91" name="Text 89"/>
          <p:cNvSpPr/>
          <p:nvPr/>
        </p:nvSpPr>
        <p:spPr>
          <a:xfrm>
            <a:off x="4692000" y="14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Rosé</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92" name="Text 90"/>
          <p:cNvSpPr/>
          <p:nvPr/>
        </p:nvSpPr>
        <p:spPr>
          <a:xfrm>
            <a:off x="4692000" y="15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Sauvignon</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93" name="Text 91"/>
          <p:cNvSpPr/>
          <p:nvPr/>
        </p:nvSpPr>
        <p:spPr>
          <a:xfrm>
            <a:off x="4692000" y="16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Sauvignon Blanc Blush</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94" name="Text 92"/>
          <p:cNvSpPr/>
          <p:nvPr/>
        </p:nvSpPr>
        <p:spPr>
          <a:xfrm>
            <a:off x="4692000" y="18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sans alcool</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95" name="Text 93"/>
          <p:cNvSpPr/>
          <p:nvPr/>
        </p:nvSpPr>
        <p:spPr>
          <a:xfrm>
            <a:off x="4692000" y="19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sans alcool 0,5 %</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96" name="Text 94"/>
          <p:cNvSpPr/>
          <p:nvPr/>
        </p:nvSpPr>
        <p:spPr>
          <a:xfrm>
            <a:off x="4692000" y="20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sans alcool 0,5 %</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97" name="Text 95"/>
          <p:cNvSpPr/>
          <p:nvPr/>
        </p:nvSpPr>
        <p:spPr>
          <a:xfrm>
            <a:off x="4692000" y="21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sans alcool pétillant</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98" name="Text 96"/>
          <p:cNvSpPr/>
          <p:nvPr/>
        </p:nvSpPr>
        <p:spPr>
          <a:xfrm>
            <a:off x="4692000" y="2304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JUS DE CÉPAGES</a:t>
            </a:r>
            <a:endParaRPr lang="en-US" sz="800" dirty="0"/>
          </a:p>
        </p:txBody>
      </p:sp>
      <p:sp>
        <p:nvSpPr>
          <p:cNvPr id="99" name="Text 97"/>
          <p:cNvSpPr/>
          <p:nvPr/>
        </p:nvSpPr>
        <p:spPr>
          <a:xfrm>
            <a:off x="4692000" y="24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SYRAH  50 cl</a:t>
            </a:r>
            <a:r>
              <a:rPr lang="en-US" sz="690" b="1" dirty="0">
                <a:solidFill>
                  <a:srgbClr val="67067C"/>
                </a:solidFill>
                <a:latin typeface="IBM Plex Sans" pitchFamily="34" charset="0"/>
                <a:ea typeface="IBM Plex Sans" pitchFamily="34" charset="-122"/>
                <a:cs typeface="IBM Plex Sans" pitchFamily="34" charset="-120"/>
              </a:rPr>
              <a:t>  33</a:t>
            </a:r>
            <a:r>
              <a:rPr lang="en-US" sz="690" dirty="0">
                <a:solidFill>
                  <a:srgbClr val="46606E"/>
                </a:solidFill>
                <a:latin typeface="IBM Plex Sans" pitchFamily="34" charset="0"/>
                <a:ea typeface="IBM Plex Sans" pitchFamily="34" charset="-122"/>
                <a:cs typeface="IBM Plex Sans" pitchFamily="34" charset="-120"/>
              </a:rPr>
              <a:t>  56</a:t>
            </a:r>
            <a:endParaRPr lang="en-US" sz="690" dirty="0"/>
          </a:p>
        </p:txBody>
      </p:sp>
      <p:sp>
        <p:nvSpPr>
          <p:cNvPr id="100" name="Text 98"/>
          <p:cNvSpPr/>
          <p:nvPr/>
        </p:nvSpPr>
        <p:spPr>
          <a:xfrm>
            <a:off x="4692000" y="25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SYRAH  25 cl</a:t>
            </a:r>
            <a:r>
              <a:rPr lang="en-US" sz="690" b="1" dirty="0">
                <a:solidFill>
                  <a:srgbClr val="67067C"/>
                </a:solidFill>
                <a:latin typeface="IBM Plex Sans" pitchFamily="34" charset="0"/>
                <a:ea typeface="IBM Plex Sans" pitchFamily="34" charset="-122"/>
                <a:cs typeface="IBM Plex Sans" pitchFamily="34" charset="-120"/>
              </a:rPr>
              <a:t>  33</a:t>
            </a:r>
            <a:r>
              <a:rPr lang="en-US" sz="690" dirty="0">
                <a:solidFill>
                  <a:srgbClr val="46606E"/>
                </a:solidFill>
                <a:latin typeface="IBM Plex Sans" pitchFamily="34" charset="0"/>
                <a:ea typeface="IBM Plex Sans" pitchFamily="34" charset="-122"/>
                <a:cs typeface="IBM Plex Sans" pitchFamily="34" charset="-120"/>
              </a:rPr>
              <a:t>  56</a:t>
            </a:r>
            <a:endParaRPr lang="en-US" sz="690" dirty="0"/>
          </a:p>
        </p:txBody>
      </p:sp>
      <p:sp>
        <p:nvSpPr>
          <p:cNvPr id="101" name="Text 99"/>
          <p:cNvSpPr/>
          <p:nvPr/>
        </p:nvSpPr>
        <p:spPr>
          <a:xfrm>
            <a:off x="4692000" y="26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CARIGNAN</a:t>
            </a:r>
            <a:r>
              <a:rPr lang="en-US" sz="690" b="1" dirty="0">
                <a:solidFill>
                  <a:srgbClr val="67067C"/>
                </a:solidFill>
                <a:latin typeface="IBM Plex Sans" pitchFamily="34" charset="0"/>
                <a:ea typeface="IBM Plex Sans" pitchFamily="34" charset="-122"/>
                <a:cs typeface="IBM Plex Sans" pitchFamily="34" charset="-120"/>
              </a:rPr>
              <a:t>  33</a:t>
            </a:r>
            <a:r>
              <a:rPr lang="en-US" sz="690" dirty="0">
                <a:solidFill>
                  <a:srgbClr val="46606E"/>
                </a:solidFill>
                <a:latin typeface="IBM Plex Sans" pitchFamily="34" charset="0"/>
                <a:ea typeface="IBM Plex Sans" pitchFamily="34" charset="-122"/>
                <a:cs typeface="IBM Plex Sans" pitchFamily="34" charset="-120"/>
              </a:rPr>
              <a:t>  56</a:t>
            </a:r>
            <a:endParaRPr lang="en-US" sz="690" dirty="0"/>
          </a:p>
        </p:txBody>
      </p:sp>
      <p:sp>
        <p:nvSpPr>
          <p:cNvPr id="102" name="Text 100"/>
          <p:cNvSpPr/>
          <p:nvPr/>
        </p:nvSpPr>
        <p:spPr>
          <a:xfrm>
            <a:off x="4692000" y="28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CHARDONNAY  50 cl</a:t>
            </a:r>
            <a:r>
              <a:rPr lang="en-US" sz="690" b="1" dirty="0">
                <a:solidFill>
                  <a:srgbClr val="67067C"/>
                </a:solidFill>
                <a:latin typeface="IBM Plex Sans" pitchFamily="34" charset="0"/>
                <a:ea typeface="IBM Plex Sans" pitchFamily="34" charset="-122"/>
                <a:cs typeface="IBM Plex Sans" pitchFamily="34" charset="-120"/>
              </a:rPr>
              <a:t>  33</a:t>
            </a:r>
            <a:r>
              <a:rPr lang="en-US" sz="690" dirty="0">
                <a:solidFill>
                  <a:srgbClr val="46606E"/>
                </a:solidFill>
                <a:latin typeface="IBM Plex Sans" pitchFamily="34" charset="0"/>
                <a:ea typeface="IBM Plex Sans" pitchFamily="34" charset="-122"/>
                <a:cs typeface="IBM Plex Sans" pitchFamily="34" charset="-120"/>
              </a:rPr>
              <a:t>  56</a:t>
            </a:r>
            <a:endParaRPr lang="en-US" sz="690" dirty="0"/>
          </a:p>
        </p:txBody>
      </p:sp>
      <p:sp>
        <p:nvSpPr>
          <p:cNvPr id="103" name="Text 101"/>
          <p:cNvSpPr/>
          <p:nvPr/>
        </p:nvSpPr>
        <p:spPr>
          <a:xfrm>
            <a:off x="4692000" y="293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CHARDONNAY  25 cl</a:t>
            </a:r>
            <a:r>
              <a:rPr lang="en-US" sz="690" b="1" dirty="0">
                <a:solidFill>
                  <a:srgbClr val="67067C"/>
                </a:solidFill>
                <a:latin typeface="IBM Plex Sans" pitchFamily="34" charset="0"/>
                <a:ea typeface="IBM Plex Sans" pitchFamily="34" charset="-122"/>
                <a:cs typeface="IBM Plex Sans" pitchFamily="34" charset="-120"/>
              </a:rPr>
              <a:t>  33</a:t>
            </a:r>
            <a:r>
              <a:rPr lang="en-US" sz="690" dirty="0">
                <a:solidFill>
                  <a:srgbClr val="46606E"/>
                </a:solidFill>
                <a:latin typeface="IBM Plex Sans" pitchFamily="34" charset="0"/>
                <a:ea typeface="IBM Plex Sans" pitchFamily="34" charset="-122"/>
                <a:cs typeface="IBM Plex Sans" pitchFamily="34" charset="-120"/>
              </a:rPr>
              <a:t>  56</a:t>
            </a:r>
            <a:endParaRPr lang="en-US" sz="690" dirty="0"/>
          </a:p>
        </p:txBody>
      </p:sp>
      <p:sp>
        <p:nvSpPr>
          <p:cNvPr id="104" name="Text 102"/>
          <p:cNvSpPr/>
          <p:nvPr/>
        </p:nvSpPr>
        <p:spPr>
          <a:xfrm>
            <a:off x="4692000" y="306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GRENACHE  50 cl</a:t>
            </a:r>
            <a:r>
              <a:rPr lang="en-US" sz="690" b="1" dirty="0">
                <a:solidFill>
                  <a:srgbClr val="67067C"/>
                </a:solidFill>
                <a:latin typeface="IBM Plex Sans" pitchFamily="34" charset="0"/>
                <a:ea typeface="IBM Plex Sans" pitchFamily="34" charset="-122"/>
                <a:cs typeface="IBM Plex Sans" pitchFamily="34" charset="-120"/>
              </a:rPr>
              <a:t>  33</a:t>
            </a:r>
            <a:r>
              <a:rPr lang="en-US" sz="690" dirty="0">
                <a:solidFill>
                  <a:srgbClr val="46606E"/>
                </a:solidFill>
                <a:latin typeface="IBM Plex Sans" pitchFamily="34" charset="0"/>
                <a:ea typeface="IBM Plex Sans" pitchFamily="34" charset="-122"/>
                <a:cs typeface="IBM Plex Sans" pitchFamily="34" charset="-120"/>
              </a:rPr>
              <a:t>  56</a:t>
            </a:r>
            <a:endParaRPr lang="en-US" sz="690" dirty="0"/>
          </a:p>
        </p:txBody>
      </p:sp>
      <p:sp>
        <p:nvSpPr>
          <p:cNvPr id="105" name="Text 103"/>
          <p:cNvSpPr/>
          <p:nvPr/>
        </p:nvSpPr>
        <p:spPr>
          <a:xfrm>
            <a:off x="4692000" y="318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GRENACHE  25 cl</a:t>
            </a:r>
            <a:r>
              <a:rPr lang="en-US" sz="690" b="1" dirty="0">
                <a:solidFill>
                  <a:srgbClr val="67067C"/>
                </a:solidFill>
                <a:latin typeface="IBM Plex Sans" pitchFamily="34" charset="0"/>
                <a:ea typeface="IBM Plex Sans" pitchFamily="34" charset="-122"/>
                <a:cs typeface="IBM Plex Sans" pitchFamily="34" charset="-120"/>
              </a:rPr>
              <a:t>  33</a:t>
            </a:r>
            <a:r>
              <a:rPr lang="en-US" sz="690" dirty="0">
                <a:solidFill>
                  <a:srgbClr val="46606E"/>
                </a:solidFill>
                <a:latin typeface="IBM Plex Sans" pitchFamily="34" charset="0"/>
                <a:ea typeface="IBM Plex Sans" pitchFamily="34" charset="-122"/>
                <a:cs typeface="IBM Plex Sans" pitchFamily="34" charset="-120"/>
              </a:rPr>
              <a:t>  56</a:t>
            </a:r>
            <a:endParaRPr lang="en-US" sz="690" dirty="0"/>
          </a:p>
        </p:txBody>
      </p:sp>
      <p:sp>
        <p:nvSpPr>
          <p:cNvPr id="106" name="Text 104"/>
          <p:cNvSpPr/>
          <p:nvPr/>
        </p:nvSpPr>
        <p:spPr>
          <a:xfrm>
            <a:off x="4692000" y="331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SAUVIGNON</a:t>
            </a:r>
            <a:r>
              <a:rPr lang="en-US" sz="690" b="1" dirty="0">
                <a:solidFill>
                  <a:srgbClr val="67067C"/>
                </a:solidFill>
                <a:latin typeface="IBM Plex Sans" pitchFamily="34" charset="0"/>
                <a:ea typeface="IBM Plex Sans" pitchFamily="34" charset="-122"/>
                <a:cs typeface="IBM Plex Sans" pitchFamily="34" charset="-120"/>
              </a:rPr>
              <a:t>  33</a:t>
            </a:r>
            <a:r>
              <a:rPr lang="en-US" sz="690" dirty="0">
                <a:solidFill>
                  <a:srgbClr val="46606E"/>
                </a:solidFill>
                <a:latin typeface="IBM Plex Sans" pitchFamily="34" charset="0"/>
                <a:ea typeface="IBM Plex Sans" pitchFamily="34" charset="-122"/>
                <a:cs typeface="IBM Plex Sans" pitchFamily="34" charset="-120"/>
              </a:rPr>
              <a:t>  56</a:t>
            </a:r>
            <a:endParaRPr lang="en-US" sz="690" dirty="0"/>
          </a:p>
        </p:txBody>
      </p:sp>
      <p:sp>
        <p:nvSpPr>
          <p:cNvPr id="107" name="Text 105"/>
          <p:cNvSpPr/>
          <p:nvPr/>
        </p:nvSpPr>
        <p:spPr>
          <a:xfrm>
            <a:off x="4692000" y="3438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BIÈRE</a:t>
            </a:r>
            <a:endParaRPr lang="en-US" sz="800" dirty="0"/>
          </a:p>
        </p:txBody>
      </p:sp>
      <p:sp>
        <p:nvSpPr>
          <p:cNvPr id="108" name="Text 106"/>
          <p:cNvSpPr/>
          <p:nvPr/>
        </p:nvSpPr>
        <p:spPr>
          <a:xfrm>
            <a:off x="4692000" y="356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Barbe Ambrée</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109" name="Text 107"/>
          <p:cNvSpPr/>
          <p:nvPr/>
        </p:nvSpPr>
        <p:spPr>
          <a:xfrm>
            <a:off x="4692000" y="369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Barbe Blanche</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110" name="Text 108"/>
          <p:cNvSpPr/>
          <p:nvPr/>
        </p:nvSpPr>
        <p:spPr>
          <a:xfrm>
            <a:off x="4692000" y="381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Barbe Blonde</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111" name="Text 109"/>
          <p:cNvSpPr/>
          <p:nvPr/>
        </p:nvSpPr>
        <p:spPr>
          <a:xfrm>
            <a:off x="4692000" y="3942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SPIRITUEUX</a:t>
            </a:r>
            <a:endParaRPr lang="en-US" sz="800" dirty="0"/>
          </a:p>
        </p:txBody>
      </p:sp>
      <p:sp>
        <p:nvSpPr>
          <p:cNvPr id="112" name="Text 110"/>
          <p:cNvSpPr/>
          <p:nvPr/>
        </p:nvSpPr>
        <p:spPr>
          <a:xfrm>
            <a:off x="4692000" y="406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Blanche Armagnac</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113" name="Text 111"/>
          <p:cNvSpPr/>
          <p:nvPr/>
        </p:nvSpPr>
        <p:spPr>
          <a:xfrm>
            <a:off x="4692000" y="419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Hors d'Age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114" name="Text 112"/>
          <p:cNvSpPr/>
          <p:nvPr/>
        </p:nvSpPr>
        <p:spPr>
          <a:xfrm>
            <a:off x="4692000" y="43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Vieux Ratafia Champenois</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63</a:t>
            </a:r>
            <a:endParaRPr lang="en-US" sz="690" dirty="0"/>
          </a:p>
        </p:txBody>
      </p:sp>
      <p:sp>
        <p:nvSpPr>
          <p:cNvPr id="115" name="Text 113"/>
          <p:cNvSpPr/>
          <p:nvPr/>
        </p:nvSpPr>
        <p:spPr>
          <a:xfrm>
            <a:off x="4692000" y="44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Millésimés  70 cl</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116" name="Text 114"/>
          <p:cNvSpPr/>
          <p:nvPr/>
        </p:nvSpPr>
        <p:spPr>
          <a:xfrm>
            <a:off x="4692000" y="45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Millésimés  70 cl</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117" name="Text 115"/>
          <p:cNvSpPr/>
          <p:nvPr/>
        </p:nvSpPr>
        <p:spPr>
          <a:xfrm>
            <a:off x="4692000" y="46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Réserve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118" name="Text 116"/>
          <p:cNvSpPr/>
          <p:nvPr/>
        </p:nvSpPr>
        <p:spPr>
          <a:xfrm>
            <a:off x="4692000" y="48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V.S.O.P.</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119" name="Text 117"/>
          <p:cNvSpPr/>
          <p:nvPr/>
        </p:nvSpPr>
        <p:spPr>
          <a:xfrm>
            <a:off x="4692000" y="49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Vieux Ratafia</a:t>
            </a:r>
            <a:r>
              <a:rPr lang="en-US" sz="690" b="1" dirty="0">
                <a:solidFill>
                  <a:srgbClr val="67067C"/>
                </a:solidFill>
                <a:latin typeface="IBM Plex Sans" pitchFamily="34" charset="0"/>
                <a:ea typeface="IBM Plex Sans" pitchFamily="34" charset="-122"/>
                <a:cs typeface="IBM Plex Sans" pitchFamily="34" charset="-120"/>
              </a:rPr>
              <a:t>  37</a:t>
            </a:r>
            <a:r>
              <a:rPr lang="en-US" sz="690" dirty="0">
                <a:solidFill>
                  <a:srgbClr val="46606E"/>
                </a:solidFill>
                <a:latin typeface="IBM Plex Sans" pitchFamily="34" charset="0"/>
                <a:ea typeface="IBM Plex Sans" pitchFamily="34" charset="-122"/>
                <a:cs typeface="IBM Plex Sans" pitchFamily="34" charset="-120"/>
              </a:rPr>
              <a:t>  62</a:t>
            </a:r>
            <a:endParaRPr lang="en-US" sz="690" dirty="0"/>
          </a:p>
        </p:txBody>
      </p:sp>
      <p:sp>
        <p:nvSpPr>
          <p:cNvPr id="120" name="Text 118"/>
          <p:cNvSpPr/>
          <p:nvPr/>
        </p:nvSpPr>
        <p:spPr>
          <a:xfrm>
            <a:off x="4692000" y="50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X.O.</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121" name="Text 119"/>
          <p:cNvSpPr/>
          <p:nvPr/>
        </p:nvSpPr>
        <p:spPr>
          <a:xfrm>
            <a:off x="4692000" y="5202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AUTRE</a:t>
            </a:r>
            <a:endParaRPr lang="en-US" sz="800" dirty="0"/>
          </a:p>
        </p:txBody>
      </p:sp>
      <p:sp>
        <p:nvSpPr>
          <p:cNvPr id="122" name="Text 120"/>
          <p:cNvSpPr/>
          <p:nvPr/>
        </p:nvSpPr>
        <p:spPr>
          <a:xfrm>
            <a:off x="4692000" y="53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Pergola D'Exea  5 L</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54</a:t>
            </a:r>
            <a:endParaRPr lang="en-US" sz="690" dirty="0"/>
          </a:p>
        </p:txBody>
      </p:sp>
      <p:sp>
        <p:nvSpPr>
          <p:cNvPr id="123" name="Text 121"/>
          <p:cNvSpPr/>
          <p:nvPr/>
        </p:nvSpPr>
        <p:spPr>
          <a:xfrm>
            <a:off x="4692000" y="54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Pergola D'Exea  5 L</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54</a:t>
            </a:r>
            <a:endParaRPr lang="en-US" sz="690" dirty="0"/>
          </a:p>
        </p:txBody>
      </p:sp>
      <p:sp>
        <p:nvSpPr>
          <p:cNvPr id="124" name="Text 122"/>
          <p:cNvSpPr/>
          <p:nvPr/>
        </p:nvSpPr>
        <p:spPr>
          <a:xfrm>
            <a:off x="4692000" y="55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Pergola D'Exea  5 L</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54</a:t>
            </a:r>
            <a:endParaRPr lang="en-US" sz="690" dirty="0"/>
          </a:p>
        </p:txBody>
      </p:sp>
      <p:sp>
        <p:nvSpPr>
          <p:cNvPr id="125" name="Text 123"/>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69</a:t>
            </a:r>
            <a:endParaRPr lang="en-US" sz="750" dirty="0"/>
          </a:p>
        </p:txBody>
      </p:sp>
      <p:sp>
        <p:nvSpPr>
          <p:cNvPr id="126" name="Text 124"/>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828000" y="540000"/>
            <a:ext cx="6120000" cy="432000"/>
          </a:xfrm>
          <a:prstGeom prst="rect">
            <a:avLst/>
          </a:prstGeom>
          <a:noFill/>
          <a:ln/>
        </p:spPr>
        <p:txBody>
          <a:bodyPr wrap="square" lIns="0" tIns="0" rIns="0" bIns="0" rtlCol="0" anchor="b"/>
          <a:lstStyle/>
          <a:p>
            <a:pPr indent="0" marL="0">
              <a:buNone/>
            </a:pPr>
            <a:r>
              <a:rPr lang="en-US" sz="2400" dirty="0">
                <a:solidFill>
                  <a:srgbClr val="67067C"/>
                </a:solidFill>
                <a:latin typeface="Young Serif" pitchFamily="34" charset="0"/>
                <a:ea typeface="Young Serif" pitchFamily="34" charset="-122"/>
                <a:cs typeface="Young Serif" pitchFamily="34" charset="-120"/>
              </a:rPr>
              <a:t>Les produits à part</a:t>
            </a:r>
            <a:endParaRPr lang="en-US" sz="2400" dirty="0"/>
          </a:p>
        </p:txBody>
      </p:sp>
      <p:sp>
        <p:nvSpPr>
          <p:cNvPr id="3" name="Text 1"/>
          <p:cNvSpPr/>
          <p:nvPr/>
        </p:nvSpPr>
        <p:spPr>
          <a:xfrm>
            <a:off x="828000" y="990000"/>
            <a:ext cx="612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CE QUI N'EST PAS UNE BOUTEILLE DE 75 CL</a:t>
            </a:r>
            <a:endParaRPr lang="en-US" sz="800" dirty="0"/>
          </a:p>
        </p:txBody>
      </p:sp>
      <p:sp>
        <p:nvSpPr>
          <p:cNvPr id="4" name="Text 2"/>
          <p:cNvSpPr/>
          <p:nvPr/>
        </p:nvSpPr>
        <p:spPr>
          <a:xfrm>
            <a:off x="828000" y="1296000"/>
            <a:ext cx="6120000" cy="216000"/>
          </a:xfrm>
          <a:prstGeom prst="rect">
            <a:avLst/>
          </a:prstGeom>
          <a:noFill/>
          <a:ln/>
        </p:spPr>
        <p:txBody>
          <a:bodyPr wrap="square" lIns="0" tIns="0" rIns="0" bIns="0" rtlCol="0" anchor="ctr"/>
          <a:lstStyle/>
          <a:p>
            <a:pPr indent="0" marL="0">
              <a:buNone/>
            </a:pPr>
            <a:r>
              <a:rPr lang="en-US" sz="1200" dirty="0">
                <a:solidFill>
                  <a:srgbClr val="67067C"/>
                </a:solidFill>
                <a:latin typeface="Young Serif" pitchFamily="34" charset="0"/>
                <a:ea typeface="Young Serif" pitchFamily="34" charset="-122"/>
                <a:cs typeface="Young Serif" pitchFamily="34" charset="-120"/>
              </a:rPr>
              <a:t>Bag-in-box   (14)</a:t>
            </a:r>
            <a:endParaRPr lang="en-US" sz="1200" dirty="0"/>
          </a:p>
        </p:txBody>
      </p:sp>
      <p:sp>
        <p:nvSpPr>
          <p:cNvPr id="5" name="Shape 3"/>
          <p:cNvSpPr/>
          <p:nvPr/>
        </p:nvSpPr>
        <p:spPr>
          <a:xfrm>
            <a:off x="828000" y="1512000"/>
            <a:ext cx="6120000" cy="0"/>
          </a:xfrm>
          <a:prstGeom prst="line">
            <a:avLst/>
          </a:prstGeom>
          <a:noFill/>
          <a:ln w="10160">
            <a:solidFill>
              <a:srgbClr val="67067C"/>
            </a:solidFill>
            <a:prstDash val="solid"/>
          </a:ln>
        </p:spPr>
      </p:sp>
      <p:sp>
        <p:nvSpPr>
          <p:cNvPr id="6" name="Text 4"/>
          <p:cNvSpPr/>
          <p:nvPr/>
        </p:nvSpPr>
        <p:spPr>
          <a:xfrm>
            <a:off x="828000" y="158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  </a:t>
            </a:r>
            <a:r>
              <a:rPr lang="en-US" sz="740" b="1" dirty="0">
                <a:solidFill>
                  <a:srgbClr val="46606E"/>
                </a:solidFill>
                <a:latin typeface="IBM Plex Sans" pitchFamily="34" charset="0"/>
                <a:ea typeface="IBM Plex Sans" pitchFamily="34" charset="-122"/>
                <a:cs typeface="IBM Plex Sans" pitchFamily="34" charset="-120"/>
              </a:rPr>
              <a:t>AOP Muscadet  </a:t>
            </a:r>
            <a:r>
              <a:rPr lang="en-US" sz="680" dirty="0">
                <a:solidFill>
                  <a:srgbClr val="46606E"/>
                </a:solidFill>
                <a:latin typeface="IBM Plex Sans" pitchFamily="34" charset="0"/>
                <a:ea typeface="IBM Plex Sans" pitchFamily="34" charset="-122"/>
                <a:cs typeface="IBM Plex Sans" pitchFamily="34" charset="-120"/>
              </a:rPr>
              <a:t>Domaine du Colombier / J.Y Bretaudeau  </a:t>
            </a:r>
            <a:r>
              <a:rPr lang="en-US" sz="680" dirty="0">
                <a:solidFill>
                  <a:srgbClr val="A8515F"/>
                </a:solidFill>
                <a:latin typeface="IBM Plex Sans" pitchFamily="34" charset="0"/>
                <a:ea typeface="IBM Plex Sans" pitchFamily="34" charset="-122"/>
                <a:cs typeface="IBM Plex Sans" pitchFamily="34" charset="-120"/>
              </a:rPr>
              <a:t>5 Litres · 10 Litres   p. 7</a:t>
            </a:r>
            <a:endParaRPr lang="en-US" sz="740" dirty="0"/>
          </a:p>
        </p:txBody>
      </p:sp>
      <p:sp>
        <p:nvSpPr>
          <p:cNvPr id="7" name="Text 5"/>
          <p:cNvSpPr/>
          <p:nvPr/>
        </p:nvSpPr>
        <p:spPr>
          <a:xfrm>
            <a:off x="828000" y="172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  </a:t>
            </a:r>
            <a:r>
              <a:rPr lang="en-US" sz="740" b="1" dirty="0">
                <a:solidFill>
                  <a:srgbClr val="46606E"/>
                </a:solidFill>
                <a:latin typeface="IBM Plex Sans" pitchFamily="34" charset="0"/>
                <a:ea typeface="IBM Plex Sans" pitchFamily="34" charset="-122"/>
                <a:cs typeface="IBM Plex Sans" pitchFamily="34" charset="-120"/>
              </a:rPr>
              <a:t>IGP Sauvignon  </a:t>
            </a:r>
            <a:r>
              <a:rPr lang="en-US" sz="680" dirty="0">
                <a:solidFill>
                  <a:srgbClr val="46606E"/>
                </a:solidFill>
                <a:latin typeface="IBM Plex Sans" pitchFamily="34" charset="0"/>
                <a:ea typeface="IBM Plex Sans" pitchFamily="34" charset="-122"/>
                <a:cs typeface="IBM Plex Sans" pitchFamily="34" charset="-120"/>
              </a:rPr>
              <a:t>Domaine du Colombier / J.Y Bretaudeau  </a:t>
            </a:r>
            <a:r>
              <a:rPr lang="en-US" sz="680" dirty="0">
                <a:solidFill>
                  <a:srgbClr val="A8515F"/>
                </a:solidFill>
                <a:latin typeface="IBM Plex Sans" pitchFamily="34" charset="0"/>
                <a:ea typeface="IBM Plex Sans" pitchFamily="34" charset="-122"/>
                <a:cs typeface="IBM Plex Sans" pitchFamily="34" charset="-120"/>
              </a:rPr>
              <a:t>5 Litres · 10 Litres   p. 7</a:t>
            </a:r>
            <a:endParaRPr lang="en-US" sz="740" dirty="0"/>
          </a:p>
        </p:txBody>
      </p:sp>
      <p:sp>
        <p:nvSpPr>
          <p:cNvPr id="8" name="Text 6"/>
          <p:cNvSpPr/>
          <p:nvPr/>
        </p:nvSpPr>
        <p:spPr>
          <a:xfrm>
            <a:off x="828000" y="187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  </a:t>
            </a:r>
            <a:r>
              <a:rPr lang="en-US" sz="740" b="1" dirty="0">
                <a:solidFill>
                  <a:srgbClr val="46606E"/>
                </a:solidFill>
                <a:latin typeface="IBM Plex Sans" pitchFamily="34" charset="0"/>
                <a:ea typeface="IBM Plex Sans" pitchFamily="34" charset="-122"/>
                <a:cs typeface="IBM Plex Sans" pitchFamily="34" charset="-120"/>
              </a:rPr>
              <a:t>IGP Chardonnay  </a:t>
            </a:r>
            <a:r>
              <a:rPr lang="en-US" sz="680" dirty="0">
                <a:solidFill>
                  <a:srgbClr val="46606E"/>
                </a:solidFill>
                <a:latin typeface="IBM Plex Sans" pitchFamily="34" charset="0"/>
                <a:ea typeface="IBM Plex Sans" pitchFamily="34" charset="-122"/>
                <a:cs typeface="IBM Plex Sans" pitchFamily="34" charset="-120"/>
              </a:rPr>
              <a:t>Domaine du Colombier / J.Y Bretaudeau  </a:t>
            </a:r>
            <a:r>
              <a:rPr lang="en-US" sz="680" dirty="0">
                <a:solidFill>
                  <a:srgbClr val="A8515F"/>
                </a:solidFill>
                <a:latin typeface="IBM Plex Sans" pitchFamily="34" charset="0"/>
                <a:ea typeface="IBM Plex Sans" pitchFamily="34" charset="-122"/>
                <a:cs typeface="IBM Plex Sans" pitchFamily="34" charset="-120"/>
              </a:rPr>
              <a:t>5 Litres · 10 Litres   p. 7</a:t>
            </a:r>
            <a:endParaRPr lang="en-US" sz="740" dirty="0"/>
          </a:p>
        </p:txBody>
      </p:sp>
      <p:sp>
        <p:nvSpPr>
          <p:cNvPr id="9" name="Text 7"/>
          <p:cNvSpPr/>
          <p:nvPr/>
        </p:nvSpPr>
        <p:spPr>
          <a:xfrm>
            <a:off x="828000" y="2016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  </a:t>
            </a:r>
            <a:r>
              <a:rPr lang="en-US" sz="740" b="1" dirty="0">
                <a:solidFill>
                  <a:srgbClr val="46606E"/>
                </a:solidFill>
                <a:latin typeface="IBM Plex Sans" pitchFamily="34" charset="0"/>
                <a:ea typeface="IBM Plex Sans" pitchFamily="34" charset="-122"/>
                <a:cs typeface="IBM Plex Sans" pitchFamily="34" charset="-120"/>
              </a:rPr>
              <a:t>IGP Merlot  </a:t>
            </a:r>
            <a:r>
              <a:rPr lang="en-US" sz="680" dirty="0">
                <a:solidFill>
                  <a:srgbClr val="46606E"/>
                </a:solidFill>
                <a:latin typeface="IBM Plex Sans" pitchFamily="34" charset="0"/>
                <a:ea typeface="IBM Plex Sans" pitchFamily="34" charset="-122"/>
                <a:cs typeface="IBM Plex Sans" pitchFamily="34" charset="-120"/>
              </a:rPr>
              <a:t>Domaine du Colombier / J.Y Bretaudeau  </a:t>
            </a:r>
            <a:r>
              <a:rPr lang="en-US" sz="680" dirty="0">
                <a:solidFill>
                  <a:srgbClr val="A8515F"/>
                </a:solidFill>
                <a:latin typeface="IBM Plex Sans" pitchFamily="34" charset="0"/>
                <a:ea typeface="IBM Plex Sans" pitchFamily="34" charset="-122"/>
                <a:cs typeface="IBM Plex Sans" pitchFamily="34" charset="-120"/>
              </a:rPr>
              <a:t>5 Litres · 10 Litres   p. 7</a:t>
            </a:r>
            <a:endParaRPr lang="en-US" sz="740" dirty="0"/>
          </a:p>
        </p:txBody>
      </p:sp>
      <p:sp>
        <p:nvSpPr>
          <p:cNvPr id="10" name="Text 8"/>
          <p:cNvSpPr/>
          <p:nvPr/>
        </p:nvSpPr>
        <p:spPr>
          <a:xfrm>
            <a:off x="828000" y="2160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  </a:t>
            </a:r>
            <a:r>
              <a:rPr lang="en-US" sz="740" b="1" dirty="0">
                <a:solidFill>
                  <a:srgbClr val="46606E"/>
                </a:solidFill>
                <a:latin typeface="IBM Plex Sans" pitchFamily="34" charset="0"/>
                <a:ea typeface="IBM Plex Sans" pitchFamily="34" charset="-122"/>
                <a:cs typeface="IBM Plex Sans" pitchFamily="34" charset="-120"/>
              </a:rPr>
              <a:t>IGP Cabernet  </a:t>
            </a:r>
            <a:r>
              <a:rPr lang="en-US" sz="680" dirty="0">
                <a:solidFill>
                  <a:srgbClr val="46606E"/>
                </a:solidFill>
                <a:latin typeface="IBM Plex Sans" pitchFamily="34" charset="0"/>
                <a:ea typeface="IBM Plex Sans" pitchFamily="34" charset="-122"/>
                <a:cs typeface="IBM Plex Sans" pitchFamily="34" charset="-120"/>
              </a:rPr>
              <a:t>Domaine du Colombier / J.Y Bretaudeau  </a:t>
            </a:r>
            <a:r>
              <a:rPr lang="en-US" sz="680" dirty="0">
                <a:solidFill>
                  <a:srgbClr val="A8515F"/>
                </a:solidFill>
                <a:latin typeface="IBM Plex Sans" pitchFamily="34" charset="0"/>
                <a:ea typeface="IBM Plex Sans" pitchFamily="34" charset="-122"/>
                <a:cs typeface="IBM Plex Sans" pitchFamily="34" charset="-120"/>
              </a:rPr>
              <a:t>5 Litres · 10 Litres   p. 7</a:t>
            </a:r>
            <a:endParaRPr lang="en-US" sz="740" dirty="0"/>
          </a:p>
        </p:txBody>
      </p:sp>
      <p:sp>
        <p:nvSpPr>
          <p:cNvPr id="11" name="Text 9"/>
          <p:cNvSpPr/>
          <p:nvPr/>
        </p:nvSpPr>
        <p:spPr>
          <a:xfrm>
            <a:off x="828000" y="23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  </a:t>
            </a:r>
            <a:r>
              <a:rPr lang="en-US" sz="740" b="1" dirty="0">
                <a:solidFill>
                  <a:srgbClr val="46606E"/>
                </a:solidFill>
                <a:latin typeface="IBM Plex Sans" pitchFamily="34" charset="0"/>
                <a:ea typeface="IBM Plex Sans" pitchFamily="34" charset="-122"/>
                <a:cs typeface="IBM Plex Sans" pitchFamily="34" charset="-120"/>
              </a:rPr>
              <a:t>IGP Cabernet  </a:t>
            </a:r>
            <a:r>
              <a:rPr lang="en-US" sz="680" dirty="0">
                <a:solidFill>
                  <a:srgbClr val="46606E"/>
                </a:solidFill>
                <a:latin typeface="IBM Plex Sans" pitchFamily="34" charset="0"/>
                <a:ea typeface="IBM Plex Sans" pitchFamily="34" charset="-122"/>
                <a:cs typeface="IBM Plex Sans" pitchFamily="34" charset="-120"/>
              </a:rPr>
              <a:t>Domaine du Colombier / J.Y Bretaudeau  </a:t>
            </a:r>
            <a:r>
              <a:rPr lang="en-US" sz="680" dirty="0">
                <a:solidFill>
                  <a:srgbClr val="A8515F"/>
                </a:solidFill>
                <a:latin typeface="IBM Plex Sans" pitchFamily="34" charset="0"/>
                <a:ea typeface="IBM Plex Sans" pitchFamily="34" charset="-122"/>
                <a:cs typeface="IBM Plex Sans" pitchFamily="34" charset="-120"/>
              </a:rPr>
              <a:t>5 Litres · 10 Litres   p. 7</a:t>
            </a:r>
            <a:endParaRPr lang="en-US" sz="740" dirty="0"/>
          </a:p>
        </p:txBody>
      </p:sp>
      <p:sp>
        <p:nvSpPr>
          <p:cNvPr id="12" name="Text 10"/>
          <p:cNvSpPr/>
          <p:nvPr/>
        </p:nvSpPr>
        <p:spPr>
          <a:xfrm>
            <a:off x="828000" y="24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Amande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3 L   p. 37</a:t>
            </a:r>
            <a:endParaRPr lang="en-US" sz="740" dirty="0"/>
          </a:p>
        </p:txBody>
      </p:sp>
      <p:sp>
        <p:nvSpPr>
          <p:cNvPr id="13" name="Text 11"/>
          <p:cNvSpPr/>
          <p:nvPr/>
        </p:nvSpPr>
        <p:spPr>
          <a:xfrm>
            <a:off x="3888000" y="158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Gulf Stream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5 L   p. 37</a:t>
            </a:r>
            <a:endParaRPr lang="en-US" sz="740" dirty="0"/>
          </a:p>
        </p:txBody>
      </p:sp>
      <p:sp>
        <p:nvSpPr>
          <p:cNvPr id="14" name="Text 12"/>
          <p:cNvSpPr/>
          <p:nvPr/>
        </p:nvSpPr>
        <p:spPr>
          <a:xfrm>
            <a:off x="3888000" y="172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Triton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10 L   p. 37</a:t>
            </a:r>
            <a:endParaRPr lang="en-US" sz="740" dirty="0"/>
          </a:p>
        </p:txBody>
      </p:sp>
      <p:sp>
        <p:nvSpPr>
          <p:cNvPr id="15" name="Text 13"/>
          <p:cNvSpPr/>
          <p:nvPr/>
        </p:nvSpPr>
        <p:spPr>
          <a:xfrm>
            <a:off x="3888000" y="187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31  </a:t>
            </a:r>
            <a:r>
              <a:rPr lang="en-US" sz="740" b="1" dirty="0">
                <a:solidFill>
                  <a:srgbClr val="46606E"/>
                </a:solidFill>
                <a:latin typeface="IBM Plex Sans" pitchFamily="34" charset="0"/>
                <a:ea typeface="IBM Plex Sans" pitchFamily="34" charset="-122"/>
                <a:cs typeface="IBM Plex Sans" pitchFamily="34" charset="-120"/>
              </a:rPr>
              <a:t>BLACAILLOUX  </a:t>
            </a:r>
            <a:r>
              <a:rPr lang="en-US" sz="680" dirty="0">
                <a:solidFill>
                  <a:srgbClr val="46606E"/>
                </a:solidFill>
                <a:latin typeface="IBM Plex Sans" pitchFamily="34" charset="0"/>
                <a:ea typeface="IBM Plex Sans" pitchFamily="34" charset="-122"/>
                <a:cs typeface="IBM Plex Sans" pitchFamily="34" charset="-120"/>
              </a:rPr>
              <a:t>Bastide de Blacailloux  </a:t>
            </a:r>
            <a:r>
              <a:rPr lang="en-US" sz="680" dirty="0">
                <a:solidFill>
                  <a:srgbClr val="A8515F"/>
                </a:solidFill>
                <a:latin typeface="IBM Plex Sans" pitchFamily="34" charset="0"/>
                <a:ea typeface="IBM Plex Sans" pitchFamily="34" charset="-122"/>
                <a:cs typeface="IBM Plex Sans" pitchFamily="34" charset="-120"/>
              </a:rPr>
              <a:t>5 L   p. 52</a:t>
            </a:r>
            <a:endParaRPr lang="en-US" sz="740" dirty="0"/>
          </a:p>
        </p:txBody>
      </p:sp>
      <p:sp>
        <p:nvSpPr>
          <p:cNvPr id="16" name="Text 14"/>
          <p:cNvSpPr/>
          <p:nvPr/>
        </p:nvSpPr>
        <p:spPr>
          <a:xfrm>
            <a:off x="3888000" y="2016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32  </a:t>
            </a:r>
            <a:r>
              <a:rPr lang="en-US" sz="740" b="1" dirty="0">
                <a:solidFill>
                  <a:srgbClr val="46606E"/>
                </a:solidFill>
                <a:latin typeface="IBM Plex Sans" pitchFamily="34" charset="0"/>
                <a:ea typeface="IBM Plex Sans" pitchFamily="34" charset="-122"/>
                <a:cs typeface="IBM Plex Sans" pitchFamily="34" charset="-120"/>
              </a:rPr>
              <a:t>Pergola D'Exea  </a:t>
            </a:r>
            <a:r>
              <a:rPr lang="en-US" sz="680" dirty="0">
                <a:solidFill>
                  <a:srgbClr val="46606E"/>
                </a:solidFill>
                <a:latin typeface="IBM Plex Sans" pitchFamily="34" charset="0"/>
                <a:ea typeface="IBM Plex Sans" pitchFamily="34" charset="-122"/>
                <a:cs typeface="IBM Plex Sans" pitchFamily="34" charset="-120"/>
              </a:rPr>
              <a:t>Famille d’Exea  </a:t>
            </a:r>
            <a:r>
              <a:rPr lang="en-US" sz="680" dirty="0">
                <a:solidFill>
                  <a:srgbClr val="A8515F"/>
                </a:solidFill>
                <a:latin typeface="IBM Plex Sans" pitchFamily="34" charset="0"/>
                <a:ea typeface="IBM Plex Sans" pitchFamily="34" charset="-122"/>
                <a:cs typeface="IBM Plex Sans" pitchFamily="34" charset="-120"/>
              </a:rPr>
              <a:t>5 L   p. 54</a:t>
            </a:r>
            <a:endParaRPr lang="en-US" sz="740" dirty="0"/>
          </a:p>
        </p:txBody>
      </p:sp>
      <p:sp>
        <p:nvSpPr>
          <p:cNvPr id="17" name="Text 15"/>
          <p:cNvSpPr/>
          <p:nvPr/>
        </p:nvSpPr>
        <p:spPr>
          <a:xfrm>
            <a:off x="3888000" y="2160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32  </a:t>
            </a:r>
            <a:r>
              <a:rPr lang="en-US" sz="740" b="1" dirty="0">
                <a:solidFill>
                  <a:srgbClr val="46606E"/>
                </a:solidFill>
                <a:latin typeface="IBM Plex Sans" pitchFamily="34" charset="0"/>
                <a:ea typeface="IBM Plex Sans" pitchFamily="34" charset="-122"/>
                <a:cs typeface="IBM Plex Sans" pitchFamily="34" charset="-120"/>
              </a:rPr>
              <a:t>Pergola D'Exea  </a:t>
            </a:r>
            <a:r>
              <a:rPr lang="en-US" sz="680" dirty="0">
                <a:solidFill>
                  <a:srgbClr val="46606E"/>
                </a:solidFill>
                <a:latin typeface="IBM Plex Sans" pitchFamily="34" charset="0"/>
                <a:ea typeface="IBM Plex Sans" pitchFamily="34" charset="-122"/>
                <a:cs typeface="IBM Plex Sans" pitchFamily="34" charset="-120"/>
              </a:rPr>
              <a:t>Famille d’Exea  </a:t>
            </a:r>
            <a:r>
              <a:rPr lang="en-US" sz="680" dirty="0">
                <a:solidFill>
                  <a:srgbClr val="A8515F"/>
                </a:solidFill>
                <a:latin typeface="IBM Plex Sans" pitchFamily="34" charset="0"/>
                <a:ea typeface="IBM Plex Sans" pitchFamily="34" charset="-122"/>
                <a:cs typeface="IBM Plex Sans" pitchFamily="34" charset="-120"/>
              </a:rPr>
              <a:t>5 L   p. 54</a:t>
            </a:r>
            <a:endParaRPr lang="en-US" sz="740" dirty="0"/>
          </a:p>
        </p:txBody>
      </p:sp>
      <p:sp>
        <p:nvSpPr>
          <p:cNvPr id="18" name="Text 16"/>
          <p:cNvSpPr/>
          <p:nvPr/>
        </p:nvSpPr>
        <p:spPr>
          <a:xfrm>
            <a:off x="3888000" y="23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32  </a:t>
            </a:r>
            <a:r>
              <a:rPr lang="en-US" sz="740" b="1" dirty="0">
                <a:solidFill>
                  <a:srgbClr val="46606E"/>
                </a:solidFill>
                <a:latin typeface="IBM Plex Sans" pitchFamily="34" charset="0"/>
                <a:ea typeface="IBM Plex Sans" pitchFamily="34" charset="-122"/>
                <a:cs typeface="IBM Plex Sans" pitchFamily="34" charset="-120"/>
              </a:rPr>
              <a:t>Pergola D'Exea  </a:t>
            </a:r>
            <a:r>
              <a:rPr lang="en-US" sz="680" dirty="0">
                <a:solidFill>
                  <a:srgbClr val="46606E"/>
                </a:solidFill>
                <a:latin typeface="IBM Plex Sans" pitchFamily="34" charset="0"/>
                <a:ea typeface="IBM Plex Sans" pitchFamily="34" charset="-122"/>
                <a:cs typeface="IBM Plex Sans" pitchFamily="34" charset="-120"/>
              </a:rPr>
              <a:t>Famille d’Exea  </a:t>
            </a:r>
            <a:r>
              <a:rPr lang="en-US" sz="680" dirty="0">
                <a:solidFill>
                  <a:srgbClr val="A8515F"/>
                </a:solidFill>
                <a:latin typeface="IBM Plex Sans" pitchFamily="34" charset="0"/>
                <a:ea typeface="IBM Plex Sans" pitchFamily="34" charset="-122"/>
                <a:cs typeface="IBM Plex Sans" pitchFamily="34" charset="-120"/>
              </a:rPr>
              <a:t>5 L   p. 54</a:t>
            </a:r>
            <a:endParaRPr lang="en-US" sz="740" dirty="0"/>
          </a:p>
        </p:txBody>
      </p:sp>
      <p:sp>
        <p:nvSpPr>
          <p:cNvPr id="19" name="Text 17"/>
          <p:cNvSpPr/>
          <p:nvPr/>
        </p:nvSpPr>
        <p:spPr>
          <a:xfrm>
            <a:off x="3888000" y="24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36  </a:t>
            </a:r>
            <a:r>
              <a:rPr lang="en-US" sz="740" b="1" dirty="0">
                <a:solidFill>
                  <a:srgbClr val="46606E"/>
                </a:solidFill>
                <a:latin typeface="IBM Plex Sans" pitchFamily="34" charset="0"/>
                <a:ea typeface="IBM Plex Sans" pitchFamily="34" charset="-122"/>
                <a:cs typeface="IBM Plex Sans" pitchFamily="34" charset="-120"/>
              </a:rPr>
              <a:t>Corbières Rouge  </a:t>
            </a:r>
            <a:r>
              <a:rPr lang="en-US" sz="680" dirty="0">
                <a:solidFill>
                  <a:srgbClr val="46606E"/>
                </a:solidFill>
                <a:latin typeface="IBM Plex Sans" pitchFamily="34" charset="0"/>
                <a:ea typeface="IBM Plex Sans" pitchFamily="34" charset="-122"/>
                <a:cs typeface="IBM Plex Sans" pitchFamily="34" charset="-120"/>
              </a:rPr>
              <a:t>Prieuré Sainte-Marie d’Albas  </a:t>
            </a:r>
            <a:r>
              <a:rPr lang="en-US" sz="680" dirty="0">
                <a:solidFill>
                  <a:srgbClr val="A8515F"/>
                </a:solidFill>
                <a:latin typeface="IBM Plex Sans" pitchFamily="34" charset="0"/>
                <a:ea typeface="IBM Plex Sans" pitchFamily="34" charset="-122"/>
                <a:cs typeface="IBM Plex Sans" pitchFamily="34" charset="-120"/>
              </a:rPr>
              <a:t>BIB 3 L   p. 59</a:t>
            </a:r>
            <a:endParaRPr lang="en-US" sz="740" dirty="0"/>
          </a:p>
        </p:txBody>
      </p:sp>
      <p:sp>
        <p:nvSpPr>
          <p:cNvPr id="20" name="Text 18"/>
          <p:cNvSpPr/>
          <p:nvPr/>
        </p:nvSpPr>
        <p:spPr>
          <a:xfrm>
            <a:off x="828000" y="2772000"/>
            <a:ext cx="6120000" cy="216000"/>
          </a:xfrm>
          <a:prstGeom prst="rect">
            <a:avLst/>
          </a:prstGeom>
          <a:noFill/>
          <a:ln/>
        </p:spPr>
        <p:txBody>
          <a:bodyPr wrap="square" lIns="0" tIns="0" rIns="0" bIns="0" rtlCol="0" anchor="ctr"/>
          <a:lstStyle/>
          <a:p>
            <a:pPr indent="0" marL="0">
              <a:buNone/>
            </a:pPr>
            <a:r>
              <a:rPr lang="en-US" sz="1200" dirty="0">
                <a:solidFill>
                  <a:srgbClr val="67067C"/>
                </a:solidFill>
                <a:latin typeface="Young Serif" pitchFamily="34" charset="0"/>
                <a:ea typeface="Young Serif" pitchFamily="34" charset="-122"/>
                <a:cs typeface="Young Serif" pitchFamily="34" charset="-120"/>
              </a:rPr>
              <a:t>Vins sans alcool   (8)</a:t>
            </a:r>
            <a:endParaRPr lang="en-US" sz="1200" dirty="0"/>
          </a:p>
        </p:txBody>
      </p:sp>
      <p:sp>
        <p:nvSpPr>
          <p:cNvPr id="21" name="Shape 19"/>
          <p:cNvSpPr/>
          <p:nvPr/>
        </p:nvSpPr>
        <p:spPr>
          <a:xfrm>
            <a:off x="828000" y="2988000"/>
            <a:ext cx="6120000" cy="0"/>
          </a:xfrm>
          <a:prstGeom prst="line">
            <a:avLst/>
          </a:prstGeom>
          <a:noFill/>
          <a:ln w="10160">
            <a:solidFill>
              <a:srgbClr val="67067C"/>
            </a:solidFill>
            <a:prstDash val="solid"/>
          </a:ln>
        </p:spPr>
      </p:sp>
      <p:sp>
        <p:nvSpPr>
          <p:cNvPr id="22" name="Text 20"/>
          <p:cNvSpPr/>
          <p:nvPr/>
        </p:nvSpPr>
        <p:spPr>
          <a:xfrm>
            <a:off x="828000" y="3060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r>
              <a:rPr lang="en-US" sz="740" b="1" dirty="0">
                <a:solidFill>
                  <a:srgbClr val="46606E"/>
                </a:solidFill>
                <a:latin typeface="IBM Plex Sans" pitchFamily="34" charset="0"/>
                <a:ea typeface="IBM Plex Sans" pitchFamily="34" charset="-122"/>
                <a:cs typeface="IBM Plex Sans" pitchFamily="34" charset="-120"/>
              </a:rPr>
              <a:t>Pinot Noir  </a:t>
            </a:r>
            <a:r>
              <a:rPr lang="en-US" sz="680" dirty="0">
                <a:solidFill>
                  <a:srgbClr val="46606E"/>
                </a:solidFill>
                <a:latin typeface="IBM Plex Sans" pitchFamily="34" charset="0"/>
                <a:ea typeface="IBM Plex Sans" pitchFamily="34" charset="-122"/>
                <a:cs typeface="IBM Plex Sans" pitchFamily="34" charset="-120"/>
              </a:rPr>
              <a:t>Divin No Low  </a:t>
            </a:r>
            <a:r>
              <a:rPr lang="en-US" sz="680" dirty="0">
                <a:solidFill>
                  <a:srgbClr val="A8515F"/>
                </a:solidFill>
                <a:latin typeface="IBM Plex Sans" pitchFamily="34" charset="0"/>
                <a:ea typeface="IBM Plex Sans" pitchFamily="34" charset="-122"/>
                <a:cs typeface="IBM Plex Sans" pitchFamily="34" charset="-120"/>
              </a:rPr>
              <a:t>75 cl   p. 13</a:t>
            </a:r>
            <a:endParaRPr lang="en-US" sz="740" dirty="0"/>
          </a:p>
        </p:txBody>
      </p:sp>
      <p:sp>
        <p:nvSpPr>
          <p:cNvPr id="23" name="Text 21"/>
          <p:cNvSpPr/>
          <p:nvPr/>
        </p:nvSpPr>
        <p:spPr>
          <a:xfrm>
            <a:off x="828000" y="32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r>
              <a:rPr lang="en-US" sz="740" b="1" dirty="0">
                <a:solidFill>
                  <a:srgbClr val="46606E"/>
                </a:solidFill>
                <a:latin typeface="IBM Plex Sans" pitchFamily="34" charset="0"/>
                <a:ea typeface="IBM Plex Sans" pitchFamily="34" charset="-122"/>
                <a:cs typeface="IBM Plex Sans" pitchFamily="34" charset="-120"/>
              </a:rPr>
              <a:t>Sauvignon Blanc  </a:t>
            </a:r>
            <a:r>
              <a:rPr lang="en-US" sz="680" dirty="0">
                <a:solidFill>
                  <a:srgbClr val="46606E"/>
                </a:solidFill>
                <a:latin typeface="IBM Plex Sans" pitchFamily="34" charset="0"/>
                <a:ea typeface="IBM Plex Sans" pitchFamily="34" charset="-122"/>
                <a:cs typeface="IBM Plex Sans" pitchFamily="34" charset="-120"/>
              </a:rPr>
              <a:t>Divin No Low  </a:t>
            </a:r>
            <a:r>
              <a:rPr lang="en-US" sz="680" dirty="0">
                <a:solidFill>
                  <a:srgbClr val="A8515F"/>
                </a:solidFill>
                <a:latin typeface="IBM Plex Sans" pitchFamily="34" charset="0"/>
                <a:ea typeface="IBM Plex Sans" pitchFamily="34" charset="-122"/>
                <a:cs typeface="IBM Plex Sans" pitchFamily="34" charset="-120"/>
              </a:rPr>
              <a:t>75 cl   p. 13</a:t>
            </a:r>
            <a:endParaRPr lang="en-US" sz="740" dirty="0"/>
          </a:p>
        </p:txBody>
      </p:sp>
      <p:sp>
        <p:nvSpPr>
          <p:cNvPr id="24" name="Text 22"/>
          <p:cNvSpPr/>
          <p:nvPr/>
        </p:nvSpPr>
        <p:spPr>
          <a:xfrm>
            <a:off x="828000" y="33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r>
              <a:rPr lang="en-US" sz="740" b="1" dirty="0">
                <a:solidFill>
                  <a:srgbClr val="46606E"/>
                </a:solidFill>
                <a:latin typeface="IBM Plex Sans" pitchFamily="34" charset="0"/>
                <a:ea typeface="IBM Plex Sans" pitchFamily="34" charset="-122"/>
                <a:cs typeface="IBM Plex Sans" pitchFamily="34" charset="-120"/>
              </a:rPr>
              <a:t>Sauvignon  </a:t>
            </a:r>
            <a:r>
              <a:rPr lang="en-US" sz="680" dirty="0">
                <a:solidFill>
                  <a:srgbClr val="46606E"/>
                </a:solidFill>
                <a:latin typeface="IBM Plex Sans" pitchFamily="34" charset="0"/>
                <a:ea typeface="IBM Plex Sans" pitchFamily="34" charset="-122"/>
                <a:cs typeface="IBM Plex Sans" pitchFamily="34" charset="-120"/>
              </a:rPr>
              <a:t>Divin No Low  </a:t>
            </a:r>
            <a:r>
              <a:rPr lang="en-US" sz="680" dirty="0">
                <a:solidFill>
                  <a:srgbClr val="A8515F"/>
                </a:solidFill>
                <a:latin typeface="IBM Plex Sans" pitchFamily="34" charset="0"/>
                <a:ea typeface="IBM Plex Sans" pitchFamily="34" charset="-122"/>
                <a:cs typeface="IBM Plex Sans" pitchFamily="34" charset="-120"/>
              </a:rPr>
              <a:t>75 cl   p. 13</a:t>
            </a:r>
            <a:endParaRPr lang="en-US" sz="740" dirty="0"/>
          </a:p>
        </p:txBody>
      </p:sp>
      <p:sp>
        <p:nvSpPr>
          <p:cNvPr id="25" name="Text 23"/>
          <p:cNvSpPr/>
          <p:nvPr/>
        </p:nvSpPr>
        <p:spPr>
          <a:xfrm>
            <a:off x="828000" y="349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r>
              <a:rPr lang="en-US" sz="740" b="1" dirty="0">
                <a:solidFill>
                  <a:srgbClr val="46606E"/>
                </a:solidFill>
                <a:latin typeface="IBM Plex Sans" pitchFamily="34" charset="0"/>
                <a:ea typeface="IBM Plex Sans" pitchFamily="34" charset="-122"/>
                <a:cs typeface="IBM Plex Sans" pitchFamily="34" charset="-120"/>
              </a:rPr>
              <a:t>Chenin Blanc  </a:t>
            </a:r>
            <a:r>
              <a:rPr lang="en-US" sz="680" dirty="0">
                <a:solidFill>
                  <a:srgbClr val="46606E"/>
                </a:solidFill>
                <a:latin typeface="IBM Plex Sans" pitchFamily="34" charset="0"/>
                <a:ea typeface="IBM Plex Sans" pitchFamily="34" charset="-122"/>
                <a:cs typeface="IBM Plex Sans" pitchFamily="34" charset="-120"/>
              </a:rPr>
              <a:t>Divin No Low  </a:t>
            </a:r>
            <a:r>
              <a:rPr lang="en-US" sz="680" dirty="0">
                <a:solidFill>
                  <a:srgbClr val="A8515F"/>
                </a:solidFill>
                <a:latin typeface="IBM Plex Sans" pitchFamily="34" charset="0"/>
                <a:ea typeface="IBM Plex Sans" pitchFamily="34" charset="-122"/>
                <a:cs typeface="IBM Plex Sans" pitchFamily="34" charset="-120"/>
              </a:rPr>
              <a:t>75 cl   p. 13</a:t>
            </a:r>
            <a:endParaRPr lang="en-US" sz="740" dirty="0"/>
          </a:p>
        </p:txBody>
      </p:sp>
      <p:sp>
        <p:nvSpPr>
          <p:cNvPr id="26" name="Text 24"/>
          <p:cNvSpPr/>
          <p:nvPr/>
        </p:nvSpPr>
        <p:spPr>
          <a:xfrm>
            <a:off x="3888000" y="3060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r>
              <a:rPr lang="en-US" sz="740" b="1" dirty="0">
                <a:solidFill>
                  <a:srgbClr val="46606E"/>
                </a:solidFill>
                <a:latin typeface="IBM Plex Sans" pitchFamily="34" charset="0"/>
                <a:ea typeface="IBM Plex Sans" pitchFamily="34" charset="-122"/>
                <a:cs typeface="IBM Plex Sans" pitchFamily="34" charset="-120"/>
              </a:rPr>
              <a:t>Rosé  </a:t>
            </a:r>
            <a:r>
              <a:rPr lang="en-US" sz="680" dirty="0">
                <a:solidFill>
                  <a:srgbClr val="46606E"/>
                </a:solidFill>
                <a:latin typeface="IBM Plex Sans" pitchFamily="34" charset="0"/>
                <a:ea typeface="IBM Plex Sans" pitchFamily="34" charset="-122"/>
                <a:cs typeface="IBM Plex Sans" pitchFamily="34" charset="-120"/>
              </a:rPr>
              <a:t>Divin No Low  </a:t>
            </a:r>
            <a:r>
              <a:rPr lang="en-US" sz="680" dirty="0">
                <a:solidFill>
                  <a:srgbClr val="A8515F"/>
                </a:solidFill>
                <a:latin typeface="IBM Plex Sans" pitchFamily="34" charset="0"/>
                <a:ea typeface="IBM Plex Sans" pitchFamily="34" charset="-122"/>
                <a:cs typeface="IBM Plex Sans" pitchFamily="34" charset="-120"/>
              </a:rPr>
              <a:t>75 cl   p. 13</a:t>
            </a:r>
            <a:endParaRPr lang="en-US" sz="740" dirty="0"/>
          </a:p>
        </p:txBody>
      </p:sp>
      <p:sp>
        <p:nvSpPr>
          <p:cNvPr id="27" name="Text 25"/>
          <p:cNvSpPr/>
          <p:nvPr/>
        </p:nvSpPr>
        <p:spPr>
          <a:xfrm>
            <a:off x="3888000" y="32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r>
              <a:rPr lang="en-US" sz="740" b="1" dirty="0">
                <a:solidFill>
                  <a:srgbClr val="46606E"/>
                </a:solidFill>
                <a:latin typeface="IBM Plex Sans" pitchFamily="34" charset="0"/>
                <a:ea typeface="IBM Plex Sans" pitchFamily="34" charset="-122"/>
                <a:cs typeface="IBM Plex Sans" pitchFamily="34" charset="-120"/>
              </a:rPr>
              <a:t>Pinot Noir  </a:t>
            </a:r>
            <a:r>
              <a:rPr lang="en-US" sz="680" dirty="0">
                <a:solidFill>
                  <a:srgbClr val="46606E"/>
                </a:solidFill>
                <a:latin typeface="IBM Plex Sans" pitchFamily="34" charset="0"/>
                <a:ea typeface="IBM Plex Sans" pitchFamily="34" charset="-122"/>
                <a:cs typeface="IBM Plex Sans" pitchFamily="34" charset="-120"/>
              </a:rPr>
              <a:t>Divin No Low  </a:t>
            </a:r>
            <a:r>
              <a:rPr lang="en-US" sz="680" dirty="0">
                <a:solidFill>
                  <a:srgbClr val="A8515F"/>
                </a:solidFill>
                <a:latin typeface="IBM Plex Sans" pitchFamily="34" charset="0"/>
                <a:ea typeface="IBM Plex Sans" pitchFamily="34" charset="-122"/>
                <a:cs typeface="IBM Plex Sans" pitchFamily="34" charset="-120"/>
              </a:rPr>
              <a:t>75 cl   p. 13</a:t>
            </a:r>
            <a:endParaRPr lang="en-US" sz="740" dirty="0"/>
          </a:p>
        </p:txBody>
      </p:sp>
      <p:sp>
        <p:nvSpPr>
          <p:cNvPr id="28" name="Text 26"/>
          <p:cNvSpPr/>
          <p:nvPr/>
        </p:nvSpPr>
        <p:spPr>
          <a:xfrm>
            <a:off x="3888000" y="33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r>
              <a:rPr lang="en-US" sz="740" b="1" dirty="0">
                <a:solidFill>
                  <a:srgbClr val="46606E"/>
                </a:solidFill>
                <a:latin typeface="IBM Plex Sans" pitchFamily="34" charset="0"/>
                <a:ea typeface="IBM Plex Sans" pitchFamily="34" charset="-122"/>
                <a:cs typeface="IBM Plex Sans" pitchFamily="34" charset="-120"/>
              </a:rPr>
              <a:t>Sauvignon Blanc  </a:t>
            </a:r>
            <a:r>
              <a:rPr lang="en-US" sz="680" dirty="0">
                <a:solidFill>
                  <a:srgbClr val="46606E"/>
                </a:solidFill>
                <a:latin typeface="IBM Plex Sans" pitchFamily="34" charset="0"/>
                <a:ea typeface="IBM Plex Sans" pitchFamily="34" charset="-122"/>
                <a:cs typeface="IBM Plex Sans" pitchFamily="34" charset="-120"/>
              </a:rPr>
              <a:t>Divin No Low  </a:t>
            </a:r>
            <a:r>
              <a:rPr lang="en-US" sz="680" dirty="0">
                <a:solidFill>
                  <a:srgbClr val="A8515F"/>
                </a:solidFill>
                <a:latin typeface="IBM Plex Sans" pitchFamily="34" charset="0"/>
                <a:ea typeface="IBM Plex Sans" pitchFamily="34" charset="-122"/>
                <a:cs typeface="IBM Plex Sans" pitchFamily="34" charset="-120"/>
              </a:rPr>
              <a:t>75 cl   p. 13</a:t>
            </a:r>
            <a:endParaRPr lang="en-US" sz="740" dirty="0"/>
          </a:p>
        </p:txBody>
      </p:sp>
      <p:sp>
        <p:nvSpPr>
          <p:cNvPr id="29" name="Text 27"/>
          <p:cNvSpPr/>
          <p:nvPr/>
        </p:nvSpPr>
        <p:spPr>
          <a:xfrm>
            <a:off x="3888000" y="349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r>
              <a:rPr lang="en-US" sz="740" b="1" dirty="0">
                <a:solidFill>
                  <a:srgbClr val="46606E"/>
                </a:solidFill>
                <a:latin typeface="IBM Plex Sans" pitchFamily="34" charset="0"/>
                <a:ea typeface="IBM Plex Sans" pitchFamily="34" charset="-122"/>
                <a:cs typeface="IBM Plex Sans" pitchFamily="34" charset="-120"/>
              </a:rPr>
              <a:t>Sauvignon Blanc Blush  </a:t>
            </a:r>
            <a:r>
              <a:rPr lang="en-US" sz="680" dirty="0">
                <a:solidFill>
                  <a:srgbClr val="46606E"/>
                </a:solidFill>
                <a:latin typeface="IBM Plex Sans" pitchFamily="34" charset="0"/>
                <a:ea typeface="IBM Plex Sans" pitchFamily="34" charset="-122"/>
                <a:cs typeface="IBM Plex Sans" pitchFamily="34" charset="-120"/>
              </a:rPr>
              <a:t>Divin No Low  </a:t>
            </a:r>
            <a:r>
              <a:rPr lang="en-US" sz="680" dirty="0">
                <a:solidFill>
                  <a:srgbClr val="A8515F"/>
                </a:solidFill>
                <a:latin typeface="IBM Plex Sans" pitchFamily="34" charset="0"/>
                <a:ea typeface="IBM Plex Sans" pitchFamily="34" charset="-122"/>
                <a:cs typeface="IBM Plex Sans" pitchFamily="34" charset="-120"/>
              </a:rPr>
              <a:t>75 cl   p. 13</a:t>
            </a:r>
            <a:endParaRPr lang="en-US" sz="740" dirty="0"/>
          </a:p>
        </p:txBody>
      </p:sp>
      <p:sp>
        <p:nvSpPr>
          <p:cNvPr id="30" name="Text 28"/>
          <p:cNvSpPr/>
          <p:nvPr/>
        </p:nvSpPr>
        <p:spPr>
          <a:xfrm>
            <a:off x="828000" y="3816000"/>
            <a:ext cx="6120000" cy="216000"/>
          </a:xfrm>
          <a:prstGeom prst="rect">
            <a:avLst/>
          </a:prstGeom>
          <a:noFill/>
          <a:ln/>
        </p:spPr>
        <p:txBody>
          <a:bodyPr wrap="square" lIns="0" tIns="0" rIns="0" bIns="0" rtlCol="0" anchor="ctr"/>
          <a:lstStyle/>
          <a:p>
            <a:pPr indent="0" marL="0">
              <a:buNone/>
            </a:pPr>
            <a:r>
              <a:rPr lang="en-US" sz="1200" dirty="0">
                <a:solidFill>
                  <a:srgbClr val="67067C"/>
                </a:solidFill>
                <a:latin typeface="Young Serif" pitchFamily="34" charset="0"/>
                <a:ea typeface="Young Serif" pitchFamily="34" charset="-122"/>
                <a:cs typeface="Young Serif" pitchFamily="34" charset="-120"/>
              </a:rPr>
              <a:t>Jus de cépages   (8)</a:t>
            </a:r>
            <a:endParaRPr lang="en-US" sz="1200" dirty="0"/>
          </a:p>
        </p:txBody>
      </p:sp>
      <p:sp>
        <p:nvSpPr>
          <p:cNvPr id="31" name="Shape 29"/>
          <p:cNvSpPr/>
          <p:nvPr/>
        </p:nvSpPr>
        <p:spPr>
          <a:xfrm>
            <a:off x="828000" y="4032000"/>
            <a:ext cx="6120000" cy="0"/>
          </a:xfrm>
          <a:prstGeom prst="line">
            <a:avLst/>
          </a:prstGeom>
          <a:noFill/>
          <a:ln w="10160">
            <a:solidFill>
              <a:srgbClr val="67067C"/>
            </a:solidFill>
            <a:prstDash val="solid"/>
          </a:ln>
        </p:spPr>
      </p:sp>
      <p:sp>
        <p:nvSpPr>
          <p:cNvPr id="32" name="Text 30"/>
          <p:cNvSpPr/>
          <p:nvPr/>
        </p:nvSpPr>
        <p:spPr>
          <a:xfrm>
            <a:off x="828000" y="41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r>
              <a:rPr lang="en-US" sz="740" b="1" dirty="0">
                <a:solidFill>
                  <a:srgbClr val="46606E"/>
                </a:solidFill>
                <a:latin typeface="IBM Plex Sans" pitchFamily="34" charset="0"/>
                <a:ea typeface="IBM Plex Sans" pitchFamily="34" charset="-122"/>
                <a:cs typeface="IBM Plex Sans" pitchFamily="34" charset="-120"/>
              </a:rPr>
              <a:t>LE SAUVIGNON  </a:t>
            </a:r>
            <a:r>
              <a:rPr lang="en-US" sz="680" dirty="0">
                <a:solidFill>
                  <a:srgbClr val="46606E"/>
                </a:solidFill>
                <a:latin typeface="IBM Plex Sans" pitchFamily="34" charset="0"/>
                <a:ea typeface="IBM Plex Sans" pitchFamily="34" charset="-122"/>
                <a:cs typeface="IBM Plex Sans" pitchFamily="34" charset="-120"/>
              </a:rPr>
              <a:t>Famille d’Exea — Jus de Cépages  </a:t>
            </a:r>
            <a:r>
              <a:rPr lang="en-US" sz="680" dirty="0">
                <a:solidFill>
                  <a:srgbClr val="A8515F"/>
                </a:solidFill>
                <a:latin typeface="IBM Plex Sans" pitchFamily="34" charset="0"/>
                <a:ea typeface="IBM Plex Sans" pitchFamily="34" charset="-122"/>
                <a:cs typeface="IBM Plex Sans" pitchFamily="34" charset="-120"/>
              </a:rPr>
              <a:t>50 cl   p. 56</a:t>
            </a:r>
            <a:endParaRPr lang="en-US" sz="740" dirty="0"/>
          </a:p>
        </p:txBody>
      </p:sp>
      <p:sp>
        <p:nvSpPr>
          <p:cNvPr id="33" name="Text 31"/>
          <p:cNvSpPr/>
          <p:nvPr/>
        </p:nvSpPr>
        <p:spPr>
          <a:xfrm>
            <a:off x="828000" y="42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r>
              <a:rPr lang="en-US" sz="740" b="1" dirty="0">
                <a:solidFill>
                  <a:srgbClr val="46606E"/>
                </a:solidFill>
                <a:latin typeface="IBM Plex Sans" pitchFamily="34" charset="0"/>
                <a:ea typeface="IBM Plex Sans" pitchFamily="34" charset="-122"/>
                <a:cs typeface="IBM Plex Sans" pitchFamily="34" charset="-120"/>
              </a:rPr>
              <a:t>LE CARIGNAN  </a:t>
            </a:r>
            <a:r>
              <a:rPr lang="en-US" sz="680" dirty="0">
                <a:solidFill>
                  <a:srgbClr val="46606E"/>
                </a:solidFill>
                <a:latin typeface="IBM Plex Sans" pitchFamily="34" charset="0"/>
                <a:ea typeface="IBM Plex Sans" pitchFamily="34" charset="-122"/>
                <a:cs typeface="IBM Plex Sans" pitchFamily="34" charset="-120"/>
              </a:rPr>
              <a:t>Famille d’Exea — Jus de Cépages  </a:t>
            </a:r>
            <a:r>
              <a:rPr lang="en-US" sz="680" dirty="0">
                <a:solidFill>
                  <a:srgbClr val="A8515F"/>
                </a:solidFill>
                <a:latin typeface="IBM Plex Sans" pitchFamily="34" charset="0"/>
                <a:ea typeface="IBM Plex Sans" pitchFamily="34" charset="-122"/>
                <a:cs typeface="IBM Plex Sans" pitchFamily="34" charset="-120"/>
              </a:rPr>
              <a:t>50 cl   p. 56</a:t>
            </a:r>
            <a:endParaRPr lang="en-US" sz="740" dirty="0"/>
          </a:p>
        </p:txBody>
      </p:sp>
      <p:sp>
        <p:nvSpPr>
          <p:cNvPr id="34" name="Text 32"/>
          <p:cNvSpPr/>
          <p:nvPr/>
        </p:nvSpPr>
        <p:spPr>
          <a:xfrm>
            <a:off x="828000" y="439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r>
              <a:rPr lang="en-US" sz="740" b="1" dirty="0">
                <a:solidFill>
                  <a:srgbClr val="46606E"/>
                </a:solidFill>
                <a:latin typeface="IBM Plex Sans" pitchFamily="34" charset="0"/>
                <a:ea typeface="IBM Plex Sans" pitchFamily="34" charset="-122"/>
                <a:cs typeface="IBM Plex Sans" pitchFamily="34" charset="-120"/>
              </a:rPr>
              <a:t>LE CHARDONNAY  </a:t>
            </a:r>
            <a:r>
              <a:rPr lang="en-US" sz="680" dirty="0">
                <a:solidFill>
                  <a:srgbClr val="46606E"/>
                </a:solidFill>
                <a:latin typeface="IBM Plex Sans" pitchFamily="34" charset="0"/>
                <a:ea typeface="IBM Plex Sans" pitchFamily="34" charset="-122"/>
                <a:cs typeface="IBM Plex Sans" pitchFamily="34" charset="-120"/>
              </a:rPr>
              <a:t>Famille d’Exea — Jus de Cépages  </a:t>
            </a:r>
            <a:r>
              <a:rPr lang="en-US" sz="680" dirty="0">
                <a:solidFill>
                  <a:srgbClr val="A8515F"/>
                </a:solidFill>
                <a:latin typeface="IBM Plex Sans" pitchFamily="34" charset="0"/>
                <a:ea typeface="IBM Plex Sans" pitchFamily="34" charset="-122"/>
                <a:cs typeface="IBM Plex Sans" pitchFamily="34" charset="-120"/>
              </a:rPr>
              <a:t>50 cl   p. 56</a:t>
            </a:r>
            <a:endParaRPr lang="en-US" sz="740" dirty="0"/>
          </a:p>
        </p:txBody>
      </p:sp>
      <p:sp>
        <p:nvSpPr>
          <p:cNvPr id="35" name="Text 33"/>
          <p:cNvSpPr/>
          <p:nvPr/>
        </p:nvSpPr>
        <p:spPr>
          <a:xfrm>
            <a:off x="828000" y="4536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r>
              <a:rPr lang="en-US" sz="740" b="1" dirty="0">
                <a:solidFill>
                  <a:srgbClr val="46606E"/>
                </a:solidFill>
                <a:latin typeface="IBM Plex Sans" pitchFamily="34" charset="0"/>
                <a:ea typeface="IBM Plex Sans" pitchFamily="34" charset="-122"/>
                <a:cs typeface="IBM Plex Sans" pitchFamily="34" charset="-120"/>
              </a:rPr>
              <a:t>LE GRENACHE  </a:t>
            </a:r>
            <a:r>
              <a:rPr lang="en-US" sz="680" dirty="0">
                <a:solidFill>
                  <a:srgbClr val="46606E"/>
                </a:solidFill>
                <a:latin typeface="IBM Plex Sans" pitchFamily="34" charset="0"/>
                <a:ea typeface="IBM Plex Sans" pitchFamily="34" charset="-122"/>
                <a:cs typeface="IBM Plex Sans" pitchFamily="34" charset="-120"/>
              </a:rPr>
              <a:t>Famille d’Exea — Jus de Cépages  </a:t>
            </a:r>
            <a:r>
              <a:rPr lang="en-US" sz="680" dirty="0">
                <a:solidFill>
                  <a:srgbClr val="A8515F"/>
                </a:solidFill>
                <a:latin typeface="IBM Plex Sans" pitchFamily="34" charset="0"/>
                <a:ea typeface="IBM Plex Sans" pitchFamily="34" charset="-122"/>
                <a:cs typeface="IBM Plex Sans" pitchFamily="34" charset="-120"/>
              </a:rPr>
              <a:t>50 cl   p. 56</a:t>
            </a:r>
            <a:endParaRPr lang="en-US" sz="740" dirty="0"/>
          </a:p>
        </p:txBody>
      </p:sp>
      <p:sp>
        <p:nvSpPr>
          <p:cNvPr id="36" name="Text 34"/>
          <p:cNvSpPr/>
          <p:nvPr/>
        </p:nvSpPr>
        <p:spPr>
          <a:xfrm>
            <a:off x="3888000" y="41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r>
              <a:rPr lang="en-US" sz="740" b="1" dirty="0">
                <a:solidFill>
                  <a:srgbClr val="46606E"/>
                </a:solidFill>
                <a:latin typeface="IBM Plex Sans" pitchFamily="34" charset="0"/>
                <a:ea typeface="IBM Plex Sans" pitchFamily="34" charset="-122"/>
                <a:cs typeface="IBM Plex Sans" pitchFamily="34" charset="-120"/>
              </a:rPr>
              <a:t>LA SYRAH  </a:t>
            </a:r>
            <a:r>
              <a:rPr lang="en-US" sz="680" dirty="0">
                <a:solidFill>
                  <a:srgbClr val="46606E"/>
                </a:solidFill>
                <a:latin typeface="IBM Plex Sans" pitchFamily="34" charset="0"/>
                <a:ea typeface="IBM Plex Sans" pitchFamily="34" charset="-122"/>
                <a:cs typeface="IBM Plex Sans" pitchFamily="34" charset="-120"/>
              </a:rPr>
              <a:t>Famille d’Exea — Jus de Cépages  </a:t>
            </a:r>
            <a:r>
              <a:rPr lang="en-US" sz="680" dirty="0">
                <a:solidFill>
                  <a:srgbClr val="A8515F"/>
                </a:solidFill>
                <a:latin typeface="IBM Plex Sans" pitchFamily="34" charset="0"/>
                <a:ea typeface="IBM Plex Sans" pitchFamily="34" charset="-122"/>
                <a:cs typeface="IBM Plex Sans" pitchFamily="34" charset="-120"/>
              </a:rPr>
              <a:t>50 cl   p. 56</a:t>
            </a:r>
            <a:endParaRPr lang="en-US" sz="740" dirty="0"/>
          </a:p>
        </p:txBody>
      </p:sp>
      <p:sp>
        <p:nvSpPr>
          <p:cNvPr id="37" name="Text 35"/>
          <p:cNvSpPr/>
          <p:nvPr/>
        </p:nvSpPr>
        <p:spPr>
          <a:xfrm>
            <a:off x="3888000" y="42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r>
              <a:rPr lang="en-US" sz="740" b="1" dirty="0">
                <a:solidFill>
                  <a:srgbClr val="46606E"/>
                </a:solidFill>
                <a:latin typeface="IBM Plex Sans" pitchFamily="34" charset="0"/>
                <a:ea typeface="IBM Plex Sans" pitchFamily="34" charset="-122"/>
                <a:cs typeface="IBM Plex Sans" pitchFamily="34" charset="-120"/>
              </a:rPr>
              <a:t>LE CHARDONNAY  </a:t>
            </a:r>
            <a:r>
              <a:rPr lang="en-US" sz="680" dirty="0">
                <a:solidFill>
                  <a:srgbClr val="46606E"/>
                </a:solidFill>
                <a:latin typeface="IBM Plex Sans" pitchFamily="34" charset="0"/>
                <a:ea typeface="IBM Plex Sans" pitchFamily="34" charset="-122"/>
                <a:cs typeface="IBM Plex Sans" pitchFamily="34" charset="-120"/>
              </a:rPr>
              <a:t>Famille d’Exea — Jus de Cépages  </a:t>
            </a:r>
            <a:r>
              <a:rPr lang="en-US" sz="680" dirty="0">
                <a:solidFill>
                  <a:srgbClr val="A8515F"/>
                </a:solidFill>
                <a:latin typeface="IBM Plex Sans" pitchFamily="34" charset="0"/>
                <a:ea typeface="IBM Plex Sans" pitchFamily="34" charset="-122"/>
                <a:cs typeface="IBM Plex Sans" pitchFamily="34" charset="-120"/>
              </a:rPr>
              <a:t>25 cl   p. 56</a:t>
            </a:r>
            <a:endParaRPr lang="en-US" sz="740" dirty="0"/>
          </a:p>
        </p:txBody>
      </p:sp>
      <p:sp>
        <p:nvSpPr>
          <p:cNvPr id="38" name="Text 36"/>
          <p:cNvSpPr/>
          <p:nvPr/>
        </p:nvSpPr>
        <p:spPr>
          <a:xfrm>
            <a:off x="3888000" y="439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r>
              <a:rPr lang="en-US" sz="740" b="1" dirty="0">
                <a:solidFill>
                  <a:srgbClr val="46606E"/>
                </a:solidFill>
                <a:latin typeface="IBM Plex Sans" pitchFamily="34" charset="0"/>
                <a:ea typeface="IBM Plex Sans" pitchFamily="34" charset="-122"/>
                <a:cs typeface="IBM Plex Sans" pitchFamily="34" charset="-120"/>
              </a:rPr>
              <a:t>LE GRENACHE  </a:t>
            </a:r>
            <a:r>
              <a:rPr lang="en-US" sz="680" dirty="0">
                <a:solidFill>
                  <a:srgbClr val="46606E"/>
                </a:solidFill>
                <a:latin typeface="IBM Plex Sans" pitchFamily="34" charset="0"/>
                <a:ea typeface="IBM Plex Sans" pitchFamily="34" charset="-122"/>
                <a:cs typeface="IBM Plex Sans" pitchFamily="34" charset="-120"/>
              </a:rPr>
              <a:t>Famille d’Exea — Jus de Cépages  </a:t>
            </a:r>
            <a:r>
              <a:rPr lang="en-US" sz="680" dirty="0">
                <a:solidFill>
                  <a:srgbClr val="A8515F"/>
                </a:solidFill>
                <a:latin typeface="IBM Plex Sans" pitchFamily="34" charset="0"/>
                <a:ea typeface="IBM Plex Sans" pitchFamily="34" charset="-122"/>
                <a:cs typeface="IBM Plex Sans" pitchFamily="34" charset="-120"/>
              </a:rPr>
              <a:t>25 cl   p. 56</a:t>
            </a:r>
            <a:endParaRPr lang="en-US" sz="740" dirty="0"/>
          </a:p>
        </p:txBody>
      </p:sp>
      <p:sp>
        <p:nvSpPr>
          <p:cNvPr id="39" name="Text 37"/>
          <p:cNvSpPr/>
          <p:nvPr/>
        </p:nvSpPr>
        <p:spPr>
          <a:xfrm>
            <a:off x="3888000" y="4536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r>
              <a:rPr lang="en-US" sz="740" b="1" dirty="0">
                <a:solidFill>
                  <a:srgbClr val="46606E"/>
                </a:solidFill>
                <a:latin typeface="IBM Plex Sans" pitchFamily="34" charset="0"/>
                <a:ea typeface="IBM Plex Sans" pitchFamily="34" charset="-122"/>
                <a:cs typeface="IBM Plex Sans" pitchFamily="34" charset="-120"/>
              </a:rPr>
              <a:t>LA SYRAH  </a:t>
            </a:r>
            <a:r>
              <a:rPr lang="en-US" sz="680" dirty="0">
                <a:solidFill>
                  <a:srgbClr val="46606E"/>
                </a:solidFill>
                <a:latin typeface="IBM Plex Sans" pitchFamily="34" charset="0"/>
                <a:ea typeface="IBM Plex Sans" pitchFamily="34" charset="-122"/>
                <a:cs typeface="IBM Plex Sans" pitchFamily="34" charset="-120"/>
              </a:rPr>
              <a:t>Famille d’Exea — Jus de Cépages  </a:t>
            </a:r>
            <a:r>
              <a:rPr lang="en-US" sz="680" dirty="0">
                <a:solidFill>
                  <a:srgbClr val="A8515F"/>
                </a:solidFill>
                <a:latin typeface="IBM Plex Sans" pitchFamily="34" charset="0"/>
                <a:ea typeface="IBM Plex Sans" pitchFamily="34" charset="-122"/>
                <a:cs typeface="IBM Plex Sans" pitchFamily="34" charset="-120"/>
              </a:rPr>
              <a:t>25 cl   p. 56</a:t>
            </a:r>
            <a:endParaRPr lang="en-US" sz="740" dirty="0"/>
          </a:p>
        </p:txBody>
      </p:sp>
      <p:sp>
        <p:nvSpPr>
          <p:cNvPr id="40" name="Text 38"/>
          <p:cNvSpPr/>
          <p:nvPr/>
        </p:nvSpPr>
        <p:spPr>
          <a:xfrm>
            <a:off x="828000" y="4860000"/>
            <a:ext cx="6120000" cy="216000"/>
          </a:xfrm>
          <a:prstGeom prst="rect">
            <a:avLst/>
          </a:prstGeom>
          <a:noFill/>
          <a:ln/>
        </p:spPr>
        <p:txBody>
          <a:bodyPr wrap="square" lIns="0" tIns="0" rIns="0" bIns="0" rtlCol="0" anchor="ctr"/>
          <a:lstStyle/>
          <a:p>
            <a:pPr indent="0" marL="0">
              <a:buNone/>
            </a:pPr>
            <a:r>
              <a:rPr lang="en-US" sz="1200" dirty="0">
                <a:solidFill>
                  <a:srgbClr val="67067C"/>
                </a:solidFill>
                <a:latin typeface="Young Serif" pitchFamily="34" charset="0"/>
                <a:ea typeface="Young Serif" pitchFamily="34" charset="-122"/>
                <a:cs typeface="Young Serif" pitchFamily="34" charset="-120"/>
              </a:rPr>
              <a:t>Bières   (3)</a:t>
            </a:r>
            <a:endParaRPr lang="en-US" sz="1200" dirty="0"/>
          </a:p>
        </p:txBody>
      </p:sp>
      <p:sp>
        <p:nvSpPr>
          <p:cNvPr id="41" name="Shape 39"/>
          <p:cNvSpPr/>
          <p:nvPr/>
        </p:nvSpPr>
        <p:spPr>
          <a:xfrm>
            <a:off x="828000" y="5076000"/>
            <a:ext cx="6120000" cy="0"/>
          </a:xfrm>
          <a:prstGeom prst="line">
            <a:avLst/>
          </a:prstGeom>
          <a:noFill/>
          <a:ln w="10160">
            <a:solidFill>
              <a:srgbClr val="67067C"/>
            </a:solidFill>
            <a:prstDash val="solid"/>
          </a:ln>
        </p:spPr>
      </p:sp>
      <p:sp>
        <p:nvSpPr>
          <p:cNvPr id="42" name="Text 40"/>
          <p:cNvSpPr/>
          <p:nvPr/>
        </p:nvSpPr>
        <p:spPr>
          <a:xfrm>
            <a:off x="828000" y="51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24  </a:t>
            </a:r>
            <a:r>
              <a:rPr lang="en-US" sz="740" b="1" dirty="0">
                <a:solidFill>
                  <a:srgbClr val="46606E"/>
                </a:solidFill>
                <a:latin typeface="IBM Plex Sans" pitchFamily="34" charset="0"/>
                <a:ea typeface="IBM Plex Sans" pitchFamily="34" charset="-122"/>
                <a:cs typeface="IBM Plex Sans" pitchFamily="34" charset="-120"/>
              </a:rPr>
              <a:t>la barbe  </a:t>
            </a:r>
            <a:r>
              <a:rPr lang="en-US" sz="680" dirty="0">
                <a:solidFill>
                  <a:srgbClr val="46606E"/>
                </a:solidFill>
                <a:latin typeface="IBM Plex Sans" pitchFamily="34" charset="0"/>
                <a:ea typeface="IBM Plex Sans" pitchFamily="34" charset="-122"/>
                <a:cs typeface="IBM Plex Sans" pitchFamily="34" charset="-120"/>
              </a:rPr>
              <a:t>Fabien Castaing  </a:t>
            </a:r>
            <a:r>
              <a:rPr lang="en-US" sz="680" dirty="0">
                <a:solidFill>
                  <a:srgbClr val="A8515F"/>
                </a:solidFill>
                <a:latin typeface="IBM Plex Sans" pitchFamily="34" charset="0"/>
                <a:ea typeface="IBM Plex Sans" pitchFamily="34" charset="-122"/>
                <a:cs typeface="IBM Plex Sans" pitchFamily="34" charset="-120"/>
              </a:rPr>
              <a:t>À partir de 120 bts · À partir de 180 bts   p. 39</a:t>
            </a:r>
            <a:endParaRPr lang="en-US" sz="740" dirty="0"/>
          </a:p>
        </p:txBody>
      </p:sp>
      <p:sp>
        <p:nvSpPr>
          <p:cNvPr id="43" name="Text 41"/>
          <p:cNvSpPr/>
          <p:nvPr/>
        </p:nvSpPr>
        <p:spPr>
          <a:xfrm>
            <a:off x="828000" y="529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24  </a:t>
            </a:r>
            <a:r>
              <a:rPr lang="en-US" sz="740" b="1" dirty="0">
                <a:solidFill>
                  <a:srgbClr val="46606E"/>
                </a:solidFill>
                <a:latin typeface="IBM Plex Sans" pitchFamily="34" charset="0"/>
                <a:ea typeface="IBM Plex Sans" pitchFamily="34" charset="-122"/>
                <a:cs typeface="IBM Plex Sans" pitchFamily="34" charset="-120"/>
              </a:rPr>
              <a:t>la barbe  </a:t>
            </a:r>
            <a:r>
              <a:rPr lang="en-US" sz="680" dirty="0">
                <a:solidFill>
                  <a:srgbClr val="46606E"/>
                </a:solidFill>
                <a:latin typeface="IBM Plex Sans" pitchFamily="34" charset="0"/>
                <a:ea typeface="IBM Plex Sans" pitchFamily="34" charset="-122"/>
                <a:cs typeface="IBM Plex Sans" pitchFamily="34" charset="-120"/>
              </a:rPr>
              <a:t>Fabien Castaing  </a:t>
            </a:r>
            <a:r>
              <a:rPr lang="en-US" sz="680" dirty="0">
                <a:solidFill>
                  <a:srgbClr val="A8515F"/>
                </a:solidFill>
                <a:latin typeface="IBM Plex Sans" pitchFamily="34" charset="0"/>
                <a:ea typeface="IBM Plex Sans" pitchFamily="34" charset="-122"/>
                <a:cs typeface="IBM Plex Sans" pitchFamily="34" charset="-120"/>
              </a:rPr>
              <a:t>À partir de 120 bts · À partir de 180 bts   p. 39</a:t>
            </a:r>
            <a:endParaRPr lang="en-US" sz="740" dirty="0"/>
          </a:p>
        </p:txBody>
      </p:sp>
      <p:sp>
        <p:nvSpPr>
          <p:cNvPr id="44" name="Text 42"/>
          <p:cNvSpPr/>
          <p:nvPr/>
        </p:nvSpPr>
        <p:spPr>
          <a:xfrm>
            <a:off x="3888000" y="51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24  </a:t>
            </a:r>
            <a:r>
              <a:rPr lang="en-US" sz="740" b="1" dirty="0">
                <a:solidFill>
                  <a:srgbClr val="46606E"/>
                </a:solidFill>
                <a:latin typeface="IBM Plex Sans" pitchFamily="34" charset="0"/>
                <a:ea typeface="IBM Plex Sans" pitchFamily="34" charset="-122"/>
                <a:cs typeface="IBM Plex Sans" pitchFamily="34" charset="-120"/>
              </a:rPr>
              <a:t>la barbe  </a:t>
            </a:r>
            <a:r>
              <a:rPr lang="en-US" sz="680" dirty="0">
                <a:solidFill>
                  <a:srgbClr val="46606E"/>
                </a:solidFill>
                <a:latin typeface="IBM Plex Sans" pitchFamily="34" charset="0"/>
                <a:ea typeface="IBM Plex Sans" pitchFamily="34" charset="-122"/>
                <a:cs typeface="IBM Plex Sans" pitchFamily="34" charset="-120"/>
              </a:rPr>
              <a:t>Fabien Castaing  </a:t>
            </a:r>
            <a:r>
              <a:rPr lang="en-US" sz="680" dirty="0">
                <a:solidFill>
                  <a:srgbClr val="A8515F"/>
                </a:solidFill>
                <a:latin typeface="IBM Plex Sans" pitchFamily="34" charset="0"/>
                <a:ea typeface="IBM Plex Sans" pitchFamily="34" charset="-122"/>
                <a:cs typeface="IBM Plex Sans" pitchFamily="34" charset="-120"/>
              </a:rPr>
              <a:t>À partir de 120 bts · À partir de 180 bts   p. 39</a:t>
            </a:r>
            <a:endParaRPr lang="en-US" sz="740" dirty="0"/>
          </a:p>
        </p:txBody>
      </p:sp>
      <p:sp>
        <p:nvSpPr>
          <p:cNvPr id="45" name="Text 43"/>
          <p:cNvSpPr/>
          <p:nvPr/>
        </p:nvSpPr>
        <p:spPr>
          <a:xfrm>
            <a:off x="828000" y="5616000"/>
            <a:ext cx="6120000" cy="216000"/>
          </a:xfrm>
          <a:prstGeom prst="rect">
            <a:avLst/>
          </a:prstGeom>
          <a:noFill/>
          <a:ln/>
        </p:spPr>
        <p:txBody>
          <a:bodyPr wrap="square" lIns="0" tIns="0" rIns="0" bIns="0" rtlCol="0" anchor="ctr"/>
          <a:lstStyle/>
          <a:p>
            <a:pPr indent="0" marL="0">
              <a:buNone/>
            </a:pPr>
            <a:r>
              <a:rPr lang="en-US" sz="1200" dirty="0">
                <a:solidFill>
                  <a:srgbClr val="67067C"/>
                </a:solidFill>
                <a:latin typeface="Young Serif" pitchFamily="34" charset="0"/>
                <a:ea typeface="Young Serif" pitchFamily="34" charset="-122"/>
                <a:cs typeface="Young Serif" pitchFamily="34" charset="-120"/>
              </a:rPr>
              <a:t>Armagnacs et ratafias   (9)</a:t>
            </a:r>
            <a:endParaRPr lang="en-US" sz="1200" dirty="0"/>
          </a:p>
        </p:txBody>
      </p:sp>
      <p:sp>
        <p:nvSpPr>
          <p:cNvPr id="46" name="Shape 44"/>
          <p:cNvSpPr/>
          <p:nvPr/>
        </p:nvSpPr>
        <p:spPr>
          <a:xfrm>
            <a:off x="828000" y="5832000"/>
            <a:ext cx="6120000" cy="0"/>
          </a:xfrm>
          <a:prstGeom prst="line">
            <a:avLst/>
          </a:prstGeom>
          <a:noFill/>
          <a:ln w="10160">
            <a:solidFill>
              <a:srgbClr val="67067C"/>
            </a:solidFill>
            <a:prstDash val="solid"/>
          </a:ln>
        </p:spPr>
      </p:sp>
      <p:sp>
        <p:nvSpPr>
          <p:cNvPr id="47" name="Text 45"/>
          <p:cNvSpPr/>
          <p:nvPr/>
        </p:nvSpPr>
        <p:spPr>
          <a:xfrm>
            <a:off x="828000" y="59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Blanche Armagnac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70 cl   p. 37</a:t>
            </a:r>
            <a:endParaRPr lang="en-US" sz="740" dirty="0"/>
          </a:p>
        </p:txBody>
      </p:sp>
      <p:sp>
        <p:nvSpPr>
          <p:cNvPr id="48" name="Text 46"/>
          <p:cNvSpPr/>
          <p:nvPr/>
        </p:nvSpPr>
        <p:spPr>
          <a:xfrm>
            <a:off x="828000" y="60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Réserve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70 cl   p. 37</a:t>
            </a:r>
            <a:endParaRPr lang="en-US" sz="740" dirty="0"/>
          </a:p>
        </p:txBody>
      </p:sp>
      <p:sp>
        <p:nvSpPr>
          <p:cNvPr id="49" name="Text 47"/>
          <p:cNvSpPr/>
          <p:nvPr/>
        </p:nvSpPr>
        <p:spPr>
          <a:xfrm>
            <a:off x="828000" y="619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V.S.O.P.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70 cl   p. 37</a:t>
            </a:r>
            <a:endParaRPr lang="en-US" sz="740" dirty="0"/>
          </a:p>
        </p:txBody>
      </p:sp>
      <p:sp>
        <p:nvSpPr>
          <p:cNvPr id="50" name="Text 48"/>
          <p:cNvSpPr/>
          <p:nvPr/>
        </p:nvSpPr>
        <p:spPr>
          <a:xfrm>
            <a:off x="828000" y="6336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X.O.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70 cl   p. 37</a:t>
            </a:r>
            <a:endParaRPr lang="en-US" sz="740" dirty="0"/>
          </a:p>
        </p:txBody>
      </p:sp>
      <p:sp>
        <p:nvSpPr>
          <p:cNvPr id="51" name="Text 49"/>
          <p:cNvSpPr/>
          <p:nvPr/>
        </p:nvSpPr>
        <p:spPr>
          <a:xfrm>
            <a:off x="828000" y="6480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Hors d'Age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70 cl   p. 37</a:t>
            </a:r>
            <a:endParaRPr lang="en-US" sz="740" dirty="0"/>
          </a:p>
        </p:txBody>
      </p:sp>
      <p:sp>
        <p:nvSpPr>
          <p:cNvPr id="52" name="Text 50"/>
          <p:cNvSpPr/>
          <p:nvPr/>
        </p:nvSpPr>
        <p:spPr>
          <a:xfrm>
            <a:off x="3888000" y="59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Millésimés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70 cl   p. 37</a:t>
            </a:r>
            <a:endParaRPr lang="en-US" sz="740" dirty="0"/>
          </a:p>
        </p:txBody>
      </p:sp>
      <p:sp>
        <p:nvSpPr>
          <p:cNvPr id="53" name="Text 51"/>
          <p:cNvSpPr/>
          <p:nvPr/>
        </p:nvSpPr>
        <p:spPr>
          <a:xfrm>
            <a:off x="3888000" y="60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Millésimés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70 cl   p. 37</a:t>
            </a:r>
            <a:endParaRPr lang="en-US" sz="740" dirty="0"/>
          </a:p>
        </p:txBody>
      </p:sp>
      <p:sp>
        <p:nvSpPr>
          <p:cNvPr id="54" name="Text 52"/>
          <p:cNvSpPr/>
          <p:nvPr/>
        </p:nvSpPr>
        <p:spPr>
          <a:xfrm>
            <a:off x="3888000" y="619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37  </a:t>
            </a:r>
            <a:r>
              <a:rPr lang="en-US" sz="740" b="1" dirty="0">
                <a:solidFill>
                  <a:srgbClr val="46606E"/>
                </a:solidFill>
                <a:latin typeface="IBM Plex Sans" pitchFamily="34" charset="0"/>
                <a:ea typeface="IBM Plex Sans" pitchFamily="34" charset="-122"/>
                <a:cs typeface="IBM Plex Sans" pitchFamily="34" charset="-120"/>
              </a:rPr>
              <a:t>Vieux Ratafia  </a:t>
            </a:r>
            <a:r>
              <a:rPr lang="en-US" sz="680" dirty="0">
                <a:solidFill>
                  <a:srgbClr val="46606E"/>
                </a:solidFill>
                <a:latin typeface="IBM Plex Sans" pitchFamily="34" charset="0"/>
                <a:ea typeface="IBM Plex Sans" pitchFamily="34" charset="-122"/>
                <a:cs typeface="IBM Plex Sans" pitchFamily="34" charset="-120"/>
              </a:rPr>
              <a:t>Champagne Dekeyne  </a:t>
            </a:r>
            <a:r>
              <a:rPr lang="en-US" sz="680" dirty="0">
                <a:solidFill>
                  <a:srgbClr val="A8515F"/>
                </a:solidFill>
                <a:latin typeface="IBM Plex Sans" pitchFamily="34" charset="0"/>
                <a:ea typeface="IBM Plex Sans" pitchFamily="34" charset="-122"/>
                <a:cs typeface="IBM Plex Sans" pitchFamily="34" charset="-120"/>
              </a:rPr>
              <a:t>75 cl   p. 62</a:t>
            </a:r>
            <a:endParaRPr lang="en-US" sz="740" dirty="0"/>
          </a:p>
        </p:txBody>
      </p:sp>
      <p:sp>
        <p:nvSpPr>
          <p:cNvPr id="55" name="Text 53"/>
          <p:cNvSpPr/>
          <p:nvPr/>
        </p:nvSpPr>
        <p:spPr>
          <a:xfrm>
            <a:off x="3888000" y="6336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38  </a:t>
            </a:r>
            <a:r>
              <a:rPr lang="en-US" sz="740" b="1" dirty="0">
                <a:solidFill>
                  <a:srgbClr val="46606E"/>
                </a:solidFill>
                <a:latin typeface="IBM Plex Sans" pitchFamily="34" charset="0"/>
                <a:ea typeface="IBM Plex Sans" pitchFamily="34" charset="-122"/>
                <a:cs typeface="IBM Plex Sans" pitchFamily="34" charset="-120"/>
              </a:rPr>
              <a:t>IGP Vieux Ratafia Champenois  </a:t>
            </a:r>
            <a:r>
              <a:rPr lang="en-US" sz="680" dirty="0">
                <a:solidFill>
                  <a:srgbClr val="46606E"/>
                </a:solidFill>
                <a:latin typeface="IBM Plex Sans" pitchFamily="34" charset="0"/>
                <a:ea typeface="IBM Plex Sans" pitchFamily="34" charset="-122"/>
                <a:cs typeface="IBM Plex Sans" pitchFamily="34" charset="-120"/>
              </a:rPr>
              <a:t>Champagne Denis Frézier  </a:t>
            </a:r>
            <a:r>
              <a:rPr lang="en-US" sz="680" dirty="0">
                <a:solidFill>
                  <a:srgbClr val="A8515F"/>
                </a:solidFill>
                <a:latin typeface="IBM Plex Sans" pitchFamily="34" charset="0"/>
                <a:ea typeface="IBM Plex Sans" pitchFamily="34" charset="-122"/>
                <a:cs typeface="IBM Plex Sans" pitchFamily="34" charset="-120"/>
              </a:rPr>
              <a:t>75 cl   p. 63</a:t>
            </a:r>
            <a:endParaRPr lang="en-US" sz="740" dirty="0"/>
          </a:p>
        </p:txBody>
      </p:sp>
      <p:sp>
        <p:nvSpPr>
          <p:cNvPr id="56" name="Text 54"/>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70</a:t>
            </a:r>
            <a:endParaRPr lang="en-US" sz="750" dirty="0"/>
          </a:p>
        </p:txBody>
      </p:sp>
      <p:sp>
        <p:nvSpPr>
          <p:cNvPr id="57" name="Text 55"/>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612000" y="540000"/>
            <a:ext cx="6120000" cy="432000"/>
          </a:xfrm>
          <a:prstGeom prst="rect">
            <a:avLst/>
          </a:prstGeom>
          <a:noFill/>
          <a:ln/>
        </p:spPr>
        <p:txBody>
          <a:bodyPr wrap="square" lIns="0" tIns="0" rIns="0" bIns="0" rtlCol="0" anchor="b"/>
          <a:lstStyle/>
          <a:p>
            <a:pPr indent="0" marL="0">
              <a:buNone/>
            </a:pPr>
            <a:r>
              <a:rPr lang="en-US" sz="2400" dirty="0">
                <a:solidFill>
                  <a:srgbClr val="67067C"/>
                </a:solidFill>
                <a:latin typeface="Young Serif" pitchFamily="34" charset="0"/>
                <a:ea typeface="Young Serif" pitchFamily="34" charset="-122"/>
                <a:cs typeface="Young Serif" pitchFamily="34" charset="-120"/>
              </a:rPr>
              <a:t>Les quarante domaines</a:t>
            </a:r>
            <a:endParaRPr lang="en-US" sz="2400" dirty="0"/>
          </a:p>
        </p:txBody>
      </p:sp>
      <p:sp>
        <p:nvSpPr>
          <p:cNvPr id="3" name="Text 1"/>
          <p:cNvSpPr/>
          <p:nvPr/>
        </p:nvSpPr>
        <p:spPr>
          <a:xfrm>
            <a:off x="612000" y="990000"/>
            <a:ext cx="612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DE A À Z</a:t>
            </a:r>
            <a:endParaRPr lang="en-US" sz="800" dirty="0"/>
          </a:p>
        </p:txBody>
      </p:sp>
      <p:sp>
        <p:nvSpPr>
          <p:cNvPr id="4" name="Text 2"/>
          <p:cNvSpPr/>
          <p:nvPr/>
        </p:nvSpPr>
        <p:spPr>
          <a:xfrm>
            <a:off x="612000" y="1296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31   </a:t>
            </a:r>
            <a:r>
              <a:rPr lang="en-US" sz="840" b="1" dirty="0">
                <a:solidFill>
                  <a:srgbClr val="46606E"/>
                </a:solidFill>
                <a:latin typeface="IBM Plex Sans" pitchFamily="34" charset="0"/>
                <a:ea typeface="IBM Plex Sans" pitchFamily="34" charset="-122"/>
                <a:cs typeface="IBM Plex Sans" pitchFamily="34" charset="-120"/>
              </a:rPr>
              <a:t>Bastide de Blacailloux   </a:t>
            </a:r>
            <a:r>
              <a:rPr lang="en-US" sz="700" dirty="0">
                <a:solidFill>
                  <a:srgbClr val="A8515F"/>
                </a:solidFill>
                <a:latin typeface="IBM Plex Sans" pitchFamily="34" charset="0"/>
                <a:ea typeface="IBM Plex Sans" pitchFamily="34" charset="-122"/>
                <a:cs typeface="IBM Plex Sans" pitchFamily="34" charset="-120"/>
              </a:rPr>
              <a:t>Provence   </a:t>
            </a:r>
            <a:r>
              <a:rPr lang="en-US" sz="700" dirty="0">
                <a:solidFill>
                  <a:srgbClr val="46606E"/>
                </a:solidFill>
                <a:latin typeface="IBM Plex Sans" pitchFamily="34" charset="0"/>
                <a:ea typeface="IBM Plex Sans" pitchFamily="34" charset="-122"/>
                <a:cs typeface="IBM Plex Sans" pitchFamily="34" charset="-120"/>
              </a:rPr>
              <a:t>8   </a:t>
            </a:r>
            <a:r>
              <a:rPr lang="en-US" sz="840" b="1" dirty="0">
                <a:solidFill>
                  <a:srgbClr val="46606E"/>
                </a:solidFill>
                <a:latin typeface="IBM Plex Sans" pitchFamily="34" charset="0"/>
                <a:ea typeface="IBM Plex Sans" pitchFamily="34" charset="-122"/>
                <a:cs typeface="IBM Plex Sans" pitchFamily="34" charset="-120"/>
              </a:rPr>
              <a:t>52</a:t>
            </a:r>
            <a:endParaRPr lang="en-US" sz="840" dirty="0"/>
          </a:p>
        </p:txBody>
      </p:sp>
      <p:sp>
        <p:nvSpPr>
          <p:cNvPr id="5" name="Text 3"/>
          <p:cNvSpPr/>
          <p:nvPr/>
        </p:nvSpPr>
        <p:spPr>
          <a:xfrm>
            <a:off x="612000" y="1584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5   </a:t>
            </a:r>
            <a:r>
              <a:rPr lang="en-US" sz="840" b="1" dirty="0">
                <a:solidFill>
                  <a:srgbClr val="46606E"/>
                </a:solidFill>
                <a:latin typeface="IBM Plex Sans" pitchFamily="34" charset="0"/>
                <a:ea typeface="IBM Plex Sans" pitchFamily="34" charset="-122"/>
                <a:cs typeface="IBM Plex Sans" pitchFamily="34" charset="-120"/>
              </a:rPr>
              <a:t>Chai Berteaud Manceau   </a:t>
            </a:r>
            <a:r>
              <a:rPr lang="en-US" sz="700" dirty="0">
                <a:solidFill>
                  <a:srgbClr val="A8515F"/>
                </a:solidFill>
                <a:latin typeface="IBM Plex Sans" pitchFamily="34" charset="0"/>
                <a:ea typeface="IBM Plex Sans" pitchFamily="34" charset="-122"/>
                <a:cs typeface="IBM Plex Sans" pitchFamily="34" charset="-120"/>
              </a:rPr>
              <a:t>Loire   </a:t>
            </a:r>
            <a:r>
              <a:rPr lang="en-US" sz="700" dirty="0">
                <a:solidFill>
                  <a:srgbClr val="46606E"/>
                </a:solidFill>
                <a:latin typeface="IBM Plex Sans" pitchFamily="34" charset="0"/>
                <a:ea typeface="IBM Plex Sans" pitchFamily="34" charset="-122"/>
                <a:cs typeface="IBM Plex Sans" pitchFamily="34" charset="-120"/>
              </a:rPr>
              <a:t>3   </a:t>
            </a:r>
            <a:r>
              <a:rPr lang="en-US" sz="840" b="1" dirty="0">
                <a:solidFill>
                  <a:srgbClr val="46606E"/>
                </a:solidFill>
                <a:latin typeface="IBM Plex Sans" pitchFamily="34" charset="0"/>
                <a:ea typeface="IBM Plex Sans" pitchFamily="34" charset="-122"/>
                <a:cs typeface="IBM Plex Sans" pitchFamily="34" charset="-120"/>
              </a:rPr>
              <a:t>10</a:t>
            </a:r>
            <a:endParaRPr lang="en-US" sz="840" dirty="0"/>
          </a:p>
        </p:txBody>
      </p:sp>
      <p:sp>
        <p:nvSpPr>
          <p:cNvPr id="6" name="Text 4"/>
          <p:cNvSpPr/>
          <p:nvPr/>
        </p:nvSpPr>
        <p:spPr>
          <a:xfrm>
            <a:off x="612000" y="1872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37   </a:t>
            </a:r>
            <a:r>
              <a:rPr lang="en-US" sz="840" b="1" dirty="0">
                <a:solidFill>
                  <a:srgbClr val="46606E"/>
                </a:solidFill>
                <a:latin typeface="IBM Plex Sans" pitchFamily="34" charset="0"/>
                <a:ea typeface="IBM Plex Sans" pitchFamily="34" charset="-122"/>
                <a:cs typeface="IBM Plex Sans" pitchFamily="34" charset="-120"/>
              </a:rPr>
              <a:t>Champagne Dekeyne   </a:t>
            </a:r>
            <a:r>
              <a:rPr lang="en-US" sz="700" dirty="0">
                <a:solidFill>
                  <a:srgbClr val="A8515F"/>
                </a:solidFill>
                <a:latin typeface="IBM Plex Sans" pitchFamily="34" charset="0"/>
                <a:ea typeface="IBM Plex Sans" pitchFamily="34" charset="-122"/>
                <a:cs typeface="IBM Plex Sans" pitchFamily="34" charset="-120"/>
              </a:rPr>
              <a:t>Champagne   </a:t>
            </a:r>
            <a:r>
              <a:rPr lang="en-US" sz="700" dirty="0">
                <a:solidFill>
                  <a:srgbClr val="46606E"/>
                </a:solidFill>
                <a:latin typeface="IBM Plex Sans" pitchFamily="34" charset="0"/>
                <a:ea typeface="IBM Plex Sans" pitchFamily="34" charset="-122"/>
                <a:cs typeface="IBM Plex Sans" pitchFamily="34" charset="-120"/>
              </a:rPr>
              <a:t>4   </a:t>
            </a:r>
            <a:r>
              <a:rPr lang="en-US" sz="840" b="1" dirty="0">
                <a:solidFill>
                  <a:srgbClr val="46606E"/>
                </a:solidFill>
                <a:latin typeface="IBM Plex Sans" pitchFamily="34" charset="0"/>
                <a:ea typeface="IBM Plex Sans" pitchFamily="34" charset="-122"/>
                <a:cs typeface="IBM Plex Sans" pitchFamily="34" charset="-120"/>
              </a:rPr>
              <a:t>62</a:t>
            </a:r>
            <a:endParaRPr lang="en-US" sz="840" dirty="0"/>
          </a:p>
        </p:txBody>
      </p:sp>
      <p:sp>
        <p:nvSpPr>
          <p:cNvPr id="7" name="Text 5"/>
          <p:cNvSpPr/>
          <p:nvPr/>
        </p:nvSpPr>
        <p:spPr>
          <a:xfrm>
            <a:off x="612000" y="2160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38   </a:t>
            </a:r>
            <a:r>
              <a:rPr lang="en-US" sz="840" b="1" dirty="0">
                <a:solidFill>
                  <a:srgbClr val="46606E"/>
                </a:solidFill>
                <a:latin typeface="IBM Plex Sans" pitchFamily="34" charset="0"/>
                <a:ea typeface="IBM Plex Sans" pitchFamily="34" charset="-122"/>
                <a:cs typeface="IBM Plex Sans" pitchFamily="34" charset="-120"/>
              </a:rPr>
              <a:t>Champagne Denis Frézier   </a:t>
            </a:r>
            <a:r>
              <a:rPr lang="en-US" sz="700" dirty="0">
                <a:solidFill>
                  <a:srgbClr val="A8515F"/>
                </a:solidFill>
                <a:latin typeface="IBM Plex Sans" pitchFamily="34" charset="0"/>
                <a:ea typeface="IBM Plex Sans" pitchFamily="34" charset="-122"/>
                <a:cs typeface="IBM Plex Sans" pitchFamily="34" charset="-120"/>
              </a:rPr>
              <a:t>Champagne   </a:t>
            </a:r>
            <a:r>
              <a:rPr lang="en-US" sz="700" dirty="0">
                <a:solidFill>
                  <a:srgbClr val="46606E"/>
                </a:solidFill>
                <a:latin typeface="IBM Plex Sans" pitchFamily="34" charset="0"/>
                <a:ea typeface="IBM Plex Sans" pitchFamily="34" charset="-122"/>
                <a:cs typeface="IBM Plex Sans" pitchFamily="34" charset="-120"/>
              </a:rPr>
              <a:t>10   </a:t>
            </a:r>
            <a:r>
              <a:rPr lang="en-US" sz="840" b="1" dirty="0">
                <a:solidFill>
                  <a:srgbClr val="46606E"/>
                </a:solidFill>
                <a:latin typeface="IBM Plex Sans" pitchFamily="34" charset="0"/>
                <a:ea typeface="IBM Plex Sans" pitchFamily="34" charset="-122"/>
                <a:cs typeface="IBM Plex Sans" pitchFamily="34" charset="-120"/>
              </a:rPr>
              <a:t>63</a:t>
            </a:r>
            <a:endParaRPr lang="en-US" sz="840" dirty="0"/>
          </a:p>
        </p:txBody>
      </p:sp>
      <p:sp>
        <p:nvSpPr>
          <p:cNvPr id="8" name="Text 6"/>
          <p:cNvSpPr/>
          <p:nvPr/>
        </p:nvSpPr>
        <p:spPr>
          <a:xfrm>
            <a:off x="612000" y="2448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39   </a:t>
            </a:r>
            <a:r>
              <a:rPr lang="en-US" sz="840" b="1" dirty="0">
                <a:solidFill>
                  <a:srgbClr val="46606E"/>
                </a:solidFill>
                <a:latin typeface="IBM Plex Sans" pitchFamily="34" charset="0"/>
                <a:ea typeface="IBM Plex Sans" pitchFamily="34" charset="-122"/>
                <a:cs typeface="IBM Plex Sans" pitchFamily="34" charset="-120"/>
              </a:rPr>
              <a:t>Champagne Solemme   </a:t>
            </a:r>
            <a:r>
              <a:rPr lang="en-US" sz="700" dirty="0">
                <a:solidFill>
                  <a:srgbClr val="A8515F"/>
                </a:solidFill>
                <a:latin typeface="IBM Plex Sans" pitchFamily="34" charset="0"/>
                <a:ea typeface="IBM Plex Sans" pitchFamily="34" charset="-122"/>
                <a:cs typeface="IBM Plex Sans" pitchFamily="34" charset="-120"/>
              </a:rPr>
              <a:t>Champagne   </a:t>
            </a:r>
            <a:r>
              <a:rPr lang="en-US" sz="700" dirty="0">
                <a:solidFill>
                  <a:srgbClr val="46606E"/>
                </a:solidFill>
                <a:latin typeface="IBM Plex Sans" pitchFamily="34" charset="0"/>
                <a:ea typeface="IBM Plex Sans" pitchFamily="34" charset="-122"/>
                <a:cs typeface="IBM Plex Sans" pitchFamily="34" charset="-120"/>
              </a:rPr>
              <a:t>6   </a:t>
            </a:r>
            <a:r>
              <a:rPr lang="en-US" sz="840" b="1" dirty="0">
                <a:solidFill>
                  <a:srgbClr val="46606E"/>
                </a:solidFill>
                <a:latin typeface="IBM Plex Sans" pitchFamily="34" charset="0"/>
                <a:ea typeface="IBM Plex Sans" pitchFamily="34" charset="-122"/>
                <a:cs typeface="IBM Plex Sans" pitchFamily="34" charset="-120"/>
              </a:rPr>
              <a:t>65</a:t>
            </a:r>
            <a:endParaRPr lang="en-US" sz="840" dirty="0"/>
          </a:p>
        </p:txBody>
      </p:sp>
      <p:sp>
        <p:nvSpPr>
          <p:cNvPr id="9" name="Text 7"/>
          <p:cNvSpPr/>
          <p:nvPr/>
        </p:nvSpPr>
        <p:spPr>
          <a:xfrm>
            <a:off x="612000" y="2736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29   </a:t>
            </a:r>
            <a:r>
              <a:rPr lang="en-US" sz="840" b="1" dirty="0">
                <a:solidFill>
                  <a:srgbClr val="46606E"/>
                </a:solidFill>
                <a:latin typeface="IBM Plex Sans" pitchFamily="34" charset="0"/>
                <a:ea typeface="IBM Plex Sans" pitchFamily="34" charset="-122"/>
                <a:cs typeface="IBM Plex Sans" pitchFamily="34" charset="-120"/>
              </a:rPr>
              <a:t>Château Balac   </a:t>
            </a:r>
            <a:r>
              <a:rPr lang="en-US" sz="700" dirty="0">
                <a:solidFill>
                  <a:srgbClr val="A8515F"/>
                </a:solidFill>
                <a:latin typeface="IBM Plex Sans" pitchFamily="34" charset="0"/>
                <a:ea typeface="IBM Plex Sans" pitchFamily="34" charset="-122"/>
                <a:cs typeface="IBM Plex Sans" pitchFamily="34" charset="-120"/>
              </a:rPr>
              <a:t>Bordeaux   </a:t>
            </a:r>
            <a:r>
              <a:rPr lang="en-US" sz="700" dirty="0">
                <a:solidFill>
                  <a:srgbClr val="46606E"/>
                </a:solidFill>
                <a:latin typeface="IBM Plex Sans" pitchFamily="34" charset="0"/>
                <a:ea typeface="IBM Plex Sans" pitchFamily="34" charset="-122"/>
                <a:cs typeface="IBM Plex Sans" pitchFamily="34" charset="-120"/>
              </a:rPr>
              <a:t>3   </a:t>
            </a:r>
            <a:r>
              <a:rPr lang="en-US" sz="840" b="1" dirty="0">
                <a:solidFill>
                  <a:srgbClr val="46606E"/>
                </a:solidFill>
                <a:latin typeface="IBM Plex Sans" pitchFamily="34" charset="0"/>
                <a:ea typeface="IBM Plex Sans" pitchFamily="34" charset="-122"/>
                <a:cs typeface="IBM Plex Sans" pitchFamily="34" charset="-120"/>
              </a:rPr>
              <a:t>49</a:t>
            </a:r>
            <a:endParaRPr lang="en-US" sz="840" dirty="0"/>
          </a:p>
        </p:txBody>
      </p:sp>
      <p:sp>
        <p:nvSpPr>
          <p:cNvPr id="10" name="Text 8"/>
          <p:cNvSpPr/>
          <p:nvPr/>
        </p:nvSpPr>
        <p:spPr>
          <a:xfrm>
            <a:off x="612000" y="3024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34   </a:t>
            </a:r>
            <a:r>
              <a:rPr lang="en-US" sz="840" b="1" dirty="0">
                <a:solidFill>
                  <a:srgbClr val="46606E"/>
                </a:solidFill>
                <a:latin typeface="IBM Plex Sans" pitchFamily="34" charset="0"/>
                <a:ea typeface="IBM Plex Sans" pitchFamily="34" charset="-122"/>
                <a:cs typeface="IBM Plex Sans" pitchFamily="34" charset="-120"/>
              </a:rPr>
              <a:t>Château de Gragnos   </a:t>
            </a:r>
            <a:r>
              <a:rPr lang="en-US" sz="700" dirty="0">
                <a:solidFill>
                  <a:srgbClr val="A8515F"/>
                </a:solidFill>
                <a:latin typeface="IBM Plex Sans" pitchFamily="34" charset="0"/>
                <a:ea typeface="IBM Plex Sans" pitchFamily="34" charset="-122"/>
                <a:cs typeface="IBM Plex Sans" pitchFamily="34" charset="-120"/>
              </a:rPr>
              <a:t>Languedoc   </a:t>
            </a:r>
            <a:r>
              <a:rPr lang="en-US" sz="700" dirty="0">
                <a:solidFill>
                  <a:srgbClr val="46606E"/>
                </a:solidFill>
                <a:latin typeface="IBM Plex Sans" pitchFamily="34" charset="0"/>
                <a:ea typeface="IBM Plex Sans" pitchFamily="34" charset="-122"/>
                <a:cs typeface="IBM Plex Sans" pitchFamily="34" charset="-120"/>
              </a:rPr>
              <a:t>8   </a:t>
            </a:r>
            <a:r>
              <a:rPr lang="en-US" sz="840" b="1" dirty="0">
                <a:solidFill>
                  <a:srgbClr val="46606E"/>
                </a:solidFill>
                <a:latin typeface="IBM Plex Sans" pitchFamily="34" charset="0"/>
                <a:ea typeface="IBM Plex Sans" pitchFamily="34" charset="-122"/>
                <a:cs typeface="IBM Plex Sans" pitchFamily="34" charset="-120"/>
              </a:rPr>
              <a:t>57</a:t>
            </a:r>
            <a:endParaRPr lang="en-US" sz="840" dirty="0"/>
          </a:p>
        </p:txBody>
      </p:sp>
      <p:sp>
        <p:nvSpPr>
          <p:cNvPr id="11" name="Text 9"/>
          <p:cNvSpPr/>
          <p:nvPr/>
        </p:nvSpPr>
        <p:spPr>
          <a:xfrm>
            <a:off x="612000" y="3312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13   </a:t>
            </a:r>
            <a:r>
              <a:rPr lang="en-US" sz="840" b="1" dirty="0">
                <a:solidFill>
                  <a:srgbClr val="46606E"/>
                </a:solidFill>
                <a:latin typeface="IBM Plex Sans" pitchFamily="34" charset="0"/>
                <a:ea typeface="IBM Plex Sans" pitchFamily="34" charset="-122"/>
                <a:cs typeface="IBM Plex Sans" pitchFamily="34" charset="-120"/>
              </a:rPr>
              <a:t>Château du Cray   </a:t>
            </a:r>
            <a:r>
              <a:rPr lang="en-US" sz="700" dirty="0">
                <a:solidFill>
                  <a:srgbClr val="A8515F"/>
                </a:solidFill>
                <a:latin typeface="IBM Plex Sans" pitchFamily="34" charset="0"/>
                <a:ea typeface="IBM Plex Sans" pitchFamily="34" charset="-122"/>
                <a:cs typeface="IBM Plex Sans" pitchFamily="34" charset="-120"/>
              </a:rPr>
              <a:t>Bourgogne   </a:t>
            </a:r>
            <a:r>
              <a:rPr lang="en-US" sz="700" dirty="0">
                <a:solidFill>
                  <a:srgbClr val="46606E"/>
                </a:solidFill>
                <a:latin typeface="IBM Plex Sans" pitchFamily="34" charset="0"/>
                <a:ea typeface="IBM Plex Sans" pitchFamily="34" charset="-122"/>
                <a:cs typeface="IBM Plex Sans" pitchFamily="34" charset="-120"/>
              </a:rPr>
              <a:t>3   </a:t>
            </a:r>
            <a:r>
              <a:rPr lang="en-US" sz="840" b="1" dirty="0">
                <a:solidFill>
                  <a:srgbClr val="46606E"/>
                </a:solidFill>
                <a:latin typeface="IBM Plex Sans" pitchFamily="34" charset="0"/>
                <a:ea typeface="IBM Plex Sans" pitchFamily="34" charset="-122"/>
                <a:cs typeface="IBM Plex Sans" pitchFamily="34" charset="-120"/>
              </a:rPr>
              <a:t>25</a:t>
            </a:r>
            <a:endParaRPr lang="en-US" sz="840" dirty="0"/>
          </a:p>
        </p:txBody>
      </p:sp>
      <p:sp>
        <p:nvSpPr>
          <p:cNvPr id="12" name="Text 10"/>
          <p:cNvSpPr/>
          <p:nvPr/>
        </p:nvSpPr>
        <p:spPr>
          <a:xfrm>
            <a:off x="612000" y="3600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27   </a:t>
            </a:r>
            <a:r>
              <a:rPr lang="en-US" sz="840" b="1" dirty="0">
                <a:solidFill>
                  <a:srgbClr val="46606E"/>
                </a:solidFill>
                <a:latin typeface="IBM Plex Sans" pitchFamily="34" charset="0"/>
                <a:ea typeface="IBM Plex Sans" pitchFamily="34" charset="-122"/>
                <a:cs typeface="IBM Plex Sans" pitchFamily="34" charset="-120"/>
              </a:rPr>
              <a:t>Château Falfas   </a:t>
            </a:r>
            <a:r>
              <a:rPr lang="en-US" sz="700" dirty="0">
                <a:solidFill>
                  <a:srgbClr val="A8515F"/>
                </a:solidFill>
                <a:latin typeface="IBM Plex Sans" pitchFamily="34" charset="0"/>
                <a:ea typeface="IBM Plex Sans" pitchFamily="34" charset="-122"/>
                <a:cs typeface="IBM Plex Sans" pitchFamily="34" charset="-120"/>
              </a:rPr>
              <a:t>Bordeaux   </a:t>
            </a:r>
            <a:r>
              <a:rPr lang="en-US" sz="700" dirty="0">
                <a:solidFill>
                  <a:srgbClr val="46606E"/>
                </a:solidFill>
                <a:latin typeface="IBM Plex Sans" pitchFamily="34" charset="0"/>
                <a:ea typeface="IBM Plex Sans" pitchFamily="34" charset="-122"/>
                <a:cs typeface="IBM Plex Sans" pitchFamily="34" charset="-120"/>
              </a:rPr>
              <a:t>3   </a:t>
            </a:r>
            <a:r>
              <a:rPr lang="en-US" sz="840" b="1" dirty="0">
                <a:solidFill>
                  <a:srgbClr val="46606E"/>
                </a:solidFill>
                <a:latin typeface="IBM Plex Sans" pitchFamily="34" charset="0"/>
                <a:ea typeface="IBM Plex Sans" pitchFamily="34" charset="-122"/>
                <a:cs typeface="IBM Plex Sans" pitchFamily="34" charset="-120"/>
              </a:rPr>
              <a:t>47</a:t>
            </a:r>
            <a:endParaRPr lang="en-US" sz="840" dirty="0"/>
          </a:p>
        </p:txBody>
      </p:sp>
      <p:sp>
        <p:nvSpPr>
          <p:cNvPr id="13" name="Text 11"/>
          <p:cNvSpPr/>
          <p:nvPr/>
        </p:nvSpPr>
        <p:spPr>
          <a:xfrm>
            <a:off x="612000" y="3888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30   </a:t>
            </a:r>
            <a:r>
              <a:rPr lang="en-US" sz="840" b="1" dirty="0">
                <a:solidFill>
                  <a:srgbClr val="46606E"/>
                </a:solidFill>
                <a:latin typeface="IBM Plex Sans" pitchFamily="34" charset="0"/>
                <a:ea typeface="IBM Plex Sans" pitchFamily="34" charset="-122"/>
                <a:cs typeface="IBM Plex Sans" pitchFamily="34" charset="-120"/>
              </a:rPr>
              <a:t>Château l’Escarderie   </a:t>
            </a:r>
            <a:r>
              <a:rPr lang="en-US" sz="700" dirty="0">
                <a:solidFill>
                  <a:srgbClr val="A8515F"/>
                </a:solidFill>
                <a:latin typeface="IBM Plex Sans" pitchFamily="34" charset="0"/>
                <a:ea typeface="IBM Plex Sans" pitchFamily="34" charset="-122"/>
                <a:cs typeface="IBM Plex Sans" pitchFamily="34" charset="-120"/>
              </a:rPr>
              <a:t>Bordeaux   </a:t>
            </a:r>
            <a:r>
              <a:rPr lang="en-US" sz="700" dirty="0">
                <a:solidFill>
                  <a:srgbClr val="46606E"/>
                </a:solidFill>
                <a:latin typeface="IBM Plex Sans" pitchFamily="34" charset="0"/>
                <a:ea typeface="IBM Plex Sans" pitchFamily="34" charset="-122"/>
                <a:cs typeface="IBM Plex Sans" pitchFamily="34" charset="-120"/>
              </a:rPr>
              <a:t>8   </a:t>
            </a:r>
            <a:r>
              <a:rPr lang="en-US" sz="840" b="1" dirty="0">
                <a:solidFill>
                  <a:srgbClr val="46606E"/>
                </a:solidFill>
                <a:latin typeface="IBM Plex Sans" pitchFamily="34" charset="0"/>
                <a:ea typeface="IBM Plex Sans" pitchFamily="34" charset="-122"/>
                <a:cs typeface="IBM Plex Sans" pitchFamily="34" charset="-120"/>
              </a:rPr>
              <a:t>50</a:t>
            </a:r>
            <a:endParaRPr lang="en-US" sz="840" dirty="0"/>
          </a:p>
        </p:txBody>
      </p:sp>
      <p:sp>
        <p:nvSpPr>
          <p:cNvPr id="14" name="Text 12"/>
          <p:cNvSpPr/>
          <p:nvPr/>
        </p:nvSpPr>
        <p:spPr>
          <a:xfrm>
            <a:off x="612000" y="4176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26   </a:t>
            </a:r>
            <a:r>
              <a:rPr lang="en-US" sz="840" b="1" dirty="0">
                <a:solidFill>
                  <a:srgbClr val="46606E"/>
                </a:solidFill>
                <a:latin typeface="IBM Plex Sans" pitchFamily="34" charset="0"/>
                <a:ea typeface="IBM Plex Sans" pitchFamily="34" charset="-122"/>
                <a:cs typeface="IBM Plex Sans" pitchFamily="34" charset="-120"/>
              </a:rPr>
              <a:t>Château la Gorce   </a:t>
            </a:r>
            <a:r>
              <a:rPr lang="en-US" sz="700" dirty="0">
                <a:solidFill>
                  <a:srgbClr val="A8515F"/>
                </a:solidFill>
                <a:latin typeface="IBM Plex Sans" pitchFamily="34" charset="0"/>
                <a:ea typeface="IBM Plex Sans" pitchFamily="34" charset="-122"/>
                <a:cs typeface="IBM Plex Sans" pitchFamily="34" charset="-120"/>
              </a:rPr>
              <a:t>Bordeaux   </a:t>
            </a:r>
            <a:r>
              <a:rPr lang="en-US" sz="700" dirty="0">
                <a:solidFill>
                  <a:srgbClr val="46606E"/>
                </a:solidFill>
                <a:latin typeface="IBM Plex Sans" pitchFamily="34" charset="0"/>
                <a:ea typeface="IBM Plex Sans" pitchFamily="34" charset="-122"/>
                <a:cs typeface="IBM Plex Sans" pitchFamily="34" charset="-120"/>
              </a:rPr>
              <a:t>11   </a:t>
            </a:r>
            <a:r>
              <a:rPr lang="en-US" sz="840" b="1" dirty="0">
                <a:solidFill>
                  <a:srgbClr val="46606E"/>
                </a:solidFill>
                <a:latin typeface="IBM Plex Sans" pitchFamily="34" charset="0"/>
                <a:ea typeface="IBM Plex Sans" pitchFamily="34" charset="-122"/>
                <a:cs typeface="IBM Plex Sans" pitchFamily="34" charset="-120"/>
              </a:rPr>
              <a:t>45</a:t>
            </a:r>
            <a:endParaRPr lang="en-US" sz="840" dirty="0"/>
          </a:p>
        </p:txBody>
      </p:sp>
      <p:sp>
        <p:nvSpPr>
          <p:cNvPr id="15" name="Text 13"/>
          <p:cNvSpPr/>
          <p:nvPr/>
        </p:nvSpPr>
        <p:spPr>
          <a:xfrm>
            <a:off x="612000" y="4464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28   </a:t>
            </a:r>
            <a:r>
              <a:rPr lang="en-US" sz="840" b="1" dirty="0">
                <a:solidFill>
                  <a:srgbClr val="46606E"/>
                </a:solidFill>
                <a:latin typeface="IBM Plex Sans" pitchFamily="34" charset="0"/>
                <a:ea typeface="IBM Plex Sans" pitchFamily="34" charset="-122"/>
                <a:cs typeface="IBM Plex Sans" pitchFamily="34" charset="-120"/>
              </a:rPr>
              <a:t>Château Pré la Lande   </a:t>
            </a:r>
            <a:r>
              <a:rPr lang="en-US" sz="700" dirty="0">
                <a:solidFill>
                  <a:srgbClr val="A8515F"/>
                </a:solidFill>
                <a:latin typeface="IBM Plex Sans" pitchFamily="34" charset="0"/>
                <a:ea typeface="IBM Plex Sans" pitchFamily="34" charset="-122"/>
                <a:cs typeface="IBM Plex Sans" pitchFamily="34" charset="-120"/>
              </a:rPr>
              <a:t>Bordeaux   </a:t>
            </a:r>
            <a:r>
              <a:rPr lang="en-US" sz="700" dirty="0">
                <a:solidFill>
                  <a:srgbClr val="46606E"/>
                </a:solidFill>
                <a:latin typeface="IBM Plex Sans" pitchFamily="34" charset="0"/>
                <a:ea typeface="IBM Plex Sans" pitchFamily="34" charset="-122"/>
                <a:cs typeface="IBM Plex Sans" pitchFamily="34" charset="-120"/>
              </a:rPr>
              <a:t>3   </a:t>
            </a:r>
            <a:r>
              <a:rPr lang="en-US" sz="840" b="1" dirty="0">
                <a:solidFill>
                  <a:srgbClr val="46606E"/>
                </a:solidFill>
                <a:latin typeface="IBM Plex Sans" pitchFamily="34" charset="0"/>
                <a:ea typeface="IBM Plex Sans" pitchFamily="34" charset="-122"/>
                <a:cs typeface="IBM Plex Sans" pitchFamily="34" charset="-120"/>
              </a:rPr>
              <a:t>48</a:t>
            </a:r>
            <a:endParaRPr lang="en-US" sz="840" dirty="0"/>
          </a:p>
        </p:txBody>
      </p:sp>
      <p:sp>
        <p:nvSpPr>
          <p:cNvPr id="16" name="Text 14"/>
          <p:cNvSpPr/>
          <p:nvPr/>
        </p:nvSpPr>
        <p:spPr>
          <a:xfrm>
            <a:off x="612000" y="4752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7   </a:t>
            </a:r>
            <a:r>
              <a:rPr lang="en-US" sz="840" b="1" dirty="0">
                <a:solidFill>
                  <a:srgbClr val="46606E"/>
                </a:solidFill>
                <a:latin typeface="IBM Plex Sans" pitchFamily="34" charset="0"/>
                <a:ea typeface="IBM Plex Sans" pitchFamily="34" charset="-122"/>
                <a:cs typeface="IBM Plex Sans" pitchFamily="34" charset="-120"/>
              </a:rPr>
              <a:t>Divin No Low   </a:t>
            </a:r>
            <a:r>
              <a:rPr lang="en-US" sz="700" dirty="0">
                <a:solidFill>
                  <a:srgbClr val="A8515F"/>
                </a:solidFill>
                <a:latin typeface="IBM Plex Sans" pitchFamily="34" charset="0"/>
                <a:ea typeface="IBM Plex Sans" pitchFamily="34" charset="-122"/>
                <a:cs typeface="IBM Plex Sans" pitchFamily="34" charset="-120"/>
              </a:rPr>
              <a:t>Loire   </a:t>
            </a:r>
            <a:r>
              <a:rPr lang="en-US" sz="700" dirty="0">
                <a:solidFill>
                  <a:srgbClr val="46606E"/>
                </a:solidFill>
                <a:latin typeface="IBM Plex Sans" pitchFamily="34" charset="0"/>
                <a:ea typeface="IBM Plex Sans" pitchFamily="34" charset="-122"/>
                <a:cs typeface="IBM Plex Sans" pitchFamily="34" charset="-120"/>
              </a:rPr>
              <a:t>8   </a:t>
            </a:r>
            <a:r>
              <a:rPr lang="en-US" sz="840" b="1" dirty="0">
                <a:solidFill>
                  <a:srgbClr val="46606E"/>
                </a:solidFill>
                <a:latin typeface="IBM Plex Sans" pitchFamily="34" charset="0"/>
                <a:ea typeface="IBM Plex Sans" pitchFamily="34" charset="-122"/>
                <a:cs typeface="IBM Plex Sans" pitchFamily="34" charset="-120"/>
              </a:rPr>
              <a:t>13</a:t>
            </a:r>
            <a:endParaRPr lang="en-US" sz="840" dirty="0"/>
          </a:p>
        </p:txBody>
      </p:sp>
      <p:sp>
        <p:nvSpPr>
          <p:cNvPr id="17" name="Text 15"/>
          <p:cNvSpPr/>
          <p:nvPr/>
        </p:nvSpPr>
        <p:spPr>
          <a:xfrm>
            <a:off x="612000" y="5040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8   </a:t>
            </a:r>
            <a:r>
              <a:rPr lang="en-US" sz="840" b="1" dirty="0">
                <a:solidFill>
                  <a:srgbClr val="46606E"/>
                </a:solidFill>
                <a:latin typeface="IBM Plex Sans" pitchFamily="34" charset="0"/>
                <a:ea typeface="IBM Plex Sans" pitchFamily="34" charset="-122"/>
                <a:cs typeface="IBM Plex Sans" pitchFamily="34" charset="-120"/>
              </a:rPr>
              <a:t>Domaine Boehler   </a:t>
            </a:r>
            <a:r>
              <a:rPr lang="en-US" sz="700" dirty="0">
                <a:solidFill>
                  <a:srgbClr val="A8515F"/>
                </a:solidFill>
                <a:latin typeface="IBM Plex Sans" pitchFamily="34" charset="0"/>
                <a:ea typeface="IBM Plex Sans" pitchFamily="34" charset="-122"/>
                <a:cs typeface="IBM Plex Sans" pitchFamily="34" charset="-120"/>
              </a:rPr>
              <a:t>Alsace   </a:t>
            </a:r>
            <a:r>
              <a:rPr lang="en-US" sz="700" dirty="0">
                <a:solidFill>
                  <a:srgbClr val="46606E"/>
                </a:solidFill>
                <a:latin typeface="IBM Plex Sans" pitchFamily="34" charset="0"/>
                <a:ea typeface="IBM Plex Sans" pitchFamily="34" charset="-122"/>
                <a:cs typeface="IBM Plex Sans" pitchFamily="34" charset="-120"/>
              </a:rPr>
              <a:t>15   </a:t>
            </a:r>
            <a:r>
              <a:rPr lang="en-US" sz="840" b="1" dirty="0">
                <a:solidFill>
                  <a:srgbClr val="46606E"/>
                </a:solidFill>
                <a:latin typeface="IBM Plex Sans" pitchFamily="34" charset="0"/>
                <a:ea typeface="IBM Plex Sans" pitchFamily="34" charset="-122"/>
                <a:cs typeface="IBM Plex Sans" pitchFamily="34" charset="-120"/>
              </a:rPr>
              <a:t>15</a:t>
            </a:r>
            <a:endParaRPr lang="en-US" sz="840" dirty="0"/>
          </a:p>
        </p:txBody>
      </p:sp>
      <p:sp>
        <p:nvSpPr>
          <p:cNvPr id="18" name="Text 16"/>
          <p:cNvSpPr/>
          <p:nvPr/>
        </p:nvSpPr>
        <p:spPr>
          <a:xfrm>
            <a:off x="612000" y="5328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17   </a:t>
            </a:r>
            <a:r>
              <a:rPr lang="en-US" sz="840" b="1" dirty="0">
                <a:solidFill>
                  <a:srgbClr val="46606E"/>
                </a:solidFill>
                <a:latin typeface="IBM Plex Sans" pitchFamily="34" charset="0"/>
                <a:ea typeface="IBM Plex Sans" pitchFamily="34" charset="-122"/>
                <a:cs typeface="IBM Plex Sans" pitchFamily="34" charset="-120"/>
              </a:rPr>
              <a:t>Domaine de Coyeux   </a:t>
            </a:r>
            <a:r>
              <a:rPr lang="en-US" sz="700" dirty="0">
                <a:solidFill>
                  <a:srgbClr val="A8515F"/>
                </a:solidFill>
                <a:latin typeface="IBM Plex Sans" pitchFamily="34" charset="0"/>
                <a:ea typeface="IBM Plex Sans" pitchFamily="34" charset="-122"/>
                <a:cs typeface="IBM Plex Sans" pitchFamily="34" charset="-120"/>
              </a:rPr>
              <a:t>Rhône   </a:t>
            </a:r>
            <a:r>
              <a:rPr lang="en-US" sz="700" dirty="0">
                <a:solidFill>
                  <a:srgbClr val="46606E"/>
                </a:solidFill>
                <a:latin typeface="IBM Plex Sans" pitchFamily="34" charset="0"/>
                <a:ea typeface="IBM Plex Sans" pitchFamily="34" charset="-122"/>
                <a:cs typeface="IBM Plex Sans" pitchFamily="34" charset="-120"/>
              </a:rPr>
              <a:t>7   </a:t>
            </a:r>
            <a:r>
              <a:rPr lang="en-US" sz="840" b="1" dirty="0">
                <a:solidFill>
                  <a:srgbClr val="46606E"/>
                </a:solidFill>
                <a:latin typeface="IBM Plex Sans" pitchFamily="34" charset="0"/>
                <a:ea typeface="IBM Plex Sans" pitchFamily="34" charset="-122"/>
                <a:cs typeface="IBM Plex Sans" pitchFamily="34" charset="-120"/>
              </a:rPr>
              <a:t>30</a:t>
            </a:r>
            <a:endParaRPr lang="en-US" sz="840" dirty="0"/>
          </a:p>
        </p:txBody>
      </p:sp>
      <p:sp>
        <p:nvSpPr>
          <p:cNvPr id="19" name="Text 17"/>
          <p:cNvSpPr/>
          <p:nvPr/>
        </p:nvSpPr>
        <p:spPr>
          <a:xfrm>
            <a:off x="612000" y="5616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   </a:t>
            </a:r>
            <a:r>
              <a:rPr lang="en-US" sz="840" b="1" dirty="0">
                <a:solidFill>
                  <a:srgbClr val="46606E"/>
                </a:solidFill>
                <a:latin typeface="IBM Plex Sans" pitchFamily="34" charset="0"/>
                <a:ea typeface="IBM Plex Sans" pitchFamily="34" charset="-122"/>
                <a:cs typeface="IBM Plex Sans" pitchFamily="34" charset="-120"/>
              </a:rPr>
              <a:t>Domaine de la Barbinière   </a:t>
            </a:r>
            <a:r>
              <a:rPr lang="en-US" sz="700" dirty="0">
                <a:solidFill>
                  <a:srgbClr val="A8515F"/>
                </a:solidFill>
                <a:latin typeface="IBM Plex Sans" pitchFamily="34" charset="0"/>
                <a:ea typeface="IBM Plex Sans" pitchFamily="34" charset="-122"/>
                <a:cs typeface="IBM Plex Sans" pitchFamily="34" charset="-120"/>
              </a:rPr>
              <a:t>Loire   </a:t>
            </a:r>
            <a:r>
              <a:rPr lang="en-US" sz="700" dirty="0">
                <a:solidFill>
                  <a:srgbClr val="46606E"/>
                </a:solidFill>
                <a:latin typeface="IBM Plex Sans" pitchFamily="34" charset="0"/>
                <a:ea typeface="IBM Plex Sans" pitchFamily="34" charset="-122"/>
                <a:cs typeface="IBM Plex Sans" pitchFamily="34" charset="-120"/>
              </a:rPr>
              <a:t>10   </a:t>
            </a:r>
            <a:r>
              <a:rPr lang="en-US" sz="840" b="1" dirty="0">
                <a:solidFill>
                  <a:srgbClr val="46606E"/>
                </a:solidFill>
                <a:latin typeface="IBM Plex Sans" pitchFamily="34" charset="0"/>
                <a:ea typeface="IBM Plex Sans" pitchFamily="34" charset="-122"/>
                <a:cs typeface="IBM Plex Sans" pitchFamily="34" charset="-120"/>
              </a:rPr>
              <a:t>6</a:t>
            </a:r>
            <a:endParaRPr lang="en-US" sz="840" dirty="0"/>
          </a:p>
        </p:txBody>
      </p:sp>
      <p:sp>
        <p:nvSpPr>
          <p:cNvPr id="20" name="Text 18"/>
          <p:cNvSpPr/>
          <p:nvPr/>
        </p:nvSpPr>
        <p:spPr>
          <a:xfrm>
            <a:off x="612000" y="5904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19   </a:t>
            </a:r>
            <a:r>
              <a:rPr lang="en-US" sz="840" b="1" dirty="0">
                <a:solidFill>
                  <a:srgbClr val="46606E"/>
                </a:solidFill>
                <a:latin typeface="IBM Plex Sans" pitchFamily="34" charset="0"/>
                <a:ea typeface="IBM Plex Sans" pitchFamily="34" charset="-122"/>
                <a:cs typeface="IBM Plex Sans" pitchFamily="34" charset="-120"/>
              </a:rPr>
              <a:t>Domaine de la Pousterle   </a:t>
            </a:r>
            <a:r>
              <a:rPr lang="en-US" sz="700" dirty="0">
                <a:solidFill>
                  <a:srgbClr val="A8515F"/>
                </a:solidFill>
                <a:latin typeface="IBM Plex Sans" pitchFamily="34" charset="0"/>
                <a:ea typeface="IBM Plex Sans" pitchFamily="34" charset="-122"/>
                <a:cs typeface="IBM Plex Sans" pitchFamily="34" charset="-120"/>
              </a:rPr>
              <a:t>Rhône   </a:t>
            </a:r>
            <a:r>
              <a:rPr lang="en-US" sz="700" dirty="0">
                <a:solidFill>
                  <a:srgbClr val="46606E"/>
                </a:solidFill>
                <a:latin typeface="IBM Plex Sans" pitchFamily="34" charset="0"/>
                <a:ea typeface="IBM Plex Sans" pitchFamily="34" charset="-122"/>
                <a:cs typeface="IBM Plex Sans" pitchFamily="34" charset="-120"/>
              </a:rPr>
              <a:t>5   </a:t>
            </a:r>
            <a:r>
              <a:rPr lang="en-US" sz="840" b="1" dirty="0">
                <a:solidFill>
                  <a:srgbClr val="46606E"/>
                </a:solidFill>
                <a:latin typeface="IBM Plex Sans" pitchFamily="34" charset="0"/>
                <a:ea typeface="IBM Plex Sans" pitchFamily="34" charset="-122"/>
                <a:cs typeface="IBM Plex Sans" pitchFamily="34" charset="-120"/>
              </a:rPr>
              <a:t>32</a:t>
            </a:r>
            <a:endParaRPr lang="en-US" sz="840" dirty="0"/>
          </a:p>
        </p:txBody>
      </p:sp>
      <p:sp>
        <p:nvSpPr>
          <p:cNvPr id="21" name="Text 19"/>
          <p:cNvSpPr/>
          <p:nvPr/>
        </p:nvSpPr>
        <p:spPr>
          <a:xfrm>
            <a:off x="612000" y="6192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4   </a:t>
            </a:r>
            <a:r>
              <a:rPr lang="en-US" sz="840" b="1" dirty="0">
                <a:solidFill>
                  <a:srgbClr val="46606E"/>
                </a:solidFill>
                <a:latin typeface="IBM Plex Sans" pitchFamily="34" charset="0"/>
                <a:ea typeface="IBM Plex Sans" pitchFamily="34" charset="-122"/>
                <a:cs typeface="IBM Plex Sans" pitchFamily="34" charset="-120"/>
              </a:rPr>
              <a:t>Domaine des Noëls   </a:t>
            </a:r>
            <a:r>
              <a:rPr lang="en-US" sz="700" dirty="0">
                <a:solidFill>
                  <a:srgbClr val="A8515F"/>
                </a:solidFill>
                <a:latin typeface="IBM Plex Sans" pitchFamily="34" charset="0"/>
                <a:ea typeface="IBM Plex Sans" pitchFamily="34" charset="-122"/>
                <a:cs typeface="IBM Plex Sans" pitchFamily="34" charset="-120"/>
              </a:rPr>
              <a:t>Loire   </a:t>
            </a:r>
            <a:r>
              <a:rPr lang="en-US" sz="700" dirty="0">
                <a:solidFill>
                  <a:srgbClr val="46606E"/>
                </a:solidFill>
                <a:latin typeface="IBM Plex Sans" pitchFamily="34" charset="0"/>
                <a:ea typeface="IBM Plex Sans" pitchFamily="34" charset="-122"/>
                <a:cs typeface="IBM Plex Sans" pitchFamily="34" charset="-120"/>
              </a:rPr>
              <a:t>9   </a:t>
            </a:r>
            <a:r>
              <a:rPr lang="en-US" sz="840" b="1" dirty="0">
                <a:solidFill>
                  <a:srgbClr val="46606E"/>
                </a:solidFill>
                <a:latin typeface="IBM Plex Sans" pitchFamily="34" charset="0"/>
                <a:ea typeface="IBM Plex Sans" pitchFamily="34" charset="-122"/>
                <a:cs typeface="IBM Plex Sans" pitchFamily="34" charset="-120"/>
              </a:rPr>
              <a:t>9</a:t>
            </a:r>
            <a:endParaRPr lang="en-US" sz="840" dirty="0"/>
          </a:p>
        </p:txBody>
      </p:sp>
      <p:sp>
        <p:nvSpPr>
          <p:cNvPr id="22" name="Text 20"/>
          <p:cNvSpPr/>
          <p:nvPr/>
        </p:nvSpPr>
        <p:spPr>
          <a:xfrm>
            <a:off x="612000" y="6480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9   </a:t>
            </a:r>
            <a:r>
              <a:rPr lang="en-US" sz="840" b="1" dirty="0">
                <a:solidFill>
                  <a:srgbClr val="46606E"/>
                </a:solidFill>
                <a:latin typeface="IBM Plex Sans" pitchFamily="34" charset="0"/>
                <a:ea typeface="IBM Plex Sans" pitchFamily="34" charset="-122"/>
                <a:cs typeface="IBM Plex Sans" pitchFamily="34" charset="-120"/>
              </a:rPr>
              <a:t>Domaine des Nugues   </a:t>
            </a:r>
            <a:r>
              <a:rPr lang="en-US" sz="700" dirty="0">
                <a:solidFill>
                  <a:srgbClr val="A8515F"/>
                </a:solidFill>
                <a:latin typeface="IBM Plex Sans" pitchFamily="34" charset="0"/>
                <a:ea typeface="IBM Plex Sans" pitchFamily="34" charset="-122"/>
                <a:cs typeface="IBM Plex Sans" pitchFamily="34" charset="-120"/>
              </a:rPr>
              <a:t>Beaujolais   </a:t>
            </a:r>
            <a:r>
              <a:rPr lang="en-US" sz="700" dirty="0">
                <a:solidFill>
                  <a:srgbClr val="46606E"/>
                </a:solidFill>
                <a:latin typeface="IBM Plex Sans" pitchFamily="34" charset="0"/>
                <a:ea typeface="IBM Plex Sans" pitchFamily="34" charset="-122"/>
                <a:cs typeface="IBM Plex Sans" pitchFamily="34" charset="-120"/>
              </a:rPr>
              <a:t>8   </a:t>
            </a:r>
            <a:r>
              <a:rPr lang="en-US" sz="840" b="1" dirty="0">
                <a:solidFill>
                  <a:srgbClr val="46606E"/>
                </a:solidFill>
                <a:latin typeface="IBM Plex Sans" pitchFamily="34" charset="0"/>
                <a:ea typeface="IBM Plex Sans" pitchFamily="34" charset="-122"/>
                <a:cs typeface="IBM Plex Sans" pitchFamily="34" charset="-120"/>
              </a:rPr>
              <a:t>18</a:t>
            </a:r>
            <a:endParaRPr lang="en-US" sz="840" dirty="0"/>
          </a:p>
        </p:txBody>
      </p:sp>
      <p:sp>
        <p:nvSpPr>
          <p:cNvPr id="23" name="Text 21"/>
          <p:cNvSpPr/>
          <p:nvPr/>
        </p:nvSpPr>
        <p:spPr>
          <a:xfrm>
            <a:off x="612000" y="6768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20   </a:t>
            </a:r>
            <a:r>
              <a:rPr lang="en-US" sz="840" b="1" dirty="0">
                <a:solidFill>
                  <a:srgbClr val="46606E"/>
                </a:solidFill>
                <a:latin typeface="IBM Plex Sans" pitchFamily="34" charset="0"/>
                <a:ea typeface="IBM Plex Sans" pitchFamily="34" charset="-122"/>
                <a:cs typeface="IBM Plex Sans" pitchFamily="34" charset="-120"/>
              </a:rPr>
              <a:t>Domaine des Pasquiers   </a:t>
            </a:r>
            <a:r>
              <a:rPr lang="en-US" sz="700" dirty="0">
                <a:solidFill>
                  <a:srgbClr val="A8515F"/>
                </a:solidFill>
                <a:latin typeface="IBM Plex Sans" pitchFamily="34" charset="0"/>
                <a:ea typeface="IBM Plex Sans" pitchFamily="34" charset="-122"/>
                <a:cs typeface="IBM Plex Sans" pitchFamily="34" charset="-120"/>
              </a:rPr>
              <a:t>Rhône   </a:t>
            </a:r>
            <a:r>
              <a:rPr lang="en-US" sz="700" dirty="0">
                <a:solidFill>
                  <a:srgbClr val="46606E"/>
                </a:solidFill>
                <a:latin typeface="IBM Plex Sans" pitchFamily="34" charset="0"/>
                <a:ea typeface="IBM Plex Sans" pitchFamily="34" charset="-122"/>
                <a:cs typeface="IBM Plex Sans" pitchFamily="34" charset="-120"/>
              </a:rPr>
              <a:t>6   </a:t>
            </a:r>
            <a:r>
              <a:rPr lang="en-US" sz="840" b="1" dirty="0">
                <a:solidFill>
                  <a:srgbClr val="46606E"/>
                </a:solidFill>
                <a:latin typeface="IBM Plex Sans" pitchFamily="34" charset="0"/>
                <a:ea typeface="IBM Plex Sans" pitchFamily="34" charset="-122"/>
                <a:cs typeface="IBM Plex Sans" pitchFamily="34" charset="-120"/>
              </a:rPr>
              <a:t>33</a:t>
            </a:r>
            <a:endParaRPr lang="en-US" sz="840" dirty="0"/>
          </a:p>
        </p:txBody>
      </p:sp>
      <p:sp>
        <p:nvSpPr>
          <p:cNvPr id="24" name="Text 22"/>
          <p:cNvSpPr/>
          <p:nvPr/>
        </p:nvSpPr>
        <p:spPr>
          <a:xfrm>
            <a:off x="3672000" y="1296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15   </a:t>
            </a:r>
            <a:r>
              <a:rPr lang="en-US" sz="840" b="1" dirty="0">
                <a:solidFill>
                  <a:srgbClr val="46606E"/>
                </a:solidFill>
                <a:latin typeface="IBM Plex Sans" pitchFamily="34" charset="0"/>
                <a:ea typeface="IBM Plex Sans" pitchFamily="34" charset="-122"/>
                <a:cs typeface="IBM Plex Sans" pitchFamily="34" charset="-120"/>
              </a:rPr>
              <a:t>Domaine des Verchères   </a:t>
            </a:r>
            <a:r>
              <a:rPr lang="en-US" sz="700" dirty="0">
                <a:solidFill>
                  <a:srgbClr val="A8515F"/>
                </a:solidFill>
                <a:latin typeface="IBM Plex Sans" pitchFamily="34" charset="0"/>
                <a:ea typeface="IBM Plex Sans" pitchFamily="34" charset="-122"/>
                <a:cs typeface="IBM Plex Sans" pitchFamily="34" charset="-120"/>
              </a:rPr>
              <a:t>Bourgogne   </a:t>
            </a:r>
            <a:r>
              <a:rPr lang="en-US" sz="700" dirty="0">
                <a:solidFill>
                  <a:srgbClr val="46606E"/>
                </a:solidFill>
                <a:latin typeface="IBM Plex Sans" pitchFamily="34" charset="0"/>
                <a:ea typeface="IBM Plex Sans" pitchFamily="34" charset="-122"/>
                <a:cs typeface="IBM Plex Sans" pitchFamily="34" charset="-120"/>
              </a:rPr>
              <a:t>4   </a:t>
            </a:r>
            <a:r>
              <a:rPr lang="en-US" sz="840" b="1" dirty="0">
                <a:solidFill>
                  <a:srgbClr val="46606E"/>
                </a:solidFill>
                <a:latin typeface="IBM Plex Sans" pitchFamily="34" charset="0"/>
                <a:ea typeface="IBM Plex Sans" pitchFamily="34" charset="-122"/>
                <a:cs typeface="IBM Plex Sans" pitchFamily="34" charset="-120"/>
              </a:rPr>
              <a:t>27</a:t>
            </a:r>
            <a:endParaRPr lang="en-US" sz="840" dirty="0"/>
          </a:p>
        </p:txBody>
      </p:sp>
      <p:sp>
        <p:nvSpPr>
          <p:cNvPr id="25" name="Text 23"/>
          <p:cNvSpPr/>
          <p:nvPr/>
        </p:nvSpPr>
        <p:spPr>
          <a:xfrm>
            <a:off x="3672000" y="1584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3   </a:t>
            </a:r>
            <a:r>
              <a:rPr lang="en-US" sz="840" b="1" dirty="0">
                <a:solidFill>
                  <a:srgbClr val="46606E"/>
                </a:solidFill>
                <a:latin typeface="IBM Plex Sans" pitchFamily="34" charset="0"/>
                <a:ea typeface="IBM Plex Sans" pitchFamily="34" charset="-122"/>
                <a:cs typeface="IBM Plex Sans" pitchFamily="34" charset="-120"/>
              </a:rPr>
              <a:t>Domaine du Colombier / J.Y Bretaudeau   </a:t>
            </a:r>
            <a:r>
              <a:rPr lang="en-US" sz="700" dirty="0">
                <a:solidFill>
                  <a:srgbClr val="A8515F"/>
                </a:solidFill>
                <a:latin typeface="IBM Plex Sans" pitchFamily="34" charset="0"/>
                <a:ea typeface="IBM Plex Sans" pitchFamily="34" charset="-122"/>
                <a:cs typeface="IBM Plex Sans" pitchFamily="34" charset="-120"/>
              </a:rPr>
              <a:t>Loire   </a:t>
            </a:r>
            <a:r>
              <a:rPr lang="en-US" sz="700" dirty="0">
                <a:solidFill>
                  <a:srgbClr val="46606E"/>
                </a:solidFill>
                <a:latin typeface="IBM Plex Sans" pitchFamily="34" charset="0"/>
                <a:ea typeface="IBM Plex Sans" pitchFamily="34" charset="-122"/>
                <a:cs typeface="IBM Plex Sans" pitchFamily="34" charset="-120"/>
              </a:rPr>
              <a:t>14   </a:t>
            </a:r>
            <a:r>
              <a:rPr lang="en-US" sz="840" b="1" dirty="0">
                <a:solidFill>
                  <a:srgbClr val="46606E"/>
                </a:solidFill>
                <a:latin typeface="IBM Plex Sans" pitchFamily="34" charset="0"/>
                <a:ea typeface="IBM Plex Sans" pitchFamily="34" charset="-122"/>
                <a:cs typeface="IBM Plex Sans" pitchFamily="34" charset="-120"/>
              </a:rPr>
              <a:t>7</a:t>
            </a:r>
            <a:endParaRPr lang="en-US" sz="840" dirty="0"/>
          </a:p>
        </p:txBody>
      </p:sp>
      <p:sp>
        <p:nvSpPr>
          <p:cNvPr id="26" name="Text 24"/>
          <p:cNvSpPr/>
          <p:nvPr/>
        </p:nvSpPr>
        <p:spPr>
          <a:xfrm>
            <a:off x="3672000" y="1872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18   </a:t>
            </a:r>
            <a:r>
              <a:rPr lang="en-US" sz="840" b="1" dirty="0">
                <a:solidFill>
                  <a:srgbClr val="46606E"/>
                </a:solidFill>
                <a:latin typeface="IBM Plex Sans" pitchFamily="34" charset="0"/>
                <a:ea typeface="IBM Plex Sans" pitchFamily="34" charset="-122"/>
                <a:cs typeface="IBM Plex Sans" pitchFamily="34" charset="-120"/>
              </a:rPr>
              <a:t>Domaine du Moulin Blanc   </a:t>
            </a:r>
            <a:r>
              <a:rPr lang="en-US" sz="700" dirty="0">
                <a:solidFill>
                  <a:srgbClr val="A8515F"/>
                </a:solidFill>
                <a:latin typeface="IBM Plex Sans" pitchFamily="34" charset="0"/>
                <a:ea typeface="IBM Plex Sans" pitchFamily="34" charset="-122"/>
                <a:cs typeface="IBM Plex Sans" pitchFamily="34" charset="-120"/>
              </a:rPr>
              <a:t>Rhône   </a:t>
            </a:r>
            <a:r>
              <a:rPr lang="en-US" sz="700" dirty="0">
                <a:solidFill>
                  <a:srgbClr val="46606E"/>
                </a:solidFill>
                <a:latin typeface="IBM Plex Sans" pitchFamily="34" charset="0"/>
                <a:ea typeface="IBM Plex Sans" pitchFamily="34" charset="-122"/>
                <a:cs typeface="IBM Plex Sans" pitchFamily="34" charset="-120"/>
              </a:rPr>
              <a:t>3   </a:t>
            </a:r>
            <a:r>
              <a:rPr lang="en-US" sz="840" b="1" dirty="0">
                <a:solidFill>
                  <a:srgbClr val="46606E"/>
                </a:solidFill>
                <a:latin typeface="IBM Plex Sans" pitchFamily="34" charset="0"/>
                <a:ea typeface="IBM Plex Sans" pitchFamily="34" charset="-122"/>
                <a:cs typeface="IBM Plex Sans" pitchFamily="34" charset="-120"/>
              </a:rPr>
              <a:t>31</a:t>
            </a:r>
            <a:endParaRPr lang="en-US" sz="840" dirty="0"/>
          </a:p>
        </p:txBody>
      </p:sp>
      <p:sp>
        <p:nvSpPr>
          <p:cNvPr id="27" name="Text 25"/>
          <p:cNvSpPr/>
          <p:nvPr/>
        </p:nvSpPr>
        <p:spPr>
          <a:xfrm>
            <a:off x="3672000" y="2160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23   </a:t>
            </a:r>
            <a:r>
              <a:rPr lang="en-US" sz="840" b="1" dirty="0">
                <a:solidFill>
                  <a:srgbClr val="46606E"/>
                </a:solidFill>
                <a:latin typeface="IBM Plex Sans" pitchFamily="34" charset="0"/>
                <a:ea typeface="IBM Plex Sans" pitchFamily="34" charset="-122"/>
                <a:cs typeface="IBM Plex Sans" pitchFamily="34" charset="-120"/>
              </a:rPr>
              <a:t>Domaine Haut Marin   </a:t>
            </a:r>
            <a:r>
              <a:rPr lang="en-US" sz="700" dirty="0">
                <a:solidFill>
                  <a:srgbClr val="A8515F"/>
                </a:solidFill>
                <a:latin typeface="IBM Plex Sans" pitchFamily="34" charset="0"/>
                <a:ea typeface="IBM Plex Sans" pitchFamily="34" charset="-122"/>
                <a:cs typeface="IBM Plex Sans" pitchFamily="34" charset="-120"/>
              </a:rPr>
              <a:t>Sud-Ouest   </a:t>
            </a:r>
            <a:r>
              <a:rPr lang="en-US" sz="700" dirty="0">
                <a:solidFill>
                  <a:srgbClr val="46606E"/>
                </a:solidFill>
                <a:latin typeface="IBM Plex Sans" pitchFamily="34" charset="0"/>
                <a:ea typeface="IBM Plex Sans" pitchFamily="34" charset="-122"/>
                <a:cs typeface="IBM Plex Sans" pitchFamily="34" charset="-120"/>
              </a:rPr>
              <a:t>21   </a:t>
            </a:r>
            <a:r>
              <a:rPr lang="en-US" sz="840" b="1" dirty="0">
                <a:solidFill>
                  <a:srgbClr val="46606E"/>
                </a:solidFill>
                <a:latin typeface="IBM Plex Sans" pitchFamily="34" charset="0"/>
                <a:ea typeface="IBM Plex Sans" pitchFamily="34" charset="-122"/>
                <a:cs typeface="IBM Plex Sans" pitchFamily="34" charset="-120"/>
              </a:rPr>
              <a:t>37</a:t>
            </a:r>
            <a:endParaRPr lang="en-US" sz="840" dirty="0"/>
          </a:p>
        </p:txBody>
      </p:sp>
      <p:sp>
        <p:nvSpPr>
          <p:cNvPr id="28" name="Text 26"/>
          <p:cNvSpPr/>
          <p:nvPr/>
        </p:nvSpPr>
        <p:spPr>
          <a:xfrm>
            <a:off x="3672000" y="2448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6   </a:t>
            </a:r>
            <a:r>
              <a:rPr lang="en-US" sz="840" b="1" dirty="0">
                <a:solidFill>
                  <a:srgbClr val="46606E"/>
                </a:solidFill>
                <a:latin typeface="IBM Plex Sans" pitchFamily="34" charset="0"/>
                <a:ea typeface="IBM Plex Sans" pitchFamily="34" charset="-122"/>
                <a:cs typeface="IBM Plex Sans" pitchFamily="34" charset="-120"/>
              </a:rPr>
              <a:t>Domaine Jean de Villebois   </a:t>
            </a:r>
            <a:r>
              <a:rPr lang="en-US" sz="700" dirty="0">
                <a:solidFill>
                  <a:srgbClr val="A8515F"/>
                </a:solidFill>
                <a:latin typeface="IBM Plex Sans" pitchFamily="34" charset="0"/>
                <a:ea typeface="IBM Plex Sans" pitchFamily="34" charset="-122"/>
                <a:cs typeface="IBM Plex Sans" pitchFamily="34" charset="-120"/>
              </a:rPr>
              <a:t>Loire   </a:t>
            </a:r>
            <a:r>
              <a:rPr lang="en-US" sz="700" dirty="0">
                <a:solidFill>
                  <a:srgbClr val="46606E"/>
                </a:solidFill>
                <a:latin typeface="IBM Plex Sans" pitchFamily="34" charset="0"/>
                <a:ea typeface="IBM Plex Sans" pitchFamily="34" charset="-122"/>
                <a:cs typeface="IBM Plex Sans" pitchFamily="34" charset="-120"/>
              </a:rPr>
              <a:t>16   </a:t>
            </a:r>
            <a:r>
              <a:rPr lang="en-US" sz="840" b="1" dirty="0">
                <a:solidFill>
                  <a:srgbClr val="46606E"/>
                </a:solidFill>
                <a:latin typeface="IBM Plex Sans" pitchFamily="34" charset="0"/>
                <a:ea typeface="IBM Plex Sans" pitchFamily="34" charset="-122"/>
                <a:cs typeface="IBM Plex Sans" pitchFamily="34" charset="-120"/>
              </a:rPr>
              <a:t>11</a:t>
            </a:r>
            <a:endParaRPr lang="en-US" sz="840" dirty="0"/>
          </a:p>
        </p:txBody>
      </p:sp>
      <p:sp>
        <p:nvSpPr>
          <p:cNvPr id="29" name="Text 27"/>
          <p:cNvSpPr/>
          <p:nvPr/>
        </p:nvSpPr>
        <p:spPr>
          <a:xfrm>
            <a:off x="3672000" y="2736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16   </a:t>
            </a:r>
            <a:r>
              <a:rPr lang="en-US" sz="840" b="1" dirty="0">
                <a:solidFill>
                  <a:srgbClr val="46606E"/>
                </a:solidFill>
                <a:latin typeface="IBM Plex Sans" pitchFamily="34" charset="0"/>
                <a:ea typeface="IBM Plex Sans" pitchFamily="34" charset="-122"/>
                <a:cs typeface="IBM Plex Sans" pitchFamily="34" charset="-120"/>
              </a:rPr>
              <a:t>Domaine Le Prieuré des Papes   </a:t>
            </a:r>
            <a:r>
              <a:rPr lang="en-US" sz="700" dirty="0">
                <a:solidFill>
                  <a:srgbClr val="A8515F"/>
                </a:solidFill>
                <a:latin typeface="IBM Plex Sans" pitchFamily="34" charset="0"/>
                <a:ea typeface="IBM Plex Sans" pitchFamily="34" charset="-122"/>
                <a:cs typeface="IBM Plex Sans" pitchFamily="34" charset="-120"/>
              </a:rPr>
              <a:t>Rhône   </a:t>
            </a:r>
            <a:r>
              <a:rPr lang="en-US" sz="700" dirty="0">
                <a:solidFill>
                  <a:srgbClr val="46606E"/>
                </a:solidFill>
                <a:latin typeface="IBM Plex Sans" pitchFamily="34" charset="0"/>
                <a:ea typeface="IBM Plex Sans" pitchFamily="34" charset="-122"/>
                <a:cs typeface="IBM Plex Sans" pitchFamily="34" charset="-120"/>
              </a:rPr>
              <a:t>3   </a:t>
            </a:r>
            <a:r>
              <a:rPr lang="en-US" sz="840" b="1" dirty="0">
                <a:solidFill>
                  <a:srgbClr val="46606E"/>
                </a:solidFill>
                <a:latin typeface="IBM Plex Sans" pitchFamily="34" charset="0"/>
                <a:ea typeface="IBM Plex Sans" pitchFamily="34" charset="-122"/>
                <a:cs typeface="IBM Plex Sans" pitchFamily="34" charset="-120"/>
              </a:rPr>
              <a:t>29</a:t>
            </a:r>
            <a:endParaRPr lang="en-US" sz="840" dirty="0"/>
          </a:p>
        </p:txBody>
      </p:sp>
      <p:sp>
        <p:nvSpPr>
          <p:cNvPr id="30" name="Text 28"/>
          <p:cNvSpPr/>
          <p:nvPr/>
        </p:nvSpPr>
        <p:spPr>
          <a:xfrm>
            <a:off x="3672000" y="3024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14   </a:t>
            </a:r>
            <a:r>
              <a:rPr lang="en-US" sz="840" b="1" dirty="0">
                <a:solidFill>
                  <a:srgbClr val="46606E"/>
                </a:solidFill>
                <a:latin typeface="IBM Plex Sans" pitchFamily="34" charset="0"/>
                <a:ea typeface="IBM Plex Sans" pitchFamily="34" charset="-122"/>
                <a:cs typeface="IBM Plex Sans" pitchFamily="34" charset="-120"/>
              </a:rPr>
              <a:t>Domaine Les Guignottes   </a:t>
            </a:r>
            <a:r>
              <a:rPr lang="en-US" sz="700" dirty="0">
                <a:solidFill>
                  <a:srgbClr val="A8515F"/>
                </a:solidFill>
                <a:latin typeface="IBM Plex Sans" pitchFamily="34" charset="0"/>
                <a:ea typeface="IBM Plex Sans" pitchFamily="34" charset="-122"/>
                <a:cs typeface="IBM Plex Sans" pitchFamily="34" charset="-120"/>
              </a:rPr>
              <a:t>Bourgogne   </a:t>
            </a:r>
            <a:r>
              <a:rPr lang="en-US" sz="700" dirty="0">
                <a:solidFill>
                  <a:srgbClr val="46606E"/>
                </a:solidFill>
                <a:latin typeface="IBM Plex Sans" pitchFamily="34" charset="0"/>
                <a:ea typeface="IBM Plex Sans" pitchFamily="34" charset="-122"/>
                <a:cs typeface="IBM Plex Sans" pitchFamily="34" charset="-120"/>
              </a:rPr>
              <a:t>5   </a:t>
            </a:r>
            <a:r>
              <a:rPr lang="en-US" sz="840" b="1" dirty="0">
                <a:solidFill>
                  <a:srgbClr val="46606E"/>
                </a:solidFill>
                <a:latin typeface="IBM Plex Sans" pitchFamily="34" charset="0"/>
                <a:ea typeface="IBM Plex Sans" pitchFamily="34" charset="-122"/>
                <a:cs typeface="IBM Plex Sans" pitchFamily="34" charset="-120"/>
              </a:rPr>
              <a:t>26</a:t>
            </a:r>
            <a:endParaRPr lang="en-US" sz="840" dirty="0"/>
          </a:p>
        </p:txBody>
      </p:sp>
      <p:sp>
        <p:nvSpPr>
          <p:cNvPr id="31" name="Text 29"/>
          <p:cNvSpPr/>
          <p:nvPr/>
        </p:nvSpPr>
        <p:spPr>
          <a:xfrm>
            <a:off x="3672000" y="3312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35   </a:t>
            </a:r>
            <a:r>
              <a:rPr lang="en-US" sz="840" b="1" dirty="0">
                <a:solidFill>
                  <a:srgbClr val="46606E"/>
                </a:solidFill>
                <a:latin typeface="IBM Plex Sans" pitchFamily="34" charset="0"/>
                <a:ea typeface="IBM Plex Sans" pitchFamily="34" charset="-122"/>
                <a:cs typeface="IBM Plex Sans" pitchFamily="34" charset="-120"/>
              </a:rPr>
              <a:t>Domaine Les Lys   </a:t>
            </a:r>
            <a:r>
              <a:rPr lang="en-US" sz="700" dirty="0">
                <a:solidFill>
                  <a:srgbClr val="A8515F"/>
                </a:solidFill>
                <a:latin typeface="IBM Plex Sans" pitchFamily="34" charset="0"/>
                <a:ea typeface="IBM Plex Sans" pitchFamily="34" charset="-122"/>
                <a:cs typeface="IBM Plex Sans" pitchFamily="34" charset="-120"/>
              </a:rPr>
              <a:t>Languedoc   </a:t>
            </a:r>
            <a:r>
              <a:rPr lang="en-US" sz="700" dirty="0">
                <a:solidFill>
                  <a:srgbClr val="46606E"/>
                </a:solidFill>
                <a:latin typeface="IBM Plex Sans" pitchFamily="34" charset="0"/>
                <a:ea typeface="IBM Plex Sans" pitchFamily="34" charset="-122"/>
                <a:cs typeface="IBM Plex Sans" pitchFamily="34" charset="-120"/>
              </a:rPr>
              <a:t>7   </a:t>
            </a:r>
            <a:r>
              <a:rPr lang="en-US" sz="840" b="1" dirty="0">
                <a:solidFill>
                  <a:srgbClr val="46606E"/>
                </a:solidFill>
                <a:latin typeface="IBM Plex Sans" pitchFamily="34" charset="0"/>
                <a:ea typeface="IBM Plex Sans" pitchFamily="34" charset="-122"/>
                <a:cs typeface="IBM Plex Sans" pitchFamily="34" charset="-120"/>
              </a:rPr>
              <a:t>58</a:t>
            </a:r>
            <a:endParaRPr lang="en-US" sz="840" dirty="0"/>
          </a:p>
        </p:txBody>
      </p:sp>
      <p:sp>
        <p:nvSpPr>
          <p:cNvPr id="32" name="Text 30"/>
          <p:cNvSpPr/>
          <p:nvPr/>
        </p:nvSpPr>
        <p:spPr>
          <a:xfrm>
            <a:off x="3672000" y="3600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11   </a:t>
            </a:r>
            <a:r>
              <a:rPr lang="en-US" sz="840" b="1" dirty="0">
                <a:solidFill>
                  <a:srgbClr val="46606E"/>
                </a:solidFill>
                <a:latin typeface="IBM Plex Sans" pitchFamily="34" charset="0"/>
                <a:ea typeface="IBM Plex Sans" pitchFamily="34" charset="-122"/>
                <a:cs typeface="IBM Plex Sans" pitchFamily="34" charset="-120"/>
              </a:rPr>
              <a:t>Domaine Nadine Ferrand   </a:t>
            </a:r>
            <a:r>
              <a:rPr lang="en-US" sz="700" dirty="0">
                <a:solidFill>
                  <a:srgbClr val="A8515F"/>
                </a:solidFill>
                <a:latin typeface="IBM Plex Sans" pitchFamily="34" charset="0"/>
                <a:ea typeface="IBM Plex Sans" pitchFamily="34" charset="-122"/>
                <a:cs typeface="IBM Plex Sans" pitchFamily="34" charset="-120"/>
              </a:rPr>
              <a:t>Bourgogne   </a:t>
            </a:r>
            <a:r>
              <a:rPr lang="en-US" sz="700" dirty="0">
                <a:solidFill>
                  <a:srgbClr val="46606E"/>
                </a:solidFill>
                <a:latin typeface="IBM Plex Sans" pitchFamily="34" charset="0"/>
                <a:ea typeface="IBM Plex Sans" pitchFamily="34" charset="-122"/>
                <a:cs typeface="IBM Plex Sans" pitchFamily="34" charset="-120"/>
              </a:rPr>
              <a:t>7   </a:t>
            </a:r>
            <a:r>
              <a:rPr lang="en-US" sz="840" b="1" dirty="0">
                <a:solidFill>
                  <a:srgbClr val="46606E"/>
                </a:solidFill>
                <a:latin typeface="IBM Plex Sans" pitchFamily="34" charset="0"/>
                <a:ea typeface="IBM Plex Sans" pitchFamily="34" charset="-122"/>
                <a:cs typeface="IBM Plex Sans" pitchFamily="34" charset="-120"/>
              </a:rPr>
              <a:t>22</a:t>
            </a:r>
            <a:endParaRPr lang="en-US" sz="840" dirty="0"/>
          </a:p>
        </p:txBody>
      </p:sp>
      <p:sp>
        <p:nvSpPr>
          <p:cNvPr id="33" name="Text 31"/>
          <p:cNvSpPr/>
          <p:nvPr/>
        </p:nvSpPr>
        <p:spPr>
          <a:xfrm>
            <a:off x="3672000" y="3888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10   </a:t>
            </a:r>
            <a:r>
              <a:rPr lang="en-US" sz="840" b="1" dirty="0">
                <a:solidFill>
                  <a:srgbClr val="46606E"/>
                </a:solidFill>
                <a:latin typeface="IBM Plex Sans" pitchFamily="34" charset="0"/>
                <a:ea typeface="IBM Plex Sans" pitchFamily="34" charset="-122"/>
                <a:cs typeface="IBM Plex Sans" pitchFamily="34" charset="-120"/>
              </a:rPr>
              <a:t>Domaine Sébastien Magnien   </a:t>
            </a:r>
            <a:r>
              <a:rPr lang="en-US" sz="700" dirty="0">
                <a:solidFill>
                  <a:srgbClr val="A8515F"/>
                </a:solidFill>
                <a:latin typeface="IBM Plex Sans" pitchFamily="34" charset="0"/>
                <a:ea typeface="IBM Plex Sans" pitchFamily="34" charset="-122"/>
                <a:cs typeface="IBM Plex Sans" pitchFamily="34" charset="-120"/>
              </a:rPr>
              <a:t>Bourgogne   </a:t>
            </a:r>
            <a:r>
              <a:rPr lang="en-US" sz="700" dirty="0">
                <a:solidFill>
                  <a:srgbClr val="46606E"/>
                </a:solidFill>
                <a:latin typeface="IBM Plex Sans" pitchFamily="34" charset="0"/>
                <a:ea typeface="IBM Plex Sans" pitchFamily="34" charset="-122"/>
                <a:cs typeface="IBM Plex Sans" pitchFamily="34" charset="-120"/>
              </a:rPr>
              <a:t>15   </a:t>
            </a:r>
            <a:r>
              <a:rPr lang="en-US" sz="840" b="1" dirty="0">
                <a:solidFill>
                  <a:srgbClr val="46606E"/>
                </a:solidFill>
                <a:latin typeface="IBM Plex Sans" pitchFamily="34" charset="0"/>
                <a:ea typeface="IBM Plex Sans" pitchFamily="34" charset="-122"/>
                <a:cs typeface="IBM Plex Sans" pitchFamily="34" charset="-120"/>
              </a:rPr>
              <a:t>20</a:t>
            </a:r>
            <a:endParaRPr lang="en-US" sz="840" dirty="0"/>
          </a:p>
        </p:txBody>
      </p:sp>
      <p:sp>
        <p:nvSpPr>
          <p:cNvPr id="34" name="Text 32"/>
          <p:cNvSpPr/>
          <p:nvPr/>
        </p:nvSpPr>
        <p:spPr>
          <a:xfrm>
            <a:off x="3672000" y="4176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22   </a:t>
            </a:r>
            <a:r>
              <a:rPr lang="en-US" sz="840" b="1" dirty="0">
                <a:solidFill>
                  <a:srgbClr val="46606E"/>
                </a:solidFill>
                <a:latin typeface="IBM Plex Sans" pitchFamily="34" charset="0"/>
                <a:ea typeface="IBM Plex Sans" pitchFamily="34" charset="-122"/>
                <a:cs typeface="IBM Plex Sans" pitchFamily="34" charset="-120"/>
              </a:rPr>
              <a:t>Domaine Stratéus   </a:t>
            </a:r>
            <a:r>
              <a:rPr lang="en-US" sz="700" dirty="0">
                <a:solidFill>
                  <a:srgbClr val="A8515F"/>
                </a:solidFill>
                <a:latin typeface="IBM Plex Sans" pitchFamily="34" charset="0"/>
                <a:ea typeface="IBM Plex Sans" pitchFamily="34" charset="-122"/>
                <a:cs typeface="IBM Plex Sans" pitchFamily="34" charset="-120"/>
              </a:rPr>
              <a:t>Sud-Ouest   </a:t>
            </a:r>
            <a:r>
              <a:rPr lang="en-US" sz="700" dirty="0">
                <a:solidFill>
                  <a:srgbClr val="46606E"/>
                </a:solidFill>
                <a:latin typeface="IBM Plex Sans" pitchFamily="34" charset="0"/>
                <a:ea typeface="IBM Plex Sans" pitchFamily="34" charset="-122"/>
                <a:cs typeface="IBM Plex Sans" pitchFamily="34" charset="-120"/>
              </a:rPr>
              <a:t>6   </a:t>
            </a:r>
            <a:r>
              <a:rPr lang="en-US" sz="840" b="1" dirty="0">
                <a:solidFill>
                  <a:srgbClr val="46606E"/>
                </a:solidFill>
                <a:latin typeface="IBM Plex Sans" pitchFamily="34" charset="0"/>
                <a:ea typeface="IBM Plex Sans" pitchFamily="34" charset="-122"/>
                <a:cs typeface="IBM Plex Sans" pitchFamily="34" charset="-120"/>
              </a:rPr>
              <a:t>36</a:t>
            </a:r>
            <a:endParaRPr lang="en-US" sz="840" dirty="0"/>
          </a:p>
        </p:txBody>
      </p:sp>
      <p:sp>
        <p:nvSpPr>
          <p:cNvPr id="35" name="Text 33"/>
          <p:cNvSpPr/>
          <p:nvPr/>
        </p:nvSpPr>
        <p:spPr>
          <a:xfrm>
            <a:off x="3672000" y="4464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21   </a:t>
            </a:r>
            <a:r>
              <a:rPr lang="en-US" sz="840" b="1" dirty="0">
                <a:solidFill>
                  <a:srgbClr val="46606E"/>
                </a:solidFill>
                <a:latin typeface="IBM Plex Sans" pitchFamily="34" charset="0"/>
                <a:ea typeface="IBM Plex Sans" pitchFamily="34" charset="-122"/>
                <a:cs typeface="IBM Plex Sans" pitchFamily="34" charset="-120"/>
              </a:rPr>
              <a:t>Domaine Trichon   </a:t>
            </a:r>
            <a:r>
              <a:rPr lang="en-US" sz="700" dirty="0">
                <a:solidFill>
                  <a:srgbClr val="A8515F"/>
                </a:solidFill>
                <a:latin typeface="IBM Plex Sans" pitchFamily="34" charset="0"/>
                <a:ea typeface="IBM Plex Sans" pitchFamily="34" charset="-122"/>
                <a:cs typeface="IBM Plex Sans" pitchFamily="34" charset="-120"/>
              </a:rPr>
              <a:t>Rhône   </a:t>
            </a:r>
            <a:r>
              <a:rPr lang="en-US" sz="700" dirty="0">
                <a:solidFill>
                  <a:srgbClr val="46606E"/>
                </a:solidFill>
                <a:latin typeface="IBM Plex Sans" pitchFamily="34" charset="0"/>
                <a:ea typeface="IBM Plex Sans" pitchFamily="34" charset="-122"/>
                <a:cs typeface="IBM Plex Sans" pitchFamily="34" charset="-120"/>
              </a:rPr>
              <a:t>3   </a:t>
            </a:r>
            <a:r>
              <a:rPr lang="en-US" sz="840" b="1" dirty="0">
                <a:solidFill>
                  <a:srgbClr val="46606E"/>
                </a:solidFill>
                <a:latin typeface="IBM Plex Sans" pitchFamily="34" charset="0"/>
                <a:ea typeface="IBM Plex Sans" pitchFamily="34" charset="-122"/>
                <a:cs typeface="IBM Plex Sans" pitchFamily="34" charset="-120"/>
              </a:rPr>
              <a:t>34</a:t>
            </a:r>
            <a:endParaRPr lang="en-US" sz="840" dirty="0"/>
          </a:p>
        </p:txBody>
      </p:sp>
      <p:sp>
        <p:nvSpPr>
          <p:cNvPr id="36" name="Text 34"/>
          <p:cNvSpPr/>
          <p:nvPr/>
        </p:nvSpPr>
        <p:spPr>
          <a:xfrm>
            <a:off x="3672000" y="4752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24   </a:t>
            </a:r>
            <a:r>
              <a:rPr lang="en-US" sz="840" b="1" dirty="0">
                <a:solidFill>
                  <a:srgbClr val="46606E"/>
                </a:solidFill>
                <a:latin typeface="IBM Plex Sans" pitchFamily="34" charset="0"/>
                <a:ea typeface="IBM Plex Sans" pitchFamily="34" charset="-122"/>
                <a:cs typeface="IBM Plex Sans" pitchFamily="34" charset="-120"/>
              </a:rPr>
              <a:t>Fabien Castaing   </a:t>
            </a:r>
            <a:r>
              <a:rPr lang="en-US" sz="700" dirty="0">
                <a:solidFill>
                  <a:srgbClr val="A8515F"/>
                </a:solidFill>
                <a:latin typeface="IBM Plex Sans" pitchFamily="34" charset="0"/>
                <a:ea typeface="IBM Plex Sans" pitchFamily="34" charset="-122"/>
                <a:cs typeface="IBM Plex Sans" pitchFamily="34" charset="-120"/>
              </a:rPr>
              <a:t>Sud-Ouest   </a:t>
            </a:r>
            <a:r>
              <a:rPr lang="en-US" sz="700" dirty="0">
                <a:solidFill>
                  <a:srgbClr val="46606E"/>
                </a:solidFill>
                <a:latin typeface="IBM Plex Sans" pitchFamily="34" charset="0"/>
                <a:ea typeface="IBM Plex Sans" pitchFamily="34" charset="-122"/>
                <a:cs typeface="IBM Plex Sans" pitchFamily="34" charset="-120"/>
              </a:rPr>
              <a:t>13   </a:t>
            </a:r>
            <a:r>
              <a:rPr lang="en-US" sz="840" b="1" dirty="0">
                <a:solidFill>
                  <a:srgbClr val="46606E"/>
                </a:solidFill>
                <a:latin typeface="IBM Plex Sans" pitchFamily="34" charset="0"/>
                <a:ea typeface="IBM Plex Sans" pitchFamily="34" charset="-122"/>
                <a:cs typeface="IBM Plex Sans" pitchFamily="34" charset="-120"/>
              </a:rPr>
              <a:t>39</a:t>
            </a:r>
            <a:endParaRPr lang="en-US" sz="840" dirty="0"/>
          </a:p>
        </p:txBody>
      </p:sp>
      <p:sp>
        <p:nvSpPr>
          <p:cNvPr id="37" name="Text 35"/>
          <p:cNvSpPr/>
          <p:nvPr/>
        </p:nvSpPr>
        <p:spPr>
          <a:xfrm>
            <a:off x="3672000" y="5040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32   </a:t>
            </a:r>
            <a:r>
              <a:rPr lang="en-US" sz="840" b="1" dirty="0">
                <a:solidFill>
                  <a:srgbClr val="46606E"/>
                </a:solidFill>
                <a:latin typeface="IBM Plex Sans" pitchFamily="34" charset="0"/>
                <a:ea typeface="IBM Plex Sans" pitchFamily="34" charset="-122"/>
                <a:cs typeface="IBM Plex Sans" pitchFamily="34" charset="-120"/>
              </a:rPr>
              <a:t>Famille d’Exea   </a:t>
            </a:r>
            <a:r>
              <a:rPr lang="en-US" sz="700" dirty="0">
                <a:solidFill>
                  <a:srgbClr val="A8515F"/>
                </a:solidFill>
                <a:latin typeface="IBM Plex Sans" pitchFamily="34" charset="0"/>
                <a:ea typeface="IBM Plex Sans" pitchFamily="34" charset="-122"/>
                <a:cs typeface="IBM Plex Sans" pitchFamily="34" charset="-120"/>
              </a:rPr>
              <a:t>Languedoc   </a:t>
            </a:r>
            <a:r>
              <a:rPr lang="en-US" sz="700" dirty="0">
                <a:solidFill>
                  <a:srgbClr val="46606E"/>
                </a:solidFill>
                <a:latin typeface="IBM Plex Sans" pitchFamily="34" charset="0"/>
                <a:ea typeface="IBM Plex Sans" pitchFamily="34" charset="-122"/>
                <a:cs typeface="IBM Plex Sans" pitchFamily="34" charset="-120"/>
              </a:rPr>
              <a:t>21   </a:t>
            </a:r>
            <a:r>
              <a:rPr lang="en-US" sz="840" b="1" dirty="0">
                <a:solidFill>
                  <a:srgbClr val="46606E"/>
                </a:solidFill>
                <a:latin typeface="IBM Plex Sans" pitchFamily="34" charset="0"/>
                <a:ea typeface="IBM Plex Sans" pitchFamily="34" charset="-122"/>
                <a:cs typeface="IBM Plex Sans" pitchFamily="34" charset="-120"/>
              </a:rPr>
              <a:t>54</a:t>
            </a:r>
            <a:endParaRPr lang="en-US" sz="840" dirty="0"/>
          </a:p>
        </p:txBody>
      </p:sp>
      <p:sp>
        <p:nvSpPr>
          <p:cNvPr id="38" name="Text 36"/>
          <p:cNvSpPr/>
          <p:nvPr/>
        </p:nvSpPr>
        <p:spPr>
          <a:xfrm>
            <a:off x="3672000" y="5328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33   </a:t>
            </a:r>
            <a:r>
              <a:rPr lang="en-US" sz="840" b="1" dirty="0">
                <a:solidFill>
                  <a:srgbClr val="46606E"/>
                </a:solidFill>
                <a:latin typeface="IBM Plex Sans" pitchFamily="34" charset="0"/>
                <a:ea typeface="IBM Plex Sans" pitchFamily="34" charset="-122"/>
                <a:cs typeface="IBM Plex Sans" pitchFamily="34" charset="-120"/>
              </a:rPr>
              <a:t>Famille d’Exea — Jus de Cépages   </a:t>
            </a:r>
            <a:r>
              <a:rPr lang="en-US" sz="700" dirty="0">
                <a:solidFill>
                  <a:srgbClr val="A8515F"/>
                </a:solidFill>
                <a:latin typeface="IBM Plex Sans" pitchFamily="34" charset="0"/>
                <a:ea typeface="IBM Plex Sans" pitchFamily="34" charset="-122"/>
                <a:cs typeface="IBM Plex Sans" pitchFamily="34" charset="-120"/>
              </a:rPr>
              <a:t>Languedoc   </a:t>
            </a:r>
            <a:r>
              <a:rPr lang="en-US" sz="700" dirty="0">
                <a:solidFill>
                  <a:srgbClr val="46606E"/>
                </a:solidFill>
                <a:latin typeface="IBM Plex Sans" pitchFamily="34" charset="0"/>
                <a:ea typeface="IBM Plex Sans" pitchFamily="34" charset="-122"/>
                <a:cs typeface="IBM Plex Sans" pitchFamily="34" charset="-120"/>
              </a:rPr>
              <a:t>8   </a:t>
            </a:r>
            <a:r>
              <a:rPr lang="en-US" sz="840" b="1" dirty="0">
                <a:solidFill>
                  <a:srgbClr val="46606E"/>
                </a:solidFill>
                <a:latin typeface="IBM Plex Sans" pitchFamily="34" charset="0"/>
                <a:ea typeface="IBM Plex Sans" pitchFamily="34" charset="-122"/>
                <a:cs typeface="IBM Plex Sans" pitchFamily="34" charset="-120"/>
              </a:rPr>
              <a:t>56</a:t>
            </a:r>
            <a:endParaRPr lang="en-US" sz="840" dirty="0"/>
          </a:p>
        </p:txBody>
      </p:sp>
      <p:sp>
        <p:nvSpPr>
          <p:cNvPr id="39" name="Text 37"/>
          <p:cNvSpPr/>
          <p:nvPr/>
        </p:nvSpPr>
        <p:spPr>
          <a:xfrm>
            <a:off x="3672000" y="5616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   </a:t>
            </a:r>
            <a:r>
              <a:rPr lang="en-US" sz="840" b="1" dirty="0">
                <a:solidFill>
                  <a:srgbClr val="46606E"/>
                </a:solidFill>
                <a:latin typeface="IBM Plex Sans" pitchFamily="34" charset="0"/>
                <a:ea typeface="IBM Plex Sans" pitchFamily="34" charset="-122"/>
                <a:cs typeface="IBM Plex Sans" pitchFamily="34" charset="-120"/>
              </a:rPr>
              <a:t>François Reverdy   </a:t>
            </a:r>
            <a:r>
              <a:rPr lang="en-US" sz="700" dirty="0">
                <a:solidFill>
                  <a:srgbClr val="A8515F"/>
                </a:solidFill>
                <a:latin typeface="IBM Plex Sans" pitchFamily="34" charset="0"/>
                <a:ea typeface="IBM Plex Sans" pitchFamily="34" charset="-122"/>
                <a:cs typeface="IBM Plex Sans" pitchFamily="34" charset="-120"/>
              </a:rPr>
              <a:t>Loire   </a:t>
            </a:r>
            <a:r>
              <a:rPr lang="en-US" sz="700" dirty="0">
                <a:solidFill>
                  <a:srgbClr val="46606E"/>
                </a:solidFill>
                <a:latin typeface="IBM Plex Sans" pitchFamily="34" charset="0"/>
                <a:ea typeface="IBM Plex Sans" pitchFamily="34" charset="-122"/>
                <a:cs typeface="IBM Plex Sans" pitchFamily="34" charset="-120"/>
              </a:rPr>
              <a:t>8   </a:t>
            </a:r>
            <a:r>
              <a:rPr lang="en-US" sz="840" b="1" dirty="0">
                <a:solidFill>
                  <a:srgbClr val="46606E"/>
                </a:solidFill>
                <a:latin typeface="IBM Plex Sans" pitchFamily="34" charset="0"/>
                <a:ea typeface="IBM Plex Sans" pitchFamily="34" charset="-122"/>
                <a:cs typeface="IBM Plex Sans" pitchFamily="34" charset="-120"/>
              </a:rPr>
              <a:t>5</a:t>
            </a:r>
            <a:endParaRPr lang="en-US" sz="840" dirty="0"/>
          </a:p>
        </p:txBody>
      </p:sp>
      <p:sp>
        <p:nvSpPr>
          <p:cNvPr id="40" name="Text 38"/>
          <p:cNvSpPr/>
          <p:nvPr/>
        </p:nvSpPr>
        <p:spPr>
          <a:xfrm>
            <a:off x="3672000" y="5904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25   </a:t>
            </a:r>
            <a:r>
              <a:rPr lang="en-US" sz="840" b="1" dirty="0">
                <a:solidFill>
                  <a:srgbClr val="46606E"/>
                </a:solidFill>
                <a:latin typeface="IBM Plex Sans" pitchFamily="34" charset="0"/>
                <a:ea typeface="IBM Plex Sans" pitchFamily="34" charset="-122"/>
                <a:cs typeface="IBM Plex Sans" pitchFamily="34" charset="-120"/>
              </a:rPr>
              <a:t>La Passion des Terroirs   </a:t>
            </a:r>
            <a:r>
              <a:rPr lang="en-US" sz="700" dirty="0">
                <a:solidFill>
                  <a:srgbClr val="A8515F"/>
                </a:solidFill>
                <a:latin typeface="IBM Plex Sans" pitchFamily="34" charset="0"/>
                <a:ea typeface="IBM Plex Sans" pitchFamily="34" charset="-122"/>
                <a:cs typeface="IBM Plex Sans" pitchFamily="34" charset="-120"/>
              </a:rPr>
              <a:t>Bordeaux   </a:t>
            </a:r>
            <a:r>
              <a:rPr lang="en-US" sz="700" dirty="0">
                <a:solidFill>
                  <a:srgbClr val="46606E"/>
                </a:solidFill>
                <a:latin typeface="IBM Plex Sans" pitchFamily="34" charset="0"/>
                <a:ea typeface="IBM Plex Sans" pitchFamily="34" charset="-122"/>
                <a:cs typeface="IBM Plex Sans" pitchFamily="34" charset="-120"/>
              </a:rPr>
              <a:t>31   </a:t>
            </a:r>
            <a:r>
              <a:rPr lang="en-US" sz="840" b="1" dirty="0">
                <a:solidFill>
                  <a:srgbClr val="46606E"/>
                </a:solidFill>
                <a:latin typeface="IBM Plex Sans" pitchFamily="34" charset="0"/>
                <a:ea typeface="IBM Plex Sans" pitchFamily="34" charset="-122"/>
                <a:cs typeface="IBM Plex Sans" pitchFamily="34" charset="-120"/>
              </a:rPr>
              <a:t>42</a:t>
            </a:r>
            <a:endParaRPr lang="en-US" sz="840" dirty="0"/>
          </a:p>
        </p:txBody>
      </p:sp>
      <p:sp>
        <p:nvSpPr>
          <p:cNvPr id="41" name="Text 39"/>
          <p:cNvSpPr/>
          <p:nvPr/>
        </p:nvSpPr>
        <p:spPr>
          <a:xfrm>
            <a:off x="3672000" y="6192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12   </a:t>
            </a:r>
            <a:r>
              <a:rPr lang="en-US" sz="840" b="1" dirty="0">
                <a:solidFill>
                  <a:srgbClr val="46606E"/>
                </a:solidFill>
                <a:latin typeface="IBM Plex Sans" pitchFamily="34" charset="0"/>
                <a:ea typeface="IBM Plex Sans" pitchFamily="34" charset="-122"/>
                <a:cs typeface="IBM Plex Sans" pitchFamily="34" charset="-120"/>
              </a:rPr>
              <a:t>Maison et Domaine André Goichot   </a:t>
            </a:r>
            <a:r>
              <a:rPr lang="en-US" sz="700" dirty="0">
                <a:solidFill>
                  <a:srgbClr val="A8515F"/>
                </a:solidFill>
                <a:latin typeface="IBM Plex Sans" pitchFamily="34" charset="0"/>
                <a:ea typeface="IBM Plex Sans" pitchFamily="34" charset="-122"/>
                <a:cs typeface="IBM Plex Sans" pitchFamily="34" charset="-120"/>
              </a:rPr>
              <a:t>Bourgogne   </a:t>
            </a:r>
            <a:r>
              <a:rPr lang="en-US" sz="700" dirty="0">
                <a:solidFill>
                  <a:srgbClr val="46606E"/>
                </a:solidFill>
                <a:latin typeface="IBM Plex Sans" pitchFamily="34" charset="0"/>
                <a:ea typeface="IBM Plex Sans" pitchFamily="34" charset="-122"/>
                <a:cs typeface="IBM Plex Sans" pitchFamily="34" charset="-120"/>
              </a:rPr>
              <a:t>23   </a:t>
            </a:r>
            <a:r>
              <a:rPr lang="en-US" sz="840" b="1" dirty="0">
                <a:solidFill>
                  <a:srgbClr val="46606E"/>
                </a:solidFill>
                <a:latin typeface="IBM Plex Sans" pitchFamily="34" charset="0"/>
                <a:ea typeface="IBM Plex Sans" pitchFamily="34" charset="-122"/>
                <a:cs typeface="IBM Plex Sans" pitchFamily="34" charset="-120"/>
              </a:rPr>
              <a:t>23</a:t>
            </a:r>
            <a:endParaRPr lang="en-US" sz="840" dirty="0"/>
          </a:p>
        </p:txBody>
      </p:sp>
      <p:sp>
        <p:nvSpPr>
          <p:cNvPr id="42" name="Text 40"/>
          <p:cNvSpPr/>
          <p:nvPr/>
        </p:nvSpPr>
        <p:spPr>
          <a:xfrm>
            <a:off x="3672000" y="6480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36   </a:t>
            </a:r>
            <a:r>
              <a:rPr lang="en-US" sz="840" b="1" dirty="0">
                <a:solidFill>
                  <a:srgbClr val="46606E"/>
                </a:solidFill>
                <a:latin typeface="IBM Plex Sans" pitchFamily="34" charset="0"/>
                <a:ea typeface="IBM Plex Sans" pitchFamily="34" charset="-122"/>
                <a:cs typeface="IBM Plex Sans" pitchFamily="34" charset="-120"/>
              </a:rPr>
              <a:t>Prieuré Sainte-Marie d’Albas   </a:t>
            </a:r>
            <a:r>
              <a:rPr lang="en-US" sz="700" dirty="0">
                <a:solidFill>
                  <a:srgbClr val="A8515F"/>
                </a:solidFill>
                <a:latin typeface="IBM Plex Sans" pitchFamily="34" charset="0"/>
                <a:ea typeface="IBM Plex Sans" pitchFamily="34" charset="-122"/>
                <a:cs typeface="IBM Plex Sans" pitchFamily="34" charset="-120"/>
              </a:rPr>
              <a:t>Languedoc   </a:t>
            </a:r>
            <a:r>
              <a:rPr lang="en-US" sz="700" dirty="0">
                <a:solidFill>
                  <a:srgbClr val="46606E"/>
                </a:solidFill>
                <a:latin typeface="IBM Plex Sans" pitchFamily="34" charset="0"/>
                <a:ea typeface="IBM Plex Sans" pitchFamily="34" charset="-122"/>
                <a:cs typeface="IBM Plex Sans" pitchFamily="34" charset="-120"/>
              </a:rPr>
              <a:t>13   </a:t>
            </a:r>
            <a:r>
              <a:rPr lang="en-US" sz="840" b="1" dirty="0">
                <a:solidFill>
                  <a:srgbClr val="46606E"/>
                </a:solidFill>
                <a:latin typeface="IBM Plex Sans" pitchFamily="34" charset="0"/>
                <a:ea typeface="IBM Plex Sans" pitchFamily="34" charset="-122"/>
                <a:cs typeface="IBM Plex Sans" pitchFamily="34" charset="-120"/>
              </a:rPr>
              <a:t>59</a:t>
            </a:r>
            <a:endParaRPr lang="en-US" sz="840" dirty="0"/>
          </a:p>
        </p:txBody>
      </p:sp>
      <p:sp>
        <p:nvSpPr>
          <p:cNvPr id="43" name="Text 41"/>
          <p:cNvSpPr/>
          <p:nvPr/>
        </p:nvSpPr>
        <p:spPr>
          <a:xfrm>
            <a:off x="3672000" y="6768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40   </a:t>
            </a:r>
            <a:r>
              <a:rPr lang="en-US" sz="840" b="1" dirty="0">
                <a:solidFill>
                  <a:srgbClr val="46606E"/>
                </a:solidFill>
                <a:latin typeface="IBM Plex Sans" pitchFamily="34" charset="0"/>
                <a:ea typeface="IBM Plex Sans" pitchFamily="34" charset="-122"/>
                <a:cs typeface="IBM Plex Sans" pitchFamily="34" charset="-120"/>
              </a:rPr>
              <a:t>Vazart-Coquart &amp; Fils   </a:t>
            </a:r>
            <a:r>
              <a:rPr lang="en-US" sz="700" dirty="0">
                <a:solidFill>
                  <a:srgbClr val="A8515F"/>
                </a:solidFill>
                <a:latin typeface="IBM Plex Sans" pitchFamily="34" charset="0"/>
                <a:ea typeface="IBM Plex Sans" pitchFamily="34" charset="-122"/>
                <a:cs typeface="IBM Plex Sans" pitchFamily="34" charset="-120"/>
              </a:rPr>
              <a:t>Champagne   </a:t>
            </a:r>
            <a:r>
              <a:rPr lang="en-US" sz="700" dirty="0">
                <a:solidFill>
                  <a:srgbClr val="46606E"/>
                </a:solidFill>
                <a:latin typeface="IBM Plex Sans" pitchFamily="34" charset="0"/>
                <a:ea typeface="IBM Plex Sans" pitchFamily="34" charset="-122"/>
                <a:cs typeface="IBM Plex Sans" pitchFamily="34" charset="-120"/>
              </a:rPr>
              <a:t>6   </a:t>
            </a:r>
            <a:r>
              <a:rPr lang="en-US" sz="840" b="1" dirty="0">
                <a:solidFill>
                  <a:srgbClr val="46606E"/>
                </a:solidFill>
                <a:latin typeface="IBM Plex Sans" pitchFamily="34" charset="0"/>
                <a:ea typeface="IBM Plex Sans" pitchFamily="34" charset="-122"/>
                <a:cs typeface="IBM Plex Sans" pitchFamily="34" charset="-120"/>
              </a:rPr>
              <a:t>66</a:t>
            </a:r>
            <a:endParaRPr lang="en-US" sz="840" dirty="0"/>
          </a:p>
        </p:txBody>
      </p:sp>
      <p:sp>
        <p:nvSpPr>
          <p:cNvPr id="44" name="Text 42"/>
          <p:cNvSpPr/>
          <p:nvPr/>
        </p:nvSpPr>
        <p:spPr>
          <a:xfrm>
            <a:off x="612000" y="8604000"/>
            <a:ext cx="6120000" cy="180000"/>
          </a:xfrm>
          <a:prstGeom prst="rect">
            <a:avLst/>
          </a:prstGeom>
          <a:noFill/>
          <a:ln/>
        </p:spPr>
        <p:txBody>
          <a:bodyPr wrap="square" lIns="0" tIns="0" rIns="0" bIns="0" rtlCol="0" anchor="ctr"/>
          <a:lstStyle/>
          <a:p>
            <a:pPr indent="0" marL="0">
              <a:buNone/>
            </a:pPr>
            <a:r>
              <a:rPr lang="en-US" sz="800" dirty="0">
                <a:solidFill>
                  <a:srgbClr val="46606E"/>
                </a:solidFill>
                <a:latin typeface="Spectral" pitchFamily="34" charset="0"/>
                <a:ea typeface="Spectral" pitchFamily="34" charset="-122"/>
                <a:cs typeface="Spectral" pitchFamily="34" charset="-120"/>
              </a:rPr>
              <a:t>Le chiffre avant la page est le nombre de références au tarif.</a:t>
            </a:r>
            <a:endParaRPr lang="en-US" sz="800" dirty="0"/>
          </a:p>
        </p:txBody>
      </p:sp>
      <p:sp>
        <p:nvSpPr>
          <p:cNvPr id="45" name="Text 43"/>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71</a:t>
            </a:r>
            <a:endParaRPr lang="en-US" sz="750" dirty="0"/>
          </a:p>
        </p:txBody>
      </p:sp>
      <p:sp>
        <p:nvSpPr>
          <p:cNvPr id="46" name="Text 44"/>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F2EADA"/>
        </a:solidFill>
      </p:bgPr>
    </p:bg>
    <p:spTree>
      <p:nvGrpSpPr>
        <p:cNvPr id="1" name=""/>
        <p:cNvGrpSpPr/>
        <p:nvPr/>
      </p:nvGrpSpPr>
      <p:grpSpPr>
        <a:xfrm>
          <a:off x="0" y="0"/>
          <a:ext cx="0" cy="0"/>
          <a:chOff x="0" y="0"/>
          <a:chExt cx="0" cy="0"/>
        </a:xfrm>
      </p:grpSpPr>
      <p:pic>
        <p:nvPicPr>
          <p:cNvPr id="2" name="Image 0" descr="/home/user/philippe1/src/images/logo-agence-scio-detoure.png">    </p:cNvPr>
          <p:cNvPicPr>
            <a:picLocks noChangeAspect="1"/>
          </p:cNvPicPr>
          <p:nvPr/>
        </p:nvPicPr>
        <p:blipFill>
          <a:blip r:embed="rId1"/>
          <a:stretch>
            <a:fillRect/>
          </a:stretch>
        </p:blipFill>
        <p:spPr>
          <a:xfrm>
            <a:off x="828000" y="540000"/>
            <a:ext cx="2520000" cy="614097"/>
          </a:xfrm>
          <a:prstGeom prst="rect">
            <a:avLst/>
          </a:prstGeom>
        </p:spPr>
      </p:pic>
      <p:sp>
        <p:nvSpPr>
          <p:cNvPr id="3" name="Text 0"/>
          <p:cNvSpPr/>
          <p:nvPr/>
        </p:nvSpPr>
        <p:spPr>
          <a:xfrm>
            <a:off x="828000" y="1548000"/>
            <a:ext cx="180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LAURENT</a:t>
            </a:r>
            <a:endParaRPr lang="en-US" sz="800" dirty="0"/>
          </a:p>
        </p:txBody>
      </p:sp>
      <p:sp>
        <p:nvSpPr>
          <p:cNvPr id="4" name="Text 1"/>
          <p:cNvSpPr/>
          <p:nvPr/>
        </p:nvSpPr>
        <p:spPr>
          <a:xfrm>
            <a:off x="828000" y="1728000"/>
            <a:ext cx="1800000" cy="324000"/>
          </a:xfrm>
          <a:prstGeom prst="rect">
            <a:avLst/>
          </a:prstGeom>
          <a:noFill/>
          <a:ln/>
        </p:spPr>
        <p:txBody>
          <a:bodyPr wrap="square" lIns="0" tIns="0" rIns="0" bIns="0" rtlCol="0" anchor="ctr"/>
          <a:lstStyle/>
          <a:p>
            <a:pPr indent="0" marL="0">
              <a:buNone/>
            </a:pPr>
            <a:r>
              <a:rPr lang="en-US" sz="1700" dirty="0">
                <a:solidFill>
                  <a:srgbClr val="67067C"/>
                </a:solidFill>
                <a:latin typeface="Young Serif" pitchFamily="34" charset="0"/>
                <a:ea typeface="Young Serif" pitchFamily="34" charset="-122"/>
                <a:cs typeface="Young Serif" pitchFamily="34" charset="-120"/>
              </a:rPr>
              <a:t>06 80 88 07 55</a:t>
            </a:r>
            <a:endParaRPr lang="en-US" sz="1700" dirty="0"/>
          </a:p>
        </p:txBody>
      </p:sp>
      <p:sp>
        <p:nvSpPr>
          <p:cNvPr id="5" name="Text 2"/>
          <p:cNvSpPr/>
          <p:nvPr/>
        </p:nvSpPr>
        <p:spPr>
          <a:xfrm>
            <a:off x="2808000" y="1548000"/>
            <a:ext cx="180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CARLINE</a:t>
            </a:r>
            <a:endParaRPr lang="en-US" sz="800" dirty="0"/>
          </a:p>
        </p:txBody>
      </p:sp>
      <p:sp>
        <p:nvSpPr>
          <p:cNvPr id="6" name="Text 3"/>
          <p:cNvSpPr/>
          <p:nvPr/>
        </p:nvSpPr>
        <p:spPr>
          <a:xfrm>
            <a:off x="2808000" y="1728000"/>
            <a:ext cx="1800000" cy="324000"/>
          </a:xfrm>
          <a:prstGeom prst="rect">
            <a:avLst/>
          </a:prstGeom>
          <a:noFill/>
          <a:ln/>
        </p:spPr>
        <p:txBody>
          <a:bodyPr wrap="square" lIns="0" tIns="0" rIns="0" bIns="0" rtlCol="0" anchor="ctr"/>
          <a:lstStyle/>
          <a:p>
            <a:pPr indent="0" marL="0">
              <a:buNone/>
            </a:pPr>
            <a:r>
              <a:rPr lang="en-US" sz="1700" dirty="0">
                <a:solidFill>
                  <a:srgbClr val="67067C"/>
                </a:solidFill>
                <a:latin typeface="Young Serif" pitchFamily="34" charset="0"/>
                <a:ea typeface="Young Serif" pitchFamily="34" charset="-122"/>
                <a:cs typeface="Young Serif" pitchFamily="34" charset="-120"/>
              </a:rPr>
              <a:t>06 49 19 16 75</a:t>
            </a:r>
            <a:endParaRPr lang="en-US" sz="1700" dirty="0"/>
          </a:p>
        </p:txBody>
      </p:sp>
      <p:sp>
        <p:nvSpPr>
          <p:cNvPr id="7" name="Text 4"/>
          <p:cNvSpPr/>
          <p:nvPr/>
        </p:nvSpPr>
        <p:spPr>
          <a:xfrm>
            <a:off x="828000" y="2196000"/>
            <a:ext cx="4680000" cy="504000"/>
          </a:xfrm>
          <a:prstGeom prst="rect">
            <a:avLst/>
          </a:prstGeom>
          <a:noFill/>
          <a:ln/>
        </p:spPr>
        <p:txBody>
          <a:bodyPr wrap="square" lIns="0" tIns="0" rIns="0" bIns="0" rtlCol="0" anchor="ctr"/>
          <a:lstStyle/>
          <a:p>
            <a:pPr indent="0" marL="0">
              <a:lnSpc>
                <a:spcPct val="150000"/>
              </a:lnSpc>
              <a:buNone/>
            </a:pPr>
            <a:r>
              <a:rPr lang="en-US" sz="1000" dirty="0">
                <a:solidFill>
                  <a:srgbClr val="46606E"/>
                </a:solidFill>
                <a:latin typeface="Spectral" pitchFamily="34" charset="0"/>
                <a:ea typeface="Spectral" pitchFamily="34" charset="-122"/>
                <a:cs typeface="Spectral" pitchFamily="34" charset="-120"/>
              </a:rPr>
              <a:t>71 avenue de la Libération — 44400 Rezé</a:t>
            </a:r>
            <a:endParaRPr lang="en-US" sz="1000" dirty="0"/>
          </a:p>
          <a:p>
            <a:pPr indent="0" marL="0">
              <a:lnSpc>
                <a:spcPct val="150000"/>
              </a:lnSpc>
              <a:buNone/>
            </a:pPr>
            <a:r>
              <a:rPr lang="en-US" sz="1000" dirty="0">
                <a:solidFill>
                  <a:srgbClr val="46606E"/>
                </a:solidFill>
                <a:latin typeface="Spectral" pitchFamily="34" charset="0"/>
                <a:ea typeface="Spectral" pitchFamily="34" charset="-122"/>
                <a:cs typeface="Spectral" pitchFamily="34" charset="-120"/>
              </a:rPr>
              <a:t>contact@agencescio.com · www.agencescio.com</a:t>
            </a:r>
            <a:endParaRPr lang="en-US" sz="1000" dirty="0"/>
          </a:p>
        </p:txBody>
      </p:sp>
      <p:pic>
        <p:nvPicPr>
          <p:cNvPr id="8" name="Image 1" descr="/home/user/philippe1/build/deco-catalogue-scio-2026/coupe-nue.png">    </p:cNvPr>
          <p:cNvPicPr>
            <a:picLocks noChangeAspect="1"/>
          </p:cNvPicPr>
          <p:nvPr/>
        </p:nvPicPr>
        <p:blipFill>
          <a:blip r:embed="rId2"/>
          <a:stretch>
            <a:fillRect/>
          </a:stretch>
        </p:blipFill>
        <p:spPr>
          <a:xfrm>
            <a:off x="828000" y="2916000"/>
            <a:ext cx="6120000" cy="1460455"/>
          </a:xfrm>
          <a:prstGeom prst="rect">
            <a:avLst/>
          </a:prstGeom>
        </p:spPr>
      </p:pic>
      <p:sp>
        <p:nvSpPr>
          <p:cNvPr id="9" name="Shape 5"/>
          <p:cNvSpPr/>
          <p:nvPr/>
        </p:nvSpPr>
        <p:spPr>
          <a:xfrm>
            <a:off x="828000" y="4788000"/>
            <a:ext cx="6120000" cy="0"/>
          </a:xfrm>
          <a:prstGeom prst="line">
            <a:avLst/>
          </a:prstGeom>
          <a:noFill/>
          <a:ln w="10160">
            <a:solidFill>
              <a:srgbClr val="67067C"/>
            </a:solidFill>
            <a:prstDash val="solid"/>
          </a:ln>
        </p:spPr>
      </p:sp>
      <p:sp>
        <p:nvSpPr>
          <p:cNvPr id="10" name="Text 6"/>
          <p:cNvSpPr/>
          <p:nvPr/>
        </p:nvSpPr>
        <p:spPr>
          <a:xfrm>
            <a:off x="828000" y="4932000"/>
            <a:ext cx="1860000" cy="180000"/>
          </a:xfrm>
          <a:prstGeom prst="rect">
            <a:avLst/>
          </a:prstGeom>
          <a:noFill/>
          <a:ln/>
        </p:spPr>
        <p:txBody>
          <a:bodyPr wrap="square" lIns="0" tIns="0" rIns="0" bIns="0" rtlCol="0" anchor="ctr"/>
          <a:lstStyle/>
          <a:p>
            <a:pPr indent="0" marL="0">
              <a:buNone/>
            </a:pPr>
            <a:r>
              <a:rPr lang="en-US" sz="760" b="1" spc="30" kern="0" dirty="0">
                <a:solidFill>
                  <a:srgbClr val="A8515F"/>
                </a:solidFill>
                <a:latin typeface="IBM Plex Sans" pitchFamily="34" charset="0"/>
                <a:ea typeface="IBM Plex Sans" pitchFamily="34" charset="-122"/>
                <a:cs typeface="IBM Plex Sans" pitchFamily="34" charset="-120"/>
              </a:rPr>
              <a:t>LEXIQUE</a:t>
            </a:r>
            <a:endParaRPr lang="en-US" sz="760" dirty="0"/>
          </a:p>
        </p:txBody>
      </p:sp>
      <p:sp>
        <p:nvSpPr>
          <p:cNvPr id="11" name="Text 7"/>
          <p:cNvSpPr/>
          <p:nvPr/>
        </p:nvSpPr>
        <p:spPr>
          <a:xfrm>
            <a:off x="828000" y="5148000"/>
            <a:ext cx="1860000" cy="1728000"/>
          </a:xfrm>
          <a:prstGeom prst="rect">
            <a:avLst/>
          </a:prstGeom>
          <a:noFill/>
          <a:ln/>
        </p:spPr>
        <p:txBody>
          <a:bodyPr wrap="square" lIns="0" tIns="0" rIns="0" bIns="0" rtlCol="0" anchor="ctr"/>
          <a:lstStyle/>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AOP — Appellation d’Origine Protégée</a:t>
            </a:r>
            <a:endParaRPr lang="en-US" sz="780" dirty="0"/>
          </a:p>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IGP — Indication Géographique Protégée</a:t>
            </a:r>
            <a:endParaRPr lang="en-US" sz="780" dirty="0"/>
          </a:p>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VDF — Vin de France</a:t>
            </a:r>
            <a:endParaRPr lang="en-US" sz="780" dirty="0"/>
          </a:p>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HVE — Haute Valeur Environnementale</a:t>
            </a:r>
            <a:endParaRPr lang="en-US" sz="780" dirty="0"/>
          </a:p>
        </p:txBody>
      </p:sp>
      <p:sp>
        <p:nvSpPr>
          <p:cNvPr id="12" name="Text 8"/>
          <p:cNvSpPr/>
          <p:nvPr/>
        </p:nvSpPr>
        <p:spPr>
          <a:xfrm>
            <a:off x="2868000" y="4932000"/>
            <a:ext cx="1860000" cy="180000"/>
          </a:xfrm>
          <a:prstGeom prst="rect">
            <a:avLst/>
          </a:prstGeom>
          <a:noFill/>
          <a:ln/>
        </p:spPr>
        <p:txBody>
          <a:bodyPr wrap="square" lIns="0" tIns="0" rIns="0" bIns="0" rtlCol="0" anchor="ctr"/>
          <a:lstStyle/>
          <a:p>
            <a:pPr indent="0" marL="0">
              <a:buNone/>
            </a:pPr>
            <a:r>
              <a:rPr lang="en-US" sz="760" b="1" spc="30" kern="0" dirty="0">
                <a:solidFill>
                  <a:srgbClr val="A8515F"/>
                </a:solidFill>
                <a:latin typeface="IBM Plex Sans" pitchFamily="34" charset="0"/>
                <a:ea typeface="IBM Plex Sans" pitchFamily="34" charset="-122"/>
                <a:cs typeface="IBM Plex Sans" pitchFamily="34" charset="-120"/>
              </a:rPr>
              <a:t>MENTIONS LÉGALES</a:t>
            </a:r>
            <a:endParaRPr lang="en-US" sz="760" dirty="0"/>
          </a:p>
        </p:txBody>
      </p:sp>
      <p:sp>
        <p:nvSpPr>
          <p:cNvPr id="13" name="Text 9"/>
          <p:cNvSpPr/>
          <p:nvPr/>
        </p:nvSpPr>
        <p:spPr>
          <a:xfrm>
            <a:off x="2868000" y="5148000"/>
            <a:ext cx="1860000" cy="1728000"/>
          </a:xfrm>
          <a:prstGeom prst="rect">
            <a:avLst/>
          </a:prstGeom>
          <a:noFill/>
          <a:ln/>
        </p:spPr>
        <p:txBody>
          <a:bodyPr wrap="square" lIns="0" tIns="0" rIns="0" bIns="0" rtlCol="0" anchor="ctr"/>
          <a:lstStyle/>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Photos non contractuelles, suggestions de présentation. Dans la limite des stocks disponibles. Les Millésimes peuvent évoluer en fonction de l’avancé de l’année. Sauf erreurs typographiques. Prix H.T. Agence SCIO Vins et spirits 843 151 663 RCS Nantes. Crédits photos : viticulteurs et Adobe Stock. NE PAS JETER SUR LA VOIE PUBLIQUE.</a:t>
            </a:r>
            <a:endParaRPr lang="en-US" sz="780" dirty="0"/>
          </a:p>
        </p:txBody>
      </p:sp>
      <p:sp>
        <p:nvSpPr>
          <p:cNvPr id="14" name="Text 10"/>
          <p:cNvSpPr/>
          <p:nvPr/>
        </p:nvSpPr>
        <p:spPr>
          <a:xfrm>
            <a:off x="4908000" y="4932000"/>
            <a:ext cx="1860000" cy="180000"/>
          </a:xfrm>
          <a:prstGeom prst="rect">
            <a:avLst/>
          </a:prstGeom>
          <a:noFill/>
          <a:ln/>
        </p:spPr>
        <p:txBody>
          <a:bodyPr wrap="square" lIns="0" tIns="0" rIns="0" bIns="0" rtlCol="0" anchor="ctr"/>
          <a:lstStyle/>
          <a:p>
            <a:pPr indent="0" marL="0">
              <a:buNone/>
            </a:pPr>
            <a:r>
              <a:rPr lang="en-US" sz="760" b="1" spc="30" kern="0" dirty="0">
                <a:solidFill>
                  <a:srgbClr val="A8515F"/>
                </a:solidFill>
                <a:latin typeface="IBM Plex Sans" pitchFamily="34" charset="0"/>
                <a:ea typeface="IBM Plex Sans" pitchFamily="34" charset="-122"/>
                <a:cs typeface="IBM Plex Sans" pitchFamily="34" charset="-120"/>
              </a:rPr>
              <a:t>CRÉDITS</a:t>
            </a:r>
            <a:endParaRPr lang="en-US" sz="760" dirty="0"/>
          </a:p>
        </p:txBody>
      </p:sp>
      <p:sp>
        <p:nvSpPr>
          <p:cNvPr id="15" name="Text 11"/>
          <p:cNvSpPr/>
          <p:nvPr/>
        </p:nvSpPr>
        <p:spPr>
          <a:xfrm>
            <a:off x="4908000" y="5148000"/>
            <a:ext cx="1860000" cy="1728000"/>
          </a:xfrm>
          <a:prstGeom prst="rect">
            <a:avLst/>
          </a:prstGeom>
          <a:noFill/>
          <a:ln/>
        </p:spPr>
        <p:txBody>
          <a:bodyPr wrap="square" lIns="0" tIns="0" rIns="0" bIns="0" rtlCol="0" anchor="ctr"/>
          <a:lstStyle/>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Conception, maquette et illustrations : Agence SCIO. Les pictogrammes de ce catalogue sont les nôtres ; ils ne reproduisent aucun logo officiel d'organisme certificateur. Les photographies des fiches viennent de les sites officiels des domaines et de la photothèque de l'agence ; elles sont créditées une à une dans credits.md.</a:t>
            </a:r>
            <a:endParaRPr lang="en-US" sz="780" dirty="0"/>
          </a:p>
        </p:txBody>
      </p:sp>
      <p:sp>
        <p:nvSpPr>
          <p:cNvPr id="16" name="Shape 12"/>
          <p:cNvSpPr/>
          <p:nvPr/>
        </p:nvSpPr>
        <p:spPr>
          <a:xfrm>
            <a:off x="828000" y="8388000"/>
            <a:ext cx="6120000" cy="360000"/>
          </a:xfrm>
          <a:prstGeom prst="roundRect">
            <a:avLst>
              <a:gd name="adj" fmla="val 5080"/>
            </a:avLst>
          </a:prstGeom>
          <a:solidFill>
            <a:srgbClr val="67067C"/>
          </a:solidFill>
          <a:ln w="12700">
            <a:solidFill>
              <a:srgbClr val="67067C"/>
            </a:solidFill>
            <a:prstDash val="solid"/>
          </a:ln>
        </p:spPr>
      </p:sp>
      <p:sp>
        <p:nvSpPr>
          <p:cNvPr id="17" name="Text 13"/>
          <p:cNvSpPr/>
          <p:nvPr/>
        </p:nvSpPr>
        <p:spPr>
          <a:xfrm>
            <a:off x="828000" y="8388000"/>
            <a:ext cx="6120000" cy="360000"/>
          </a:xfrm>
          <a:prstGeom prst="rect">
            <a:avLst/>
          </a:prstGeom>
          <a:noFill/>
          <a:ln/>
        </p:spPr>
        <p:txBody>
          <a:bodyPr wrap="square" lIns="0" tIns="0" rIns="0" bIns="0" rtlCol="0" anchor="ctr"/>
          <a:lstStyle/>
          <a:p>
            <a:pPr algn="ctr" indent="0" marL="0">
              <a:buNone/>
            </a:pPr>
            <a:r>
              <a:rPr lang="en-US" sz="850" b="1" dirty="0">
                <a:solidFill>
                  <a:srgbClr val="FBF8F1"/>
                </a:solidFill>
                <a:latin typeface="IBM Plex Sans" pitchFamily="34" charset="0"/>
                <a:ea typeface="IBM Plex Sans" pitchFamily="34" charset="-122"/>
                <a:cs typeface="IBM Plex Sans" pitchFamily="34" charset="-120"/>
              </a:rPr>
              <a:t>L’ABUS D’ALCOOL EST DANGEREUX POUR LA SANTÉ. À CONSOMMER AVEC MODÉRATION.</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72</Slides>
  <Notes>72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72</vt:i4>
      </vt:variant>
    </vt:vector>
  </HeadingPairs>
  <TitlesOfParts>
    <vt:vector size="7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Sous nos pieds — Tarifs cavistes Vendée (85) 2026</dc:title>
  <dc:subject>PptxGenJS Presentation</dc:subject>
  <dc:creator>Agence SCIO Vins &amp; Spirits</dc:creator>
  <cp:lastModifiedBy>Agence SCIO Vins &amp; Spirits</cp:lastModifiedBy>
  <cp:revision>1</cp:revision>
  <dcterms:created xsi:type="dcterms:W3CDTF">2026-10-02T12:22:58Z</dcterms:created>
  <dcterms:modified xsi:type="dcterms:W3CDTF">2026-10-02T12:22:58Z</dcterms:modified>
</cp:coreProperties>
</file>