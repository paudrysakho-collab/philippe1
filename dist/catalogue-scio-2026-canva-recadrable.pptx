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jp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jp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jp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jp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jp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jp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jp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jp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jp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jp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jp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jp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jp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jpg"/><Relationship Id="rId4" Type="http://schemas.openxmlformats.org/officeDocument/2006/relationships/image" Target="../media/image-43-4.pn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jpg"/><Relationship Id="rId4" Type="http://schemas.openxmlformats.org/officeDocument/2006/relationships/image" Target="../media/image-45-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jp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67067C"/>
                </a:solidFill>
                <a:latin typeface="Young Serif" pitchFamily="34" charset="0"/>
                <a:ea typeface="Young Serif" pitchFamily="34" charset="-122"/>
                <a:cs typeface="Young Serif" pitchFamily="34" charset="-120"/>
              </a:rPr>
              <a:t>pieds</a:t>
            </a:r>
            <a:endParaRPr lang="en-US" sz="4600" dirty="0"/>
          </a:p>
        </p:txBody>
      </p:sp>
      <p:sp>
        <p:nvSpPr>
          <p:cNvPr id="5" name="Text 1"/>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Text 2"/>
          <p:cNvSpPr/>
          <p:nvPr/>
        </p:nvSpPr>
        <p:spPr>
          <a:xfrm>
            <a:off x="4068000" y="612000"/>
            <a:ext cx="2880000" cy="180000"/>
          </a:xfrm>
          <a:prstGeom prst="rect">
            <a:avLst/>
          </a:prstGeom>
          <a:noFill/>
          <a:ln/>
        </p:spPr>
        <p:txBody>
          <a:bodyPr wrap="square" lIns="0" tIns="0" rIns="0" bIns="0" rtlCol="0" anchor="ctr"/>
          <a:lstStyle/>
          <a:p>
            <a:pPr algn="r" indent="0" marL="0">
              <a:buNone/>
            </a:pPr>
            <a:r>
              <a:rPr lang="en-US" sz="900" b="1" spc="30" kern="0" dirty="0">
                <a:solidFill>
                  <a:srgbClr val="46606E"/>
                </a:solidFill>
                <a:latin typeface="IBM Plex Sans" pitchFamily="34" charset="0"/>
                <a:ea typeface="IBM Plex Sans" pitchFamily="34" charset="-122"/>
                <a:cs typeface="IBM Plex Sans" pitchFamily="34" charset="-120"/>
              </a:rPr>
              <a:t>TARIFS CAVISTES VENDÉE (85)</a:t>
            </a:r>
            <a:endParaRPr lang="en-US" sz="900" dirty="0"/>
          </a:p>
        </p:txBody>
      </p:sp>
      <p:sp>
        <p:nvSpPr>
          <p:cNvPr id="7" name="Text 3"/>
          <p:cNvSpPr/>
          <p:nvPr/>
        </p:nvSpPr>
        <p:spPr>
          <a:xfrm>
            <a:off x="4788000" y="810000"/>
            <a:ext cx="2160000" cy="468000"/>
          </a:xfrm>
          <a:prstGeom prst="rect">
            <a:avLst/>
          </a:prstGeom>
          <a:noFill/>
          <a:ln/>
        </p:spPr>
        <p:txBody>
          <a:bodyPr wrap="square" lIns="0" tIns="0" rIns="0" bIns="0" rtlCol="0" anchor="t"/>
          <a:lstStyle/>
          <a:p>
            <a:pPr algn="r" indent="0" marL="0">
              <a:buNone/>
            </a:pPr>
            <a:r>
              <a:rPr lang="en-US" sz="3400" dirty="0">
                <a:solidFill>
                  <a:srgbClr val="67067C"/>
                </a:solidFill>
                <a:latin typeface="Young Serif" pitchFamily="34" charset="0"/>
                <a:ea typeface="Young Serif" pitchFamily="34" charset="-122"/>
                <a:cs typeface="Young Serif" pitchFamily="34" charset="-120"/>
              </a:rPr>
              <a:t>2026</a:t>
            </a:r>
            <a:endParaRPr lang="en-US" sz="3400" dirty="0"/>
          </a:p>
        </p:txBody>
      </p:sp>
      <p:sp>
        <p:nvSpPr>
          <p:cNvPr id="8" name="Text 4"/>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28000"/>
              </a:lnSpc>
              <a:buNone/>
            </a:pPr>
            <a:r>
              <a:rPr lang="en-US" sz="1600" dirty="0">
                <a:solidFill>
                  <a:srgbClr val="46606E"/>
                </a:solidFill>
                <a:latin typeface="Young Serif" pitchFamily="34" charset="0"/>
                <a:ea typeface="Young Serif" pitchFamily="34" charset="-122"/>
                <a:cs typeface="Young Serif" pitchFamily="34" charset="-120"/>
              </a:rPr>
              <a:t>L'Agence SCIO, c'est </a:t>
            </a:r>
            <a:r>
              <a:rPr lang="en-US" sz="1600" dirty="0">
                <a:solidFill>
                  <a:srgbClr val="67067C"/>
                </a:solidFill>
                <a:latin typeface="Young Serif" pitchFamily="34" charset="0"/>
                <a:ea typeface="Young Serif" pitchFamily="34" charset="-122"/>
                <a:cs typeface="Young Serif" pitchFamily="34" charset="-120"/>
              </a:rPr>
              <a:t>partager notre savoir et notre passion</a:t>
            </a:r>
            <a:r>
              <a:rPr lang="en-US" sz="16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6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9" name="Image 1" descr="/home/user/philippe1/build/deco-catalogue-scio-2026/coupe-nue.png">    </p:cNvPr>
          <p:cNvPicPr>
            <a:picLocks noChangeAspect="1"/>
          </p:cNvPicPr>
          <p:nvPr/>
        </p:nvPicPr>
        <p:blipFill>
          <a:blip r:embed="rId2"/>
          <a:stretch>
            <a:fillRect/>
          </a:stretch>
        </p:blipFill>
        <p:spPr>
          <a:xfrm>
            <a:off x="828000" y="4860000"/>
            <a:ext cx="6120000" cy="1460455"/>
          </a:xfrm>
          <a:prstGeom prst="rect">
            <a:avLst/>
          </a:prstGeom>
        </p:spPr>
      </p:pic>
      <p:sp>
        <p:nvSpPr>
          <p:cNvPr id="10" name="Shape 6"/>
          <p:cNvSpPr/>
          <p:nvPr/>
        </p:nvSpPr>
        <p:spPr>
          <a:xfrm>
            <a:off x="828000" y="6732000"/>
            <a:ext cx="6120000" cy="0"/>
          </a:xfrm>
          <a:prstGeom prst="line">
            <a:avLst/>
          </a:prstGeom>
          <a:noFill/>
          <a:ln w="10160">
            <a:solidFill>
              <a:srgbClr val="67067C"/>
            </a:solidFill>
            <a:prstDash val="solid"/>
          </a:ln>
        </p:spPr>
      </p:sp>
      <p:sp>
        <p:nvSpPr>
          <p:cNvPr id="11" name="Text 7"/>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2" name="Text 8"/>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3" name="Text 9"/>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4" name="Text 10"/>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5" name="Text 11"/>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6" name="Text 12"/>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7"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8"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t"/>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Shape 1"/>
          <p:cNvSpPr/>
          <p:nvPr/>
        </p:nvSpPr>
        <p:spPr>
          <a:xfrm>
            <a:off x="612000" y="1141200"/>
            <a:ext cx="115200" cy="115200"/>
          </a:xfrm>
          <a:prstGeom prst="rect">
            <a:avLst/>
          </a:prstGeom>
          <a:solidFill>
            <a:srgbClr val="46606E"/>
          </a:solidFill>
          <a:ln w="7620">
            <a:solidFill>
              <a:srgbClr val="46606E"/>
            </a:solidFill>
            <a:prstDash val="solid"/>
          </a:ln>
        </p:spPr>
      </p:sp>
      <p:sp>
        <p:nvSpPr>
          <p:cNvPr id="4" name="Text 2"/>
          <p:cNvSpPr/>
          <p:nvPr/>
        </p:nvSpPr>
        <p:spPr>
          <a:xfrm>
            <a:off x="806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5" name="Shape 3"/>
          <p:cNvSpPr/>
          <p:nvPr/>
        </p:nvSpPr>
        <p:spPr>
          <a:xfrm>
            <a:off x="612000" y="1335600"/>
            <a:ext cx="2952000" cy="0"/>
          </a:xfrm>
          <a:prstGeom prst="line">
            <a:avLst/>
          </a:prstGeom>
          <a:noFill/>
          <a:ln w="11430">
            <a:solidFill>
              <a:srgbClr val="67067C"/>
            </a:solidFill>
            <a:prstDash val="solid"/>
          </a:ln>
        </p:spPr>
      </p:sp>
      <p:sp>
        <p:nvSpPr>
          <p:cNvPr id="6" name="Text 4"/>
          <p:cNvSpPr/>
          <p:nvPr/>
        </p:nvSpPr>
        <p:spPr>
          <a:xfrm>
            <a:off x="612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7" name="Text 5"/>
          <p:cNvSpPr/>
          <p:nvPr/>
        </p:nvSpPr>
        <p:spPr>
          <a:xfrm>
            <a:off x="918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8" name="Text 6"/>
          <p:cNvSpPr/>
          <p:nvPr/>
        </p:nvSpPr>
        <p:spPr>
          <a:xfrm>
            <a:off x="3204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a:t>
            </a:r>
            <a:endParaRPr lang="en-US" sz="900" dirty="0"/>
          </a:p>
        </p:txBody>
      </p:sp>
      <p:sp>
        <p:nvSpPr>
          <p:cNvPr id="9" name="Shape 7"/>
          <p:cNvSpPr/>
          <p:nvPr/>
        </p:nvSpPr>
        <p:spPr>
          <a:xfrm>
            <a:off x="612000" y="1587600"/>
            <a:ext cx="2952000" cy="0"/>
          </a:xfrm>
          <a:prstGeom prst="line">
            <a:avLst/>
          </a:prstGeom>
          <a:noFill/>
          <a:ln w="3810">
            <a:solidFill>
              <a:srgbClr val="C9CFC9"/>
            </a:solidFill>
            <a:prstDash val="solid"/>
          </a:ln>
        </p:spPr>
      </p:sp>
      <p:sp>
        <p:nvSpPr>
          <p:cNvPr id="10" name="Text 8"/>
          <p:cNvSpPr/>
          <p:nvPr/>
        </p:nvSpPr>
        <p:spPr>
          <a:xfrm>
            <a:off x="612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1" name="Text 9"/>
          <p:cNvSpPr/>
          <p:nvPr/>
        </p:nvSpPr>
        <p:spPr>
          <a:xfrm>
            <a:off x="918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2" name="Text 10"/>
          <p:cNvSpPr/>
          <p:nvPr/>
        </p:nvSpPr>
        <p:spPr>
          <a:xfrm>
            <a:off x="3204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3" name="Shape 11"/>
          <p:cNvSpPr/>
          <p:nvPr/>
        </p:nvSpPr>
        <p:spPr>
          <a:xfrm>
            <a:off x="612000" y="1789200"/>
            <a:ext cx="2952000" cy="0"/>
          </a:xfrm>
          <a:prstGeom prst="line">
            <a:avLst/>
          </a:prstGeom>
          <a:noFill/>
          <a:ln w="3810">
            <a:solidFill>
              <a:srgbClr val="C9CFC9"/>
            </a:solidFill>
            <a:prstDash val="solid"/>
          </a:ln>
        </p:spPr>
      </p:sp>
      <p:sp>
        <p:nvSpPr>
          <p:cNvPr id="14" name="Text 12"/>
          <p:cNvSpPr/>
          <p:nvPr/>
        </p:nvSpPr>
        <p:spPr>
          <a:xfrm>
            <a:off x="612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5" name="Text 13"/>
          <p:cNvSpPr/>
          <p:nvPr/>
        </p:nvSpPr>
        <p:spPr>
          <a:xfrm>
            <a:off x="918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6" name="Text 14"/>
          <p:cNvSpPr/>
          <p:nvPr/>
        </p:nvSpPr>
        <p:spPr>
          <a:xfrm>
            <a:off x="3204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7" name="Shape 15"/>
          <p:cNvSpPr/>
          <p:nvPr/>
        </p:nvSpPr>
        <p:spPr>
          <a:xfrm>
            <a:off x="612000" y="1990800"/>
            <a:ext cx="2952000" cy="0"/>
          </a:xfrm>
          <a:prstGeom prst="line">
            <a:avLst/>
          </a:prstGeom>
          <a:noFill/>
          <a:ln w="3810">
            <a:solidFill>
              <a:srgbClr val="C9CFC9"/>
            </a:solidFill>
            <a:prstDash val="solid"/>
          </a:ln>
        </p:spPr>
      </p:sp>
      <p:sp>
        <p:nvSpPr>
          <p:cNvPr id="18" name="Text 16"/>
          <p:cNvSpPr/>
          <p:nvPr/>
        </p:nvSpPr>
        <p:spPr>
          <a:xfrm>
            <a:off x="612000" y="199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9" name="Text 17"/>
          <p:cNvSpPr/>
          <p:nvPr/>
        </p:nvSpPr>
        <p:spPr>
          <a:xfrm>
            <a:off x="918000" y="199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0" name="Text 18"/>
          <p:cNvSpPr/>
          <p:nvPr/>
        </p:nvSpPr>
        <p:spPr>
          <a:xfrm>
            <a:off x="3204000" y="199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21" name="Shape 19"/>
          <p:cNvSpPr/>
          <p:nvPr/>
        </p:nvSpPr>
        <p:spPr>
          <a:xfrm>
            <a:off x="612000" y="2192400"/>
            <a:ext cx="2952000" cy="0"/>
          </a:xfrm>
          <a:prstGeom prst="line">
            <a:avLst/>
          </a:prstGeom>
          <a:noFill/>
          <a:ln w="3810">
            <a:solidFill>
              <a:srgbClr val="C9CFC9"/>
            </a:solidFill>
            <a:prstDash val="solid"/>
          </a:ln>
        </p:spPr>
      </p:sp>
      <p:sp>
        <p:nvSpPr>
          <p:cNvPr id="22" name="Text 20"/>
          <p:cNvSpPr/>
          <p:nvPr/>
        </p:nvSpPr>
        <p:spPr>
          <a:xfrm>
            <a:off x="612000" y="219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23" name="Text 21"/>
          <p:cNvSpPr/>
          <p:nvPr/>
        </p:nvSpPr>
        <p:spPr>
          <a:xfrm>
            <a:off x="918000" y="219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4" name="Text 22"/>
          <p:cNvSpPr/>
          <p:nvPr/>
        </p:nvSpPr>
        <p:spPr>
          <a:xfrm>
            <a:off x="3204000" y="219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5" name="Shape 23"/>
          <p:cNvSpPr/>
          <p:nvPr/>
        </p:nvSpPr>
        <p:spPr>
          <a:xfrm>
            <a:off x="612000" y="2394000"/>
            <a:ext cx="2952000" cy="0"/>
          </a:xfrm>
          <a:prstGeom prst="line">
            <a:avLst/>
          </a:prstGeom>
          <a:noFill/>
          <a:ln w="3810">
            <a:solidFill>
              <a:srgbClr val="C9CFC9"/>
            </a:solidFill>
            <a:prstDash val="solid"/>
          </a:ln>
        </p:spPr>
      </p:sp>
      <p:sp>
        <p:nvSpPr>
          <p:cNvPr id="26" name="Text 24"/>
          <p:cNvSpPr/>
          <p:nvPr/>
        </p:nvSpPr>
        <p:spPr>
          <a:xfrm>
            <a:off x="612000" y="239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27" name="Text 25"/>
          <p:cNvSpPr/>
          <p:nvPr/>
        </p:nvSpPr>
        <p:spPr>
          <a:xfrm>
            <a:off x="918000" y="239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8" name="Text 26"/>
          <p:cNvSpPr/>
          <p:nvPr/>
        </p:nvSpPr>
        <p:spPr>
          <a:xfrm>
            <a:off x="3204000" y="239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9" name="Shape 27"/>
          <p:cNvSpPr/>
          <p:nvPr/>
        </p:nvSpPr>
        <p:spPr>
          <a:xfrm>
            <a:off x="612000" y="2595600"/>
            <a:ext cx="2952000" cy="0"/>
          </a:xfrm>
          <a:prstGeom prst="line">
            <a:avLst/>
          </a:prstGeom>
          <a:noFill/>
          <a:ln w="3810">
            <a:solidFill>
              <a:srgbClr val="C9CFC9"/>
            </a:solidFill>
            <a:prstDash val="solid"/>
          </a:ln>
        </p:spPr>
      </p:sp>
      <p:sp>
        <p:nvSpPr>
          <p:cNvPr id="30" name="Text 28"/>
          <p:cNvSpPr/>
          <p:nvPr/>
        </p:nvSpPr>
        <p:spPr>
          <a:xfrm>
            <a:off x="612000" y="259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31" name="Text 29"/>
          <p:cNvSpPr/>
          <p:nvPr/>
        </p:nvSpPr>
        <p:spPr>
          <a:xfrm>
            <a:off x="918000" y="259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Divin No Low</a:t>
            </a:r>
            <a:endParaRPr lang="en-US" sz="1000" dirty="0"/>
          </a:p>
        </p:txBody>
      </p:sp>
      <p:sp>
        <p:nvSpPr>
          <p:cNvPr id="32" name="Text 30"/>
          <p:cNvSpPr/>
          <p:nvPr/>
        </p:nvSpPr>
        <p:spPr>
          <a:xfrm>
            <a:off x="3204000" y="259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3" name="Shape 31"/>
          <p:cNvSpPr/>
          <p:nvPr/>
        </p:nvSpPr>
        <p:spPr>
          <a:xfrm>
            <a:off x="612000" y="2797200"/>
            <a:ext cx="2952000" cy="0"/>
          </a:xfrm>
          <a:prstGeom prst="line">
            <a:avLst/>
          </a:prstGeom>
          <a:noFill/>
          <a:ln w="3810">
            <a:solidFill>
              <a:srgbClr val="C9CFC9"/>
            </a:solidFill>
            <a:prstDash val="solid"/>
          </a:ln>
        </p:spPr>
      </p:sp>
      <p:sp>
        <p:nvSpPr>
          <p:cNvPr id="34" name="Shape 32"/>
          <p:cNvSpPr/>
          <p:nvPr/>
        </p:nvSpPr>
        <p:spPr>
          <a:xfrm>
            <a:off x="612000" y="3027600"/>
            <a:ext cx="115200" cy="115200"/>
          </a:xfrm>
          <a:prstGeom prst="rect">
            <a:avLst/>
          </a:prstGeom>
          <a:solidFill>
            <a:srgbClr val="3C5B47"/>
          </a:solidFill>
          <a:ln w="7620">
            <a:solidFill>
              <a:srgbClr val="3C5B47"/>
            </a:solidFill>
            <a:prstDash val="solid"/>
          </a:ln>
        </p:spPr>
      </p:sp>
      <p:sp>
        <p:nvSpPr>
          <p:cNvPr id="35" name="Text 33"/>
          <p:cNvSpPr/>
          <p:nvPr/>
        </p:nvSpPr>
        <p:spPr>
          <a:xfrm>
            <a:off x="806400" y="2948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6" name="Shape 34"/>
          <p:cNvSpPr/>
          <p:nvPr/>
        </p:nvSpPr>
        <p:spPr>
          <a:xfrm>
            <a:off x="612000" y="3222000"/>
            <a:ext cx="2952000" cy="0"/>
          </a:xfrm>
          <a:prstGeom prst="line">
            <a:avLst/>
          </a:prstGeom>
          <a:noFill/>
          <a:ln w="11430">
            <a:solidFill>
              <a:srgbClr val="67067C"/>
            </a:solidFill>
            <a:prstDash val="solid"/>
          </a:ln>
        </p:spPr>
      </p:sp>
      <p:sp>
        <p:nvSpPr>
          <p:cNvPr id="37" name="Text 35"/>
          <p:cNvSpPr/>
          <p:nvPr/>
        </p:nvSpPr>
        <p:spPr>
          <a:xfrm>
            <a:off x="612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38" name="Text 36"/>
          <p:cNvSpPr/>
          <p:nvPr/>
        </p:nvSpPr>
        <p:spPr>
          <a:xfrm>
            <a:off x="918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9" name="Text 37"/>
          <p:cNvSpPr/>
          <p:nvPr/>
        </p:nvSpPr>
        <p:spPr>
          <a:xfrm>
            <a:off x="3204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40" name="Shape 38"/>
          <p:cNvSpPr/>
          <p:nvPr/>
        </p:nvSpPr>
        <p:spPr>
          <a:xfrm>
            <a:off x="612000" y="3474000"/>
            <a:ext cx="2952000" cy="0"/>
          </a:xfrm>
          <a:prstGeom prst="line">
            <a:avLst/>
          </a:prstGeom>
          <a:noFill/>
          <a:ln w="3810">
            <a:solidFill>
              <a:srgbClr val="C9CFC9"/>
            </a:solidFill>
            <a:prstDash val="solid"/>
          </a:ln>
        </p:spPr>
      </p:sp>
      <p:sp>
        <p:nvSpPr>
          <p:cNvPr id="41" name="Shape 39"/>
          <p:cNvSpPr/>
          <p:nvPr/>
        </p:nvSpPr>
        <p:spPr>
          <a:xfrm>
            <a:off x="612000" y="3704400"/>
            <a:ext cx="115200" cy="115200"/>
          </a:xfrm>
          <a:prstGeom prst="rect">
            <a:avLst/>
          </a:prstGeom>
          <a:solidFill>
            <a:srgbClr val="A8515F"/>
          </a:solidFill>
          <a:ln w="7620">
            <a:solidFill>
              <a:srgbClr val="A8515F"/>
            </a:solidFill>
            <a:prstDash val="solid"/>
          </a:ln>
        </p:spPr>
      </p:sp>
      <p:sp>
        <p:nvSpPr>
          <p:cNvPr id="42" name="Text 40"/>
          <p:cNvSpPr/>
          <p:nvPr/>
        </p:nvSpPr>
        <p:spPr>
          <a:xfrm>
            <a:off x="806400" y="36252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Beaujolais</a:t>
            </a:r>
            <a:endParaRPr lang="en-US" sz="1300" dirty="0"/>
          </a:p>
        </p:txBody>
      </p:sp>
      <p:sp>
        <p:nvSpPr>
          <p:cNvPr id="43" name="Shape 41"/>
          <p:cNvSpPr/>
          <p:nvPr/>
        </p:nvSpPr>
        <p:spPr>
          <a:xfrm>
            <a:off x="612000" y="3898800"/>
            <a:ext cx="2952000" cy="0"/>
          </a:xfrm>
          <a:prstGeom prst="line">
            <a:avLst/>
          </a:prstGeom>
          <a:noFill/>
          <a:ln w="11430">
            <a:solidFill>
              <a:srgbClr val="67067C"/>
            </a:solidFill>
            <a:prstDash val="solid"/>
          </a:ln>
        </p:spPr>
      </p:sp>
      <p:sp>
        <p:nvSpPr>
          <p:cNvPr id="44" name="Text 42"/>
          <p:cNvSpPr/>
          <p:nvPr/>
        </p:nvSpPr>
        <p:spPr>
          <a:xfrm>
            <a:off x="612000" y="394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45" name="Text 43"/>
          <p:cNvSpPr/>
          <p:nvPr/>
        </p:nvSpPr>
        <p:spPr>
          <a:xfrm>
            <a:off x="918000" y="394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Nugues</a:t>
            </a:r>
            <a:endParaRPr lang="en-US" sz="1000" dirty="0"/>
          </a:p>
        </p:txBody>
      </p:sp>
      <p:sp>
        <p:nvSpPr>
          <p:cNvPr id="46" name="Text 44"/>
          <p:cNvSpPr/>
          <p:nvPr/>
        </p:nvSpPr>
        <p:spPr>
          <a:xfrm>
            <a:off x="3204000" y="394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47" name="Shape 45"/>
          <p:cNvSpPr/>
          <p:nvPr/>
        </p:nvSpPr>
        <p:spPr>
          <a:xfrm>
            <a:off x="612000" y="4150800"/>
            <a:ext cx="2952000" cy="0"/>
          </a:xfrm>
          <a:prstGeom prst="line">
            <a:avLst/>
          </a:prstGeom>
          <a:noFill/>
          <a:ln w="3810">
            <a:solidFill>
              <a:srgbClr val="C9CFC9"/>
            </a:solidFill>
            <a:prstDash val="solid"/>
          </a:ln>
        </p:spPr>
      </p:sp>
      <p:sp>
        <p:nvSpPr>
          <p:cNvPr id="48" name="Shape 46"/>
          <p:cNvSpPr/>
          <p:nvPr/>
        </p:nvSpPr>
        <p:spPr>
          <a:xfrm>
            <a:off x="612000" y="4381200"/>
            <a:ext cx="115200" cy="115200"/>
          </a:xfrm>
          <a:prstGeom prst="rect">
            <a:avLst/>
          </a:prstGeom>
          <a:solidFill>
            <a:srgbClr val="D08C3C"/>
          </a:solidFill>
          <a:ln w="7620">
            <a:solidFill>
              <a:srgbClr val="D08C3C"/>
            </a:solidFill>
            <a:prstDash val="solid"/>
          </a:ln>
        </p:spPr>
      </p:sp>
      <p:sp>
        <p:nvSpPr>
          <p:cNvPr id="49" name="Text 47"/>
          <p:cNvSpPr/>
          <p:nvPr/>
        </p:nvSpPr>
        <p:spPr>
          <a:xfrm>
            <a:off x="806400" y="430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50" name="Shape 48"/>
          <p:cNvSpPr/>
          <p:nvPr/>
        </p:nvSpPr>
        <p:spPr>
          <a:xfrm>
            <a:off x="612000" y="4575600"/>
            <a:ext cx="2952000" cy="0"/>
          </a:xfrm>
          <a:prstGeom prst="line">
            <a:avLst/>
          </a:prstGeom>
          <a:noFill/>
          <a:ln w="11430">
            <a:solidFill>
              <a:srgbClr val="67067C"/>
            </a:solidFill>
            <a:prstDash val="solid"/>
          </a:ln>
        </p:spPr>
      </p:sp>
      <p:sp>
        <p:nvSpPr>
          <p:cNvPr id="51" name="Text 49"/>
          <p:cNvSpPr/>
          <p:nvPr/>
        </p:nvSpPr>
        <p:spPr>
          <a:xfrm>
            <a:off x="612000" y="462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52" name="Text 50"/>
          <p:cNvSpPr/>
          <p:nvPr/>
        </p:nvSpPr>
        <p:spPr>
          <a:xfrm>
            <a:off x="918000" y="462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53" name="Text 51"/>
          <p:cNvSpPr/>
          <p:nvPr/>
        </p:nvSpPr>
        <p:spPr>
          <a:xfrm>
            <a:off x="3204000" y="462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13</a:t>
            </a:r>
            <a:endParaRPr lang="en-US" sz="900" dirty="0"/>
          </a:p>
        </p:txBody>
      </p:sp>
      <p:sp>
        <p:nvSpPr>
          <p:cNvPr id="54" name="Shape 52"/>
          <p:cNvSpPr/>
          <p:nvPr/>
        </p:nvSpPr>
        <p:spPr>
          <a:xfrm>
            <a:off x="612000" y="4827600"/>
            <a:ext cx="2952000" cy="0"/>
          </a:xfrm>
          <a:prstGeom prst="line">
            <a:avLst/>
          </a:prstGeom>
          <a:noFill/>
          <a:ln w="3810">
            <a:solidFill>
              <a:srgbClr val="C9CFC9"/>
            </a:solidFill>
            <a:prstDash val="solid"/>
          </a:ln>
        </p:spPr>
      </p:sp>
      <p:sp>
        <p:nvSpPr>
          <p:cNvPr id="55" name="Text 53"/>
          <p:cNvSpPr/>
          <p:nvPr/>
        </p:nvSpPr>
        <p:spPr>
          <a:xfrm>
            <a:off x="612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56" name="Text 54"/>
          <p:cNvSpPr/>
          <p:nvPr/>
        </p:nvSpPr>
        <p:spPr>
          <a:xfrm>
            <a:off x="918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Nadine Ferrand</a:t>
            </a:r>
            <a:endParaRPr lang="en-US" sz="1000" dirty="0"/>
          </a:p>
        </p:txBody>
      </p:sp>
      <p:sp>
        <p:nvSpPr>
          <p:cNvPr id="57" name="Text 55"/>
          <p:cNvSpPr/>
          <p:nvPr/>
        </p:nvSpPr>
        <p:spPr>
          <a:xfrm>
            <a:off x="3204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58" name="Shape 56"/>
          <p:cNvSpPr/>
          <p:nvPr/>
        </p:nvSpPr>
        <p:spPr>
          <a:xfrm>
            <a:off x="612000" y="5029200"/>
            <a:ext cx="2952000" cy="0"/>
          </a:xfrm>
          <a:prstGeom prst="line">
            <a:avLst/>
          </a:prstGeom>
          <a:noFill/>
          <a:ln w="3810">
            <a:solidFill>
              <a:srgbClr val="C9CFC9"/>
            </a:solidFill>
            <a:prstDash val="solid"/>
          </a:ln>
        </p:spPr>
      </p:sp>
      <p:sp>
        <p:nvSpPr>
          <p:cNvPr id="59" name="Text 57"/>
          <p:cNvSpPr/>
          <p:nvPr/>
        </p:nvSpPr>
        <p:spPr>
          <a:xfrm>
            <a:off x="612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60" name="Text 58"/>
          <p:cNvSpPr/>
          <p:nvPr/>
        </p:nvSpPr>
        <p:spPr>
          <a:xfrm>
            <a:off x="918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61" name="Text 59"/>
          <p:cNvSpPr/>
          <p:nvPr/>
        </p:nvSpPr>
        <p:spPr>
          <a:xfrm>
            <a:off x="3204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62" name="Shape 60"/>
          <p:cNvSpPr/>
          <p:nvPr/>
        </p:nvSpPr>
        <p:spPr>
          <a:xfrm>
            <a:off x="612000" y="5230800"/>
            <a:ext cx="2952000" cy="0"/>
          </a:xfrm>
          <a:prstGeom prst="line">
            <a:avLst/>
          </a:prstGeom>
          <a:noFill/>
          <a:ln w="3810">
            <a:solidFill>
              <a:srgbClr val="C9CFC9"/>
            </a:solidFill>
            <a:prstDash val="solid"/>
          </a:ln>
        </p:spPr>
      </p:sp>
      <p:sp>
        <p:nvSpPr>
          <p:cNvPr id="63" name="Text 61"/>
          <p:cNvSpPr/>
          <p:nvPr/>
        </p:nvSpPr>
        <p:spPr>
          <a:xfrm>
            <a:off x="612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64" name="Text 62"/>
          <p:cNvSpPr/>
          <p:nvPr/>
        </p:nvSpPr>
        <p:spPr>
          <a:xfrm>
            <a:off x="918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65" name="Text 63"/>
          <p:cNvSpPr/>
          <p:nvPr/>
        </p:nvSpPr>
        <p:spPr>
          <a:xfrm>
            <a:off x="3204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66" name="Shape 64"/>
          <p:cNvSpPr/>
          <p:nvPr/>
        </p:nvSpPr>
        <p:spPr>
          <a:xfrm>
            <a:off x="612000" y="5432400"/>
            <a:ext cx="2952000" cy="0"/>
          </a:xfrm>
          <a:prstGeom prst="line">
            <a:avLst/>
          </a:prstGeom>
          <a:noFill/>
          <a:ln w="3810">
            <a:solidFill>
              <a:srgbClr val="C9CFC9"/>
            </a:solidFill>
            <a:prstDash val="solid"/>
          </a:ln>
        </p:spPr>
      </p:sp>
      <p:sp>
        <p:nvSpPr>
          <p:cNvPr id="67" name="Text 65"/>
          <p:cNvSpPr/>
          <p:nvPr/>
        </p:nvSpPr>
        <p:spPr>
          <a:xfrm>
            <a:off x="612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68" name="Text 66"/>
          <p:cNvSpPr/>
          <p:nvPr/>
        </p:nvSpPr>
        <p:spPr>
          <a:xfrm>
            <a:off x="918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69" name="Text 67"/>
          <p:cNvSpPr/>
          <p:nvPr/>
        </p:nvSpPr>
        <p:spPr>
          <a:xfrm>
            <a:off x="3204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70" name="Shape 68"/>
          <p:cNvSpPr/>
          <p:nvPr/>
        </p:nvSpPr>
        <p:spPr>
          <a:xfrm>
            <a:off x="612000" y="5634000"/>
            <a:ext cx="2952000" cy="0"/>
          </a:xfrm>
          <a:prstGeom prst="line">
            <a:avLst/>
          </a:prstGeom>
          <a:noFill/>
          <a:ln w="3810">
            <a:solidFill>
              <a:srgbClr val="C9CFC9"/>
            </a:solidFill>
            <a:prstDash val="solid"/>
          </a:ln>
        </p:spPr>
      </p:sp>
      <p:sp>
        <p:nvSpPr>
          <p:cNvPr id="71" name="Text 69"/>
          <p:cNvSpPr/>
          <p:nvPr/>
        </p:nvSpPr>
        <p:spPr>
          <a:xfrm>
            <a:off x="612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72" name="Text 70"/>
          <p:cNvSpPr/>
          <p:nvPr/>
        </p:nvSpPr>
        <p:spPr>
          <a:xfrm>
            <a:off x="918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73" name="Text 71"/>
          <p:cNvSpPr/>
          <p:nvPr/>
        </p:nvSpPr>
        <p:spPr>
          <a:xfrm>
            <a:off x="3204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19</a:t>
            </a:r>
            <a:endParaRPr lang="en-US" sz="900" dirty="0"/>
          </a:p>
        </p:txBody>
      </p:sp>
      <p:sp>
        <p:nvSpPr>
          <p:cNvPr id="74" name="Shape 72"/>
          <p:cNvSpPr/>
          <p:nvPr/>
        </p:nvSpPr>
        <p:spPr>
          <a:xfrm>
            <a:off x="612000" y="5835600"/>
            <a:ext cx="2952000" cy="0"/>
          </a:xfrm>
          <a:prstGeom prst="line">
            <a:avLst/>
          </a:prstGeom>
          <a:noFill/>
          <a:ln w="3810">
            <a:solidFill>
              <a:srgbClr val="C9CFC9"/>
            </a:solidFill>
            <a:prstDash val="solid"/>
          </a:ln>
        </p:spPr>
      </p:sp>
      <p:sp>
        <p:nvSpPr>
          <p:cNvPr id="75" name="Shape 73"/>
          <p:cNvSpPr/>
          <p:nvPr/>
        </p:nvSpPr>
        <p:spPr>
          <a:xfrm>
            <a:off x="612000" y="6066000"/>
            <a:ext cx="115200" cy="115200"/>
          </a:xfrm>
          <a:prstGeom prst="rect">
            <a:avLst/>
          </a:prstGeom>
          <a:solidFill>
            <a:srgbClr val="3C5B47"/>
          </a:solidFill>
          <a:ln w="7620">
            <a:solidFill>
              <a:srgbClr val="3C5B47"/>
            </a:solidFill>
            <a:prstDash val="solid"/>
          </a:ln>
        </p:spPr>
      </p:sp>
      <p:sp>
        <p:nvSpPr>
          <p:cNvPr id="76" name="Text 74"/>
          <p:cNvSpPr/>
          <p:nvPr/>
        </p:nvSpPr>
        <p:spPr>
          <a:xfrm>
            <a:off x="806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77" name="Shape 75"/>
          <p:cNvSpPr/>
          <p:nvPr/>
        </p:nvSpPr>
        <p:spPr>
          <a:xfrm>
            <a:off x="612000" y="6260400"/>
            <a:ext cx="2952000" cy="0"/>
          </a:xfrm>
          <a:prstGeom prst="line">
            <a:avLst/>
          </a:prstGeom>
          <a:noFill/>
          <a:ln w="11430">
            <a:solidFill>
              <a:srgbClr val="67067C"/>
            </a:solidFill>
            <a:prstDash val="solid"/>
          </a:ln>
        </p:spPr>
      </p:sp>
      <p:sp>
        <p:nvSpPr>
          <p:cNvPr id="78" name="Text 76"/>
          <p:cNvSpPr/>
          <p:nvPr/>
        </p:nvSpPr>
        <p:spPr>
          <a:xfrm>
            <a:off x="612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79" name="Text 77"/>
          <p:cNvSpPr/>
          <p:nvPr/>
        </p:nvSpPr>
        <p:spPr>
          <a:xfrm>
            <a:off x="918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80" name="Text 78"/>
          <p:cNvSpPr/>
          <p:nvPr/>
        </p:nvSpPr>
        <p:spPr>
          <a:xfrm>
            <a:off x="3204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81" name="Shape 79"/>
          <p:cNvSpPr/>
          <p:nvPr/>
        </p:nvSpPr>
        <p:spPr>
          <a:xfrm>
            <a:off x="612000" y="6512400"/>
            <a:ext cx="2952000" cy="0"/>
          </a:xfrm>
          <a:prstGeom prst="line">
            <a:avLst/>
          </a:prstGeom>
          <a:noFill/>
          <a:ln w="3810">
            <a:solidFill>
              <a:srgbClr val="C9CFC9"/>
            </a:solidFill>
            <a:prstDash val="solid"/>
          </a:ln>
        </p:spPr>
      </p:sp>
      <p:sp>
        <p:nvSpPr>
          <p:cNvPr id="82" name="Text 80"/>
          <p:cNvSpPr/>
          <p:nvPr/>
        </p:nvSpPr>
        <p:spPr>
          <a:xfrm>
            <a:off x="612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83" name="Text 81"/>
          <p:cNvSpPr/>
          <p:nvPr/>
        </p:nvSpPr>
        <p:spPr>
          <a:xfrm>
            <a:off x="918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84" name="Text 82"/>
          <p:cNvSpPr/>
          <p:nvPr/>
        </p:nvSpPr>
        <p:spPr>
          <a:xfrm>
            <a:off x="3204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85" name="Shape 83"/>
          <p:cNvSpPr/>
          <p:nvPr/>
        </p:nvSpPr>
        <p:spPr>
          <a:xfrm>
            <a:off x="612000" y="6714000"/>
            <a:ext cx="2952000" cy="0"/>
          </a:xfrm>
          <a:prstGeom prst="line">
            <a:avLst/>
          </a:prstGeom>
          <a:noFill/>
          <a:ln w="3810">
            <a:solidFill>
              <a:srgbClr val="C9CFC9"/>
            </a:solidFill>
            <a:prstDash val="solid"/>
          </a:ln>
        </p:spPr>
      </p:sp>
      <p:sp>
        <p:nvSpPr>
          <p:cNvPr id="86" name="Text 84"/>
          <p:cNvSpPr/>
          <p:nvPr/>
        </p:nvSpPr>
        <p:spPr>
          <a:xfrm>
            <a:off x="612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87" name="Text 85"/>
          <p:cNvSpPr/>
          <p:nvPr/>
        </p:nvSpPr>
        <p:spPr>
          <a:xfrm>
            <a:off x="918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88" name="Text 86"/>
          <p:cNvSpPr/>
          <p:nvPr/>
        </p:nvSpPr>
        <p:spPr>
          <a:xfrm>
            <a:off x="3204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89" name="Shape 87"/>
          <p:cNvSpPr/>
          <p:nvPr/>
        </p:nvSpPr>
        <p:spPr>
          <a:xfrm>
            <a:off x="612000" y="6915600"/>
            <a:ext cx="2952000" cy="0"/>
          </a:xfrm>
          <a:prstGeom prst="line">
            <a:avLst/>
          </a:prstGeom>
          <a:noFill/>
          <a:ln w="3810">
            <a:solidFill>
              <a:srgbClr val="C9CFC9"/>
            </a:solidFill>
            <a:prstDash val="solid"/>
          </a:ln>
        </p:spPr>
      </p:sp>
      <p:sp>
        <p:nvSpPr>
          <p:cNvPr id="90" name="Text 88"/>
          <p:cNvSpPr/>
          <p:nvPr/>
        </p:nvSpPr>
        <p:spPr>
          <a:xfrm>
            <a:off x="612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91" name="Text 89"/>
          <p:cNvSpPr/>
          <p:nvPr/>
        </p:nvSpPr>
        <p:spPr>
          <a:xfrm>
            <a:off x="918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92" name="Text 90"/>
          <p:cNvSpPr/>
          <p:nvPr/>
        </p:nvSpPr>
        <p:spPr>
          <a:xfrm>
            <a:off x="3204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93" name="Shape 91"/>
          <p:cNvSpPr/>
          <p:nvPr/>
        </p:nvSpPr>
        <p:spPr>
          <a:xfrm>
            <a:off x="612000" y="7117200"/>
            <a:ext cx="2952000" cy="0"/>
          </a:xfrm>
          <a:prstGeom prst="line">
            <a:avLst/>
          </a:prstGeom>
          <a:noFill/>
          <a:ln w="3810">
            <a:solidFill>
              <a:srgbClr val="C9CFC9"/>
            </a:solidFill>
            <a:prstDash val="solid"/>
          </a:ln>
        </p:spPr>
      </p:sp>
      <p:sp>
        <p:nvSpPr>
          <p:cNvPr id="94" name="Text 92"/>
          <p:cNvSpPr/>
          <p:nvPr/>
        </p:nvSpPr>
        <p:spPr>
          <a:xfrm>
            <a:off x="612000" y="7117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5" name="Text 93"/>
          <p:cNvSpPr/>
          <p:nvPr/>
        </p:nvSpPr>
        <p:spPr>
          <a:xfrm>
            <a:off x="918000" y="7117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Pasquiers</a:t>
            </a:r>
            <a:endParaRPr lang="en-US" sz="1000" dirty="0"/>
          </a:p>
        </p:txBody>
      </p:sp>
      <p:sp>
        <p:nvSpPr>
          <p:cNvPr id="96" name="Text 94"/>
          <p:cNvSpPr/>
          <p:nvPr/>
        </p:nvSpPr>
        <p:spPr>
          <a:xfrm>
            <a:off x="3204000" y="7117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97" name="Shape 95"/>
          <p:cNvSpPr/>
          <p:nvPr/>
        </p:nvSpPr>
        <p:spPr>
          <a:xfrm>
            <a:off x="612000" y="7318800"/>
            <a:ext cx="2952000" cy="0"/>
          </a:xfrm>
          <a:prstGeom prst="line">
            <a:avLst/>
          </a:prstGeom>
          <a:noFill/>
          <a:ln w="3810">
            <a:solidFill>
              <a:srgbClr val="C9CFC9"/>
            </a:solidFill>
            <a:prstDash val="solid"/>
          </a:ln>
        </p:spPr>
      </p:sp>
      <p:sp>
        <p:nvSpPr>
          <p:cNvPr id="98" name="Text 96"/>
          <p:cNvSpPr/>
          <p:nvPr/>
        </p:nvSpPr>
        <p:spPr>
          <a:xfrm>
            <a:off x="612000" y="7318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99" name="Text 97"/>
          <p:cNvSpPr/>
          <p:nvPr/>
        </p:nvSpPr>
        <p:spPr>
          <a:xfrm>
            <a:off x="918000" y="7318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100" name="Text 98"/>
          <p:cNvSpPr/>
          <p:nvPr/>
        </p:nvSpPr>
        <p:spPr>
          <a:xfrm>
            <a:off x="3204000" y="7318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101" name="Shape 99"/>
          <p:cNvSpPr/>
          <p:nvPr/>
        </p:nvSpPr>
        <p:spPr>
          <a:xfrm>
            <a:off x="612000" y="7520400"/>
            <a:ext cx="2952000" cy="0"/>
          </a:xfrm>
          <a:prstGeom prst="line">
            <a:avLst/>
          </a:prstGeom>
          <a:noFill/>
          <a:ln w="3810">
            <a:solidFill>
              <a:srgbClr val="C9CFC9"/>
            </a:solidFill>
            <a:prstDash val="solid"/>
          </a:ln>
        </p:spPr>
      </p:sp>
      <p:sp>
        <p:nvSpPr>
          <p:cNvPr id="102" name="Shape 100"/>
          <p:cNvSpPr/>
          <p:nvPr/>
        </p:nvSpPr>
        <p:spPr>
          <a:xfrm>
            <a:off x="3780000" y="1141200"/>
            <a:ext cx="115200" cy="115200"/>
          </a:xfrm>
          <a:prstGeom prst="rect">
            <a:avLst/>
          </a:prstGeom>
          <a:solidFill>
            <a:srgbClr val="D08C3C"/>
          </a:solidFill>
          <a:ln w="7620">
            <a:solidFill>
              <a:srgbClr val="D08C3C"/>
            </a:solidFill>
            <a:prstDash val="solid"/>
          </a:ln>
        </p:spPr>
      </p:sp>
      <p:sp>
        <p:nvSpPr>
          <p:cNvPr id="103" name="Text 101"/>
          <p:cNvSpPr/>
          <p:nvPr/>
        </p:nvSpPr>
        <p:spPr>
          <a:xfrm>
            <a:off x="3974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104" name="Shape 102"/>
          <p:cNvSpPr/>
          <p:nvPr/>
        </p:nvSpPr>
        <p:spPr>
          <a:xfrm>
            <a:off x="3780000" y="1335600"/>
            <a:ext cx="2952000" cy="0"/>
          </a:xfrm>
          <a:prstGeom prst="line">
            <a:avLst/>
          </a:prstGeom>
          <a:noFill/>
          <a:ln w="11430">
            <a:solidFill>
              <a:srgbClr val="67067C"/>
            </a:solidFill>
            <a:prstDash val="solid"/>
          </a:ln>
        </p:spPr>
      </p:sp>
      <p:sp>
        <p:nvSpPr>
          <p:cNvPr id="105" name="Text 103"/>
          <p:cNvSpPr/>
          <p:nvPr/>
        </p:nvSpPr>
        <p:spPr>
          <a:xfrm>
            <a:off x="3780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06" name="Text 104"/>
          <p:cNvSpPr/>
          <p:nvPr/>
        </p:nvSpPr>
        <p:spPr>
          <a:xfrm>
            <a:off x="4086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107" name="Text 105"/>
          <p:cNvSpPr/>
          <p:nvPr/>
        </p:nvSpPr>
        <p:spPr>
          <a:xfrm>
            <a:off x="6372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108" name="Shape 106"/>
          <p:cNvSpPr/>
          <p:nvPr/>
        </p:nvSpPr>
        <p:spPr>
          <a:xfrm>
            <a:off x="3780000" y="1587600"/>
            <a:ext cx="2952000" cy="0"/>
          </a:xfrm>
          <a:prstGeom prst="line">
            <a:avLst/>
          </a:prstGeom>
          <a:noFill/>
          <a:ln w="3810">
            <a:solidFill>
              <a:srgbClr val="C9CFC9"/>
            </a:solidFill>
            <a:prstDash val="solid"/>
          </a:ln>
        </p:spPr>
      </p:sp>
      <p:sp>
        <p:nvSpPr>
          <p:cNvPr id="109" name="Text 107"/>
          <p:cNvSpPr/>
          <p:nvPr/>
        </p:nvSpPr>
        <p:spPr>
          <a:xfrm>
            <a:off x="3780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10" name="Text 108"/>
          <p:cNvSpPr/>
          <p:nvPr/>
        </p:nvSpPr>
        <p:spPr>
          <a:xfrm>
            <a:off x="4086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111" name="Text 109"/>
          <p:cNvSpPr/>
          <p:nvPr/>
        </p:nvSpPr>
        <p:spPr>
          <a:xfrm>
            <a:off x="6372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112" name="Shape 110"/>
          <p:cNvSpPr/>
          <p:nvPr/>
        </p:nvSpPr>
        <p:spPr>
          <a:xfrm>
            <a:off x="3780000" y="1789200"/>
            <a:ext cx="2952000" cy="0"/>
          </a:xfrm>
          <a:prstGeom prst="line">
            <a:avLst/>
          </a:prstGeom>
          <a:noFill/>
          <a:ln w="3810">
            <a:solidFill>
              <a:srgbClr val="C9CFC9"/>
            </a:solidFill>
            <a:prstDash val="solid"/>
          </a:ln>
        </p:spPr>
      </p:sp>
      <p:sp>
        <p:nvSpPr>
          <p:cNvPr id="113" name="Text 111"/>
          <p:cNvSpPr/>
          <p:nvPr/>
        </p:nvSpPr>
        <p:spPr>
          <a:xfrm>
            <a:off x="3780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4" name="Text 112"/>
          <p:cNvSpPr/>
          <p:nvPr/>
        </p:nvSpPr>
        <p:spPr>
          <a:xfrm>
            <a:off x="4086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Fabien Castaing</a:t>
            </a:r>
            <a:endParaRPr lang="en-US" sz="1000" dirty="0"/>
          </a:p>
        </p:txBody>
      </p:sp>
      <p:sp>
        <p:nvSpPr>
          <p:cNvPr id="115" name="Text 113"/>
          <p:cNvSpPr/>
          <p:nvPr/>
        </p:nvSpPr>
        <p:spPr>
          <a:xfrm>
            <a:off x="6372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16" name="Shape 114"/>
          <p:cNvSpPr/>
          <p:nvPr/>
        </p:nvSpPr>
        <p:spPr>
          <a:xfrm>
            <a:off x="3780000" y="1990800"/>
            <a:ext cx="2952000" cy="0"/>
          </a:xfrm>
          <a:prstGeom prst="line">
            <a:avLst/>
          </a:prstGeom>
          <a:noFill/>
          <a:ln w="3810">
            <a:solidFill>
              <a:srgbClr val="C9CFC9"/>
            </a:solidFill>
            <a:prstDash val="solid"/>
          </a:ln>
        </p:spPr>
      </p:sp>
      <p:sp>
        <p:nvSpPr>
          <p:cNvPr id="117" name="Shape 115"/>
          <p:cNvSpPr/>
          <p:nvPr/>
        </p:nvSpPr>
        <p:spPr>
          <a:xfrm>
            <a:off x="3780000" y="2221200"/>
            <a:ext cx="115200" cy="115200"/>
          </a:xfrm>
          <a:prstGeom prst="rect">
            <a:avLst/>
          </a:prstGeom>
          <a:solidFill>
            <a:srgbClr val="A8515F"/>
          </a:solidFill>
          <a:ln w="7620">
            <a:solidFill>
              <a:srgbClr val="A8515F"/>
            </a:solidFill>
            <a:prstDash val="solid"/>
          </a:ln>
        </p:spPr>
      </p:sp>
      <p:sp>
        <p:nvSpPr>
          <p:cNvPr id="118" name="Text 116"/>
          <p:cNvSpPr/>
          <p:nvPr/>
        </p:nvSpPr>
        <p:spPr>
          <a:xfrm>
            <a:off x="3974400" y="214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119" name="Shape 117"/>
          <p:cNvSpPr/>
          <p:nvPr/>
        </p:nvSpPr>
        <p:spPr>
          <a:xfrm>
            <a:off x="3780000" y="2415600"/>
            <a:ext cx="2952000" cy="0"/>
          </a:xfrm>
          <a:prstGeom prst="line">
            <a:avLst/>
          </a:prstGeom>
          <a:noFill/>
          <a:ln w="11430">
            <a:solidFill>
              <a:srgbClr val="67067C"/>
            </a:solidFill>
            <a:prstDash val="solid"/>
          </a:ln>
        </p:spPr>
      </p:sp>
      <p:sp>
        <p:nvSpPr>
          <p:cNvPr id="120" name="Text 118"/>
          <p:cNvSpPr/>
          <p:nvPr/>
        </p:nvSpPr>
        <p:spPr>
          <a:xfrm>
            <a:off x="3780000" y="246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121" name="Text 119"/>
          <p:cNvSpPr/>
          <p:nvPr/>
        </p:nvSpPr>
        <p:spPr>
          <a:xfrm>
            <a:off x="4086000" y="246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La Passion des Terroirs</a:t>
            </a:r>
            <a:endParaRPr lang="en-US" sz="1000" dirty="0"/>
          </a:p>
        </p:txBody>
      </p:sp>
      <p:sp>
        <p:nvSpPr>
          <p:cNvPr id="122" name="Text 120"/>
          <p:cNvSpPr/>
          <p:nvPr/>
        </p:nvSpPr>
        <p:spPr>
          <a:xfrm>
            <a:off x="6372000" y="246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23" name="Shape 121"/>
          <p:cNvSpPr/>
          <p:nvPr/>
        </p:nvSpPr>
        <p:spPr>
          <a:xfrm>
            <a:off x="3780000" y="2667600"/>
            <a:ext cx="2952000" cy="0"/>
          </a:xfrm>
          <a:prstGeom prst="line">
            <a:avLst/>
          </a:prstGeom>
          <a:noFill/>
          <a:ln w="3810">
            <a:solidFill>
              <a:srgbClr val="C9CFC9"/>
            </a:solidFill>
            <a:prstDash val="solid"/>
          </a:ln>
        </p:spPr>
      </p:sp>
      <p:sp>
        <p:nvSpPr>
          <p:cNvPr id="124" name="Text 122"/>
          <p:cNvSpPr/>
          <p:nvPr/>
        </p:nvSpPr>
        <p:spPr>
          <a:xfrm>
            <a:off x="3780000" y="266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125" name="Text 123"/>
          <p:cNvSpPr/>
          <p:nvPr/>
        </p:nvSpPr>
        <p:spPr>
          <a:xfrm>
            <a:off x="4086000" y="266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la Gorce</a:t>
            </a:r>
            <a:endParaRPr lang="en-US" sz="1000" dirty="0"/>
          </a:p>
        </p:txBody>
      </p:sp>
      <p:sp>
        <p:nvSpPr>
          <p:cNvPr id="126" name="Text 124"/>
          <p:cNvSpPr/>
          <p:nvPr/>
        </p:nvSpPr>
        <p:spPr>
          <a:xfrm>
            <a:off x="6372000" y="266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27" name="Shape 125"/>
          <p:cNvSpPr/>
          <p:nvPr/>
        </p:nvSpPr>
        <p:spPr>
          <a:xfrm>
            <a:off x="3780000" y="2869200"/>
            <a:ext cx="2952000" cy="0"/>
          </a:xfrm>
          <a:prstGeom prst="line">
            <a:avLst/>
          </a:prstGeom>
          <a:noFill/>
          <a:ln w="3810">
            <a:solidFill>
              <a:srgbClr val="C9CFC9"/>
            </a:solidFill>
            <a:prstDash val="solid"/>
          </a:ln>
        </p:spPr>
      </p:sp>
      <p:sp>
        <p:nvSpPr>
          <p:cNvPr id="128" name="Text 126"/>
          <p:cNvSpPr/>
          <p:nvPr/>
        </p:nvSpPr>
        <p:spPr>
          <a:xfrm>
            <a:off x="3780000" y="286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27</a:t>
            </a:r>
            <a:endParaRPr lang="en-US" sz="850" dirty="0"/>
          </a:p>
        </p:txBody>
      </p:sp>
      <p:sp>
        <p:nvSpPr>
          <p:cNvPr id="129" name="Text 127"/>
          <p:cNvSpPr/>
          <p:nvPr/>
        </p:nvSpPr>
        <p:spPr>
          <a:xfrm>
            <a:off x="4086000" y="286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30" name="Text 128"/>
          <p:cNvSpPr/>
          <p:nvPr/>
        </p:nvSpPr>
        <p:spPr>
          <a:xfrm>
            <a:off x="6372000" y="286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131" name="Shape 129"/>
          <p:cNvSpPr/>
          <p:nvPr/>
        </p:nvSpPr>
        <p:spPr>
          <a:xfrm>
            <a:off x="3780000" y="3070800"/>
            <a:ext cx="2952000" cy="0"/>
          </a:xfrm>
          <a:prstGeom prst="line">
            <a:avLst/>
          </a:prstGeom>
          <a:noFill/>
          <a:ln w="3810">
            <a:solidFill>
              <a:srgbClr val="C9CFC9"/>
            </a:solidFill>
            <a:prstDash val="solid"/>
          </a:ln>
        </p:spPr>
      </p:sp>
      <p:sp>
        <p:nvSpPr>
          <p:cNvPr id="132" name="Text 130"/>
          <p:cNvSpPr/>
          <p:nvPr/>
        </p:nvSpPr>
        <p:spPr>
          <a:xfrm>
            <a:off x="3780000" y="307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28</a:t>
            </a:r>
            <a:endParaRPr lang="en-US" sz="850" dirty="0"/>
          </a:p>
        </p:txBody>
      </p:sp>
      <p:sp>
        <p:nvSpPr>
          <p:cNvPr id="133" name="Text 131"/>
          <p:cNvSpPr/>
          <p:nvPr/>
        </p:nvSpPr>
        <p:spPr>
          <a:xfrm>
            <a:off x="4086000" y="307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34" name="Text 132"/>
          <p:cNvSpPr/>
          <p:nvPr/>
        </p:nvSpPr>
        <p:spPr>
          <a:xfrm>
            <a:off x="6372000" y="307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35" name="Shape 133"/>
          <p:cNvSpPr/>
          <p:nvPr/>
        </p:nvSpPr>
        <p:spPr>
          <a:xfrm>
            <a:off x="3780000" y="3272400"/>
            <a:ext cx="2952000" cy="0"/>
          </a:xfrm>
          <a:prstGeom prst="line">
            <a:avLst/>
          </a:prstGeom>
          <a:noFill/>
          <a:ln w="3810">
            <a:solidFill>
              <a:srgbClr val="C9CFC9"/>
            </a:solidFill>
            <a:prstDash val="solid"/>
          </a:ln>
        </p:spPr>
      </p:sp>
      <p:sp>
        <p:nvSpPr>
          <p:cNvPr id="136" name="Text 134"/>
          <p:cNvSpPr/>
          <p:nvPr/>
        </p:nvSpPr>
        <p:spPr>
          <a:xfrm>
            <a:off x="3780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29</a:t>
            </a:r>
            <a:endParaRPr lang="en-US" sz="850" dirty="0"/>
          </a:p>
        </p:txBody>
      </p:sp>
      <p:sp>
        <p:nvSpPr>
          <p:cNvPr id="137" name="Text 135"/>
          <p:cNvSpPr/>
          <p:nvPr/>
        </p:nvSpPr>
        <p:spPr>
          <a:xfrm>
            <a:off x="4086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38" name="Text 136"/>
          <p:cNvSpPr/>
          <p:nvPr/>
        </p:nvSpPr>
        <p:spPr>
          <a:xfrm>
            <a:off x="6372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35</a:t>
            </a:r>
            <a:endParaRPr lang="en-US" sz="900" dirty="0"/>
          </a:p>
        </p:txBody>
      </p:sp>
      <p:sp>
        <p:nvSpPr>
          <p:cNvPr id="139" name="Shape 137"/>
          <p:cNvSpPr/>
          <p:nvPr/>
        </p:nvSpPr>
        <p:spPr>
          <a:xfrm>
            <a:off x="3780000" y="3474000"/>
            <a:ext cx="2952000" cy="0"/>
          </a:xfrm>
          <a:prstGeom prst="line">
            <a:avLst/>
          </a:prstGeom>
          <a:noFill/>
          <a:ln w="3810">
            <a:solidFill>
              <a:srgbClr val="C9CFC9"/>
            </a:solidFill>
            <a:prstDash val="solid"/>
          </a:ln>
        </p:spPr>
      </p:sp>
      <p:sp>
        <p:nvSpPr>
          <p:cNvPr id="140" name="Text 138"/>
          <p:cNvSpPr/>
          <p:nvPr/>
        </p:nvSpPr>
        <p:spPr>
          <a:xfrm>
            <a:off x="3780000" y="347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30</a:t>
            </a:r>
            <a:endParaRPr lang="en-US" sz="850" dirty="0"/>
          </a:p>
        </p:txBody>
      </p:sp>
      <p:sp>
        <p:nvSpPr>
          <p:cNvPr id="141" name="Text 139"/>
          <p:cNvSpPr/>
          <p:nvPr/>
        </p:nvSpPr>
        <p:spPr>
          <a:xfrm>
            <a:off x="4086000" y="347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42" name="Text 140"/>
          <p:cNvSpPr/>
          <p:nvPr/>
        </p:nvSpPr>
        <p:spPr>
          <a:xfrm>
            <a:off x="6372000" y="347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43" name="Shape 141"/>
          <p:cNvSpPr/>
          <p:nvPr/>
        </p:nvSpPr>
        <p:spPr>
          <a:xfrm>
            <a:off x="3780000" y="3675600"/>
            <a:ext cx="2952000" cy="0"/>
          </a:xfrm>
          <a:prstGeom prst="line">
            <a:avLst/>
          </a:prstGeom>
          <a:noFill/>
          <a:ln w="3810">
            <a:solidFill>
              <a:srgbClr val="C9CFC9"/>
            </a:solidFill>
            <a:prstDash val="solid"/>
          </a:ln>
        </p:spPr>
      </p:sp>
      <p:sp>
        <p:nvSpPr>
          <p:cNvPr id="144" name="Shape 142"/>
          <p:cNvSpPr/>
          <p:nvPr/>
        </p:nvSpPr>
        <p:spPr>
          <a:xfrm>
            <a:off x="3780000" y="3906000"/>
            <a:ext cx="115200" cy="115200"/>
          </a:xfrm>
          <a:prstGeom prst="rect">
            <a:avLst/>
          </a:prstGeom>
          <a:solidFill>
            <a:srgbClr val="46606E"/>
          </a:solidFill>
          <a:ln w="7620">
            <a:solidFill>
              <a:srgbClr val="46606E"/>
            </a:solidFill>
            <a:prstDash val="solid"/>
          </a:ln>
        </p:spPr>
      </p:sp>
      <p:sp>
        <p:nvSpPr>
          <p:cNvPr id="145" name="Text 143"/>
          <p:cNvSpPr/>
          <p:nvPr/>
        </p:nvSpPr>
        <p:spPr>
          <a:xfrm>
            <a:off x="3974400" y="382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46" name="Shape 144"/>
          <p:cNvSpPr/>
          <p:nvPr/>
        </p:nvSpPr>
        <p:spPr>
          <a:xfrm>
            <a:off x="3780000" y="4100400"/>
            <a:ext cx="2952000" cy="0"/>
          </a:xfrm>
          <a:prstGeom prst="line">
            <a:avLst/>
          </a:prstGeom>
          <a:noFill/>
          <a:ln w="11430">
            <a:solidFill>
              <a:srgbClr val="67067C"/>
            </a:solidFill>
            <a:prstDash val="solid"/>
          </a:ln>
        </p:spPr>
      </p:sp>
      <p:sp>
        <p:nvSpPr>
          <p:cNvPr id="147" name="Text 145"/>
          <p:cNvSpPr/>
          <p:nvPr/>
        </p:nvSpPr>
        <p:spPr>
          <a:xfrm>
            <a:off x="3780000" y="415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31</a:t>
            </a:r>
            <a:endParaRPr lang="en-US" sz="850" dirty="0"/>
          </a:p>
        </p:txBody>
      </p:sp>
      <p:sp>
        <p:nvSpPr>
          <p:cNvPr id="148" name="Text 146"/>
          <p:cNvSpPr/>
          <p:nvPr/>
        </p:nvSpPr>
        <p:spPr>
          <a:xfrm>
            <a:off x="4086000" y="415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49" name="Text 147"/>
          <p:cNvSpPr/>
          <p:nvPr/>
        </p:nvSpPr>
        <p:spPr>
          <a:xfrm>
            <a:off x="6372000" y="415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50" name="Shape 148"/>
          <p:cNvSpPr/>
          <p:nvPr/>
        </p:nvSpPr>
        <p:spPr>
          <a:xfrm>
            <a:off x="3780000" y="4352400"/>
            <a:ext cx="2952000" cy="0"/>
          </a:xfrm>
          <a:prstGeom prst="line">
            <a:avLst/>
          </a:prstGeom>
          <a:noFill/>
          <a:ln w="3810">
            <a:solidFill>
              <a:srgbClr val="C9CFC9"/>
            </a:solidFill>
            <a:prstDash val="solid"/>
          </a:ln>
        </p:spPr>
      </p:sp>
      <p:sp>
        <p:nvSpPr>
          <p:cNvPr id="151" name="Shape 149"/>
          <p:cNvSpPr/>
          <p:nvPr/>
        </p:nvSpPr>
        <p:spPr>
          <a:xfrm>
            <a:off x="3780000" y="4582800"/>
            <a:ext cx="115200" cy="115200"/>
          </a:xfrm>
          <a:prstGeom prst="rect">
            <a:avLst/>
          </a:prstGeom>
          <a:solidFill>
            <a:srgbClr val="3C5B47"/>
          </a:solidFill>
          <a:ln w="7620">
            <a:solidFill>
              <a:srgbClr val="3C5B47"/>
            </a:solidFill>
            <a:prstDash val="solid"/>
          </a:ln>
        </p:spPr>
      </p:sp>
      <p:sp>
        <p:nvSpPr>
          <p:cNvPr id="152" name="Text 150"/>
          <p:cNvSpPr/>
          <p:nvPr/>
        </p:nvSpPr>
        <p:spPr>
          <a:xfrm>
            <a:off x="3974400" y="4503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53" name="Shape 151"/>
          <p:cNvSpPr/>
          <p:nvPr/>
        </p:nvSpPr>
        <p:spPr>
          <a:xfrm>
            <a:off x="3780000" y="4777200"/>
            <a:ext cx="2952000" cy="0"/>
          </a:xfrm>
          <a:prstGeom prst="line">
            <a:avLst/>
          </a:prstGeom>
          <a:noFill/>
          <a:ln w="11430">
            <a:solidFill>
              <a:srgbClr val="67067C"/>
            </a:solidFill>
            <a:prstDash val="solid"/>
          </a:ln>
        </p:spPr>
      </p:sp>
      <p:sp>
        <p:nvSpPr>
          <p:cNvPr id="154" name="Text 152"/>
          <p:cNvSpPr/>
          <p:nvPr/>
        </p:nvSpPr>
        <p:spPr>
          <a:xfrm>
            <a:off x="3780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32</a:t>
            </a:r>
            <a:endParaRPr lang="en-US" sz="850" dirty="0"/>
          </a:p>
        </p:txBody>
      </p:sp>
      <p:sp>
        <p:nvSpPr>
          <p:cNvPr id="155" name="Text 153"/>
          <p:cNvSpPr/>
          <p:nvPr/>
        </p:nvSpPr>
        <p:spPr>
          <a:xfrm>
            <a:off x="4086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56" name="Text 154"/>
          <p:cNvSpPr/>
          <p:nvPr/>
        </p:nvSpPr>
        <p:spPr>
          <a:xfrm>
            <a:off x="6372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57" name="Shape 155"/>
          <p:cNvSpPr/>
          <p:nvPr/>
        </p:nvSpPr>
        <p:spPr>
          <a:xfrm>
            <a:off x="3780000" y="5029200"/>
            <a:ext cx="2952000" cy="0"/>
          </a:xfrm>
          <a:prstGeom prst="line">
            <a:avLst/>
          </a:prstGeom>
          <a:noFill/>
          <a:ln w="3810">
            <a:solidFill>
              <a:srgbClr val="C9CFC9"/>
            </a:solidFill>
            <a:prstDash val="solid"/>
          </a:ln>
        </p:spPr>
      </p:sp>
      <p:sp>
        <p:nvSpPr>
          <p:cNvPr id="158" name="Text 156"/>
          <p:cNvSpPr/>
          <p:nvPr/>
        </p:nvSpPr>
        <p:spPr>
          <a:xfrm>
            <a:off x="3780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33</a:t>
            </a:r>
            <a:endParaRPr lang="en-US" sz="850" dirty="0"/>
          </a:p>
        </p:txBody>
      </p:sp>
      <p:sp>
        <p:nvSpPr>
          <p:cNvPr id="159" name="Text 157"/>
          <p:cNvSpPr/>
          <p:nvPr/>
        </p:nvSpPr>
        <p:spPr>
          <a:xfrm>
            <a:off x="4086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60" name="Text 158"/>
          <p:cNvSpPr/>
          <p:nvPr/>
        </p:nvSpPr>
        <p:spPr>
          <a:xfrm>
            <a:off x="6372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40</a:t>
            </a:r>
            <a:endParaRPr lang="en-US" sz="900" dirty="0"/>
          </a:p>
        </p:txBody>
      </p:sp>
      <p:sp>
        <p:nvSpPr>
          <p:cNvPr id="161" name="Shape 159"/>
          <p:cNvSpPr/>
          <p:nvPr/>
        </p:nvSpPr>
        <p:spPr>
          <a:xfrm>
            <a:off x="3780000" y="5230800"/>
            <a:ext cx="2952000" cy="0"/>
          </a:xfrm>
          <a:prstGeom prst="line">
            <a:avLst/>
          </a:prstGeom>
          <a:noFill/>
          <a:ln w="3810">
            <a:solidFill>
              <a:srgbClr val="C9CFC9"/>
            </a:solidFill>
            <a:prstDash val="solid"/>
          </a:ln>
        </p:spPr>
      </p:sp>
      <p:sp>
        <p:nvSpPr>
          <p:cNvPr id="162" name="Text 160"/>
          <p:cNvSpPr/>
          <p:nvPr/>
        </p:nvSpPr>
        <p:spPr>
          <a:xfrm>
            <a:off x="3780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34</a:t>
            </a:r>
            <a:endParaRPr lang="en-US" sz="850" dirty="0"/>
          </a:p>
        </p:txBody>
      </p:sp>
      <p:sp>
        <p:nvSpPr>
          <p:cNvPr id="163" name="Text 161"/>
          <p:cNvSpPr/>
          <p:nvPr/>
        </p:nvSpPr>
        <p:spPr>
          <a:xfrm>
            <a:off x="4086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64" name="Text 162"/>
          <p:cNvSpPr/>
          <p:nvPr/>
        </p:nvSpPr>
        <p:spPr>
          <a:xfrm>
            <a:off x="6372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65" name="Shape 163"/>
          <p:cNvSpPr/>
          <p:nvPr/>
        </p:nvSpPr>
        <p:spPr>
          <a:xfrm>
            <a:off x="3780000" y="5432400"/>
            <a:ext cx="2952000" cy="0"/>
          </a:xfrm>
          <a:prstGeom prst="line">
            <a:avLst/>
          </a:prstGeom>
          <a:noFill/>
          <a:ln w="3810">
            <a:solidFill>
              <a:srgbClr val="C9CFC9"/>
            </a:solidFill>
            <a:prstDash val="solid"/>
          </a:ln>
        </p:spPr>
      </p:sp>
      <p:sp>
        <p:nvSpPr>
          <p:cNvPr id="166" name="Text 164"/>
          <p:cNvSpPr/>
          <p:nvPr/>
        </p:nvSpPr>
        <p:spPr>
          <a:xfrm>
            <a:off x="3780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35</a:t>
            </a:r>
            <a:endParaRPr lang="en-US" sz="850" dirty="0"/>
          </a:p>
        </p:txBody>
      </p:sp>
      <p:sp>
        <p:nvSpPr>
          <p:cNvPr id="167" name="Text 165"/>
          <p:cNvSpPr/>
          <p:nvPr/>
        </p:nvSpPr>
        <p:spPr>
          <a:xfrm>
            <a:off x="4086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Lys</a:t>
            </a:r>
            <a:endParaRPr lang="en-US" sz="1000" dirty="0"/>
          </a:p>
        </p:txBody>
      </p:sp>
      <p:sp>
        <p:nvSpPr>
          <p:cNvPr id="168" name="Text 166"/>
          <p:cNvSpPr/>
          <p:nvPr/>
        </p:nvSpPr>
        <p:spPr>
          <a:xfrm>
            <a:off x="6372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69" name="Shape 167"/>
          <p:cNvSpPr/>
          <p:nvPr/>
        </p:nvSpPr>
        <p:spPr>
          <a:xfrm>
            <a:off x="3780000" y="5634000"/>
            <a:ext cx="2952000" cy="0"/>
          </a:xfrm>
          <a:prstGeom prst="line">
            <a:avLst/>
          </a:prstGeom>
          <a:noFill/>
          <a:ln w="3810">
            <a:solidFill>
              <a:srgbClr val="C9CFC9"/>
            </a:solidFill>
            <a:prstDash val="solid"/>
          </a:ln>
        </p:spPr>
      </p:sp>
      <p:sp>
        <p:nvSpPr>
          <p:cNvPr id="170" name="Text 168"/>
          <p:cNvSpPr/>
          <p:nvPr/>
        </p:nvSpPr>
        <p:spPr>
          <a:xfrm>
            <a:off x="3780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36</a:t>
            </a:r>
            <a:endParaRPr lang="en-US" sz="850" dirty="0"/>
          </a:p>
        </p:txBody>
      </p:sp>
      <p:sp>
        <p:nvSpPr>
          <p:cNvPr id="171" name="Text 169"/>
          <p:cNvSpPr/>
          <p:nvPr/>
        </p:nvSpPr>
        <p:spPr>
          <a:xfrm>
            <a:off x="4086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72" name="Text 170"/>
          <p:cNvSpPr/>
          <p:nvPr/>
        </p:nvSpPr>
        <p:spPr>
          <a:xfrm>
            <a:off x="6372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73" name="Shape 171"/>
          <p:cNvSpPr/>
          <p:nvPr/>
        </p:nvSpPr>
        <p:spPr>
          <a:xfrm>
            <a:off x="3780000" y="5835600"/>
            <a:ext cx="2952000" cy="0"/>
          </a:xfrm>
          <a:prstGeom prst="line">
            <a:avLst/>
          </a:prstGeom>
          <a:noFill/>
          <a:ln w="3810">
            <a:solidFill>
              <a:srgbClr val="C9CFC9"/>
            </a:solidFill>
            <a:prstDash val="solid"/>
          </a:ln>
        </p:spPr>
      </p:sp>
      <p:sp>
        <p:nvSpPr>
          <p:cNvPr id="174" name="Shape 172"/>
          <p:cNvSpPr/>
          <p:nvPr/>
        </p:nvSpPr>
        <p:spPr>
          <a:xfrm>
            <a:off x="3780000" y="6066000"/>
            <a:ext cx="115200" cy="115200"/>
          </a:xfrm>
          <a:prstGeom prst="rect">
            <a:avLst/>
          </a:prstGeom>
          <a:solidFill>
            <a:srgbClr val="FBF8F1"/>
          </a:solidFill>
          <a:ln w="7620">
            <a:solidFill>
              <a:srgbClr val="46606E"/>
            </a:solidFill>
            <a:prstDash val="solid"/>
          </a:ln>
        </p:spPr>
      </p:sp>
      <p:sp>
        <p:nvSpPr>
          <p:cNvPr id="175" name="Text 173"/>
          <p:cNvSpPr/>
          <p:nvPr/>
        </p:nvSpPr>
        <p:spPr>
          <a:xfrm>
            <a:off x="3974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76" name="Shape 174"/>
          <p:cNvSpPr/>
          <p:nvPr/>
        </p:nvSpPr>
        <p:spPr>
          <a:xfrm>
            <a:off x="3780000" y="6260400"/>
            <a:ext cx="2952000" cy="0"/>
          </a:xfrm>
          <a:prstGeom prst="line">
            <a:avLst/>
          </a:prstGeom>
          <a:noFill/>
          <a:ln w="11430">
            <a:solidFill>
              <a:srgbClr val="67067C"/>
            </a:solidFill>
            <a:prstDash val="solid"/>
          </a:ln>
        </p:spPr>
      </p:sp>
      <p:sp>
        <p:nvSpPr>
          <p:cNvPr id="177" name="Text 175"/>
          <p:cNvSpPr/>
          <p:nvPr/>
        </p:nvSpPr>
        <p:spPr>
          <a:xfrm>
            <a:off x="3780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37</a:t>
            </a:r>
            <a:endParaRPr lang="en-US" sz="850" dirty="0"/>
          </a:p>
        </p:txBody>
      </p:sp>
      <p:sp>
        <p:nvSpPr>
          <p:cNvPr id="178" name="Text 176"/>
          <p:cNvSpPr/>
          <p:nvPr/>
        </p:nvSpPr>
        <p:spPr>
          <a:xfrm>
            <a:off x="4086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79" name="Text 177"/>
          <p:cNvSpPr/>
          <p:nvPr/>
        </p:nvSpPr>
        <p:spPr>
          <a:xfrm>
            <a:off x="6372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80" name="Shape 178"/>
          <p:cNvSpPr/>
          <p:nvPr/>
        </p:nvSpPr>
        <p:spPr>
          <a:xfrm>
            <a:off x="3780000" y="6512400"/>
            <a:ext cx="2952000" cy="0"/>
          </a:xfrm>
          <a:prstGeom prst="line">
            <a:avLst/>
          </a:prstGeom>
          <a:noFill/>
          <a:ln w="3810">
            <a:solidFill>
              <a:srgbClr val="C9CFC9"/>
            </a:solidFill>
            <a:prstDash val="solid"/>
          </a:ln>
        </p:spPr>
      </p:sp>
      <p:sp>
        <p:nvSpPr>
          <p:cNvPr id="181" name="Text 179"/>
          <p:cNvSpPr/>
          <p:nvPr/>
        </p:nvSpPr>
        <p:spPr>
          <a:xfrm>
            <a:off x="3780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38</a:t>
            </a:r>
            <a:endParaRPr lang="en-US" sz="850" dirty="0"/>
          </a:p>
        </p:txBody>
      </p:sp>
      <p:sp>
        <p:nvSpPr>
          <p:cNvPr id="182" name="Text 180"/>
          <p:cNvSpPr/>
          <p:nvPr/>
        </p:nvSpPr>
        <p:spPr>
          <a:xfrm>
            <a:off x="4086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83" name="Text 181"/>
          <p:cNvSpPr/>
          <p:nvPr/>
        </p:nvSpPr>
        <p:spPr>
          <a:xfrm>
            <a:off x="6372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84" name="Shape 182"/>
          <p:cNvSpPr/>
          <p:nvPr/>
        </p:nvSpPr>
        <p:spPr>
          <a:xfrm>
            <a:off x="3780000" y="6714000"/>
            <a:ext cx="2952000" cy="0"/>
          </a:xfrm>
          <a:prstGeom prst="line">
            <a:avLst/>
          </a:prstGeom>
          <a:noFill/>
          <a:ln w="3810">
            <a:solidFill>
              <a:srgbClr val="C9CFC9"/>
            </a:solidFill>
            <a:prstDash val="solid"/>
          </a:ln>
        </p:spPr>
      </p:sp>
      <p:sp>
        <p:nvSpPr>
          <p:cNvPr id="185" name="Text 183"/>
          <p:cNvSpPr/>
          <p:nvPr/>
        </p:nvSpPr>
        <p:spPr>
          <a:xfrm>
            <a:off x="3780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39</a:t>
            </a:r>
            <a:endParaRPr lang="en-US" sz="850" dirty="0"/>
          </a:p>
        </p:txBody>
      </p:sp>
      <p:sp>
        <p:nvSpPr>
          <p:cNvPr id="186" name="Text 184"/>
          <p:cNvSpPr/>
          <p:nvPr/>
        </p:nvSpPr>
        <p:spPr>
          <a:xfrm>
            <a:off x="4086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87" name="Text 185"/>
          <p:cNvSpPr/>
          <p:nvPr/>
        </p:nvSpPr>
        <p:spPr>
          <a:xfrm>
            <a:off x="6372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46</a:t>
            </a:r>
            <a:endParaRPr lang="en-US" sz="900" dirty="0"/>
          </a:p>
        </p:txBody>
      </p:sp>
      <p:sp>
        <p:nvSpPr>
          <p:cNvPr id="188" name="Shape 186"/>
          <p:cNvSpPr/>
          <p:nvPr/>
        </p:nvSpPr>
        <p:spPr>
          <a:xfrm>
            <a:off x="3780000" y="6915600"/>
            <a:ext cx="2952000" cy="0"/>
          </a:xfrm>
          <a:prstGeom prst="line">
            <a:avLst/>
          </a:prstGeom>
          <a:noFill/>
          <a:ln w="3810">
            <a:solidFill>
              <a:srgbClr val="C9CFC9"/>
            </a:solidFill>
            <a:prstDash val="solid"/>
          </a:ln>
        </p:spPr>
      </p:sp>
      <p:sp>
        <p:nvSpPr>
          <p:cNvPr id="189" name="Text 187"/>
          <p:cNvSpPr/>
          <p:nvPr/>
        </p:nvSpPr>
        <p:spPr>
          <a:xfrm>
            <a:off x="3780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40</a:t>
            </a:r>
            <a:endParaRPr lang="en-US" sz="850" dirty="0"/>
          </a:p>
        </p:txBody>
      </p:sp>
      <p:sp>
        <p:nvSpPr>
          <p:cNvPr id="190" name="Text 188"/>
          <p:cNvSpPr/>
          <p:nvPr/>
        </p:nvSpPr>
        <p:spPr>
          <a:xfrm>
            <a:off x="4086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91" name="Text 189"/>
          <p:cNvSpPr/>
          <p:nvPr/>
        </p:nvSpPr>
        <p:spPr>
          <a:xfrm>
            <a:off x="6372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47</a:t>
            </a:r>
            <a:endParaRPr lang="en-US" sz="900" dirty="0"/>
          </a:p>
        </p:txBody>
      </p:sp>
      <p:sp>
        <p:nvSpPr>
          <p:cNvPr id="192" name="Shape 190"/>
          <p:cNvSpPr/>
          <p:nvPr/>
        </p:nvSpPr>
        <p:spPr>
          <a:xfrm>
            <a:off x="3780000" y="7117200"/>
            <a:ext cx="2952000" cy="0"/>
          </a:xfrm>
          <a:prstGeom prst="line">
            <a:avLst/>
          </a:prstGeom>
          <a:noFill/>
          <a:ln w="3810">
            <a:solidFill>
              <a:srgbClr val="C9CFC9"/>
            </a:solidFill>
            <a:prstDash val="solid"/>
          </a:ln>
        </p:spPr>
      </p:sp>
      <p:sp>
        <p:nvSpPr>
          <p:cNvPr id="193" name="Shape 191"/>
          <p:cNvSpPr/>
          <p:nvPr/>
        </p:nvSpPr>
        <p:spPr>
          <a:xfrm>
            <a:off x="612000" y="8280000"/>
            <a:ext cx="6120000" cy="0"/>
          </a:xfrm>
          <a:prstGeom prst="line">
            <a:avLst/>
          </a:prstGeom>
          <a:noFill/>
          <a:ln w="10160">
            <a:solidFill>
              <a:srgbClr val="67067C"/>
            </a:solidFill>
            <a:prstDash val="solid"/>
          </a:ln>
        </p:spPr>
      </p:sp>
      <p:sp>
        <p:nvSpPr>
          <p:cNvPr id="194" name="Text 192"/>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95" name="Text 193"/>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196" name="Image 0" descr="/home/user/philippe1/build/deco-catalogue-scio-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197" name="Text 194"/>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198" name="Image 1" descr="/home/user/philippe1/build/deco-catalogue-scio-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199" name="Text 195"/>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200" name="Image 2" descr="/home/user/philippe1/build/deco-catalogue-scio-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201" name="Text 196"/>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202" name="Image 3" descr="/home/user/philippe1/build/deco-catalogue-scio-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203" name="Text 197"/>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204" name="Image 4" descr="/home/user/philippe1/build/deco-catalogue-scio-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205" name="Text 198"/>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206" name="Image 5" descr="/home/user/philippe1/build/deco-catalogue-scio-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207" name="Text 199"/>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208" name="Image 6" descr="/home/user/philippe1/build/deco-catalogue-scio-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209" name="Text 200"/>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210" name="Text 201"/>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211" name="Text 202"/>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12" name="Text 203"/>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u vigneron, noir et blanc — François Reverdy">    </p:cNvPr>
          <p:cNvPicPr>
            <a:picLocks noChangeAspect="1"/>
          </p:cNvPicPr>
          <p:nvPr/>
        </p:nvPicPr>
        <p:blipFill>
          <a:blip r:embed="rId3"/>
          <a:srcRect l="2263" r="2470" t="0" b="0"/>
          <a:stretch/>
        </p:blipFill>
        <p:spPr>
          <a:xfrm>
            <a:off x="828000" y="1292400"/>
            <a:ext cx="1440000" cy="1440000"/>
          </a:xfrm>
          <a:prstGeom prst="ellipse">
            <a:avLst/>
          </a:prstGeom>
        </p:spPr>
      </p:pic>
      <p:pic>
        <p:nvPicPr>
          <p:cNvPr id="15" name="Image 3" descr="Une bouteille du domaine François Reverdy">    </p:cNvPr>
          <p:cNvPicPr>
            <a:picLocks noChangeAspect="1"/>
          </p:cNvPicPr>
          <p:nvPr/>
        </p:nvPicPr>
        <p:blipFill>
          <a:blip r:embed="rId4"/>
          <a:stretch>
            <a:fillRect/>
          </a:stretch>
        </p:blipFill>
        <p:spPr>
          <a:xfrm>
            <a:off x="6208033" y="1292400"/>
            <a:ext cx="615934" cy="2232000"/>
          </a:xfrm>
          <a:prstGeom prst="rect">
            <a:avLst/>
          </a:prstGeom>
        </p:spPr>
      </p:pic>
      <p:sp>
        <p:nvSpPr>
          <p:cNvPr id="16" name="Text 10"/>
          <p:cNvSpPr/>
          <p:nvPr/>
        </p:nvSpPr>
        <p:spPr>
          <a:xfrm>
            <a:off x="2393967" y="1196941"/>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7" name="Text 11"/>
          <p:cNvSpPr/>
          <p:nvPr/>
        </p:nvSpPr>
        <p:spPr>
          <a:xfrm>
            <a:off x="2448000" y="1339705"/>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Jusqu'à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177651"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887762"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88776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352436"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52436"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vendanges dans les vignes du domaine — Domaine de la Barbinière">    </p:cNvPr>
          <p:cNvPicPr>
            <a:picLocks noChangeAspect="1"/>
          </p:cNvPicPr>
          <p:nvPr/>
        </p:nvPicPr>
        <p:blipFill>
          <a:blip r:embed="rId3"/>
          <a:srcRect l="16680" r="16680" t="0" b="0"/>
          <a:stretch/>
        </p:blipFill>
        <p:spPr>
          <a:xfrm>
            <a:off x="612000" y="1292400"/>
            <a:ext cx="1440000" cy="1440000"/>
          </a:xfrm>
          <a:prstGeom prst="ellipse">
            <a:avLst/>
          </a:prstGeom>
        </p:spPr>
      </p:pic>
      <p:pic>
        <p:nvPicPr>
          <p:cNvPr id="17" name="Image 3" descr="Une bouteille du domaine Domaine de la Barbinière">    </p:cNvPr>
          <p:cNvPicPr>
            <a:picLocks noChangeAspect="1"/>
          </p:cNvPicPr>
          <p:nvPr/>
        </p:nvPicPr>
        <p:blipFill>
          <a:blip r:embed="rId4"/>
          <a:stretch>
            <a:fillRect/>
          </a:stretch>
        </p:blipFill>
        <p:spPr>
          <a:xfrm>
            <a:off x="6011852" y="1292400"/>
            <a:ext cx="576295" cy="2232000"/>
          </a:xfrm>
          <a:prstGeom prst="rect">
            <a:avLst/>
          </a:prstGeom>
        </p:spPr>
      </p:pic>
      <p:sp>
        <p:nvSpPr>
          <p:cNvPr id="18" name="Text 12"/>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047997"/>
            <a:ext cx="0" cy="259440"/>
          </a:xfrm>
          <a:prstGeom prst="line">
            <a:avLst/>
          </a:prstGeom>
          <a:noFill/>
          <a:ln w="17780">
            <a:solidFill>
              <a:srgbClr val="67067C"/>
            </a:solidFill>
            <a:prstDash val="solid"/>
          </a:ln>
        </p:spPr>
      </p:sp>
      <p:sp>
        <p:nvSpPr>
          <p:cNvPr id="22" name="Text 15"/>
          <p:cNvSpPr/>
          <p:nvPr/>
        </p:nvSpPr>
        <p:spPr>
          <a:xfrm>
            <a:off x="720000" y="704799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4" name="Image 2" descr="le vigneron au chai — Domaine du Colombier / J.Y Bretaudeau">    </p:cNvPr>
          <p:cNvPicPr>
            <a:picLocks noChangeAspect="1"/>
          </p:cNvPicPr>
          <p:nvPr/>
        </p:nvPicPr>
        <p:blipFill>
          <a:blip r:embed="rId3"/>
          <a:srcRect l="29320" r="5437" t="0" b="0"/>
          <a:stretch/>
        </p:blipFill>
        <p:spPr>
          <a:xfrm>
            <a:off x="828000" y="1292400"/>
            <a:ext cx="1440000" cy="1440000"/>
          </a:xfrm>
          <a:prstGeom prst="ellipse">
            <a:avLst/>
          </a:prstGeom>
        </p:spPr>
      </p:pic>
      <p:pic>
        <p:nvPicPr>
          <p:cNvPr id="15" name="Image 3" descr="Une bouteille du domaine Domaine du Colombier / J.Y Bretaudeau">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05" y="1419154"/>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7" name="Text 11"/>
          <p:cNvSpPr/>
          <p:nvPr/>
        </p:nvSpPr>
        <p:spPr>
          <a:xfrm>
            <a:off x="2448000" y="1545255"/>
            <a:ext cx="3456000" cy="197900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828000" y="6485579"/>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Shape 12"/>
          <p:cNvSpPr/>
          <p:nvPr/>
        </p:nvSpPr>
        <p:spPr>
          <a:xfrm>
            <a:off x="828000" y="8013714"/>
            <a:ext cx="0" cy="259440"/>
          </a:xfrm>
          <a:prstGeom prst="line">
            <a:avLst/>
          </a:prstGeom>
          <a:noFill/>
          <a:ln w="17780">
            <a:solidFill>
              <a:srgbClr val="67067C"/>
            </a:solidFill>
            <a:prstDash val="solid"/>
          </a:ln>
        </p:spPr>
      </p:sp>
      <p:sp>
        <p:nvSpPr>
          <p:cNvPr id="21" name="Text 13"/>
          <p:cNvSpPr/>
          <p:nvPr/>
        </p:nvSpPr>
        <p:spPr>
          <a:xfrm>
            <a:off x="936000" y="801371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5"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6"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4" name="Image 2" descr="portrait — Domaine des Noëls">    </p:cNvPr>
          <p:cNvPicPr>
            <a:picLocks noChangeAspect="1"/>
          </p:cNvPicPr>
          <p:nvPr/>
        </p:nvPicPr>
        <p:blipFill>
          <a:blip r:embed="rId3"/>
          <a:srcRect l="0" r="0" t="8302" b="16679"/>
          <a:stretch/>
        </p:blipFill>
        <p:spPr>
          <a:xfrm>
            <a:off x="612000" y="1292400"/>
            <a:ext cx="1440000" cy="1440000"/>
          </a:xfrm>
          <a:prstGeom prst="ellipse">
            <a:avLst/>
          </a:prstGeom>
        </p:spPr>
      </p:pic>
      <p:pic>
        <p:nvPicPr>
          <p:cNvPr id="15" name="Image 3" descr="Une bouteille du domaine Domaine des Noëls">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7965" y="141271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232000" y="1549684"/>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812700"/>
            <a:ext cx="0" cy="259440"/>
          </a:xfrm>
          <a:prstGeom prst="line">
            <a:avLst/>
          </a:prstGeom>
          <a:noFill/>
          <a:ln w="17780">
            <a:solidFill>
              <a:srgbClr val="67067C"/>
            </a:solidFill>
            <a:prstDash val="solid"/>
          </a:ln>
        </p:spPr>
      </p:sp>
      <p:sp>
        <p:nvSpPr>
          <p:cNvPr id="20" name="Text 13"/>
          <p:cNvSpPr/>
          <p:nvPr/>
        </p:nvSpPr>
        <p:spPr>
          <a:xfrm>
            <a:off x="720000" y="681270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721614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612000" y="7363740"/>
            <a:ext cx="6120000" cy="796363"/>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fondateurs du chai — Chai Berteaud Manceau">    </p:cNvPr>
          <p:cNvPicPr>
            <a:picLocks noChangeAspect="1"/>
          </p:cNvPicPr>
          <p:nvPr/>
        </p:nvPicPr>
        <p:blipFill>
          <a:blip r:embed="rId3"/>
          <a:srcRect l="0" r="0" t="10078" b="20234"/>
          <a:stretch/>
        </p:blipFill>
        <p:spPr>
          <a:xfrm>
            <a:off x="828000" y="1292400"/>
            <a:ext cx="1440000" cy="1440000"/>
          </a:xfrm>
          <a:prstGeom prst="ellipse">
            <a:avLst/>
          </a:prstGeom>
        </p:spPr>
      </p:pic>
      <p:pic>
        <p:nvPicPr>
          <p:cNvPr id="15" name="Image 3" descr="Une bouteille du domaine Chai Berteaud Manceau">    </p:cNvPr>
          <p:cNvPicPr>
            <a:picLocks noChangeAspect="1"/>
          </p:cNvPicPr>
          <p:nvPr/>
        </p:nvPicPr>
        <p:blipFill>
          <a:blip r:embed="rId4"/>
          <a:stretch>
            <a:fillRect/>
          </a:stretch>
        </p:blipFill>
        <p:spPr>
          <a:xfrm>
            <a:off x="6214131" y="1292400"/>
            <a:ext cx="603738" cy="2232000"/>
          </a:xfrm>
          <a:prstGeom prst="rect">
            <a:avLst/>
          </a:prstGeom>
        </p:spPr>
      </p:pic>
      <p:sp>
        <p:nvSpPr>
          <p:cNvPr id="16" name="Text 10"/>
          <p:cNvSpPr/>
          <p:nvPr/>
        </p:nvSpPr>
        <p:spPr>
          <a:xfrm>
            <a:off x="2394017" y="1423722"/>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542112"/>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952646"/>
            <a:ext cx="0" cy="259440"/>
          </a:xfrm>
          <a:prstGeom prst="line">
            <a:avLst/>
          </a:prstGeom>
          <a:noFill/>
          <a:ln w="17780">
            <a:solidFill>
              <a:srgbClr val="67067C"/>
            </a:solidFill>
            <a:prstDash val="solid"/>
          </a:ln>
        </p:spPr>
      </p:sp>
      <p:sp>
        <p:nvSpPr>
          <p:cNvPr id="20" name="Text 13"/>
          <p:cNvSpPr/>
          <p:nvPr/>
        </p:nvSpPr>
        <p:spPr>
          <a:xfrm>
            <a:off x="936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828000" y="5503686"/>
            <a:ext cx="6120000" cy="158521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is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495954"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95954"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927344"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27344"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70901"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7090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6" name="Image 2" descr="dans les vignes — Domaine Jean de Villebois">    </p:cNvPr>
          <p:cNvPicPr>
            <a:picLocks noChangeAspect="1"/>
          </p:cNvPicPr>
          <p:nvPr/>
        </p:nvPicPr>
        <p:blipFill>
          <a:blip r:embed="rId3"/>
          <a:srcRect l="2667" r="30666" t="0" b="0"/>
          <a:stretch/>
        </p:blipFill>
        <p:spPr>
          <a:xfrm>
            <a:off x="612000" y="1292400"/>
            <a:ext cx="1440000" cy="1440000"/>
          </a:xfrm>
          <a:prstGeom prst="ellipse">
            <a:avLst/>
          </a:prstGeom>
        </p:spPr>
      </p:pic>
      <p:pic>
        <p:nvPicPr>
          <p:cNvPr id="17" name="Image 3" descr="Une bouteille du domaine Domaine Jean de Villebois">    </p:cNvPr>
          <p:cNvPicPr>
            <a:picLocks noChangeAspect="1"/>
          </p:cNvPicPr>
          <p:nvPr/>
        </p:nvPicPr>
        <p:blipFill>
          <a:blip r:embed="rId4"/>
          <a:stretch>
            <a:fillRect/>
          </a:stretch>
        </p:blipFill>
        <p:spPr>
          <a:xfrm>
            <a:off x="6064973" y="1292400"/>
            <a:ext cx="553574" cy="2016000"/>
          </a:xfrm>
          <a:prstGeom prst="rect">
            <a:avLst/>
          </a:prstGeom>
        </p:spPr>
      </p:pic>
      <p:sp>
        <p:nvSpPr>
          <p:cNvPr id="18" name="Text 12"/>
          <p:cNvSpPr/>
          <p:nvPr/>
        </p:nvSpPr>
        <p:spPr>
          <a:xfrm>
            <a:off x="2177960" y="132051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430729"/>
            <a:ext cx="3539520" cy="187742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437757"/>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648668"/>
            <a:ext cx="0" cy="259440"/>
          </a:xfrm>
          <a:prstGeom prst="line">
            <a:avLst/>
          </a:prstGeom>
          <a:noFill/>
          <a:ln w="17780">
            <a:solidFill>
              <a:srgbClr val="67067C"/>
            </a:solidFill>
            <a:prstDash val="solid"/>
          </a:ln>
        </p:spPr>
      </p:sp>
      <p:sp>
        <p:nvSpPr>
          <p:cNvPr id="22" name="Text 15"/>
          <p:cNvSpPr/>
          <p:nvPr/>
        </p:nvSpPr>
        <p:spPr>
          <a:xfrm>
            <a:off x="720000" y="764866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10</a:t>
            </a:r>
            <a:endParaRPr lang="en-US" sz="740" dirty="0"/>
          </a:p>
        </p:txBody>
      </p:sp>
      <p:sp>
        <p:nvSpPr>
          <p:cNvPr id="24" name="Shape 17"/>
          <p:cNvSpPr/>
          <p:nvPr/>
        </p:nvSpPr>
        <p:spPr>
          <a:xfrm>
            <a:off x="612000" y="8496000"/>
            <a:ext cx="6120000" cy="0"/>
          </a:xfrm>
          <a:prstGeom prst="line">
            <a:avLst/>
          </a:prstGeom>
          <a:noFill/>
          <a:ln w="8890">
            <a:solidFill>
              <a:srgbClr val="46606E"/>
            </a:solidFill>
            <a:prstDash val="solid"/>
          </a:ln>
        </p:spPr>
      </p:sp>
      <p:sp>
        <p:nvSpPr>
          <p:cNvPr id="25"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828000" y="12924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6172967" y="1292400"/>
            <a:ext cx="686066" cy="2232000"/>
          </a:xfrm>
          <a:prstGeom prst="rect">
            <a:avLst/>
          </a:prstGeom>
        </p:spPr>
      </p:pic>
      <p:sp>
        <p:nvSpPr>
          <p:cNvPr id="13" name="Text 8"/>
          <p:cNvSpPr/>
          <p:nvPr/>
        </p:nvSpPr>
        <p:spPr>
          <a:xfrm>
            <a:off x="2394033" y="1282849"/>
            <a:ext cx="251342" cy="451714"/>
          </a:xfrm>
          <a:prstGeom prst="rect">
            <a:avLst/>
          </a:prstGeom>
          <a:noFill/>
          <a:ln/>
        </p:spPr>
        <p:txBody>
          <a:bodyPr wrap="square" lIns="0" tIns="0" rIns="0" bIns="0" rtlCol="0" anchor="t"/>
          <a:lstStyle/>
          <a:p>
            <a:pPr algn="r" indent="0" marL="0">
              <a:lnSpc>
                <a:spcPct val="125000"/>
              </a:lnSpc>
              <a:buNone/>
            </a:pPr>
            <a:r>
              <a:rPr lang="en-US" sz="2223" dirty="0">
                <a:solidFill>
                  <a:srgbClr val="67067C"/>
                </a:solidFill>
                <a:latin typeface="Young Serif" pitchFamily="34" charset="0"/>
                <a:ea typeface="Young Serif" pitchFamily="34" charset="-122"/>
                <a:cs typeface="Young Serif" pitchFamily="34" charset="-120"/>
              </a:rPr>
              <a:t>L</a:t>
            </a:r>
            <a:endParaRPr lang="en-US" sz="2223" dirty="0"/>
          </a:p>
        </p:txBody>
      </p:sp>
      <p:sp>
        <p:nvSpPr>
          <p:cNvPr id="14" name="Text 9"/>
          <p:cNvSpPr/>
          <p:nvPr/>
        </p:nvSpPr>
        <p:spPr>
          <a:xfrm>
            <a:off x="2448000" y="1401589"/>
            <a:ext cx="3456000" cy="2122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828000" y="6427979"/>
            <a:ext cx="0" cy="259440"/>
          </a:xfrm>
          <a:prstGeom prst="line">
            <a:avLst/>
          </a:prstGeom>
          <a:noFill/>
          <a:ln w="17780">
            <a:solidFill>
              <a:srgbClr val="67067C"/>
            </a:solidFill>
            <a:prstDash val="solid"/>
          </a:ln>
        </p:spPr>
      </p:sp>
      <p:sp>
        <p:nvSpPr>
          <p:cNvPr id="17" name="Text 11"/>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catalogue-scio-2026/sol-loire.png">    </p:cNvPr>
          <p:cNvPicPr>
            <a:picLocks noChangeAspect="1"/>
          </p:cNvPicPr>
          <p:nvPr/>
        </p:nvPicPr>
        <p:blipFill>
          <a:blip r:embed="rId4"/>
          <a:stretch>
            <a:fillRect/>
          </a:stretch>
        </p:blipFill>
        <p:spPr>
          <a:xfrm>
            <a:off x="828000" y="6979020"/>
            <a:ext cx="6120000" cy="834314"/>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9</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4" name="Image 2" descr="logo du domaine — Domaine Boehler">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Boehler">    </p:cNvPr>
          <p:cNvPicPr>
            <a:picLocks noChangeAspect="1"/>
          </p:cNvPicPr>
          <p:nvPr/>
        </p:nvPicPr>
        <p:blipFill>
          <a:blip r:embed="rId4"/>
          <a:stretch>
            <a:fillRect/>
          </a:stretch>
        </p:blipFill>
        <p:spPr>
          <a:xfrm>
            <a:off x="6252345" y="1292400"/>
            <a:ext cx="346230" cy="1584000"/>
          </a:xfrm>
          <a:prstGeom prst="rect">
            <a:avLst/>
          </a:prstGeom>
        </p:spPr>
      </p:pic>
      <p:sp>
        <p:nvSpPr>
          <p:cNvPr id="16" name="Text 10"/>
          <p:cNvSpPr/>
          <p:nvPr/>
        </p:nvSpPr>
        <p:spPr>
          <a:xfrm>
            <a:off x="2177976" y="1217682"/>
            <a:ext cx="227586" cy="386283"/>
          </a:xfrm>
          <a:prstGeom prst="rect">
            <a:avLst/>
          </a:prstGeom>
          <a:noFill/>
          <a:ln/>
        </p:spPr>
        <p:txBody>
          <a:bodyPr wrap="square" lIns="0" tIns="0" rIns="0" bIns="0" rtlCol="0" anchor="t"/>
          <a:lstStyle/>
          <a:p>
            <a:pPr algn="r" indent="0" marL="0">
              <a:lnSpc>
                <a:spcPct val="126100"/>
              </a:lnSpc>
              <a:buNone/>
            </a:pPr>
            <a:r>
              <a:rPr lang="en-US" sz="1901" dirty="0">
                <a:solidFill>
                  <a:srgbClr val="67067C"/>
                </a:solidFill>
                <a:latin typeface="Young Serif" pitchFamily="34" charset="0"/>
                <a:ea typeface="Young Serif" pitchFamily="34" charset="-122"/>
                <a:cs typeface="Young Serif" pitchFamily="34" charset="-120"/>
              </a:rPr>
              <a:t>B</a:t>
            </a:r>
            <a:endParaRPr lang="en-US" sz="1901" dirty="0"/>
          </a:p>
        </p:txBody>
      </p:sp>
      <p:sp>
        <p:nvSpPr>
          <p:cNvPr id="17" name="Text 11"/>
          <p:cNvSpPr/>
          <p:nvPr/>
        </p:nvSpPr>
        <p:spPr>
          <a:xfrm>
            <a:off x="2232000" y="1315068"/>
            <a:ext cx="3706920" cy="1561190"/>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005858"/>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60 à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120 à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Plus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8024756"/>
            <a:ext cx="0" cy="259440"/>
          </a:xfrm>
          <a:prstGeom prst="line">
            <a:avLst/>
          </a:prstGeom>
          <a:noFill/>
          <a:ln w="17780">
            <a:solidFill>
              <a:srgbClr val="67067C"/>
            </a:solidFill>
            <a:prstDash val="solid"/>
          </a:ln>
        </p:spPr>
      </p:sp>
      <p:sp>
        <p:nvSpPr>
          <p:cNvPr id="20" name="Text 13"/>
          <p:cNvSpPr/>
          <p:nvPr/>
        </p:nvSpPr>
        <p:spPr>
          <a:xfrm>
            <a:off x="720000" y="8024756"/>
            <a:ext cx="6012000" cy="259440"/>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es vignerons — Domaine des Nugues">    </p:cNvPr>
          <p:cNvPicPr>
            <a:picLocks noChangeAspect="1"/>
          </p:cNvPicPr>
          <p:nvPr/>
        </p:nvPicPr>
        <p:blipFill>
          <a:blip r:embed="rId3"/>
          <a:srcRect l="0" r="0" t="10991" b="22342"/>
          <a:stretch/>
        </p:blipFill>
        <p:spPr>
          <a:xfrm>
            <a:off x="828000" y="1292400"/>
            <a:ext cx="1440000" cy="1440000"/>
          </a:xfrm>
          <a:prstGeom prst="ellipse">
            <a:avLst/>
          </a:prstGeom>
        </p:spPr>
      </p:pic>
      <p:pic>
        <p:nvPicPr>
          <p:cNvPr id="15" name="Image 3" descr="Une bouteille du domaine Domaine des Nugues">    </p:cNvPr>
          <p:cNvPicPr>
            <a:picLocks noChangeAspect="1"/>
          </p:cNvPicPr>
          <p:nvPr/>
        </p:nvPicPr>
        <p:blipFill>
          <a:blip r:embed="rId4"/>
          <a:stretch>
            <a:fillRect/>
          </a:stretch>
        </p:blipFill>
        <p:spPr>
          <a:xfrm>
            <a:off x="6226328" y="1292400"/>
            <a:ext cx="579344" cy="2232000"/>
          </a:xfrm>
          <a:prstGeom prst="rect">
            <a:avLst/>
          </a:prstGeom>
        </p:spPr>
      </p:pic>
      <p:sp>
        <p:nvSpPr>
          <p:cNvPr id="16" name="Text 10"/>
          <p:cNvSpPr/>
          <p:nvPr/>
        </p:nvSpPr>
        <p:spPr>
          <a:xfrm>
            <a:off x="2393990" y="1205297"/>
            <a:ext cx="235510" cy="384658"/>
          </a:xfrm>
          <a:prstGeom prst="rect">
            <a:avLst/>
          </a:prstGeom>
          <a:noFill/>
          <a:ln/>
        </p:spPr>
        <p:txBody>
          <a:bodyPr wrap="square" lIns="0" tIns="0" rIns="0" bIns="0" rtlCol="0" anchor="t"/>
          <a:lstStyle/>
          <a:p>
            <a:pPr algn="r" indent="0" marL="0">
              <a:lnSpc>
                <a:spcPct val="121900"/>
              </a:lnSpc>
              <a:buNone/>
            </a:pPr>
            <a:r>
              <a:rPr lang="en-US" sz="1893" dirty="0">
                <a:solidFill>
                  <a:srgbClr val="67067C"/>
                </a:solidFill>
                <a:latin typeface="Young Serif" pitchFamily="34" charset="0"/>
                <a:ea typeface="Young Serif" pitchFamily="34" charset="-122"/>
                <a:cs typeface="Young Serif" pitchFamily="34" charset="-120"/>
              </a:rPr>
              <a:t>E</a:t>
            </a:r>
            <a:endParaRPr lang="en-US" sz="1893" dirty="0"/>
          </a:p>
        </p:txBody>
      </p:sp>
      <p:sp>
        <p:nvSpPr>
          <p:cNvPr id="17" name="Text 11"/>
          <p:cNvSpPr/>
          <p:nvPr/>
        </p:nvSpPr>
        <p:spPr>
          <a:xfrm>
            <a:off x="2448000" y="1318017"/>
            <a:ext cx="3456000" cy="22062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BEAUJOLAIS — LE CLOS DES NUGUES</a:t>
            </a:r>
            <a:endParaRPr lang="en-US" sz="720" dirty="0"/>
          </a:p>
        </p:txBody>
      </p:sp>
      <p:pic>
        <p:nvPicPr>
          <p:cNvPr id="22" name="Image 4" descr="/home/user/philippe1/build/deco-catalogue-scio-2026/sol-beaujolais.pn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raisonne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195571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95571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66582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66582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30499"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30499"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6" name="Image 2" descr="portrait au chai, recadré au-dessus du verre — Domaine Sébastien Magnie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Sébastien Magnien">    </p:cNvPr>
          <p:cNvPicPr>
            <a:picLocks noChangeAspect="1"/>
          </p:cNvPicPr>
          <p:nvPr/>
        </p:nvPicPr>
        <p:blipFill>
          <a:blip r:embed="rId4"/>
          <a:stretch>
            <a:fillRect/>
          </a:stretch>
        </p:blipFill>
        <p:spPr>
          <a:xfrm>
            <a:off x="6195371" y="1292400"/>
            <a:ext cx="432098" cy="1656000"/>
          </a:xfrm>
          <a:prstGeom prst="rect">
            <a:avLst/>
          </a:prstGeom>
        </p:spPr>
      </p:pic>
      <p:sp>
        <p:nvSpPr>
          <p:cNvPr id="18" name="Text 12"/>
          <p:cNvSpPr/>
          <p:nvPr/>
        </p:nvSpPr>
        <p:spPr>
          <a:xfrm>
            <a:off x="2178002" y="1250578"/>
            <a:ext cx="154535" cy="395224"/>
          </a:xfrm>
          <a:prstGeom prst="rect">
            <a:avLst/>
          </a:prstGeom>
          <a:noFill/>
          <a:ln/>
        </p:spPr>
        <p:txBody>
          <a:bodyPr wrap="square" lIns="0" tIns="0" rIns="0" bIns="0" rtlCol="0" anchor="t"/>
          <a:lstStyle/>
          <a:p>
            <a:pPr algn="r" indent="0" marL="0">
              <a:lnSpc>
                <a:spcPct val="125300"/>
              </a:lnSpc>
              <a:buNone/>
            </a:pPr>
            <a:r>
              <a:rPr lang="en-US" sz="1945" dirty="0">
                <a:solidFill>
                  <a:srgbClr val="67067C"/>
                </a:solidFill>
                <a:latin typeface="Young Serif" pitchFamily="34" charset="0"/>
                <a:ea typeface="Young Serif" pitchFamily="34" charset="-122"/>
                <a:cs typeface="Young Serif" pitchFamily="34" charset="-120"/>
              </a:rPr>
              <a:t>I</a:t>
            </a:r>
            <a:endParaRPr lang="en-US" sz="1945" dirty="0"/>
          </a:p>
        </p:txBody>
      </p:sp>
      <p:sp>
        <p:nvSpPr>
          <p:cNvPr id="19" name="Text 13"/>
          <p:cNvSpPr/>
          <p:nvPr/>
        </p:nvSpPr>
        <p:spPr>
          <a:xfrm>
            <a:off x="2232000" y="1353105"/>
            <a:ext cx="3678840" cy="1595037"/>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07774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8021929"/>
            <a:ext cx="0" cy="259440"/>
          </a:xfrm>
          <a:prstGeom prst="line">
            <a:avLst/>
          </a:prstGeom>
          <a:noFill/>
          <a:ln w="17780">
            <a:solidFill>
              <a:srgbClr val="67067C"/>
            </a:solidFill>
            <a:prstDash val="solid"/>
          </a:ln>
        </p:spPr>
      </p:sp>
      <p:sp>
        <p:nvSpPr>
          <p:cNvPr id="22" name="Text 15"/>
          <p:cNvSpPr/>
          <p:nvPr/>
        </p:nvSpPr>
        <p:spPr>
          <a:xfrm>
            <a:off x="720000" y="802192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044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044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044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044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2924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1754" y="1292400"/>
            <a:ext cx="588492" cy="2232000"/>
          </a:xfrm>
          <a:prstGeom prst="rect">
            <a:avLst/>
          </a:prstGeom>
        </p:spPr>
      </p:pic>
      <p:sp>
        <p:nvSpPr>
          <p:cNvPr id="17" name="Text 12"/>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8" name="Text 13"/>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6117970"/>
            <a:ext cx="0" cy="259440"/>
          </a:xfrm>
          <a:prstGeom prst="line">
            <a:avLst/>
          </a:prstGeom>
          <a:noFill/>
          <a:ln w="17780">
            <a:solidFill>
              <a:srgbClr val="67067C"/>
            </a:solidFill>
            <a:prstDash val="solid"/>
          </a:ln>
        </p:spPr>
      </p:sp>
      <p:sp>
        <p:nvSpPr>
          <p:cNvPr id="21" name="Text 15"/>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3" name="Image 3" descr="/home/user/philippe1/build/deco-catalogue-scio-2026/sol-bourgogne.png">    </p:cNvPr>
          <p:cNvPicPr>
            <a:picLocks noChangeAspect="1"/>
          </p:cNvPicPr>
          <p:nvPr/>
        </p:nvPicPr>
        <p:blipFill>
          <a:blip r:embed="rId4"/>
          <a:stretch>
            <a:fillRect/>
          </a:stretch>
        </p:blipFill>
        <p:spPr>
          <a:xfrm>
            <a:off x="828000" y="6669011"/>
            <a:ext cx="6120000" cy="1148400"/>
          </a:xfrm>
          <a:prstGeom prst="rect">
            <a:avLst/>
          </a:prstGeom>
        </p:spPr>
      </p:pic>
      <p:sp>
        <p:nvSpPr>
          <p:cNvPr id="24" name="Shape 17"/>
          <p:cNvSpPr/>
          <p:nvPr/>
        </p:nvSpPr>
        <p:spPr>
          <a:xfrm>
            <a:off x="828000" y="8496000"/>
            <a:ext cx="6120000" cy="0"/>
          </a:xfrm>
          <a:prstGeom prst="line">
            <a:avLst/>
          </a:prstGeom>
          <a:noFill/>
          <a:ln w="8890">
            <a:solidFill>
              <a:srgbClr val="46606E"/>
            </a:solidFill>
            <a:prstDash val="solid"/>
          </a:ln>
        </p:spPr>
      </p:sp>
      <p:sp>
        <p:nvSpPr>
          <p:cNvPr id="25"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6"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7"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8"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219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929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929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360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60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6" name="Image 2" descr="deux portraits de la maison, côte à côte — Maison et Domaine André Goichot">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Maison et Domaine André Goichot">    </p:cNvPr>
          <p:cNvPicPr>
            <a:picLocks noChangeAspect="1"/>
          </p:cNvPicPr>
          <p:nvPr/>
        </p:nvPicPr>
        <p:blipFill>
          <a:blip r:embed="rId4"/>
          <a:stretch>
            <a:fillRect/>
          </a:stretch>
        </p:blipFill>
        <p:spPr>
          <a:xfrm>
            <a:off x="6019475" y="1292400"/>
            <a:ext cx="561049" cy="2232000"/>
          </a:xfrm>
          <a:prstGeom prst="rect">
            <a:avLst/>
          </a:prstGeom>
        </p:spPr>
      </p:pic>
      <p:sp>
        <p:nvSpPr>
          <p:cNvPr id="18" name="Text 12"/>
          <p:cNvSpPr/>
          <p:nvPr/>
        </p:nvSpPr>
        <p:spPr>
          <a:xfrm>
            <a:off x="2178034" y="1563072"/>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232000" y="1683682"/>
            <a:ext cx="3456000" cy="184057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612000" y="57430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png">    </p:cNvPr>
          <p:cNvPicPr>
            <a:picLocks noChangeAspect="1"/>
          </p:cNvPicPr>
          <p:nvPr/>
        </p:nvPicPr>
        <p:blipFill>
          <a:blip r:embed="rId5"/>
          <a:stretch>
            <a:fillRect/>
          </a:stretch>
        </p:blipFill>
        <p:spPr>
          <a:xfrm>
            <a:off x="612000" y="5890639"/>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750" dirty="0">
                <a:solidFill>
                  <a:srgbClr val="46606E"/>
                </a:solidFill>
                <a:latin typeface="Young Serif" pitchFamily="34" charset="0"/>
                <a:ea typeface="Young Serif" pitchFamily="34" charset="-122"/>
                <a:cs typeface="Young Serif" pitchFamily="34" charset="-120"/>
              </a:rPr>
              <a:t>   Maison et Domaine André Goichot</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435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45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45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576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76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5269799"/>
            <a:ext cx="0" cy="259440"/>
          </a:xfrm>
          <a:prstGeom prst="line">
            <a:avLst/>
          </a:prstGeom>
          <a:noFill/>
          <a:ln w="17780">
            <a:solidFill>
              <a:srgbClr val="67067C"/>
            </a:solidFill>
            <a:prstDash val="solid"/>
          </a:ln>
        </p:spPr>
      </p:sp>
      <p:sp>
        <p:nvSpPr>
          <p:cNvPr id="18" name="Text 13"/>
          <p:cNvSpPr/>
          <p:nvPr/>
        </p:nvSpPr>
        <p:spPr>
          <a:xfrm>
            <a:off x="936000" y="526979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9" name="Text 14"/>
          <p:cNvSpPr/>
          <p:nvPr/>
        </p:nvSpPr>
        <p:spPr>
          <a:xfrm>
            <a:off x="828000" y="56732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catalogue-scio-2026/sol-bourgogne.png">    </p:cNvPr>
          <p:cNvPicPr>
            <a:picLocks noChangeAspect="1"/>
          </p:cNvPicPr>
          <p:nvPr/>
        </p:nvPicPr>
        <p:blipFill>
          <a:blip r:embed="rId3"/>
          <a:stretch>
            <a:fillRect/>
          </a:stretch>
        </p:blipFill>
        <p:spPr>
          <a:xfrm>
            <a:off x="828000" y="5820839"/>
            <a:ext cx="6120000" cy="1186857"/>
          </a:xfrm>
          <a:prstGeom prst="rect">
            <a:avLst/>
          </a:prstGeom>
        </p:spPr>
      </p:pic>
      <p:sp>
        <p:nvSpPr>
          <p:cNvPr id="21"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2" name="Shape 16"/>
          <p:cNvSpPr/>
          <p:nvPr/>
        </p:nvSpPr>
        <p:spPr>
          <a:xfrm>
            <a:off x="828000" y="8496000"/>
            <a:ext cx="6120000" cy="0"/>
          </a:xfrm>
          <a:prstGeom prst="line">
            <a:avLst/>
          </a:prstGeom>
          <a:noFill/>
          <a:ln w="8890">
            <a:solidFill>
              <a:srgbClr val="46606E"/>
            </a:solidFill>
            <a:prstDash val="solid"/>
          </a:ln>
        </p:spPr>
      </p:sp>
      <p:sp>
        <p:nvSpPr>
          <p:cNvPr id="23"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6"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2924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292400"/>
            <a:ext cx="598337" cy="2232000"/>
          </a:xfrm>
          <a:prstGeom prst="rect">
            <a:avLst/>
          </a:prstGeom>
        </p:spPr>
      </p:pic>
      <p:sp>
        <p:nvSpPr>
          <p:cNvPr id="13" name="Text 8"/>
          <p:cNvSpPr/>
          <p:nvPr/>
        </p:nvSpPr>
        <p:spPr>
          <a:xfrm>
            <a:off x="2177990" y="1328808"/>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232000" y="1443068"/>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4743989"/>
            <a:ext cx="0" cy="259440"/>
          </a:xfrm>
          <a:prstGeom prst="line">
            <a:avLst/>
          </a:prstGeom>
          <a:noFill/>
          <a:ln w="17780">
            <a:solidFill>
              <a:srgbClr val="67067C"/>
            </a:solidFill>
            <a:prstDash val="solid"/>
          </a:ln>
        </p:spPr>
      </p:sp>
      <p:sp>
        <p:nvSpPr>
          <p:cNvPr id="17" name="Text 11"/>
          <p:cNvSpPr/>
          <p:nvPr/>
        </p:nvSpPr>
        <p:spPr>
          <a:xfrm>
            <a:off x="720000" y="474398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8" name="Text 12"/>
          <p:cNvSpPr/>
          <p:nvPr/>
        </p:nvSpPr>
        <p:spPr>
          <a:xfrm>
            <a:off x="612000" y="514742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png">    </p:cNvPr>
          <p:cNvPicPr>
            <a:picLocks noChangeAspect="1"/>
          </p:cNvPicPr>
          <p:nvPr/>
        </p:nvPicPr>
        <p:blipFill>
          <a:blip r:embed="rId4"/>
          <a:stretch>
            <a:fillRect/>
          </a:stretch>
        </p:blipFill>
        <p:spPr>
          <a:xfrm>
            <a:off x="612000" y="5295029"/>
            <a:ext cx="6120000" cy="1502343"/>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n°14 p. 18</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2924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292400"/>
            <a:ext cx="570197" cy="2232000"/>
          </a:xfrm>
          <a:prstGeom prst="rect">
            <a:avLst/>
          </a:prstGeom>
        </p:spPr>
      </p:pic>
      <p:sp>
        <p:nvSpPr>
          <p:cNvPr id="13" name="Text 8"/>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828000" y="5259679"/>
            <a:ext cx="0" cy="259440"/>
          </a:xfrm>
          <a:prstGeom prst="line">
            <a:avLst/>
          </a:prstGeom>
          <a:noFill/>
          <a:ln w="17780">
            <a:solidFill>
              <a:srgbClr val="67067C"/>
            </a:solidFill>
            <a:prstDash val="solid"/>
          </a:ln>
        </p:spPr>
      </p:sp>
      <p:sp>
        <p:nvSpPr>
          <p:cNvPr id="17" name="Text 11"/>
          <p:cNvSpPr/>
          <p:nvPr/>
        </p:nvSpPr>
        <p:spPr>
          <a:xfrm>
            <a:off x="936000" y="52596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18" name="Text 12"/>
          <p:cNvSpPr/>
          <p:nvPr/>
        </p:nvSpPr>
        <p:spPr>
          <a:xfrm>
            <a:off x="828000" y="566311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png">    </p:cNvPr>
          <p:cNvPicPr>
            <a:picLocks noChangeAspect="1"/>
          </p:cNvPicPr>
          <p:nvPr/>
        </p:nvPicPr>
        <p:blipFill>
          <a:blip r:embed="rId4"/>
          <a:stretch>
            <a:fillRect/>
          </a:stretch>
        </p:blipFill>
        <p:spPr>
          <a:xfrm>
            <a:off x="828000" y="5810719"/>
            <a:ext cx="6120000" cy="1192929"/>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n°13 p. 17</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4" name="Image 2" descr="portrait du vigneron — Domaine des Verchères">    </p:cNvPr>
          <p:cNvPicPr>
            <a:picLocks noChangeAspect="1"/>
          </p:cNvPicPr>
          <p:nvPr/>
        </p:nvPicPr>
        <p:blipFill>
          <a:blip r:embed="rId3"/>
          <a:srcRect l="6000" r="6040" t="0" b="0"/>
          <a:stretch/>
        </p:blipFill>
        <p:spPr>
          <a:xfrm>
            <a:off x="612000" y="1292400"/>
            <a:ext cx="1440000" cy="1440000"/>
          </a:xfrm>
          <a:prstGeom prst="ellipse">
            <a:avLst/>
          </a:prstGeom>
        </p:spPr>
      </p:pic>
      <p:pic>
        <p:nvPicPr>
          <p:cNvPr id="15" name="Image 3" descr="Une bouteille du domaine Domaine des Verchères">    </p:cNvPr>
          <p:cNvPicPr>
            <a:picLocks noChangeAspect="1"/>
          </p:cNvPicPr>
          <p:nvPr/>
        </p:nvPicPr>
        <p:blipFill>
          <a:blip r:embed="rId4"/>
          <a:stretch>
            <a:fillRect/>
          </a:stretch>
        </p:blipFill>
        <p:spPr>
          <a:xfrm>
            <a:off x="6017951" y="1292400"/>
            <a:ext cx="564098" cy="2232000"/>
          </a:xfrm>
          <a:prstGeom prst="rect">
            <a:avLst/>
          </a:prstGeom>
        </p:spPr>
      </p:pic>
      <p:sp>
        <p:nvSpPr>
          <p:cNvPr id="16" name="Text 10"/>
          <p:cNvSpPr/>
          <p:nvPr/>
        </p:nvSpPr>
        <p:spPr>
          <a:xfrm>
            <a:off x="2178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232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262655"/>
            <a:ext cx="0" cy="259440"/>
          </a:xfrm>
          <a:prstGeom prst="line">
            <a:avLst/>
          </a:prstGeom>
          <a:noFill/>
          <a:ln w="17780">
            <a:solidFill>
              <a:srgbClr val="67067C"/>
            </a:solidFill>
            <a:prstDash val="solid"/>
          </a:ln>
        </p:spPr>
      </p:sp>
      <p:sp>
        <p:nvSpPr>
          <p:cNvPr id="20" name="Text 13"/>
          <p:cNvSpPr/>
          <p:nvPr/>
        </p:nvSpPr>
        <p:spPr>
          <a:xfrm>
            <a:off x="720000" y="526265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612000" y="566609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png">    </p:cNvPr>
          <p:cNvPicPr>
            <a:picLocks noChangeAspect="1"/>
          </p:cNvPicPr>
          <p:nvPr/>
        </p:nvPicPr>
        <p:blipFill>
          <a:blip r:embed="rId5"/>
          <a:stretch>
            <a:fillRect/>
          </a:stretch>
        </p:blipFill>
        <p:spPr>
          <a:xfrm>
            <a:off x="612000" y="5813695"/>
            <a:ext cx="6120000" cy="1399205"/>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19</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domaine — Domaine Le Prieuré des Pape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 Prieuré des Papes">    </p:cNvPr>
          <p:cNvPicPr>
            <a:picLocks noChangeAspect="1"/>
          </p:cNvPicPr>
          <p:nvPr/>
        </p:nvPicPr>
        <p:blipFill>
          <a:blip r:embed="rId4"/>
          <a:stretch>
            <a:fillRect/>
          </a:stretch>
        </p:blipFill>
        <p:spPr>
          <a:xfrm>
            <a:off x="6227852" y="1292400"/>
            <a:ext cx="576295" cy="2232000"/>
          </a:xfrm>
          <a:prstGeom prst="rect">
            <a:avLst/>
          </a:prstGeom>
        </p:spPr>
      </p:pic>
      <p:sp>
        <p:nvSpPr>
          <p:cNvPr id="16" name="Text 10"/>
          <p:cNvSpPr/>
          <p:nvPr/>
        </p:nvSpPr>
        <p:spPr>
          <a:xfrm>
            <a:off x="2394049" y="1125315"/>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7" name="Text 11"/>
          <p:cNvSpPr/>
          <p:nvPr/>
        </p:nvSpPr>
        <p:spPr>
          <a:xfrm>
            <a:off x="2448000" y="1152907"/>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74555"/>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073346"/>
            <a:ext cx="0" cy="259440"/>
          </a:xfrm>
          <a:prstGeom prst="line">
            <a:avLst/>
          </a:prstGeom>
          <a:noFill/>
          <a:ln w="17780">
            <a:solidFill>
              <a:srgbClr val="67067C"/>
            </a:solidFill>
            <a:prstDash val="solid"/>
          </a:ln>
        </p:spPr>
      </p:sp>
      <p:sp>
        <p:nvSpPr>
          <p:cNvPr id="20" name="Text 13"/>
          <p:cNvSpPr/>
          <p:nvPr/>
        </p:nvSpPr>
        <p:spPr>
          <a:xfrm>
            <a:off x="936000" y="50733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4767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5624386"/>
            <a:ext cx="6120000" cy="1304729"/>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21 · n°18 p. 22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8"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e domaine — Domaine de Coyeux">    </p:cNvPr>
          <p:cNvPicPr>
            <a:picLocks noChangeAspect="1"/>
          </p:cNvPicPr>
          <p:nvPr/>
        </p:nvPicPr>
        <p:blipFill>
          <a:blip r:embed="rId3"/>
          <a:srcRect l="2570" r="2693" t="0" b="0"/>
          <a:stretch/>
        </p:blipFill>
        <p:spPr>
          <a:xfrm>
            <a:off x="612000" y="1292400"/>
            <a:ext cx="1440000" cy="1440000"/>
          </a:xfrm>
          <a:prstGeom prst="ellipse">
            <a:avLst/>
          </a:prstGeom>
        </p:spPr>
      </p:pic>
      <p:pic>
        <p:nvPicPr>
          <p:cNvPr id="15" name="Image 3" descr="Une bouteille du domaine Domaine de Coyeux">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8017" y="1109673"/>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7" name="Text 11"/>
          <p:cNvSpPr/>
          <p:nvPr/>
        </p:nvSpPr>
        <p:spPr>
          <a:xfrm>
            <a:off x="2232000" y="1192998"/>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136505"/>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571003"/>
            <a:ext cx="0" cy="259440"/>
          </a:xfrm>
          <a:prstGeom prst="line">
            <a:avLst/>
          </a:prstGeom>
          <a:noFill/>
          <a:ln w="17780">
            <a:solidFill>
              <a:srgbClr val="67067C"/>
            </a:solidFill>
            <a:prstDash val="solid"/>
          </a:ln>
        </p:spPr>
      </p:sp>
      <p:sp>
        <p:nvSpPr>
          <p:cNvPr id="20" name="Text 13"/>
          <p:cNvSpPr/>
          <p:nvPr/>
        </p:nvSpPr>
        <p:spPr>
          <a:xfrm>
            <a:off x="720000" y="657100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697444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7122043"/>
            <a:ext cx="6120000" cy="69129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n°18 p. 22 · n°19 p. 23</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du Moulin Blanc">    </p:cNvPr>
          <p:cNvPicPr>
            <a:picLocks noChangeAspect="1"/>
          </p:cNvPicPr>
          <p:nvPr/>
        </p:nvPicPr>
        <p:blipFill>
          <a:blip r:embed="rId4"/>
          <a:stretch>
            <a:fillRect/>
          </a:stretch>
        </p:blipFill>
        <p:spPr>
          <a:xfrm>
            <a:off x="6220230" y="1292400"/>
            <a:ext cx="591541" cy="2232000"/>
          </a:xfrm>
          <a:prstGeom prst="rect">
            <a:avLst/>
          </a:prstGeom>
        </p:spPr>
      </p:pic>
      <p:sp>
        <p:nvSpPr>
          <p:cNvPr id="16" name="Text 10"/>
          <p:cNvSpPr/>
          <p:nvPr/>
        </p:nvSpPr>
        <p:spPr>
          <a:xfrm>
            <a:off x="2393970" y="1253208"/>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7" name="Text 11"/>
          <p:cNvSpPr/>
          <p:nvPr/>
        </p:nvSpPr>
        <p:spPr>
          <a:xfrm>
            <a:off x="2448000" y="1333003"/>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639661"/>
            <a:ext cx="0" cy="259440"/>
          </a:xfrm>
          <a:prstGeom prst="line">
            <a:avLst/>
          </a:prstGeom>
          <a:noFill/>
          <a:ln w="17780">
            <a:solidFill>
              <a:srgbClr val="67067C"/>
            </a:solidFill>
            <a:prstDash val="solid"/>
          </a:ln>
        </p:spPr>
      </p:sp>
      <p:sp>
        <p:nvSpPr>
          <p:cNvPr id="20" name="Text 13"/>
          <p:cNvSpPr/>
          <p:nvPr/>
        </p:nvSpPr>
        <p:spPr>
          <a:xfrm>
            <a:off x="936000" y="463966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0431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5190701"/>
            <a:ext cx="6120000" cy="1564940"/>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8"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4" name="Image 2" descr="vendanges dans les vignes — Domaine de la Pousterle">    </p:cNvPr>
          <p:cNvPicPr>
            <a:picLocks noChangeAspect="1"/>
          </p:cNvPicPr>
          <p:nvPr/>
        </p:nvPicPr>
        <p:blipFill>
          <a:blip r:embed="rId3"/>
          <a:srcRect l="0" r="10156" t="0" b="0"/>
          <a:stretch/>
        </p:blipFill>
        <p:spPr>
          <a:xfrm>
            <a:off x="612000" y="1292400"/>
            <a:ext cx="1440000" cy="1440000"/>
          </a:xfrm>
          <a:prstGeom prst="ellipse">
            <a:avLst/>
          </a:prstGeom>
        </p:spPr>
      </p:pic>
      <p:pic>
        <p:nvPicPr>
          <p:cNvPr id="15" name="Image 3" descr="Une bouteille du domaine Domaine de la Pousterle">    </p:cNvPr>
          <p:cNvPicPr>
            <a:picLocks noChangeAspect="1"/>
          </p:cNvPicPr>
          <p:nvPr/>
        </p:nvPicPr>
        <p:blipFill>
          <a:blip r:embed="rId4"/>
          <a:stretch>
            <a:fillRect/>
          </a:stretch>
        </p:blipFill>
        <p:spPr>
          <a:xfrm>
            <a:off x="6007279" y="1292400"/>
            <a:ext cx="585443" cy="2232000"/>
          </a:xfrm>
          <a:prstGeom prst="rect">
            <a:avLst/>
          </a:prstGeom>
        </p:spPr>
      </p:pic>
      <p:sp>
        <p:nvSpPr>
          <p:cNvPr id="16" name="Text 10"/>
          <p:cNvSpPr/>
          <p:nvPr/>
        </p:nvSpPr>
        <p:spPr>
          <a:xfrm>
            <a:off x="2177990" y="1223431"/>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7" name="Text 11"/>
          <p:cNvSpPr/>
          <p:nvPr/>
        </p:nvSpPr>
        <p:spPr>
          <a:xfrm>
            <a:off x="2232000" y="1305539"/>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572664"/>
            <a:ext cx="0" cy="259440"/>
          </a:xfrm>
          <a:prstGeom prst="line">
            <a:avLst/>
          </a:prstGeom>
          <a:noFill/>
          <a:ln w="17780">
            <a:solidFill>
              <a:srgbClr val="67067C"/>
            </a:solidFill>
            <a:prstDash val="solid"/>
          </a:ln>
        </p:spPr>
      </p:sp>
      <p:sp>
        <p:nvSpPr>
          <p:cNvPr id="20" name="Text 13"/>
          <p:cNvSpPr/>
          <p:nvPr/>
        </p:nvSpPr>
        <p:spPr>
          <a:xfrm>
            <a:off x="720000" y="557266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97610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6123704"/>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n°18 p. 22</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portrait de la famille — Domaine des Pasquiers">    </p:cNvPr>
          <p:cNvPicPr>
            <a:picLocks noChangeAspect="1"/>
          </p:cNvPicPr>
          <p:nvPr/>
        </p:nvPicPr>
        <p:blipFill>
          <a:blip r:embed="rId3"/>
          <a:srcRect l="12500" r="12500" t="0" b="0"/>
          <a:stretch/>
        </p:blipFill>
        <p:spPr>
          <a:xfrm>
            <a:off x="828000" y="1292400"/>
            <a:ext cx="1440000" cy="1440000"/>
          </a:xfrm>
          <a:prstGeom prst="ellipse">
            <a:avLst/>
          </a:prstGeom>
        </p:spPr>
      </p:pic>
      <p:pic>
        <p:nvPicPr>
          <p:cNvPr id="15" name="Image 3" descr="Une bouteille du domaine Domaine des Pasquiers">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18" y="1294059"/>
            <a:ext cx="287869" cy="473659"/>
          </a:xfrm>
          <a:prstGeom prst="rect">
            <a:avLst/>
          </a:prstGeom>
          <a:noFill/>
          <a:ln/>
        </p:spPr>
        <p:txBody>
          <a:bodyPr wrap="square" lIns="0" tIns="0" rIns="0" bIns="0" rtlCol="0" anchor="t"/>
          <a:lstStyle/>
          <a:p>
            <a:pPr algn="r" indent="0" marL="0">
              <a:lnSpc>
                <a:spcPct val="123000"/>
              </a:lnSpc>
              <a:buNone/>
            </a:pPr>
            <a:r>
              <a:rPr lang="en-US" sz="2331" dirty="0">
                <a:solidFill>
                  <a:srgbClr val="67067C"/>
                </a:solidFill>
                <a:latin typeface="Young Serif" pitchFamily="34" charset="0"/>
                <a:ea typeface="Young Serif" pitchFamily="34" charset="-122"/>
                <a:cs typeface="Young Serif" pitchFamily="34" charset="-120"/>
              </a:rPr>
              <a:t>D</a:t>
            </a:r>
            <a:endParaRPr lang="en-US" sz="2331" dirty="0"/>
          </a:p>
        </p:txBody>
      </p:sp>
      <p:sp>
        <p:nvSpPr>
          <p:cNvPr id="17" name="Text 11"/>
          <p:cNvSpPr/>
          <p:nvPr/>
        </p:nvSpPr>
        <p:spPr>
          <a:xfrm>
            <a:off x="2448000" y="1428129"/>
            <a:ext cx="3456000" cy="2096127"/>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181990"/>
            <a:ext cx="0" cy="259440"/>
          </a:xfrm>
          <a:prstGeom prst="line">
            <a:avLst/>
          </a:prstGeom>
          <a:noFill/>
          <a:ln w="17780">
            <a:solidFill>
              <a:srgbClr val="67067C"/>
            </a:solidFill>
            <a:prstDash val="solid"/>
          </a:ln>
        </p:spPr>
      </p:sp>
      <p:sp>
        <p:nvSpPr>
          <p:cNvPr id="20" name="Text 13"/>
          <p:cNvSpPr/>
          <p:nvPr/>
        </p:nvSpPr>
        <p:spPr>
          <a:xfrm>
            <a:off x="936000" y="518199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58543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5733030"/>
            <a:ext cx="6120000" cy="1447604"/>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vignerons, recadrés sur leurs visages — Domaine Trichon">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Trichon">    </p:cNvPr>
          <p:cNvPicPr>
            <a:picLocks noChangeAspect="1"/>
          </p:cNvPicPr>
          <p:nvPr/>
        </p:nvPicPr>
        <p:blipFill>
          <a:blip r:embed="rId4"/>
          <a:stretch>
            <a:fillRect/>
          </a:stretch>
        </p:blipFill>
        <p:spPr>
          <a:xfrm>
            <a:off x="5993557" y="1292400"/>
            <a:ext cx="612885" cy="2232000"/>
          </a:xfrm>
          <a:prstGeom prst="rect">
            <a:avLst/>
          </a:prstGeom>
        </p:spPr>
      </p:pic>
      <p:sp>
        <p:nvSpPr>
          <p:cNvPr id="16" name="Text 10"/>
          <p:cNvSpPr/>
          <p:nvPr/>
        </p:nvSpPr>
        <p:spPr>
          <a:xfrm>
            <a:off x="2177985" y="1264569"/>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7" name="Text 11"/>
          <p:cNvSpPr/>
          <p:nvPr/>
        </p:nvSpPr>
        <p:spPr>
          <a:xfrm>
            <a:off x="2232000" y="1370811"/>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056677"/>
            <a:ext cx="0" cy="259440"/>
          </a:xfrm>
          <a:prstGeom prst="line">
            <a:avLst/>
          </a:prstGeom>
          <a:noFill/>
          <a:ln w="17780">
            <a:solidFill>
              <a:srgbClr val="67067C"/>
            </a:solidFill>
            <a:prstDash val="solid"/>
          </a:ln>
        </p:spPr>
      </p:sp>
      <p:sp>
        <p:nvSpPr>
          <p:cNvPr id="20" name="Text 13"/>
          <p:cNvSpPr/>
          <p:nvPr/>
        </p:nvSpPr>
        <p:spPr>
          <a:xfrm>
            <a:off x="720000" y="50566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Text 14"/>
          <p:cNvSpPr/>
          <p:nvPr/>
        </p:nvSpPr>
        <p:spPr>
          <a:xfrm>
            <a:off x="612000" y="54601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5607717"/>
            <a:ext cx="6120000" cy="1522792"/>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6" name="Image 2" descr="logo du domaine — Domaine Stratéus">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Domaine Stratéus">    </p:cNvPr>
          <p:cNvPicPr>
            <a:picLocks noChangeAspect="1"/>
          </p:cNvPicPr>
          <p:nvPr/>
        </p:nvPicPr>
        <p:blipFill>
          <a:blip r:embed="rId4"/>
          <a:stretch>
            <a:fillRect/>
          </a:stretch>
        </p:blipFill>
        <p:spPr>
          <a:xfrm>
            <a:off x="6270541" y="1292400"/>
            <a:ext cx="490918" cy="2232000"/>
          </a:xfrm>
          <a:prstGeom prst="rect">
            <a:avLst/>
          </a:prstGeom>
        </p:spPr>
      </p:pic>
      <p:sp>
        <p:nvSpPr>
          <p:cNvPr id="18" name="Text 12"/>
          <p:cNvSpPr/>
          <p:nvPr/>
        </p:nvSpPr>
        <p:spPr>
          <a:xfrm>
            <a:off x="2393975" y="1406142"/>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19" name="Text 13"/>
          <p:cNvSpPr/>
          <p:nvPr/>
        </p:nvSpPr>
        <p:spPr>
          <a:xfrm>
            <a:off x="2448000" y="1554208"/>
            <a:ext cx="3456000" cy="1970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882673"/>
            <a:ext cx="0" cy="259440"/>
          </a:xfrm>
          <a:prstGeom prst="line">
            <a:avLst/>
          </a:prstGeom>
          <a:noFill/>
          <a:ln w="17780">
            <a:solidFill>
              <a:srgbClr val="67067C"/>
            </a:solidFill>
            <a:prstDash val="solid"/>
          </a:ln>
        </p:spPr>
      </p:sp>
      <p:sp>
        <p:nvSpPr>
          <p:cNvPr id="22" name="Text 15"/>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4" descr="/home/user/philippe1/build/deco-catalogue-scio-2026/sol-sud-ouest.png">    </p:cNvPr>
          <p:cNvPicPr>
            <a:picLocks noChangeAspect="1"/>
          </p:cNvPicPr>
          <p:nvPr/>
        </p:nvPicPr>
        <p:blipFill>
          <a:blip r:embed="rId5"/>
          <a:stretch>
            <a:fillRect/>
          </a:stretch>
        </p:blipFill>
        <p:spPr>
          <a:xfrm>
            <a:off x="828000" y="6433713"/>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295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95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760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760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704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704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6" name="Image 2" descr="logo du domaine — Domaine Haut Mari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Haut Marin">    </p:cNvPr>
          <p:cNvPicPr>
            <a:picLocks noChangeAspect="1"/>
          </p:cNvPicPr>
          <p:nvPr/>
        </p:nvPicPr>
        <p:blipFill>
          <a:blip r:embed="rId4"/>
          <a:stretch>
            <a:fillRect/>
          </a:stretch>
        </p:blipFill>
        <p:spPr>
          <a:xfrm>
            <a:off x="6028623" y="1292400"/>
            <a:ext cx="542754" cy="2232000"/>
          </a:xfrm>
          <a:prstGeom prst="rect">
            <a:avLst/>
          </a:prstGeom>
        </p:spPr>
      </p:pic>
      <p:sp>
        <p:nvSpPr>
          <p:cNvPr id="18" name="Text 12"/>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Bas-Armagnacs.</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667872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4" descr="/home/user/philippe1/build/deco-catalogue-scio-2026/sol-sud-ouest.png">    </p:cNvPr>
          <p:cNvPicPr>
            <a:picLocks noChangeAspect="1"/>
          </p:cNvPicPr>
          <p:nvPr/>
        </p:nvPicPr>
        <p:blipFill>
          <a:blip r:embed="rId5"/>
          <a:stretch>
            <a:fillRect/>
          </a:stretch>
        </p:blipFill>
        <p:spPr>
          <a:xfrm>
            <a:off x="612000" y="6826322"/>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511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11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76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76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920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20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828000" y="2757584"/>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2000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1990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5" name="Table 2"/>
          <p:cNvGraphicFramePr>
            <a:graphicFrameLocks noGrp="1"/>
          </p:cNvGraphicFramePr>
          <p:nvPr>
            <p:extLst>
              <p:ext uri="{D42A27DB-BD31-4B8C-83A1-F6EECF244321}">
                <p14:modId xmlns:p14="http://schemas.microsoft.com/office/powerpoint/2010/main" val="1579011935"/>
              </p:ext>
            </p:extLst>
          </p:nvPr>
        </p:nvGraphicFramePr>
        <p:xfrm>
          <a:off x="828000" y="5279298"/>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10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503377"/>
            <a:ext cx="0" cy="259440"/>
          </a:xfrm>
          <a:prstGeom prst="line">
            <a:avLst/>
          </a:prstGeom>
          <a:noFill/>
          <a:ln w="17780">
            <a:solidFill>
              <a:srgbClr val="67067C"/>
            </a:solidFill>
            <a:prstDash val="solid"/>
          </a:ln>
        </p:spPr>
      </p:sp>
      <p:sp>
        <p:nvSpPr>
          <p:cNvPr id="20" name="Text 13"/>
          <p:cNvSpPr/>
          <p:nvPr/>
        </p:nvSpPr>
        <p:spPr>
          <a:xfrm>
            <a:off x="936000" y="65033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8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2" descr="/home/user/philippe1/build/deco-catalogue-scio-2026/sol-sud-ouest.png">    </p:cNvPr>
          <p:cNvPicPr>
            <a:picLocks noChangeAspect="1"/>
          </p:cNvPicPr>
          <p:nvPr/>
        </p:nvPicPr>
        <p:blipFill>
          <a:blip r:embed="rId3"/>
          <a:stretch>
            <a:fillRect/>
          </a:stretch>
        </p:blipFill>
        <p:spPr>
          <a:xfrm>
            <a:off x="828000" y="7054417"/>
            <a:ext cx="6120000" cy="1105686"/>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catalogue-scio-2026/label-hve.png">    </p:cNvPr>
          <p:cNvPicPr>
            <a:picLocks noChangeAspect="1"/>
          </p:cNvPicPr>
          <p:nvPr/>
        </p:nvPicPr>
        <p:blipFill>
          <a:blip r:embed="rId3"/>
          <a:stretch>
            <a:fillRect/>
          </a:stretch>
        </p:blipFill>
        <p:spPr>
          <a:xfrm>
            <a:off x="1249651" y="1040400"/>
            <a:ext cx="108000" cy="108000"/>
          </a:xfrm>
          <a:prstGeom prst="rect">
            <a:avLst/>
          </a:prstGeom>
        </p:spPr>
      </p:pic>
      <p:sp>
        <p:nvSpPr>
          <p:cNvPr id="12" name="Text 7"/>
          <p:cNvSpPr/>
          <p:nvPr/>
        </p:nvSpPr>
        <p:spPr>
          <a:xfrm>
            <a:off x="1325251"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1785000" y="10044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178500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249673" y="10044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249673"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193230" y="10044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193230"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9" name="Image 3" descr="portrait du vigneron dans ses vignes — Fabien Castaing">    </p:cNvPr>
          <p:cNvPicPr>
            <a:picLocks noChangeAspect="1"/>
          </p:cNvPicPr>
          <p:nvPr/>
        </p:nvPicPr>
        <p:blipFill>
          <a:blip r:embed="rId4"/>
          <a:srcRect l="0" r="0" t="8320" b="16680"/>
          <a:stretch/>
        </p:blipFill>
        <p:spPr>
          <a:xfrm>
            <a:off x="612000" y="1292400"/>
            <a:ext cx="1440000" cy="1440000"/>
          </a:xfrm>
          <a:prstGeom prst="ellipse">
            <a:avLst/>
          </a:prstGeom>
        </p:spPr>
      </p:pic>
      <p:pic>
        <p:nvPicPr>
          <p:cNvPr id="20" name="Image 4" descr="Une bouteille du domaine Fabien Castaing">    </p:cNvPr>
          <p:cNvPicPr>
            <a:picLocks noChangeAspect="1"/>
          </p:cNvPicPr>
          <p:nvPr/>
        </p:nvPicPr>
        <p:blipFill>
          <a:blip r:embed="rId5"/>
          <a:stretch>
            <a:fillRect/>
          </a:stretch>
        </p:blipFill>
        <p:spPr>
          <a:xfrm>
            <a:off x="6160953" y="1292400"/>
            <a:ext cx="445494" cy="1800000"/>
          </a:xfrm>
          <a:prstGeom prst="rect">
            <a:avLst/>
          </a:prstGeom>
        </p:spPr>
      </p:pic>
      <p:sp>
        <p:nvSpPr>
          <p:cNvPr id="21" name="Text 14"/>
          <p:cNvSpPr/>
          <p:nvPr/>
        </p:nvSpPr>
        <p:spPr>
          <a:xfrm>
            <a:off x="2178001" y="1262814"/>
            <a:ext cx="215656" cy="370027"/>
          </a:xfrm>
          <a:prstGeom prst="rect">
            <a:avLst/>
          </a:prstGeom>
          <a:noFill/>
          <a:ln/>
        </p:spPr>
        <p:txBody>
          <a:bodyPr wrap="square" lIns="0" tIns="0" rIns="0" bIns="0" rtlCol="0" anchor="t"/>
          <a:lstStyle/>
          <a:p>
            <a:pPr algn="r" indent="0" marL="0">
              <a:lnSpc>
                <a:spcPct val="125300"/>
              </a:lnSpc>
              <a:buNone/>
            </a:pPr>
            <a:r>
              <a:rPr lang="en-US" sz="1821" dirty="0">
                <a:solidFill>
                  <a:srgbClr val="67067C"/>
                </a:solidFill>
                <a:latin typeface="Young Serif" pitchFamily="34" charset="0"/>
                <a:ea typeface="Young Serif" pitchFamily="34" charset="-122"/>
                <a:cs typeface="Young Serif" pitchFamily="34" charset="-120"/>
              </a:rPr>
              <a:t>L</a:t>
            </a:r>
            <a:endParaRPr lang="en-US" sz="1821" dirty="0"/>
          </a:p>
        </p:txBody>
      </p:sp>
      <p:sp>
        <p:nvSpPr>
          <p:cNvPr id="22" name="Text 15"/>
          <p:cNvSpPr/>
          <p:nvPr/>
        </p:nvSpPr>
        <p:spPr>
          <a:xfrm>
            <a:off x="2232000" y="1358987"/>
            <a:ext cx="3623400" cy="1733221"/>
          </a:xfrm>
          <a:prstGeom prst="rect">
            <a:avLst/>
          </a:prstGeom>
          <a:noFill/>
          <a:ln/>
        </p:spPr>
        <p:txBody>
          <a:bodyPr wrap="square" lIns="0" tIns="0" rIns="0" bIns="0" rtlCol="0" anchor="t"/>
          <a:lstStyle/>
          <a:p>
            <a:pPr indent="0" marL="0">
              <a:lnSpc>
                <a:spcPct val="142000"/>
              </a:lnSpc>
              <a:buNone/>
            </a:pPr>
            <a:r>
              <a:rPr lang="en-US" sz="1075" dirty="0">
                <a:solidFill>
                  <a:srgbClr val="46606E"/>
                </a:solidFill>
                <a:latin typeface="Spectral" pitchFamily="34" charset="0"/>
                <a:ea typeface="Spectral" pitchFamily="34" charset="-122"/>
                <a:cs typeface="Spectral" pitchFamily="34" charset="-120"/>
              </a:rPr>
              <a:t>     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075"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221808"/>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612000" y="6748261"/>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5" name="Shape 16"/>
          <p:cNvSpPr/>
          <p:nvPr/>
        </p:nvSpPr>
        <p:spPr>
          <a:xfrm>
            <a:off x="612000" y="8047051"/>
            <a:ext cx="0" cy="259440"/>
          </a:xfrm>
          <a:prstGeom prst="line">
            <a:avLst/>
          </a:prstGeom>
          <a:noFill/>
          <a:ln w="17780">
            <a:solidFill>
              <a:srgbClr val="67067C"/>
            </a:solidFill>
            <a:prstDash val="solid"/>
          </a:ln>
        </p:spPr>
      </p:sp>
      <p:sp>
        <p:nvSpPr>
          <p:cNvPr id="26" name="Text 17"/>
          <p:cNvSpPr/>
          <p:nvPr/>
        </p:nvSpPr>
        <p:spPr>
          <a:xfrm>
            <a:off x="720000" y="80470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7" name="Shape 18"/>
          <p:cNvSpPr/>
          <p:nvPr/>
        </p:nvSpPr>
        <p:spPr>
          <a:xfrm>
            <a:off x="612000" y="8496000"/>
            <a:ext cx="6120000" cy="0"/>
          </a:xfrm>
          <a:prstGeom prst="line">
            <a:avLst/>
          </a:prstGeom>
          <a:noFill/>
          <a:ln w="8890">
            <a:solidFill>
              <a:srgbClr val="46606E"/>
            </a:solidFill>
            <a:prstDash val="solid"/>
          </a:ln>
        </p:spPr>
      </p:sp>
      <p:sp>
        <p:nvSpPr>
          <p:cNvPr id="28"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30"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31"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6" name="Image 2" descr="portrait de famille d'époque — La Passion des Terroirs">    </p:cNvPr>
          <p:cNvPicPr>
            <a:picLocks noChangeAspect="1"/>
          </p:cNvPicPr>
          <p:nvPr/>
        </p:nvPicPr>
        <p:blipFill>
          <a:blip r:embed="rId3"/>
          <a:srcRect l="0" r="0" t="12247" b="24677"/>
          <a:stretch/>
        </p:blipFill>
        <p:spPr>
          <a:xfrm>
            <a:off x="828000" y="1292400"/>
            <a:ext cx="1440000" cy="1440000"/>
          </a:xfrm>
          <a:prstGeom prst="ellipse">
            <a:avLst/>
          </a:prstGeom>
        </p:spPr>
      </p:pic>
      <p:pic>
        <p:nvPicPr>
          <p:cNvPr id="17" name="Image 3" descr="Une bouteille du domaine La Passion des Terroirs">    </p:cNvPr>
          <p:cNvPicPr>
            <a:picLocks noChangeAspect="1"/>
          </p:cNvPicPr>
          <p:nvPr/>
        </p:nvPicPr>
        <p:blipFill>
          <a:blip r:embed="rId4"/>
          <a:stretch>
            <a:fillRect/>
          </a:stretch>
        </p:blipFill>
        <p:spPr>
          <a:xfrm>
            <a:off x="6243098" y="1292400"/>
            <a:ext cx="545803" cy="2232000"/>
          </a:xfrm>
          <a:prstGeom prst="rect">
            <a:avLst/>
          </a:prstGeom>
        </p:spPr>
      </p:pic>
      <p:sp>
        <p:nvSpPr>
          <p:cNvPr id="18" name="Text 12"/>
          <p:cNvSpPr/>
          <p:nvPr/>
        </p:nvSpPr>
        <p:spPr>
          <a:xfrm>
            <a:off x="2394044" y="1208915"/>
            <a:ext cx="278319" cy="444195"/>
          </a:xfrm>
          <a:prstGeom prst="rect">
            <a:avLst/>
          </a:prstGeom>
          <a:noFill/>
          <a:ln/>
        </p:spPr>
        <p:txBody>
          <a:bodyPr wrap="square" lIns="0" tIns="0" rIns="0" bIns="0" rtlCol="0" anchor="t"/>
          <a:lstStyle/>
          <a:p>
            <a:pPr algn="r" indent="0" marL="0">
              <a:lnSpc>
                <a:spcPct val="123700"/>
              </a:lnSpc>
              <a:buNone/>
            </a:pPr>
            <a:r>
              <a:rPr lang="en-US" sz="2186" dirty="0">
                <a:solidFill>
                  <a:srgbClr val="67067C"/>
                </a:solidFill>
                <a:latin typeface="Young Serif" pitchFamily="34" charset="0"/>
                <a:ea typeface="Young Serif" pitchFamily="34" charset="-122"/>
                <a:cs typeface="Young Serif" pitchFamily="34" charset="-120"/>
              </a:rPr>
              <a:t>U</a:t>
            </a:r>
            <a:endParaRPr lang="en-US" sz="2186" dirty="0"/>
          </a:p>
        </p:txBody>
      </p:sp>
      <p:sp>
        <p:nvSpPr>
          <p:cNvPr id="19" name="Text 13"/>
          <p:cNvSpPr/>
          <p:nvPr/>
        </p:nvSpPr>
        <p:spPr>
          <a:xfrm>
            <a:off x="2448000" y="1331466"/>
            <a:ext cx="3456000" cy="219279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642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585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85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2"/>
          <p:cNvSpPr/>
          <p:nvPr/>
        </p:nvSpPr>
        <p:spPr>
          <a:xfrm>
            <a:off x="612000" y="7481385"/>
            <a:ext cx="0" cy="259440"/>
          </a:xfrm>
          <a:prstGeom prst="line">
            <a:avLst/>
          </a:prstGeom>
          <a:noFill/>
          <a:ln w="17780">
            <a:solidFill>
              <a:srgbClr val="67067C"/>
            </a:solidFill>
            <a:prstDash val="solid"/>
          </a:ln>
        </p:spPr>
      </p:sp>
      <p:sp>
        <p:nvSpPr>
          <p:cNvPr id="18" name="Text 13"/>
          <p:cNvSpPr/>
          <p:nvPr/>
        </p:nvSpPr>
        <p:spPr>
          <a:xfrm>
            <a:off x="720000" y="748138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Demander le tarif et offre.</a:t>
            </a:r>
            <a:endParaRPr lang="en-US" sz="1050" dirty="0"/>
          </a:p>
        </p:txBody>
      </p:sp>
      <p:sp>
        <p:nvSpPr>
          <p:cNvPr id="19" name="Shape 14"/>
          <p:cNvSpPr/>
          <p:nvPr/>
        </p:nvSpPr>
        <p:spPr>
          <a:xfrm>
            <a:off x="612000" y="8496000"/>
            <a:ext cx="6120000" cy="0"/>
          </a:xfrm>
          <a:prstGeom prst="line">
            <a:avLst/>
          </a:prstGeom>
          <a:noFill/>
          <a:ln w="8890">
            <a:solidFill>
              <a:srgbClr val="46606E"/>
            </a:solidFill>
            <a:prstDash val="solid"/>
          </a:ln>
        </p:spPr>
      </p:sp>
      <p:sp>
        <p:nvSpPr>
          <p:cNvPr id="20"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4" name="Image 2" descr="portrait des vignerons — Château la Gorce">    </p:cNvPr>
          <p:cNvPicPr>
            <a:picLocks noChangeAspect="1"/>
          </p:cNvPicPr>
          <p:nvPr/>
        </p:nvPicPr>
        <p:blipFill>
          <a:blip r:embed="rId3"/>
          <a:srcRect l="0" r="0" t="11067" b="22266"/>
          <a:stretch/>
        </p:blipFill>
        <p:spPr>
          <a:xfrm>
            <a:off x="828000" y="1292400"/>
            <a:ext cx="1440000" cy="1440000"/>
          </a:xfrm>
          <a:prstGeom prst="ellipse">
            <a:avLst/>
          </a:prstGeom>
        </p:spPr>
      </p:pic>
      <p:pic>
        <p:nvPicPr>
          <p:cNvPr id="15" name="Image 3" descr="Une bouteille du domaine Château la Gorce">    </p:cNvPr>
          <p:cNvPicPr>
            <a:picLocks noChangeAspect="1"/>
          </p:cNvPicPr>
          <p:nvPr/>
        </p:nvPicPr>
        <p:blipFill>
          <a:blip r:embed="rId4"/>
          <a:stretch>
            <a:fillRect/>
          </a:stretch>
        </p:blipFill>
        <p:spPr>
          <a:xfrm>
            <a:off x="6240049" y="1292400"/>
            <a:ext cx="551902" cy="2232000"/>
          </a:xfrm>
          <a:prstGeom prst="rect">
            <a:avLst/>
          </a:prstGeom>
        </p:spPr>
      </p:pic>
      <p:sp>
        <p:nvSpPr>
          <p:cNvPr id="16" name="Text 10"/>
          <p:cNvSpPr/>
          <p:nvPr/>
        </p:nvSpPr>
        <p:spPr>
          <a:xfrm>
            <a:off x="2393992" y="112377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7" name="Text 11"/>
          <p:cNvSpPr/>
          <p:nvPr/>
        </p:nvSpPr>
        <p:spPr>
          <a:xfrm>
            <a:off x="2448000" y="1273592"/>
            <a:ext cx="3456000" cy="225066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432718"/>
            <a:ext cx="0" cy="259440"/>
          </a:xfrm>
          <a:prstGeom prst="line">
            <a:avLst/>
          </a:prstGeom>
          <a:noFill/>
          <a:ln w="17780">
            <a:solidFill>
              <a:srgbClr val="67067C"/>
            </a:solidFill>
            <a:prstDash val="solid"/>
          </a:ln>
        </p:spPr>
      </p:sp>
      <p:sp>
        <p:nvSpPr>
          <p:cNvPr id="20" name="Text 13"/>
          <p:cNvSpPr/>
          <p:nvPr/>
        </p:nvSpPr>
        <p:spPr>
          <a:xfrm>
            <a:off x="936000" y="743271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542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42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007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007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château — Château Falfas">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Château Falfas">    </p:cNvPr>
          <p:cNvPicPr>
            <a:picLocks noChangeAspect="1"/>
          </p:cNvPicPr>
          <p:nvPr/>
        </p:nvPicPr>
        <p:blipFill>
          <a:blip r:embed="rId4"/>
          <a:stretch>
            <a:fillRect/>
          </a:stretch>
        </p:blipFill>
        <p:spPr>
          <a:xfrm>
            <a:off x="6028623" y="1292400"/>
            <a:ext cx="542754" cy="2232000"/>
          </a:xfrm>
          <a:prstGeom prst="rect">
            <a:avLst/>
          </a:prstGeom>
        </p:spPr>
      </p:pic>
      <p:sp>
        <p:nvSpPr>
          <p:cNvPr id="16" name="Text 10"/>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877934"/>
            <a:ext cx="0" cy="259440"/>
          </a:xfrm>
          <a:prstGeom prst="line">
            <a:avLst/>
          </a:prstGeom>
          <a:noFill/>
          <a:ln w="17780">
            <a:solidFill>
              <a:srgbClr val="67067C"/>
            </a:solidFill>
            <a:prstDash val="solid"/>
          </a:ln>
        </p:spPr>
      </p:sp>
      <p:sp>
        <p:nvSpPr>
          <p:cNvPr id="20" name="Text 13"/>
          <p:cNvSpPr/>
          <p:nvPr/>
        </p:nvSpPr>
        <p:spPr>
          <a:xfrm>
            <a:off x="720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612000" y="5428975"/>
            <a:ext cx="6120000" cy="1630037"/>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vendanges au domaine — Château Pré la Lande">    </p:cNvPr>
          <p:cNvPicPr>
            <a:picLocks noChangeAspect="1"/>
          </p:cNvPicPr>
          <p:nvPr/>
        </p:nvPicPr>
        <p:blipFill>
          <a:blip r:embed="rId3"/>
          <a:srcRect l="10000" r="10000" t="0" b="0"/>
          <a:stretch/>
        </p:blipFill>
        <p:spPr>
          <a:xfrm>
            <a:off x="828000" y="1292400"/>
            <a:ext cx="1440000" cy="1440000"/>
          </a:xfrm>
          <a:prstGeom prst="ellipse">
            <a:avLst/>
          </a:prstGeom>
        </p:spPr>
      </p:pic>
      <p:pic>
        <p:nvPicPr>
          <p:cNvPr id="15" name="Image 3" descr="Une bouteille du domaine Château Pré la Lande">    </p:cNvPr>
          <p:cNvPicPr>
            <a:picLocks noChangeAspect="1"/>
          </p:cNvPicPr>
          <p:nvPr/>
        </p:nvPicPr>
        <p:blipFill>
          <a:blip r:embed="rId4"/>
          <a:stretch>
            <a:fillRect/>
          </a:stretch>
        </p:blipFill>
        <p:spPr>
          <a:xfrm>
            <a:off x="6238525" y="1292400"/>
            <a:ext cx="554951" cy="2232000"/>
          </a:xfrm>
          <a:prstGeom prst="rect">
            <a:avLst/>
          </a:prstGeom>
        </p:spPr>
      </p:pic>
      <p:sp>
        <p:nvSpPr>
          <p:cNvPr id="16" name="Text 10"/>
          <p:cNvSpPr/>
          <p:nvPr/>
        </p:nvSpPr>
        <p:spPr>
          <a:xfrm>
            <a:off x="2394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877934"/>
            <a:ext cx="0" cy="259440"/>
          </a:xfrm>
          <a:prstGeom prst="line">
            <a:avLst/>
          </a:prstGeom>
          <a:noFill/>
          <a:ln w="17780">
            <a:solidFill>
              <a:srgbClr val="67067C"/>
            </a:solidFill>
            <a:prstDash val="solid"/>
          </a:ln>
        </p:spPr>
      </p:sp>
      <p:sp>
        <p:nvSpPr>
          <p:cNvPr id="20" name="Text 13"/>
          <p:cNvSpPr/>
          <p:nvPr/>
        </p:nvSpPr>
        <p:spPr>
          <a:xfrm>
            <a:off x="936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828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828000" y="5428975"/>
            <a:ext cx="6120000" cy="1630037"/>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portrait des vignerons — Château Balac">    </p:cNvPr>
          <p:cNvPicPr>
            <a:picLocks noChangeAspect="1"/>
          </p:cNvPicPr>
          <p:nvPr/>
        </p:nvPicPr>
        <p:blipFill>
          <a:blip r:embed="rId3"/>
          <a:srcRect l="16591" r="16705" t="0" b="0"/>
          <a:stretch/>
        </p:blipFill>
        <p:spPr>
          <a:xfrm>
            <a:off x="612000" y="1292400"/>
            <a:ext cx="1440000" cy="1440000"/>
          </a:xfrm>
          <a:prstGeom prst="ellipse">
            <a:avLst/>
          </a:prstGeom>
        </p:spPr>
      </p:pic>
      <p:pic>
        <p:nvPicPr>
          <p:cNvPr id="15" name="Image 3" descr="Une bouteille du domaine Château Balac">    </p:cNvPr>
          <p:cNvPicPr>
            <a:picLocks noChangeAspect="1"/>
          </p:cNvPicPr>
          <p:nvPr/>
        </p:nvPicPr>
        <p:blipFill>
          <a:blip r:embed="rId4"/>
          <a:stretch>
            <a:fillRect/>
          </a:stretch>
        </p:blipFill>
        <p:spPr>
          <a:xfrm>
            <a:off x="6030148" y="1292400"/>
            <a:ext cx="539705" cy="2232000"/>
          </a:xfrm>
          <a:prstGeom prst="rect">
            <a:avLst/>
          </a:prstGeom>
        </p:spPr>
      </p:pic>
      <p:sp>
        <p:nvSpPr>
          <p:cNvPr id="16" name="Text 10"/>
          <p:cNvSpPr/>
          <p:nvPr/>
        </p:nvSpPr>
        <p:spPr>
          <a:xfrm>
            <a:off x="2177976" y="141188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550256"/>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952646"/>
            <a:ext cx="0" cy="259440"/>
          </a:xfrm>
          <a:prstGeom prst="line">
            <a:avLst/>
          </a:prstGeom>
          <a:noFill/>
          <a:ln w="17780">
            <a:solidFill>
              <a:srgbClr val="67067C"/>
            </a:solidFill>
            <a:prstDash val="solid"/>
          </a:ln>
        </p:spPr>
      </p:sp>
      <p:sp>
        <p:nvSpPr>
          <p:cNvPr id="20" name="Text 13"/>
          <p:cNvSpPr/>
          <p:nvPr/>
        </p:nvSpPr>
        <p:spPr>
          <a:xfrm>
            <a:off x="720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612000" y="5503686"/>
            <a:ext cx="6120000" cy="158521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les deux vignerons, deux portraits côte à côte — Château l’Escarderi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âteau l’Escarderie">    </p:cNvPr>
          <p:cNvPicPr>
            <a:picLocks noChangeAspect="1"/>
          </p:cNvPicPr>
          <p:nvPr/>
        </p:nvPicPr>
        <p:blipFill>
          <a:blip r:embed="rId4"/>
          <a:stretch>
            <a:fillRect/>
          </a:stretch>
        </p:blipFill>
        <p:spPr>
          <a:xfrm>
            <a:off x="6243098" y="1292400"/>
            <a:ext cx="545803" cy="2232000"/>
          </a:xfrm>
          <a:prstGeom prst="rect">
            <a:avLst/>
          </a:prstGeom>
        </p:spPr>
      </p:pic>
      <p:sp>
        <p:nvSpPr>
          <p:cNvPr id="16" name="Text 10"/>
          <p:cNvSpPr/>
          <p:nvPr/>
        </p:nvSpPr>
        <p:spPr>
          <a:xfrm>
            <a:off x="2394014" y="1274682"/>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7" name="Text 11"/>
          <p:cNvSpPr/>
          <p:nvPr/>
        </p:nvSpPr>
        <p:spPr>
          <a:xfrm>
            <a:off x="2448000" y="1407209"/>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427979"/>
            <a:ext cx="0" cy="259440"/>
          </a:xfrm>
          <a:prstGeom prst="line">
            <a:avLst/>
          </a:prstGeom>
          <a:noFill/>
          <a:ln w="17780">
            <a:solidFill>
              <a:srgbClr val="67067C"/>
            </a:solidFill>
            <a:prstDash val="solid"/>
          </a:ln>
        </p:spPr>
      </p:sp>
      <p:sp>
        <p:nvSpPr>
          <p:cNvPr id="20" name="Text 13"/>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1" name="Text 14"/>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828000" y="6979020"/>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proven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orie en pierre sèche du domaine — Bastide de Blacailloux">    </p:cNvPr>
          <p:cNvPicPr>
            <a:picLocks noChangeAspect="1"/>
          </p:cNvPicPr>
          <p:nvPr/>
        </p:nvPicPr>
        <p:blipFill>
          <a:blip r:embed="rId3"/>
          <a:srcRect l="16602" r="16640" t="0" b="0"/>
          <a:stretch/>
        </p:blipFill>
        <p:spPr>
          <a:xfrm>
            <a:off x="612000" y="1292400"/>
            <a:ext cx="1440000" cy="1440000"/>
          </a:xfrm>
          <a:prstGeom prst="ellipse">
            <a:avLst/>
          </a:prstGeom>
        </p:spPr>
      </p:pic>
      <p:pic>
        <p:nvPicPr>
          <p:cNvPr id="15" name="Image 3" descr="Une bouteille du domaine Bastide de Blacailloux">    </p:cNvPr>
          <p:cNvPicPr>
            <a:picLocks noChangeAspect="1"/>
          </p:cNvPicPr>
          <p:nvPr/>
        </p:nvPicPr>
        <p:blipFill>
          <a:blip r:embed="rId4"/>
          <a:stretch>
            <a:fillRect/>
          </a:stretch>
        </p:blipFill>
        <p:spPr>
          <a:xfrm>
            <a:off x="6051492" y="1292400"/>
            <a:ext cx="497016" cy="2232000"/>
          </a:xfrm>
          <a:prstGeom prst="rect">
            <a:avLst/>
          </a:prstGeom>
        </p:spPr>
      </p:pic>
      <p:sp>
        <p:nvSpPr>
          <p:cNvPr id="16" name="Text 10"/>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7" name="Text 11"/>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12000" y="625028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612000" y="6854343"/>
            <a:ext cx="0" cy="259440"/>
          </a:xfrm>
          <a:prstGeom prst="line">
            <a:avLst/>
          </a:prstGeom>
          <a:noFill/>
          <a:ln w="17780">
            <a:solidFill>
              <a:srgbClr val="67067C"/>
            </a:solidFill>
            <a:prstDash val="solid"/>
          </a:ln>
        </p:spPr>
      </p:sp>
      <p:sp>
        <p:nvSpPr>
          <p:cNvPr id="21" name="Text 13"/>
          <p:cNvSpPr/>
          <p:nvPr/>
        </p:nvSpPr>
        <p:spPr>
          <a:xfrm>
            <a:off x="720000" y="68543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2" name="Text 14"/>
          <p:cNvSpPr/>
          <p:nvPr/>
        </p:nvSpPr>
        <p:spPr>
          <a:xfrm>
            <a:off x="612000" y="725778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PROVENCE — LA PROVENCE VERTE</a:t>
            </a:r>
            <a:endParaRPr lang="en-US" sz="720" dirty="0"/>
          </a:p>
        </p:txBody>
      </p:sp>
      <p:pic>
        <p:nvPicPr>
          <p:cNvPr id="23" name="Image 4" descr="/home/user/philippe1/build/deco-catalogue-scio-2026/sol-provence.png">    </p:cNvPr>
          <p:cNvPicPr>
            <a:picLocks noChangeAspect="1"/>
          </p:cNvPicPr>
          <p:nvPr/>
        </p:nvPicPr>
        <p:blipFill>
          <a:blip r:embed="rId5"/>
          <a:stretch>
            <a:fillRect/>
          </a:stretch>
        </p:blipFill>
        <p:spPr>
          <a:xfrm>
            <a:off x="612000" y="7405383"/>
            <a:ext cx="6120000" cy="754720"/>
          </a:xfrm>
          <a:prstGeom prst="rect">
            <a:avLst/>
          </a:prstGeom>
        </p:spPr>
      </p:pic>
      <p:sp>
        <p:nvSpPr>
          <p:cNvPr id="24" name="Shape 15"/>
          <p:cNvSpPr/>
          <p:nvPr/>
        </p:nvSpPr>
        <p:spPr>
          <a:xfrm>
            <a:off x="612000" y="8496000"/>
            <a:ext cx="6120000" cy="0"/>
          </a:xfrm>
          <a:prstGeom prst="line">
            <a:avLst/>
          </a:prstGeom>
          <a:noFill/>
          <a:ln w="8890">
            <a:solidFill>
              <a:srgbClr val="46606E"/>
            </a:solidFill>
            <a:prstDash val="solid"/>
          </a:ln>
        </p:spPr>
      </p:sp>
      <p:sp>
        <p:nvSpPr>
          <p:cNvPr id="25"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6"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28"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4" name="Image 2" descr="logo de la maison — Famille d’Exea">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Famille d’Exea">    </p:cNvPr>
          <p:cNvPicPr>
            <a:picLocks noChangeAspect="1"/>
          </p:cNvPicPr>
          <p:nvPr/>
        </p:nvPicPr>
        <p:blipFill>
          <a:blip r:embed="rId4"/>
          <a:stretch>
            <a:fillRect/>
          </a:stretch>
        </p:blipFill>
        <p:spPr>
          <a:xfrm>
            <a:off x="6223279" y="1292400"/>
            <a:ext cx="585443" cy="2232000"/>
          </a:xfrm>
          <a:prstGeom prst="rect">
            <a:avLst/>
          </a:prstGeom>
        </p:spPr>
      </p:pic>
      <p:sp>
        <p:nvSpPr>
          <p:cNvPr id="16" name="Text 10"/>
          <p:cNvSpPr/>
          <p:nvPr/>
        </p:nvSpPr>
        <p:spPr>
          <a:xfrm>
            <a:off x="2393965" y="1694048"/>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448000" y="1831015"/>
            <a:ext cx="3456000" cy="16932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2"/>
          <p:cNvSpPr/>
          <p:nvPr/>
        </p:nvSpPr>
        <p:spPr>
          <a:xfrm>
            <a:off x="828000" y="6574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0" name="Image 4" descr="/home/user/philippe1/build/deco-catalogue-scio-2026/sol-languedoc.png">    </p:cNvPr>
          <p:cNvPicPr>
            <a:picLocks noChangeAspect="1"/>
          </p:cNvPicPr>
          <p:nvPr/>
        </p:nvPicPr>
        <p:blipFill>
          <a:blip r:embed="rId5"/>
          <a:stretch>
            <a:fillRect/>
          </a:stretch>
        </p:blipFill>
        <p:spPr>
          <a:xfrm>
            <a:off x="828000" y="6722291"/>
            <a:ext cx="6120000" cy="1091043"/>
          </a:xfrm>
          <a:prstGeom prst="rect">
            <a:avLst/>
          </a:prstGeom>
        </p:spPr>
      </p:pic>
      <p:sp>
        <p:nvSpPr>
          <p:cNvPr id="21"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5"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6"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612000" y="4823616"/>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50 BIB demi pal</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100 BIB 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6047694"/>
            <a:ext cx="0" cy="259440"/>
          </a:xfrm>
          <a:prstGeom prst="line">
            <a:avLst/>
          </a:prstGeom>
          <a:noFill/>
          <a:ln w="17780">
            <a:solidFill>
              <a:srgbClr val="67067C"/>
            </a:solidFill>
            <a:prstDash val="solid"/>
          </a:ln>
        </p:spPr>
      </p:sp>
      <p:sp>
        <p:nvSpPr>
          <p:cNvPr id="17" name="Text 11"/>
          <p:cNvSpPr/>
          <p:nvPr/>
        </p:nvSpPr>
        <p:spPr>
          <a:xfrm>
            <a:off x="720000" y="604769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18" name="Text 12"/>
          <p:cNvSpPr/>
          <p:nvPr/>
        </p:nvSpPr>
        <p:spPr>
          <a:xfrm>
            <a:off x="612000" y="64511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9" name="Image 2" descr="/home/user/philippe1/build/deco-catalogue-scio-2026/sol-languedoc.png">    </p:cNvPr>
          <p:cNvPicPr>
            <a:picLocks noChangeAspect="1"/>
          </p:cNvPicPr>
          <p:nvPr/>
        </p:nvPicPr>
        <p:blipFill>
          <a:blip r:embed="rId3"/>
          <a:stretch>
            <a:fillRect/>
          </a:stretch>
        </p:blipFill>
        <p:spPr>
          <a:xfrm>
            <a:off x="612000" y="6598734"/>
            <a:ext cx="6120000" cy="1148400"/>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rebis dans les vignes — Famille d’Exea — Jus de Cépages">    </p:cNvPr>
          <p:cNvPicPr>
            <a:picLocks noChangeAspect="1"/>
          </p:cNvPicPr>
          <p:nvPr/>
        </p:nvPicPr>
        <p:blipFill>
          <a:blip r:embed="rId3"/>
          <a:srcRect l="11667" r="21666" t="0" b="0"/>
          <a:stretch/>
        </p:blipFill>
        <p:spPr>
          <a:xfrm>
            <a:off x="828000" y="1292400"/>
            <a:ext cx="1440000" cy="1440000"/>
          </a:xfrm>
          <a:prstGeom prst="ellipse">
            <a:avLst/>
          </a:prstGeom>
        </p:spPr>
      </p:pic>
      <p:pic>
        <p:nvPicPr>
          <p:cNvPr id="15" name="Image 3" descr="Une bouteille du domaine Famille d’Exea — Jus de Cépages">    </p:cNvPr>
          <p:cNvPicPr>
            <a:picLocks noChangeAspect="1"/>
          </p:cNvPicPr>
          <p:nvPr/>
        </p:nvPicPr>
        <p:blipFill>
          <a:blip r:embed="rId4"/>
          <a:stretch>
            <a:fillRect/>
          </a:stretch>
        </p:blipFill>
        <p:spPr>
          <a:xfrm>
            <a:off x="6113508" y="1292400"/>
            <a:ext cx="804984" cy="2232000"/>
          </a:xfrm>
          <a:prstGeom prst="rect">
            <a:avLst/>
          </a:prstGeom>
        </p:spPr>
      </p:pic>
      <p:sp>
        <p:nvSpPr>
          <p:cNvPr id="16" name="Text 10"/>
          <p:cNvSpPr/>
          <p:nvPr/>
        </p:nvSpPr>
        <p:spPr>
          <a:xfrm>
            <a:off x="2394013" y="1216044"/>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7" name="Text 11"/>
          <p:cNvSpPr/>
          <p:nvPr/>
        </p:nvSpPr>
        <p:spPr>
          <a:xfrm>
            <a:off x="2448000" y="1326561"/>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5630264"/>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6929054"/>
            <a:ext cx="0" cy="259440"/>
          </a:xfrm>
          <a:prstGeom prst="line">
            <a:avLst/>
          </a:prstGeom>
          <a:noFill/>
          <a:ln w="17780">
            <a:solidFill>
              <a:srgbClr val="67067C"/>
            </a:solidFill>
            <a:prstDash val="solid"/>
          </a:ln>
        </p:spPr>
      </p:sp>
      <p:sp>
        <p:nvSpPr>
          <p:cNvPr id="21" name="Text 13"/>
          <p:cNvSpPr/>
          <p:nvPr/>
        </p:nvSpPr>
        <p:spPr>
          <a:xfrm>
            <a:off x="936000" y="692905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2" name="Text 14"/>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38</a:t>
            </a:r>
            <a:endParaRPr lang="en-US" sz="740" dirty="0"/>
          </a:p>
        </p:txBody>
      </p:sp>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grappes à la vigne — Château de Gragnos">    </p:cNvPr>
          <p:cNvPicPr>
            <a:picLocks noChangeAspect="1"/>
          </p:cNvPicPr>
          <p:nvPr/>
        </p:nvPicPr>
        <p:blipFill>
          <a:blip r:embed="rId3"/>
          <a:srcRect l="0" r="0" t="11094" b="22239"/>
          <a:stretch/>
        </p:blipFill>
        <p:spPr>
          <a:xfrm>
            <a:off x="612000" y="1292400"/>
            <a:ext cx="1440000" cy="1440000"/>
          </a:xfrm>
          <a:prstGeom prst="ellipse">
            <a:avLst/>
          </a:prstGeom>
        </p:spPr>
      </p:pic>
      <p:pic>
        <p:nvPicPr>
          <p:cNvPr id="15" name="Image 3" descr="Une bouteille du domaine Château de Gragnos">    </p:cNvPr>
          <p:cNvPicPr>
            <a:picLocks noChangeAspect="1"/>
          </p:cNvPicPr>
          <p:nvPr/>
        </p:nvPicPr>
        <p:blipFill>
          <a:blip r:embed="rId4"/>
          <a:stretch>
            <a:fillRect/>
          </a:stretch>
        </p:blipFill>
        <p:spPr>
          <a:xfrm>
            <a:off x="6011852" y="1292400"/>
            <a:ext cx="576295"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6427979"/>
            <a:ext cx="0" cy="259440"/>
          </a:xfrm>
          <a:prstGeom prst="line">
            <a:avLst/>
          </a:prstGeom>
          <a:noFill/>
          <a:ln w="17780">
            <a:solidFill>
              <a:srgbClr val="67067C"/>
            </a:solidFill>
            <a:prstDash val="solid"/>
          </a:ln>
        </p:spPr>
      </p:sp>
      <p:sp>
        <p:nvSpPr>
          <p:cNvPr id="20" name="Text 13"/>
          <p:cNvSpPr/>
          <p:nvPr/>
        </p:nvSpPr>
        <p:spPr>
          <a:xfrm>
            <a:off x="720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1" name="Text 14"/>
          <p:cNvSpPr/>
          <p:nvPr/>
        </p:nvSpPr>
        <p:spPr>
          <a:xfrm>
            <a:off x="612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png">    </p:cNvPr>
          <p:cNvPicPr>
            <a:picLocks noChangeAspect="1"/>
          </p:cNvPicPr>
          <p:nvPr/>
        </p:nvPicPr>
        <p:blipFill>
          <a:blip r:embed="rId5"/>
          <a:stretch>
            <a:fillRect/>
          </a:stretch>
        </p:blipFill>
        <p:spPr>
          <a:xfrm>
            <a:off x="612000" y="6979020"/>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ogo du domaine — Domaine Les Ly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s Lys">    </p:cNvPr>
          <p:cNvPicPr>
            <a:picLocks noChangeAspect="1"/>
          </p:cNvPicPr>
          <p:nvPr/>
        </p:nvPicPr>
        <p:blipFill>
          <a:blip r:embed="rId4"/>
          <a:stretch>
            <a:fillRect/>
          </a:stretch>
        </p:blipFill>
        <p:spPr>
          <a:xfrm>
            <a:off x="6224803" y="1292400"/>
            <a:ext cx="582393" cy="2232000"/>
          </a:xfrm>
          <a:prstGeom prst="rect">
            <a:avLst/>
          </a:prstGeom>
        </p:spPr>
      </p:pic>
      <p:sp>
        <p:nvSpPr>
          <p:cNvPr id="16" name="Text 10"/>
          <p:cNvSpPr/>
          <p:nvPr/>
        </p:nvSpPr>
        <p:spPr>
          <a:xfrm>
            <a:off x="2393960" y="1428567"/>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448000" y="1538778"/>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117970"/>
            <a:ext cx="0" cy="259440"/>
          </a:xfrm>
          <a:prstGeom prst="line">
            <a:avLst/>
          </a:prstGeom>
          <a:noFill/>
          <a:ln w="17780">
            <a:solidFill>
              <a:srgbClr val="67067C"/>
            </a:solidFill>
            <a:prstDash val="solid"/>
          </a:ln>
        </p:spPr>
      </p:sp>
      <p:sp>
        <p:nvSpPr>
          <p:cNvPr id="20" name="Text 13"/>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png">    </p:cNvPr>
          <p:cNvPicPr>
            <a:picLocks noChangeAspect="1"/>
          </p:cNvPicPr>
          <p:nvPr/>
        </p:nvPicPr>
        <p:blipFill>
          <a:blip r:embed="rId5"/>
          <a:stretch>
            <a:fillRect/>
          </a:stretch>
        </p:blipFill>
        <p:spPr>
          <a:xfrm>
            <a:off x="828000" y="6669011"/>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4" name="Image 2" descr="les deux vignerons et leur rosé, noir et blanc — Prieuré Sainte-Marie d’Albas">    </p:cNvPr>
          <p:cNvPicPr>
            <a:picLocks noChangeAspect="1"/>
          </p:cNvPicPr>
          <p:nvPr/>
        </p:nvPicPr>
        <p:blipFill>
          <a:blip r:embed="rId3"/>
          <a:srcRect l="0" r="0" t="0" b="0"/>
          <a:stretch/>
        </p:blipFill>
        <p:spPr>
          <a:xfrm>
            <a:off x="612000" y="1292400"/>
            <a:ext cx="1440000" cy="1440000"/>
          </a:xfrm>
          <a:prstGeom prst="ellipse">
            <a:avLst/>
          </a:prstGeom>
        </p:spPr>
      </p:pic>
      <p:pic>
        <p:nvPicPr>
          <p:cNvPr id="15" name="Image 3" descr="Une bouteille du domaine Prieuré Sainte-Marie d’Albas">    </p:cNvPr>
          <p:cNvPicPr>
            <a:picLocks noChangeAspect="1"/>
          </p:cNvPicPr>
          <p:nvPr/>
        </p:nvPicPr>
        <p:blipFill>
          <a:blip r:embed="rId4"/>
          <a:stretch>
            <a:fillRect/>
          </a:stretch>
        </p:blipFill>
        <p:spPr>
          <a:xfrm>
            <a:off x="6056066" y="1292400"/>
            <a:ext cx="487869"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BIB 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7978024"/>
            <a:ext cx="0" cy="259440"/>
          </a:xfrm>
          <a:prstGeom prst="line">
            <a:avLst/>
          </a:prstGeom>
          <a:noFill/>
          <a:ln w="17780">
            <a:solidFill>
              <a:srgbClr val="67067C"/>
            </a:solidFill>
            <a:prstDash val="solid"/>
          </a:ln>
        </p:spPr>
      </p:sp>
      <p:sp>
        <p:nvSpPr>
          <p:cNvPr id="20" name="Text 13"/>
          <p:cNvSpPr/>
          <p:nvPr/>
        </p:nvSpPr>
        <p:spPr>
          <a:xfrm>
            <a:off x="720000" y="79780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6" name="Image 2" descr="les deux frères dans les vignes — Champagne Dekeyne">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Champagne Dekeyne">    </p:cNvPr>
          <p:cNvPicPr>
            <a:picLocks noChangeAspect="1"/>
          </p:cNvPicPr>
          <p:nvPr/>
        </p:nvPicPr>
        <p:blipFill>
          <a:blip r:embed="rId4"/>
          <a:stretch>
            <a:fillRect/>
          </a:stretch>
        </p:blipFill>
        <p:spPr>
          <a:xfrm>
            <a:off x="6221754" y="1292400"/>
            <a:ext cx="588492" cy="2232000"/>
          </a:xfrm>
          <a:prstGeom prst="rect">
            <a:avLst/>
          </a:prstGeom>
        </p:spPr>
      </p:pic>
      <p:sp>
        <p:nvSpPr>
          <p:cNvPr id="18" name="Text 12"/>
          <p:cNvSpPr/>
          <p:nvPr/>
        </p:nvSpPr>
        <p:spPr>
          <a:xfrm>
            <a:off x="2394034" y="1422407"/>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448000" y="1543017"/>
            <a:ext cx="3456000" cy="198123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26,48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187943"/>
            <a:ext cx="0" cy="259440"/>
          </a:xfrm>
          <a:prstGeom prst="line">
            <a:avLst/>
          </a:prstGeom>
          <a:noFill/>
          <a:ln w="17780">
            <a:solidFill>
              <a:srgbClr val="67067C"/>
            </a:solidFill>
            <a:prstDash val="solid"/>
          </a:ln>
        </p:spPr>
      </p:sp>
      <p:sp>
        <p:nvSpPr>
          <p:cNvPr id="22" name="Text 15"/>
          <p:cNvSpPr/>
          <p:nvPr/>
        </p:nvSpPr>
        <p:spPr>
          <a:xfrm>
            <a:off x="936000" y="51879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3" name="Text 16"/>
          <p:cNvSpPr/>
          <p:nvPr/>
        </p:nvSpPr>
        <p:spPr>
          <a:xfrm>
            <a:off x="828000" y="55913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catalogue-scio-2026/sol-champagne.png">    </p:cNvPr>
          <p:cNvPicPr>
            <a:picLocks noChangeAspect="1"/>
          </p:cNvPicPr>
          <p:nvPr/>
        </p:nvPicPr>
        <p:blipFill>
          <a:blip r:embed="rId5"/>
          <a:stretch>
            <a:fillRect/>
          </a:stretch>
        </p:blipFill>
        <p:spPr>
          <a:xfrm>
            <a:off x="828000" y="5738984"/>
            <a:ext cx="6120000" cy="144403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792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502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502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96727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6727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le village dans ses vignes — Champagne Denis Frézier">    </p:cNvPr>
          <p:cNvPicPr>
            <a:picLocks noChangeAspect="1"/>
          </p:cNvPicPr>
          <p:nvPr/>
        </p:nvPicPr>
        <p:blipFill>
          <a:blip r:embed="rId3"/>
          <a:srcRect l="12500" r="12500" t="0" b="0"/>
          <a:stretch/>
        </p:blipFill>
        <p:spPr>
          <a:xfrm>
            <a:off x="612000" y="1292400"/>
            <a:ext cx="1440000" cy="1440000"/>
          </a:xfrm>
          <a:prstGeom prst="ellipse">
            <a:avLst/>
          </a:prstGeom>
        </p:spPr>
      </p:pic>
      <p:pic>
        <p:nvPicPr>
          <p:cNvPr id="17" name="Image 3" descr="Une bouteille du domaine Champagne Denis Frézier">    </p:cNvPr>
          <p:cNvPicPr>
            <a:picLocks noChangeAspect="1"/>
          </p:cNvPicPr>
          <p:nvPr/>
        </p:nvPicPr>
        <p:blipFill>
          <a:blip r:embed="rId4"/>
          <a:stretch>
            <a:fillRect/>
          </a:stretch>
        </p:blipFill>
        <p:spPr>
          <a:xfrm>
            <a:off x="6002705" y="1292400"/>
            <a:ext cx="594590" cy="2232000"/>
          </a:xfrm>
          <a:prstGeom prst="rect">
            <a:avLst/>
          </a:prstGeom>
        </p:spPr>
      </p:pic>
      <p:sp>
        <p:nvSpPr>
          <p:cNvPr id="18" name="Text 12"/>
          <p:cNvSpPr/>
          <p:nvPr/>
        </p:nvSpPr>
        <p:spPr>
          <a:xfrm>
            <a:off x="2177992" y="140510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554923"/>
            <a:ext cx="3456000" cy="196933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23,17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12000" y="68703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RATAFIA · RATAFIA</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4"/>
          <p:cNvSpPr/>
          <p:nvPr/>
        </p:nvSpPr>
        <p:spPr>
          <a:xfrm>
            <a:off x="612000" y="7444744"/>
            <a:ext cx="0" cy="259440"/>
          </a:xfrm>
          <a:prstGeom prst="line">
            <a:avLst/>
          </a:prstGeom>
          <a:noFill/>
          <a:ln w="17780">
            <a:solidFill>
              <a:srgbClr val="67067C"/>
            </a:solidFill>
            <a:prstDash val="solid"/>
          </a:ln>
        </p:spPr>
      </p:sp>
      <p:sp>
        <p:nvSpPr>
          <p:cNvPr id="23" name="Text 15"/>
          <p:cNvSpPr/>
          <p:nvPr/>
        </p:nvSpPr>
        <p:spPr>
          <a:xfrm>
            <a:off x="720000" y="744474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ogo de la maison — Champagne Solemm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ampagne Solemme">    </p:cNvPr>
          <p:cNvPicPr>
            <a:picLocks noChangeAspect="1"/>
          </p:cNvPicPr>
          <p:nvPr/>
        </p:nvPicPr>
        <p:blipFill>
          <a:blip r:embed="rId4"/>
          <a:stretch>
            <a:fillRect/>
          </a:stretch>
        </p:blipFill>
        <p:spPr>
          <a:xfrm>
            <a:off x="6218705" y="1292400"/>
            <a:ext cx="594590" cy="2232000"/>
          </a:xfrm>
          <a:prstGeom prst="rect">
            <a:avLst/>
          </a:prstGeom>
        </p:spPr>
      </p:pic>
      <p:sp>
        <p:nvSpPr>
          <p:cNvPr id="16" name="Text 10"/>
          <p:cNvSpPr/>
          <p:nvPr/>
        </p:nvSpPr>
        <p:spPr>
          <a:xfrm>
            <a:off x="2393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7" name="Text 11"/>
          <p:cNvSpPr/>
          <p:nvPr/>
        </p:nvSpPr>
        <p:spPr>
          <a:xfrm>
            <a:off x="2448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BSA</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882673"/>
            <a:ext cx="0" cy="259440"/>
          </a:xfrm>
          <a:prstGeom prst="line">
            <a:avLst/>
          </a:prstGeom>
          <a:noFill/>
          <a:ln w="17780">
            <a:solidFill>
              <a:srgbClr val="67067C"/>
            </a:solidFill>
            <a:prstDash val="solid"/>
          </a:ln>
        </p:spPr>
      </p:sp>
      <p:sp>
        <p:nvSpPr>
          <p:cNvPr id="20" name="Text 13"/>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png">    </p:cNvPr>
          <p:cNvPicPr>
            <a:picLocks noChangeAspect="1"/>
          </p:cNvPicPr>
          <p:nvPr/>
        </p:nvPicPr>
        <p:blipFill>
          <a:blip r:embed="rId5"/>
          <a:stretch>
            <a:fillRect/>
          </a:stretch>
        </p:blipFill>
        <p:spPr>
          <a:xfrm>
            <a:off x="828000" y="6433713"/>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7168"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716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a maison de champagne — Vazart-Coquart &amp; Fils">    </p:cNvPr>
          <p:cNvPicPr>
            <a:picLocks noChangeAspect="1"/>
          </p:cNvPicPr>
          <p:nvPr/>
        </p:nvPicPr>
        <p:blipFill>
          <a:blip r:embed="rId3"/>
          <a:srcRect l="25260" r="25261" t="0" b="0"/>
          <a:stretch/>
        </p:blipFill>
        <p:spPr>
          <a:xfrm>
            <a:off x="612000" y="1292400"/>
            <a:ext cx="1440000" cy="1440000"/>
          </a:xfrm>
          <a:prstGeom prst="ellipse">
            <a:avLst/>
          </a:prstGeom>
        </p:spPr>
      </p:pic>
      <p:pic>
        <p:nvPicPr>
          <p:cNvPr id="15" name="Image 3" descr="Une bouteille du domaine Vazart-Coquart &amp; Fils">    </p:cNvPr>
          <p:cNvPicPr>
            <a:picLocks noChangeAspect="1"/>
          </p:cNvPicPr>
          <p:nvPr/>
        </p:nvPicPr>
        <p:blipFill>
          <a:blip r:embed="rId4"/>
          <a:stretch>
            <a:fillRect/>
          </a:stretch>
        </p:blipFill>
        <p:spPr>
          <a:xfrm>
            <a:off x="5913248" y="1292400"/>
            <a:ext cx="773503" cy="2232000"/>
          </a:xfrm>
          <a:prstGeom prst="rect">
            <a:avLst/>
          </a:prstGeom>
        </p:spPr>
      </p:pic>
      <p:sp>
        <p:nvSpPr>
          <p:cNvPr id="16" name="Text 10"/>
          <p:cNvSpPr/>
          <p:nvPr/>
        </p:nvSpPr>
        <p:spPr>
          <a:xfrm>
            <a:off x="2178033" y="1549091"/>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7" name="Text 11"/>
          <p:cNvSpPr/>
          <p:nvPr/>
        </p:nvSpPr>
        <p:spPr>
          <a:xfrm>
            <a:off x="2232000" y="1693302"/>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882673"/>
            <a:ext cx="0" cy="259440"/>
          </a:xfrm>
          <a:prstGeom prst="line">
            <a:avLst/>
          </a:prstGeom>
          <a:noFill/>
          <a:ln w="17780">
            <a:solidFill>
              <a:srgbClr val="67067C"/>
            </a:solidFill>
            <a:prstDash val="solid"/>
          </a:ln>
        </p:spPr>
      </p:sp>
      <p:sp>
        <p:nvSpPr>
          <p:cNvPr id="20" name="Text 13"/>
          <p:cNvSpPr/>
          <p:nvPr/>
        </p:nvSpPr>
        <p:spPr>
          <a:xfrm>
            <a:off x="720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612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png">    </p:cNvPr>
          <p:cNvPicPr>
            <a:picLocks noChangeAspect="1"/>
          </p:cNvPicPr>
          <p:nvPr/>
        </p:nvPicPr>
        <p:blipFill>
          <a:blip r:embed="rId5"/>
          <a:stretch>
            <a:fillRect/>
          </a:stretch>
        </p:blipFill>
        <p:spPr>
          <a:xfrm>
            <a:off x="612000" y="6433713"/>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828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82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7" name="Text 5"/>
          <p:cNvSpPr/>
          <p:nvPr/>
        </p:nvSpPr>
        <p:spPr>
          <a:xfrm>
            <a:off x="82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 name="Text 6"/>
          <p:cNvSpPr/>
          <p:nvPr/>
        </p:nvSpPr>
        <p:spPr>
          <a:xfrm>
            <a:off x="82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 name="Text 7"/>
          <p:cNvSpPr/>
          <p:nvPr/>
        </p:nvSpPr>
        <p:spPr>
          <a:xfrm>
            <a:off x="82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 name="Text 8"/>
          <p:cNvSpPr/>
          <p:nvPr/>
        </p:nvSpPr>
        <p:spPr>
          <a:xfrm>
            <a:off x="82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1" name="Text 9"/>
          <p:cNvSpPr/>
          <p:nvPr/>
        </p:nvSpPr>
        <p:spPr>
          <a:xfrm>
            <a:off x="82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2" name="Text 10"/>
          <p:cNvSpPr/>
          <p:nvPr/>
        </p:nvSpPr>
        <p:spPr>
          <a:xfrm>
            <a:off x="82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 name="Text 11"/>
          <p:cNvSpPr/>
          <p:nvPr/>
        </p:nvSpPr>
        <p:spPr>
          <a:xfrm>
            <a:off x="82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14" name="Text 12"/>
          <p:cNvSpPr/>
          <p:nvPr/>
        </p:nvSpPr>
        <p:spPr>
          <a:xfrm>
            <a:off x="82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5" name="Text 13"/>
          <p:cNvSpPr/>
          <p:nvPr/>
        </p:nvSpPr>
        <p:spPr>
          <a:xfrm>
            <a:off x="82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6" name="Text 14"/>
          <p:cNvSpPr/>
          <p:nvPr/>
        </p:nvSpPr>
        <p:spPr>
          <a:xfrm>
            <a:off x="82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7" name="Text 15"/>
          <p:cNvSpPr/>
          <p:nvPr/>
        </p:nvSpPr>
        <p:spPr>
          <a:xfrm>
            <a:off x="82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8" name="Text 16"/>
          <p:cNvSpPr/>
          <p:nvPr/>
        </p:nvSpPr>
        <p:spPr>
          <a:xfrm>
            <a:off x="82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9" name="Text 17"/>
          <p:cNvSpPr/>
          <p:nvPr/>
        </p:nvSpPr>
        <p:spPr>
          <a:xfrm>
            <a:off x="82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0" name="Text 18"/>
          <p:cNvSpPr/>
          <p:nvPr/>
        </p:nvSpPr>
        <p:spPr>
          <a:xfrm>
            <a:off x="82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1" name="Text 19"/>
          <p:cNvSpPr/>
          <p:nvPr/>
        </p:nvSpPr>
        <p:spPr>
          <a:xfrm>
            <a:off x="82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2" name="Text 20"/>
          <p:cNvSpPr/>
          <p:nvPr/>
        </p:nvSpPr>
        <p:spPr>
          <a:xfrm>
            <a:off x="82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3" name="Text 21"/>
          <p:cNvSpPr/>
          <p:nvPr/>
        </p:nvSpPr>
        <p:spPr>
          <a:xfrm>
            <a:off x="82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4" name="Text 22"/>
          <p:cNvSpPr/>
          <p:nvPr/>
        </p:nvSpPr>
        <p:spPr>
          <a:xfrm>
            <a:off x="82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5" name="Text 23"/>
          <p:cNvSpPr/>
          <p:nvPr/>
        </p:nvSpPr>
        <p:spPr>
          <a:xfrm>
            <a:off x="82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6" name="Text 24"/>
          <p:cNvSpPr/>
          <p:nvPr/>
        </p:nvSpPr>
        <p:spPr>
          <a:xfrm>
            <a:off x="82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7" name="Text 25"/>
          <p:cNvSpPr/>
          <p:nvPr/>
        </p:nvSpPr>
        <p:spPr>
          <a:xfrm>
            <a:off x="82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8" name="Text 26"/>
          <p:cNvSpPr/>
          <p:nvPr/>
        </p:nvSpPr>
        <p:spPr>
          <a:xfrm>
            <a:off x="82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9" name="Text 27"/>
          <p:cNvSpPr/>
          <p:nvPr/>
        </p:nvSpPr>
        <p:spPr>
          <a:xfrm>
            <a:off x="82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30" name="Text 28"/>
          <p:cNvSpPr/>
          <p:nvPr/>
        </p:nvSpPr>
        <p:spPr>
          <a:xfrm>
            <a:off x="82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1" name="Text 29"/>
          <p:cNvSpPr/>
          <p:nvPr/>
        </p:nvSpPr>
        <p:spPr>
          <a:xfrm>
            <a:off x="82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2" name="Text 30"/>
          <p:cNvSpPr/>
          <p:nvPr/>
        </p:nvSpPr>
        <p:spPr>
          <a:xfrm>
            <a:off x="82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3" name="Text 31"/>
          <p:cNvSpPr/>
          <p:nvPr/>
        </p:nvSpPr>
        <p:spPr>
          <a:xfrm>
            <a:off x="82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4" name="Text 32"/>
          <p:cNvSpPr/>
          <p:nvPr/>
        </p:nvSpPr>
        <p:spPr>
          <a:xfrm>
            <a:off x="82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5" name="Text 33"/>
          <p:cNvSpPr/>
          <p:nvPr/>
        </p:nvSpPr>
        <p:spPr>
          <a:xfrm>
            <a:off x="82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6" name="Text 34"/>
          <p:cNvSpPr/>
          <p:nvPr/>
        </p:nvSpPr>
        <p:spPr>
          <a:xfrm>
            <a:off x="82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7" name="Text 35"/>
          <p:cNvSpPr/>
          <p:nvPr/>
        </p:nvSpPr>
        <p:spPr>
          <a:xfrm>
            <a:off x="82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8" name="Text 36"/>
          <p:cNvSpPr/>
          <p:nvPr/>
        </p:nvSpPr>
        <p:spPr>
          <a:xfrm>
            <a:off x="828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82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0" name="Text 38"/>
          <p:cNvSpPr/>
          <p:nvPr/>
        </p:nvSpPr>
        <p:spPr>
          <a:xfrm>
            <a:off x="82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1" name="Text 39"/>
          <p:cNvSpPr/>
          <p:nvPr/>
        </p:nvSpPr>
        <p:spPr>
          <a:xfrm>
            <a:off x="82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2" name="Text 40"/>
          <p:cNvSpPr/>
          <p:nvPr/>
        </p:nvSpPr>
        <p:spPr>
          <a:xfrm>
            <a:off x="82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3" name="Text 41"/>
          <p:cNvSpPr/>
          <p:nvPr/>
        </p:nvSpPr>
        <p:spPr>
          <a:xfrm>
            <a:off x="82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4" name="Text 42"/>
          <p:cNvSpPr/>
          <p:nvPr/>
        </p:nvSpPr>
        <p:spPr>
          <a:xfrm>
            <a:off x="286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5" name="Text 43"/>
          <p:cNvSpPr/>
          <p:nvPr/>
        </p:nvSpPr>
        <p:spPr>
          <a:xfrm>
            <a:off x="286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6" name="Text 44"/>
          <p:cNvSpPr/>
          <p:nvPr/>
        </p:nvSpPr>
        <p:spPr>
          <a:xfrm>
            <a:off x="286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7" name="Text 45"/>
          <p:cNvSpPr/>
          <p:nvPr/>
        </p:nvSpPr>
        <p:spPr>
          <a:xfrm>
            <a:off x="286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8" name="Text 46"/>
          <p:cNvSpPr/>
          <p:nvPr/>
        </p:nvSpPr>
        <p:spPr>
          <a:xfrm>
            <a:off x="286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9" name="Text 47"/>
          <p:cNvSpPr/>
          <p:nvPr/>
        </p:nvSpPr>
        <p:spPr>
          <a:xfrm>
            <a:off x="286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0" name="Text 48"/>
          <p:cNvSpPr/>
          <p:nvPr/>
        </p:nvSpPr>
        <p:spPr>
          <a:xfrm>
            <a:off x="286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51" name="Text 49"/>
          <p:cNvSpPr/>
          <p:nvPr/>
        </p:nvSpPr>
        <p:spPr>
          <a:xfrm>
            <a:off x="286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2" name="Text 50"/>
          <p:cNvSpPr/>
          <p:nvPr/>
        </p:nvSpPr>
        <p:spPr>
          <a:xfrm>
            <a:off x="286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3" name="Text 51"/>
          <p:cNvSpPr/>
          <p:nvPr/>
        </p:nvSpPr>
        <p:spPr>
          <a:xfrm>
            <a:off x="286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4" name="Text 52"/>
          <p:cNvSpPr/>
          <p:nvPr/>
        </p:nvSpPr>
        <p:spPr>
          <a:xfrm>
            <a:off x="286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5" name="Text 53"/>
          <p:cNvSpPr/>
          <p:nvPr/>
        </p:nvSpPr>
        <p:spPr>
          <a:xfrm>
            <a:off x="286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6" name="Text 54"/>
          <p:cNvSpPr/>
          <p:nvPr/>
        </p:nvSpPr>
        <p:spPr>
          <a:xfrm>
            <a:off x="286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7" name="Text 55"/>
          <p:cNvSpPr/>
          <p:nvPr/>
        </p:nvSpPr>
        <p:spPr>
          <a:xfrm>
            <a:off x="286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86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9" name="Text 57"/>
          <p:cNvSpPr/>
          <p:nvPr/>
        </p:nvSpPr>
        <p:spPr>
          <a:xfrm>
            <a:off x="286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86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61" name="Text 59"/>
          <p:cNvSpPr/>
          <p:nvPr/>
        </p:nvSpPr>
        <p:spPr>
          <a:xfrm>
            <a:off x="286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2" name="Text 60"/>
          <p:cNvSpPr/>
          <p:nvPr/>
        </p:nvSpPr>
        <p:spPr>
          <a:xfrm>
            <a:off x="286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3" name="Text 61"/>
          <p:cNvSpPr/>
          <p:nvPr/>
        </p:nvSpPr>
        <p:spPr>
          <a:xfrm>
            <a:off x="286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4" name="Text 62"/>
          <p:cNvSpPr/>
          <p:nvPr/>
        </p:nvSpPr>
        <p:spPr>
          <a:xfrm>
            <a:off x="286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5" name="Text 63"/>
          <p:cNvSpPr/>
          <p:nvPr/>
        </p:nvSpPr>
        <p:spPr>
          <a:xfrm>
            <a:off x="286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6" name="Text 64"/>
          <p:cNvSpPr/>
          <p:nvPr/>
        </p:nvSpPr>
        <p:spPr>
          <a:xfrm>
            <a:off x="286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7" name="Text 65"/>
          <p:cNvSpPr/>
          <p:nvPr/>
        </p:nvSpPr>
        <p:spPr>
          <a:xfrm>
            <a:off x="286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8" name="Text 66"/>
          <p:cNvSpPr/>
          <p:nvPr/>
        </p:nvSpPr>
        <p:spPr>
          <a:xfrm>
            <a:off x="286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9" name="Text 67"/>
          <p:cNvSpPr/>
          <p:nvPr/>
        </p:nvSpPr>
        <p:spPr>
          <a:xfrm>
            <a:off x="286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0" name="Text 68"/>
          <p:cNvSpPr/>
          <p:nvPr/>
        </p:nvSpPr>
        <p:spPr>
          <a:xfrm>
            <a:off x="286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1" name="Text 69"/>
          <p:cNvSpPr/>
          <p:nvPr/>
        </p:nvSpPr>
        <p:spPr>
          <a:xfrm>
            <a:off x="286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2" name="Text 70"/>
          <p:cNvSpPr/>
          <p:nvPr/>
        </p:nvSpPr>
        <p:spPr>
          <a:xfrm>
            <a:off x="286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4" name="Text 72"/>
          <p:cNvSpPr/>
          <p:nvPr/>
        </p:nvSpPr>
        <p:spPr>
          <a:xfrm>
            <a:off x="286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6" name="Text 74"/>
          <p:cNvSpPr/>
          <p:nvPr/>
        </p:nvSpPr>
        <p:spPr>
          <a:xfrm>
            <a:off x="286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7" name="Text 75"/>
          <p:cNvSpPr/>
          <p:nvPr/>
        </p:nvSpPr>
        <p:spPr>
          <a:xfrm>
            <a:off x="286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8" name="Text 76"/>
          <p:cNvSpPr/>
          <p:nvPr/>
        </p:nvSpPr>
        <p:spPr>
          <a:xfrm>
            <a:off x="286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79" name="Text 77"/>
          <p:cNvSpPr/>
          <p:nvPr/>
        </p:nvSpPr>
        <p:spPr>
          <a:xfrm>
            <a:off x="286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0" name="Text 78"/>
          <p:cNvSpPr/>
          <p:nvPr/>
        </p:nvSpPr>
        <p:spPr>
          <a:xfrm>
            <a:off x="286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1" name="Text 79"/>
          <p:cNvSpPr/>
          <p:nvPr/>
        </p:nvSpPr>
        <p:spPr>
          <a:xfrm>
            <a:off x="286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2" name="Text 80"/>
          <p:cNvSpPr/>
          <p:nvPr/>
        </p:nvSpPr>
        <p:spPr>
          <a:xfrm>
            <a:off x="286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3" name="Text 81"/>
          <p:cNvSpPr/>
          <p:nvPr/>
        </p:nvSpPr>
        <p:spPr>
          <a:xfrm>
            <a:off x="490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4" name="Text 82"/>
          <p:cNvSpPr/>
          <p:nvPr/>
        </p:nvSpPr>
        <p:spPr>
          <a:xfrm>
            <a:off x="490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5" name="Text 83"/>
          <p:cNvSpPr/>
          <p:nvPr/>
        </p:nvSpPr>
        <p:spPr>
          <a:xfrm>
            <a:off x="490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6" name="Text 84"/>
          <p:cNvSpPr/>
          <p:nvPr/>
        </p:nvSpPr>
        <p:spPr>
          <a:xfrm>
            <a:off x="490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7" name="Text 85"/>
          <p:cNvSpPr/>
          <p:nvPr/>
        </p:nvSpPr>
        <p:spPr>
          <a:xfrm>
            <a:off x="490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8" name="Text 86"/>
          <p:cNvSpPr/>
          <p:nvPr/>
        </p:nvSpPr>
        <p:spPr>
          <a:xfrm>
            <a:off x="490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490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0" name="Text 88"/>
          <p:cNvSpPr/>
          <p:nvPr/>
        </p:nvSpPr>
        <p:spPr>
          <a:xfrm>
            <a:off x="490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1" name="Text 89"/>
          <p:cNvSpPr/>
          <p:nvPr/>
        </p:nvSpPr>
        <p:spPr>
          <a:xfrm>
            <a:off x="490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2" name="Text 90"/>
          <p:cNvSpPr/>
          <p:nvPr/>
        </p:nvSpPr>
        <p:spPr>
          <a:xfrm>
            <a:off x="490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3" name="Text 91"/>
          <p:cNvSpPr/>
          <p:nvPr/>
        </p:nvSpPr>
        <p:spPr>
          <a:xfrm>
            <a:off x="490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4" name="Text 92"/>
          <p:cNvSpPr/>
          <p:nvPr/>
        </p:nvSpPr>
        <p:spPr>
          <a:xfrm>
            <a:off x="490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5" name="Text 93"/>
          <p:cNvSpPr/>
          <p:nvPr/>
        </p:nvSpPr>
        <p:spPr>
          <a:xfrm>
            <a:off x="490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6" name="Text 94"/>
          <p:cNvSpPr/>
          <p:nvPr/>
        </p:nvSpPr>
        <p:spPr>
          <a:xfrm>
            <a:off x="490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90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8" name="Text 96"/>
          <p:cNvSpPr/>
          <p:nvPr/>
        </p:nvSpPr>
        <p:spPr>
          <a:xfrm>
            <a:off x="490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9" name="Text 97"/>
          <p:cNvSpPr/>
          <p:nvPr/>
        </p:nvSpPr>
        <p:spPr>
          <a:xfrm>
            <a:off x="490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00" name="Text 98"/>
          <p:cNvSpPr/>
          <p:nvPr/>
        </p:nvSpPr>
        <p:spPr>
          <a:xfrm>
            <a:off x="490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01" name="Text 99"/>
          <p:cNvSpPr/>
          <p:nvPr/>
        </p:nvSpPr>
        <p:spPr>
          <a:xfrm>
            <a:off x="490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2" name="Text 100"/>
          <p:cNvSpPr/>
          <p:nvPr/>
        </p:nvSpPr>
        <p:spPr>
          <a:xfrm>
            <a:off x="490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03" name="Text 101"/>
          <p:cNvSpPr/>
          <p:nvPr/>
        </p:nvSpPr>
        <p:spPr>
          <a:xfrm>
            <a:off x="490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4" name="Text 102"/>
          <p:cNvSpPr/>
          <p:nvPr/>
        </p:nvSpPr>
        <p:spPr>
          <a:xfrm>
            <a:off x="490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5" name="Text 103"/>
          <p:cNvSpPr/>
          <p:nvPr/>
        </p:nvSpPr>
        <p:spPr>
          <a:xfrm>
            <a:off x="490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6" name="Text 104"/>
          <p:cNvSpPr/>
          <p:nvPr/>
        </p:nvSpPr>
        <p:spPr>
          <a:xfrm>
            <a:off x="490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7" name="Text 105"/>
          <p:cNvSpPr/>
          <p:nvPr/>
        </p:nvSpPr>
        <p:spPr>
          <a:xfrm>
            <a:off x="490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8" name="Text 106"/>
          <p:cNvSpPr/>
          <p:nvPr/>
        </p:nvSpPr>
        <p:spPr>
          <a:xfrm>
            <a:off x="490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9" name="Text 107"/>
          <p:cNvSpPr/>
          <p:nvPr/>
        </p:nvSpPr>
        <p:spPr>
          <a:xfrm>
            <a:off x="490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10" name="Text 108"/>
          <p:cNvSpPr/>
          <p:nvPr/>
        </p:nvSpPr>
        <p:spPr>
          <a:xfrm>
            <a:off x="490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1" name="Text 109"/>
          <p:cNvSpPr/>
          <p:nvPr/>
        </p:nvSpPr>
        <p:spPr>
          <a:xfrm>
            <a:off x="490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2" name="Text 110"/>
          <p:cNvSpPr/>
          <p:nvPr/>
        </p:nvSpPr>
        <p:spPr>
          <a:xfrm>
            <a:off x="490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13" name="Text 111"/>
          <p:cNvSpPr/>
          <p:nvPr/>
        </p:nvSpPr>
        <p:spPr>
          <a:xfrm>
            <a:off x="490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4" name="Text 112"/>
          <p:cNvSpPr/>
          <p:nvPr/>
        </p:nvSpPr>
        <p:spPr>
          <a:xfrm>
            <a:off x="490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5" name="Text 113"/>
          <p:cNvSpPr/>
          <p:nvPr/>
        </p:nvSpPr>
        <p:spPr>
          <a:xfrm>
            <a:off x="490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6" name="Text 114"/>
          <p:cNvSpPr/>
          <p:nvPr/>
        </p:nvSpPr>
        <p:spPr>
          <a:xfrm>
            <a:off x="490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7" name="Text 115"/>
          <p:cNvSpPr/>
          <p:nvPr/>
        </p:nvSpPr>
        <p:spPr>
          <a:xfrm>
            <a:off x="490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0" name="Text 118"/>
          <p:cNvSpPr/>
          <p:nvPr/>
        </p:nvSpPr>
        <p:spPr>
          <a:xfrm>
            <a:off x="490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1" name="Text 119"/>
          <p:cNvSpPr/>
          <p:nvPr/>
        </p:nvSpPr>
        <p:spPr>
          <a:xfrm>
            <a:off x="490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2" name="Text 1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123" name="Text 1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3" name="Text 41"/>
          <p:cNvSpPr/>
          <p:nvPr/>
        </p:nvSpPr>
        <p:spPr>
          <a:xfrm>
            <a:off x="61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44" name="Text 42"/>
          <p:cNvSpPr/>
          <p:nvPr/>
        </p:nvSpPr>
        <p:spPr>
          <a:xfrm>
            <a:off x="61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5" name="Text 43"/>
          <p:cNvSpPr/>
          <p:nvPr/>
        </p:nvSpPr>
        <p:spPr>
          <a:xfrm>
            <a:off x="61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61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47" name="Text 45"/>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8" name="Text 46"/>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49" name="Text 47"/>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0" name="Text 48"/>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1" name="Text 49"/>
          <p:cNvSpPr/>
          <p:nvPr/>
        </p:nvSpPr>
        <p:spPr>
          <a:xfrm>
            <a:off x="2652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3" name="Text 51"/>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4" name="Text 52"/>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55" name="Text 53"/>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6" name="Text 54"/>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7" name="Text 55"/>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9" name="Text 57"/>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0" name="Text 58"/>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1" name="Text 59"/>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2" name="Text 60"/>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3" name="Text 61"/>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4" name="Text 62"/>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5" name="Text 63"/>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6" name="Text 64"/>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7" name="Text 65"/>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8" name="Text 66"/>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9" name="Text 67"/>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0" name="Text 68"/>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1" name="Text 69"/>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2" name="Text 70"/>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3" name="Text 71"/>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4" name="Text 72"/>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5" name="Text 73"/>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6" name="Text 74"/>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7" name="Text 75"/>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8" name="Text 76"/>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9" name="Text 77"/>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80" name="Text 78"/>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1" name="Text 79"/>
          <p:cNvSpPr/>
          <p:nvPr/>
        </p:nvSpPr>
        <p:spPr>
          <a:xfrm>
            <a:off x="265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2" name="Text 80"/>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3" name="Text 81"/>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4" name="Text 82"/>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5" name="Text 83"/>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6" name="Text 84"/>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7" name="Text 85"/>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88" name="Text 86"/>
          <p:cNvSpPr/>
          <p:nvPr/>
        </p:nvSpPr>
        <p:spPr>
          <a:xfrm>
            <a:off x="265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265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90" name="Text 88"/>
          <p:cNvSpPr/>
          <p:nvPr/>
        </p:nvSpPr>
        <p:spPr>
          <a:xfrm>
            <a:off x="265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91" name="Text 89"/>
          <p:cNvSpPr/>
          <p:nvPr/>
        </p:nvSpPr>
        <p:spPr>
          <a:xfrm>
            <a:off x="265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2" name="Text 90"/>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3" name="Text 91"/>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4" name="Text 92"/>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5" name="Text 93"/>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6" name="Text 94"/>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69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8" name="Text 96"/>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9" name="Text 97"/>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0" name="Text 98"/>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1" name="Text 99"/>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2" name="Text 100"/>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3" name="Text 101"/>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4" name="Text 102"/>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5" name="Text 103"/>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6" name="Text 104"/>
          <p:cNvSpPr/>
          <p:nvPr/>
        </p:nvSpPr>
        <p:spPr>
          <a:xfrm>
            <a:off x="469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7" name="Text 105"/>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8" name="Text 106"/>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9" name="Text 107"/>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0" name="Text 108"/>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1" name="Text 109"/>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2" name="Text 110"/>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3" name="Text 111"/>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4" name="Text 112"/>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5" name="Text 113"/>
          <p:cNvSpPr/>
          <p:nvPr/>
        </p:nvSpPr>
        <p:spPr>
          <a:xfrm>
            <a:off x="469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6" name="Text 114"/>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7" name="Text 115"/>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8" name="Text 116"/>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9" name="Text 117"/>
          <p:cNvSpPr/>
          <p:nvPr/>
        </p:nvSpPr>
        <p:spPr>
          <a:xfrm>
            <a:off x="469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20" name="Text 118"/>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21" name="Text 119"/>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2" name="Text 120"/>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3" name="Text 121"/>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4" name="Text 122"/>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5" name="Text 123"/>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26" name="Text 124"/>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7" name="Text 125"/>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8" name="Text 126"/>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9" name="Text 127"/>
          <p:cNvSpPr/>
          <p:nvPr/>
        </p:nvSpPr>
        <p:spPr>
          <a:xfrm>
            <a:off x="469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0" name="Text 128"/>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1" name="Text 129"/>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2" name="Text 130"/>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3" name="Text 131"/>
          <p:cNvSpPr/>
          <p:nvPr/>
        </p:nvSpPr>
        <p:spPr>
          <a:xfrm>
            <a:off x="469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34" name="Text 132"/>
          <p:cNvSpPr/>
          <p:nvPr/>
        </p:nvSpPr>
        <p:spPr>
          <a:xfrm>
            <a:off x="469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5" name="Text 133"/>
          <p:cNvSpPr/>
          <p:nvPr/>
        </p:nvSpPr>
        <p:spPr>
          <a:xfrm>
            <a:off x="469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36" name="Text 134"/>
          <p:cNvSpPr/>
          <p:nvPr/>
        </p:nvSpPr>
        <p:spPr>
          <a:xfrm>
            <a:off x="469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7" name="Text 1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138" name="Text 1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3" name="Text 41"/>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4" name="Text 42"/>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5" name="Text 43"/>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47" name="Text 45"/>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8" name="Text 46"/>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9" name="Text 47"/>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50" name="Text 48"/>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1" name="Text 49"/>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2" name="Text 50"/>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3" name="Text 51"/>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4" name="Text 52"/>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5" name="Text 53"/>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6" name="Text 54"/>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7" name="Text 55"/>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8" name="Text 56"/>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9" name="Text 57"/>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0" name="Text 58"/>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1" name="Text 59"/>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2" name="Text 60"/>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3" name="Text 61"/>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4" name="Text 62"/>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5" name="Text 63"/>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6" name="Text 64"/>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7" name="Text 65"/>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8" name="Text 66"/>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9" name="Text 67"/>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0" name="Text 68"/>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71" name="Text 69"/>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2" name="Text 70"/>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4" name="Text 72"/>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6" name="Text 74"/>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7" name="Text 75"/>
          <p:cNvSpPr/>
          <p:nvPr/>
        </p:nvSpPr>
        <p:spPr>
          <a:xfrm>
            <a:off x="2868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9" name="Text 77"/>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0" name="Text 78"/>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1" name="Text 79"/>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2" name="Text 80"/>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3" name="Text 81"/>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4" name="Text 82"/>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5" name="Text 83"/>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6" name="Text 84"/>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7" name="Text 85"/>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8" name="Text 86"/>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9" name="Text 87"/>
          <p:cNvSpPr/>
          <p:nvPr/>
        </p:nvSpPr>
        <p:spPr>
          <a:xfrm>
            <a:off x="4908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1" name="Text 89"/>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2" name="Text 90"/>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3" name="Text 91"/>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4" name="Text 92"/>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5" name="Text 93"/>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6" name="Text 94"/>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7" name="Text 95"/>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908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0" name="Text 98"/>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1" name="Text 99"/>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2" name="Text 100"/>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3" name="Text 101"/>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4" name="Text 102"/>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5" name="Text 103"/>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6" name="Text 104"/>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7" name="Text 105"/>
          <p:cNvSpPr/>
          <p:nvPr/>
        </p:nvSpPr>
        <p:spPr>
          <a:xfrm>
            <a:off x="4908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09" name="Text 107"/>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0" name="Text 108"/>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1" name="Text 109"/>
          <p:cNvSpPr/>
          <p:nvPr/>
        </p:nvSpPr>
        <p:spPr>
          <a:xfrm>
            <a:off x="4908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3" name="Text 111"/>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4" name="Text 112"/>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15" name="Text 113"/>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6" name="Text 114"/>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7" name="Text 115"/>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0" name="Text 118"/>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1" name="Text 119"/>
          <p:cNvSpPr/>
          <p:nvPr/>
        </p:nvSpPr>
        <p:spPr>
          <a:xfrm>
            <a:off x="4908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3" name="Text 121"/>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4" name="Text 122"/>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5" name="Text 12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126" name="Text 12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612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612000" y="1512000"/>
            <a:ext cx="6120000" cy="0"/>
          </a:xfrm>
          <a:prstGeom prst="line">
            <a:avLst/>
          </a:prstGeom>
          <a:noFill/>
          <a:ln w="10160">
            <a:solidFill>
              <a:srgbClr val="67067C"/>
            </a:solidFill>
            <a:prstDash val="solid"/>
          </a:ln>
        </p:spPr>
      </p:sp>
      <p:sp>
        <p:nvSpPr>
          <p:cNvPr id="6" name="Text 4"/>
          <p:cNvSpPr/>
          <p:nvPr/>
        </p:nvSpPr>
        <p:spPr>
          <a:xfrm>
            <a:off x="61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AOP Muscadet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7" name="Text 5"/>
          <p:cNvSpPr/>
          <p:nvPr/>
        </p:nvSpPr>
        <p:spPr>
          <a:xfrm>
            <a:off x="61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Sauvignon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8" name="Text 6"/>
          <p:cNvSpPr/>
          <p:nvPr/>
        </p:nvSpPr>
        <p:spPr>
          <a:xfrm>
            <a:off x="61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Chardonnay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9" name="Text 7"/>
          <p:cNvSpPr/>
          <p:nvPr/>
        </p:nvSpPr>
        <p:spPr>
          <a:xfrm>
            <a:off x="61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Merlot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0" name="Text 8"/>
          <p:cNvSpPr/>
          <p:nvPr/>
        </p:nvSpPr>
        <p:spPr>
          <a:xfrm>
            <a:off x="61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1" name="Text 9"/>
          <p:cNvSpPr/>
          <p:nvPr/>
        </p:nvSpPr>
        <p:spPr>
          <a:xfrm>
            <a:off x="61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2" name="Text 10"/>
          <p:cNvSpPr/>
          <p:nvPr/>
        </p:nvSpPr>
        <p:spPr>
          <a:xfrm>
            <a:off x="61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Amande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3 L   p. 27</a:t>
            </a:r>
            <a:endParaRPr lang="en-US" sz="740" dirty="0"/>
          </a:p>
        </p:txBody>
      </p:sp>
      <p:sp>
        <p:nvSpPr>
          <p:cNvPr id="13" name="Text 11"/>
          <p:cNvSpPr/>
          <p:nvPr/>
        </p:nvSpPr>
        <p:spPr>
          <a:xfrm>
            <a:off x="367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Gulf Stream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5 L   p. 27</a:t>
            </a:r>
            <a:endParaRPr lang="en-US" sz="740" dirty="0"/>
          </a:p>
        </p:txBody>
      </p:sp>
      <p:sp>
        <p:nvSpPr>
          <p:cNvPr id="14" name="Text 12"/>
          <p:cNvSpPr/>
          <p:nvPr/>
        </p:nvSpPr>
        <p:spPr>
          <a:xfrm>
            <a:off x="367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Triton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10 L   p. 27</a:t>
            </a:r>
            <a:endParaRPr lang="en-US" sz="740" dirty="0"/>
          </a:p>
        </p:txBody>
      </p:sp>
      <p:sp>
        <p:nvSpPr>
          <p:cNvPr id="15" name="Text 13"/>
          <p:cNvSpPr/>
          <p:nvPr/>
        </p:nvSpPr>
        <p:spPr>
          <a:xfrm>
            <a:off x="367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r>
              <a:rPr lang="en-US" sz="740" b="1" dirty="0">
                <a:solidFill>
                  <a:srgbClr val="46606E"/>
                </a:solidFill>
                <a:latin typeface="IBM Plex Sans" pitchFamily="34" charset="0"/>
                <a:ea typeface="IBM Plex Sans" pitchFamily="34" charset="-122"/>
                <a:cs typeface="IBM Plex Sans" pitchFamily="34" charset="-120"/>
              </a:rPr>
              <a:t>BLACAILLOUX  </a:t>
            </a:r>
            <a:r>
              <a:rPr lang="en-US" sz="680" dirty="0">
                <a:solidFill>
                  <a:srgbClr val="46606E"/>
                </a:solidFill>
                <a:latin typeface="IBM Plex Sans" pitchFamily="34" charset="0"/>
                <a:ea typeface="IBM Plex Sans" pitchFamily="34" charset="-122"/>
                <a:cs typeface="IBM Plex Sans" pitchFamily="34" charset="-120"/>
              </a:rPr>
              <a:t>Bastide de Blacailloux  </a:t>
            </a:r>
            <a:r>
              <a:rPr lang="en-US" sz="680" dirty="0">
                <a:solidFill>
                  <a:srgbClr val="A8515F"/>
                </a:solidFill>
                <a:latin typeface="IBM Plex Sans" pitchFamily="34" charset="0"/>
                <a:ea typeface="IBM Plex Sans" pitchFamily="34" charset="-122"/>
                <a:cs typeface="IBM Plex Sans" pitchFamily="34" charset="-120"/>
              </a:rPr>
              <a:t>5 L   p. 37</a:t>
            </a:r>
            <a:endParaRPr lang="en-US" sz="740" dirty="0"/>
          </a:p>
        </p:txBody>
      </p:sp>
      <p:sp>
        <p:nvSpPr>
          <p:cNvPr id="16" name="Text 14"/>
          <p:cNvSpPr/>
          <p:nvPr/>
        </p:nvSpPr>
        <p:spPr>
          <a:xfrm>
            <a:off x="367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7" name="Text 15"/>
          <p:cNvSpPr/>
          <p:nvPr/>
        </p:nvSpPr>
        <p:spPr>
          <a:xfrm>
            <a:off x="367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8" name="Text 16"/>
          <p:cNvSpPr/>
          <p:nvPr/>
        </p:nvSpPr>
        <p:spPr>
          <a:xfrm>
            <a:off x="367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9" name="Text 17"/>
          <p:cNvSpPr/>
          <p:nvPr/>
        </p:nvSpPr>
        <p:spPr>
          <a:xfrm>
            <a:off x="367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r>
              <a:rPr lang="en-US" sz="740" b="1" dirty="0">
                <a:solidFill>
                  <a:srgbClr val="46606E"/>
                </a:solidFill>
                <a:latin typeface="IBM Plex Sans" pitchFamily="34" charset="0"/>
                <a:ea typeface="IBM Plex Sans" pitchFamily="34" charset="-122"/>
                <a:cs typeface="IBM Plex Sans" pitchFamily="34" charset="-120"/>
              </a:rPr>
              <a:t>Corbières Rouge  </a:t>
            </a:r>
            <a:r>
              <a:rPr lang="en-US" sz="680" dirty="0">
                <a:solidFill>
                  <a:srgbClr val="46606E"/>
                </a:solidFill>
                <a:latin typeface="IBM Plex Sans" pitchFamily="34" charset="0"/>
                <a:ea typeface="IBM Plex Sans" pitchFamily="34" charset="-122"/>
                <a:cs typeface="IBM Plex Sans" pitchFamily="34" charset="-120"/>
              </a:rPr>
              <a:t>Prieuré Sainte-Marie d’Albas  </a:t>
            </a:r>
            <a:r>
              <a:rPr lang="en-US" sz="680" dirty="0">
                <a:solidFill>
                  <a:srgbClr val="A8515F"/>
                </a:solidFill>
                <a:latin typeface="IBM Plex Sans" pitchFamily="34" charset="0"/>
                <a:ea typeface="IBM Plex Sans" pitchFamily="34" charset="-122"/>
                <a:cs typeface="IBM Plex Sans" pitchFamily="34" charset="-120"/>
              </a:rPr>
              <a:t>BIB 3 L   p. 43</a:t>
            </a:r>
            <a:endParaRPr lang="en-US" sz="740" dirty="0"/>
          </a:p>
        </p:txBody>
      </p:sp>
      <p:sp>
        <p:nvSpPr>
          <p:cNvPr id="20" name="Text 18"/>
          <p:cNvSpPr/>
          <p:nvPr/>
        </p:nvSpPr>
        <p:spPr>
          <a:xfrm>
            <a:off x="612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612000" y="2988000"/>
            <a:ext cx="6120000" cy="0"/>
          </a:xfrm>
          <a:prstGeom prst="line">
            <a:avLst/>
          </a:prstGeom>
          <a:noFill/>
          <a:ln w="10160">
            <a:solidFill>
              <a:srgbClr val="67067C"/>
            </a:solidFill>
            <a:prstDash val="solid"/>
          </a:ln>
        </p:spPr>
      </p:sp>
      <p:sp>
        <p:nvSpPr>
          <p:cNvPr id="22" name="Text 20"/>
          <p:cNvSpPr/>
          <p:nvPr/>
        </p:nvSpPr>
        <p:spPr>
          <a:xfrm>
            <a:off x="61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3" name="Text 21"/>
          <p:cNvSpPr/>
          <p:nvPr/>
        </p:nvSpPr>
        <p:spPr>
          <a:xfrm>
            <a:off x="61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4" name="Text 22"/>
          <p:cNvSpPr/>
          <p:nvPr/>
        </p:nvSpPr>
        <p:spPr>
          <a:xfrm>
            <a:off x="61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5" name="Text 23"/>
          <p:cNvSpPr/>
          <p:nvPr/>
        </p:nvSpPr>
        <p:spPr>
          <a:xfrm>
            <a:off x="61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Chenin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6" name="Text 24"/>
          <p:cNvSpPr/>
          <p:nvPr/>
        </p:nvSpPr>
        <p:spPr>
          <a:xfrm>
            <a:off x="367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Rosé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7" name="Text 25"/>
          <p:cNvSpPr/>
          <p:nvPr/>
        </p:nvSpPr>
        <p:spPr>
          <a:xfrm>
            <a:off x="367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8" name="Text 26"/>
          <p:cNvSpPr/>
          <p:nvPr/>
        </p:nvSpPr>
        <p:spPr>
          <a:xfrm>
            <a:off x="367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9" name="Text 27"/>
          <p:cNvSpPr/>
          <p:nvPr/>
        </p:nvSpPr>
        <p:spPr>
          <a:xfrm>
            <a:off x="367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Blush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30" name="Text 28"/>
          <p:cNvSpPr/>
          <p:nvPr/>
        </p:nvSpPr>
        <p:spPr>
          <a:xfrm>
            <a:off x="612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612000" y="4032000"/>
            <a:ext cx="6120000" cy="0"/>
          </a:xfrm>
          <a:prstGeom prst="line">
            <a:avLst/>
          </a:prstGeom>
          <a:noFill/>
          <a:ln w="10160">
            <a:solidFill>
              <a:srgbClr val="67067C"/>
            </a:solidFill>
            <a:prstDash val="solid"/>
          </a:ln>
        </p:spPr>
      </p:sp>
      <p:sp>
        <p:nvSpPr>
          <p:cNvPr id="32" name="Text 30"/>
          <p:cNvSpPr/>
          <p:nvPr/>
        </p:nvSpPr>
        <p:spPr>
          <a:xfrm>
            <a:off x="61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SAUVIGNON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3" name="Text 31"/>
          <p:cNvSpPr/>
          <p:nvPr/>
        </p:nvSpPr>
        <p:spPr>
          <a:xfrm>
            <a:off x="61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CARIGNAN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4" name="Text 32"/>
          <p:cNvSpPr/>
          <p:nvPr/>
        </p:nvSpPr>
        <p:spPr>
          <a:xfrm>
            <a:off x="61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5" name="Text 33"/>
          <p:cNvSpPr/>
          <p:nvPr/>
        </p:nvSpPr>
        <p:spPr>
          <a:xfrm>
            <a:off x="61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6" name="Text 34"/>
          <p:cNvSpPr/>
          <p:nvPr/>
        </p:nvSpPr>
        <p:spPr>
          <a:xfrm>
            <a:off x="367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7" name="Text 35"/>
          <p:cNvSpPr/>
          <p:nvPr/>
        </p:nvSpPr>
        <p:spPr>
          <a:xfrm>
            <a:off x="367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8" name="Text 36"/>
          <p:cNvSpPr/>
          <p:nvPr/>
        </p:nvSpPr>
        <p:spPr>
          <a:xfrm>
            <a:off x="367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9" name="Text 37"/>
          <p:cNvSpPr/>
          <p:nvPr/>
        </p:nvSpPr>
        <p:spPr>
          <a:xfrm>
            <a:off x="367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40" name="Text 38"/>
          <p:cNvSpPr/>
          <p:nvPr/>
        </p:nvSpPr>
        <p:spPr>
          <a:xfrm>
            <a:off x="612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612000" y="5076000"/>
            <a:ext cx="6120000" cy="0"/>
          </a:xfrm>
          <a:prstGeom prst="line">
            <a:avLst/>
          </a:prstGeom>
          <a:noFill/>
          <a:ln w="10160">
            <a:solidFill>
              <a:srgbClr val="67067C"/>
            </a:solidFill>
            <a:prstDash val="solid"/>
          </a:ln>
        </p:spPr>
      </p:sp>
      <p:sp>
        <p:nvSpPr>
          <p:cNvPr id="42" name="Text 40"/>
          <p:cNvSpPr/>
          <p:nvPr/>
        </p:nvSpPr>
        <p:spPr>
          <a:xfrm>
            <a:off x="61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3" name="Text 41"/>
          <p:cNvSpPr/>
          <p:nvPr/>
        </p:nvSpPr>
        <p:spPr>
          <a:xfrm>
            <a:off x="612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4" name="Text 42"/>
          <p:cNvSpPr/>
          <p:nvPr/>
        </p:nvSpPr>
        <p:spPr>
          <a:xfrm>
            <a:off x="367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5" name="Text 43"/>
          <p:cNvSpPr/>
          <p:nvPr/>
        </p:nvSpPr>
        <p:spPr>
          <a:xfrm>
            <a:off x="612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612000" y="5832000"/>
            <a:ext cx="6120000" cy="0"/>
          </a:xfrm>
          <a:prstGeom prst="line">
            <a:avLst/>
          </a:prstGeom>
          <a:noFill/>
          <a:ln w="10160">
            <a:solidFill>
              <a:srgbClr val="67067C"/>
            </a:solidFill>
            <a:prstDash val="solid"/>
          </a:ln>
        </p:spPr>
      </p:sp>
      <p:sp>
        <p:nvSpPr>
          <p:cNvPr id="47" name="Text 45"/>
          <p:cNvSpPr/>
          <p:nvPr/>
        </p:nvSpPr>
        <p:spPr>
          <a:xfrm>
            <a:off x="61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Blanche Armagnac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8" name="Text 46"/>
          <p:cNvSpPr/>
          <p:nvPr/>
        </p:nvSpPr>
        <p:spPr>
          <a:xfrm>
            <a:off x="61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Réserve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9" name="Text 47"/>
          <p:cNvSpPr/>
          <p:nvPr/>
        </p:nvSpPr>
        <p:spPr>
          <a:xfrm>
            <a:off x="61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V.S.O.P.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0" name="Text 48"/>
          <p:cNvSpPr/>
          <p:nvPr/>
        </p:nvSpPr>
        <p:spPr>
          <a:xfrm>
            <a:off x="61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X.O.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1" name="Text 49"/>
          <p:cNvSpPr/>
          <p:nvPr/>
        </p:nvSpPr>
        <p:spPr>
          <a:xfrm>
            <a:off x="612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Hors d'Age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2" name="Text 50"/>
          <p:cNvSpPr/>
          <p:nvPr/>
        </p:nvSpPr>
        <p:spPr>
          <a:xfrm>
            <a:off x="367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3" name="Text 51"/>
          <p:cNvSpPr/>
          <p:nvPr/>
        </p:nvSpPr>
        <p:spPr>
          <a:xfrm>
            <a:off x="367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4" name="Text 52"/>
          <p:cNvSpPr/>
          <p:nvPr/>
        </p:nvSpPr>
        <p:spPr>
          <a:xfrm>
            <a:off x="367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r>
              <a:rPr lang="en-US" sz="740" b="1" dirty="0">
                <a:solidFill>
                  <a:srgbClr val="46606E"/>
                </a:solidFill>
                <a:latin typeface="IBM Plex Sans" pitchFamily="34" charset="0"/>
                <a:ea typeface="IBM Plex Sans" pitchFamily="34" charset="-122"/>
                <a:cs typeface="IBM Plex Sans" pitchFamily="34" charset="-120"/>
              </a:rPr>
              <a:t>Vieux Ratafia  </a:t>
            </a:r>
            <a:r>
              <a:rPr lang="en-US" sz="680" dirty="0">
                <a:solidFill>
                  <a:srgbClr val="46606E"/>
                </a:solidFill>
                <a:latin typeface="IBM Plex Sans" pitchFamily="34" charset="0"/>
                <a:ea typeface="IBM Plex Sans" pitchFamily="34" charset="-122"/>
                <a:cs typeface="IBM Plex Sans" pitchFamily="34" charset="-120"/>
              </a:rPr>
              <a:t>Champagne Dekeyne  </a:t>
            </a:r>
            <a:r>
              <a:rPr lang="en-US" sz="680" dirty="0">
                <a:solidFill>
                  <a:srgbClr val="A8515F"/>
                </a:solidFill>
                <a:latin typeface="IBM Plex Sans" pitchFamily="34" charset="0"/>
                <a:ea typeface="IBM Plex Sans" pitchFamily="34" charset="-122"/>
                <a:cs typeface="IBM Plex Sans" pitchFamily="34" charset="-120"/>
              </a:rPr>
              <a:t>75 cl   p. 44</a:t>
            </a:r>
            <a:endParaRPr lang="en-US" sz="740" dirty="0"/>
          </a:p>
        </p:txBody>
      </p:sp>
      <p:sp>
        <p:nvSpPr>
          <p:cNvPr id="55" name="Text 53"/>
          <p:cNvSpPr/>
          <p:nvPr/>
        </p:nvSpPr>
        <p:spPr>
          <a:xfrm>
            <a:off x="367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r>
              <a:rPr lang="en-US" sz="740" b="1" dirty="0">
                <a:solidFill>
                  <a:srgbClr val="46606E"/>
                </a:solidFill>
                <a:latin typeface="IBM Plex Sans" pitchFamily="34" charset="0"/>
                <a:ea typeface="IBM Plex Sans" pitchFamily="34" charset="-122"/>
                <a:cs typeface="IBM Plex Sans" pitchFamily="34" charset="-120"/>
              </a:rPr>
              <a:t>IGP Vieux Ratafia Champenois  </a:t>
            </a:r>
            <a:r>
              <a:rPr lang="en-US" sz="680" dirty="0">
                <a:solidFill>
                  <a:srgbClr val="46606E"/>
                </a:solidFill>
                <a:latin typeface="IBM Plex Sans" pitchFamily="34" charset="0"/>
                <a:ea typeface="IBM Plex Sans" pitchFamily="34" charset="-122"/>
                <a:cs typeface="IBM Plex Sans" pitchFamily="34" charset="-120"/>
              </a:rPr>
              <a:t>Champagne Denis Frézier  </a:t>
            </a:r>
            <a:r>
              <a:rPr lang="en-US" sz="680" dirty="0">
                <a:solidFill>
                  <a:srgbClr val="A8515F"/>
                </a:solidFill>
                <a:latin typeface="IBM Plex Sans" pitchFamily="34" charset="0"/>
                <a:ea typeface="IBM Plex Sans" pitchFamily="34" charset="-122"/>
                <a:cs typeface="IBM Plex Sans" pitchFamily="34" charset="-120"/>
              </a:rPr>
              <a:t>75 cl   p. 45</a:t>
            </a:r>
            <a:endParaRPr lang="en-US" sz="740" dirty="0"/>
          </a:p>
        </p:txBody>
      </p:sp>
      <p:sp>
        <p:nvSpPr>
          <p:cNvPr id="56" name="Text 5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51</a:t>
            </a:r>
            <a:endParaRPr lang="en-US" sz="750" dirty="0"/>
          </a:p>
        </p:txBody>
      </p:sp>
      <p:sp>
        <p:nvSpPr>
          <p:cNvPr id="57" name="Text 5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atalogue-scio-2026/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2026-10-02T17:05:20Z</dcterms:created>
  <dcterms:modified xsi:type="dcterms:W3CDTF">2026-10-02T17:05:20Z</dcterms:modified>
</cp:coreProperties>
</file>