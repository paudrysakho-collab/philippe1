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3.png"/><Relationship Id="rId15" Type="http://schemas.openxmlformats.org/officeDocument/2006/relationships/image" Target="../media/image-3-15.png"/><Relationship Id="rId16" Type="http://schemas.openxmlformats.org/officeDocument/2006/relationships/image" Target="../media/image-3-15.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slideLayout" Target="../slideLayouts/slideLayout1.xml"/><Relationship Id="rId2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jp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jp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jp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jp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jp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jp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jp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jp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jp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jp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slideLayout" Target="../slideLayouts/slideLayout1.xml"/><Relationship Id="rId8"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jp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1.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jp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1.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slideLayout" Target="../slideLayouts/slideLayout1.xm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jpg"/><Relationship Id="rId4" Type="http://schemas.openxmlformats.org/officeDocument/2006/relationships/image" Target="../media/image-48-4.png"/><Relationship Id="rId5" Type="http://schemas.openxmlformats.org/officeDocument/2006/relationships/image" Target="../media/image-48-5.png"/><Relationship Id="rId6" Type="http://schemas.openxmlformats.org/officeDocument/2006/relationships/slideLayout" Target="../slideLayouts/slideLayout1.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jp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slideLayout" Target="../slideLayouts/slideLayout1.xml"/><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slideLayout" Target="../slideLayouts/slideLayout1.xml"/><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jpg"/><Relationship Id="rId4" Type="http://schemas.openxmlformats.org/officeDocument/2006/relationships/image" Target="../media/image-52-4.png"/><Relationship Id="rId5" Type="http://schemas.openxmlformats.org/officeDocument/2006/relationships/slideLayout" Target="../slideLayouts/slideLayout1.xm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slideLayout" Target="../slideLayouts/slideLayout1.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jpg"/><Relationship Id="rId4" Type="http://schemas.openxmlformats.org/officeDocument/2006/relationships/image" Target="../media/image-56-4.png"/><Relationship Id="rId5" Type="http://schemas.openxmlformats.org/officeDocument/2006/relationships/slideLayout" Target="../slideLayouts/slideLayout1.xml"/><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jpg"/><Relationship Id="rId4" Type="http://schemas.openxmlformats.org/officeDocument/2006/relationships/image" Target="../media/image-57-4.png"/><Relationship Id="rId5" Type="http://schemas.openxmlformats.org/officeDocument/2006/relationships/slideLayout" Target="../slideLayouts/slideLayout1.xml"/><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image" Target="../media/image-58-5.png"/><Relationship Id="rId6" Type="http://schemas.openxmlformats.org/officeDocument/2006/relationships/slideLayout" Target="../slideLayouts/slideLayout1.xml"/><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jp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slideLayout" Target="../slideLayouts/slideLayout1.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slideLayout" Target="../slideLayouts/slideLayout1.xml"/><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slideLayout" Target="../slideLayouts/slideLayout1.xml"/><Relationship Id="rId7"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jpg"/><Relationship Id="rId4" Type="http://schemas.openxmlformats.org/officeDocument/2006/relationships/image" Target="../media/image-63-4.png"/><Relationship Id="rId5" Type="http://schemas.openxmlformats.org/officeDocument/2006/relationships/image" Target="../media/image-63-5.png"/><Relationship Id="rId6" Type="http://schemas.openxmlformats.org/officeDocument/2006/relationships/slideLayout" Target="../slideLayouts/slideLayout1.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slideLayout" Target="../slideLayouts/slideLayout1.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image" Target="../media/image-65-5.png"/><Relationship Id="rId6" Type="http://schemas.openxmlformats.org/officeDocument/2006/relationships/slideLayout" Target="../slideLayouts/slideLayout1.xml"/><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jpg"/><Relationship Id="rId4" Type="http://schemas.openxmlformats.org/officeDocument/2006/relationships/image" Target="../media/image-66-4.png"/><Relationship Id="rId5" Type="http://schemas.openxmlformats.org/officeDocument/2006/relationships/image" Target="../media/image-66-5.png"/><Relationship Id="rId6" Type="http://schemas.openxmlformats.org/officeDocument/2006/relationships/slideLayout" Target="../slideLayouts/slideLayout1.xml"/><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67067C"/>
                </a:solidFill>
                <a:latin typeface="Young Serif" pitchFamily="34" charset="0"/>
                <a:ea typeface="Young Serif" pitchFamily="34" charset="-122"/>
                <a:cs typeface="Young Serif" pitchFamily="34" charset="-120"/>
              </a:rPr>
              <a:t>pieds</a:t>
            </a:r>
            <a:endParaRPr lang="en-US" sz="4600" dirty="0"/>
          </a:p>
        </p:txBody>
      </p:sp>
      <p:sp>
        <p:nvSpPr>
          <p:cNvPr id="5" name="Text 1"/>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Shape 2"/>
          <p:cNvSpPr/>
          <p:nvPr/>
        </p:nvSpPr>
        <p:spPr>
          <a:xfrm>
            <a:off x="-216000" y="7776000"/>
            <a:ext cx="2808000" cy="864000"/>
          </a:xfrm>
          <a:prstGeom prst="roundRect">
            <a:avLst>
              <a:gd name="adj" fmla="val 3175"/>
            </a:avLst>
          </a:prstGeom>
          <a:solidFill>
            <a:srgbClr val="F2EADA"/>
          </a:solidFill>
          <a:ln w="12700">
            <a:solidFill>
              <a:srgbClr val="F2EADA"/>
            </a:solidFill>
            <a:prstDash val="solid"/>
          </a:ln>
        </p:spPr>
      </p:sp>
      <p:sp>
        <p:nvSpPr>
          <p:cNvPr id="7" name="Text 3"/>
          <p:cNvSpPr/>
          <p:nvPr/>
        </p:nvSpPr>
        <p:spPr>
          <a:xfrm>
            <a:off x="612000" y="7848000"/>
            <a:ext cx="2160000" cy="180000"/>
          </a:xfrm>
          <a:prstGeom prst="rect">
            <a:avLst/>
          </a:prstGeom>
          <a:noFill/>
          <a:ln/>
        </p:spPr>
        <p:txBody>
          <a:bodyPr wrap="square" lIns="0" tIns="0" rIns="0" bIns="0" rtlCol="0" anchor="ctr"/>
          <a:lstStyle/>
          <a:p>
            <a:pPr indent="0" marL="0">
              <a:buNone/>
            </a:pPr>
            <a:r>
              <a:rPr lang="en-US" sz="900" b="1" spc="30" kern="0" dirty="0">
                <a:solidFill>
                  <a:srgbClr val="46606E"/>
                </a:solidFill>
                <a:latin typeface="IBM Plex Sans" pitchFamily="34" charset="0"/>
                <a:ea typeface="IBM Plex Sans" pitchFamily="34" charset="-122"/>
                <a:cs typeface="IBM Plex Sans" pitchFamily="34" charset="-120"/>
              </a:rPr>
              <a:t>TARIFS CAVISTES VENDÉE (85)</a:t>
            </a:r>
            <a:endParaRPr lang="en-US" sz="900" dirty="0"/>
          </a:p>
        </p:txBody>
      </p:sp>
      <p:sp>
        <p:nvSpPr>
          <p:cNvPr id="8" name="Text 4"/>
          <p:cNvSpPr/>
          <p:nvPr/>
        </p:nvSpPr>
        <p:spPr>
          <a:xfrm>
            <a:off x="612000" y="8064000"/>
            <a:ext cx="2160000" cy="504000"/>
          </a:xfrm>
          <a:prstGeom prst="rect">
            <a:avLst/>
          </a:prstGeom>
          <a:noFill/>
          <a:ln/>
        </p:spPr>
        <p:txBody>
          <a:bodyPr wrap="square" lIns="0" tIns="0" rIns="0" bIns="0" rtlCol="0" anchor="ctr"/>
          <a:lstStyle/>
          <a:p>
            <a:pPr indent="0" marL="0">
              <a:buNone/>
            </a:pPr>
            <a:r>
              <a:rPr lang="en-US" sz="3400" dirty="0">
                <a:solidFill>
                  <a:srgbClr val="67067C"/>
                </a:solidFill>
                <a:latin typeface="Young Serif" pitchFamily="34" charset="0"/>
                <a:ea typeface="Young Serif" pitchFamily="34" charset="-122"/>
                <a:cs typeface="Young Serif" pitchFamily="34" charset="-120"/>
              </a:rPr>
              <a:t>2026</a:t>
            </a:r>
            <a:endParaRPr lang="en-US" sz="3400" dirty="0"/>
          </a:p>
        </p:txBody>
      </p:sp>
      <p:sp>
        <p:nvSpPr>
          <p:cNvPr id="9" name="Text 5"/>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30000"/>
              </a:lnSpc>
              <a:buNone/>
            </a:pPr>
            <a:r>
              <a:rPr lang="en-US" sz="1700" dirty="0">
                <a:solidFill>
                  <a:srgbClr val="46606E"/>
                </a:solidFill>
                <a:latin typeface="Young Serif" pitchFamily="34" charset="0"/>
                <a:ea typeface="Young Serif" pitchFamily="34" charset="-122"/>
                <a:cs typeface="Young Serif" pitchFamily="34" charset="-120"/>
              </a:rPr>
              <a:t>L'Agence SCIO, c'est </a:t>
            </a:r>
            <a:r>
              <a:rPr lang="en-US" sz="1700" dirty="0">
                <a:solidFill>
                  <a:srgbClr val="67067C"/>
                </a:solidFill>
                <a:latin typeface="Young Serif" pitchFamily="34" charset="0"/>
                <a:ea typeface="Young Serif" pitchFamily="34" charset="-122"/>
                <a:cs typeface="Young Serif" pitchFamily="34" charset="-120"/>
              </a:rPr>
              <a:t>partager notre savoir et notre passion</a:t>
            </a:r>
            <a:r>
              <a:rPr lang="en-US" sz="17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7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9" name="Image 1" descr="/home/user/philippe1/build/deco/coupe-nue.png">    </p:cNvPr>
          <p:cNvPicPr>
            <a:picLocks noChangeAspect="1"/>
          </p:cNvPicPr>
          <p:nvPr/>
        </p:nvPicPr>
        <p:blipFill>
          <a:blip r:embed="rId2"/>
          <a:stretch>
            <a:fillRect/>
          </a:stretch>
        </p:blipFill>
        <p:spPr>
          <a:xfrm>
            <a:off x="828000" y="4860000"/>
            <a:ext cx="6120000" cy="1460455"/>
          </a:xfrm>
          <a:prstGeom prst="rect">
            <a:avLst/>
          </a:prstGeom>
        </p:spPr>
      </p:pic>
      <p:sp>
        <p:nvSpPr>
          <p:cNvPr id="10" name="Shape 6"/>
          <p:cNvSpPr/>
          <p:nvPr/>
        </p:nvSpPr>
        <p:spPr>
          <a:xfrm>
            <a:off x="828000" y="6732000"/>
            <a:ext cx="6120000" cy="0"/>
          </a:xfrm>
          <a:prstGeom prst="line">
            <a:avLst/>
          </a:prstGeom>
          <a:noFill/>
          <a:ln w="10160">
            <a:solidFill>
              <a:srgbClr val="67067C"/>
            </a:solidFill>
            <a:prstDash val="solid"/>
          </a:ln>
        </p:spPr>
      </p:sp>
      <p:sp>
        <p:nvSpPr>
          <p:cNvPr id="11" name="Text 7"/>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2" name="Text 8"/>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3" name="Text 9"/>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4" name="Text 10"/>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5" name="Text 11"/>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6" name="Text 12"/>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7"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8"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t"/>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pic>
        <p:nvPicPr>
          <p:cNvPr id="3" name="Image 0" descr="/home/user/philippe1/build/deco/bande-loire.png">    </p:cNvPr>
          <p:cNvPicPr>
            <a:picLocks noChangeAspect="1"/>
          </p:cNvPicPr>
          <p:nvPr/>
        </p:nvPicPr>
        <p:blipFill>
          <a:blip r:embed="rId1"/>
          <a:stretch>
            <a:fillRect/>
          </a:stretch>
        </p:blipFill>
        <p:spPr>
          <a:xfrm>
            <a:off x="612000" y="1062000"/>
            <a:ext cx="2952000" cy="273600"/>
          </a:xfrm>
          <a:prstGeom prst="rect">
            <a:avLst/>
          </a:prstGeom>
        </p:spPr>
      </p:pic>
      <p:sp>
        <p:nvSpPr>
          <p:cNvPr id="4" name="Text 1"/>
          <p:cNvSpPr/>
          <p:nvPr/>
        </p:nvSpPr>
        <p:spPr>
          <a:xfrm>
            <a:off x="720000" y="10620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Loire</a:t>
            </a:r>
            <a:endParaRPr lang="en-US" sz="1300" dirty="0"/>
          </a:p>
        </p:txBody>
      </p:sp>
      <p:sp>
        <p:nvSpPr>
          <p:cNvPr id="5" name="Text 2"/>
          <p:cNvSpPr/>
          <p:nvPr/>
        </p:nvSpPr>
        <p:spPr>
          <a:xfrm>
            <a:off x="612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6" name="Text 3"/>
          <p:cNvSpPr/>
          <p:nvPr/>
        </p:nvSpPr>
        <p:spPr>
          <a:xfrm>
            <a:off x="918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7" name="Text 4"/>
          <p:cNvSpPr/>
          <p:nvPr/>
        </p:nvSpPr>
        <p:spPr>
          <a:xfrm>
            <a:off x="3204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8" name="Shape 5"/>
          <p:cNvSpPr/>
          <p:nvPr/>
        </p:nvSpPr>
        <p:spPr>
          <a:xfrm>
            <a:off x="612000" y="1587600"/>
            <a:ext cx="2952000" cy="0"/>
          </a:xfrm>
          <a:prstGeom prst="line">
            <a:avLst/>
          </a:prstGeom>
          <a:noFill/>
          <a:ln w="3810">
            <a:solidFill>
              <a:srgbClr val="C9CFC9"/>
            </a:solidFill>
            <a:prstDash val="solid"/>
          </a:ln>
        </p:spPr>
      </p:sp>
      <p:sp>
        <p:nvSpPr>
          <p:cNvPr id="9" name="Text 6"/>
          <p:cNvSpPr/>
          <p:nvPr/>
        </p:nvSpPr>
        <p:spPr>
          <a:xfrm>
            <a:off x="612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0" name="Text 7"/>
          <p:cNvSpPr/>
          <p:nvPr/>
        </p:nvSpPr>
        <p:spPr>
          <a:xfrm>
            <a:off x="918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1" name="Text 8"/>
          <p:cNvSpPr/>
          <p:nvPr/>
        </p:nvSpPr>
        <p:spPr>
          <a:xfrm>
            <a:off x="3204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2" name="Shape 9"/>
          <p:cNvSpPr/>
          <p:nvPr/>
        </p:nvSpPr>
        <p:spPr>
          <a:xfrm>
            <a:off x="612000" y="1789200"/>
            <a:ext cx="2952000" cy="0"/>
          </a:xfrm>
          <a:prstGeom prst="line">
            <a:avLst/>
          </a:prstGeom>
          <a:noFill/>
          <a:ln w="3810">
            <a:solidFill>
              <a:srgbClr val="C9CFC9"/>
            </a:solidFill>
            <a:prstDash val="solid"/>
          </a:ln>
        </p:spPr>
      </p:sp>
      <p:sp>
        <p:nvSpPr>
          <p:cNvPr id="13" name="Text 10"/>
          <p:cNvSpPr/>
          <p:nvPr/>
        </p:nvSpPr>
        <p:spPr>
          <a:xfrm>
            <a:off x="612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4" name="Text 11"/>
          <p:cNvSpPr/>
          <p:nvPr/>
        </p:nvSpPr>
        <p:spPr>
          <a:xfrm>
            <a:off x="918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5" name="Text 12"/>
          <p:cNvSpPr/>
          <p:nvPr/>
        </p:nvSpPr>
        <p:spPr>
          <a:xfrm>
            <a:off x="3204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16" name="Shape 13"/>
          <p:cNvSpPr/>
          <p:nvPr/>
        </p:nvSpPr>
        <p:spPr>
          <a:xfrm>
            <a:off x="612000" y="1990800"/>
            <a:ext cx="2952000" cy="0"/>
          </a:xfrm>
          <a:prstGeom prst="line">
            <a:avLst/>
          </a:prstGeom>
          <a:noFill/>
          <a:ln w="3810">
            <a:solidFill>
              <a:srgbClr val="C9CFC9"/>
            </a:solidFill>
            <a:prstDash val="solid"/>
          </a:ln>
        </p:spPr>
      </p:sp>
      <p:sp>
        <p:nvSpPr>
          <p:cNvPr id="17" name="Text 14"/>
          <p:cNvSpPr/>
          <p:nvPr/>
        </p:nvSpPr>
        <p:spPr>
          <a:xfrm>
            <a:off x="612000" y="199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8" name="Text 15"/>
          <p:cNvSpPr/>
          <p:nvPr/>
        </p:nvSpPr>
        <p:spPr>
          <a:xfrm>
            <a:off x="918000" y="199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19" name="Text 16"/>
          <p:cNvSpPr/>
          <p:nvPr/>
        </p:nvSpPr>
        <p:spPr>
          <a:xfrm>
            <a:off x="3204000" y="199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0" name="Shape 17"/>
          <p:cNvSpPr/>
          <p:nvPr/>
        </p:nvSpPr>
        <p:spPr>
          <a:xfrm>
            <a:off x="612000" y="2192400"/>
            <a:ext cx="2952000" cy="0"/>
          </a:xfrm>
          <a:prstGeom prst="line">
            <a:avLst/>
          </a:prstGeom>
          <a:noFill/>
          <a:ln w="3810">
            <a:solidFill>
              <a:srgbClr val="C9CFC9"/>
            </a:solidFill>
            <a:prstDash val="solid"/>
          </a:ln>
        </p:spPr>
      </p:sp>
      <p:sp>
        <p:nvSpPr>
          <p:cNvPr id="21" name="Text 18"/>
          <p:cNvSpPr/>
          <p:nvPr/>
        </p:nvSpPr>
        <p:spPr>
          <a:xfrm>
            <a:off x="612000" y="219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22" name="Text 19"/>
          <p:cNvSpPr/>
          <p:nvPr/>
        </p:nvSpPr>
        <p:spPr>
          <a:xfrm>
            <a:off x="918000" y="219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3" name="Text 20"/>
          <p:cNvSpPr/>
          <p:nvPr/>
        </p:nvSpPr>
        <p:spPr>
          <a:xfrm>
            <a:off x="3204000" y="219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24" name="Shape 21"/>
          <p:cNvSpPr/>
          <p:nvPr/>
        </p:nvSpPr>
        <p:spPr>
          <a:xfrm>
            <a:off x="612000" y="2394000"/>
            <a:ext cx="2952000" cy="0"/>
          </a:xfrm>
          <a:prstGeom prst="line">
            <a:avLst/>
          </a:prstGeom>
          <a:noFill/>
          <a:ln w="3810">
            <a:solidFill>
              <a:srgbClr val="C9CFC9"/>
            </a:solidFill>
            <a:prstDash val="solid"/>
          </a:ln>
        </p:spPr>
      </p:sp>
      <p:sp>
        <p:nvSpPr>
          <p:cNvPr id="25" name="Text 22"/>
          <p:cNvSpPr/>
          <p:nvPr/>
        </p:nvSpPr>
        <p:spPr>
          <a:xfrm>
            <a:off x="612000" y="239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26" name="Text 23"/>
          <p:cNvSpPr/>
          <p:nvPr/>
        </p:nvSpPr>
        <p:spPr>
          <a:xfrm>
            <a:off x="918000" y="239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7" name="Text 24"/>
          <p:cNvSpPr/>
          <p:nvPr/>
        </p:nvSpPr>
        <p:spPr>
          <a:xfrm>
            <a:off x="3204000" y="239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28" name="Shape 25"/>
          <p:cNvSpPr/>
          <p:nvPr/>
        </p:nvSpPr>
        <p:spPr>
          <a:xfrm>
            <a:off x="612000" y="2595600"/>
            <a:ext cx="2952000" cy="0"/>
          </a:xfrm>
          <a:prstGeom prst="line">
            <a:avLst/>
          </a:prstGeom>
          <a:noFill/>
          <a:ln w="3810">
            <a:solidFill>
              <a:srgbClr val="C9CFC9"/>
            </a:solidFill>
            <a:prstDash val="solid"/>
          </a:ln>
        </p:spPr>
      </p:sp>
      <p:sp>
        <p:nvSpPr>
          <p:cNvPr id="29" name="Text 26"/>
          <p:cNvSpPr/>
          <p:nvPr/>
        </p:nvSpPr>
        <p:spPr>
          <a:xfrm>
            <a:off x="612000" y="259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30" name="Text 27"/>
          <p:cNvSpPr/>
          <p:nvPr/>
        </p:nvSpPr>
        <p:spPr>
          <a:xfrm>
            <a:off x="918000" y="259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Divin No Low</a:t>
            </a:r>
            <a:endParaRPr lang="en-US" sz="1000" dirty="0"/>
          </a:p>
        </p:txBody>
      </p:sp>
      <p:sp>
        <p:nvSpPr>
          <p:cNvPr id="31" name="Text 28"/>
          <p:cNvSpPr/>
          <p:nvPr/>
        </p:nvSpPr>
        <p:spPr>
          <a:xfrm>
            <a:off x="3204000" y="259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13</a:t>
            </a:r>
            <a:endParaRPr lang="en-US" sz="900" dirty="0"/>
          </a:p>
        </p:txBody>
      </p:sp>
      <p:sp>
        <p:nvSpPr>
          <p:cNvPr id="32" name="Shape 29"/>
          <p:cNvSpPr/>
          <p:nvPr/>
        </p:nvSpPr>
        <p:spPr>
          <a:xfrm>
            <a:off x="612000" y="2797200"/>
            <a:ext cx="2952000" cy="0"/>
          </a:xfrm>
          <a:prstGeom prst="line">
            <a:avLst/>
          </a:prstGeom>
          <a:noFill/>
          <a:ln w="3810">
            <a:solidFill>
              <a:srgbClr val="C9CFC9"/>
            </a:solidFill>
            <a:prstDash val="solid"/>
          </a:ln>
        </p:spPr>
      </p:sp>
      <p:pic>
        <p:nvPicPr>
          <p:cNvPr id="33" name="Image 1" descr="/home/user/philippe1/build/deco/bande-alsace.png">    </p:cNvPr>
          <p:cNvPicPr>
            <a:picLocks noChangeAspect="1"/>
          </p:cNvPicPr>
          <p:nvPr/>
        </p:nvPicPr>
        <p:blipFill>
          <a:blip r:embed="rId2"/>
          <a:stretch>
            <a:fillRect/>
          </a:stretch>
        </p:blipFill>
        <p:spPr>
          <a:xfrm>
            <a:off x="612000" y="2948400"/>
            <a:ext cx="2952000" cy="273600"/>
          </a:xfrm>
          <a:prstGeom prst="rect">
            <a:avLst/>
          </a:prstGeom>
        </p:spPr>
      </p:pic>
      <p:sp>
        <p:nvSpPr>
          <p:cNvPr id="34" name="Text 30"/>
          <p:cNvSpPr/>
          <p:nvPr/>
        </p:nvSpPr>
        <p:spPr>
          <a:xfrm>
            <a:off x="720000" y="29484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Alsace</a:t>
            </a:r>
            <a:endParaRPr lang="en-US" sz="1300" dirty="0"/>
          </a:p>
        </p:txBody>
      </p:sp>
      <p:sp>
        <p:nvSpPr>
          <p:cNvPr id="35" name="Text 31"/>
          <p:cNvSpPr/>
          <p:nvPr/>
        </p:nvSpPr>
        <p:spPr>
          <a:xfrm>
            <a:off x="612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36" name="Text 32"/>
          <p:cNvSpPr/>
          <p:nvPr/>
        </p:nvSpPr>
        <p:spPr>
          <a:xfrm>
            <a:off x="918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7" name="Text 33"/>
          <p:cNvSpPr/>
          <p:nvPr/>
        </p:nvSpPr>
        <p:spPr>
          <a:xfrm>
            <a:off x="3204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38" name="Shape 34"/>
          <p:cNvSpPr/>
          <p:nvPr/>
        </p:nvSpPr>
        <p:spPr>
          <a:xfrm>
            <a:off x="612000" y="3474000"/>
            <a:ext cx="2952000" cy="0"/>
          </a:xfrm>
          <a:prstGeom prst="line">
            <a:avLst/>
          </a:prstGeom>
          <a:noFill/>
          <a:ln w="3810">
            <a:solidFill>
              <a:srgbClr val="C9CFC9"/>
            </a:solidFill>
            <a:prstDash val="solid"/>
          </a:ln>
        </p:spPr>
      </p:sp>
      <p:pic>
        <p:nvPicPr>
          <p:cNvPr id="39" name="Image 2" descr="/home/user/philippe1/build/deco/bande-beaujolais.png">    </p:cNvPr>
          <p:cNvPicPr>
            <a:picLocks noChangeAspect="1"/>
          </p:cNvPicPr>
          <p:nvPr/>
        </p:nvPicPr>
        <p:blipFill>
          <a:blip r:embed="rId3"/>
          <a:stretch>
            <a:fillRect/>
          </a:stretch>
        </p:blipFill>
        <p:spPr>
          <a:xfrm>
            <a:off x="612000" y="3625200"/>
            <a:ext cx="2952000" cy="273600"/>
          </a:xfrm>
          <a:prstGeom prst="rect">
            <a:avLst/>
          </a:prstGeom>
        </p:spPr>
      </p:pic>
      <p:sp>
        <p:nvSpPr>
          <p:cNvPr id="40" name="Text 35"/>
          <p:cNvSpPr/>
          <p:nvPr/>
        </p:nvSpPr>
        <p:spPr>
          <a:xfrm>
            <a:off x="720000" y="36252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Beaujolais</a:t>
            </a:r>
            <a:endParaRPr lang="en-US" sz="1300" dirty="0"/>
          </a:p>
        </p:txBody>
      </p:sp>
      <p:sp>
        <p:nvSpPr>
          <p:cNvPr id="41" name="Text 36"/>
          <p:cNvSpPr/>
          <p:nvPr/>
        </p:nvSpPr>
        <p:spPr>
          <a:xfrm>
            <a:off x="612000" y="394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42" name="Text 37"/>
          <p:cNvSpPr/>
          <p:nvPr/>
        </p:nvSpPr>
        <p:spPr>
          <a:xfrm>
            <a:off x="918000" y="394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Nugues</a:t>
            </a:r>
            <a:endParaRPr lang="en-US" sz="1000" dirty="0"/>
          </a:p>
        </p:txBody>
      </p:sp>
      <p:sp>
        <p:nvSpPr>
          <p:cNvPr id="43" name="Text 38"/>
          <p:cNvSpPr/>
          <p:nvPr/>
        </p:nvSpPr>
        <p:spPr>
          <a:xfrm>
            <a:off x="3204000" y="394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44" name="Shape 39"/>
          <p:cNvSpPr/>
          <p:nvPr/>
        </p:nvSpPr>
        <p:spPr>
          <a:xfrm>
            <a:off x="612000" y="4150800"/>
            <a:ext cx="2952000" cy="0"/>
          </a:xfrm>
          <a:prstGeom prst="line">
            <a:avLst/>
          </a:prstGeom>
          <a:noFill/>
          <a:ln w="3810">
            <a:solidFill>
              <a:srgbClr val="C9CFC9"/>
            </a:solidFill>
            <a:prstDash val="solid"/>
          </a:ln>
        </p:spPr>
      </p:sp>
      <p:pic>
        <p:nvPicPr>
          <p:cNvPr id="45" name="Image 3" descr="/home/user/philippe1/build/deco/bande-bourgogne.png">    </p:cNvPr>
          <p:cNvPicPr>
            <a:picLocks noChangeAspect="1"/>
          </p:cNvPicPr>
          <p:nvPr/>
        </p:nvPicPr>
        <p:blipFill>
          <a:blip r:embed="rId4"/>
          <a:stretch>
            <a:fillRect/>
          </a:stretch>
        </p:blipFill>
        <p:spPr>
          <a:xfrm>
            <a:off x="612000" y="4302000"/>
            <a:ext cx="2952000" cy="273600"/>
          </a:xfrm>
          <a:prstGeom prst="rect">
            <a:avLst/>
          </a:prstGeom>
        </p:spPr>
      </p:pic>
      <p:sp>
        <p:nvSpPr>
          <p:cNvPr id="46" name="Text 40"/>
          <p:cNvSpPr/>
          <p:nvPr/>
        </p:nvSpPr>
        <p:spPr>
          <a:xfrm>
            <a:off x="720000" y="43020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Bourgogne</a:t>
            </a:r>
            <a:endParaRPr lang="en-US" sz="1300" dirty="0"/>
          </a:p>
        </p:txBody>
      </p:sp>
      <p:sp>
        <p:nvSpPr>
          <p:cNvPr id="47" name="Text 41"/>
          <p:cNvSpPr/>
          <p:nvPr/>
        </p:nvSpPr>
        <p:spPr>
          <a:xfrm>
            <a:off x="612000" y="462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48" name="Text 42"/>
          <p:cNvSpPr/>
          <p:nvPr/>
        </p:nvSpPr>
        <p:spPr>
          <a:xfrm>
            <a:off x="918000" y="462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49" name="Text 43"/>
          <p:cNvSpPr/>
          <p:nvPr/>
        </p:nvSpPr>
        <p:spPr>
          <a:xfrm>
            <a:off x="3204000" y="462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50" name="Shape 44"/>
          <p:cNvSpPr/>
          <p:nvPr/>
        </p:nvSpPr>
        <p:spPr>
          <a:xfrm>
            <a:off x="612000" y="4827600"/>
            <a:ext cx="2952000" cy="0"/>
          </a:xfrm>
          <a:prstGeom prst="line">
            <a:avLst/>
          </a:prstGeom>
          <a:noFill/>
          <a:ln w="3810">
            <a:solidFill>
              <a:srgbClr val="C9CFC9"/>
            </a:solidFill>
            <a:prstDash val="solid"/>
          </a:ln>
        </p:spPr>
      </p:sp>
      <p:sp>
        <p:nvSpPr>
          <p:cNvPr id="51" name="Text 45"/>
          <p:cNvSpPr/>
          <p:nvPr/>
        </p:nvSpPr>
        <p:spPr>
          <a:xfrm>
            <a:off x="612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52" name="Text 46"/>
          <p:cNvSpPr/>
          <p:nvPr/>
        </p:nvSpPr>
        <p:spPr>
          <a:xfrm>
            <a:off x="918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Nadine Ferrand</a:t>
            </a:r>
            <a:endParaRPr lang="en-US" sz="1000" dirty="0"/>
          </a:p>
        </p:txBody>
      </p:sp>
      <p:sp>
        <p:nvSpPr>
          <p:cNvPr id="53" name="Text 47"/>
          <p:cNvSpPr/>
          <p:nvPr/>
        </p:nvSpPr>
        <p:spPr>
          <a:xfrm>
            <a:off x="3204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54" name="Shape 48"/>
          <p:cNvSpPr/>
          <p:nvPr/>
        </p:nvSpPr>
        <p:spPr>
          <a:xfrm>
            <a:off x="612000" y="5029200"/>
            <a:ext cx="2952000" cy="0"/>
          </a:xfrm>
          <a:prstGeom prst="line">
            <a:avLst/>
          </a:prstGeom>
          <a:noFill/>
          <a:ln w="3810">
            <a:solidFill>
              <a:srgbClr val="C9CFC9"/>
            </a:solidFill>
            <a:prstDash val="solid"/>
          </a:ln>
        </p:spPr>
      </p:sp>
      <p:sp>
        <p:nvSpPr>
          <p:cNvPr id="55" name="Text 49"/>
          <p:cNvSpPr/>
          <p:nvPr/>
        </p:nvSpPr>
        <p:spPr>
          <a:xfrm>
            <a:off x="612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56" name="Text 50"/>
          <p:cNvSpPr/>
          <p:nvPr/>
        </p:nvSpPr>
        <p:spPr>
          <a:xfrm>
            <a:off x="918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57" name="Text 51"/>
          <p:cNvSpPr/>
          <p:nvPr/>
        </p:nvSpPr>
        <p:spPr>
          <a:xfrm>
            <a:off x="3204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58" name="Shape 52"/>
          <p:cNvSpPr/>
          <p:nvPr/>
        </p:nvSpPr>
        <p:spPr>
          <a:xfrm>
            <a:off x="612000" y="5230800"/>
            <a:ext cx="2952000" cy="0"/>
          </a:xfrm>
          <a:prstGeom prst="line">
            <a:avLst/>
          </a:prstGeom>
          <a:noFill/>
          <a:ln w="3810">
            <a:solidFill>
              <a:srgbClr val="C9CFC9"/>
            </a:solidFill>
            <a:prstDash val="solid"/>
          </a:ln>
        </p:spPr>
      </p:sp>
      <p:sp>
        <p:nvSpPr>
          <p:cNvPr id="59" name="Text 53"/>
          <p:cNvSpPr/>
          <p:nvPr/>
        </p:nvSpPr>
        <p:spPr>
          <a:xfrm>
            <a:off x="612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60" name="Text 54"/>
          <p:cNvSpPr/>
          <p:nvPr/>
        </p:nvSpPr>
        <p:spPr>
          <a:xfrm>
            <a:off x="918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61" name="Text 55"/>
          <p:cNvSpPr/>
          <p:nvPr/>
        </p:nvSpPr>
        <p:spPr>
          <a:xfrm>
            <a:off x="3204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62" name="Shape 56"/>
          <p:cNvSpPr/>
          <p:nvPr/>
        </p:nvSpPr>
        <p:spPr>
          <a:xfrm>
            <a:off x="612000" y="5432400"/>
            <a:ext cx="2952000" cy="0"/>
          </a:xfrm>
          <a:prstGeom prst="line">
            <a:avLst/>
          </a:prstGeom>
          <a:noFill/>
          <a:ln w="3810">
            <a:solidFill>
              <a:srgbClr val="C9CFC9"/>
            </a:solidFill>
            <a:prstDash val="solid"/>
          </a:ln>
        </p:spPr>
      </p:sp>
      <p:sp>
        <p:nvSpPr>
          <p:cNvPr id="63" name="Text 57"/>
          <p:cNvSpPr/>
          <p:nvPr/>
        </p:nvSpPr>
        <p:spPr>
          <a:xfrm>
            <a:off x="612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64" name="Text 58"/>
          <p:cNvSpPr/>
          <p:nvPr/>
        </p:nvSpPr>
        <p:spPr>
          <a:xfrm>
            <a:off x="918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65" name="Text 59"/>
          <p:cNvSpPr/>
          <p:nvPr/>
        </p:nvSpPr>
        <p:spPr>
          <a:xfrm>
            <a:off x="3204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66" name="Shape 60"/>
          <p:cNvSpPr/>
          <p:nvPr/>
        </p:nvSpPr>
        <p:spPr>
          <a:xfrm>
            <a:off x="612000" y="5634000"/>
            <a:ext cx="2952000" cy="0"/>
          </a:xfrm>
          <a:prstGeom prst="line">
            <a:avLst/>
          </a:prstGeom>
          <a:noFill/>
          <a:ln w="3810">
            <a:solidFill>
              <a:srgbClr val="C9CFC9"/>
            </a:solidFill>
            <a:prstDash val="solid"/>
          </a:ln>
        </p:spPr>
      </p:sp>
      <p:sp>
        <p:nvSpPr>
          <p:cNvPr id="67" name="Text 61"/>
          <p:cNvSpPr/>
          <p:nvPr/>
        </p:nvSpPr>
        <p:spPr>
          <a:xfrm>
            <a:off x="612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68" name="Text 62"/>
          <p:cNvSpPr/>
          <p:nvPr/>
        </p:nvSpPr>
        <p:spPr>
          <a:xfrm>
            <a:off x="918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69" name="Text 63"/>
          <p:cNvSpPr/>
          <p:nvPr/>
        </p:nvSpPr>
        <p:spPr>
          <a:xfrm>
            <a:off x="3204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70" name="Shape 64"/>
          <p:cNvSpPr/>
          <p:nvPr/>
        </p:nvSpPr>
        <p:spPr>
          <a:xfrm>
            <a:off x="612000" y="5835600"/>
            <a:ext cx="2952000" cy="0"/>
          </a:xfrm>
          <a:prstGeom prst="line">
            <a:avLst/>
          </a:prstGeom>
          <a:noFill/>
          <a:ln w="3810">
            <a:solidFill>
              <a:srgbClr val="C9CFC9"/>
            </a:solidFill>
            <a:prstDash val="solid"/>
          </a:ln>
        </p:spPr>
      </p:sp>
      <p:pic>
        <p:nvPicPr>
          <p:cNvPr id="71" name="Image 4" descr="/home/user/philippe1/build/deco/bande-rhone.png">    </p:cNvPr>
          <p:cNvPicPr>
            <a:picLocks noChangeAspect="1"/>
          </p:cNvPicPr>
          <p:nvPr/>
        </p:nvPicPr>
        <p:blipFill>
          <a:blip r:embed="rId5"/>
          <a:stretch>
            <a:fillRect/>
          </a:stretch>
        </p:blipFill>
        <p:spPr>
          <a:xfrm>
            <a:off x="612000" y="5986800"/>
            <a:ext cx="2952000" cy="273600"/>
          </a:xfrm>
          <a:prstGeom prst="rect">
            <a:avLst/>
          </a:prstGeom>
        </p:spPr>
      </p:pic>
      <p:sp>
        <p:nvSpPr>
          <p:cNvPr id="72" name="Text 65"/>
          <p:cNvSpPr/>
          <p:nvPr/>
        </p:nvSpPr>
        <p:spPr>
          <a:xfrm>
            <a:off x="720000" y="59868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Rhône</a:t>
            </a:r>
            <a:endParaRPr lang="en-US" sz="1300" dirty="0"/>
          </a:p>
        </p:txBody>
      </p:sp>
      <p:sp>
        <p:nvSpPr>
          <p:cNvPr id="73" name="Text 66"/>
          <p:cNvSpPr/>
          <p:nvPr/>
        </p:nvSpPr>
        <p:spPr>
          <a:xfrm>
            <a:off x="612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74" name="Text 67"/>
          <p:cNvSpPr/>
          <p:nvPr/>
        </p:nvSpPr>
        <p:spPr>
          <a:xfrm>
            <a:off x="918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75" name="Text 68"/>
          <p:cNvSpPr/>
          <p:nvPr/>
        </p:nvSpPr>
        <p:spPr>
          <a:xfrm>
            <a:off x="3204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76" name="Shape 69"/>
          <p:cNvSpPr/>
          <p:nvPr/>
        </p:nvSpPr>
        <p:spPr>
          <a:xfrm>
            <a:off x="612000" y="6512400"/>
            <a:ext cx="2952000" cy="0"/>
          </a:xfrm>
          <a:prstGeom prst="line">
            <a:avLst/>
          </a:prstGeom>
          <a:noFill/>
          <a:ln w="3810">
            <a:solidFill>
              <a:srgbClr val="C9CFC9"/>
            </a:solidFill>
            <a:prstDash val="solid"/>
          </a:ln>
        </p:spPr>
      </p:sp>
      <p:sp>
        <p:nvSpPr>
          <p:cNvPr id="77" name="Text 70"/>
          <p:cNvSpPr/>
          <p:nvPr/>
        </p:nvSpPr>
        <p:spPr>
          <a:xfrm>
            <a:off x="612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78" name="Text 71"/>
          <p:cNvSpPr/>
          <p:nvPr/>
        </p:nvSpPr>
        <p:spPr>
          <a:xfrm>
            <a:off x="918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79" name="Text 72"/>
          <p:cNvSpPr/>
          <p:nvPr/>
        </p:nvSpPr>
        <p:spPr>
          <a:xfrm>
            <a:off x="3204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80" name="Shape 73"/>
          <p:cNvSpPr/>
          <p:nvPr/>
        </p:nvSpPr>
        <p:spPr>
          <a:xfrm>
            <a:off x="612000" y="6714000"/>
            <a:ext cx="2952000" cy="0"/>
          </a:xfrm>
          <a:prstGeom prst="line">
            <a:avLst/>
          </a:prstGeom>
          <a:noFill/>
          <a:ln w="3810">
            <a:solidFill>
              <a:srgbClr val="C9CFC9"/>
            </a:solidFill>
            <a:prstDash val="solid"/>
          </a:ln>
        </p:spPr>
      </p:sp>
      <p:sp>
        <p:nvSpPr>
          <p:cNvPr id="81" name="Text 74"/>
          <p:cNvSpPr/>
          <p:nvPr/>
        </p:nvSpPr>
        <p:spPr>
          <a:xfrm>
            <a:off x="612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82" name="Text 75"/>
          <p:cNvSpPr/>
          <p:nvPr/>
        </p:nvSpPr>
        <p:spPr>
          <a:xfrm>
            <a:off x="918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83" name="Text 76"/>
          <p:cNvSpPr/>
          <p:nvPr/>
        </p:nvSpPr>
        <p:spPr>
          <a:xfrm>
            <a:off x="3204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31</a:t>
            </a:r>
            <a:endParaRPr lang="en-US" sz="900" dirty="0"/>
          </a:p>
        </p:txBody>
      </p:sp>
      <p:sp>
        <p:nvSpPr>
          <p:cNvPr id="84" name="Shape 77"/>
          <p:cNvSpPr/>
          <p:nvPr/>
        </p:nvSpPr>
        <p:spPr>
          <a:xfrm>
            <a:off x="612000" y="6915600"/>
            <a:ext cx="2952000" cy="0"/>
          </a:xfrm>
          <a:prstGeom prst="line">
            <a:avLst/>
          </a:prstGeom>
          <a:noFill/>
          <a:ln w="3810">
            <a:solidFill>
              <a:srgbClr val="C9CFC9"/>
            </a:solidFill>
            <a:prstDash val="solid"/>
          </a:ln>
        </p:spPr>
      </p:sp>
      <p:sp>
        <p:nvSpPr>
          <p:cNvPr id="85" name="Text 78"/>
          <p:cNvSpPr/>
          <p:nvPr/>
        </p:nvSpPr>
        <p:spPr>
          <a:xfrm>
            <a:off x="612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86" name="Text 79"/>
          <p:cNvSpPr/>
          <p:nvPr/>
        </p:nvSpPr>
        <p:spPr>
          <a:xfrm>
            <a:off x="918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87" name="Text 80"/>
          <p:cNvSpPr/>
          <p:nvPr/>
        </p:nvSpPr>
        <p:spPr>
          <a:xfrm>
            <a:off x="3204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88" name="Shape 81"/>
          <p:cNvSpPr/>
          <p:nvPr/>
        </p:nvSpPr>
        <p:spPr>
          <a:xfrm>
            <a:off x="612000" y="7117200"/>
            <a:ext cx="2952000" cy="0"/>
          </a:xfrm>
          <a:prstGeom prst="line">
            <a:avLst/>
          </a:prstGeom>
          <a:noFill/>
          <a:ln w="3810">
            <a:solidFill>
              <a:srgbClr val="C9CFC9"/>
            </a:solidFill>
            <a:prstDash val="solid"/>
          </a:ln>
        </p:spPr>
      </p:sp>
      <p:sp>
        <p:nvSpPr>
          <p:cNvPr id="89" name="Text 82"/>
          <p:cNvSpPr/>
          <p:nvPr/>
        </p:nvSpPr>
        <p:spPr>
          <a:xfrm>
            <a:off x="612000" y="7117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0" name="Text 83"/>
          <p:cNvSpPr/>
          <p:nvPr/>
        </p:nvSpPr>
        <p:spPr>
          <a:xfrm>
            <a:off x="918000" y="7117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Pasquiers</a:t>
            </a:r>
            <a:endParaRPr lang="en-US" sz="1000" dirty="0"/>
          </a:p>
        </p:txBody>
      </p:sp>
      <p:sp>
        <p:nvSpPr>
          <p:cNvPr id="91" name="Text 84"/>
          <p:cNvSpPr/>
          <p:nvPr/>
        </p:nvSpPr>
        <p:spPr>
          <a:xfrm>
            <a:off x="3204000" y="7117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92" name="Shape 85"/>
          <p:cNvSpPr/>
          <p:nvPr/>
        </p:nvSpPr>
        <p:spPr>
          <a:xfrm>
            <a:off x="612000" y="7318800"/>
            <a:ext cx="2952000" cy="0"/>
          </a:xfrm>
          <a:prstGeom prst="line">
            <a:avLst/>
          </a:prstGeom>
          <a:noFill/>
          <a:ln w="3810">
            <a:solidFill>
              <a:srgbClr val="C9CFC9"/>
            </a:solidFill>
            <a:prstDash val="solid"/>
          </a:ln>
        </p:spPr>
      </p:sp>
      <p:sp>
        <p:nvSpPr>
          <p:cNvPr id="93" name="Text 86"/>
          <p:cNvSpPr/>
          <p:nvPr/>
        </p:nvSpPr>
        <p:spPr>
          <a:xfrm>
            <a:off x="612000" y="7318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94" name="Text 87"/>
          <p:cNvSpPr/>
          <p:nvPr/>
        </p:nvSpPr>
        <p:spPr>
          <a:xfrm>
            <a:off x="918000" y="7318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95" name="Text 88"/>
          <p:cNvSpPr/>
          <p:nvPr/>
        </p:nvSpPr>
        <p:spPr>
          <a:xfrm>
            <a:off x="3204000" y="7318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96" name="Shape 89"/>
          <p:cNvSpPr/>
          <p:nvPr/>
        </p:nvSpPr>
        <p:spPr>
          <a:xfrm>
            <a:off x="612000" y="7520400"/>
            <a:ext cx="2952000" cy="0"/>
          </a:xfrm>
          <a:prstGeom prst="line">
            <a:avLst/>
          </a:prstGeom>
          <a:noFill/>
          <a:ln w="3810">
            <a:solidFill>
              <a:srgbClr val="C9CFC9"/>
            </a:solidFill>
            <a:prstDash val="solid"/>
          </a:ln>
        </p:spPr>
      </p:sp>
      <p:pic>
        <p:nvPicPr>
          <p:cNvPr id="97" name="Image 5" descr="/home/user/philippe1/build/deco/bande-sud-ouest.png">    </p:cNvPr>
          <p:cNvPicPr>
            <a:picLocks noChangeAspect="1"/>
          </p:cNvPicPr>
          <p:nvPr/>
        </p:nvPicPr>
        <p:blipFill>
          <a:blip r:embed="rId6"/>
          <a:stretch>
            <a:fillRect/>
          </a:stretch>
        </p:blipFill>
        <p:spPr>
          <a:xfrm>
            <a:off x="3780000" y="1062000"/>
            <a:ext cx="2952000" cy="273600"/>
          </a:xfrm>
          <a:prstGeom prst="rect">
            <a:avLst/>
          </a:prstGeom>
        </p:spPr>
      </p:pic>
      <p:sp>
        <p:nvSpPr>
          <p:cNvPr id="98" name="Text 90"/>
          <p:cNvSpPr/>
          <p:nvPr/>
        </p:nvSpPr>
        <p:spPr>
          <a:xfrm>
            <a:off x="3888000" y="10620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Sud-Ouest</a:t>
            </a:r>
            <a:endParaRPr lang="en-US" sz="1300" dirty="0"/>
          </a:p>
        </p:txBody>
      </p:sp>
      <p:sp>
        <p:nvSpPr>
          <p:cNvPr id="99" name="Text 91"/>
          <p:cNvSpPr/>
          <p:nvPr/>
        </p:nvSpPr>
        <p:spPr>
          <a:xfrm>
            <a:off x="3780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00" name="Text 92"/>
          <p:cNvSpPr/>
          <p:nvPr/>
        </p:nvSpPr>
        <p:spPr>
          <a:xfrm>
            <a:off x="4086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101" name="Text 93"/>
          <p:cNvSpPr/>
          <p:nvPr/>
        </p:nvSpPr>
        <p:spPr>
          <a:xfrm>
            <a:off x="6372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02" name="Shape 94"/>
          <p:cNvSpPr/>
          <p:nvPr/>
        </p:nvSpPr>
        <p:spPr>
          <a:xfrm>
            <a:off x="3780000" y="1587600"/>
            <a:ext cx="2952000" cy="0"/>
          </a:xfrm>
          <a:prstGeom prst="line">
            <a:avLst/>
          </a:prstGeom>
          <a:noFill/>
          <a:ln w="3810">
            <a:solidFill>
              <a:srgbClr val="C9CFC9"/>
            </a:solidFill>
            <a:prstDash val="solid"/>
          </a:ln>
        </p:spPr>
      </p:sp>
      <p:sp>
        <p:nvSpPr>
          <p:cNvPr id="103" name="Text 95"/>
          <p:cNvSpPr/>
          <p:nvPr/>
        </p:nvSpPr>
        <p:spPr>
          <a:xfrm>
            <a:off x="3780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04" name="Text 96"/>
          <p:cNvSpPr/>
          <p:nvPr/>
        </p:nvSpPr>
        <p:spPr>
          <a:xfrm>
            <a:off x="4086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105" name="Text 97"/>
          <p:cNvSpPr/>
          <p:nvPr/>
        </p:nvSpPr>
        <p:spPr>
          <a:xfrm>
            <a:off x="6372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06" name="Shape 98"/>
          <p:cNvSpPr/>
          <p:nvPr/>
        </p:nvSpPr>
        <p:spPr>
          <a:xfrm>
            <a:off x="3780000" y="1789200"/>
            <a:ext cx="2952000" cy="0"/>
          </a:xfrm>
          <a:prstGeom prst="line">
            <a:avLst/>
          </a:prstGeom>
          <a:noFill/>
          <a:ln w="3810">
            <a:solidFill>
              <a:srgbClr val="C9CFC9"/>
            </a:solidFill>
            <a:prstDash val="solid"/>
          </a:ln>
        </p:spPr>
      </p:sp>
      <p:sp>
        <p:nvSpPr>
          <p:cNvPr id="107" name="Text 99"/>
          <p:cNvSpPr/>
          <p:nvPr/>
        </p:nvSpPr>
        <p:spPr>
          <a:xfrm>
            <a:off x="3780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08" name="Text 100"/>
          <p:cNvSpPr/>
          <p:nvPr/>
        </p:nvSpPr>
        <p:spPr>
          <a:xfrm>
            <a:off x="4086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Fabien Castaing</a:t>
            </a:r>
            <a:endParaRPr lang="en-US" sz="1000" dirty="0"/>
          </a:p>
        </p:txBody>
      </p:sp>
      <p:sp>
        <p:nvSpPr>
          <p:cNvPr id="109" name="Text 101"/>
          <p:cNvSpPr/>
          <p:nvPr/>
        </p:nvSpPr>
        <p:spPr>
          <a:xfrm>
            <a:off x="6372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39</a:t>
            </a:r>
            <a:endParaRPr lang="en-US" sz="900" dirty="0"/>
          </a:p>
        </p:txBody>
      </p:sp>
      <p:sp>
        <p:nvSpPr>
          <p:cNvPr id="110" name="Shape 102"/>
          <p:cNvSpPr/>
          <p:nvPr/>
        </p:nvSpPr>
        <p:spPr>
          <a:xfrm>
            <a:off x="3780000" y="1990800"/>
            <a:ext cx="2952000" cy="0"/>
          </a:xfrm>
          <a:prstGeom prst="line">
            <a:avLst/>
          </a:prstGeom>
          <a:noFill/>
          <a:ln w="3810">
            <a:solidFill>
              <a:srgbClr val="C9CFC9"/>
            </a:solidFill>
            <a:prstDash val="solid"/>
          </a:ln>
        </p:spPr>
      </p:sp>
      <p:pic>
        <p:nvPicPr>
          <p:cNvPr id="111" name="Image 6" descr="/home/user/philippe1/build/deco/bande-bordeaux.png">    </p:cNvPr>
          <p:cNvPicPr>
            <a:picLocks noChangeAspect="1"/>
          </p:cNvPicPr>
          <p:nvPr/>
        </p:nvPicPr>
        <p:blipFill>
          <a:blip r:embed="rId7"/>
          <a:stretch>
            <a:fillRect/>
          </a:stretch>
        </p:blipFill>
        <p:spPr>
          <a:xfrm>
            <a:off x="3780000" y="2142000"/>
            <a:ext cx="2952000" cy="273600"/>
          </a:xfrm>
          <a:prstGeom prst="rect">
            <a:avLst/>
          </a:prstGeom>
        </p:spPr>
      </p:pic>
      <p:sp>
        <p:nvSpPr>
          <p:cNvPr id="112" name="Text 103"/>
          <p:cNvSpPr/>
          <p:nvPr/>
        </p:nvSpPr>
        <p:spPr>
          <a:xfrm>
            <a:off x="3888000" y="21420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Bordeaux</a:t>
            </a:r>
            <a:endParaRPr lang="en-US" sz="1300" dirty="0"/>
          </a:p>
        </p:txBody>
      </p:sp>
      <p:sp>
        <p:nvSpPr>
          <p:cNvPr id="113" name="Text 104"/>
          <p:cNvSpPr/>
          <p:nvPr/>
        </p:nvSpPr>
        <p:spPr>
          <a:xfrm>
            <a:off x="3780000" y="246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114" name="Text 105"/>
          <p:cNvSpPr/>
          <p:nvPr/>
        </p:nvSpPr>
        <p:spPr>
          <a:xfrm>
            <a:off x="4086000" y="246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La Passion des Terroirs</a:t>
            </a:r>
            <a:endParaRPr lang="en-US" sz="1000" dirty="0"/>
          </a:p>
        </p:txBody>
      </p:sp>
      <p:sp>
        <p:nvSpPr>
          <p:cNvPr id="115" name="Text 106"/>
          <p:cNvSpPr/>
          <p:nvPr/>
        </p:nvSpPr>
        <p:spPr>
          <a:xfrm>
            <a:off x="6372000" y="246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16" name="Shape 107"/>
          <p:cNvSpPr/>
          <p:nvPr/>
        </p:nvSpPr>
        <p:spPr>
          <a:xfrm>
            <a:off x="3780000" y="2667600"/>
            <a:ext cx="2952000" cy="0"/>
          </a:xfrm>
          <a:prstGeom prst="line">
            <a:avLst/>
          </a:prstGeom>
          <a:noFill/>
          <a:ln w="3810">
            <a:solidFill>
              <a:srgbClr val="C9CFC9"/>
            </a:solidFill>
            <a:prstDash val="solid"/>
          </a:ln>
        </p:spPr>
      </p:sp>
      <p:sp>
        <p:nvSpPr>
          <p:cNvPr id="117" name="Text 108"/>
          <p:cNvSpPr/>
          <p:nvPr/>
        </p:nvSpPr>
        <p:spPr>
          <a:xfrm>
            <a:off x="3780000" y="266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118" name="Text 109"/>
          <p:cNvSpPr/>
          <p:nvPr/>
        </p:nvSpPr>
        <p:spPr>
          <a:xfrm>
            <a:off x="4086000" y="266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la Gorce</a:t>
            </a:r>
            <a:endParaRPr lang="en-US" sz="1000" dirty="0"/>
          </a:p>
        </p:txBody>
      </p:sp>
      <p:sp>
        <p:nvSpPr>
          <p:cNvPr id="119" name="Text 110"/>
          <p:cNvSpPr/>
          <p:nvPr/>
        </p:nvSpPr>
        <p:spPr>
          <a:xfrm>
            <a:off x="6372000" y="266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20" name="Shape 111"/>
          <p:cNvSpPr/>
          <p:nvPr/>
        </p:nvSpPr>
        <p:spPr>
          <a:xfrm>
            <a:off x="3780000" y="2869200"/>
            <a:ext cx="2952000" cy="0"/>
          </a:xfrm>
          <a:prstGeom prst="line">
            <a:avLst/>
          </a:prstGeom>
          <a:noFill/>
          <a:ln w="3810">
            <a:solidFill>
              <a:srgbClr val="C9CFC9"/>
            </a:solidFill>
            <a:prstDash val="solid"/>
          </a:ln>
        </p:spPr>
      </p:sp>
      <p:sp>
        <p:nvSpPr>
          <p:cNvPr id="121" name="Text 112"/>
          <p:cNvSpPr/>
          <p:nvPr/>
        </p:nvSpPr>
        <p:spPr>
          <a:xfrm>
            <a:off x="3780000" y="286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27</a:t>
            </a:r>
            <a:endParaRPr lang="en-US" sz="850" dirty="0"/>
          </a:p>
        </p:txBody>
      </p:sp>
      <p:sp>
        <p:nvSpPr>
          <p:cNvPr id="122" name="Text 113"/>
          <p:cNvSpPr/>
          <p:nvPr/>
        </p:nvSpPr>
        <p:spPr>
          <a:xfrm>
            <a:off x="4086000" y="286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23" name="Text 114"/>
          <p:cNvSpPr/>
          <p:nvPr/>
        </p:nvSpPr>
        <p:spPr>
          <a:xfrm>
            <a:off x="6372000" y="286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47</a:t>
            </a:r>
            <a:endParaRPr lang="en-US" sz="900" dirty="0"/>
          </a:p>
        </p:txBody>
      </p:sp>
      <p:sp>
        <p:nvSpPr>
          <p:cNvPr id="124" name="Shape 115"/>
          <p:cNvSpPr/>
          <p:nvPr/>
        </p:nvSpPr>
        <p:spPr>
          <a:xfrm>
            <a:off x="3780000" y="3070800"/>
            <a:ext cx="2952000" cy="0"/>
          </a:xfrm>
          <a:prstGeom prst="line">
            <a:avLst/>
          </a:prstGeom>
          <a:noFill/>
          <a:ln w="3810">
            <a:solidFill>
              <a:srgbClr val="C9CFC9"/>
            </a:solidFill>
            <a:prstDash val="solid"/>
          </a:ln>
        </p:spPr>
      </p:sp>
      <p:sp>
        <p:nvSpPr>
          <p:cNvPr id="125" name="Text 116"/>
          <p:cNvSpPr/>
          <p:nvPr/>
        </p:nvSpPr>
        <p:spPr>
          <a:xfrm>
            <a:off x="3780000" y="307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28</a:t>
            </a:r>
            <a:endParaRPr lang="en-US" sz="850" dirty="0"/>
          </a:p>
        </p:txBody>
      </p:sp>
      <p:sp>
        <p:nvSpPr>
          <p:cNvPr id="126" name="Text 117"/>
          <p:cNvSpPr/>
          <p:nvPr/>
        </p:nvSpPr>
        <p:spPr>
          <a:xfrm>
            <a:off x="4086000" y="307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27" name="Text 118"/>
          <p:cNvSpPr/>
          <p:nvPr/>
        </p:nvSpPr>
        <p:spPr>
          <a:xfrm>
            <a:off x="6372000" y="307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48</a:t>
            </a:r>
            <a:endParaRPr lang="en-US" sz="900" dirty="0"/>
          </a:p>
        </p:txBody>
      </p:sp>
      <p:sp>
        <p:nvSpPr>
          <p:cNvPr id="128" name="Shape 119"/>
          <p:cNvSpPr/>
          <p:nvPr/>
        </p:nvSpPr>
        <p:spPr>
          <a:xfrm>
            <a:off x="3780000" y="3272400"/>
            <a:ext cx="2952000" cy="0"/>
          </a:xfrm>
          <a:prstGeom prst="line">
            <a:avLst/>
          </a:prstGeom>
          <a:noFill/>
          <a:ln w="3810">
            <a:solidFill>
              <a:srgbClr val="C9CFC9"/>
            </a:solidFill>
            <a:prstDash val="solid"/>
          </a:ln>
        </p:spPr>
      </p:sp>
      <p:sp>
        <p:nvSpPr>
          <p:cNvPr id="129" name="Text 120"/>
          <p:cNvSpPr/>
          <p:nvPr/>
        </p:nvSpPr>
        <p:spPr>
          <a:xfrm>
            <a:off x="3780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29</a:t>
            </a:r>
            <a:endParaRPr lang="en-US" sz="850" dirty="0"/>
          </a:p>
        </p:txBody>
      </p:sp>
      <p:sp>
        <p:nvSpPr>
          <p:cNvPr id="130" name="Text 121"/>
          <p:cNvSpPr/>
          <p:nvPr/>
        </p:nvSpPr>
        <p:spPr>
          <a:xfrm>
            <a:off x="4086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31" name="Text 122"/>
          <p:cNvSpPr/>
          <p:nvPr/>
        </p:nvSpPr>
        <p:spPr>
          <a:xfrm>
            <a:off x="6372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49</a:t>
            </a:r>
            <a:endParaRPr lang="en-US" sz="900" dirty="0"/>
          </a:p>
        </p:txBody>
      </p:sp>
      <p:sp>
        <p:nvSpPr>
          <p:cNvPr id="132" name="Shape 123"/>
          <p:cNvSpPr/>
          <p:nvPr/>
        </p:nvSpPr>
        <p:spPr>
          <a:xfrm>
            <a:off x="3780000" y="3474000"/>
            <a:ext cx="2952000" cy="0"/>
          </a:xfrm>
          <a:prstGeom prst="line">
            <a:avLst/>
          </a:prstGeom>
          <a:noFill/>
          <a:ln w="3810">
            <a:solidFill>
              <a:srgbClr val="C9CFC9"/>
            </a:solidFill>
            <a:prstDash val="solid"/>
          </a:ln>
        </p:spPr>
      </p:sp>
      <p:sp>
        <p:nvSpPr>
          <p:cNvPr id="133" name="Text 124"/>
          <p:cNvSpPr/>
          <p:nvPr/>
        </p:nvSpPr>
        <p:spPr>
          <a:xfrm>
            <a:off x="3780000" y="347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30</a:t>
            </a:r>
            <a:endParaRPr lang="en-US" sz="850" dirty="0"/>
          </a:p>
        </p:txBody>
      </p:sp>
      <p:sp>
        <p:nvSpPr>
          <p:cNvPr id="134" name="Text 125"/>
          <p:cNvSpPr/>
          <p:nvPr/>
        </p:nvSpPr>
        <p:spPr>
          <a:xfrm>
            <a:off x="4086000" y="347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35" name="Text 126"/>
          <p:cNvSpPr/>
          <p:nvPr/>
        </p:nvSpPr>
        <p:spPr>
          <a:xfrm>
            <a:off x="6372000" y="347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50</a:t>
            </a:r>
            <a:endParaRPr lang="en-US" sz="900" dirty="0"/>
          </a:p>
        </p:txBody>
      </p:sp>
      <p:sp>
        <p:nvSpPr>
          <p:cNvPr id="136" name="Shape 127"/>
          <p:cNvSpPr/>
          <p:nvPr/>
        </p:nvSpPr>
        <p:spPr>
          <a:xfrm>
            <a:off x="3780000" y="3675600"/>
            <a:ext cx="2952000" cy="0"/>
          </a:xfrm>
          <a:prstGeom prst="line">
            <a:avLst/>
          </a:prstGeom>
          <a:noFill/>
          <a:ln w="3810">
            <a:solidFill>
              <a:srgbClr val="C9CFC9"/>
            </a:solidFill>
            <a:prstDash val="solid"/>
          </a:ln>
        </p:spPr>
      </p:sp>
      <p:pic>
        <p:nvPicPr>
          <p:cNvPr id="137" name="Image 7" descr="/home/user/philippe1/build/deco/bande-provence.png">    </p:cNvPr>
          <p:cNvPicPr>
            <a:picLocks noChangeAspect="1"/>
          </p:cNvPicPr>
          <p:nvPr/>
        </p:nvPicPr>
        <p:blipFill>
          <a:blip r:embed="rId8"/>
          <a:stretch>
            <a:fillRect/>
          </a:stretch>
        </p:blipFill>
        <p:spPr>
          <a:xfrm>
            <a:off x="3780000" y="3826800"/>
            <a:ext cx="2952000" cy="273600"/>
          </a:xfrm>
          <a:prstGeom prst="rect">
            <a:avLst/>
          </a:prstGeom>
        </p:spPr>
      </p:pic>
      <p:sp>
        <p:nvSpPr>
          <p:cNvPr id="138" name="Text 128"/>
          <p:cNvSpPr/>
          <p:nvPr/>
        </p:nvSpPr>
        <p:spPr>
          <a:xfrm>
            <a:off x="3888000" y="38268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Provence</a:t>
            </a:r>
            <a:endParaRPr lang="en-US" sz="1300" dirty="0"/>
          </a:p>
        </p:txBody>
      </p:sp>
      <p:sp>
        <p:nvSpPr>
          <p:cNvPr id="139" name="Text 129"/>
          <p:cNvSpPr/>
          <p:nvPr/>
        </p:nvSpPr>
        <p:spPr>
          <a:xfrm>
            <a:off x="3780000" y="415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31</a:t>
            </a:r>
            <a:endParaRPr lang="en-US" sz="850" dirty="0"/>
          </a:p>
        </p:txBody>
      </p:sp>
      <p:sp>
        <p:nvSpPr>
          <p:cNvPr id="140" name="Text 130"/>
          <p:cNvSpPr/>
          <p:nvPr/>
        </p:nvSpPr>
        <p:spPr>
          <a:xfrm>
            <a:off x="4086000" y="415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41" name="Text 131"/>
          <p:cNvSpPr/>
          <p:nvPr/>
        </p:nvSpPr>
        <p:spPr>
          <a:xfrm>
            <a:off x="6372000" y="415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52</a:t>
            </a:r>
            <a:endParaRPr lang="en-US" sz="900" dirty="0"/>
          </a:p>
        </p:txBody>
      </p:sp>
      <p:sp>
        <p:nvSpPr>
          <p:cNvPr id="142" name="Shape 132"/>
          <p:cNvSpPr/>
          <p:nvPr/>
        </p:nvSpPr>
        <p:spPr>
          <a:xfrm>
            <a:off x="3780000" y="4352400"/>
            <a:ext cx="2952000" cy="0"/>
          </a:xfrm>
          <a:prstGeom prst="line">
            <a:avLst/>
          </a:prstGeom>
          <a:noFill/>
          <a:ln w="3810">
            <a:solidFill>
              <a:srgbClr val="C9CFC9"/>
            </a:solidFill>
            <a:prstDash val="solid"/>
          </a:ln>
        </p:spPr>
      </p:sp>
      <p:pic>
        <p:nvPicPr>
          <p:cNvPr id="143" name="Image 8" descr="/home/user/philippe1/build/deco/bande-languedoc.png">    </p:cNvPr>
          <p:cNvPicPr>
            <a:picLocks noChangeAspect="1"/>
          </p:cNvPicPr>
          <p:nvPr/>
        </p:nvPicPr>
        <p:blipFill>
          <a:blip r:embed="rId9"/>
          <a:stretch>
            <a:fillRect/>
          </a:stretch>
        </p:blipFill>
        <p:spPr>
          <a:xfrm>
            <a:off x="3780000" y="4503600"/>
            <a:ext cx="2952000" cy="273600"/>
          </a:xfrm>
          <a:prstGeom prst="rect">
            <a:avLst/>
          </a:prstGeom>
        </p:spPr>
      </p:pic>
      <p:sp>
        <p:nvSpPr>
          <p:cNvPr id="144" name="Text 133"/>
          <p:cNvSpPr/>
          <p:nvPr/>
        </p:nvSpPr>
        <p:spPr>
          <a:xfrm>
            <a:off x="3888000" y="4503600"/>
            <a:ext cx="2736000" cy="273600"/>
          </a:xfrm>
          <a:prstGeom prst="rect">
            <a:avLst/>
          </a:prstGeom>
          <a:noFill/>
          <a:ln/>
        </p:spPr>
        <p:txBody>
          <a:bodyPr wrap="square" lIns="0" tIns="0" rIns="0" bIns="0" rtlCol="0" anchor="ctr"/>
          <a:lstStyle/>
          <a:p>
            <a:pPr indent="0" marL="0">
              <a:buNone/>
            </a:pPr>
            <a:r>
              <a:rPr lang="en-US" sz="1300" dirty="0">
                <a:solidFill>
                  <a:srgbClr val="FBF8F1"/>
                </a:solidFill>
                <a:latin typeface="Young Serif" pitchFamily="34" charset="0"/>
                <a:ea typeface="Young Serif" pitchFamily="34" charset="-122"/>
                <a:cs typeface="Young Serif" pitchFamily="34" charset="-120"/>
              </a:rPr>
              <a:t>Languedoc</a:t>
            </a:r>
            <a:endParaRPr lang="en-US" sz="1300" dirty="0"/>
          </a:p>
        </p:txBody>
      </p:sp>
      <p:sp>
        <p:nvSpPr>
          <p:cNvPr id="145" name="Text 134"/>
          <p:cNvSpPr/>
          <p:nvPr/>
        </p:nvSpPr>
        <p:spPr>
          <a:xfrm>
            <a:off x="3780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32</a:t>
            </a:r>
            <a:endParaRPr lang="en-US" sz="850" dirty="0"/>
          </a:p>
        </p:txBody>
      </p:sp>
      <p:sp>
        <p:nvSpPr>
          <p:cNvPr id="146" name="Text 135"/>
          <p:cNvSpPr/>
          <p:nvPr/>
        </p:nvSpPr>
        <p:spPr>
          <a:xfrm>
            <a:off x="4086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47" name="Text 136"/>
          <p:cNvSpPr/>
          <p:nvPr/>
        </p:nvSpPr>
        <p:spPr>
          <a:xfrm>
            <a:off x="6372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54</a:t>
            </a:r>
            <a:endParaRPr lang="en-US" sz="900" dirty="0"/>
          </a:p>
        </p:txBody>
      </p:sp>
      <p:sp>
        <p:nvSpPr>
          <p:cNvPr id="148" name="Shape 137"/>
          <p:cNvSpPr/>
          <p:nvPr/>
        </p:nvSpPr>
        <p:spPr>
          <a:xfrm>
            <a:off x="3780000" y="5029200"/>
            <a:ext cx="2952000" cy="0"/>
          </a:xfrm>
          <a:prstGeom prst="line">
            <a:avLst/>
          </a:prstGeom>
          <a:noFill/>
          <a:ln w="3810">
            <a:solidFill>
              <a:srgbClr val="C9CFC9"/>
            </a:solidFill>
            <a:prstDash val="solid"/>
          </a:ln>
        </p:spPr>
      </p:sp>
      <p:sp>
        <p:nvSpPr>
          <p:cNvPr id="149" name="Text 138"/>
          <p:cNvSpPr/>
          <p:nvPr/>
        </p:nvSpPr>
        <p:spPr>
          <a:xfrm>
            <a:off x="3780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33</a:t>
            </a:r>
            <a:endParaRPr lang="en-US" sz="850" dirty="0"/>
          </a:p>
        </p:txBody>
      </p:sp>
      <p:sp>
        <p:nvSpPr>
          <p:cNvPr id="150" name="Text 139"/>
          <p:cNvSpPr/>
          <p:nvPr/>
        </p:nvSpPr>
        <p:spPr>
          <a:xfrm>
            <a:off x="4086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51" name="Text 140"/>
          <p:cNvSpPr/>
          <p:nvPr/>
        </p:nvSpPr>
        <p:spPr>
          <a:xfrm>
            <a:off x="6372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56</a:t>
            </a:r>
            <a:endParaRPr lang="en-US" sz="900" dirty="0"/>
          </a:p>
        </p:txBody>
      </p:sp>
      <p:sp>
        <p:nvSpPr>
          <p:cNvPr id="152" name="Shape 141"/>
          <p:cNvSpPr/>
          <p:nvPr/>
        </p:nvSpPr>
        <p:spPr>
          <a:xfrm>
            <a:off x="3780000" y="5230800"/>
            <a:ext cx="2952000" cy="0"/>
          </a:xfrm>
          <a:prstGeom prst="line">
            <a:avLst/>
          </a:prstGeom>
          <a:noFill/>
          <a:ln w="3810">
            <a:solidFill>
              <a:srgbClr val="C9CFC9"/>
            </a:solidFill>
            <a:prstDash val="solid"/>
          </a:ln>
        </p:spPr>
      </p:sp>
      <p:sp>
        <p:nvSpPr>
          <p:cNvPr id="153" name="Text 142"/>
          <p:cNvSpPr/>
          <p:nvPr/>
        </p:nvSpPr>
        <p:spPr>
          <a:xfrm>
            <a:off x="3780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34</a:t>
            </a:r>
            <a:endParaRPr lang="en-US" sz="850" dirty="0"/>
          </a:p>
        </p:txBody>
      </p:sp>
      <p:sp>
        <p:nvSpPr>
          <p:cNvPr id="154" name="Text 143"/>
          <p:cNvSpPr/>
          <p:nvPr/>
        </p:nvSpPr>
        <p:spPr>
          <a:xfrm>
            <a:off x="4086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55" name="Text 144"/>
          <p:cNvSpPr/>
          <p:nvPr/>
        </p:nvSpPr>
        <p:spPr>
          <a:xfrm>
            <a:off x="6372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57</a:t>
            </a:r>
            <a:endParaRPr lang="en-US" sz="900" dirty="0"/>
          </a:p>
        </p:txBody>
      </p:sp>
      <p:sp>
        <p:nvSpPr>
          <p:cNvPr id="156" name="Shape 145"/>
          <p:cNvSpPr/>
          <p:nvPr/>
        </p:nvSpPr>
        <p:spPr>
          <a:xfrm>
            <a:off x="3780000" y="5432400"/>
            <a:ext cx="2952000" cy="0"/>
          </a:xfrm>
          <a:prstGeom prst="line">
            <a:avLst/>
          </a:prstGeom>
          <a:noFill/>
          <a:ln w="3810">
            <a:solidFill>
              <a:srgbClr val="C9CFC9"/>
            </a:solidFill>
            <a:prstDash val="solid"/>
          </a:ln>
        </p:spPr>
      </p:sp>
      <p:sp>
        <p:nvSpPr>
          <p:cNvPr id="157" name="Text 146"/>
          <p:cNvSpPr/>
          <p:nvPr/>
        </p:nvSpPr>
        <p:spPr>
          <a:xfrm>
            <a:off x="3780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35</a:t>
            </a:r>
            <a:endParaRPr lang="en-US" sz="850" dirty="0"/>
          </a:p>
        </p:txBody>
      </p:sp>
      <p:sp>
        <p:nvSpPr>
          <p:cNvPr id="158" name="Text 147"/>
          <p:cNvSpPr/>
          <p:nvPr/>
        </p:nvSpPr>
        <p:spPr>
          <a:xfrm>
            <a:off x="4086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Lys</a:t>
            </a:r>
            <a:endParaRPr lang="en-US" sz="1000" dirty="0"/>
          </a:p>
        </p:txBody>
      </p:sp>
      <p:sp>
        <p:nvSpPr>
          <p:cNvPr id="159" name="Text 148"/>
          <p:cNvSpPr/>
          <p:nvPr/>
        </p:nvSpPr>
        <p:spPr>
          <a:xfrm>
            <a:off x="6372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58</a:t>
            </a:r>
            <a:endParaRPr lang="en-US" sz="900" dirty="0"/>
          </a:p>
        </p:txBody>
      </p:sp>
      <p:sp>
        <p:nvSpPr>
          <p:cNvPr id="160" name="Shape 149"/>
          <p:cNvSpPr/>
          <p:nvPr/>
        </p:nvSpPr>
        <p:spPr>
          <a:xfrm>
            <a:off x="3780000" y="5634000"/>
            <a:ext cx="2952000" cy="0"/>
          </a:xfrm>
          <a:prstGeom prst="line">
            <a:avLst/>
          </a:prstGeom>
          <a:noFill/>
          <a:ln w="3810">
            <a:solidFill>
              <a:srgbClr val="C9CFC9"/>
            </a:solidFill>
            <a:prstDash val="solid"/>
          </a:ln>
        </p:spPr>
      </p:sp>
      <p:sp>
        <p:nvSpPr>
          <p:cNvPr id="161" name="Text 150"/>
          <p:cNvSpPr/>
          <p:nvPr/>
        </p:nvSpPr>
        <p:spPr>
          <a:xfrm>
            <a:off x="3780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36</a:t>
            </a:r>
            <a:endParaRPr lang="en-US" sz="850" dirty="0"/>
          </a:p>
        </p:txBody>
      </p:sp>
      <p:sp>
        <p:nvSpPr>
          <p:cNvPr id="162" name="Text 151"/>
          <p:cNvSpPr/>
          <p:nvPr/>
        </p:nvSpPr>
        <p:spPr>
          <a:xfrm>
            <a:off x="4086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63" name="Text 152"/>
          <p:cNvSpPr/>
          <p:nvPr/>
        </p:nvSpPr>
        <p:spPr>
          <a:xfrm>
            <a:off x="6372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59</a:t>
            </a:r>
            <a:endParaRPr lang="en-US" sz="900" dirty="0"/>
          </a:p>
        </p:txBody>
      </p:sp>
      <p:sp>
        <p:nvSpPr>
          <p:cNvPr id="164" name="Shape 153"/>
          <p:cNvSpPr/>
          <p:nvPr/>
        </p:nvSpPr>
        <p:spPr>
          <a:xfrm>
            <a:off x="3780000" y="5835600"/>
            <a:ext cx="2952000" cy="0"/>
          </a:xfrm>
          <a:prstGeom prst="line">
            <a:avLst/>
          </a:prstGeom>
          <a:noFill/>
          <a:ln w="3810">
            <a:solidFill>
              <a:srgbClr val="C9CFC9"/>
            </a:solidFill>
            <a:prstDash val="solid"/>
          </a:ln>
        </p:spPr>
      </p:sp>
      <p:pic>
        <p:nvPicPr>
          <p:cNvPr id="165" name="Image 9" descr="/home/user/philippe1/build/deco/bande-champagne.png">    </p:cNvPr>
          <p:cNvPicPr>
            <a:picLocks noChangeAspect="1"/>
          </p:cNvPicPr>
          <p:nvPr/>
        </p:nvPicPr>
        <p:blipFill>
          <a:blip r:embed="rId10"/>
          <a:stretch>
            <a:fillRect/>
          </a:stretch>
        </p:blipFill>
        <p:spPr>
          <a:xfrm>
            <a:off x="3780000" y="5986800"/>
            <a:ext cx="2952000" cy="273600"/>
          </a:xfrm>
          <a:prstGeom prst="rect">
            <a:avLst/>
          </a:prstGeom>
        </p:spPr>
      </p:pic>
      <p:sp>
        <p:nvSpPr>
          <p:cNvPr id="166" name="Text 154"/>
          <p:cNvSpPr/>
          <p:nvPr/>
        </p:nvSpPr>
        <p:spPr>
          <a:xfrm>
            <a:off x="3888000" y="5986800"/>
            <a:ext cx="2736000" cy="273600"/>
          </a:xfrm>
          <a:prstGeom prst="rect">
            <a:avLst/>
          </a:prstGeom>
          <a:noFill/>
          <a:ln/>
        </p:spPr>
        <p:txBody>
          <a:bodyPr wrap="square" lIns="0" tIns="0" rIns="0" bIns="0" rtlCol="0" anchor="ctr"/>
          <a:lstStyle/>
          <a:p>
            <a:pPr indent="0" marL="0">
              <a:buNone/>
            </a:pPr>
            <a:r>
              <a:rPr lang="en-US" sz="1300" dirty="0">
                <a:solidFill>
                  <a:srgbClr val="46606E"/>
                </a:solidFill>
                <a:latin typeface="Young Serif" pitchFamily="34" charset="0"/>
                <a:ea typeface="Young Serif" pitchFamily="34" charset="-122"/>
                <a:cs typeface="Young Serif" pitchFamily="34" charset="-120"/>
              </a:rPr>
              <a:t>Champagne</a:t>
            </a:r>
            <a:endParaRPr lang="en-US" sz="1300" dirty="0"/>
          </a:p>
        </p:txBody>
      </p:sp>
      <p:sp>
        <p:nvSpPr>
          <p:cNvPr id="167" name="Text 155"/>
          <p:cNvSpPr/>
          <p:nvPr/>
        </p:nvSpPr>
        <p:spPr>
          <a:xfrm>
            <a:off x="3780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37</a:t>
            </a:r>
            <a:endParaRPr lang="en-US" sz="850" dirty="0"/>
          </a:p>
        </p:txBody>
      </p:sp>
      <p:sp>
        <p:nvSpPr>
          <p:cNvPr id="168" name="Text 156"/>
          <p:cNvSpPr/>
          <p:nvPr/>
        </p:nvSpPr>
        <p:spPr>
          <a:xfrm>
            <a:off x="4086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69" name="Text 157"/>
          <p:cNvSpPr/>
          <p:nvPr/>
        </p:nvSpPr>
        <p:spPr>
          <a:xfrm>
            <a:off x="6372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62</a:t>
            </a:r>
            <a:endParaRPr lang="en-US" sz="900" dirty="0"/>
          </a:p>
        </p:txBody>
      </p:sp>
      <p:sp>
        <p:nvSpPr>
          <p:cNvPr id="170" name="Shape 158"/>
          <p:cNvSpPr/>
          <p:nvPr/>
        </p:nvSpPr>
        <p:spPr>
          <a:xfrm>
            <a:off x="3780000" y="6512400"/>
            <a:ext cx="2952000" cy="0"/>
          </a:xfrm>
          <a:prstGeom prst="line">
            <a:avLst/>
          </a:prstGeom>
          <a:noFill/>
          <a:ln w="3810">
            <a:solidFill>
              <a:srgbClr val="C9CFC9"/>
            </a:solidFill>
            <a:prstDash val="solid"/>
          </a:ln>
        </p:spPr>
      </p:sp>
      <p:sp>
        <p:nvSpPr>
          <p:cNvPr id="171" name="Text 159"/>
          <p:cNvSpPr/>
          <p:nvPr/>
        </p:nvSpPr>
        <p:spPr>
          <a:xfrm>
            <a:off x="3780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38</a:t>
            </a:r>
            <a:endParaRPr lang="en-US" sz="850" dirty="0"/>
          </a:p>
        </p:txBody>
      </p:sp>
      <p:sp>
        <p:nvSpPr>
          <p:cNvPr id="172" name="Text 160"/>
          <p:cNvSpPr/>
          <p:nvPr/>
        </p:nvSpPr>
        <p:spPr>
          <a:xfrm>
            <a:off x="4086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73" name="Text 161"/>
          <p:cNvSpPr/>
          <p:nvPr/>
        </p:nvSpPr>
        <p:spPr>
          <a:xfrm>
            <a:off x="6372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63</a:t>
            </a:r>
            <a:endParaRPr lang="en-US" sz="900" dirty="0"/>
          </a:p>
        </p:txBody>
      </p:sp>
      <p:sp>
        <p:nvSpPr>
          <p:cNvPr id="174" name="Shape 162"/>
          <p:cNvSpPr/>
          <p:nvPr/>
        </p:nvSpPr>
        <p:spPr>
          <a:xfrm>
            <a:off x="3780000" y="6714000"/>
            <a:ext cx="2952000" cy="0"/>
          </a:xfrm>
          <a:prstGeom prst="line">
            <a:avLst/>
          </a:prstGeom>
          <a:noFill/>
          <a:ln w="3810">
            <a:solidFill>
              <a:srgbClr val="C9CFC9"/>
            </a:solidFill>
            <a:prstDash val="solid"/>
          </a:ln>
        </p:spPr>
      </p:sp>
      <p:sp>
        <p:nvSpPr>
          <p:cNvPr id="175" name="Text 163"/>
          <p:cNvSpPr/>
          <p:nvPr/>
        </p:nvSpPr>
        <p:spPr>
          <a:xfrm>
            <a:off x="3780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39</a:t>
            </a:r>
            <a:endParaRPr lang="en-US" sz="850" dirty="0"/>
          </a:p>
        </p:txBody>
      </p:sp>
      <p:sp>
        <p:nvSpPr>
          <p:cNvPr id="176" name="Text 164"/>
          <p:cNvSpPr/>
          <p:nvPr/>
        </p:nvSpPr>
        <p:spPr>
          <a:xfrm>
            <a:off x="4086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77" name="Text 165"/>
          <p:cNvSpPr/>
          <p:nvPr/>
        </p:nvSpPr>
        <p:spPr>
          <a:xfrm>
            <a:off x="6372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65</a:t>
            </a:r>
            <a:endParaRPr lang="en-US" sz="900" dirty="0"/>
          </a:p>
        </p:txBody>
      </p:sp>
      <p:sp>
        <p:nvSpPr>
          <p:cNvPr id="178" name="Shape 166"/>
          <p:cNvSpPr/>
          <p:nvPr/>
        </p:nvSpPr>
        <p:spPr>
          <a:xfrm>
            <a:off x="3780000" y="6915600"/>
            <a:ext cx="2952000" cy="0"/>
          </a:xfrm>
          <a:prstGeom prst="line">
            <a:avLst/>
          </a:prstGeom>
          <a:noFill/>
          <a:ln w="3810">
            <a:solidFill>
              <a:srgbClr val="C9CFC9"/>
            </a:solidFill>
            <a:prstDash val="solid"/>
          </a:ln>
        </p:spPr>
      </p:sp>
      <p:sp>
        <p:nvSpPr>
          <p:cNvPr id="179" name="Text 167"/>
          <p:cNvSpPr/>
          <p:nvPr/>
        </p:nvSpPr>
        <p:spPr>
          <a:xfrm>
            <a:off x="3780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40</a:t>
            </a:r>
            <a:endParaRPr lang="en-US" sz="850" dirty="0"/>
          </a:p>
        </p:txBody>
      </p:sp>
      <p:sp>
        <p:nvSpPr>
          <p:cNvPr id="180" name="Text 168"/>
          <p:cNvSpPr/>
          <p:nvPr/>
        </p:nvSpPr>
        <p:spPr>
          <a:xfrm>
            <a:off x="4086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81" name="Text 169"/>
          <p:cNvSpPr/>
          <p:nvPr/>
        </p:nvSpPr>
        <p:spPr>
          <a:xfrm>
            <a:off x="6372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66</a:t>
            </a:r>
            <a:endParaRPr lang="en-US" sz="900" dirty="0"/>
          </a:p>
        </p:txBody>
      </p:sp>
      <p:sp>
        <p:nvSpPr>
          <p:cNvPr id="182" name="Shape 170"/>
          <p:cNvSpPr/>
          <p:nvPr/>
        </p:nvSpPr>
        <p:spPr>
          <a:xfrm>
            <a:off x="3780000" y="7117200"/>
            <a:ext cx="2952000" cy="0"/>
          </a:xfrm>
          <a:prstGeom prst="line">
            <a:avLst/>
          </a:prstGeom>
          <a:noFill/>
          <a:ln w="3810">
            <a:solidFill>
              <a:srgbClr val="C9CFC9"/>
            </a:solidFill>
            <a:prstDash val="solid"/>
          </a:ln>
        </p:spPr>
      </p:sp>
      <p:sp>
        <p:nvSpPr>
          <p:cNvPr id="183" name="Shape 171"/>
          <p:cNvSpPr/>
          <p:nvPr/>
        </p:nvSpPr>
        <p:spPr>
          <a:xfrm>
            <a:off x="612000" y="8280000"/>
            <a:ext cx="6120000" cy="0"/>
          </a:xfrm>
          <a:prstGeom prst="line">
            <a:avLst/>
          </a:prstGeom>
          <a:noFill/>
          <a:ln w="10160">
            <a:solidFill>
              <a:srgbClr val="67067C"/>
            </a:solidFill>
            <a:prstDash val="solid"/>
          </a:ln>
        </p:spPr>
      </p:sp>
      <p:sp>
        <p:nvSpPr>
          <p:cNvPr id="184" name="Text 172"/>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85" name="Text 173"/>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186" name="Image 10" descr="/home/user/philippe1/build/deco/label-bio.png">    </p:cNvPr>
          <p:cNvPicPr>
            <a:picLocks noChangeAspect="1"/>
          </p:cNvPicPr>
          <p:nvPr/>
        </p:nvPicPr>
        <p:blipFill>
          <a:blip r:embed="rId11"/>
          <a:stretch>
            <a:fillRect/>
          </a:stretch>
        </p:blipFill>
        <p:spPr>
          <a:xfrm>
            <a:off x="1080000" y="8559000"/>
            <a:ext cx="108000" cy="108000"/>
          </a:xfrm>
          <a:prstGeom prst="rect">
            <a:avLst/>
          </a:prstGeom>
        </p:spPr>
      </p:pic>
      <p:sp>
        <p:nvSpPr>
          <p:cNvPr id="187" name="Text 174"/>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188" name="Image 11" descr="/home/user/philippe1/build/deco/label-conversion.png">    </p:cNvPr>
          <p:cNvPicPr>
            <a:picLocks noChangeAspect="1"/>
          </p:cNvPicPr>
          <p:nvPr/>
        </p:nvPicPr>
        <p:blipFill>
          <a:blip r:embed="rId12"/>
          <a:stretch>
            <a:fillRect/>
          </a:stretch>
        </p:blipFill>
        <p:spPr>
          <a:xfrm>
            <a:off x="1527093" y="8559000"/>
            <a:ext cx="108000" cy="108000"/>
          </a:xfrm>
          <a:prstGeom prst="rect">
            <a:avLst/>
          </a:prstGeom>
        </p:spPr>
      </p:pic>
      <p:sp>
        <p:nvSpPr>
          <p:cNvPr id="189" name="Text 175"/>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190" name="Image 12" descr="/home/user/philippe1/build/deco/label-biobiodyn.png">    </p:cNvPr>
          <p:cNvPicPr>
            <a:picLocks noChangeAspect="1"/>
          </p:cNvPicPr>
          <p:nvPr/>
        </p:nvPicPr>
        <p:blipFill>
          <a:blip r:embed="rId13"/>
          <a:stretch>
            <a:fillRect/>
          </a:stretch>
        </p:blipFill>
        <p:spPr>
          <a:xfrm>
            <a:off x="2587593" y="8559000"/>
            <a:ext cx="108000" cy="108000"/>
          </a:xfrm>
          <a:prstGeom prst="rect">
            <a:avLst/>
          </a:prstGeom>
        </p:spPr>
      </p:pic>
      <p:sp>
        <p:nvSpPr>
          <p:cNvPr id="191" name="Text 176"/>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192" name="Image 13" descr="/home/user/philippe1/build/deco/label-biobiodyn.png">    </p:cNvPr>
          <p:cNvPicPr>
            <a:picLocks noChangeAspect="1"/>
          </p:cNvPicPr>
          <p:nvPr/>
        </p:nvPicPr>
        <p:blipFill>
          <a:blip r:embed="rId14"/>
          <a:stretch>
            <a:fillRect/>
          </a:stretch>
        </p:blipFill>
        <p:spPr>
          <a:xfrm>
            <a:off x="3396791" y="8559000"/>
            <a:ext cx="108000" cy="108000"/>
          </a:xfrm>
          <a:prstGeom prst="rect">
            <a:avLst/>
          </a:prstGeom>
        </p:spPr>
      </p:pic>
      <p:sp>
        <p:nvSpPr>
          <p:cNvPr id="193" name="Text 177"/>
          <p:cNvSpPr/>
          <p:nvPr/>
        </p:nvSpPr>
        <p:spPr>
          <a:xfrm>
            <a:off x="3544391" y="8532000"/>
            <a:ext cx="800671"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 &amp; Biodynamie</a:t>
            </a:r>
            <a:endParaRPr lang="en-US" sz="740" dirty="0"/>
          </a:p>
        </p:txBody>
      </p:sp>
      <p:pic>
        <p:nvPicPr>
          <p:cNvPr id="194" name="Image 14" descr="/home/user/philippe1/build/deco/label-hve.png">    </p:cNvPr>
          <p:cNvPicPr>
            <a:picLocks noChangeAspect="1"/>
          </p:cNvPicPr>
          <p:nvPr/>
        </p:nvPicPr>
        <p:blipFill>
          <a:blip r:embed="rId15"/>
          <a:stretch>
            <a:fillRect/>
          </a:stretch>
        </p:blipFill>
        <p:spPr>
          <a:xfrm>
            <a:off x="4453062" y="8559000"/>
            <a:ext cx="108000" cy="108000"/>
          </a:xfrm>
          <a:prstGeom prst="rect">
            <a:avLst/>
          </a:prstGeom>
        </p:spPr>
      </p:pic>
      <p:sp>
        <p:nvSpPr>
          <p:cNvPr id="195" name="Text 178"/>
          <p:cNvSpPr/>
          <p:nvPr/>
        </p:nvSpPr>
        <p:spPr>
          <a:xfrm>
            <a:off x="4600662"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196" name="Image 15" descr="/home/user/philippe1/build/deco/label-hve.png">    </p:cNvPr>
          <p:cNvPicPr>
            <a:picLocks noChangeAspect="1"/>
          </p:cNvPicPr>
          <p:nvPr/>
        </p:nvPicPr>
        <p:blipFill>
          <a:blip r:embed="rId16"/>
          <a:stretch>
            <a:fillRect/>
          </a:stretch>
        </p:blipFill>
        <p:spPr>
          <a:xfrm>
            <a:off x="4941130" y="8559000"/>
            <a:ext cx="108000" cy="108000"/>
          </a:xfrm>
          <a:prstGeom prst="rect">
            <a:avLst/>
          </a:prstGeom>
        </p:spPr>
      </p:pic>
      <p:sp>
        <p:nvSpPr>
          <p:cNvPr id="197" name="Text 179"/>
          <p:cNvSpPr/>
          <p:nvPr/>
        </p:nvSpPr>
        <p:spPr>
          <a:xfrm>
            <a:off x="5088730"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198" name="Image 16" descr="/home/user/philippe1/build/deco/label-raisonnee.png">    </p:cNvPr>
          <p:cNvPicPr>
            <a:picLocks noChangeAspect="1"/>
          </p:cNvPicPr>
          <p:nvPr/>
        </p:nvPicPr>
        <p:blipFill>
          <a:blip r:embed="rId17"/>
          <a:stretch>
            <a:fillRect/>
          </a:stretch>
        </p:blipFill>
        <p:spPr>
          <a:xfrm>
            <a:off x="5507765" y="8559000"/>
            <a:ext cx="108000" cy="108000"/>
          </a:xfrm>
          <a:prstGeom prst="rect">
            <a:avLst/>
          </a:prstGeom>
        </p:spPr>
      </p:pic>
      <p:sp>
        <p:nvSpPr>
          <p:cNvPr id="199" name="Text 180"/>
          <p:cNvSpPr/>
          <p:nvPr/>
        </p:nvSpPr>
        <p:spPr>
          <a:xfrm>
            <a:off x="5655365"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200" name="Image 17" descr="/home/user/philippe1/build/deco/label-iso.png">    </p:cNvPr>
          <p:cNvPicPr>
            <a:picLocks noChangeAspect="1"/>
          </p:cNvPicPr>
          <p:nvPr/>
        </p:nvPicPr>
        <p:blipFill>
          <a:blip r:embed="rId18"/>
          <a:stretch>
            <a:fillRect/>
          </a:stretch>
        </p:blipFill>
        <p:spPr>
          <a:xfrm>
            <a:off x="6722580" y="8559000"/>
            <a:ext cx="108000" cy="108000"/>
          </a:xfrm>
          <a:prstGeom prst="rect">
            <a:avLst/>
          </a:prstGeom>
        </p:spPr>
      </p:pic>
      <p:sp>
        <p:nvSpPr>
          <p:cNvPr id="201" name="Text 181"/>
          <p:cNvSpPr/>
          <p:nvPr/>
        </p:nvSpPr>
        <p:spPr>
          <a:xfrm>
            <a:off x="6870180"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202" name="Text 182"/>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203" name="Text 18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04" name="Text 18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loir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loir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1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Loire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schistes et tuffeau</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7</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68</a:t>
            </a:r>
            <a:endParaRPr lang="en-US" sz="2000" dirty="0"/>
          </a:p>
        </p:txBody>
      </p:sp>
      <p:sp>
        <p:nvSpPr>
          <p:cNvPr id="11" name="Text 7"/>
          <p:cNvSpPr/>
          <p:nvPr/>
        </p:nvSpPr>
        <p:spPr>
          <a:xfrm>
            <a:off x="1836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   </a:t>
            </a:r>
            <a:r>
              <a:rPr lang="en-US" sz="860" dirty="0">
                <a:solidFill>
                  <a:srgbClr val="FBF8F1"/>
                </a:solidFill>
                <a:latin typeface="IBM Plex Sans" pitchFamily="34" charset="0"/>
                <a:ea typeface="IBM Plex Sans" pitchFamily="34" charset="-122"/>
                <a:cs typeface="IBM Plex Sans" pitchFamily="34" charset="-120"/>
              </a:rPr>
              <a:t>François Reverdy</a:t>
            </a:r>
            <a:r>
              <a:rPr lang="en-US" sz="860" b="1" dirty="0">
                <a:solidFill>
                  <a:srgbClr val="FBF8F1"/>
                </a:solidFill>
                <a:latin typeface="IBM Plex Sans" pitchFamily="34" charset="0"/>
                <a:ea typeface="IBM Plex Sans" pitchFamily="34" charset="-122"/>
                <a:cs typeface="IBM Plex Sans" pitchFamily="34" charset="-120"/>
              </a:rPr>
              <a:t>   5</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   </a:t>
            </a:r>
            <a:r>
              <a:rPr lang="en-US" sz="860" dirty="0">
                <a:solidFill>
                  <a:srgbClr val="FBF8F1"/>
                </a:solidFill>
                <a:latin typeface="IBM Plex Sans" pitchFamily="34" charset="0"/>
                <a:ea typeface="IBM Plex Sans" pitchFamily="34" charset="-122"/>
                <a:cs typeface="IBM Plex Sans" pitchFamily="34" charset="-120"/>
              </a:rPr>
              <a:t>Domaine de la Barbinière</a:t>
            </a:r>
            <a:r>
              <a:rPr lang="en-US" sz="860" b="1" dirty="0">
                <a:solidFill>
                  <a:srgbClr val="FBF8F1"/>
                </a:solidFill>
                <a:latin typeface="IBM Plex Sans" pitchFamily="34" charset="0"/>
                <a:ea typeface="IBM Plex Sans" pitchFamily="34" charset="-122"/>
                <a:cs typeface="IBM Plex Sans" pitchFamily="34" charset="-120"/>
              </a:rPr>
              <a:t>   6</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   </a:t>
            </a:r>
            <a:r>
              <a:rPr lang="en-US" sz="860" dirty="0">
                <a:solidFill>
                  <a:srgbClr val="FBF8F1"/>
                </a:solidFill>
                <a:latin typeface="IBM Plex Sans" pitchFamily="34" charset="0"/>
                <a:ea typeface="IBM Plex Sans" pitchFamily="34" charset="-122"/>
                <a:cs typeface="IBM Plex Sans" pitchFamily="34" charset="-120"/>
              </a:rPr>
              <a:t>Domaine du Colombier / J.Y Bretaudeau</a:t>
            </a:r>
            <a:r>
              <a:rPr lang="en-US" sz="860" b="1" dirty="0">
                <a:solidFill>
                  <a:srgbClr val="FBF8F1"/>
                </a:solidFill>
                <a:latin typeface="IBM Plex Sans" pitchFamily="34" charset="0"/>
                <a:ea typeface="IBM Plex Sans" pitchFamily="34" charset="-122"/>
                <a:cs typeface="IBM Plex Sans" pitchFamily="34" charset="-120"/>
              </a:rPr>
              <a:t>   7</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4   </a:t>
            </a:r>
            <a:r>
              <a:rPr lang="en-US" sz="860" dirty="0">
                <a:solidFill>
                  <a:srgbClr val="FBF8F1"/>
                </a:solidFill>
                <a:latin typeface="IBM Plex Sans" pitchFamily="34" charset="0"/>
                <a:ea typeface="IBM Plex Sans" pitchFamily="34" charset="-122"/>
                <a:cs typeface="IBM Plex Sans" pitchFamily="34" charset="-120"/>
              </a:rPr>
              <a:t>Domaine des Noëls</a:t>
            </a:r>
            <a:r>
              <a:rPr lang="en-US" sz="860" b="1" dirty="0">
                <a:solidFill>
                  <a:srgbClr val="FBF8F1"/>
                </a:solidFill>
                <a:latin typeface="IBM Plex Sans" pitchFamily="34" charset="0"/>
                <a:ea typeface="IBM Plex Sans" pitchFamily="34" charset="-122"/>
                <a:cs typeface="IBM Plex Sans" pitchFamily="34" charset="-120"/>
              </a:rPr>
              <a:t>   9</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5   </a:t>
            </a:r>
            <a:r>
              <a:rPr lang="en-US" sz="860" dirty="0">
                <a:solidFill>
                  <a:srgbClr val="FBF8F1"/>
                </a:solidFill>
                <a:latin typeface="IBM Plex Sans" pitchFamily="34" charset="0"/>
                <a:ea typeface="IBM Plex Sans" pitchFamily="34" charset="-122"/>
                <a:cs typeface="IBM Plex Sans" pitchFamily="34" charset="-120"/>
              </a:rPr>
              <a:t>Chai Berteaud Manceau</a:t>
            </a:r>
            <a:r>
              <a:rPr lang="en-US" sz="860" b="1" dirty="0">
                <a:solidFill>
                  <a:srgbClr val="FBF8F1"/>
                </a:solidFill>
                <a:latin typeface="IBM Plex Sans" pitchFamily="34" charset="0"/>
                <a:ea typeface="IBM Plex Sans" pitchFamily="34" charset="-122"/>
                <a:cs typeface="IBM Plex Sans" pitchFamily="34" charset="-120"/>
              </a:rPr>
              <a:t>   10</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6   </a:t>
            </a:r>
            <a:r>
              <a:rPr lang="en-US" sz="860" dirty="0">
                <a:solidFill>
                  <a:srgbClr val="FBF8F1"/>
                </a:solidFill>
                <a:latin typeface="IBM Plex Sans" pitchFamily="34" charset="0"/>
                <a:ea typeface="IBM Plex Sans" pitchFamily="34" charset="-122"/>
                <a:cs typeface="IBM Plex Sans" pitchFamily="34" charset="-120"/>
              </a:rPr>
              <a:t>Domaine Jean de Villebois</a:t>
            </a:r>
            <a:r>
              <a:rPr lang="en-US" sz="860" b="1" dirty="0">
                <a:solidFill>
                  <a:srgbClr val="FBF8F1"/>
                </a:solidFill>
                <a:latin typeface="IBM Plex Sans" pitchFamily="34" charset="0"/>
                <a:ea typeface="IBM Plex Sans" pitchFamily="34" charset="-122"/>
                <a:cs typeface="IBM Plex Sans" pitchFamily="34" charset="-120"/>
              </a:rPr>
              <a:t>   11</a:t>
            </a:r>
            <a:endParaRPr lang="en-US" sz="860" dirty="0"/>
          </a:p>
        </p:txBody>
      </p:sp>
      <p:sp>
        <p:nvSpPr>
          <p:cNvPr id="18" name="Text 14"/>
          <p:cNvSpPr/>
          <p:nvPr/>
        </p:nvSpPr>
        <p:spPr>
          <a:xfrm>
            <a:off x="828000" y="7884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Divin No Low</a:t>
            </a:r>
            <a:r>
              <a:rPr lang="en-US" sz="860" b="1" dirty="0">
                <a:solidFill>
                  <a:srgbClr val="FBF8F1"/>
                </a:solidFill>
                <a:latin typeface="IBM Plex Sans" pitchFamily="34" charset="0"/>
                <a:ea typeface="IBM Plex Sans" pitchFamily="34" charset="-122"/>
                <a:cs typeface="IBM Plex Sans" pitchFamily="34" charset="-120"/>
              </a:rPr>
              <a:t>   13</a:t>
            </a:r>
            <a:endParaRPr lang="en-US" sz="860" dirty="0"/>
          </a:p>
        </p:txBody>
      </p:sp>
      <p:sp>
        <p:nvSpPr>
          <p:cNvPr id="19"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a:t>
            </a:r>
            <a:endParaRPr lang="en-US" sz="750" dirty="0"/>
          </a:p>
        </p:txBody>
      </p:sp>
      <p:sp>
        <p:nvSpPr>
          <p:cNvPr id="20"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u vigneron, noir et blanc — François Reverdy">    </p:cNvPr>
          <p:cNvPicPr>
            <a:picLocks noChangeAspect="1"/>
          </p:cNvPicPr>
          <p:nvPr/>
        </p:nvPicPr>
        <p:blipFill>
          <a:blip r:embed="rId3"/>
          <a:srcRect l="2263" r="2470" t="0" b="0"/>
          <a:stretch/>
        </p:blipFill>
        <p:spPr>
          <a:xfrm>
            <a:off x="612000" y="1357200"/>
            <a:ext cx="1440000" cy="1440000"/>
          </a:xfrm>
          <a:prstGeom prst="ellipse">
            <a:avLst/>
          </a:prstGeom>
        </p:spPr>
      </p:pic>
      <p:pic>
        <p:nvPicPr>
          <p:cNvPr id="15" name="Image 3" descr="Une bouteille du domaine François Reverdy">    </p:cNvPr>
          <p:cNvPicPr>
            <a:picLocks noChangeAspect="1"/>
          </p:cNvPicPr>
          <p:nvPr/>
        </p:nvPicPr>
        <p:blipFill>
          <a:blip r:embed="rId4"/>
          <a:stretch>
            <a:fillRect/>
          </a:stretch>
        </p:blipFill>
        <p:spPr>
          <a:xfrm>
            <a:off x="5992033" y="1357200"/>
            <a:ext cx="615934" cy="2232000"/>
          </a:xfrm>
          <a:prstGeom prst="rect">
            <a:avLst/>
          </a:prstGeom>
        </p:spPr>
      </p:pic>
      <p:sp>
        <p:nvSpPr>
          <p:cNvPr id="16" name="Text 10"/>
          <p:cNvSpPr/>
          <p:nvPr/>
        </p:nvSpPr>
        <p:spPr>
          <a:xfrm>
            <a:off x="2177967" y="1261763"/>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7" name="Text 11"/>
          <p:cNvSpPr/>
          <p:nvPr/>
        </p:nvSpPr>
        <p:spPr>
          <a:xfrm>
            <a:off x="2232000" y="1404528"/>
            <a:ext cx="3456000" cy="2184573"/>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Jusqu'à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7225126"/>
            <a:ext cx="0" cy="288349"/>
          </a:xfrm>
          <a:prstGeom prst="line">
            <a:avLst/>
          </a:prstGeom>
          <a:noFill/>
          <a:ln w="17780">
            <a:solidFill>
              <a:srgbClr val="67067C"/>
            </a:solidFill>
            <a:prstDash val="solid"/>
          </a:ln>
        </p:spPr>
      </p:sp>
      <p:sp>
        <p:nvSpPr>
          <p:cNvPr id="20" name="Text 13"/>
          <p:cNvSpPr/>
          <p:nvPr/>
        </p:nvSpPr>
        <p:spPr>
          <a:xfrm>
            <a:off x="720000" y="722512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393651"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03762"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0376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568436"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68436"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vendanges dans les vignes du domaine — Domaine de la Barbinière">    </p:cNvPr>
          <p:cNvPicPr>
            <a:picLocks noChangeAspect="1"/>
          </p:cNvPicPr>
          <p:nvPr/>
        </p:nvPicPr>
        <p:blipFill>
          <a:blip r:embed="rId3"/>
          <a:srcRect l="16680" r="16680" t="0" b="0"/>
          <a:stretch/>
        </p:blipFill>
        <p:spPr>
          <a:xfrm>
            <a:off x="828000" y="1357200"/>
            <a:ext cx="1440000" cy="1440000"/>
          </a:xfrm>
          <a:prstGeom prst="ellipse">
            <a:avLst/>
          </a:prstGeom>
        </p:spPr>
      </p:pic>
      <p:pic>
        <p:nvPicPr>
          <p:cNvPr id="17" name="Image 3" descr="Une bouteille du domaine Domaine de la Barbinière">    </p:cNvPr>
          <p:cNvPicPr>
            <a:picLocks noChangeAspect="1"/>
          </p:cNvPicPr>
          <p:nvPr/>
        </p:nvPicPr>
        <p:blipFill>
          <a:blip r:embed="rId4"/>
          <a:stretch>
            <a:fillRect/>
          </a:stretch>
        </p:blipFill>
        <p:spPr>
          <a:xfrm>
            <a:off x="6229377" y="1357200"/>
            <a:ext cx="573246" cy="2232000"/>
          </a:xfrm>
          <a:prstGeom prst="rect">
            <a:avLst/>
          </a:prstGeom>
        </p:spPr>
      </p:pic>
      <p:sp>
        <p:nvSpPr>
          <p:cNvPr id="18" name="Text 12"/>
          <p:cNvSpPr/>
          <p:nvPr/>
        </p:nvSpPr>
        <p:spPr>
          <a:xfrm>
            <a:off x="2393960" y="1352724"/>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448000" y="1462935"/>
            <a:ext cx="3456000" cy="21261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933250"/>
            <a:ext cx="0" cy="288349"/>
          </a:xfrm>
          <a:prstGeom prst="line">
            <a:avLst/>
          </a:prstGeom>
          <a:noFill/>
          <a:ln w="17780">
            <a:solidFill>
              <a:srgbClr val="67067C"/>
            </a:solidFill>
            <a:prstDash val="solid"/>
          </a:ln>
        </p:spPr>
      </p:sp>
      <p:sp>
        <p:nvSpPr>
          <p:cNvPr id="22" name="Text 15"/>
          <p:cNvSpPr/>
          <p:nvPr/>
        </p:nvSpPr>
        <p:spPr>
          <a:xfrm>
            <a:off x="936000" y="793325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828000" y="8388000"/>
            <a:ext cx="6120000" cy="0"/>
          </a:xfrm>
          <a:prstGeom prst="line">
            <a:avLst/>
          </a:prstGeom>
          <a:noFill/>
          <a:ln w="8890">
            <a:solidFill>
              <a:srgbClr val="46606E"/>
            </a:solidFill>
            <a:prstDash val="solid"/>
          </a:ln>
        </p:spPr>
      </p:sp>
      <p:sp>
        <p:nvSpPr>
          <p:cNvPr id="24"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4" name="Image 2" descr="le vigneron au chai — Domaine du Colombier / J.Y Bretaudeau">    </p:cNvPr>
          <p:cNvPicPr>
            <a:picLocks noChangeAspect="1"/>
          </p:cNvPicPr>
          <p:nvPr/>
        </p:nvPicPr>
        <p:blipFill>
          <a:blip r:embed="rId3"/>
          <a:srcRect l="29320" r="5437" t="0" b="0"/>
          <a:stretch/>
        </p:blipFill>
        <p:spPr>
          <a:xfrm>
            <a:off x="612000" y="1357200"/>
            <a:ext cx="1440000" cy="1440000"/>
          </a:xfrm>
          <a:prstGeom prst="ellipse">
            <a:avLst/>
          </a:prstGeom>
        </p:spPr>
      </p:pic>
      <p:pic>
        <p:nvPicPr>
          <p:cNvPr id="15" name="Image 3" descr="Une bouteille du domaine Domaine du Colombier / J.Y Bretaudeau">    </p:cNvPr>
          <p:cNvPicPr>
            <a:picLocks noChangeAspect="1"/>
          </p:cNvPicPr>
          <p:nvPr/>
        </p:nvPicPr>
        <p:blipFill>
          <a:blip r:embed="rId4"/>
          <a:stretch>
            <a:fillRect/>
          </a:stretch>
        </p:blipFill>
        <p:spPr>
          <a:xfrm>
            <a:off x="6002705" y="1357200"/>
            <a:ext cx="594590" cy="2232000"/>
          </a:xfrm>
          <a:prstGeom prst="rect">
            <a:avLst/>
          </a:prstGeom>
        </p:spPr>
      </p:pic>
      <p:sp>
        <p:nvSpPr>
          <p:cNvPr id="16" name="Text 10"/>
          <p:cNvSpPr/>
          <p:nvPr/>
        </p:nvSpPr>
        <p:spPr>
          <a:xfrm>
            <a:off x="2178005" y="1483976"/>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7" name="Text 11"/>
          <p:cNvSpPr/>
          <p:nvPr/>
        </p:nvSpPr>
        <p:spPr>
          <a:xfrm>
            <a:off x="2232000" y="1610077"/>
            <a:ext cx="3456000" cy="197902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friands et expressifs.</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2"/>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0" name="Image 4" descr="/home/user/philippe1/build/deco/sol-loire.png">    </p:cNvPr>
          <p:cNvPicPr>
            <a:picLocks noChangeAspect="1"/>
          </p:cNvPicPr>
          <p:nvPr/>
        </p:nvPicPr>
        <p:blipFill>
          <a:blip r:embed="rId5"/>
          <a:stretch>
            <a:fillRect/>
          </a:stretch>
        </p:blipFill>
        <p:spPr>
          <a:xfrm>
            <a:off x="612000" y="6214847"/>
            <a:ext cx="6120000" cy="1148400"/>
          </a:xfrm>
          <a:prstGeom prst="rect">
            <a:avLst/>
          </a:prstGeom>
        </p:spPr>
      </p:pic>
      <p:sp>
        <p:nvSpPr>
          <p:cNvPr id="21" name="Shape 13"/>
          <p:cNvSpPr/>
          <p:nvPr/>
        </p:nvSpPr>
        <p:spPr>
          <a:xfrm>
            <a:off x="612000" y="8388000"/>
            <a:ext cx="6120000" cy="0"/>
          </a:xfrm>
          <a:prstGeom prst="line">
            <a:avLst/>
          </a:prstGeom>
          <a:noFill/>
          <a:ln w="8890">
            <a:solidFill>
              <a:srgbClr val="46606E"/>
            </a:solidFill>
            <a:prstDash val="solid"/>
          </a:ln>
        </p:spPr>
      </p:sp>
      <p:sp>
        <p:nvSpPr>
          <p:cNvPr id="22"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4"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5"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550" dirty="0">
                <a:solidFill>
                  <a:srgbClr val="46606E"/>
                </a:solidFill>
                <a:latin typeface="Young Serif" pitchFamily="34" charset="0"/>
                <a:ea typeface="Young Serif" pitchFamily="34" charset="-122"/>
                <a:cs typeface="Young Serif" pitchFamily="34" charset="-120"/>
              </a:rPr>
              <a:t>   Domaine du Colombier / J.Y Bretaudeau</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hv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828000" y="292666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5 Litres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10 Litres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828000" y="4808232"/>
            <a:ext cx="0" cy="288349"/>
          </a:xfrm>
          <a:prstGeom prst="line">
            <a:avLst/>
          </a:prstGeom>
          <a:noFill/>
          <a:ln w="17780">
            <a:solidFill>
              <a:srgbClr val="67067C"/>
            </a:solidFill>
            <a:prstDash val="solid"/>
          </a:ln>
        </p:spPr>
      </p:sp>
      <p:sp>
        <p:nvSpPr>
          <p:cNvPr id="17" name="Text 11"/>
          <p:cNvSpPr/>
          <p:nvPr/>
        </p:nvSpPr>
        <p:spPr>
          <a:xfrm>
            <a:off x="936000" y="480823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828000" y="524058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2" descr="/home/user/philippe1/build/deco/sol-loire.png">    </p:cNvPr>
          <p:cNvPicPr>
            <a:picLocks noChangeAspect="1"/>
          </p:cNvPicPr>
          <p:nvPr/>
        </p:nvPicPr>
        <p:blipFill>
          <a:blip r:embed="rId3"/>
          <a:stretch>
            <a:fillRect/>
          </a:stretch>
        </p:blipFill>
        <p:spPr>
          <a:xfrm>
            <a:off x="828000" y="5388182"/>
            <a:ext cx="6120000" cy="1455953"/>
          </a:xfrm>
          <a:prstGeom prst="rect">
            <a:avLst/>
          </a:prstGeom>
        </p:spPr>
      </p:pic>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4" name="Image 2" descr="portrait — Domaine des Noëls">    </p:cNvPr>
          <p:cNvPicPr>
            <a:picLocks noChangeAspect="1"/>
          </p:cNvPicPr>
          <p:nvPr/>
        </p:nvPicPr>
        <p:blipFill>
          <a:blip r:embed="rId3"/>
          <a:srcRect l="0" r="0" t="8302" b="16679"/>
          <a:stretch/>
        </p:blipFill>
        <p:spPr>
          <a:xfrm>
            <a:off x="612000" y="1357200"/>
            <a:ext cx="1440000" cy="1440000"/>
          </a:xfrm>
          <a:prstGeom prst="ellipse">
            <a:avLst/>
          </a:prstGeom>
        </p:spPr>
      </p:pic>
      <p:pic>
        <p:nvPicPr>
          <p:cNvPr id="15" name="Image 3" descr="Une bouteille du domaine Domaine des Noëls">    </p:cNvPr>
          <p:cNvPicPr>
            <a:picLocks noChangeAspect="1"/>
          </p:cNvPicPr>
          <p:nvPr/>
        </p:nvPicPr>
        <p:blipFill>
          <a:blip r:embed="rId4"/>
          <a:stretch>
            <a:fillRect/>
          </a:stretch>
        </p:blipFill>
        <p:spPr>
          <a:xfrm>
            <a:off x="6001180" y="1357200"/>
            <a:ext cx="597639" cy="2232000"/>
          </a:xfrm>
          <a:prstGeom prst="rect">
            <a:avLst/>
          </a:prstGeom>
        </p:spPr>
      </p:pic>
      <p:sp>
        <p:nvSpPr>
          <p:cNvPr id="16" name="Text 10"/>
          <p:cNvSpPr/>
          <p:nvPr/>
        </p:nvSpPr>
        <p:spPr>
          <a:xfrm>
            <a:off x="2177965" y="1477539"/>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232000" y="1614506"/>
            <a:ext cx="3456000" cy="197459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7609847"/>
            <a:ext cx="0" cy="288349"/>
          </a:xfrm>
          <a:prstGeom prst="line">
            <a:avLst/>
          </a:prstGeom>
          <a:noFill/>
          <a:ln w="17780">
            <a:solidFill>
              <a:srgbClr val="67067C"/>
            </a:solidFill>
            <a:prstDash val="solid"/>
          </a:ln>
        </p:spPr>
      </p:sp>
      <p:sp>
        <p:nvSpPr>
          <p:cNvPr id="20" name="Text 13"/>
          <p:cNvSpPr/>
          <p:nvPr/>
        </p:nvSpPr>
        <p:spPr>
          <a:xfrm>
            <a:off x="720000" y="7609847"/>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fondateurs du chai — Chai Berteaud Manceau">    </p:cNvPr>
          <p:cNvPicPr>
            <a:picLocks noChangeAspect="1"/>
          </p:cNvPicPr>
          <p:nvPr/>
        </p:nvPicPr>
        <p:blipFill>
          <a:blip r:embed="rId3"/>
          <a:srcRect l="0" r="0" t="10078" b="20234"/>
          <a:stretch/>
        </p:blipFill>
        <p:spPr>
          <a:xfrm>
            <a:off x="828000" y="1357200"/>
            <a:ext cx="1440000" cy="1440000"/>
          </a:xfrm>
          <a:prstGeom prst="ellipse">
            <a:avLst/>
          </a:prstGeom>
        </p:spPr>
      </p:pic>
      <p:pic>
        <p:nvPicPr>
          <p:cNvPr id="15" name="Image 3" descr="Une bouteille du domaine Chai Berteaud Manceau">    </p:cNvPr>
          <p:cNvPicPr>
            <a:picLocks noChangeAspect="1"/>
          </p:cNvPicPr>
          <p:nvPr/>
        </p:nvPicPr>
        <p:blipFill>
          <a:blip r:embed="rId4"/>
          <a:stretch>
            <a:fillRect/>
          </a:stretch>
        </p:blipFill>
        <p:spPr>
          <a:xfrm>
            <a:off x="6214131" y="1357200"/>
            <a:ext cx="603738" cy="2232000"/>
          </a:xfrm>
          <a:prstGeom prst="rect">
            <a:avLst/>
          </a:prstGeom>
        </p:spPr>
      </p:pic>
      <p:sp>
        <p:nvSpPr>
          <p:cNvPr id="16" name="Text 10"/>
          <p:cNvSpPr/>
          <p:nvPr/>
        </p:nvSpPr>
        <p:spPr>
          <a:xfrm>
            <a:off x="2394017" y="1488545"/>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606934"/>
            <a:ext cx="3456000" cy="19821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301523"/>
            <a:ext cx="0" cy="288349"/>
          </a:xfrm>
          <a:prstGeom prst="line">
            <a:avLst/>
          </a:prstGeom>
          <a:noFill/>
          <a:ln w="17780">
            <a:solidFill>
              <a:srgbClr val="67067C"/>
            </a:solidFill>
            <a:prstDash val="solid"/>
          </a:ln>
        </p:spPr>
      </p:sp>
      <p:sp>
        <p:nvSpPr>
          <p:cNvPr id="20" name="Text 13"/>
          <p:cNvSpPr/>
          <p:nvPr/>
        </p:nvSpPr>
        <p:spPr>
          <a:xfrm>
            <a:off x="936000" y="530152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73387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sol-loire.png">    </p:cNvPr>
          <p:cNvPicPr>
            <a:picLocks noChangeAspect="1"/>
          </p:cNvPicPr>
          <p:nvPr/>
        </p:nvPicPr>
        <p:blipFill>
          <a:blip r:embed="rId5"/>
          <a:stretch>
            <a:fillRect/>
          </a:stretch>
        </p:blipFill>
        <p:spPr>
          <a:xfrm>
            <a:off x="828000" y="5881472"/>
            <a:ext cx="6120000" cy="1315444"/>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is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49595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9595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927344"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27344"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70901"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7090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6" name="Image 2" descr="dans les vignes — Domaine Jean de Villebois">    </p:cNvPr>
          <p:cNvPicPr>
            <a:picLocks noChangeAspect="1"/>
          </p:cNvPicPr>
          <p:nvPr/>
        </p:nvPicPr>
        <p:blipFill>
          <a:blip r:embed="rId3"/>
          <a:srcRect l="2667" r="30666" t="0" b="0"/>
          <a:stretch/>
        </p:blipFill>
        <p:spPr>
          <a:xfrm>
            <a:off x="612000" y="1357200"/>
            <a:ext cx="1440000" cy="1440000"/>
          </a:xfrm>
          <a:prstGeom prst="ellipse">
            <a:avLst/>
          </a:prstGeom>
        </p:spPr>
      </p:pic>
      <p:pic>
        <p:nvPicPr>
          <p:cNvPr id="17" name="Image 3" descr="Une bouteille du domaine Domaine Jean de Villebois">    </p:cNvPr>
          <p:cNvPicPr>
            <a:picLocks noChangeAspect="1"/>
          </p:cNvPicPr>
          <p:nvPr/>
        </p:nvPicPr>
        <p:blipFill>
          <a:blip r:embed="rId4"/>
          <a:stretch>
            <a:fillRect/>
          </a:stretch>
        </p:blipFill>
        <p:spPr>
          <a:xfrm>
            <a:off x="5993557" y="1357200"/>
            <a:ext cx="612885" cy="2232000"/>
          </a:xfrm>
          <a:prstGeom prst="rect">
            <a:avLst/>
          </a:prstGeom>
        </p:spPr>
      </p:pic>
      <p:sp>
        <p:nvSpPr>
          <p:cNvPr id="18" name="Text 12"/>
          <p:cNvSpPr/>
          <p:nvPr/>
        </p:nvSpPr>
        <p:spPr>
          <a:xfrm>
            <a:off x="2177960" y="1493390"/>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603600"/>
            <a:ext cx="3456000" cy="19855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568252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sol-loire.png">    </p:cNvPr>
          <p:cNvPicPr>
            <a:picLocks noChangeAspect="1"/>
          </p:cNvPicPr>
          <p:nvPr/>
        </p:nvPicPr>
        <p:blipFill>
          <a:blip r:embed="rId5"/>
          <a:stretch>
            <a:fillRect/>
          </a:stretch>
        </p:blipFill>
        <p:spPr>
          <a:xfrm>
            <a:off x="612000" y="5830126"/>
            <a:ext cx="6120000" cy="1148400"/>
          </a:xfrm>
          <a:prstGeom prst="rect">
            <a:avLst/>
          </a:prstGeom>
        </p:spPr>
      </p:pic>
      <p:sp>
        <p:nvSpPr>
          <p:cNvPr id="23"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13</a:t>
            </a:r>
            <a:endParaRPr lang="en-US" sz="740" dirty="0"/>
          </a:p>
        </p:txBody>
      </p:sp>
      <p:sp>
        <p:nvSpPr>
          <p:cNvPr id="24" name="Shape 16"/>
          <p:cNvSpPr/>
          <p:nvPr/>
        </p:nvSpPr>
        <p:spPr>
          <a:xfrm>
            <a:off x="612000" y="8388000"/>
            <a:ext cx="6120000" cy="0"/>
          </a:xfrm>
          <a:prstGeom prst="line">
            <a:avLst/>
          </a:prstGeom>
          <a:noFill/>
          <a:ln w="8890">
            <a:solidFill>
              <a:srgbClr val="46606E"/>
            </a:solidFill>
            <a:prstDash val="solid"/>
          </a:ln>
        </p:spPr>
      </p:sp>
      <p:sp>
        <p:nvSpPr>
          <p:cNvPr id="25"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is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71195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1195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3143344"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3143344"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4086901"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08690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5044050"/>
            <a:ext cx="0" cy="288349"/>
          </a:xfrm>
          <a:prstGeom prst="line">
            <a:avLst/>
          </a:prstGeom>
          <a:noFill/>
          <a:ln w="17780">
            <a:solidFill>
              <a:srgbClr val="67067C"/>
            </a:solidFill>
            <a:prstDash val="solid"/>
          </a:ln>
        </p:spPr>
      </p:sp>
      <p:sp>
        <p:nvSpPr>
          <p:cNvPr id="18" name="Text 13"/>
          <p:cNvSpPr/>
          <p:nvPr/>
        </p:nvSpPr>
        <p:spPr>
          <a:xfrm>
            <a:off x="936000" y="504405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9" name="Text 14"/>
          <p:cNvSpPr/>
          <p:nvPr/>
        </p:nvSpPr>
        <p:spPr>
          <a:xfrm>
            <a:off x="828000" y="547639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0" name="Image 2" descr="/home/user/philippe1/build/deco/sol-loire.png">    </p:cNvPr>
          <p:cNvPicPr>
            <a:picLocks noChangeAspect="1"/>
          </p:cNvPicPr>
          <p:nvPr/>
        </p:nvPicPr>
        <p:blipFill>
          <a:blip r:embed="rId3"/>
          <a:stretch>
            <a:fillRect/>
          </a:stretch>
        </p:blipFill>
        <p:spPr>
          <a:xfrm>
            <a:off x="828000" y="5623999"/>
            <a:ext cx="6120000" cy="1227219"/>
          </a:xfrm>
          <a:prstGeom prst="rect">
            <a:avLst/>
          </a:prstGeom>
        </p:spPr>
      </p:pic>
      <p:sp>
        <p:nvSpPr>
          <p:cNvPr id="21"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13</a:t>
            </a:r>
            <a:endParaRPr lang="en-US" sz="740" dirty="0"/>
          </a:p>
        </p:txBody>
      </p:sp>
      <p:sp>
        <p:nvSpPr>
          <p:cNvPr id="22" name="Shape 16"/>
          <p:cNvSpPr/>
          <p:nvPr/>
        </p:nvSpPr>
        <p:spPr>
          <a:xfrm>
            <a:off x="828000" y="8388000"/>
            <a:ext cx="6120000" cy="0"/>
          </a:xfrm>
          <a:prstGeom prst="line">
            <a:avLst/>
          </a:prstGeom>
          <a:noFill/>
          <a:ln w="8890">
            <a:solidFill>
              <a:srgbClr val="46606E"/>
            </a:solidFill>
            <a:prstDash val="solid"/>
          </a:ln>
        </p:spPr>
      </p:sp>
      <p:sp>
        <p:nvSpPr>
          <p:cNvPr id="23"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4"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5"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6"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612000" y="13572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5956967" y="1357200"/>
            <a:ext cx="686066" cy="2232000"/>
          </a:xfrm>
          <a:prstGeom prst="rect">
            <a:avLst/>
          </a:prstGeom>
        </p:spPr>
      </p:pic>
      <p:sp>
        <p:nvSpPr>
          <p:cNvPr id="13" name="Text 8"/>
          <p:cNvSpPr/>
          <p:nvPr/>
        </p:nvSpPr>
        <p:spPr>
          <a:xfrm>
            <a:off x="2178033" y="1347672"/>
            <a:ext cx="251342" cy="451714"/>
          </a:xfrm>
          <a:prstGeom prst="rect">
            <a:avLst/>
          </a:prstGeom>
          <a:noFill/>
          <a:ln/>
        </p:spPr>
        <p:txBody>
          <a:bodyPr wrap="square" lIns="0" tIns="0" rIns="0" bIns="0" rtlCol="0" anchor="t"/>
          <a:lstStyle/>
          <a:p>
            <a:pPr algn="r" indent="0" marL="0">
              <a:lnSpc>
                <a:spcPct val="125000"/>
              </a:lnSpc>
              <a:buNone/>
            </a:pPr>
            <a:r>
              <a:rPr lang="en-US" sz="2223" dirty="0">
                <a:solidFill>
                  <a:srgbClr val="67067C"/>
                </a:solidFill>
                <a:latin typeface="Young Serif" pitchFamily="34" charset="0"/>
                <a:ea typeface="Young Serif" pitchFamily="34" charset="-122"/>
                <a:cs typeface="Young Serif" pitchFamily="34" charset="-120"/>
              </a:rPr>
              <a:t>L</a:t>
            </a:r>
            <a:endParaRPr lang="en-US" sz="2223" dirty="0"/>
          </a:p>
        </p:txBody>
      </p:sp>
      <p:sp>
        <p:nvSpPr>
          <p:cNvPr id="14" name="Text 9"/>
          <p:cNvSpPr/>
          <p:nvPr/>
        </p:nvSpPr>
        <p:spPr>
          <a:xfrm>
            <a:off x="2232000" y="1466412"/>
            <a:ext cx="3456000" cy="212268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612000" y="7163809"/>
            <a:ext cx="0" cy="288349"/>
          </a:xfrm>
          <a:prstGeom prst="line">
            <a:avLst/>
          </a:prstGeom>
          <a:noFill/>
          <a:ln w="17780">
            <a:solidFill>
              <a:srgbClr val="67067C"/>
            </a:solidFill>
            <a:prstDash val="solid"/>
          </a:ln>
        </p:spPr>
      </p:sp>
      <p:sp>
        <p:nvSpPr>
          <p:cNvPr id="17" name="Text 11"/>
          <p:cNvSpPr/>
          <p:nvPr/>
        </p:nvSpPr>
        <p:spPr>
          <a:xfrm>
            <a:off x="720000" y="7163809"/>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11</a:t>
            </a:r>
            <a:endParaRPr lang="en-US" sz="740" dirty="0"/>
          </a:p>
        </p:txBody>
      </p:sp>
      <p:sp>
        <p:nvSpPr>
          <p:cNvPr id="19" name="Shape 13"/>
          <p:cNvSpPr/>
          <p:nvPr/>
        </p:nvSpPr>
        <p:spPr>
          <a:xfrm>
            <a:off x="612000" y="8388000"/>
            <a:ext cx="6120000" cy="0"/>
          </a:xfrm>
          <a:prstGeom prst="line">
            <a:avLst/>
          </a:prstGeom>
          <a:noFill/>
          <a:ln w="8890">
            <a:solidFill>
              <a:srgbClr val="46606E"/>
            </a:solidFill>
            <a:prstDash val="solid"/>
          </a:ln>
        </p:spPr>
      </p:sp>
      <p:sp>
        <p:nvSpPr>
          <p:cNvPr id="20"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1"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2"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3"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alsa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alsac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2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Alsace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coteaux du Bruderthal</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15</a:t>
            </a:r>
            <a:endParaRPr lang="en-US" sz="2000" dirty="0"/>
          </a:p>
        </p:txBody>
      </p:sp>
      <p:sp>
        <p:nvSpPr>
          <p:cNvPr id="11" name="Text 7"/>
          <p:cNvSpPr/>
          <p:nvPr/>
        </p:nvSpPr>
        <p:spPr>
          <a:xfrm>
            <a:off x="1836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8   </a:t>
            </a:r>
            <a:r>
              <a:rPr lang="en-US" sz="860" dirty="0">
                <a:solidFill>
                  <a:srgbClr val="FBF8F1"/>
                </a:solidFill>
                <a:latin typeface="IBM Plex Sans" pitchFamily="34" charset="0"/>
                <a:ea typeface="IBM Plex Sans" pitchFamily="34" charset="-122"/>
                <a:cs typeface="IBM Plex Sans" pitchFamily="34" charset="-120"/>
              </a:rPr>
              <a:t>Domaine Boehler</a:t>
            </a:r>
            <a:r>
              <a:rPr lang="en-US" sz="860" b="1" dirty="0">
                <a:solidFill>
                  <a:srgbClr val="FBF8F1"/>
                </a:solidFill>
                <a:latin typeface="IBM Plex Sans" pitchFamily="34" charset="0"/>
                <a:ea typeface="IBM Plex Sans" pitchFamily="34" charset="-122"/>
                <a:cs typeface="IBM Plex Sans" pitchFamily="34" charset="-120"/>
              </a:rPr>
              <a:t>   15</a:t>
            </a:r>
            <a:endParaRPr lang="en-US" sz="860" dirty="0"/>
          </a:p>
        </p:txBody>
      </p:sp>
      <p:sp>
        <p:nvSpPr>
          <p:cNvPr id="13" name="Text 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14</a:t>
            </a:r>
            <a:endParaRPr lang="en-US" sz="750" dirty="0"/>
          </a:p>
        </p:txBody>
      </p:sp>
      <p:sp>
        <p:nvSpPr>
          <p:cNvPr id="14" name="Text 1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4" name="Image 2" descr="logo du domaine — Domaine Boehler">    </p:cNvPr>
          <p:cNvPicPr>
            <a:picLocks noChangeAspect="1"/>
          </p:cNvPicPr>
          <p:nvPr/>
        </p:nvPicPr>
        <p:blipFill>
          <a:blip r:embed="rId3"/>
          <a:stretch>
            <a:fillRect/>
          </a:stretch>
        </p:blipFill>
        <p:spPr>
          <a:xfrm>
            <a:off x="612000" y="1357200"/>
            <a:ext cx="1440000" cy="1440000"/>
          </a:xfrm>
          <a:prstGeom prst="rect">
            <a:avLst/>
          </a:prstGeom>
        </p:spPr>
      </p:pic>
      <p:pic>
        <p:nvPicPr>
          <p:cNvPr id="15" name="Image 3" descr="Une bouteille du domaine Domaine Boehler">    </p:cNvPr>
          <p:cNvPicPr>
            <a:picLocks noChangeAspect="1"/>
          </p:cNvPicPr>
          <p:nvPr/>
        </p:nvPicPr>
        <p:blipFill>
          <a:blip r:embed="rId4"/>
          <a:stretch>
            <a:fillRect/>
          </a:stretch>
        </p:blipFill>
        <p:spPr>
          <a:xfrm>
            <a:off x="6056066" y="1357200"/>
            <a:ext cx="487869" cy="2232000"/>
          </a:xfrm>
          <a:prstGeom prst="rect">
            <a:avLst/>
          </a:prstGeom>
        </p:spPr>
      </p:pic>
      <p:sp>
        <p:nvSpPr>
          <p:cNvPr id="16" name="Text 10"/>
          <p:cNvSpPr/>
          <p:nvPr/>
        </p:nvSpPr>
        <p:spPr>
          <a:xfrm>
            <a:off x="2177956" y="1351894"/>
            <a:ext cx="251419" cy="439318"/>
          </a:xfrm>
          <a:prstGeom prst="rect">
            <a:avLst/>
          </a:prstGeom>
          <a:noFill/>
          <a:ln/>
        </p:spPr>
        <p:txBody>
          <a:bodyPr wrap="square" lIns="0" tIns="0" rIns="0" bIns="0" rtlCol="0" anchor="t"/>
          <a:lstStyle/>
          <a:p>
            <a:pPr algn="r" indent="0" marL="0">
              <a:lnSpc>
                <a:spcPct val="125900"/>
              </a:lnSpc>
              <a:buNone/>
            </a:pPr>
            <a:r>
              <a:rPr lang="en-US" sz="2162" dirty="0">
                <a:solidFill>
                  <a:srgbClr val="67067C"/>
                </a:solidFill>
                <a:latin typeface="Young Serif" pitchFamily="34" charset="0"/>
                <a:ea typeface="Young Serif" pitchFamily="34" charset="-122"/>
                <a:cs typeface="Young Serif" pitchFamily="34" charset="-120"/>
              </a:rPr>
              <a:t>B</a:t>
            </a:r>
            <a:endParaRPr lang="en-US" sz="2162" dirty="0"/>
          </a:p>
        </p:txBody>
      </p:sp>
      <p:sp>
        <p:nvSpPr>
          <p:cNvPr id="17" name="Text 11"/>
          <p:cNvSpPr/>
          <p:nvPr/>
        </p:nvSpPr>
        <p:spPr>
          <a:xfrm>
            <a:off x="2232000" y="1463507"/>
            <a:ext cx="3456000" cy="212559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2"/>
          <p:cNvSpPr/>
          <p:nvPr/>
        </p:nvSpPr>
        <p:spPr>
          <a:xfrm>
            <a:off x="612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ALSACE — COTEAUX DU BRUDERTHAL</a:t>
            </a:r>
            <a:endParaRPr lang="en-US" sz="720" dirty="0"/>
          </a:p>
        </p:txBody>
      </p:sp>
      <p:pic>
        <p:nvPicPr>
          <p:cNvPr id="20" name="Image 4" descr="/home/user/philippe1/build/deco/sol-alsace.png">    </p:cNvPr>
          <p:cNvPicPr>
            <a:picLocks noChangeAspect="1"/>
          </p:cNvPicPr>
          <p:nvPr/>
        </p:nvPicPr>
        <p:blipFill>
          <a:blip r:embed="rId5"/>
          <a:stretch>
            <a:fillRect/>
          </a:stretch>
        </p:blipFill>
        <p:spPr>
          <a:xfrm>
            <a:off x="612000" y="6276164"/>
            <a:ext cx="6120000" cy="1148400"/>
          </a:xfrm>
          <a:prstGeom prst="rect">
            <a:avLst/>
          </a:prstGeom>
        </p:spPr>
      </p:pic>
      <p:sp>
        <p:nvSpPr>
          <p:cNvPr id="21" name="Shape 13"/>
          <p:cNvSpPr/>
          <p:nvPr/>
        </p:nvSpPr>
        <p:spPr>
          <a:xfrm>
            <a:off x="612000" y="8388000"/>
            <a:ext cx="6120000" cy="0"/>
          </a:xfrm>
          <a:prstGeom prst="line">
            <a:avLst/>
          </a:prstGeom>
          <a:noFill/>
          <a:ln w="8890">
            <a:solidFill>
              <a:srgbClr val="46606E"/>
            </a:solidFill>
            <a:prstDash val="solid"/>
          </a:ln>
        </p:spPr>
      </p:sp>
      <p:sp>
        <p:nvSpPr>
          <p:cNvPr id="22"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3"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4"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5"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alsa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5" name="Shape 10"/>
          <p:cNvSpPr/>
          <p:nvPr/>
        </p:nvSpPr>
        <p:spPr>
          <a:xfrm>
            <a:off x="828000" y="5605430"/>
            <a:ext cx="0" cy="288349"/>
          </a:xfrm>
          <a:prstGeom prst="line">
            <a:avLst/>
          </a:prstGeom>
          <a:noFill/>
          <a:ln w="17780">
            <a:solidFill>
              <a:srgbClr val="67067C"/>
            </a:solidFill>
            <a:prstDash val="solid"/>
          </a:ln>
        </p:spPr>
      </p:sp>
      <p:sp>
        <p:nvSpPr>
          <p:cNvPr id="16" name="Text 11"/>
          <p:cNvSpPr/>
          <p:nvPr/>
        </p:nvSpPr>
        <p:spPr>
          <a:xfrm>
            <a:off x="936000" y="5605430"/>
            <a:ext cx="6012000" cy="288349"/>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17" name="Text 12"/>
          <p:cNvSpPr/>
          <p:nvPr/>
        </p:nvSpPr>
        <p:spPr>
          <a:xfrm>
            <a:off x="828000" y="603777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ALSACE — COTEAUX DU BRUDERTHAL</a:t>
            </a:r>
            <a:endParaRPr lang="en-US" sz="720" dirty="0"/>
          </a:p>
        </p:txBody>
      </p:sp>
      <p:pic>
        <p:nvPicPr>
          <p:cNvPr id="18" name="Image 2" descr="/home/user/philippe1/build/deco/sol-alsace.png">    </p:cNvPr>
          <p:cNvPicPr>
            <a:picLocks noChangeAspect="1"/>
          </p:cNvPicPr>
          <p:nvPr/>
        </p:nvPicPr>
        <p:blipFill>
          <a:blip r:embed="rId3"/>
          <a:stretch>
            <a:fillRect/>
          </a:stretch>
        </p:blipFill>
        <p:spPr>
          <a:xfrm>
            <a:off x="828000" y="6185379"/>
            <a:ext cx="6120000" cy="1148400"/>
          </a:xfrm>
          <a:prstGeom prst="rect">
            <a:avLst/>
          </a:prstGeom>
        </p:spPr>
      </p:pic>
      <p:sp>
        <p:nvSpPr>
          <p:cNvPr id="19" name="Shape 13"/>
          <p:cNvSpPr/>
          <p:nvPr/>
        </p:nvSpPr>
        <p:spPr>
          <a:xfrm>
            <a:off x="828000" y="8388000"/>
            <a:ext cx="6120000" cy="0"/>
          </a:xfrm>
          <a:prstGeom prst="line">
            <a:avLst/>
          </a:prstGeom>
          <a:noFill/>
          <a:ln w="8890">
            <a:solidFill>
              <a:srgbClr val="46606E"/>
            </a:solidFill>
            <a:prstDash val="solid"/>
          </a:ln>
        </p:spPr>
      </p:sp>
      <p:sp>
        <p:nvSpPr>
          <p:cNvPr id="20" name="Text 14"/>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1"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2"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3"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beaujolais.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beaujolais.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3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Beaujolais</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le Clos des Nugues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9   </a:t>
            </a:r>
            <a:r>
              <a:rPr lang="en-US" sz="860" dirty="0">
                <a:solidFill>
                  <a:srgbClr val="FBF8F1"/>
                </a:solidFill>
                <a:latin typeface="IBM Plex Sans" pitchFamily="34" charset="0"/>
                <a:ea typeface="IBM Plex Sans" pitchFamily="34" charset="-122"/>
                <a:cs typeface="IBM Plex Sans" pitchFamily="34" charset="-120"/>
              </a:rPr>
              <a:t>Domaine des Nugues</a:t>
            </a:r>
            <a:r>
              <a:rPr lang="en-US" sz="860" b="1" dirty="0">
                <a:solidFill>
                  <a:srgbClr val="FBF8F1"/>
                </a:solidFill>
                <a:latin typeface="IBM Plex Sans" pitchFamily="34" charset="0"/>
                <a:ea typeface="IBM Plex Sans" pitchFamily="34" charset="-122"/>
                <a:cs typeface="IBM Plex Sans" pitchFamily="34" charset="-120"/>
              </a:rPr>
              <a:t>   18</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17</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hv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es vignerons — Domaine des Nugues">    </p:cNvPr>
          <p:cNvPicPr>
            <a:picLocks noChangeAspect="1"/>
          </p:cNvPicPr>
          <p:nvPr/>
        </p:nvPicPr>
        <p:blipFill>
          <a:blip r:embed="rId3"/>
          <a:srcRect l="0" r="0" t="10991" b="22342"/>
          <a:stretch/>
        </p:blipFill>
        <p:spPr>
          <a:xfrm>
            <a:off x="828000" y="1357200"/>
            <a:ext cx="1440000" cy="1440000"/>
          </a:xfrm>
          <a:prstGeom prst="ellipse">
            <a:avLst/>
          </a:prstGeom>
        </p:spPr>
      </p:pic>
      <p:pic>
        <p:nvPicPr>
          <p:cNvPr id="15" name="Image 3" descr="Une bouteille du domaine Domaine des Nugues">    </p:cNvPr>
          <p:cNvPicPr>
            <a:picLocks noChangeAspect="1"/>
          </p:cNvPicPr>
          <p:nvPr/>
        </p:nvPicPr>
        <p:blipFill>
          <a:blip r:embed="rId4"/>
          <a:stretch>
            <a:fillRect/>
          </a:stretch>
        </p:blipFill>
        <p:spPr>
          <a:xfrm>
            <a:off x="6226328" y="1357200"/>
            <a:ext cx="579344" cy="2232000"/>
          </a:xfrm>
          <a:prstGeom prst="rect">
            <a:avLst/>
          </a:prstGeom>
        </p:spPr>
      </p:pic>
      <p:sp>
        <p:nvSpPr>
          <p:cNvPr id="16" name="Text 10"/>
          <p:cNvSpPr/>
          <p:nvPr/>
        </p:nvSpPr>
        <p:spPr>
          <a:xfrm>
            <a:off x="2393990" y="1270119"/>
            <a:ext cx="235510" cy="384658"/>
          </a:xfrm>
          <a:prstGeom prst="rect">
            <a:avLst/>
          </a:prstGeom>
          <a:noFill/>
          <a:ln/>
        </p:spPr>
        <p:txBody>
          <a:bodyPr wrap="square" lIns="0" tIns="0" rIns="0" bIns="0" rtlCol="0" anchor="t"/>
          <a:lstStyle/>
          <a:p>
            <a:pPr algn="r" indent="0" marL="0">
              <a:lnSpc>
                <a:spcPct val="121900"/>
              </a:lnSpc>
              <a:buNone/>
            </a:pPr>
            <a:r>
              <a:rPr lang="en-US" sz="1893" dirty="0">
                <a:solidFill>
                  <a:srgbClr val="67067C"/>
                </a:solidFill>
                <a:latin typeface="Young Serif" pitchFamily="34" charset="0"/>
                <a:ea typeface="Young Serif" pitchFamily="34" charset="-122"/>
                <a:cs typeface="Young Serif" pitchFamily="34" charset="-120"/>
              </a:rPr>
              <a:t>E</a:t>
            </a:r>
            <a:endParaRPr lang="en-US" sz="1893" dirty="0"/>
          </a:p>
        </p:txBody>
      </p:sp>
      <p:sp>
        <p:nvSpPr>
          <p:cNvPr id="17" name="Text 11"/>
          <p:cNvSpPr/>
          <p:nvPr/>
        </p:nvSpPr>
        <p:spPr>
          <a:xfrm>
            <a:off x="2448000" y="1382839"/>
            <a:ext cx="3456000" cy="2206261"/>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7225126"/>
            <a:ext cx="0" cy="288349"/>
          </a:xfrm>
          <a:prstGeom prst="line">
            <a:avLst/>
          </a:prstGeom>
          <a:noFill/>
          <a:ln w="17780">
            <a:solidFill>
              <a:srgbClr val="67067C"/>
            </a:solidFill>
            <a:prstDash val="solid"/>
          </a:ln>
        </p:spPr>
      </p:sp>
      <p:sp>
        <p:nvSpPr>
          <p:cNvPr id="20" name="Text 13"/>
          <p:cNvSpPr/>
          <p:nvPr/>
        </p:nvSpPr>
        <p:spPr>
          <a:xfrm>
            <a:off x="936000" y="722512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bourgo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bourgo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4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Bourgogne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climats et terrasses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57</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10   </a:t>
            </a:r>
            <a:r>
              <a:rPr lang="en-US" sz="860" dirty="0">
                <a:solidFill>
                  <a:srgbClr val="FBF8F1"/>
                </a:solidFill>
                <a:latin typeface="IBM Plex Sans" pitchFamily="34" charset="0"/>
                <a:ea typeface="IBM Plex Sans" pitchFamily="34" charset="-122"/>
                <a:cs typeface="IBM Plex Sans" pitchFamily="34" charset="-120"/>
              </a:rPr>
              <a:t>Domaine Sébastien Magnien</a:t>
            </a:r>
            <a:r>
              <a:rPr lang="en-US" sz="860" b="1" dirty="0">
                <a:solidFill>
                  <a:srgbClr val="FBF8F1"/>
                </a:solidFill>
                <a:latin typeface="IBM Plex Sans" pitchFamily="34" charset="0"/>
                <a:ea typeface="IBM Plex Sans" pitchFamily="34" charset="-122"/>
                <a:cs typeface="IBM Plex Sans" pitchFamily="34" charset="-120"/>
              </a:rPr>
              <a:t>   20</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11   </a:t>
            </a:r>
            <a:r>
              <a:rPr lang="en-US" sz="860" dirty="0">
                <a:solidFill>
                  <a:srgbClr val="FBF8F1"/>
                </a:solidFill>
                <a:latin typeface="IBM Plex Sans" pitchFamily="34" charset="0"/>
                <a:ea typeface="IBM Plex Sans" pitchFamily="34" charset="-122"/>
                <a:cs typeface="IBM Plex Sans" pitchFamily="34" charset="-120"/>
              </a:rPr>
              <a:t>Domaine Nadine Ferrand</a:t>
            </a:r>
            <a:r>
              <a:rPr lang="en-US" sz="860" b="1" dirty="0">
                <a:solidFill>
                  <a:srgbClr val="FBF8F1"/>
                </a:solidFill>
                <a:latin typeface="IBM Plex Sans" pitchFamily="34" charset="0"/>
                <a:ea typeface="IBM Plex Sans" pitchFamily="34" charset="-122"/>
                <a:cs typeface="IBM Plex Sans" pitchFamily="34" charset="-120"/>
              </a:rPr>
              <a:t>   22</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12   </a:t>
            </a:r>
            <a:r>
              <a:rPr lang="en-US" sz="860" dirty="0">
                <a:solidFill>
                  <a:srgbClr val="FBF8F1"/>
                </a:solidFill>
                <a:latin typeface="IBM Plex Sans" pitchFamily="34" charset="0"/>
                <a:ea typeface="IBM Plex Sans" pitchFamily="34" charset="-122"/>
                <a:cs typeface="IBM Plex Sans" pitchFamily="34" charset="-120"/>
              </a:rPr>
              <a:t>Maison et Domaine André Goichot</a:t>
            </a:r>
            <a:r>
              <a:rPr lang="en-US" sz="860" b="1" dirty="0">
                <a:solidFill>
                  <a:srgbClr val="FBF8F1"/>
                </a:solidFill>
                <a:latin typeface="IBM Plex Sans" pitchFamily="34" charset="0"/>
                <a:ea typeface="IBM Plex Sans" pitchFamily="34" charset="-122"/>
                <a:cs typeface="IBM Plex Sans" pitchFamily="34" charset="-120"/>
              </a:rPr>
              <a:t>   23</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13   </a:t>
            </a:r>
            <a:r>
              <a:rPr lang="en-US" sz="860" dirty="0">
                <a:solidFill>
                  <a:srgbClr val="FBF8F1"/>
                </a:solidFill>
                <a:latin typeface="IBM Plex Sans" pitchFamily="34" charset="0"/>
                <a:ea typeface="IBM Plex Sans" pitchFamily="34" charset="-122"/>
                <a:cs typeface="IBM Plex Sans" pitchFamily="34" charset="-120"/>
              </a:rPr>
              <a:t>Château du Cray</a:t>
            </a:r>
            <a:r>
              <a:rPr lang="en-US" sz="860" b="1" dirty="0">
                <a:solidFill>
                  <a:srgbClr val="FBF8F1"/>
                </a:solidFill>
                <a:latin typeface="IBM Plex Sans" pitchFamily="34" charset="0"/>
                <a:ea typeface="IBM Plex Sans" pitchFamily="34" charset="-122"/>
                <a:cs typeface="IBM Plex Sans" pitchFamily="34" charset="-120"/>
              </a:rPr>
              <a:t>   25</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14   </a:t>
            </a:r>
            <a:r>
              <a:rPr lang="en-US" sz="860" dirty="0">
                <a:solidFill>
                  <a:srgbClr val="FBF8F1"/>
                </a:solidFill>
                <a:latin typeface="IBM Plex Sans" pitchFamily="34" charset="0"/>
                <a:ea typeface="IBM Plex Sans" pitchFamily="34" charset="-122"/>
                <a:cs typeface="IBM Plex Sans" pitchFamily="34" charset="-120"/>
              </a:rPr>
              <a:t>Domaine Les Guignottes</a:t>
            </a:r>
            <a:r>
              <a:rPr lang="en-US" sz="860" b="1" dirty="0">
                <a:solidFill>
                  <a:srgbClr val="FBF8F1"/>
                </a:solidFill>
                <a:latin typeface="IBM Plex Sans" pitchFamily="34" charset="0"/>
                <a:ea typeface="IBM Plex Sans" pitchFamily="34" charset="-122"/>
                <a:cs typeface="IBM Plex Sans" pitchFamily="34" charset="-120"/>
              </a:rPr>
              <a:t>   26</a:t>
            </a:r>
            <a:endParaRPr lang="en-US" sz="860" dirty="0"/>
          </a:p>
        </p:txBody>
      </p:sp>
      <p:sp>
        <p:nvSpPr>
          <p:cNvPr id="17" name="Text 13"/>
          <p:cNvSpPr/>
          <p:nvPr/>
        </p:nvSpPr>
        <p:spPr>
          <a:xfrm>
            <a:off x="367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15   </a:t>
            </a:r>
            <a:r>
              <a:rPr lang="en-US" sz="860" dirty="0">
                <a:solidFill>
                  <a:srgbClr val="FBF8F1"/>
                </a:solidFill>
                <a:latin typeface="IBM Plex Sans" pitchFamily="34" charset="0"/>
                <a:ea typeface="IBM Plex Sans" pitchFamily="34" charset="-122"/>
                <a:cs typeface="IBM Plex Sans" pitchFamily="34" charset="-120"/>
              </a:rPr>
              <a:t>Domaine des Verchères</a:t>
            </a:r>
            <a:r>
              <a:rPr lang="en-US" sz="860" b="1" dirty="0">
                <a:solidFill>
                  <a:srgbClr val="FBF8F1"/>
                </a:solidFill>
                <a:latin typeface="IBM Plex Sans" pitchFamily="34" charset="0"/>
                <a:ea typeface="IBM Plex Sans" pitchFamily="34" charset="-122"/>
                <a:cs typeface="IBM Plex Sans" pitchFamily="34" charset="-120"/>
              </a:rPr>
              <a:t>   27</a:t>
            </a:r>
            <a:endParaRPr lang="en-US" sz="860" dirty="0"/>
          </a:p>
        </p:txBody>
      </p:sp>
      <p:sp>
        <p:nvSpPr>
          <p:cNvPr id="18"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19</a:t>
            </a:r>
            <a:endParaRPr lang="en-US" sz="750" dirty="0"/>
          </a:p>
        </p:txBody>
      </p:sp>
      <p:sp>
        <p:nvSpPr>
          <p:cNvPr id="19"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raisonne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217171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17171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88182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88182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346499"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346499"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6" name="Image 2" descr="portrait au chai, recadré au-dessus du verre — Domaine Sébastien Magnien">    </p:cNvPr>
          <p:cNvPicPr>
            <a:picLocks noChangeAspect="1"/>
          </p:cNvPicPr>
          <p:nvPr/>
        </p:nvPicPr>
        <p:blipFill>
          <a:blip r:embed="rId3"/>
          <a:stretch>
            <a:fillRect/>
          </a:stretch>
        </p:blipFill>
        <p:spPr>
          <a:xfrm>
            <a:off x="828000" y="1357200"/>
            <a:ext cx="1440000" cy="1440000"/>
          </a:xfrm>
          <a:prstGeom prst="rect">
            <a:avLst/>
          </a:prstGeom>
        </p:spPr>
      </p:pic>
      <p:pic>
        <p:nvPicPr>
          <p:cNvPr id="17" name="Image 3" descr="Une bouteille du domaine Domaine Sébastien Magnien">    </p:cNvPr>
          <p:cNvPicPr>
            <a:picLocks noChangeAspect="1"/>
          </p:cNvPicPr>
          <p:nvPr/>
        </p:nvPicPr>
        <p:blipFill>
          <a:blip r:embed="rId4"/>
          <a:stretch>
            <a:fillRect/>
          </a:stretch>
        </p:blipFill>
        <p:spPr>
          <a:xfrm>
            <a:off x="6223279" y="1357200"/>
            <a:ext cx="585443" cy="2232000"/>
          </a:xfrm>
          <a:prstGeom prst="rect">
            <a:avLst/>
          </a:prstGeom>
        </p:spPr>
      </p:pic>
      <p:sp>
        <p:nvSpPr>
          <p:cNvPr id="18" name="Text 12"/>
          <p:cNvSpPr/>
          <p:nvPr/>
        </p:nvSpPr>
        <p:spPr>
          <a:xfrm>
            <a:off x="2394024" y="1347810"/>
            <a:ext cx="168801" cy="451307"/>
          </a:xfrm>
          <a:prstGeom prst="rect">
            <a:avLst/>
          </a:prstGeom>
          <a:noFill/>
          <a:ln/>
        </p:spPr>
        <p:txBody>
          <a:bodyPr wrap="square" lIns="0" tIns="0" rIns="0" bIns="0" rtlCol="0" anchor="t"/>
          <a:lstStyle/>
          <a:p>
            <a:pPr algn="r" indent="0" marL="0">
              <a:lnSpc>
                <a:spcPct val="125000"/>
              </a:lnSpc>
              <a:buNone/>
            </a:pPr>
            <a:r>
              <a:rPr lang="en-US" sz="2221" dirty="0">
                <a:solidFill>
                  <a:srgbClr val="67067C"/>
                </a:solidFill>
                <a:latin typeface="Young Serif" pitchFamily="34" charset="0"/>
                <a:ea typeface="Young Serif" pitchFamily="34" charset="-122"/>
                <a:cs typeface="Young Serif" pitchFamily="34" charset="-120"/>
              </a:rPr>
              <a:t>I</a:t>
            </a:r>
            <a:endParaRPr lang="en-US" sz="2221" dirty="0"/>
          </a:p>
        </p:txBody>
      </p:sp>
      <p:sp>
        <p:nvSpPr>
          <p:cNvPr id="19" name="Text 13"/>
          <p:cNvSpPr/>
          <p:nvPr/>
        </p:nvSpPr>
        <p:spPr>
          <a:xfrm>
            <a:off x="2448000" y="1466316"/>
            <a:ext cx="3456000" cy="212278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828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sol-bourgogne.png">    </p:cNvPr>
          <p:cNvPicPr>
            <a:picLocks noChangeAspect="1"/>
          </p:cNvPicPr>
          <p:nvPr/>
        </p:nvPicPr>
        <p:blipFill>
          <a:blip r:embed="rId5"/>
          <a:stretch>
            <a:fillRect/>
          </a:stretch>
        </p:blipFill>
        <p:spPr>
          <a:xfrm>
            <a:off x="828000" y="6214847"/>
            <a:ext cx="6120000" cy="1148400"/>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raisonne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195571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95571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66582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66582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30499"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30499"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612000" y="5544113"/>
            <a:ext cx="0" cy="288349"/>
          </a:xfrm>
          <a:prstGeom prst="line">
            <a:avLst/>
          </a:prstGeom>
          <a:noFill/>
          <a:ln w="17780">
            <a:solidFill>
              <a:srgbClr val="67067C"/>
            </a:solidFill>
            <a:prstDash val="solid"/>
          </a:ln>
        </p:spPr>
      </p:sp>
      <p:sp>
        <p:nvSpPr>
          <p:cNvPr id="18" name="Text 13"/>
          <p:cNvSpPr/>
          <p:nvPr/>
        </p:nvSpPr>
        <p:spPr>
          <a:xfrm>
            <a:off x="720000" y="554411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9" name="Text 14"/>
          <p:cNvSpPr/>
          <p:nvPr/>
        </p:nvSpPr>
        <p:spPr>
          <a:xfrm>
            <a:off x="612000" y="597646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sol-bourgogne.png">    </p:cNvPr>
          <p:cNvPicPr>
            <a:picLocks noChangeAspect="1"/>
          </p:cNvPicPr>
          <p:nvPr/>
        </p:nvPicPr>
        <p:blipFill>
          <a:blip r:embed="rId3"/>
          <a:stretch>
            <a:fillRect/>
          </a:stretch>
        </p:blipFill>
        <p:spPr>
          <a:xfrm>
            <a:off x="612000" y="6124062"/>
            <a:ext cx="6120000" cy="1169890"/>
          </a:xfrm>
          <a:prstGeom prst="rect">
            <a:avLst/>
          </a:prstGeom>
        </p:spPr>
      </p:pic>
      <p:sp>
        <p:nvSpPr>
          <p:cNvPr id="21" name="Shape 15"/>
          <p:cNvSpPr/>
          <p:nvPr/>
        </p:nvSpPr>
        <p:spPr>
          <a:xfrm>
            <a:off x="612000" y="8388000"/>
            <a:ext cx="6120000" cy="0"/>
          </a:xfrm>
          <a:prstGeom prst="line">
            <a:avLst/>
          </a:prstGeom>
          <a:noFill/>
          <a:ln w="8890">
            <a:solidFill>
              <a:srgbClr val="46606E"/>
            </a:solidFill>
            <a:prstDash val="solid"/>
          </a:ln>
        </p:spPr>
      </p:sp>
      <p:sp>
        <p:nvSpPr>
          <p:cNvPr id="22"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5"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3572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1754" y="1357200"/>
            <a:ext cx="588492" cy="2232000"/>
          </a:xfrm>
          <a:prstGeom prst="rect">
            <a:avLst/>
          </a:prstGeom>
        </p:spPr>
      </p:pic>
      <p:sp>
        <p:nvSpPr>
          <p:cNvPr id="17" name="Text 12"/>
          <p:cNvSpPr/>
          <p:nvPr/>
        </p:nvSpPr>
        <p:spPr>
          <a:xfrm>
            <a:off x="2393990" y="1274606"/>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8" name="Text 13"/>
          <p:cNvSpPr/>
          <p:nvPr/>
        </p:nvSpPr>
        <p:spPr>
          <a:xfrm>
            <a:off x="2448000" y="1388865"/>
            <a:ext cx="3456000" cy="2200235"/>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6779088"/>
            <a:ext cx="0" cy="288349"/>
          </a:xfrm>
          <a:prstGeom prst="line">
            <a:avLst/>
          </a:prstGeom>
          <a:noFill/>
          <a:ln w="17780">
            <a:solidFill>
              <a:srgbClr val="67067C"/>
            </a:solidFill>
            <a:prstDash val="solid"/>
          </a:ln>
        </p:spPr>
      </p:sp>
      <p:sp>
        <p:nvSpPr>
          <p:cNvPr id="21" name="Text 15"/>
          <p:cNvSpPr/>
          <p:nvPr/>
        </p:nvSpPr>
        <p:spPr>
          <a:xfrm>
            <a:off x="936000" y="6779088"/>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828000" y="721143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3" name="Image 3" descr="/home/user/philippe1/build/deco/sol-bourgogne.png">    </p:cNvPr>
          <p:cNvPicPr>
            <a:picLocks noChangeAspect="1"/>
          </p:cNvPicPr>
          <p:nvPr/>
        </p:nvPicPr>
        <p:blipFill>
          <a:blip r:embed="rId4"/>
          <a:stretch>
            <a:fillRect/>
          </a:stretch>
        </p:blipFill>
        <p:spPr>
          <a:xfrm>
            <a:off x="828000" y="7359038"/>
            <a:ext cx="6120000" cy="729241"/>
          </a:xfrm>
          <a:prstGeom prst="rect">
            <a:avLst/>
          </a:prstGeom>
        </p:spPr>
      </p:pic>
      <p:sp>
        <p:nvSpPr>
          <p:cNvPr id="24" name="Shape 17"/>
          <p:cNvSpPr/>
          <p:nvPr/>
        </p:nvSpPr>
        <p:spPr>
          <a:xfrm>
            <a:off x="828000" y="8388000"/>
            <a:ext cx="6120000" cy="0"/>
          </a:xfrm>
          <a:prstGeom prst="line">
            <a:avLst/>
          </a:prstGeom>
          <a:noFill/>
          <a:ln w="8890">
            <a:solidFill>
              <a:srgbClr val="46606E"/>
            </a:solidFill>
            <a:prstDash val="solid"/>
          </a:ln>
        </p:spPr>
      </p:sp>
      <p:sp>
        <p:nvSpPr>
          <p:cNvPr id="25"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6"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7"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8"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219348"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929459" y="10476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929459"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360848"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60848"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6" name="Image 2" descr="deux portraits de la maison, côte à côte — Maison et Domaine André Goichot">    </p:cNvPr>
          <p:cNvPicPr>
            <a:picLocks noChangeAspect="1"/>
          </p:cNvPicPr>
          <p:nvPr/>
        </p:nvPicPr>
        <p:blipFill>
          <a:blip r:embed="rId3"/>
          <a:stretch>
            <a:fillRect/>
          </a:stretch>
        </p:blipFill>
        <p:spPr>
          <a:xfrm>
            <a:off x="612000" y="1357200"/>
            <a:ext cx="1440000" cy="1440000"/>
          </a:xfrm>
          <a:prstGeom prst="rect">
            <a:avLst/>
          </a:prstGeom>
        </p:spPr>
      </p:pic>
      <p:pic>
        <p:nvPicPr>
          <p:cNvPr id="17" name="Image 3" descr="Une bouteille du domaine Maison et Domaine André Goichot">    </p:cNvPr>
          <p:cNvPicPr>
            <a:picLocks noChangeAspect="1"/>
          </p:cNvPicPr>
          <p:nvPr/>
        </p:nvPicPr>
        <p:blipFill>
          <a:blip r:embed="rId4"/>
          <a:stretch>
            <a:fillRect/>
          </a:stretch>
        </p:blipFill>
        <p:spPr>
          <a:xfrm>
            <a:off x="6019475" y="1357200"/>
            <a:ext cx="561049" cy="2232000"/>
          </a:xfrm>
          <a:prstGeom prst="rect">
            <a:avLst/>
          </a:prstGeom>
        </p:spPr>
      </p:pic>
      <p:sp>
        <p:nvSpPr>
          <p:cNvPr id="18" name="Text 12"/>
          <p:cNvSpPr/>
          <p:nvPr/>
        </p:nvSpPr>
        <p:spPr>
          <a:xfrm>
            <a:off x="2178034" y="1627895"/>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232000" y="1748504"/>
            <a:ext cx="3456000" cy="184059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658665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sol-bourgogne.png">    </p:cNvPr>
          <p:cNvPicPr>
            <a:picLocks noChangeAspect="1"/>
          </p:cNvPicPr>
          <p:nvPr/>
        </p:nvPicPr>
        <p:blipFill>
          <a:blip r:embed="rId5"/>
          <a:stretch>
            <a:fillRect/>
          </a:stretch>
        </p:blipFill>
        <p:spPr>
          <a:xfrm>
            <a:off x="612000" y="6734257"/>
            <a:ext cx="6120000" cy="949507"/>
          </a:xfrm>
          <a:prstGeom prst="rect">
            <a:avLst/>
          </a:prstGeom>
        </p:spPr>
      </p:pic>
      <p:sp>
        <p:nvSpPr>
          <p:cNvPr id="23"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25 · n°14 p. 26</a:t>
            </a:r>
            <a:endParaRPr lang="en-US" sz="740" dirty="0"/>
          </a:p>
        </p:txBody>
      </p:sp>
      <p:sp>
        <p:nvSpPr>
          <p:cNvPr id="24" name="Shape 16"/>
          <p:cNvSpPr/>
          <p:nvPr/>
        </p:nvSpPr>
        <p:spPr>
          <a:xfrm>
            <a:off x="612000" y="8388000"/>
            <a:ext cx="6120000" cy="0"/>
          </a:xfrm>
          <a:prstGeom prst="line">
            <a:avLst/>
          </a:prstGeom>
          <a:noFill/>
          <a:ln w="8890">
            <a:solidFill>
              <a:srgbClr val="46606E"/>
            </a:solidFill>
            <a:prstDash val="solid"/>
          </a:ln>
        </p:spPr>
      </p:sp>
      <p:sp>
        <p:nvSpPr>
          <p:cNvPr id="25"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hv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435348"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45459" y="10476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45459"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576848"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76848"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42,90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137,70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2"/>
          <p:cNvSpPr/>
          <p:nvPr/>
        </p:nvSpPr>
        <p:spPr>
          <a:xfrm>
            <a:off x="828000" y="5817361"/>
            <a:ext cx="0" cy="288349"/>
          </a:xfrm>
          <a:prstGeom prst="line">
            <a:avLst/>
          </a:prstGeom>
          <a:noFill/>
          <a:ln w="17780">
            <a:solidFill>
              <a:srgbClr val="67067C"/>
            </a:solidFill>
            <a:prstDash val="solid"/>
          </a:ln>
        </p:spPr>
      </p:sp>
      <p:sp>
        <p:nvSpPr>
          <p:cNvPr id="18" name="Text 13"/>
          <p:cNvSpPr/>
          <p:nvPr/>
        </p:nvSpPr>
        <p:spPr>
          <a:xfrm>
            <a:off x="936000" y="5817361"/>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9" name="Text 14"/>
          <p:cNvSpPr/>
          <p:nvPr/>
        </p:nvSpPr>
        <p:spPr>
          <a:xfrm>
            <a:off x="828000" y="624971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sol-bourgogne.png">    </p:cNvPr>
          <p:cNvPicPr>
            <a:picLocks noChangeAspect="1"/>
          </p:cNvPicPr>
          <p:nvPr/>
        </p:nvPicPr>
        <p:blipFill>
          <a:blip r:embed="rId3"/>
          <a:stretch>
            <a:fillRect/>
          </a:stretch>
        </p:blipFill>
        <p:spPr>
          <a:xfrm>
            <a:off x="828000" y="6397310"/>
            <a:ext cx="6120000" cy="1148400"/>
          </a:xfrm>
          <a:prstGeom prst="rect">
            <a:avLst/>
          </a:prstGeom>
        </p:spPr>
      </p:pic>
      <p:sp>
        <p:nvSpPr>
          <p:cNvPr id="21"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25 · n°14 p. 26</a:t>
            </a:r>
            <a:endParaRPr lang="en-US" sz="740" dirty="0"/>
          </a:p>
        </p:txBody>
      </p:sp>
      <p:sp>
        <p:nvSpPr>
          <p:cNvPr id="22" name="Shape 16"/>
          <p:cNvSpPr/>
          <p:nvPr/>
        </p:nvSpPr>
        <p:spPr>
          <a:xfrm>
            <a:off x="828000" y="8388000"/>
            <a:ext cx="6120000" cy="0"/>
          </a:xfrm>
          <a:prstGeom prst="line">
            <a:avLst/>
          </a:prstGeom>
          <a:noFill/>
          <a:ln w="8890">
            <a:solidFill>
              <a:srgbClr val="46606E"/>
            </a:solidFill>
            <a:prstDash val="solid"/>
          </a:ln>
        </p:spPr>
      </p:sp>
      <p:sp>
        <p:nvSpPr>
          <p:cNvPr id="23"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6"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3572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357200"/>
            <a:ext cx="598337" cy="2232000"/>
          </a:xfrm>
          <a:prstGeom prst="rect">
            <a:avLst/>
          </a:prstGeom>
        </p:spPr>
      </p:pic>
      <p:sp>
        <p:nvSpPr>
          <p:cNvPr id="13" name="Text 8"/>
          <p:cNvSpPr/>
          <p:nvPr/>
        </p:nvSpPr>
        <p:spPr>
          <a:xfrm>
            <a:off x="2177990" y="1393631"/>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232000" y="1507890"/>
            <a:ext cx="3456000" cy="2081211"/>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4986305"/>
            <a:ext cx="0" cy="288349"/>
          </a:xfrm>
          <a:prstGeom prst="line">
            <a:avLst/>
          </a:prstGeom>
          <a:noFill/>
          <a:ln w="17780">
            <a:solidFill>
              <a:srgbClr val="67067C"/>
            </a:solidFill>
            <a:prstDash val="solid"/>
          </a:ln>
        </p:spPr>
      </p:sp>
      <p:sp>
        <p:nvSpPr>
          <p:cNvPr id="17" name="Text 11"/>
          <p:cNvSpPr/>
          <p:nvPr/>
        </p:nvSpPr>
        <p:spPr>
          <a:xfrm>
            <a:off x="720000" y="498630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8" name="Text 12"/>
          <p:cNvSpPr/>
          <p:nvPr/>
        </p:nvSpPr>
        <p:spPr>
          <a:xfrm>
            <a:off x="612000" y="541865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sol-bourgogne.png">    </p:cNvPr>
          <p:cNvPicPr>
            <a:picLocks noChangeAspect="1"/>
          </p:cNvPicPr>
          <p:nvPr/>
        </p:nvPicPr>
        <p:blipFill>
          <a:blip r:embed="rId4"/>
          <a:stretch>
            <a:fillRect/>
          </a:stretch>
        </p:blipFill>
        <p:spPr>
          <a:xfrm>
            <a:off x="612000" y="5566254"/>
            <a:ext cx="6120000" cy="1261866"/>
          </a:xfrm>
          <a:prstGeom prst="rect">
            <a:avLst/>
          </a:prstGeom>
        </p:spPr>
      </p:pic>
      <p:sp>
        <p:nvSpPr>
          <p:cNvPr id="20" name="Text 13"/>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23 · n°14 p. 26</a:t>
            </a:r>
            <a:endParaRPr lang="en-US" sz="740" dirty="0"/>
          </a:p>
        </p:txBody>
      </p:sp>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3572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357200"/>
            <a:ext cx="570197" cy="2232000"/>
          </a:xfrm>
          <a:prstGeom prst="rect">
            <a:avLst/>
          </a:prstGeom>
        </p:spPr>
      </p:pic>
      <p:sp>
        <p:nvSpPr>
          <p:cNvPr id="13" name="Text 8"/>
          <p:cNvSpPr/>
          <p:nvPr/>
        </p:nvSpPr>
        <p:spPr>
          <a:xfrm>
            <a:off x="2393990" y="1274606"/>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448000" y="1388865"/>
            <a:ext cx="3456000" cy="2200235"/>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828000" y="5628796"/>
            <a:ext cx="0" cy="288349"/>
          </a:xfrm>
          <a:prstGeom prst="line">
            <a:avLst/>
          </a:prstGeom>
          <a:noFill/>
          <a:ln w="17780">
            <a:solidFill>
              <a:srgbClr val="67067C"/>
            </a:solidFill>
            <a:prstDash val="solid"/>
          </a:ln>
        </p:spPr>
      </p:sp>
      <p:sp>
        <p:nvSpPr>
          <p:cNvPr id="17" name="Text 11"/>
          <p:cNvSpPr/>
          <p:nvPr/>
        </p:nvSpPr>
        <p:spPr>
          <a:xfrm>
            <a:off x="936000" y="562879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18" name="Text 12"/>
          <p:cNvSpPr/>
          <p:nvPr/>
        </p:nvSpPr>
        <p:spPr>
          <a:xfrm>
            <a:off x="828000" y="606114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sol-bourgogne.png">    </p:cNvPr>
          <p:cNvPicPr>
            <a:picLocks noChangeAspect="1"/>
          </p:cNvPicPr>
          <p:nvPr/>
        </p:nvPicPr>
        <p:blipFill>
          <a:blip r:embed="rId4"/>
          <a:stretch>
            <a:fillRect/>
          </a:stretch>
        </p:blipFill>
        <p:spPr>
          <a:xfrm>
            <a:off x="828000" y="6208745"/>
            <a:ext cx="6120000" cy="1148400"/>
          </a:xfrm>
          <a:prstGeom prst="rect">
            <a:avLst/>
          </a:prstGeom>
        </p:spPr>
      </p:pic>
      <p:sp>
        <p:nvSpPr>
          <p:cNvPr id="20" name="Text 13"/>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23 · n°13 p. 25</a:t>
            </a:r>
            <a:endParaRPr lang="en-US" sz="740" dirty="0"/>
          </a:p>
        </p:txBody>
      </p:sp>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4" name="Image 2" descr="portrait du vigneron — Domaine des Verchères">    </p:cNvPr>
          <p:cNvPicPr>
            <a:picLocks noChangeAspect="1"/>
          </p:cNvPicPr>
          <p:nvPr/>
        </p:nvPicPr>
        <p:blipFill>
          <a:blip r:embed="rId3"/>
          <a:srcRect l="6000" r="6040" t="0" b="0"/>
          <a:stretch/>
        </p:blipFill>
        <p:spPr>
          <a:xfrm>
            <a:off x="612000" y="1357200"/>
            <a:ext cx="1440000" cy="1440000"/>
          </a:xfrm>
          <a:prstGeom prst="ellipse">
            <a:avLst/>
          </a:prstGeom>
        </p:spPr>
      </p:pic>
      <p:pic>
        <p:nvPicPr>
          <p:cNvPr id="15" name="Image 3" descr="Une bouteille du domaine Domaine des Verchères">    </p:cNvPr>
          <p:cNvPicPr>
            <a:picLocks noChangeAspect="1"/>
          </p:cNvPicPr>
          <p:nvPr/>
        </p:nvPicPr>
        <p:blipFill>
          <a:blip r:embed="rId4"/>
          <a:stretch>
            <a:fillRect/>
          </a:stretch>
        </p:blipFill>
        <p:spPr>
          <a:xfrm>
            <a:off x="6024049" y="1357200"/>
            <a:ext cx="551902" cy="2232000"/>
          </a:xfrm>
          <a:prstGeom prst="rect">
            <a:avLst/>
          </a:prstGeom>
        </p:spPr>
      </p:pic>
      <p:sp>
        <p:nvSpPr>
          <p:cNvPr id="16" name="Text 10"/>
          <p:cNvSpPr/>
          <p:nvPr/>
        </p:nvSpPr>
        <p:spPr>
          <a:xfrm>
            <a:off x="2178017" y="1347879"/>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232000" y="1466269"/>
            <a:ext cx="3456000" cy="212283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686243"/>
            <a:ext cx="0" cy="288349"/>
          </a:xfrm>
          <a:prstGeom prst="line">
            <a:avLst/>
          </a:prstGeom>
          <a:noFill/>
          <a:ln w="17780">
            <a:solidFill>
              <a:srgbClr val="67067C"/>
            </a:solidFill>
            <a:prstDash val="solid"/>
          </a:ln>
        </p:spPr>
      </p:sp>
      <p:sp>
        <p:nvSpPr>
          <p:cNvPr id="20" name="Text 13"/>
          <p:cNvSpPr/>
          <p:nvPr/>
        </p:nvSpPr>
        <p:spPr>
          <a:xfrm>
            <a:off x="720000" y="568624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612000" y="611859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sol-bourgogne.png">    </p:cNvPr>
          <p:cNvPicPr>
            <a:picLocks noChangeAspect="1"/>
          </p:cNvPicPr>
          <p:nvPr/>
        </p:nvPicPr>
        <p:blipFill>
          <a:blip r:embed="rId5"/>
          <a:stretch>
            <a:fillRect/>
          </a:stretch>
        </p:blipFill>
        <p:spPr>
          <a:xfrm>
            <a:off x="612000" y="6266193"/>
            <a:ext cx="6120000" cy="1148400"/>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rho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rho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5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Rhône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grès et Trias</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27</a:t>
            </a:r>
            <a:endParaRPr lang="en-US" sz="2000" dirty="0"/>
          </a:p>
        </p:txBody>
      </p:sp>
      <p:sp>
        <p:nvSpPr>
          <p:cNvPr id="11" name="Text 7"/>
          <p:cNvSpPr/>
          <p:nvPr/>
        </p:nvSpPr>
        <p:spPr>
          <a:xfrm>
            <a:off x="1836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16   </a:t>
            </a:r>
            <a:r>
              <a:rPr lang="en-US" sz="860" dirty="0">
                <a:solidFill>
                  <a:srgbClr val="FBF8F1"/>
                </a:solidFill>
                <a:latin typeface="IBM Plex Sans" pitchFamily="34" charset="0"/>
                <a:ea typeface="IBM Plex Sans" pitchFamily="34" charset="-122"/>
                <a:cs typeface="IBM Plex Sans" pitchFamily="34" charset="-120"/>
              </a:rPr>
              <a:t>Domaine Le Prieuré des Papes</a:t>
            </a:r>
            <a:r>
              <a:rPr lang="en-US" sz="860" b="1" dirty="0">
                <a:solidFill>
                  <a:srgbClr val="FBF8F1"/>
                </a:solidFill>
                <a:latin typeface="IBM Plex Sans" pitchFamily="34" charset="0"/>
                <a:ea typeface="IBM Plex Sans" pitchFamily="34" charset="-122"/>
                <a:cs typeface="IBM Plex Sans" pitchFamily="34" charset="-120"/>
              </a:rPr>
              <a:t>   29</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17   </a:t>
            </a:r>
            <a:r>
              <a:rPr lang="en-US" sz="860" dirty="0">
                <a:solidFill>
                  <a:srgbClr val="FBF8F1"/>
                </a:solidFill>
                <a:latin typeface="IBM Plex Sans" pitchFamily="34" charset="0"/>
                <a:ea typeface="IBM Plex Sans" pitchFamily="34" charset="-122"/>
                <a:cs typeface="IBM Plex Sans" pitchFamily="34" charset="-120"/>
              </a:rPr>
              <a:t>Domaine de Coyeux</a:t>
            </a:r>
            <a:r>
              <a:rPr lang="en-US" sz="860" b="1" dirty="0">
                <a:solidFill>
                  <a:srgbClr val="FBF8F1"/>
                </a:solidFill>
                <a:latin typeface="IBM Plex Sans" pitchFamily="34" charset="0"/>
                <a:ea typeface="IBM Plex Sans" pitchFamily="34" charset="-122"/>
                <a:cs typeface="IBM Plex Sans" pitchFamily="34" charset="-120"/>
              </a:rPr>
              <a:t>   30</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18   </a:t>
            </a:r>
            <a:r>
              <a:rPr lang="en-US" sz="860" dirty="0">
                <a:solidFill>
                  <a:srgbClr val="FBF8F1"/>
                </a:solidFill>
                <a:latin typeface="IBM Plex Sans" pitchFamily="34" charset="0"/>
                <a:ea typeface="IBM Plex Sans" pitchFamily="34" charset="-122"/>
                <a:cs typeface="IBM Plex Sans" pitchFamily="34" charset="-120"/>
              </a:rPr>
              <a:t>Domaine du Moulin Blanc</a:t>
            </a:r>
            <a:r>
              <a:rPr lang="en-US" sz="860" b="1" dirty="0">
                <a:solidFill>
                  <a:srgbClr val="FBF8F1"/>
                </a:solidFill>
                <a:latin typeface="IBM Plex Sans" pitchFamily="34" charset="0"/>
                <a:ea typeface="IBM Plex Sans" pitchFamily="34" charset="-122"/>
                <a:cs typeface="IBM Plex Sans" pitchFamily="34" charset="-120"/>
              </a:rPr>
              <a:t>   31</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19   </a:t>
            </a:r>
            <a:r>
              <a:rPr lang="en-US" sz="860" dirty="0">
                <a:solidFill>
                  <a:srgbClr val="FBF8F1"/>
                </a:solidFill>
                <a:latin typeface="IBM Plex Sans" pitchFamily="34" charset="0"/>
                <a:ea typeface="IBM Plex Sans" pitchFamily="34" charset="-122"/>
                <a:cs typeface="IBM Plex Sans" pitchFamily="34" charset="-120"/>
              </a:rPr>
              <a:t>Domaine de la Pousterle</a:t>
            </a:r>
            <a:r>
              <a:rPr lang="en-US" sz="860" b="1" dirty="0">
                <a:solidFill>
                  <a:srgbClr val="FBF8F1"/>
                </a:solidFill>
                <a:latin typeface="IBM Plex Sans" pitchFamily="34" charset="0"/>
                <a:ea typeface="IBM Plex Sans" pitchFamily="34" charset="-122"/>
                <a:cs typeface="IBM Plex Sans" pitchFamily="34" charset="-120"/>
              </a:rPr>
              <a:t>   32</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20   </a:t>
            </a:r>
            <a:r>
              <a:rPr lang="en-US" sz="860" dirty="0">
                <a:solidFill>
                  <a:srgbClr val="FBF8F1"/>
                </a:solidFill>
                <a:latin typeface="IBM Plex Sans" pitchFamily="34" charset="0"/>
                <a:ea typeface="IBM Plex Sans" pitchFamily="34" charset="-122"/>
                <a:cs typeface="IBM Plex Sans" pitchFamily="34" charset="-120"/>
              </a:rPr>
              <a:t>Domaine des Pasquiers</a:t>
            </a:r>
            <a:r>
              <a:rPr lang="en-US" sz="860" b="1" dirty="0">
                <a:solidFill>
                  <a:srgbClr val="FBF8F1"/>
                </a:solidFill>
                <a:latin typeface="IBM Plex Sans" pitchFamily="34" charset="0"/>
                <a:ea typeface="IBM Plex Sans" pitchFamily="34" charset="-122"/>
                <a:cs typeface="IBM Plex Sans" pitchFamily="34" charset="-120"/>
              </a:rPr>
              <a:t>   33</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Domaine Trichon</a:t>
            </a:r>
            <a:r>
              <a:rPr lang="en-US" sz="860" b="1" dirty="0">
                <a:solidFill>
                  <a:srgbClr val="FBF8F1"/>
                </a:solidFill>
                <a:latin typeface="IBM Plex Sans" pitchFamily="34" charset="0"/>
                <a:ea typeface="IBM Plex Sans" pitchFamily="34" charset="-122"/>
                <a:cs typeface="IBM Plex Sans" pitchFamily="34" charset="-120"/>
              </a:rPr>
              <a:t>   34</a:t>
            </a:r>
            <a:endParaRPr lang="en-US" sz="86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28</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conversio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322388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88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domaine — Domaine Le Prieuré des Papes">    </p:cNvPr>
          <p:cNvPicPr>
            <a:picLocks noChangeAspect="1"/>
          </p:cNvPicPr>
          <p:nvPr/>
        </p:nvPicPr>
        <p:blipFill>
          <a:blip r:embed="rId3"/>
          <a:stretch>
            <a:fillRect/>
          </a:stretch>
        </p:blipFill>
        <p:spPr>
          <a:xfrm>
            <a:off x="612000" y="1357200"/>
            <a:ext cx="1440000" cy="1440000"/>
          </a:xfrm>
          <a:prstGeom prst="rect">
            <a:avLst/>
          </a:prstGeom>
        </p:spPr>
      </p:pic>
      <p:pic>
        <p:nvPicPr>
          <p:cNvPr id="15" name="Image 3" descr="Une bouteille du domaine Domaine Le Prieuré des Papes">    </p:cNvPr>
          <p:cNvPicPr>
            <a:picLocks noChangeAspect="1"/>
          </p:cNvPicPr>
          <p:nvPr/>
        </p:nvPicPr>
        <p:blipFill>
          <a:blip r:embed="rId4"/>
          <a:stretch>
            <a:fillRect/>
          </a:stretch>
        </p:blipFill>
        <p:spPr>
          <a:xfrm>
            <a:off x="6011852" y="1357200"/>
            <a:ext cx="576295" cy="2232000"/>
          </a:xfrm>
          <a:prstGeom prst="rect">
            <a:avLst/>
          </a:prstGeom>
        </p:spPr>
      </p:pic>
      <p:sp>
        <p:nvSpPr>
          <p:cNvPr id="16" name="Text 10"/>
          <p:cNvSpPr/>
          <p:nvPr/>
        </p:nvSpPr>
        <p:spPr>
          <a:xfrm>
            <a:off x="2178049" y="1190137"/>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7" name="Text 11"/>
          <p:cNvSpPr/>
          <p:nvPr/>
        </p:nvSpPr>
        <p:spPr>
          <a:xfrm>
            <a:off x="2232000" y="1217729"/>
            <a:ext cx="3456000" cy="2492071"/>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8718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360905"/>
            <a:ext cx="0" cy="288349"/>
          </a:xfrm>
          <a:prstGeom prst="line">
            <a:avLst/>
          </a:prstGeom>
          <a:noFill/>
          <a:ln w="17780">
            <a:solidFill>
              <a:srgbClr val="67067C"/>
            </a:solidFill>
            <a:prstDash val="solid"/>
          </a:ln>
        </p:spPr>
      </p:sp>
      <p:sp>
        <p:nvSpPr>
          <p:cNvPr id="20" name="Text 13"/>
          <p:cNvSpPr/>
          <p:nvPr/>
        </p:nvSpPr>
        <p:spPr>
          <a:xfrm>
            <a:off x="720000" y="536090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79325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sol-rhone.png">    </p:cNvPr>
          <p:cNvPicPr>
            <a:picLocks noChangeAspect="1"/>
          </p:cNvPicPr>
          <p:nvPr/>
        </p:nvPicPr>
        <p:blipFill>
          <a:blip r:embed="rId5"/>
          <a:stretch>
            <a:fillRect/>
          </a:stretch>
        </p:blipFill>
        <p:spPr>
          <a:xfrm>
            <a:off x="612000" y="5940854"/>
            <a:ext cx="6120000" cy="1148400"/>
          </a:xfrm>
          <a:prstGeom prst="rect">
            <a:avLst/>
          </a:prstGeom>
        </p:spPr>
      </p:pic>
      <p:sp>
        <p:nvSpPr>
          <p:cNvPr id="23"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30 · n°18 p. 31 · n°19 p. 32</a:t>
            </a:r>
            <a:endParaRPr lang="en-US" sz="740" dirty="0"/>
          </a:p>
        </p:txBody>
      </p:sp>
      <p:sp>
        <p:nvSpPr>
          <p:cNvPr id="24" name="Shape 16"/>
          <p:cNvSpPr/>
          <p:nvPr/>
        </p:nvSpPr>
        <p:spPr>
          <a:xfrm>
            <a:off x="612000" y="8388000"/>
            <a:ext cx="6120000" cy="0"/>
          </a:xfrm>
          <a:prstGeom prst="line">
            <a:avLst/>
          </a:prstGeom>
          <a:noFill/>
          <a:ln w="8890">
            <a:solidFill>
              <a:srgbClr val="46606E"/>
            </a:solidFill>
            <a:prstDash val="solid"/>
          </a:ln>
        </p:spPr>
      </p:sp>
      <p:sp>
        <p:nvSpPr>
          <p:cNvPr id="25"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200849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343988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43988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 domaine — Domaine de Coyeux">    </p:cNvPr>
          <p:cNvPicPr>
            <a:picLocks noChangeAspect="1"/>
          </p:cNvPicPr>
          <p:nvPr/>
        </p:nvPicPr>
        <p:blipFill>
          <a:blip r:embed="rId3"/>
          <a:srcRect l="2570" r="2693" t="0" b="0"/>
          <a:stretch/>
        </p:blipFill>
        <p:spPr>
          <a:xfrm>
            <a:off x="828000" y="1357200"/>
            <a:ext cx="1440000" cy="1440000"/>
          </a:xfrm>
          <a:prstGeom prst="ellipse">
            <a:avLst/>
          </a:prstGeom>
        </p:spPr>
      </p:pic>
      <p:pic>
        <p:nvPicPr>
          <p:cNvPr id="15" name="Image 3" descr="Une bouteille du domaine Domaine de Coyeux">    </p:cNvPr>
          <p:cNvPicPr>
            <a:picLocks noChangeAspect="1"/>
          </p:cNvPicPr>
          <p:nvPr/>
        </p:nvPicPr>
        <p:blipFill>
          <a:blip r:embed="rId4"/>
          <a:stretch>
            <a:fillRect/>
          </a:stretch>
        </p:blipFill>
        <p:spPr>
          <a:xfrm>
            <a:off x="6217180" y="1357200"/>
            <a:ext cx="597639" cy="2232000"/>
          </a:xfrm>
          <a:prstGeom prst="rect">
            <a:avLst/>
          </a:prstGeom>
        </p:spPr>
      </p:pic>
      <p:sp>
        <p:nvSpPr>
          <p:cNvPr id="16" name="Text 10"/>
          <p:cNvSpPr/>
          <p:nvPr/>
        </p:nvSpPr>
        <p:spPr>
          <a:xfrm>
            <a:off x="2394017" y="1174495"/>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7" name="Text 11"/>
          <p:cNvSpPr/>
          <p:nvPr/>
        </p:nvSpPr>
        <p:spPr>
          <a:xfrm>
            <a:off x="2448000" y="1257820"/>
            <a:ext cx="3456000" cy="2813930"/>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423375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196105"/>
            <a:ext cx="0" cy="288349"/>
          </a:xfrm>
          <a:prstGeom prst="line">
            <a:avLst/>
          </a:prstGeom>
          <a:noFill/>
          <a:ln w="17780">
            <a:solidFill>
              <a:srgbClr val="67067C"/>
            </a:solidFill>
            <a:prstDash val="solid"/>
          </a:ln>
        </p:spPr>
      </p:sp>
      <p:sp>
        <p:nvSpPr>
          <p:cNvPr id="20" name="Text 13"/>
          <p:cNvSpPr/>
          <p:nvPr/>
        </p:nvSpPr>
        <p:spPr>
          <a:xfrm>
            <a:off x="936000" y="719610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29 · n°18 p. 31 · n°19 p. 32</a:t>
            </a:r>
            <a:endParaRPr lang="en-US" sz="740" dirty="0"/>
          </a:p>
        </p:txBody>
      </p:sp>
      <p:sp>
        <p:nvSpPr>
          <p:cNvPr id="22" name="Shape 15"/>
          <p:cNvSpPr/>
          <p:nvPr/>
        </p:nvSpPr>
        <p:spPr>
          <a:xfrm>
            <a:off x="828000" y="8388000"/>
            <a:ext cx="6120000" cy="0"/>
          </a:xfrm>
          <a:prstGeom prst="line">
            <a:avLst/>
          </a:prstGeom>
          <a:noFill/>
          <a:ln w="8890">
            <a:solidFill>
              <a:srgbClr val="46606E"/>
            </a:solidFill>
            <a:prstDash val="solid"/>
          </a:ln>
        </p:spPr>
      </p:sp>
      <p:sp>
        <p:nvSpPr>
          <p:cNvPr id="23"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6"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conversio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322388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88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ouple, recadré au-dessus du verre — Domaine du Moulin Blanc">    </p:cNvPr>
          <p:cNvPicPr>
            <a:picLocks noChangeAspect="1"/>
          </p:cNvPicPr>
          <p:nvPr/>
        </p:nvPicPr>
        <p:blipFill>
          <a:blip r:embed="rId3"/>
          <a:stretch>
            <a:fillRect/>
          </a:stretch>
        </p:blipFill>
        <p:spPr>
          <a:xfrm>
            <a:off x="612000" y="1357200"/>
            <a:ext cx="1440000" cy="1440000"/>
          </a:xfrm>
          <a:prstGeom prst="rect">
            <a:avLst/>
          </a:prstGeom>
        </p:spPr>
      </p:pic>
      <p:sp>
        <p:nvSpPr>
          <p:cNvPr id="15" name="Shape 10"/>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6" name="Text 11"/>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7" name="Text 12"/>
          <p:cNvSpPr/>
          <p:nvPr/>
        </p:nvSpPr>
        <p:spPr>
          <a:xfrm>
            <a:off x="2177970" y="1318030"/>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8" name="Text 13"/>
          <p:cNvSpPr/>
          <p:nvPr/>
        </p:nvSpPr>
        <p:spPr>
          <a:xfrm>
            <a:off x="2232000" y="1397825"/>
            <a:ext cx="3456000" cy="2191275"/>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612000" y="4920671"/>
            <a:ext cx="0" cy="288349"/>
          </a:xfrm>
          <a:prstGeom prst="line">
            <a:avLst/>
          </a:prstGeom>
          <a:noFill/>
          <a:ln w="17780">
            <a:solidFill>
              <a:srgbClr val="67067C"/>
            </a:solidFill>
            <a:prstDash val="solid"/>
          </a:ln>
        </p:spPr>
      </p:sp>
      <p:sp>
        <p:nvSpPr>
          <p:cNvPr id="21" name="Text 15"/>
          <p:cNvSpPr/>
          <p:nvPr/>
        </p:nvSpPr>
        <p:spPr>
          <a:xfrm>
            <a:off x="720000" y="4920671"/>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612000" y="535302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3" name="Image 3" descr="/home/user/philippe1/build/deco/sol-rhone.png">    </p:cNvPr>
          <p:cNvPicPr>
            <a:picLocks noChangeAspect="1"/>
          </p:cNvPicPr>
          <p:nvPr/>
        </p:nvPicPr>
        <p:blipFill>
          <a:blip r:embed="rId4"/>
          <a:stretch>
            <a:fillRect/>
          </a:stretch>
        </p:blipFill>
        <p:spPr>
          <a:xfrm>
            <a:off x="612000" y="5500621"/>
            <a:ext cx="6120000" cy="1301246"/>
          </a:xfrm>
          <a:prstGeom prst="rect">
            <a:avLst/>
          </a:prstGeom>
        </p:spPr>
      </p:pic>
      <p:sp>
        <p:nvSpPr>
          <p:cNvPr id="24" name="Text 17"/>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29 · n°17 p. 30 · n°19 p. 32</a:t>
            </a:r>
            <a:endParaRPr lang="en-US" sz="740" dirty="0"/>
          </a:p>
        </p:txBody>
      </p:sp>
      <p:sp>
        <p:nvSpPr>
          <p:cNvPr id="25" name="Shape 18"/>
          <p:cNvSpPr/>
          <p:nvPr/>
        </p:nvSpPr>
        <p:spPr>
          <a:xfrm>
            <a:off x="612000" y="8388000"/>
            <a:ext cx="6120000" cy="0"/>
          </a:xfrm>
          <a:prstGeom prst="line">
            <a:avLst/>
          </a:prstGeom>
          <a:noFill/>
          <a:ln w="8890">
            <a:solidFill>
              <a:srgbClr val="46606E"/>
            </a:solidFill>
            <a:prstDash val="solid"/>
          </a:ln>
        </p:spPr>
      </p:sp>
      <p:sp>
        <p:nvSpPr>
          <p:cNvPr id="26" name="Text 19"/>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20"/>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8"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9"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2008494"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343988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43988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4" name="Image 2" descr="vendanges dans les vignes — Domaine de la Pousterle">    </p:cNvPr>
          <p:cNvPicPr>
            <a:picLocks noChangeAspect="1"/>
          </p:cNvPicPr>
          <p:nvPr/>
        </p:nvPicPr>
        <p:blipFill>
          <a:blip r:embed="rId3"/>
          <a:srcRect l="0" r="10156" t="0" b="0"/>
          <a:stretch/>
        </p:blipFill>
        <p:spPr>
          <a:xfrm>
            <a:off x="828000" y="1357200"/>
            <a:ext cx="1440000" cy="1440000"/>
          </a:xfrm>
          <a:prstGeom prst="ellipse">
            <a:avLst/>
          </a:prstGeom>
        </p:spPr>
      </p:pic>
      <p:pic>
        <p:nvPicPr>
          <p:cNvPr id="15" name="Image 3" descr="Une bouteille du domaine Domaine de la Pousterle">    </p:cNvPr>
          <p:cNvPicPr>
            <a:picLocks noChangeAspect="1"/>
          </p:cNvPicPr>
          <p:nvPr/>
        </p:nvPicPr>
        <p:blipFill>
          <a:blip r:embed="rId4"/>
          <a:stretch>
            <a:fillRect/>
          </a:stretch>
        </p:blipFill>
        <p:spPr>
          <a:xfrm>
            <a:off x="6223279" y="1357200"/>
            <a:ext cx="585443" cy="2232000"/>
          </a:xfrm>
          <a:prstGeom prst="rect">
            <a:avLst/>
          </a:prstGeom>
        </p:spPr>
      </p:pic>
      <p:sp>
        <p:nvSpPr>
          <p:cNvPr id="16" name="Text 10"/>
          <p:cNvSpPr/>
          <p:nvPr/>
        </p:nvSpPr>
        <p:spPr>
          <a:xfrm>
            <a:off x="2393990" y="1288254"/>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7" name="Text 11"/>
          <p:cNvSpPr/>
          <p:nvPr/>
        </p:nvSpPr>
        <p:spPr>
          <a:xfrm>
            <a:off x="2448000" y="1370362"/>
            <a:ext cx="3456000" cy="22187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070964"/>
            <a:ext cx="0" cy="288349"/>
          </a:xfrm>
          <a:prstGeom prst="line">
            <a:avLst/>
          </a:prstGeom>
          <a:noFill/>
          <a:ln w="17780">
            <a:solidFill>
              <a:srgbClr val="67067C"/>
            </a:solidFill>
            <a:prstDash val="solid"/>
          </a:ln>
        </p:spPr>
      </p:sp>
      <p:sp>
        <p:nvSpPr>
          <p:cNvPr id="20" name="Text 13"/>
          <p:cNvSpPr/>
          <p:nvPr/>
        </p:nvSpPr>
        <p:spPr>
          <a:xfrm>
            <a:off x="936000" y="607096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5033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sol-rhone.png">    </p:cNvPr>
          <p:cNvPicPr>
            <a:picLocks noChangeAspect="1"/>
          </p:cNvPicPr>
          <p:nvPr/>
        </p:nvPicPr>
        <p:blipFill>
          <a:blip r:embed="rId5"/>
          <a:stretch>
            <a:fillRect/>
          </a:stretch>
        </p:blipFill>
        <p:spPr>
          <a:xfrm>
            <a:off x="828000" y="6650913"/>
            <a:ext cx="6120000" cy="1032851"/>
          </a:xfrm>
          <a:prstGeom prst="rect">
            <a:avLst/>
          </a:prstGeom>
        </p:spPr>
      </p:pic>
      <p:sp>
        <p:nvSpPr>
          <p:cNvPr id="23"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29 · n°17 p. 30 · n°18 p. 31</a:t>
            </a:r>
            <a:endParaRPr lang="en-US" sz="740" dirty="0"/>
          </a:p>
        </p:txBody>
      </p:sp>
      <p:sp>
        <p:nvSpPr>
          <p:cNvPr id="24" name="Shape 16"/>
          <p:cNvSpPr/>
          <p:nvPr/>
        </p:nvSpPr>
        <p:spPr>
          <a:xfrm>
            <a:off x="828000" y="8388000"/>
            <a:ext cx="6120000" cy="0"/>
          </a:xfrm>
          <a:prstGeom prst="line">
            <a:avLst/>
          </a:prstGeom>
          <a:noFill/>
          <a:ln w="8890">
            <a:solidFill>
              <a:srgbClr val="46606E"/>
            </a:solidFill>
            <a:prstDash val="solid"/>
          </a:ln>
        </p:spPr>
      </p:sp>
      <p:sp>
        <p:nvSpPr>
          <p:cNvPr id="25"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8"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portrait de la famille — Domaine des Pasquiers">    </p:cNvPr>
          <p:cNvPicPr>
            <a:picLocks noChangeAspect="1"/>
          </p:cNvPicPr>
          <p:nvPr/>
        </p:nvPicPr>
        <p:blipFill>
          <a:blip r:embed="rId3"/>
          <a:srcRect l="12500" r="12500" t="0" b="0"/>
          <a:stretch/>
        </p:blipFill>
        <p:spPr>
          <a:xfrm>
            <a:off x="612000" y="1357200"/>
            <a:ext cx="1440000" cy="1440000"/>
          </a:xfrm>
          <a:prstGeom prst="ellipse">
            <a:avLst/>
          </a:prstGeom>
        </p:spPr>
      </p:pic>
      <p:pic>
        <p:nvPicPr>
          <p:cNvPr id="15" name="Image 3" descr="Une bouteille du domaine Domaine des Pasquiers">    </p:cNvPr>
          <p:cNvPicPr>
            <a:picLocks noChangeAspect="1"/>
          </p:cNvPicPr>
          <p:nvPr/>
        </p:nvPicPr>
        <p:blipFill>
          <a:blip r:embed="rId4"/>
          <a:stretch>
            <a:fillRect/>
          </a:stretch>
        </p:blipFill>
        <p:spPr>
          <a:xfrm>
            <a:off x="6001180" y="1357200"/>
            <a:ext cx="597639" cy="2232000"/>
          </a:xfrm>
          <a:prstGeom prst="rect">
            <a:avLst/>
          </a:prstGeom>
        </p:spPr>
      </p:pic>
      <p:sp>
        <p:nvSpPr>
          <p:cNvPr id="16" name="Text 10"/>
          <p:cNvSpPr/>
          <p:nvPr/>
        </p:nvSpPr>
        <p:spPr>
          <a:xfrm>
            <a:off x="2178018" y="1358881"/>
            <a:ext cx="287869" cy="473659"/>
          </a:xfrm>
          <a:prstGeom prst="rect">
            <a:avLst/>
          </a:prstGeom>
          <a:noFill/>
          <a:ln/>
        </p:spPr>
        <p:txBody>
          <a:bodyPr wrap="square" lIns="0" tIns="0" rIns="0" bIns="0" rtlCol="0" anchor="t"/>
          <a:lstStyle/>
          <a:p>
            <a:pPr algn="r" indent="0" marL="0">
              <a:lnSpc>
                <a:spcPct val="123000"/>
              </a:lnSpc>
              <a:buNone/>
            </a:pPr>
            <a:r>
              <a:rPr lang="en-US" sz="2331" dirty="0">
                <a:solidFill>
                  <a:srgbClr val="67067C"/>
                </a:solidFill>
                <a:latin typeface="Young Serif" pitchFamily="34" charset="0"/>
                <a:ea typeface="Young Serif" pitchFamily="34" charset="-122"/>
                <a:cs typeface="Young Serif" pitchFamily="34" charset="-120"/>
              </a:rPr>
              <a:t>D</a:t>
            </a:r>
            <a:endParaRPr lang="en-US" sz="2331" dirty="0"/>
          </a:p>
        </p:txBody>
      </p:sp>
      <p:sp>
        <p:nvSpPr>
          <p:cNvPr id="17" name="Text 11"/>
          <p:cNvSpPr/>
          <p:nvPr/>
        </p:nvSpPr>
        <p:spPr>
          <a:xfrm>
            <a:off x="2232000" y="1492951"/>
            <a:ext cx="3456000" cy="2096149"/>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632665"/>
            <a:ext cx="0" cy="288349"/>
          </a:xfrm>
          <a:prstGeom prst="line">
            <a:avLst/>
          </a:prstGeom>
          <a:noFill/>
          <a:ln w="17780">
            <a:solidFill>
              <a:srgbClr val="67067C"/>
            </a:solidFill>
            <a:prstDash val="solid"/>
          </a:ln>
        </p:spPr>
      </p:sp>
      <p:sp>
        <p:nvSpPr>
          <p:cNvPr id="20" name="Text 13"/>
          <p:cNvSpPr/>
          <p:nvPr/>
        </p:nvSpPr>
        <p:spPr>
          <a:xfrm>
            <a:off x="720000" y="563266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606501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sol-rhone.png">    </p:cNvPr>
          <p:cNvPicPr>
            <a:picLocks noChangeAspect="1"/>
          </p:cNvPicPr>
          <p:nvPr/>
        </p:nvPicPr>
        <p:blipFill>
          <a:blip r:embed="rId5"/>
          <a:stretch>
            <a:fillRect/>
          </a:stretch>
        </p:blipFill>
        <p:spPr>
          <a:xfrm>
            <a:off x="612000" y="6212614"/>
            <a:ext cx="6120000" cy="1148400"/>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vignerons, recadrés sur leurs visages — Domaine Trichon">    </p:cNvPr>
          <p:cNvPicPr>
            <a:picLocks noChangeAspect="1"/>
          </p:cNvPicPr>
          <p:nvPr/>
        </p:nvPicPr>
        <p:blipFill>
          <a:blip r:embed="rId3"/>
          <a:stretch>
            <a:fillRect/>
          </a:stretch>
        </p:blipFill>
        <p:spPr>
          <a:xfrm>
            <a:off x="828000" y="1357200"/>
            <a:ext cx="1440000" cy="1440000"/>
          </a:xfrm>
          <a:prstGeom prst="rect">
            <a:avLst/>
          </a:prstGeom>
        </p:spPr>
      </p:pic>
      <p:pic>
        <p:nvPicPr>
          <p:cNvPr id="15" name="Image 3" descr="Une bouteille du domaine Domaine Trichon">    </p:cNvPr>
          <p:cNvPicPr>
            <a:picLocks noChangeAspect="1"/>
          </p:cNvPicPr>
          <p:nvPr/>
        </p:nvPicPr>
        <p:blipFill>
          <a:blip r:embed="rId4"/>
          <a:stretch>
            <a:fillRect/>
          </a:stretch>
        </p:blipFill>
        <p:spPr>
          <a:xfrm>
            <a:off x="6199083" y="1357200"/>
            <a:ext cx="633834" cy="2232000"/>
          </a:xfrm>
          <a:prstGeom prst="rect">
            <a:avLst/>
          </a:prstGeom>
        </p:spPr>
      </p:pic>
      <p:sp>
        <p:nvSpPr>
          <p:cNvPr id="16" name="Text 10"/>
          <p:cNvSpPr/>
          <p:nvPr/>
        </p:nvSpPr>
        <p:spPr>
          <a:xfrm>
            <a:off x="2393985" y="1329391"/>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7" name="Text 11"/>
          <p:cNvSpPr/>
          <p:nvPr/>
        </p:nvSpPr>
        <p:spPr>
          <a:xfrm>
            <a:off x="2448000" y="1435633"/>
            <a:ext cx="3456000" cy="2153467"/>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allient leurs savoir-faire à la vigne et dans la création des cuvées.</a:t>
            </a:r>
            <a:endParaRPr lang="en-US" sz="1175"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301523"/>
            <a:ext cx="0" cy="288349"/>
          </a:xfrm>
          <a:prstGeom prst="line">
            <a:avLst/>
          </a:prstGeom>
          <a:noFill/>
          <a:ln w="17780">
            <a:solidFill>
              <a:srgbClr val="67067C"/>
            </a:solidFill>
            <a:prstDash val="solid"/>
          </a:ln>
        </p:spPr>
      </p:sp>
      <p:sp>
        <p:nvSpPr>
          <p:cNvPr id="20" name="Text 13"/>
          <p:cNvSpPr/>
          <p:nvPr/>
        </p:nvSpPr>
        <p:spPr>
          <a:xfrm>
            <a:off x="936000" y="530152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Text 14"/>
          <p:cNvSpPr/>
          <p:nvPr/>
        </p:nvSpPr>
        <p:spPr>
          <a:xfrm>
            <a:off x="828000" y="573387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sol-rhone.png">    </p:cNvPr>
          <p:cNvPicPr>
            <a:picLocks noChangeAspect="1"/>
          </p:cNvPicPr>
          <p:nvPr/>
        </p:nvPicPr>
        <p:blipFill>
          <a:blip r:embed="rId5"/>
          <a:stretch>
            <a:fillRect/>
          </a:stretch>
        </p:blipFill>
        <p:spPr>
          <a:xfrm>
            <a:off x="828000" y="5881472"/>
            <a:ext cx="6120000" cy="1315444"/>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sud-ouest.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sud-ouest.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6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Sud-Ouest</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fauves et fossiles marins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3</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40</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22   </a:t>
            </a:r>
            <a:r>
              <a:rPr lang="en-US" sz="860" dirty="0">
                <a:solidFill>
                  <a:srgbClr val="FBF8F1"/>
                </a:solidFill>
                <a:latin typeface="IBM Plex Sans" pitchFamily="34" charset="0"/>
                <a:ea typeface="IBM Plex Sans" pitchFamily="34" charset="-122"/>
                <a:cs typeface="IBM Plex Sans" pitchFamily="34" charset="-120"/>
              </a:rPr>
              <a:t>Domaine Stratéus</a:t>
            </a:r>
            <a:r>
              <a:rPr lang="en-US" sz="860" b="1" dirty="0">
                <a:solidFill>
                  <a:srgbClr val="FBF8F1"/>
                </a:solidFill>
                <a:latin typeface="IBM Plex Sans" pitchFamily="34" charset="0"/>
                <a:ea typeface="IBM Plex Sans" pitchFamily="34" charset="-122"/>
                <a:cs typeface="IBM Plex Sans" pitchFamily="34" charset="-120"/>
              </a:rPr>
              <a:t>   36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23   </a:t>
            </a:r>
            <a:r>
              <a:rPr lang="en-US" sz="860" dirty="0">
                <a:solidFill>
                  <a:srgbClr val="FBF8F1"/>
                </a:solidFill>
                <a:latin typeface="IBM Plex Sans" pitchFamily="34" charset="0"/>
                <a:ea typeface="IBM Plex Sans" pitchFamily="34" charset="-122"/>
                <a:cs typeface="IBM Plex Sans" pitchFamily="34" charset="-120"/>
              </a:rPr>
              <a:t>Domaine Haut Marin</a:t>
            </a:r>
            <a:r>
              <a:rPr lang="en-US" sz="860" b="1" dirty="0">
                <a:solidFill>
                  <a:srgbClr val="FBF8F1"/>
                </a:solidFill>
                <a:latin typeface="IBM Plex Sans" pitchFamily="34" charset="0"/>
                <a:ea typeface="IBM Plex Sans" pitchFamily="34" charset="-122"/>
                <a:cs typeface="IBM Plex Sans" pitchFamily="34" charset="-120"/>
              </a:rPr>
              <a:t>   37</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24   </a:t>
            </a:r>
            <a:r>
              <a:rPr lang="en-US" sz="860" dirty="0">
                <a:solidFill>
                  <a:srgbClr val="FBF8F1"/>
                </a:solidFill>
                <a:latin typeface="IBM Plex Sans" pitchFamily="34" charset="0"/>
                <a:ea typeface="IBM Plex Sans" pitchFamily="34" charset="-122"/>
                <a:cs typeface="IBM Plex Sans" pitchFamily="34" charset="-120"/>
              </a:rPr>
              <a:t>Fabien Castaing</a:t>
            </a:r>
            <a:r>
              <a:rPr lang="en-US" sz="860" b="1" dirty="0">
                <a:solidFill>
                  <a:srgbClr val="FBF8F1"/>
                </a:solidFill>
                <a:latin typeface="IBM Plex Sans" pitchFamily="34" charset="0"/>
                <a:ea typeface="IBM Plex Sans" pitchFamily="34" charset="-122"/>
                <a:cs typeface="IBM Plex Sans" pitchFamily="34" charset="-120"/>
              </a:rPr>
              <a:t>   39</a:t>
            </a:r>
            <a:endParaRPr lang="en-US" sz="860" dirty="0"/>
          </a:p>
        </p:txBody>
      </p:sp>
      <p:sp>
        <p:nvSpPr>
          <p:cNvPr id="15" name="Text 1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35</a:t>
            </a:r>
            <a:endParaRPr lang="en-US" sz="750" dirty="0"/>
          </a:p>
        </p:txBody>
      </p:sp>
      <p:sp>
        <p:nvSpPr>
          <p:cNvPr id="16" name="Text 1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476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6" name="Image 2" descr="logo du domaine — Domaine Stratéus">    </p:cNvPr>
          <p:cNvPicPr>
            <a:picLocks noChangeAspect="1"/>
          </p:cNvPicPr>
          <p:nvPr/>
        </p:nvPicPr>
        <p:blipFill>
          <a:blip r:embed="rId3"/>
          <a:stretch>
            <a:fillRect/>
          </a:stretch>
        </p:blipFill>
        <p:spPr>
          <a:xfrm>
            <a:off x="828000" y="1357200"/>
            <a:ext cx="1440000" cy="1440000"/>
          </a:xfrm>
          <a:prstGeom prst="rect">
            <a:avLst/>
          </a:prstGeom>
        </p:spPr>
      </p:pic>
      <p:pic>
        <p:nvPicPr>
          <p:cNvPr id="17" name="Image 3" descr="Une bouteille du domaine Domaine Stratéus">    </p:cNvPr>
          <p:cNvPicPr>
            <a:picLocks noChangeAspect="1"/>
          </p:cNvPicPr>
          <p:nvPr/>
        </p:nvPicPr>
        <p:blipFill>
          <a:blip r:embed="rId4"/>
          <a:stretch>
            <a:fillRect/>
          </a:stretch>
        </p:blipFill>
        <p:spPr>
          <a:xfrm>
            <a:off x="6272066" y="1357200"/>
            <a:ext cx="487869" cy="2232000"/>
          </a:xfrm>
          <a:prstGeom prst="rect">
            <a:avLst/>
          </a:prstGeom>
        </p:spPr>
      </p:pic>
      <p:sp>
        <p:nvSpPr>
          <p:cNvPr id="18" name="Text 12"/>
          <p:cNvSpPr/>
          <p:nvPr/>
        </p:nvSpPr>
        <p:spPr>
          <a:xfrm>
            <a:off x="2393975" y="1470964"/>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19" name="Text 13"/>
          <p:cNvSpPr/>
          <p:nvPr/>
        </p:nvSpPr>
        <p:spPr>
          <a:xfrm>
            <a:off x="2448000" y="1619031"/>
            <a:ext cx="3456000" cy="197007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6455685"/>
            <a:ext cx="0" cy="288349"/>
          </a:xfrm>
          <a:prstGeom prst="line">
            <a:avLst/>
          </a:prstGeom>
          <a:noFill/>
          <a:ln w="17780">
            <a:solidFill>
              <a:srgbClr val="67067C"/>
            </a:solidFill>
            <a:prstDash val="solid"/>
          </a:ln>
        </p:spPr>
      </p:sp>
      <p:sp>
        <p:nvSpPr>
          <p:cNvPr id="22" name="Text 15"/>
          <p:cNvSpPr/>
          <p:nvPr/>
        </p:nvSpPr>
        <p:spPr>
          <a:xfrm>
            <a:off x="936000" y="645568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8880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4" descr="/home/user/philippe1/build/deco/sol-sud-ouest.png">    </p:cNvPr>
          <p:cNvPicPr>
            <a:picLocks noChangeAspect="1"/>
          </p:cNvPicPr>
          <p:nvPr/>
        </p:nvPicPr>
        <p:blipFill>
          <a:blip r:embed="rId5"/>
          <a:stretch>
            <a:fillRect/>
          </a:stretch>
        </p:blipFill>
        <p:spPr>
          <a:xfrm>
            <a:off x="828000" y="7035634"/>
            <a:ext cx="6120000" cy="1052645"/>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295792"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9579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760466"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760466"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704023"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704023"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6" name="Image 2" descr="logo du domaine — Domaine Haut Marin">    </p:cNvPr>
          <p:cNvPicPr>
            <a:picLocks noChangeAspect="1"/>
          </p:cNvPicPr>
          <p:nvPr/>
        </p:nvPicPr>
        <p:blipFill>
          <a:blip r:embed="rId3"/>
          <a:stretch>
            <a:fillRect/>
          </a:stretch>
        </p:blipFill>
        <p:spPr>
          <a:xfrm>
            <a:off x="612000" y="1357200"/>
            <a:ext cx="1440000" cy="1440000"/>
          </a:xfrm>
          <a:prstGeom prst="rect">
            <a:avLst/>
          </a:prstGeom>
        </p:spPr>
      </p:pic>
      <p:pic>
        <p:nvPicPr>
          <p:cNvPr id="17" name="Image 3" descr="Une bouteille du domaine Domaine Haut Marin">    </p:cNvPr>
          <p:cNvPicPr>
            <a:picLocks noChangeAspect="1"/>
          </p:cNvPicPr>
          <p:nvPr/>
        </p:nvPicPr>
        <p:blipFill>
          <a:blip r:embed="rId4"/>
          <a:stretch>
            <a:fillRect/>
          </a:stretch>
        </p:blipFill>
        <p:spPr>
          <a:xfrm>
            <a:off x="6028623" y="1357200"/>
            <a:ext cx="542754" cy="2232000"/>
          </a:xfrm>
          <a:prstGeom prst="rect">
            <a:avLst/>
          </a:prstGeom>
        </p:spPr>
      </p:pic>
      <p:sp>
        <p:nvSpPr>
          <p:cNvPr id="18" name="Text 12"/>
          <p:cNvSpPr/>
          <p:nvPr/>
        </p:nvSpPr>
        <p:spPr>
          <a:xfrm>
            <a:off x="2177992" y="1329261"/>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479080"/>
            <a:ext cx="3456000" cy="211002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hv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511792"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1179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76466"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76466"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920023"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20023"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828000" y="2695835"/>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2000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1990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15" name="Table 2"/>
          <p:cNvGraphicFramePr>
            <a:graphicFrameLocks noGrp="1"/>
          </p:cNvGraphicFramePr>
          <p:nvPr>
            <p:extLst>
              <p:ext uri="{D42A27DB-BD31-4B8C-83A1-F6EECF244321}">
                <p14:modId xmlns:p14="http://schemas.microsoft.com/office/powerpoint/2010/main" val="1579011935"/>
              </p:ext>
            </p:extLst>
          </p:nvPr>
        </p:nvGraphicFramePr>
        <p:xfrm>
          <a:off x="828000" y="5799423"/>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3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10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288528"/>
            <a:ext cx="0" cy="288349"/>
          </a:xfrm>
          <a:prstGeom prst="line">
            <a:avLst/>
          </a:prstGeom>
          <a:noFill/>
          <a:ln w="17780">
            <a:solidFill>
              <a:srgbClr val="67067C"/>
            </a:solidFill>
            <a:prstDash val="solid"/>
          </a:ln>
        </p:spPr>
      </p:sp>
      <p:sp>
        <p:nvSpPr>
          <p:cNvPr id="20" name="Text 13"/>
          <p:cNvSpPr/>
          <p:nvPr/>
        </p:nvSpPr>
        <p:spPr>
          <a:xfrm>
            <a:off x="936000" y="7288528"/>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label-hve.png">    </p:cNvPr>
          <p:cNvPicPr>
            <a:picLocks noChangeAspect="1"/>
          </p:cNvPicPr>
          <p:nvPr/>
        </p:nvPicPr>
        <p:blipFill>
          <a:blip r:embed="rId3"/>
          <a:stretch>
            <a:fillRect/>
          </a:stretch>
        </p:blipFill>
        <p:spPr>
          <a:xfrm>
            <a:off x="1249651" y="1083600"/>
            <a:ext cx="108000" cy="108000"/>
          </a:xfrm>
          <a:prstGeom prst="rect">
            <a:avLst/>
          </a:prstGeom>
        </p:spPr>
      </p:pic>
      <p:sp>
        <p:nvSpPr>
          <p:cNvPr id="12" name="Text 7"/>
          <p:cNvSpPr/>
          <p:nvPr/>
        </p:nvSpPr>
        <p:spPr>
          <a:xfrm>
            <a:off x="13252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1785000" y="10476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17850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249673" y="10476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249673"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193230" y="10476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19323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9" name="Image 3" descr="portrait du vigneron dans ses vignes — Fabien Castaing">    </p:cNvPr>
          <p:cNvPicPr>
            <a:picLocks noChangeAspect="1"/>
          </p:cNvPicPr>
          <p:nvPr/>
        </p:nvPicPr>
        <p:blipFill>
          <a:blip r:embed="rId4"/>
          <a:srcRect l="0" r="0" t="8320" b="16680"/>
          <a:stretch/>
        </p:blipFill>
        <p:spPr>
          <a:xfrm>
            <a:off x="612000" y="1357200"/>
            <a:ext cx="1440000" cy="1440000"/>
          </a:xfrm>
          <a:prstGeom prst="ellipse">
            <a:avLst/>
          </a:prstGeom>
        </p:spPr>
      </p:pic>
      <p:pic>
        <p:nvPicPr>
          <p:cNvPr id="20" name="Image 4" descr="Une bouteille du domaine Fabien Castaing">    </p:cNvPr>
          <p:cNvPicPr>
            <a:picLocks noChangeAspect="1"/>
          </p:cNvPicPr>
          <p:nvPr/>
        </p:nvPicPr>
        <p:blipFill>
          <a:blip r:embed="rId5"/>
          <a:stretch>
            <a:fillRect/>
          </a:stretch>
        </p:blipFill>
        <p:spPr>
          <a:xfrm>
            <a:off x="6023794" y="1357200"/>
            <a:ext cx="552412" cy="2232000"/>
          </a:xfrm>
          <a:prstGeom prst="rect">
            <a:avLst/>
          </a:prstGeom>
        </p:spPr>
      </p:pic>
      <p:sp>
        <p:nvSpPr>
          <p:cNvPr id="21" name="Text 14"/>
          <p:cNvSpPr/>
          <p:nvPr/>
        </p:nvSpPr>
        <p:spPr>
          <a:xfrm>
            <a:off x="2177975" y="1402836"/>
            <a:ext cx="219650" cy="379171"/>
          </a:xfrm>
          <a:prstGeom prst="rect">
            <a:avLst/>
          </a:prstGeom>
          <a:noFill/>
          <a:ln/>
        </p:spPr>
        <p:txBody>
          <a:bodyPr wrap="square" lIns="0" tIns="0" rIns="0" bIns="0" rtlCol="0" anchor="t"/>
          <a:lstStyle/>
          <a:p>
            <a:pPr algn="r" indent="0" marL="0">
              <a:lnSpc>
                <a:spcPct val="125200"/>
              </a:lnSpc>
              <a:buNone/>
            </a:pPr>
            <a:r>
              <a:rPr lang="en-US" sz="1866" dirty="0">
                <a:solidFill>
                  <a:srgbClr val="67067C"/>
                </a:solidFill>
                <a:latin typeface="Young Serif" pitchFamily="34" charset="0"/>
                <a:ea typeface="Young Serif" pitchFamily="34" charset="-122"/>
                <a:cs typeface="Young Serif" pitchFamily="34" charset="-120"/>
              </a:rPr>
              <a:t>L</a:t>
            </a:r>
            <a:endParaRPr lang="en-US" sz="1866" dirty="0"/>
          </a:p>
        </p:txBody>
      </p:sp>
      <p:sp>
        <p:nvSpPr>
          <p:cNvPr id="22" name="Text 15"/>
          <p:cNvSpPr/>
          <p:nvPr/>
        </p:nvSpPr>
        <p:spPr>
          <a:xfrm>
            <a:off x="2232000" y="1501556"/>
            <a:ext cx="3456000" cy="2087545"/>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1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4" name="Text 16"/>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5" name="Image 5" descr="/home/user/philippe1/build/deco/sol-sud-ouest.png">    </p:cNvPr>
          <p:cNvPicPr>
            <a:picLocks noChangeAspect="1"/>
          </p:cNvPicPr>
          <p:nvPr/>
        </p:nvPicPr>
        <p:blipFill>
          <a:blip r:embed="rId6"/>
          <a:stretch>
            <a:fillRect/>
          </a:stretch>
        </p:blipFill>
        <p:spPr>
          <a:xfrm>
            <a:off x="612000" y="6214847"/>
            <a:ext cx="6120000" cy="1148400"/>
          </a:xfrm>
          <a:prstGeom prst="rect">
            <a:avLst/>
          </a:prstGeom>
        </p:spPr>
      </p:pic>
      <p:sp>
        <p:nvSpPr>
          <p:cNvPr id="26" name="Shape 17"/>
          <p:cNvSpPr/>
          <p:nvPr/>
        </p:nvSpPr>
        <p:spPr>
          <a:xfrm>
            <a:off x="612000" y="8388000"/>
            <a:ext cx="6120000" cy="0"/>
          </a:xfrm>
          <a:prstGeom prst="line">
            <a:avLst/>
          </a:prstGeom>
          <a:noFill/>
          <a:ln w="8890">
            <a:solidFill>
              <a:srgbClr val="46606E"/>
            </a:solidFill>
            <a:prstDash val="solid"/>
          </a:ln>
        </p:spPr>
      </p:sp>
      <p:sp>
        <p:nvSpPr>
          <p:cNvPr id="27"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29"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30"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label-hve.png">    </p:cNvPr>
          <p:cNvPicPr>
            <a:picLocks noChangeAspect="1"/>
          </p:cNvPicPr>
          <p:nvPr/>
        </p:nvPicPr>
        <p:blipFill>
          <a:blip r:embed="rId3"/>
          <a:stretch>
            <a:fillRect/>
          </a:stretch>
        </p:blipFill>
        <p:spPr>
          <a:xfrm>
            <a:off x="1465651" y="1083600"/>
            <a:ext cx="108000" cy="108000"/>
          </a:xfrm>
          <a:prstGeom prst="rect">
            <a:avLst/>
          </a:prstGeom>
        </p:spPr>
      </p:pic>
      <p:sp>
        <p:nvSpPr>
          <p:cNvPr id="12" name="Text 7"/>
          <p:cNvSpPr/>
          <p:nvPr/>
        </p:nvSpPr>
        <p:spPr>
          <a:xfrm>
            <a:off x="15412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2001000" y="10476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20010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465673" y="10476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465673"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409230" y="10476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40923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3696109"/>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185214"/>
            <a:ext cx="0" cy="288349"/>
          </a:xfrm>
          <a:prstGeom prst="line">
            <a:avLst/>
          </a:prstGeom>
          <a:noFill/>
          <a:ln w="17780">
            <a:solidFill>
              <a:srgbClr val="67067C"/>
            </a:solidFill>
            <a:prstDash val="solid"/>
          </a:ln>
        </p:spPr>
      </p:sp>
      <p:sp>
        <p:nvSpPr>
          <p:cNvPr id="22" name="Text 15"/>
          <p:cNvSpPr/>
          <p:nvPr/>
        </p:nvSpPr>
        <p:spPr>
          <a:xfrm>
            <a:off x="936000" y="518521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561756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3" descr="/home/user/philippe1/build/deco/sol-sud-ouest.png">    </p:cNvPr>
          <p:cNvPicPr>
            <a:picLocks noChangeAspect="1"/>
          </p:cNvPicPr>
          <p:nvPr/>
        </p:nvPicPr>
        <p:blipFill>
          <a:blip r:embed="rId4"/>
          <a:stretch>
            <a:fillRect/>
          </a:stretch>
        </p:blipFill>
        <p:spPr>
          <a:xfrm>
            <a:off x="828000" y="5765163"/>
            <a:ext cx="6120000" cy="1385229"/>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bordeaux.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bordeaux.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7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Bordeaux</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graves et argilo-calcaire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59</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25   </a:t>
            </a:r>
            <a:r>
              <a:rPr lang="en-US" sz="860" dirty="0">
                <a:solidFill>
                  <a:srgbClr val="FBF8F1"/>
                </a:solidFill>
                <a:latin typeface="IBM Plex Sans" pitchFamily="34" charset="0"/>
                <a:ea typeface="IBM Plex Sans" pitchFamily="34" charset="-122"/>
                <a:cs typeface="IBM Plex Sans" pitchFamily="34" charset="-120"/>
              </a:rPr>
              <a:t>La Passion des Terroirs</a:t>
            </a:r>
            <a:r>
              <a:rPr lang="en-US" sz="860" b="1" dirty="0">
                <a:solidFill>
                  <a:srgbClr val="FBF8F1"/>
                </a:solidFill>
                <a:latin typeface="IBM Plex Sans" pitchFamily="34" charset="0"/>
                <a:ea typeface="IBM Plex Sans" pitchFamily="34" charset="-122"/>
                <a:cs typeface="IBM Plex Sans" pitchFamily="34" charset="-120"/>
              </a:rPr>
              <a:t>   42</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Château la Gorce</a:t>
            </a:r>
            <a:r>
              <a:rPr lang="en-US" sz="860" b="1" dirty="0">
                <a:solidFill>
                  <a:srgbClr val="FBF8F1"/>
                </a:solidFill>
                <a:latin typeface="IBM Plex Sans" pitchFamily="34" charset="0"/>
                <a:ea typeface="IBM Plex Sans" pitchFamily="34" charset="-122"/>
                <a:cs typeface="IBM Plex Sans" pitchFamily="34" charset="-120"/>
              </a:rPr>
              <a:t>   45</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27   </a:t>
            </a:r>
            <a:r>
              <a:rPr lang="en-US" sz="860" dirty="0">
                <a:solidFill>
                  <a:srgbClr val="FBF8F1"/>
                </a:solidFill>
                <a:latin typeface="IBM Plex Sans" pitchFamily="34" charset="0"/>
                <a:ea typeface="IBM Plex Sans" pitchFamily="34" charset="-122"/>
                <a:cs typeface="IBM Plex Sans" pitchFamily="34" charset="-120"/>
              </a:rPr>
              <a:t>Château Falfas</a:t>
            </a:r>
            <a:r>
              <a:rPr lang="en-US" sz="860" b="1" dirty="0">
                <a:solidFill>
                  <a:srgbClr val="FBF8F1"/>
                </a:solidFill>
                <a:latin typeface="IBM Plex Sans" pitchFamily="34" charset="0"/>
                <a:ea typeface="IBM Plex Sans" pitchFamily="34" charset="-122"/>
                <a:cs typeface="IBM Plex Sans" pitchFamily="34" charset="-120"/>
              </a:rPr>
              <a:t>   47</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28   </a:t>
            </a:r>
            <a:r>
              <a:rPr lang="en-US" sz="860" dirty="0">
                <a:solidFill>
                  <a:srgbClr val="FBF8F1"/>
                </a:solidFill>
                <a:latin typeface="IBM Plex Sans" pitchFamily="34" charset="0"/>
                <a:ea typeface="IBM Plex Sans" pitchFamily="34" charset="-122"/>
                <a:cs typeface="IBM Plex Sans" pitchFamily="34" charset="-120"/>
              </a:rPr>
              <a:t>Château Pré la Lande</a:t>
            </a:r>
            <a:r>
              <a:rPr lang="en-US" sz="860" b="1" dirty="0">
                <a:solidFill>
                  <a:srgbClr val="FBF8F1"/>
                </a:solidFill>
                <a:latin typeface="IBM Plex Sans" pitchFamily="34" charset="0"/>
                <a:ea typeface="IBM Plex Sans" pitchFamily="34" charset="-122"/>
                <a:cs typeface="IBM Plex Sans" pitchFamily="34" charset="-120"/>
              </a:rPr>
              <a:t>   48</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29   </a:t>
            </a:r>
            <a:r>
              <a:rPr lang="en-US" sz="860" dirty="0">
                <a:solidFill>
                  <a:srgbClr val="FBF8F1"/>
                </a:solidFill>
                <a:latin typeface="IBM Plex Sans" pitchFamily="34" charset="0"/>
                <a:ea typeface="IBM Plex Sans" pitchFamily="34" charset="-122"/>
                <a:cs typeface="IBM Plex Sans" pitchFamily="34" charset="-120"/>
              </a:rPr>
              <a:t>Château Balac</a:t>
            </a:r>
            <a:r>
              <a:rPr lang="en-US" sz="860" b="1" dirty="0">
                <a:solidFill>
                  <a:srgbClr val="FBF8F1"/>
                </a:solidFill>
                <a:latin typeface="IBM Plex Sans" pitchFamily="34" charset="0"/>
                <a:ea typeface="IBM Plex Sans" pitchFamily="34" charset="-122"/>
                <a:cs typeface="IBM Plex Sans" pitchFamily="34" charset="-120"/>
              </a:rPr>
              <a:t>   49</a:t>
            </a:r>
            <a:endParaRPr lang="en-US" sz="860" dirty="0"/>
          </a:p>
        </p:txBody>
      </p:sp>
      <p:sp>
        <p:nvSpPr>
          <p:cNvPr id="17" name="Text 13"/>
          <p:cNvSpPr/>
          <p:nvPr/>
        </p:nvSpPr>
        <p:spPr>
          <a:xfrm>
            <a:off x="367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30   </a:t>
            </a:r>
            <a:r>
              <a:rPr lang="en-US" sz="860" dirty="0">
                <a:solidFill>
                  <a:srgbClr val="FBF8F1"/>
                </a:solidFill>
                <a:latin typeface="IBM Plex Sans" pitchFamily="34" charset="0"/>
                <a:ea typeface="IBM Plex Sans" pitchFamily="34" charset="-122"/>
                <a:cs typeface="IBM Plex Sans" pitchFamily="34" charset="-120"/>
              </a:rPr>
              <a:t>Château l’Escarderie</a:t>
            </a:r>
            <a:r>
              <a:rPr lang="en-US" sz="860" b="1" dirty="0">
                <a:solidFill>
                  <a:srgbClr val="FBF8F1"/>
                </a:solidFill>
                <a:latin typeface="IBM Plex Sans" pitchFamily="34" charset="0"/>
                <a:ea typeface="IBM Plex Sans" pitchFamily="34" charset="-122"/>
                <a:cs typeface="IBM Plex Sans" pitchFamily="34" charset="-120"/>
              </a:rPr>
              <a:t>   50</a:t>
            </a:r>
            <a:endParaRPr lang="en-US" sz="860" dirty="0"/>
          </a:p>
        </p:txBody>
      </p:sp>
      <p:sp>
        <p:nvSpPr>
          <p:cNvPr id="18"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41</a:t>
            </a:r>
            <a:endParaRPr lang="en-US" sz="750" dirty="0"/>
          </a:p>
        </p:txBody>
      </p:sp>
      <p:sp>
        <p:nvSpPr>
          <p:cNvPr id="19"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6" name="Image 2" descr="portrait de famille d'époque — La Passion des Terroirs">    </p:cNvPr>
          <p:cNvPicPr>
            <a:picLocks noChangeAspect="1"/>
          </p:cNvPicPr>
          <p:nvPr/>
        </p:nvPicPr>
        <p:blipFill>
          <a:blip r:embed="rId3"/>
          <a:srcRect l="0" r="0" t="12247" b="24677"/>
          <a:stretch/>
        </p:blipFill>
        <p:spPr>
          <a:xfrm>
            <a:off x="828000" y="1357200"/>
            <a:ext cx="1440000" cy="1440000"/>
          </a:xfrm>
          <a:prstGeom prst="ellipse">
            <a:avLst/>
          </a:prstGeom>
        </p:spPr>
      </p:pic>
      <p:pic>
        <p:nvPicPr>
          <p:cNvPr id="17" name="Image 3" descr="Une bouteille du domaine La Passion des Terroirs">    </p:cNvPr>
          <p:cNvPicPr>
            <a:picLocks noChangeAspect="1"/>
          </p:cNvPicPr>
          <p:nvPr/>
        </p:nvPicPr>
        <p:blipFill>
          <a:blip r:embed="rId4"/>
          <a:stretch>
            <a:fillRect/>
          </a:stretch>
        </p:blipFill>
        <p:spPr>
          <a:xfrm>
            <a:off x="6243098" y="1357200"/>
            <a:ext cx="545803" cy="2232000"/>
          </a:xfrm>
          <a:prstGeom prst="rect">
            <a:avLst/>
          </a:prstGeom>
        </p:spPr>
      </p:pic>
      <p:sp>
        <p:nvSpPr>
          <p:cNvPr id="18" name="Text 12"/>
          <p:cNvSpPr/>
          <p:nvPr/>
        </p:nvSpPr>
        <p:spPr>
          <a:xfrm>
            <a:off x="2394044" y="1273737"/>
            <a:ext cx="278319" cy="444195"/>
          </a:xfrm>
          <a:prstGeom prst="rect">
            <a:avLst/>
          </a:prstGeom>
          <a:noFill/>
          <a:ln/>
        </p:spPr>
        <p:txBody>
          <a:bodyPr wrap="square" lIns="0" tIns="0" rIns="0" bIns="0" rtlCol="0" anchor="t"/>
          <a:lstStyle/>
          <a:p>
            <a:pPr algn="r" indent="0" marL="0">
              <a:lnSpc>
                <a:spcPct val="123700"/>
              </a:lnSpc>
              <a:buNone/>
            </a:pPr>
            <a:r>
              <a:rPr lang="en-US" sz="2186" dirty="0">
                <a:solidFill>
                  <a:srgbClr val="67067C"/>
                </a:solidFill>
                <a:latin typeface="Young Serif" pitchFamily="34" charset="0"/>
                <a:ea typeface="Young Serif" pitchFamily="34" charset="-122"/>
                <a:cs typeface="Young Serif" pitchFamily="34" charset="-120"/>
              </a:rPr>
              <a:t>U</a:t>
            </a:r>
            <a:endParaRPr lang="en-US" sz="2186" dirty="0"/>
          </a:p>
        </p:txBody>
      </p:sp>
      <p:sp>
        <p:nvSpPr>
          <p:cNvPr id="19" name="Text 13"/>
          <p:cNvSpPr/>
          <p:nvPr/>
        </p:nvSpPr>
        <p:spPr>
          <a:xfrm>
            <a:off x="2448000" y="1396289"/>
            <a:ext cx="3456000" cy="2192812"/>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828000" y="645196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sol-bordeaux.png">    </p:cNvPr>
          <p:cNvPicPr>
            <a:picLocks noChangeAspect="1"/>
          </p:cNvPicPr>
          <p:nvPr/>
        </p:nvPicPr>
        <p:blipFill>
          <a:blip r:embed="rId5"/>
          <a:stretch>
            <a:fillRect/>
          </a:stretch>
        </p:blipFill>
        <p:spPr>
          <a:xfrm>
            <a:off x="828000" y="6599568"/>
            <a:ext cx="6120000" cy="1148400"/>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6423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585882"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858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2"/>
          <p:cNvSpPr/>
          <p:nvPr/>
        </p:nvSpPr>
        <p:spPr>
          <a:xfrm>
            <a:off x="612000" y="67558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8" name="Image 2" descr="/home/user/philippe1/build/deco/sol-bordeaux.png">    </p:cNvPr>
          <p:cNvPicPr>
            <a:picLocks noChangeAspect="1"/>
          </p:cNvPicPr>
          <p:nvPr/>
        </p:nvPicPr>
        <p:blipFill>
          <a:blip r:embed="rId3"/>
          <a:stretch>
            <a:fillRect/>
          </a:stretch>
        </p:blipFill>
        <p:spPr>
          <a:xfrm>
            <a:off x="612000" y="6903475"/>
            <a:ext cx="6120000" cy="1148400"/>
          </a:xfrm>
          <a:prstGeom prst="rect">
            <a:avLst/>
          </a:prstGeom>
        </p:spPr>
      </p:pic>
      <p:sp>
        <p:nvSpPr>
          <p:cNvPr id="19" name="Shape 13"/>
          <p:cNvSpPr/>
          <p:nvPr/>
        </p:nvSpPr>
        <p:spPr>
          <a:xfrm>
            <a:off x="612000" y="8388000"/>
            <a:ext cx="6120000" cy="0"/>
          </a:xfrm>
          <a:prstGeom prst="line">
            <a:avLst/>
          </a:prstGeom>
          <a:noFill/>
          <a:ln w="8890">
            <a:solidFill>
              <a:srgbClr val="46606E"/>
            </a:solidFill>
            <a:prstDash val="solid"/>
          </a:ln>
        </p:spPr>
      </p:sp>
      <p:sp>
        <p:nvSpPr>
          <p:cNvPr id="20"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3"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6313554"/>
            <a:ext cx="0" cy="288349"/>
          </a:xfrm>
          <a:prstGeom prst="line">
            <a:avLst/>
          </a:prstGeom>
          <a:noFill/>
          <a:ln w="17780">
            <a:solidFill>
              <a:srgbClr val="67067C"/>
            </a:solidFill>
            <a:prstDash val="solid"/>
          </a:ln>
        </p:spPr>
      </p:sp>
      <p:sp>
        <p:nvSpPr>
          <p:cNvPr id="18" name="Text 13"/>
          <p:cNvSpPr/>
          <p:nvPr/>
        </p:nvSpPr>
        <p:spPr>
          <a:xfrm>
            <a:off x="936000" y="631355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Demander le tarif et offre.</a:t>
            </a:r>
            <a:endParaRPr lang="en-US" sz="1050" dirty="0"/>
          </a:p>
        </p:txBody>
      </p:sp>
      <p:sp>
        <p:nvSpPr>
          <p:cNvPr id="19" name="Text 14"/>
          <p:cNvSpPr/>
          <p:nvPr/>
        </p:nvSpPr>
        <p:spPr>
          <a:xfrm>
            <a:off x="828000" y="674590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0" name="Image 2" descr="/home/user/philippe1/build/deco/sol-bordeaux.png">    </p:cNvPr>
          <p:cNvPicPr>
            <a:picLocks noChangeAspect="1"/>
          </p:cNvPicPr>
          <p:nvPr/>
        </p:nvPicPr>
        <p:blipFill>
          <a:blip r:embed="rId3"/>
          <a:stretch>
            <a:fillRect/>
          </a:stretch>
        </p:blipFill>
        <p:spPr>
          <a:xfrm>
            <a:off x="828000" y="6893503"/>
            <a:ext cx="6120000" cy="1148400"/>
          </a:xfrm>
          <a:prstGeom prst="rect">
            <a:avLst/>
          </a:prstGeom>
        </p:spPr>
      </p:pic>
      <p:sp>
        <p:nvSpPr>
          <p:cNvPr id="21" name="Shape 15"/>
          <p:cNvSpPr/>
          <p:nvPr/>
        </p:nvSpPr>
        <p:spPr>
          <a:xfrm>
            <a:off x="828000" y="8388000"/>
            <a:ext cx="6120000" cy="0"/>
          </a:xfrm>
          <a:prstGeom prst="line">
            <a:avLst/>
          </a:prstGeom>
          <a:noFill/>
          <a:ln w="8890">
            <a:solidFill>
              <a:srgbClr val="46606E"/>
            </a:solidFill>
            <a:prstDash val="solid"/>
          </a:ln>
        </p:spPr>
      </p:sp>
      <p:sp>
        <p:nvSpPr>
          <p:cNvPr id="22"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3"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4"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5"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4" name="Image 2" descr="portrait des vignerons — Château la Gorce">    </p:cNvPr>
          <p:cNvPicPr>
            <a:picLocks noChangeAspect="1"/>
          </p:cNvPicPr>
          <p:nvPr/>
        </p:nvPicPr>
        <p:blipFill>
          <a:blip r:embed="rId3"/>
          <a:srcRect l="0" r="0" t="11067" b="22266"/>
          <a:stretch/>
        </p:blipFill>
        <p:spPr>
          <a:xfrm>
            <a:off x="612000" y="1357200"/>
            <a:ext cx="1440000" cy="1440000"/>
          </a:xfrm>
          <a:prstGeom prst="ellipse">
            <a:avLst/>
          </a:prstGeom>
        </p:spPr>
      </p:pic>
      <p:pic>
        <p:nvPicPr>
          <p:cNvPr id="15" name="Image 3" descr="Une bouteille du domaine Château la Gorce">    </p:cNvPr>
          <p:cNvPicPr>
            <a:picLocks noChangeAspect="1"/>
          </p:cNvPicPr>
          <p:nvPr/>
        </p:nvPicPr>
        <p:blipFill>
          <a:blip r:embed="rId4"/>
          <a:stretch>
            <a:fillRect/>
          </a:stretch>
        </p:blipFill>
        <p:spPr>
          <a:xfrm>
            <a:off x="6024049" y="1357200"/>
            <a:ext cx="551902" cy="2232000"/>
          </a:xfrm>
          <a:prstGeom prst="rect">
            <a:avLst/>
          </a:prstGeom>
        </p:spPr>
      </p:pic>
      <p:sp>
        <p:nvSpPr>
          <p:cNvPr id="16" name="Text 10"/>
          <p:cNvSpPr/>
          <p:nvPr/>
        </p:nvSpPr>
        <p:spPr>
          <a:xfrm>
            <a:off x="2177992" y="1188595"/>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7" name="Text 11"/>
          <p:cNvSpPr/>
          <p:nvPr/>
        </p:nvSpPr>
        <p:spPr>
          <a:xfrm>
            <a:off x="2232000" y="1338415"/>
            <a:ext cx="3456000" cy="225068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2"/>
          <p:cNvSpPr/>
          <p:nvPr/>
        </p:nvSpPr>
        <p:spPr>
          <a:xfrm>
            <a:off x="612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0" name="Image 4" descr="/home/user/philippe1/build/deco/sol-bordeaux.png">    </p:cNvPr>
          <p:cNvPicPr>
            <a:picLocks noChangeAspect="1"/>
          </p:cNvPicPr>
          <p:nvPr/>
        </p:nvPicPr>
        <p:blipFill>
          <a:blip r:embed="rId5"/>
          <a:stretch>
            <a:fillRect/>
          </a:stretch>
        </p:blipFill>
        <p:spPr>
          <a:xfrm>
            <a:off x="612000" y="6276164"/>
            <a:ext cx="6120000" cy="1148400"/>
          </a:xfrm>
          <a:prstGeom prst="rect">
            <a:avLst/>
          </a:prstGeom>
        </p:spPr>
      </p:pic>
      <p:sp>
        <p:nvSpPr>
          <p:cNvPr id="21" name="Shape 13"/>
          <p:cNvSpPr/>
          <p:nvPr/>
        </p:nvSpPr>
        <p:spPr>
          <a:xfrm>
            <a:off x="612000" y="8388000"/>
            <a:ext cx="6120000" cy="0"/>
          </a:xfrm>
          <a:prstGeom prst="line">
            <a:avLst/>
          </a:prstGeom>
          <a:noFill/>
          <a:ln w="8890">
            <a:solidFill>
              <a:srgbClr val="46606E"/>
            </a:solidFill>
            <a:prstDash val="solid"/>
          </a:ln>
        </p:spPr>
      </p:sp>
      <p:sp>
        <p:nvSpPr>
          <p:cNvPr id="22"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4"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5"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5" name="Shape 10"/>
          <p:cNvSpPr/>
          <p:nvPr/>
        </p:nvSpPr>
        <p:spPr>
          <a:xfrm>
            <a:off x="828000" y="4066547"/>
            <a:ext cx="0" cy="288349"/>
          </a:xfrm>
          <a:prstGeom prst="line">
            <a:avLst/>
          </a:prstGeom>
          <a:noFill/>
          <a:ln w="17780">
            <a:solidFill>
              <a:srgbClr val="67067C"/>
            </a:solidFill>
            <a:prstDash val="solid"/>
          </a:ln>
        </p:spPr>
      </p:sp>
      <p:sp>
        <p:nvSpPr>
          <p:cNvPr id="16" name="Text 11"/>
          <p:cNvSpPr/>
          <p:nvPr/>
        </p:nvSpPr>
        <p:spPr>
          <a:xfrm>
            <a:off x="936000" y="4066547"/>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7" name="Text 12"/>
          <p:cNvSpPr/>
          <p:nvPr/>
        </p:nvSpPr>
        <p:spPr>
          <a:xfrm>
            <a:off x="828000" y="449889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8" name="Image 2" descr="/home/user/philippe1/build/deco/sol-bordeaux.png">    </p:cNvPr>
          <p:cNvPicPr>
            <a:picLocks noChangeAspect="1"/>
          </p:cNvPicPr>
          <p:nvPr/>
        </p:nvPicPr>
        <p:blipFill>
          <a:blip r:embed="rId3"/>
          <a:stretch>
            <a:fillRect/>
          </a:stretch>
        </p:blipFill>
        <p:spPr>
          <a:xfrm>
            <a:off x="828000" y="4646496"/>
            <a:ext cx="6120000" cy="2056430"/>
          </a:xfrm>
          <a:prstGeom prst="rect">
            <a:avLst/>
          </a:prstGeom>
        </p:spPr>
      </p:pic>
      <p:sp>
        <p:nvSpPr>
          <p:cNvPr id="19" name="Shape 13"/>
          <p:cNvSpPr/>
          <p:nvPr/>
        </p:nvSpPr>
        <p:spPr>
          <a:xfrm>
            <a:off x="828000" y="8388000"/>
            <a:ext cx="6120000" cy="0"/>
          </a:xfrm>
          <a:prstGeom prst="line">
            <a:avLst/>
          </a:prstGeom>
          <a:noFill/>
          <a:ln w="8890">
            <a:solidFill>
              <a:srgbClr val="46606E"/>
            </a:solidFill>
            <a:prstDash val="solid"/>
          </a:ln>
        </p:spPr>
      </p:sp>
      <p:sp>
        <p:nvSpPr>
          <p:cNvPr id="20" name="Text 14"/>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1"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2"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3"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biody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542680"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4268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00735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00735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château — Château Falfas">    </p:cNvPr>
          <p:cNvPicPr>
            <a:picLocks noChangeAspect="1"/>
          </p:cNvPicPr>
          <p:nvPr/>
        </p:nvPicPr>
        <p:blipFill>
          <a:blip r:embed="rId3"/>
          <a:stretch>
            <a:fillRect/>
          </a:stretch>
        </p:blipFill>
        <p:spPr>
          <a:xfrm>
            <a:off x="612000" y="1357200"/>
            <a:ext cx="1440000" cy="1440000"/>
          </a:xfrm>
          <a:prstGeom prst="rect">
            <a:avLst/>
          </a:prstGeom>
        </p:spPr>
      </p:pic>
      <p:pic>
        <p:nvPicPr>
          <p:cNvPr id="15" name="Image 3" descr="Une bouteille du domaine Château Falfas">    </p:cNvPr>
          <p:cNvPicPr>
            <a:picLocks noChangeAspect="1"/>
          </p:cNvPicPr>
          <p:nvPr/>
        </p:nvPicPr>
        <p:blipFill>
          <a:blip r:embed="rId4"/>
          <a:stretch>
            <a:fillRect/>
          </a:stretch>
        </p:blipFill>
        <p:spPr>
          <a:xfrm>
            <a:off x="6028623" y="1357200"/>
            <a:ext cx="542754" cy="2232000"/>
          </a:xfrm>
          <a:prstGeom prst="rect">
            <a:avLst/>
          </a:prstGeom>
        </p:spPr>
      </p:pic>
      <p:sp>
        <p:nvSpPr>
          <p:cNvPr id="16" name="Text 10"/>
          <p:cNvSpPr/>
          <p:nvPr/>
        </p:nvSpPr>
        <p:spPr>
          <a:xfrm>
            <a:off x="2177960" y="1352724"/>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232000" y="1462935"/>
            <a:ext cx="3456000" cy="21261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240205"/>
            <a:ext cx="0" cy="288349"/>
          </a:xfrm>
          <a:prstGeom prst="line">
            <a:avLst/>
          </a:prstGeom>
          <a:noFill/>
          <a:ln w="17780">
            <a:solidFill>
              <a:srgbClr val="67067C"/>
            </a:solidFill>
            <a:prstDash val="solid"/>
          </a:ln>
        </p:spPr>
      </p:sp>
      <p:sp>
        <p:nvSpPr>
          <p:cNvPr id="20" name="Text 13"/>
          <p:cNvSpPr/>
          <p:nvPr/>
        </p:nvSpPr>
        <p:spPr>
          <a:xfrm>
            <a:off x="720000" y="524020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67255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sol-bordeaux.png">    </p:cNvPr>
          <p:cNvPicPr>
            <a:picLocks noChangeAspect="1"/>
          </p:cNvPicPr>
          <p:nvPr/>
        </p:nvPicPr>
        <p:blipFill>
          <a:blip r:embed="rId5"/>
          <a:stretch>
            <a:fillRect/>
          </a:stretch>
        </p:blipFill>
        <p:spPr>
          <a:xfrm>
            <a:off x="612000" y="5820155"/>
            <a:ext cx="6120000" cy="1352235"/>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biody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vendanges au domaine — Château Pré la Lande">    </p:cNvPr>
          <p:cNvPicPr>
            <a:picLocks noChangeAspect="1"/>
          </p:cNvPicPr>
          <p:nvPr/>
        </p:nvPicPr>
        <p:blipFill>
          <a:blip r:embed="rId3"/>
          <a:srcRect l="10000" r="10000" t="0" b="0"/>
          <a:stretch/>
        </p:blipFill>
        <p:spPr>
          <a:xfrm>
            <a:off x="828000" y="1357200"/>
            <a:ext cx="1440000" cy="1440000"/>
          </a:xfrm>
          <a:prstGeom prst="ellipse">
            <a:avLst/>
          </a:prstGeom>
        </p:spPr>
      </p:pic>
      <p:pic>
        <p:nvPicPr>
          <p:cNvPr id="15" name="Image 3" descr="Une bouteille du domaine Château Pré la Lande">    </p:cNvPr>
          <p:cNvPicPr>
            <a:picLocks noChangeAspect="1"/>
          </p:cNvPicPr>
          <p:nvPr/>
        </p:nvPicPr>
        <p:blipFill>
          <a:blip r:embed="rId4"/>
          <a:stretch>
            <a:fillRect/>
          </a:stretch>
        </p:blipFill>
        <p:spPr>
          <a:xfrm>
            <a:off x="6238525" y="1357200"/>
            <a:ext cx="554951" cy="2232000"/>
          </a:xfrm>
          <a:prstGeom prst="rect">
            <a:avLst/>
          </a:prstGeom>
        </p:spPr>
      </p:pic>
      <p:sp>
        <p:nvSpPr>
          <p:cNvPr id="16" name="Text 10"/>
          <p:cNvSpPr/>
          <p:nvPr/>
        </p:nvSpPr>
        <p:spPr>
          <a:xfrm>
            <a:off x="2394017" y="1347879"/>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466269"/>
            <a:ext cx="3456000" cy="212283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240205"/>
            <a:ext cx="0" cy="288349"/>
          </a:xfrm>
          <a:prstGeom prst="line">
            <a:avLst/>
          </a:prstGeom>
          <a:noFill/>
          <a:ln w="17780">
            <a:solidFill>
              <a:srgbClr val="67067C"/>
            </a:solidFill>
            <a:prstDash val="solid"/>
          </a:ln>
        </p:spPr>
      </p:sp>
      <p:sp>
        <p:nvSpPr>
          <p:cNvPr id="20" name="Text 13"/>
          <p:cNvSpPr/>
          <p:nvPr/>
        </p:nvSpPr>
        <p:spPr>
          <a:xfrm>
            <a:off x="936000" y="524020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828000" y="567255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sol-bordeaux.png">    </p:cNvPr>
          <p:cNvPicPr>
            <a:picLocks noChangeAspect="1"/>
          </p:cNvPicPr>
          <p:nvPr/>
        </p:nvPicPr>
        <p:blipFill>
          <a:blip r:embed="rId5"/>
          <a:stretch>
            <a:fillRect/>
          </a:stretch>
        </p:blipFill>
        <p:spPr>
          <a:xfrm>
            <a:off x="828000" y="5820155"/>
            <a:ext cx="6120000" cy="1352235"/>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portrait des vignerons — Château Balac">    </p:cNvPr>
          <p:cNvPicPr>
            <a:picLocks noChangeAspect="1"/>
          </p:cNvPicPr>
          <p:nvPr/>
        </p:nvPicPr>
        <p:blipFill>
          <a:blip r:embed="rId3"/>
          <a:srcRect l="16591" r="16705" t="0" b="0"/>
          <a:stretch/>
        </p:blipFill>
        <p:spPr>
          <a:xfrm>
            <a:off x="612000" y="1357200"/>
            <a:ext cx="1440000" cy="1440000"/>
          </a:xfrm>
          <a:prstGeom prst="ellipse">
            <a:avLst/>
          </a:prstGeom>
        </p:spPr>
      </p:pic>
      <p:pic>
        <p:nvPicPr>
          <p:cNvPr id="15" name="Image 3" descr="Une bouteille du domaine Château Balac">    </p:cNvPr>
          <p:cNvPicPr>
            <a:picLocks noChangeAspect="1"/>
          </p:cNvPicPr>
          <p:nvPr/>
        </p:nvPicPr>
        <p:blipFill>
          <a:blip r:embed="rId4"/>
          <a:stretch>
            <a:fillRect/>
          </a:stretch>
        </p:blipFill>
        <p:spPr>
          <a:xfrm>
            <a:off x="6030148" y="1357200"/>
            <a:ext cx="539705" cy="2232000"/>
          </a:xfrm>
          <a:prstGeom prst="rect">
            <a:avLst/>
          </a:prstGeom>
        </p:spPr>
      </p:pic>
      <p:sp>
        <p:nvSpPr>
          <p:cNvPr id="16" name="Text 10"/>
          <p:cNvSpPr/>
          <p:nvPr/>
        </p:nvSpPr>
        <p:spPr>
          <a:xfrm>
            <a:off x="2177976" y="1476709"/>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615078"/>
            <a:ext cx="3456000" cy="197402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301523"/>
            <a:ext cx="0" cy="288349"/>
          </a:xfrm>
          <a:prstGeom prst="line">
            <a:avLst/>
          </a:prstGeom>
          <a:noFill/>
          <a:ln w="17780">
            <a:solidFill>
              <a:srgbClr val="67067C"/>
            </a:solidFill>
            <a:prstDash val="solid"/>
          </a:ln>
        </p:spPr>
      </p:sp>
      <p:sp>
        <p:nvSpPr>
          <p:cNvPr id="20" name="Text 13"/>
          <p:cNvSpPr/>
          <p:nvPr/>
        </p:nvSpPr>
        <p:spPr>
          <a:xfrm>
            <a:off x="720000" y="530152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73387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sol-bordeaux.png">    </p:cNvPr>
          <p:cNvPicPr>
            <a:picLocks noChangeAspect="1"/>
          </p:cNvPicPr>
          <p:nvPr/>
        </p:nvPicPr>
        <p:blipFill>
          <a:blip r:embed="rId5"/>
          <a:stretch>
            <a:fillRect/>
          </a:stretch>
        </p:blipFill>
        <p:spPr>
          <a:xfrm>
            <a:off x="612000" y="5881472"/>
            <a:ext cx="6120000" cy="1315444"/>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les deux vignerons, deux portraits côte à côte — Château l’Escarderie">    </p:cNvPr>
          <p:cNvPicPr>
            <a:picLocks noChangeAspect="1"/>
          </p:cNvPicPr>
          <p:nvPr/>
        </p:nvPicPr>
        <p:blipFill>
          <a:blip r:embed="rId3"/>
          <a:stretch>
            <a:fillRect/>
          </a:stretch>
        </p:blipFill>
        <p:spPr>
          <a:xfrm>
            <a:off x="828000" y="1357200"/>
            <a:ext cx="1440000" cy="1440000"/>
          </a:xfrm>
          <a:prstGeom prst="rect">
            <a:avLst/>
          </a:prstGeom>
        </p:spPr>
      </p:pic>
      <p:pic>
        <p:nvPicPr>
          <p:cNvPr id="15" name="Image 3" descr="Une bouteille du domaine Château l’Escarderie">    </p:cNvPr>
          <p:cNvPicPr>
            <a:picLocks noChangeAspect="1"/>
          </p:cNvPicPr>
          <p:nvPr/>
        </p:nvPicPr>
        <p:blipFill>
          <a:blip r:embed="rId4"/>
          <a:stretch>
            <a:fillRect/>
          </a:stretch>
        </p:blipFill>
        <p:spPr>
          <a:xfrm>
            <a:off x="6243098" y="1357200"/>
            <a:ext cx="545803" cy="2232000"/>
          </a:xfrm>
          <a:prstGeom prst="rect">
            <a:avLst/>
          </a:prstGeom>
        </p:spPr>
      </p:pic>
      <p:sp>
        <p:nvSpPr>
          <p:cNvPr id="16" name="Text 10"/>
          <p:cNvSpPr/>
          <p:nvPr/>
        </p:nvSpPr>
        <p:spPr>
          <a:xfrm>
            <a:off x="2394014" y="1339504"/>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7" name="Text 11"/>
          <p:cNvSpPr/>
          <p:nvPr/>
        </p:nvSpPr>
        <p:spPr>
          <a:xfrm>
            <a:off x="2448000" y="1472031"/>
            <a:ext cx="3456000" cy="211706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7163809"/>
            <a:ext cx="0" cy="288349"/>
          </a:xfrm>
          <a:prstGeom prst="line">
            <a:avLst/>
          </a:prstGeom>
          <a:noFill/>
          <a:ln w="17780">
            <a:solidFill>
              <a:srgbClr val="67067C"/>
            </a:solidFill>
            <a:prstDash val="solid"/>
          </a:ln>
        </p:spPr>
      </p:sp>
      <p:sp>
        <p:nvSpPr>
          <p:cNvPr id="20" name="Text 13"/>
          <p:cNvSpPr/>
          <p:nvPr/>
        </p:nvSpPr>
        <p:spPr>
          <a:xfrm>
            <a:off x="936000" y="7163809"/>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proven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proven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8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Provence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la Provence Verte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31   </a:t>
            </a:r>
            <a:r>
              <a:rPr lang="en-US" sz="860" dirty="0">
                <a:solidFill>
                  <a:srgbClr val="FBF8F1"/>
                </a:solidFill>
                <a:latin typeface="IBM Plex Sans" pitchFamily="34" charset="0"/>
                <a:ea typeface="IBM Plex Sans" pitchFamily="34" charset="-122"/>
                <a:cs typeface="IBM Plex Sans" pitchFamily="34" charset="-120"/>
              </a:rPr>
              <a:t>Bastide de Blacailloux</a:t>
            </a:r>
            <a:r>
              <a:rPr lang="en-US" sz="860" b="1" dirty="0">
                <a:solidFill>
                  <a:srgbClr val="FBF8F1"/>
                </a:solidFill>
                <a:latin typeface="IBM Plex Sans" pitchFamily="34" charset="0"/>
                <a:ea typeface="IBM Plex Sans" pitchFamily="34" charset="-122"/>
                <a:cs typeface="IBM Plex Sans" pitchFamily="34" charset="-120"/>
              </a:rPr>
              <a:t>   52</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51</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proven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orie en pierre sèche du domaine — Bastide de Blacailloux">    </p:cNvPr>
          <p:cNvPicPr>
            <a:picLocks noChangeAspect="1"/>
          </p:cNvPicPr>
          <p:nvPr/>
        </p:nvPicPr>
        <p:blipFill>
          <a:blip r:embed="rId3"/>
          <a:srcRect l="16602" r="16640" t="0" b="0"/>
          <a:stretch/>
        </p:blipFill>
        <p:spPr>
          <a:xfrm>
            <a:off x="828000" y="1357200"/>
            <a:ext cx="1440000" cy="1440000"/>
          </a:xfrm>
          <a:prstGeom prst="ellipse">
            <a:avLst/>
          </a:prstGeom>
        </p:spPr>
      </p:pic>
      <p:pic>
        <p:nvPicPr>
          <p:cNvPr id="15" name="Image 3" descr="Une bouteille du domaine Bastide de Blacailloux">    </p:cNvPr>
          <p:cNvPicPr>
            <a:picLocks noChangeAspect="1"/>
          </p:cNvPicPr>
          <p:nvPr/>
        </p:nvPicPr>
        <p:blipFill>
          <a:blip r:embed="rId4"/>
          <a:stretch>
            <a:fillRect/>
          </a:stretch>
        </p:blipFill>
        <p:spPr>
          <a:xfrm>
            <a:off x="6267492" y="1357200"/>
            <a:ext cx="497016" cy="2232000"/>
          </a:xfrm>
          <a:prstGeom prst="rect">
            <a:avLst/>
          </a:prstGeom>
        </p:spPr>
      </p:pic>
      <p:sp>
        <p:nvSpPr>
          <p:cNvPr id="16" name="Text 10"/>
          <p:cNvSpPr/>
          <p:nvPr/>
        </p:nvSpPr>
        <p:spPr>
          <a:xfrm>
            <a:off x="2393992" y="1329261"/>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7" name="Text 11"/>
          <p:cNvSpPr/>
          <p:nvPr/>
        </p:nvSpPr>
        <p:spPr>
          <a:xfrm>
            <a:off x="2448000" y="1479080"/>
            <a:ext cx="3456000" cy="211002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05" name="Table 1"/>
          <p:cNvGraphicFramePr>
            <a:graphicFrameLocks noGrp="1"/>
          </p:cNvGraphicFramePr>
          <p:nvPr>
            <p:extLst>
              <p:ext uri="{D42A27DB-BD31-4B8C-83A1-F6EECF244321}">
                <p14:modId xmlns:p14="http://schemas.microsoft.com/office/powerpoint/2010/main" val="1579011935"/>
              </p:ext>
            </p:extLst>
          </p:nvPr>
        </p:nvGraphicFramePr>
        <p:xfrm>
          <a:off x="828000" y="6916005"/>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7635669"/>
            <a:ext cx="0" cy="288349"/>
          </a:xfrm>
          <a:prstGeom prst="line">
            <a:avLst/>
          </a:prstGeom>
          <a:noFill/>
          <a:ln w="17780">
            <a:solidFill>
              <a:srgbClr val="67067C"/>
            </a:solidFill>
            <a:prstDash val="solid"/>
          </a:ln>
        </p:spPr>
      </p:sp>
      <p:sp>
        <p:nvSpPr>
          <p:cNvPr id="21" name="Text 13"/>
          <p:cNvSpPr/>
          <p:nvPr/>
        </p:nvSpPr>
        <p:spPr>
          <a:xfrm>
            <a:off x="936000" y="7635669"/>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2" name="Shape 14"/>
          <p:cNvSpPr/>
          <p:nvPr/>
        </p:nvSpPr>
        <p:spPr>
          <a:xfrm>
            <a:off x="828000" y="8388000"/>
            <a:ext cx="6120000" cy="0"/>
          </a:xfrm>
          <a:prstGeom prst="line">
            <a:avLst/>
          </a:prstGeom>
          <a:noFill/>
          <a:ln w="8890">
            <a:solidFill>
              <a:srgbClr val="46606E"/>
            </a:solidFill>
            <a:prstDash val="solid"/>
          </a:ln>
        </p:spPr>
      </p:sp>
      <p:sp>
        <p:nvSpPr>
          <p:cNvPr id="23" name="Text 15"/>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4"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5"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52</a:t>
            </a:r>
            <a:endParaRPr lang="en-US" sz="750" dirty="0"/>
          </a:p>
        </p:txBody>
      </p:sp>
      <p:sp>
        <p:nvSpPr>
          <p:cNvPr id="26"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languedoc.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languedoc.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9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Languedoc</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terrasses et garrigue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57</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32   </a:t>
            </a:r>
            <a:r>
              <a:rPr lang="en-US" sz="860" dirty="0">
                <a:solidFill>
                  <a:srgbClr val="FBF8F1"/>
                </a:solidFill>
                <a:latin typeface="IBM Plex Sans" pitchFamily="34" charset="0"/>
                <a:ea typeface="IBM Plex Sans" pitchFamily="34" charset="-122"/>
                <a:cs typeface="IBM Plex Sans" pitchFamily="34" charset="-120"/>
              </a:rPr>
              <a:t>Famille d’Exea</a:t>
            </a:r>
            <a:r>
              <a:rPr lang="en-US" sz="860" b="1" dirty="0">
                <a:solidFill>
                  <a:srgbClr val="FBF8F1"/>
                </a:solidFill>
                <a:latin typeface="IBM Plex Sans" pitchFamily="34" charset="0"/>
                <a:ea typeface="IBM Plex Sans" pitchFamily="34" charset="-122"/>
                <a:cs typeface="IBM Plex Sans" pitchFamily="34" charset="-120"/>
              </a:rPr>
              <a:t>   54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33   </a:t>
            </a:r>
            <a:r>
              <a:rPr lang="en-US" sz="860" dirty="0">
                <a:solidFill>
                  <a:srgbClr val="FBF8F1"/>
                </a:solidFill>
                <a:latin typeface="IBM Plex Sans" pitchFamily="34" charset="0"/>
                <a:ea typeface="IBM Plex Sans" pitchFamily="34" charset="-122"/>
                <a:cs typeface="IBM Plex Sans" pitchFamily="34" charset="-120"/>
              </a:rPr>
              <a:t>Famille d’Exea — Jus de Cépages</a:t>
            </a:r>
            <a:r>
              <a:rPr lang="en-US" sz="860" b="1" dirty="0">
                <a:solidFill>
                  <a:srgbClr val="FBF8F1"/>
                </a:solidFill>
                <a:latin typeface="IBM Plex Sans" pitchFamily="34" charset="0"/>
                <a:ea typeface="IBM Plex Sans" pitchFamily="34" charset="-122"/>
                <a:cs typeface="IBM Plex Sans" pitchFamily="34" charset="-120"/>
              </a:rPr>
              <a:t>   56</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34   </a:t>
            </a:r>
            <a:r>
              <a:rPr lang="en-US" sz="860" dirty="0">
                <a:solidFill>
                  <a:srgbClr val="FBF8F1"/>
                </a:solidFill>
                <a:latin typeface="IBM Plex Sans" pitchFamily="34" charset="0"/>
                <a:ea typeface="IBM Plex Sans" pitchFamily="34" charset="-122"/>
                <a:cs typeface="IBM Plex Sans" pitchFamily="34" charset="-120"/>
              </a:rPr>
              <a:t>Château de Gragnos</a:t>
            </a:r>
            <a:r>
              <a:rPr lang="en-US" sz="860" b="1" dirty="0">
                <a:solidFill>
                  <a:srgbClr val="FBF8F1"/>
                </a:solidFill>
                <a:latin typeface="IBM Plex Sans" pitchFamily="34" charset="0"/>
                <a:ea typeface="IBM Plex Sans" pitchFamily="34" charset="-122"/>
                <a:cs typeface="IBM Plex Sans" pitchFamily="34" charset="-120"/>
              </a:rPr>
              <a:t>   57</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35   </a:t>
            </a:r>
            <a:r>
              <a:rPr lang="en-US" sz="860" dirty="0">
                <a:solidFill>
                  <a:srgbClr val="FBF8F1"/>
                </a:solidFill>
                <a:latin typeface="IBM Plex Sans" pitchFamily="34" charset="0"/>
                <a:ea typeface="IBM Plex Sans" pitchFamily="34" charset="-122"/>
                <a:cs typeface="IBM Plex Sans" pitchFamily="34" charset="-120"/>
              </a:rPr>
              <a:t>Domaine Les Lys</a:t>
            </a:r>
            <a:r>
              <a:rPr lang="en-US" sz="860" b="1" dirty="0">
                <a:solidFill>
                  <a:srgbClr val="FBF8F1"/>
                </a:solidFill>
                <a:latin typeface="IBM Plex Sans" pitchFamily="34" charset="0"/>
                <a:ea typeface="IBM Plex Sans" pitchFamily="34" charset="-122"/>
                <a:cs typeface="IBM Plex Sans" pitchFamily="34" charset="-120"/>
              </a:rPr>
              <a:t>   58</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36   </a:t>
            </a:r>
            <a:r>
              <a:rPr lang="en-US" sz="860" dirty="0">
                <a:solidFill>
                  <a:srgbClr val="FBF8F1"/>
                </a:solidFill>
                <a:latin typeface="IBM Plex Sans" pitchFamily="34" charset="0"/>
                <a:ea typeface="IBM Plex Sans" pitchFamily="34" charset="-122"/>
                <a:cs typeface="IBM Plex Sans" pitchFamily="34" charset="-120"/>
              </a:rPr>
              <a:t>Prieuré Sainte-Marie d’Albas</a:t>
            </a:r>
            <a:r>
              <a:rPr lang="en-US" sz="860" b="1" dirty="0">
                <a:solidFill>
                  <a:srgbClr val="FBF8F1"/>
                </a:solidFill>
                <a:latin typeface="IBM Plex Sans" pitchFamily="34" charset="0"/>
                <a:ea typeface="IBM Plex Sans" pitchFamily="34" charset="-122"/>
                <a:cs typeface="IBM Plex Sans" pitchFamily="34" charset="-120"/>
              </a:rPr>
              <a:t>   59</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53</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4" name="Image 2" descr="logo de la maison — Famille d’Exea">    </p:cNvPr>
          <p:cNvPicPr>
            <a:picLocks noChangeAspect="1"/>
          </p:cNvPicPr>
          <p:nvPr/>
        </p:nvPicPr>
        <p:blipFill>
          <a:blip r:embed="rId3"/>
          <a:stretch>
            <a:fillRect/>
          </a:stretch>
        </p:blipFill>
        <p:spPr>
          <a:xfrm>
            <a:off x="828000" y="1357200"/>
            <a:ext cx="1440000" cy="1440000"/>
          </a:xfrm>
          <a:prstGeom prst="rect">
            <a:avLst/>
          </a:prstGeom>
        </p:spPr>
      </p:pic>
      <p:pic>
        <p:nvPicPr>
          <p:cNvPr id="15" name="Image 3" descr="Une bouteille du domaine Famille d’Exea">    </p:cNvPr>
          <p:cNvPicPr>
            <a:picLocks noChangeAspect="1"/>
          </p:cNvPicPr>
          <p:nvPr/>
        </p:nvPicPr>
        <p:blipFill>
          <a:blip r:embed="rId4"/>
          <a:stretch>
            <a:fillRect/>
          </a:stretch>
        </p:blipFill>
        <p:spPr>
          <a:xfrm>
            <a:off x="6223279" y="1357200"/>
            <a:ext cx="585443" cy="2232000"/>
          </a:xfrm>
          <a:prstGeom prst="rect">
            <a:avLst/>
          </a:prstGeom>
        </p:spPr>
      </p:pic>
      <p:sp>
        <p:nvSpPr>
          <p:cNvPr id="16" name="Text 10"/>
          <p:cNvSpPr/>
          <p:nvPr/>
        </p:nvSpPr>
        <p:spPr>
          <a:xfrm>
            <a:off x="2393965" y="1758870"/>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448000" y="1895837"/>
            <a:ext cx="3456000" cy="169326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2"/>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56</a:t>
            </a:r>
            <a:endParaRPr lang="en-US" sz="740" dirty="0"/>
          </a:p>
        </p:txBody>
      </p:sp>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54</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11" name="Table 1"/>
          <p:cNvGraphicFramePr>
            <a:graphicFrameLocks noGrp="1"/>
          </p:cNvGraphicFramePr>
          <p:nvPr>
            <p:extLst>
              <p:ext uri="{D42A27DB-BD31-4B8C-83A1-F6EECF244321}">
                <p14:modId xmlns:p14="http://schemas.microsoft.com/office/powerpoint/2010/main" val="1579011935"/>
              </p:ext>
            </p:extLst>
          </p:nvPr>
        </p:nvGraphicFramePr>
        <p:xfrm>
          <a:off x="612000" y="568103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50 BIB demi pal</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100 BIB 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7170135"/>
            <a:ext cx="0" cy="288349"/>
          </a:xfrm>
          <a:prstGeom prst="line">
            <a:avLst/>
          </a:prstGeom>
          <a:noFill/>
          <a:ln w="17780">
            <a:solidFill>
              <a:srgbClr val="67067C"/>
            </a:solidFill>
            <a:prstDash val="solid"/>
          </a:ln>
        </p:spPr>
      </p:sp>
      <p:sp>
        <p:nvSpPr>
          <p:cNvPr id="17" name="Text 11"/>
          <p:cNvSpPr/>
          <p:nvPr/>
        </p:nvSpPr>
        <p:spPr>
          <a:xfrm>
            <a:off x="720000" y="717013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18" name="Text 12"/>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56</a:t>
            </a:r>
            <a:endParaRPr lang="en-US" sz="740" dirty="0"/>
          </a:p>
        </p:txBody>
      </p:sp>
      <p:sp>
        <p:nvSpPr>
          <p:cNvPr id="19" name="Shape 13"/>
          <p:cNvSpPr/>
          <p:nvPr/>
        </p:nvSpPr>
        <p:spPr>
          <a:xfrm>
            <a:off x="612000" y="8388000"/>
            <a:ext cx="6120000" cy="0"/>
          </a:xfrm>
          <a:prstGeom prst="line">
            <a:avLst/>
          </a:prstGeom>
          <a:noFill/>
          <a:ln w="8890">
            <a:solidFill>
              <a:srgbClr val="46606E"/>
            </a:solidFill>
            <a:prstDash val="solid"/>
          </a:ln>
        </p:spPr>
      </p:sp>
      <p:sp>
        <p:nvSpPr>
          <p:cNvPr id="20"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1"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2"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55</a:t>
            </a:r>
            <a:endParaRPr lang="en-US" sz="750" dirty="0"/>
          </a:p>
        </p:txBody>
      </p:sp>
      <p:sp>
        <p:nvSpPr>
          <p:cNvPr id="23"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rebis dans les vignes — Famille d’Exea — Jus de Cépages">    </p:cNvPr>
          <p:cNvPicPr>
            <a:picLocks noChangeAspect="1"/>
          </p:cNvPicPr>
          <p:nvPr/>
        </p:nvPicPr>
        <p:blipFill>
          <a:blip r:embed="rId3"/>
          <a:srcRect l="11667" r="21666" t="0" b="0"/>
          <a:stretch/>
        </p:blipFill>
        <p:spPr>
          <a:xfrm>
            <a:off x="828000" y="1357200"/>
            <a:ext cx="1440000" cy="1440000"/>
          </a:xfrm>
          <a:prstGeom prst="ellipse">
            <a:avLst/>
          </a:prstGeom>
        </p:spPr>
      </p:pic>
      <p:pic>
        <p:nvPicPr>
          <p:cNvPr id="15" name="Image 3" descr="Une bouteille du domaine Famille d’Exea — Jus de Cépages">    </p:cNvPr>
          <p:cNvPicPr>
            <a:picLocks noChangeAspect="1"/>
          </p:cNvPicPr>
          <p:nvPr/>
        </p:nvPicPr>
        <p:blipFill>
          <a:blip r:embed="rId4"/>
          <a:stretch>
            <a:fillRect/>
          </a:stretch>
        </p:blipFill>
        <p:spPr>
          <a:xfrm>
            <a:off x="6113508" y="1357200"/>
            <a:ext cx="804984" cy="2232000"/>
          </a:xfrm>
          <a:prstGeom prst="rect">
            <a:avLst/>
          </a:prstGeom>
        </p:spPr>
      </p:pic>
      <p:sp>
        <p:nvSpPr>
          <p:cNvPr id="16" name="Text 10"/>
          <p:cNvSpPr/>
          <p:nvPr/>
        </p:nvSpPr>
        <p:spPr>
          <a:xfrm>
            <a:off x="2394013" y="1280867"/>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7" name="Text 11"/>
          <p:cNvSpPr/>
          <p:nvPr/>
        </p:nvSpPr>
        <p:spPr>
          <a:xfrm>
            <a:off x="2448000" y="1391383"/>
            <a:ext cx="3456000" cy="2197717"/>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13" name="Table 1"/>
          <p:cNvGraphicFramePr>
            <a:graphicFrameLocks noGrp="1"/>
          </p:cNvGraphicFramePr>
          <p:nvPr>
            <p:extLst>
              <p:ext uri="{D42A27DB-BD31-4B8C-83A1-F6EECF244321}">
                <p14:modId xmlns:p14="http://schemas.microsoft.com/office/powerpoint/2010/main" val="1579011935"/>
              </p:ext>
            </p:extLst>
          </p:nvPr>
        </p:nvGraphicFramePr>
        <p:xfrm>
          <a:off x="828000" y="6085247"/>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7574352"/>
            <a:ext cx="0" cy="288349"/>
          </a:xfrm>
          <a:prstGeom prst="line">
            <a:avLst/>
          </a:prstGeom>
          <a:noFill/>
          <a:ln w="17780">
            <a:solidFill>
              <a:srgbClr val="67067C"/>
            </a:solidFill>
            <a:prstDash val="solid"/>
          </a:ln>
        </p:spPr>
      </p:sp>
      <p:sp>
        <p:nvSpPr>
          <p:cNvPr id="21" name="Text 13"/>
          <p:cNvSpPr/>
          <p:nvPr/>
        </p:nvSpPr>
        <p:spPr>
          <a:xfrm>
            <a:off x="936000" y="757435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2" name="Text 14"/>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54</a:t>
            </a:r>
            <a:endParaRPr lang="en-US" sz="740" dirty="0"/>
          </a:p>
        </p:txBody>
      </p:sp>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conversio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7168"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7168"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grappes à la vigne — Château de Gragnos">    </p:cNvPr>
          <p:cNvPicPr>
            <a:picLocks noChangeAspect="1"/>
          </p:cNvPicPr>
          <p:nvPr/>
        </p:nvPicPr>
        <p:blipFill>
          <a:blip r:embed="rId3"/>
          <a:srcRect l="0" r="0" t="11094" b="22239"/>
          <a:stretch/>
        </p:blipFill>
        <p:spPr>
          <a:xfrm>
            <a:off x="612000" y="1357200"/>
            <a:ext cx="1440000" cy="1440000"/>
          </a:xfrm>
          <a:prstGeom prst="ellipse">
            <a:avLst/>
          </a:prstGeom>
        </p:spPr>
      </p:pic>
      <p:pic>
        <p:nvPicPr>
          <p:cNvPr id="15" name="Image 3" descr="Une bouteille du domaine Château de Gragnos">    </p:cNvPr>
          <p:cNvPicPr>
            <a:picLocks noChangeAspect="1"/>
          </p:cNvPicPr>
          <p:nvPr/>
        </p:nvPicPr>
        <p:blipFill>
          <a:blip r:embed="rId4"/>
          <a:stretch>
            <a:fillRect/>
          </a:stretch>
        </p:blipFill>
        <p:spPr>
          <a:xfrm>
            <a:off x="6008803" y="1357200"/>
            <a:ext cx="582393" cy="2232000"/>
          </a:xfrm>
          <a:prstGeom prst="rect">
            <a:avLst/>
          </a:prstGeom>
        </p:spPr>
      </p:pic>
      <p:sp>
        <p:nvSpPr>
          <p:cNvPr id="16" name="Text 10"/>
          <p:cNvSpPr/>
          <p:nvPr/>
        </p:nvSpPr>
        <p:spPr>
          <a:xfrm>
            <a:off x="2177976" y="1336044"/>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74413"/>
            <a:ext cx="3456000" cy="211468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7163809"/>
            <a:ext cx="0" cy="288349"/>
          </a:xfrm>
          <a:prstGeom prst="line">
            <a:avLst/>
          </a:prstGeom>
          <a:noFill/>
          <a:ln w="17780">
            <a:solidFill>
              <a:srgbClr val="67067C"/>
            </a:solidFill>
            <a:prstDash val="solid"/>
          </a:ln>
        </p:spPr>
      </p:sp>
      <p:sp>
        <p:nvSpPr>
          <p:cNvPr id="20" name="Text 13"/>
          <p:cNvSpPr/>
          <p:nvPr/>
        </p:nvSpPr>
        <p:spPr>
          <a:xfrm>
            <a:off x="720000" y="7163809"/>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ogo du domaine — Domaine Les Lys">    </p:cNvPr>
          <p:cNvPicPr>
            <a:picLocks noChangeAspect="1"/>
          </p:cNvPicPr>
          <p:nvPr/>
        </p:nvPicPr>
        <p:blipFill>
          <a:blip r:embed="rId3"/>
          <a:stretch>
            <a:fillRect/>
          </a:stretch>
        </p:blipFill>
        <p:spPr>
          <a:xfrm>
            <a:off x="828000" y="1357200"/>
            <a:ext cx="1440000" cy="1440000"/>
          </a:xfrm>
          <a:prstGeom prst="rect">
            <a:avLst/>
          </a:prstGeom>
        </p:spPr>
      </p:pic>
      <p:pic>
        <p:nvPicPr>
          <p:cNvPr id="15" name="Image 3" descr="Une bouteille du domaine Domaine Les Lys">    </p:cNvPr>
          <p:cNvPicPr>
            <a:picLocks noChangeAspect="1"/>
          </p:cNvPicPr>
          <p:nvPr/>
        </p:nvPicPr>
        <p:blipFill>
          <a:blip r:embed="rId4"/>
          <a:stretch>
            <a:fillRect/>
          </a:stretch>
        </p:blipFill>
        <p:spPr>
          <a:xfrm>
            <a:off x="6224803" y="1357200"/>
            <a:ext cx="582393" cy="2232000"/>
          </a:xfrm>
          <a:prstGeom prst="rect">
            <a:avLst/>
          </a:prstGeom>
        </p:spPr>
      </p:pic>
      <p:sp>
        <p:nvSpPr>
          <p:cNvPr id="16" name="Text 10"/>
          <p:cNvSpPr/>
          <p:nvPr/>
        </p:nvSpPr>
        <p:spPr>
          <a:xfrm>
            <a:off x="2393960" y="1493390"/>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448000" y="1603600"/>
            <a:ext cx="3456000" cy="19855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779088"/>
            <a:ext cx="0" cy="288349"/>
          </a:xfrm>
          <a:prstGeom prst="line">
            <a:avLst/>
          </a:prstGeom>
          <a:noFill/>
          <a:ln w="17780">
            <a:solidFill>
              <a:srgbClr val="67067C"/>
            </a:solidFill>
            <a:prstDash val="solid"/>
          </a:ln>
        </p:spPr>
      </p:sp>
      <p:sp>
        <p:nvSpPr>
          <p:cNvPr id="20" name="Text 13"/>
          <p:cNvSpPr/>
          <p:nvPr/>
        </p:nvSpPr>
        <p:spPr>
          <a:xfrm>
            <a:off x="936000" y="6779088"/>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721143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sol-languedoc.png">    </p:cNvPr>
          <p:cNvPicPr>
            <a:picLocks noChangeAspect="1"/>
          </p:cNvPicPr>
          <p:nvPr/>
        </p:nvPicPr>
        <p:blipFill>
          <a:blip r:embed="rId5"/>
          <a:stretch>
            <a:fillRect/>
          </a:stretch>
        </p:blipFill>
        <p:spPr>
          <a:xfrm>
            <a:off x="828000" y="7359038"/>
            <a:ext cx="6120000" cy="729241"/>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hve.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4" name="Image 2" descr="les deux vignerons et leur rosé, noir et blanc — Prieuré Sainte-Marie d’Albas">    </p:cNvPr>
          <p:cNvPicPr>
            <a:picLocks noChangeAspect="1"/>
          </p:cNvPicPr>
          <p:nvPr/>
        </p:nvPicPr>
        <p:blipFill>
          <a:blip r:embed="rId3"/>
          <a:srcRect l="0" r="0" t="0" b="0"/>
          <a:stretch/>
        </p:blipFill>
        <p:spPr>
          <a:xfrm>
            <a:off x="612000" y="1357200"/>
            <a:ext cx="1440000" cy="1440000"/>
          </a:xfrm>
          <a:prstGeom prst="ellipse">
            <a:avLst/>
          </a:prstGeom>
        </p:spPr>
      </p:pic>
      <p:pic>
        <p:nvPicPr>
          <p:cNvPr id="15" name="Image 3" descr="Une bouteille du domaine Prieuré Sainte-Marie d’Albas">    </p:cNvPr>
          <p:cNvPicPr>
            <a:picLocks noChangeAspect="1"/>
          </p:cNvPicPr>
          <p:nvPr/>
        </p:nvPicPr>
        <p:blipFill>
          <a:blip r:embed="rId4"/>
          <a:stretch>
            <a:fillRect/>
          </a:stretch>
        </p:blipFill>
        <p:spPr>
          <a:xfrm>
            <a:off x="6056066" y="1357200"/>
            <a:ext cx="487869" cy="2232000"/>
          </a:xfrm>
          <a:prstGeom prst="rect">
            <a:avLst/>
          </a:prstGeom>
        </p:spPr>
      </p:pic>
      <p:sp>
        <p:nvSpPr>
          <p:cNvPr id="16" name="Text 10"/>
          <p:cNvSpPr/>
          <p:nvPr/>
        </p:nvSpPr>
        <p:spPr>
          <a:xfrm>
            <a:off x="2177963" y="1269446"/>
            <a:ext cx="278400" cy="456794"/>
          </a:xfrm>
          <a:prstGeom prst="rect">
            <a:avLst/>
          </a:prstGeom>
          <a:noFill/>
          <a:ln/>
        </p:spPr>
        <p:txBody>
          <a:bodyPr wrap="square" lIns="0" tIns="0" rIns="0" bIns="0" rtlCol="0" anchor="t"/>
          <a:lstStyle/>
          <a:p>
            <a:pPr algn="r" indent="0" marL="0">
              <a:lnSpc>
                <a:spcPct val="122800"/>
              </a:lnSpc>
              <a:buNone/>
            </a:pPr>
            <a:r>
              <a:rPr lang="en-US" sz="2248" dirty="0">
                <a:solidFill>
                  <a:srgbClr val="67067C"/>
                </a:solidFill>
                <a:latin typeface="Young Serif" pitchFamily="34" charset="0"/>
                <a:ea typeface="Young Serif" pitchFamily="34" charset="-122"/>
                <a:cs typeface="Young Serif" pitchFamily="34" charset="-120"/>
              </a:rPr>
              <a:t>A</a:t>
            </a:r>
            <a:endParaRPr lang="en-US" sz="2248" dirty="0"/>
          </a:p>
        </p:txBody>
      </p:sp>
      <p:sp>
        <p:nvSpPr>
          <p:cNvPr id="17" name="Text 11"/>
          <p:cNvSpPr/>
          <p:nvPr/>
        </p:nvSpPr>
        <p:spPr>
          <a:xfrm>
            <a:off x="2232000" y="1399241"/>
            <a:ext cx="3456000" cy="2189859"/>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 AOP Corbières et IGP Pays d’Oc.</a:t>
            </a:r>
            <a:endParaRPr lang="en-US" sz="1225"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2"/>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0" name="Image 4" descr="/home/user/philippe1/build/deco/sol-languedoc.png">    </p:cNvPr>
          <p:cNvPicPr>
            <a:picLocks noChangeAspect="1"/>
          </p:cNvPicPr>
          <p:nvPr/>
        </p:nvPicPr>
        <p:blipFill>
          <a:blip r:embed="rId5"/>
          <a:stretch>
            <a:fillRect/>
          </a:stretch>
        </p:blipFill>
        <p:spPr>
          <a:xfrm>
            <a:off x="612000" y="6214847"/>
            <a:ext cx="6120000" cy="1148400"/>
          </a:xfrm>
          <a:prstGeom prst="rect">
            <a:avLst/>
          </a:prstGeom>
        </p:spPr>
      </p:pic>
      <p:sp>
        <p:nvSpPr>
          <p:cNvPr id="21" name="Shape 13"/>
          <p:cNvSpPr/>
          <p:nvPr/>
        </p:nvSpPr>
        <p:spPr>
          <a:xfrm>
            <a:off x="612000" y="8388000"/>
            <a:ext cx="6120000" cy="0"/>
          </a:xfrm>
          <a:prstGeom prst="line">
            <a:avLst/>
          </a:prstGeom>
          <a:noFill/>
          <a:ln w="8890">
            <a:solidFill>
              <a:srgbClr val="46606E"/>
            </a:solidFill>
            <a:prstDash val="solid"/>
          </a:ln>
        </p:spPr>
      </p:sp>
      <p:sp>
        <p:nvSpPr>
          <p:cNvPr id="22" name="Text 14"/>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59</a:t>
            </a:r>
            <a:endParaRPr lang="en-US" sz="750" dirty="0"/>
          </a:p>
        </p:txBody>
      </p:sp>
      <p:sp>
        <p:nvSpPr>
          <p:cNvPr id="25"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hve.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476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BIB 3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5" name="Shape 10"/>
          <p:cNvSpPr/>
          <p:nvPr/>
        </p:nvSpPr>
        <p:spPr>
          <a:xfrm>
            <a:off x="828000" y="4774671"/>
            <a:ext cx="0" cy="288349"/>
          </a:xfrm>
          <a:prstGeom prst="line">
            <a:avLst/>
          </a:prstGeom>
          <a:noFill/>
          <a:ln w="17780">
            <a:solidFill>
              <a:srgbClr val="67067C"/>
            </a:solidFill>
            <a:prstDash val="solid"/>
          </a:ln>
        </p:spPr>
      </p:sp>
      <p:sp>
        <p:nvSpPr>
          <p:cNvPr id="16" name="Text 11"/>
          <p:cNvSpPr/>
          <p:nvPr/>
        </p:nvSpPr>
        <p:spPr>
          <a:xfrm>
            <a:off x="936000" y="4774671"/>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17" name="Text 12"/>
          <p:cNvSpPr/>
          <p:nvPr/>
        </p:nvSpPr>
        <p:spPr>
          <a:xfrm>
            <a:off x="828000" y="52070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8" name="Image 2" descr="/home/user/philippe1/build/deco/sol-languedoc.png">    </p:cNvPr>
          <p:cNvPicPr>
            <a:picLocks noChangeAspect="1"/>
          </p:cNvPicPr>
          <p:nvPr/>
        </p:nvPicPr>
        <p:blipFill>
          <a:blip r:embed="rId3"/>
          <a:stretch>
            <a:fillRect/>
          </a:stretch>
        </p:blipFill>
        <p:spPr>
          <a:xfrm>
            <a:off x="828000" y="5354620"/>
            <a:ext cx="6120000" cy="1631555"/>
          </a:xfrm>
          <a:prstGeom prst="rect">
            <a:avLst/>
          </a:prstGeom>
        </p:spPr>
      </p:pic>
      <p:sp>
        <p:nvSpPr>
          <p:cNvPr id="19" name="Shape 13"/>
          <p:cNvSpPr/>
          <p:nvPr/>
        </p:nvSpPr>
        <p:spPr>
          <a:xfrm>
            <a:off x="828000" y="8388000"/>
            <a:ext cx="6120000" cy="0"/>
          </a:xfrm>
          <a:prstGeom prst="line">
            <a:avLst/>
          </a:prstGeom>
          <a:noFill/>
          <a:ln w="8890">
            <a:solidFill>
              <a:srgbClr val="46606E"/>
            </a:solidFill>
            <a:prstDash val="solid"/>
          </a:ln>
        </p:spPr>
      </p:sp>
      <p:sp>
        <p:nvSpPr>
          <p:cNvPr id="20" name="Text 14"/>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1"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2"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60</a:t>
            </a:r>
            <a:endParaRPr lang="en-US" sz="750" dirty="0"/>
          </a:p>
        </p:txBody>
      </p:sp>
      <p:sp>
        <p:nvSpPr>
          <p:cNvPr id="23"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champa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champa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46606E"/>
                </a:solidFill>
                <a:latin typeface="IBM Plex Sans" pitchFamily="34" charset="0"/>
                <a:ea typeface="IBM Plex Sans" pitchFamily="34" charset="-122"/>
                <a:cs typeface="IBM Plex Sans" pitchFamily="34" charset="-120"/>
              </a:rPr>
              <a:t>10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46606E"/>
                </a:solidFill>
                <a:latin typeface="Young Serif" pitchFamily="34" charset="0"/>
                <a:ea typeface="Young Serif" pitchFamily="34" charset="-122"/>
                <a:cs typeface="Young Serif" pitchFamily="34" charset="-120"/>
              </a:rPr>
              <a:t>Champagne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46606E"/>
                </a:solidFill>
                <a:latin typeface="Spectral" pitchFamily="34" charset="0"/>
                <a:ea typeface="Spectral" pitchFamily="34" charset="-122"/>
                <a:cs typeface="Spectral" pitchFamily="34" charset="-120"/>
              </a:rPr>
              <a:t>la craie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26</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37   </a:t>
            </a:r>
            <a:r>
              <a:rPr lang="en-US" sz="860" dirty="0">
                <a:solidFill>
                  <a:srgbClr val="46606E"/>
                </a:solidFill>
                <a:latin typeface="IBM Plex Sans" pitchFamily="34" charset="0"/>
                <a:ea typeface="IBM Plex Sans" pitchFamily="34" charset="-122"/>
                <a:cs typeface="IBM Plex Sans" pitchFamily="34" charset="-120"/>
              </a:rPr>
              <a:t>Champagne Dekeyne</a:t>
            </a:r>
            <a:r>
              <a:rPr lang="en-US" sz="860" b="1" dirty="0">
                <a:solidFill>
                  <a:srgbClr val="46606E"/>
                </a:solidFill>
                <a:latin typeface="IBM Plex Sans" pitchFamily="34" charset="0"/>
                <a:ea typeface="IBM Plex Sans" pitchFamily="34" charset="-122"/>
                <a:cs typeface="IBM Plex Sans" pitchFamily="34" charset="-120"/>
              </a:rPr>
              <a:t>   62</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38   </a:t>
            </a:r>
            <a:r>
              <a:rPr lang="en-US" sz="860" dirty="0">
                <a:solidFill>
                  <a:srgbClr val="46606E"/>
                </a:solidFill>
                <a:latin typeface="IBM Plex Sans" pitchFamily="34" charset="0"/>
                <a:ea typeface="IBM Plex Sans" pitchFamily="34" charset="-122"/>
                <a:cs typeface="IBM Plex Sans" pitchFamily="34" charset="-120"/>
              </a:rPr>
              <a:t>Champagne Denis Frézier</a:t>
            </a:r>
            <a:r>
              <a:rPr lang="en-US" sz="860" b="1" dirty="0">
                <a:solidFill>
                  <a:srgbClr val="46606E"/>
                </a:solidFill>
                <a:latin typeface="IBM Plex Sans" pitchFamily="34" charset="0"/>
                <a:ea typeface="IBM Plex Sans" pitchFamily="34" charset="-122"/>
                <a:cs typeface="IBM Plex Sans" pitchFamily="34" charset="-120"/>
              </a:rPr>
              <a:t>   63</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39   </a:t>
            </a:r>
            <a:r>
              <a:rPr lang="en-US" sz="860" dirty="0">
                <a:solidFill>
                  <a:srgbClr val="46606E"/>
                </a:solidFill>
                <a:latin typeface="IBM Plex Sans" pitchFamily="34" charset="0"/>
                <a:ea typeface="IBM Plex Sans" pitchFamily="34" charset="-122"/>
                <a:cs typeface="IBM Plex Sans" pitchFamily="34" charset="-120"/>
              </a:rPr>
              <a:t>Champagne Solemme</a:t>
            </a:r>
            <a:r>
              <a:rPr lang="en-US" sz="860" b="1" dirty="0">
                <a:solidFill>
                  <a:srgbClr val="46606E"/>
                </a:solidFill>
                <a:latin typeface="IBM Plex Sans" pitchFamily="34" charset="0"/>
                <a:ea typeface="IBM Plex Sans" pitchFamily="34" charset="-122"/>
                <a:cs typeface="IBM Plex Sans" pitchFamily="34" charset="-120"/>
              </a:rPr>
              <a:t>   65</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40   </a:t>
            </a:r>
            <a:r>
              <a:rPr lang="en-US" sz="860" dirty="0">
                <a:solidFill>
                  <a:srgbClr val="46606E"/>
                </a:solidFill>
                <a:latin typeface="IBM Plex Sans" pitchFamily="34" charset="0"/>
                <a:ea typeface="IBM Plex Sans" pitchFamily="34" charset="-122"/>
                <a:cs typeface="IBM Plex Sans" pitchFamily="34" charset="-120"/>
              </a:rPr>
              <a:t>Vazart-Coquart &amp; Fils</a:t>
            </a:r>
            <a:r>
              <a:rPr lang="en-US" sz="860" b="1" dirty="0">
                <a:solidFill>
                  <a:srgbClr val="46606E"/>
                </a:solidFill>
                <a:latin typeface="IBM Plex Sans" pitchFamily="34" charset="0"/>
                <a:ea typeface="IBM Plex Sans" pitchFamily="34" charset="-122"/>
                <a:cs typeface="IBM Plex Sans" pitchFamily="34" charset="-120"/>
              </a:rPr>
              <a:t>   66</a:t>
            </a:r>
            <a:endParaRPr lang="en-US" sz="860" dirty="0"/>
          </a:p>
        </p:txBody>
      </p:sp>
      <p:sp>
        <p:nvSpPr>
          <p:cNvPr id="16" name="Text 1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61</a:t>
            </a:r>
            <a:endParaRPr lang="en-US" sz="750" dirty="0"/>
          </a:p>
        </p:txBody>
      </p:sp>
      <p:sp>
        <p:nvSpPr>
          <p:cNvPr id="17" name="Text 1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476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6" name="Image 2" descr="les deux frères dans les vignes — Champagne Dekeyne">    </p:cNvPr>
          <p:cNvPicPr>
            <a:picLocks noChangeAspect="1"/>
          </p:cNvPicPr>
          <p:nvPr/>
        </p:nvPicPr>
        <p:blipFill>
          <a:blip r:embed="rId3"/>
          <a:stretch>
            <a:fillRect/>
          </a:stretch>
        </p:blipFill>
        <p:spPr>
          <a:xfrm>
            <a:off x="828000" y="1357200"/>
            <a:ext cx="1440000" cy="1440000"/>
          </a:xfrm>
          <a:prstGeom prst="rect">
            <a:avLst/>
          </a:prstGeom>
        </p:spPr>
      </p:pic>
      <p:pic>
        <p:nvPicPr>
          <p:cNvPr id="17" name="Image 3" descr="Une bouteille du domaine Champagne Dekeyne">    </p:cNvPr>
          <p:cNvPicPr>
            <a:picLocks noChangeAspect="1"/>
          </p:cNvPicPr>
          <p:nvPr/>
        </p:nvPicPr>
        <p:blipFill>
          <a:blip r:embed="rId4"/>
          <a:stretch>
            <a:fillRect/>
          </a:stretch>
        </p:blipFill>
        <p:spPr>
          <a:xfrm>
            <a:off x="6221754" y="1357200"/>
            <a:ext cx="588492" cy="2232000"/>
          </a:xfrm>
          <a:prstGeom prst="rect">
            <a:avLst/>
          </a:prstGeom>
        </p:spPr>
      </p:pic>
      <p:sp>
        <p:nvSpPr>
          <p:cNvPr id="18" name="Text 12"/>
          <p:cNvSpPr/>
          <p:nvPr/>
        </p:nvSpPr>
        <p:spPr>
          <a:xfrm>
            <a:off x="2394034" y="1487230"/>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448000" y="1607839"/>
            <a:ext cx="3456000" cy="198126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26,48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27,07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624926"/>
            <a:ext cx="0" cy="288349"/>
          </a:xfrm>
          <a:prstGeom prst="line">
            <a:avLst/>
          </a:prstGeom>
          <a:noFill/>
          <a:ln w="17780">
            <a:solidFill>
              <a:srgbClr val="67067C"/>
            </a:solidFill>
            <a:prstDash val="solid"/>
          </a:ln>
        </p:spPr>
      </p:sp>
      <p:sp>
        <p:nvSpPr>
          <p:cNvPr id="22" name="Text 15"/>
          <p:cNvSpPr/>
          <p:nvPr/>
        </p:nvSpPr>
        <p:spPr>
          <a:xfrm>
            <a:off x="936000" y="562492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3" name="Text 16"/>
          <p:cNvSpPr/>
          <p:nvPr/>
        </p:nvSpPr>
        <p:spPr>
          <a:xfrm>
            <a:off x="828000" y="60572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ol-champagne.png">    </p:cNvPr>
          <p:cNvPicPr>
            <a:picLocks noChangeAspect="1"/>
          </p:cNvPicPr>
          <p:nvPr/>
        </p:nvPicPr>
        <p:blipFill>
          <a:blip r:embed="rId5"/>
          <a:stretch>
            <a:fillRect/>
          </a:stretch>
        </p:blipFill>
        <p:spPr>
          <a:xfrm>
            <a:off x="828000" y="6204875"/>
            <a:ext cx="6120000" cy="1148400"/>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62</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conversio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79249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50260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50260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967278"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67278"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le village dans ses vignes — Champagne Denis Frézier">    </p:cNvPr>
          <p:cNvPicPr>
            <a:picLocks noChangeAspect="1"/>
          </p:cNvPicPr>
          <p:nvPr/>
        </p:nvPicPr>
        <p:blipFill>
          <a:blip r:embed="rId3"/>
          <a:srcRect l="12500" r="12500" t="0" b="0"/>
          <a:stretch/>
        </p:blipFill>
        <p:spPr>
          <a:xfrm>
            <a:off x="612000" y="1357200"/>
            <a:ext cx="1440000" cy="1440000"/>
          </a:xfrm>
          <a:prstGeom prst="ellipse">
            <a:avLst/>
          </a:prstGeom>
        </p:spPr>
      </p:pic>
      <p:pic>
        <p:nvPicPr>
          <p:cNvPr id="17" name="Image 3" descr="Une bouteille du domaine Champagne Denis Frézier">    </p:cNvPr>
          <p:cNvPicPr>
            <a:picLocks noChangeAspect="1"/>
          </p:cNvPicPr>
          <p:nvPr/>
        </p:nvPicPr>
        <p:blipFill>
          <a:blip r:embed="rId4"/>
          <a:stretch>
            <a:fillRect/>
          </a:stretch>
        </p:blipFill>
        <p:spPr>
          <a:xfrm>
            <a:off x="6002705" y="1357200"/>
            <a:ext cx="594590" cy="2232000"/>
          </a:xfrm>
          <a:prstGeom prst="rect">
            <a:avLst/>
          </a:prstGeom>
        </p:spPr>
      </p:pic>
      <p:sp>
        <p:nvSpPr>
          <p:cNvPr id="18" name="Text 12"/>
          <p:cNvSpPr/>
          <p:nvPr/>
        </p:nvSpPr>
        <p:spPr>
          <a:xfrm>
            <a:off x="2177992" y="1469926"/>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619745"/>
            <a:ext cx="3456000" cy="196935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Trois Crus, Terroir Noir et Terroir Blanc.</a:t>
            </a:r>
            <a:endParaRPr lang="en-US" sz="13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23,17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612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sol-champagne.png">    </p:cNvPr>
          <p:cNvPicPr>
            <a:picLocks noChangeAspect="1"/>
          </p:cNvPicPr>
          <p:nvPr/>
        </p:nvPicPr>
        <p:blipFill>
          <a:blip r:embed="rId5"/>
          <a:stretch>
            <a:fillRect/>
          </a:stretch>
        </p:blipFill>
        <p:spPr>
          <a:xfrm>
            <a:off x="612000" y="6276164"/>
            <a:ext cx="6120000" cy="1148400"/>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476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476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37,5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9,02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29" name="Table 1"/>
          <p:cNvGraphicFramePr>
            <a:graphicFrameLocks noGrp="1"/>
          </p:cNvGraphicFramePr>
          <p:nvPr>
            <p:extLst>
              <p:ext uri="{D42A27DB-BD31-4B8C-83A1-F6EECF244321}">
                <p14:modId xmlns:p14="http://schemas.microsoft.com/office/powerpoint/2010/main" val="1579011935"/>
              </p:ext>
            </p:extLst>
          </p:nvPr>
        </p:nvGraphicFramePr>
        <p:xfrm>
          <a:off x="828000" y="3372705"/>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RATAFIA · RATAFIA</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13,62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828000" y="4026736"/>
            <a:ext cx="0" cy="288349"/>
          </a:xfrm>
          <a:prstGeom prst="line">
            <a:avLst/>
          </a:prstGeom>
          <a:noFill/>
          <a:ln w="17780">
            <a:solidFill>
              <a:srgbClr val="67067C"/>
            </a:solidFill>
            <a:prstDash val="solid"/>
          </a:ln>
        </p:spPr>
      </p:sp>
      <p:sp>
        <p:nvSpPr>
          <p:cNvPr id="19" name="Text 13"/>
          <p:cNvSpPr/>
          <p:nvPr/>
        </p:nvSpPr>
        <p:spPr>
          <a:xfrm>
            <a:off x="936000" y="402673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0" name="Text 14"/>
          <p:cNvSpPr/>
          <p:nvPr/>
        </p:nvSpPr>
        <p:spPr>
          <a:xfrm>
            <a:off x="828000" y="445908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1" name="Image 2" descr="/home/user/philippe1/build/deco/sol-champagne.png">    </p:cNvPr>
          <p:cNvPicPr>
            <a:picLocks noChangeAspect="1"/>
          </p:cNvPicPr>
          <p:nvPr/>
        </p:nvPicPr>
        <p:blipFill>
          <a:blip r:embed="rId3"/>
          <a:stretch>
            <a:fillRect/>
          </a:stretch>
        </p:blipFill>
        <p:spPr>
          <a:xfrm>
            <a:off x="828000" y="4606685"/>
            <a:ext cx="6120000" cy="2080316"/>
          </a:xfrm>
          <a:prstGeom prst="rect">
            <a:avLst/>
          </a:prstGeom>
        </p:spPr>
      </p:pic>
      <p:sp>
        <p:nvSpPr>
          <p:cNvPr id="22" name="Shape 15"/>
          <p:cNvSpPr/>
          <p:nvPr/>
        </p:nvSpPr>
        <p:spPr>
          <a:xfrm>
            <a:off x="828000" y="8388000"/>
            <a:ext cx="6120000" cy="0"/>
          </a:xfrm>
          <a:prstGeom prst="line">
            <a:avLst/>
          </a:prstGeom>
          <a:noFill/>
          <a:ln w="8890">
            <a:solidFill>
              <a:srgbClr val="46606E"/>
            </a:solidFill>
            <a:prstDash val="solid"/>
          </a:ln>
        </p:spPr>
      </p:sp>
      <p:sp>
        <p:nvSpPr>
          <p:cNvPr id="23"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5"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64</a:t>
            </a:r>
            <a:endParaRPr lang="en-US" sz="750" dirty="0"/>
          </a:p>
        </p:txBody>
      </p:sp>
      <p:sp>
        <p:nvSpPr>
          <p:cNvPr id="26"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09708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biobiodyn.png">    </p:cNvPr>
          <p:cNvPicPr>
            <a:picLocks noChangeAspect="1"/>
          </p:cNvPicPr>
          <p:nvPr/>
        </p:nvPicPr>
        <p:blipFill>
          <a:blip r:embed="rId2"/>
          <a:stretch>
            <a:fillRect/>
          </a:stretch>
        </p:blipFill>
        <p:spPr>
          <a:xfrm>
            <a:off x="684000" y="1083600"/>
            <a:ext cx="108000" cy="108000"/>
          </a:xfrm>
          <a:prstGeom prst="rect">
            <a:avLst/>
          </a:prstGeom>
        </p:spPr>
      </p:pic>
      <p:sp>
        <p:nvSpPr>
          <p:cNvPr id="9" name="Text 5"/>
          <p:cNvSpPr/>
          <p:nvPr/>
        </p:nvSpPr>
        <p:spPr>
          <a:xfrm>
            <a:off x="759600" y="1047600"/>
            <a:ext cx="94948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 &amp; Biodynamie</a:t>
            </a:r>
            <a:endParaRPr lang="en-US" sz="720" dirty="0"/>
          </a:p>
        </p:txBody>
      </p:sp>
      <p:sp>
        <p:nvSpPr>
          <p:cNvPr id="10" name="Shape 6"/>
          <p:cNvSpPr/>
          <p:nvPr/>
        </p:nvSpPr>
        <p:spPr>
          <a:xfrm>
            <a:off x="1788288"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8828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2961"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296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ogo de la maison — Champagne Solemme">    </p:cNvPr>
          <p:cNvPicPr>
            <a:picLocks noChangeAspect="1"/>
          </p:cNvPicPr>
          <p:nvPr/>
        </p:nvPicPr>
        <p:blipFill>
          <a:blip r:embed="rId3"/>
          <a:stretch>
            <a:fillRect/>
          </a:stretch>
        </p:blipFill>
        <p:spPr>
          <a:xfrm>
            <a:off x="612000" y="1357200"/>
            <a:ext cx="1440000" cy="1440000"/>
          </a:xfrm>
          <a:prstGeom prst="rect">
            <a:avLst/>
          </a:prstGeom>
        </p:spPr>
      </p:pic>
      <p:pic>
        <p:nvPicPr>
          <p:cNvPr id="15" name="Image 3" descr="Une bouteille du domaine Champagne Solemme">    </p:cNvPr>
          <p:cNvPicPr>
            <a:picLocks noChangeAspect="1"/>
          </p:cNvPicPr>
          <p:nvPr/>
        </p:nvPicPr>
        <p:blipFill>
          <a:blip r:embed="rId4"/>
          <a:stretch>
            <a:fillRect/>
          </a:stretch>
        </p:blipFill>
        <p:spPr>
          <a:xfrm>
            <a:off x="6002705" y="1357200"/>
            <a:ext cx="594590" cy="2232000"/>
          </a:xfrm>
          <a:prstGeom prst="rect">
            <a:avLst/>
          </a:prstGeom>
        </p:spPr>
      </p:pic>
      <p:sp>
        <p:nvSpPr>
          <p:cNvPr id="16" name="Text 10"/>
          <p:cNvSpPr/>
          <p:nvPr/>
        </p:nvSpPr>
        <p:spPr>
          <a:xfrm>
            <a:off x="2177976" y="1336044"/>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7" name="Text 11"/>
          <p:cNvSpPr/>
          <p:nvPr/>
        </p:nvSpPr>
        <p:spPr>
          <a:xfrm>
            <a:off x="2232000" y="1474413"/>
            <a:ext cx="3456000" cy="211468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BSA</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6455685"/>
            <a:ext cx="0" cy="288349"/>
          </a:xfrm>
          <a:prstGeom prst="line">
            <a:avLst/>
          </a:prstGeom>
          <a:noFill/>
          <a:ln w="17780">
            <a:solidFill>
              <a:srgbClr val="67067C"/>
            </a:solidFill>
            <a:prstDash val="solid"/>
          </a:ln>
        </p:spPr>
      </p:sp>
      <p:sp>
        <p:nvSpPr>
          <p:cNvPr id="20" name="Text 13"/>
          <p:cNvSpPr/>
          <p:nvPr/>
        </p:nvSpPr>
        <p:spPr>
          <a:xfrm>
            <a:off x="720000" y="645568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612000" y="68880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sol-champagne.png">    </p:cNvPr>
          <p:cNvPicPr>
            <a:picLocks noChangeAspect="1"/>
          </p:cNvPicPr>
          <p:nvPr/>
        </p:nvPicPr>
        <p:blipFill>
          <a:blip r:embed="rId5"/>
          <a:stretch>
            <a:fillRect/>
          </a:stretch>
        </p:blipFill>
        <p:spPr>
          <a:xfrm>
            <a:off x="612000" y="7035634"/>
            <a:ext cx="6120000" cy="1052645"/>
          </a:xfrm>
          <a:prstGeom prst="rect">
            <a:avLst/>
          </a:prstGeom>
        </p:spPr>
      </p:pic>
      <p:sp>
        <p:nvSpPr>
          <p:cNvPr id="23" name="Shape 15"/>
          <p:cNvSpPr/>
          <p:nvPr/>
        </p:nvSpPr>
        <p:spPr>
          <a:xfrm>
            <a:off x="612000" y="8388000"/>
            <a:ext cx="6120000" cy="0"/>
          </a:xfrm>
          <a:prstGeom prst="line">
            <a:avLst/>
          </a:prstGeom>
          <a:noFill/>
          <a:ln w="8890">
            <a:solidFill>
              <a:srgbClr val="46606E"/>
            </a:solidFill>
            <a:prstDash val="solid"/>
          </a:ln>
        </p:spPr>
      </p:sp>
      <p:sp>
        <p:nvSpPr>
          <p:cNvPr id="24"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label-conversion.png">    </p:cNvPr>
          <p:cNvPicPr>
            <a:picLocks noChangeAspect="1"/>
          </p:cNvPicPr>
          <p:nvPr/>
        </p:nvPicPr>
        <p:blipFill>
          <a:blip r:embed="rId2"/>
          <a:stretch>
            <a:fillRect/>
          </a:stretch>
        </p:blipFill>
        <p:spPr>
          <a:xfrm>
            <a:off x="900000" y="1083600"/>
            <a:ext cx="108000" cy="108000"/>
          </a:xfrm>
          <a:prstGeom prst="rect">
            <a:avLst/>
          </a:prstGeom>
        </p:spPr>
      </p:pic>
      <p:sp>
        <p:nvSpPr>
          <p:cNvPr id="9" name="Text 5"/>
          <p:cNvSpPr/>
          <p:nvPr/>
        </p:nvSpPr>
        <p:spPr>
          <a:xfrm>
            <a:off x="975600" y="10476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476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2008494"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473168" y="10476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473168"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a maison de champagne — Vazart-Coquart &amp; Fils">    </p:cNvPr>
          <p:cNvPicPr>
            <a:picLocks noChangeAspect="1"/>
          </p:cNvPicPr>
          <p:nvPr/>
        </p:nvPicPr>
        <p:blipFill>
          <a:blip r:embed="rId3"/>
          <a:srcRect l="25260" r="25261" t="0" b="0"/>
          <a:stretch/>
        </p:blipFill>
        <p:spPr>
          <a:xfrm>
            <a:off x="828000" y="1357200"/>
            <a:ext cx="1440000" cy="1440000"/>
          </a:xfrm>
          <a:prstGeom prst="ellipse">
            <a:avLst/>
          </a:prstGeom>
        </p:spPr>
      </p:pic>
      <p:pic>
        <p:nvPicPr>
          <p:cNvPr id="15" name="Image 3" descr="Une bouteille du domaine Vazart-Coquart &amp; Fils">    </p:cNvPr>
          <p:cNvPicPr>
            <a:picLocks noChangeAspect="1"/>
          </p:cNvPicPr>
          <p:nvPr/>
        </p:nvPicPr>
        <p:blipFill>
          <a:blip r:embed="rId4"/>
          <a:stretch>
            <a:fillRect/>
          </a:stretch>
        </p:blipFill>
        <p:spPr>
          <a:xfrm>
            <a:off x="6129248" y="1357200"/>
            <a:ext cx="773503" cy="2232000"/>
          </a:xfrm>
          <a:prstGeom prst="rect">
            <a:avLst/>
          </a:prstGeom>
        </p:spPr>
      </p:pic>
      <p:sp>
        <p:nvSpPr>
          <p:cNvPr id="16" name="Text 10"/>
          <p:cNvSpPr/>
          <p:nvPr/>
        </p:nvSpPr>
        <p:spPr>
          <a:xfrm>
            <a:off x="2394033" y="1473248"/>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7" name="Text 11"/>
          <p:cNvSpPr/>
          <p:nvPr/>
        </p:nvSpPr>
        <p:spPr>
          <a:xfrm>
            <a:off x="2448000" y="1617459"/>
            <a:ext cx="3456000" cy="19716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 Troisième domaine certifié HVE de France.</a:t>
            </a:r>
            <a:endParaRPr lang="en-US" sz="13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41,10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455685"/>
            <a:ext cx="0" cy="288349"/>
          </a:xfrm>
          <a:prstGeom prst="line">
            <a:avLst/>
          </a:prstGeom>
          <a:noFill/>
          <a:ln w="17780">
            <a:solidFill>
              <a:srgbClr val="67067C"/>
            </a:solidFill>
            <a:prstDash val="solid"/>
          </a:ln>
        </p:spPr>
      </p:sp>
      <p:sp>
        <p:nvSpPr>
          <p:cNvPr id="20" name="Text 13"/>
          <p:cNvSpPr/>
          <p:nvPr/>
        </p:nvSpPr>
        <p:spPr>
          <a:xfrm>
            <a:off x="936000" y="645568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828000" y="68880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sol-champagne.png">    </p:cNvPr>
          <p:cNvPicPr>
            <a:picLocks noChangeAspect="1"/>
          </p:cNvPicPr>
          <p:nvPr/>
        </p:nvPicPr>
        <p:blipFill>
          <a:blip r:embed="rId5"/>
          <a:stretch>
            <a:fillRect/>
          </a:stretch>
        </p:blipFill>
        <p:spPr>
          <a:xfrm>
            <a:off x="828000" y="7035634"/>
            <a:ext cx="6120000" cy="1052645"/>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612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612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61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7" name="Text 5"/>
          <p:cNvSpPr/>
          <p:nvPr/>
        </p:nvSpPr>
        <p:spPr>
          <a:xfrm>
            <a:off x="61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 name="Text 6"/>
          <p:cNvSpPr/>
          <p:nvPr/>
        </p:nvSpPr>
        <p:spPr>
          <a:xfrm>
            <a:off x="61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9" name="Text 7"/>
          <p:cNvSpPr/>
          <p:nvPr/>
        </p:nvSpPr>
        <p:spPr>
          <a:xfrm>
            <a:off x="61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62</a:t>
            </a:r>
            <a:endParaRPr lang="en-US" sz="690" dirty="0"/>
          </a:p>
        </p:txBody>
      </p:sp>
      <p:sp>
        <p:nvSpPr>
          <p:cNvPr id="10" name="Text 8"/>
          <p:cNvSpPr/>
          <p:nvPr/>
        </p:nvSpPr>
        <p:spPr>
          <a:xfrm>
            <a:off x="61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 name="Text 9"/>
          <p:cNvSpPr/>
          <p:nvPr/>
        </p:nvSpPr>
        <p:spPr>
          <a:xfrm>
            <a:off x="61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12" name="Text 10"/>
          <p:cNvSpPr/>
          <p:nvPr/>
        </p:nvSpPr>
        <p:spPr>
          <a:xfrm>
            <a:off x="61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 name="Text 11"/>
          <p:cNvSpPr/>
          <p:nvPr/>
        </p:nvSpPr>
        <p:spPr>
          <a:xfrm>
            <a:off x="61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14" name="Text 12"/>
          <p:cNvSpPr/>
          <p:nvPr/>
        </p:nvSpPr>
        <p:spPr>
          <a:xfrm>
            <a:off x="61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15" name="Text 13"/>
          <p:cNvSpPr/>
          <p:nvPr/>
        </p:nvSpPr>
        <p:spPr>
          <a:xfrm>
            <a:off x="61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16" name="Text 14"/>
          <p:cNvSpPr/>
          <p:nvPr/>
        </p:nvSpPr>
        <p:spPr>
          <a:xfrm>
            <a:off x="61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17" name="Text 15"/>
          <p:cNvSpPr/>
          <p:nvPr/>
        </p:nvSpPr>
        <p:spPr>
          <a:xfrm>
            <a:off x="61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8" name="Text 16"/>
          <p:cNvSpPr/>
          <p:nvPr/>
        </p:nvSpPr>
        <p:spPr>
          <a:xfrm>
            <a:off x="61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9" name="Text 17"/>
          <p:cNvSpPr/>
          <p:nvPr/>
        </p:nvSpPr>
        <p:spPr>
          <a:xfrm>
            <a:off x="61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0" name="Text 18"/>
          <p:cNvSpPr/>
          <p:nvPr/>
        </p:nvSpPr>
        <p:spPr>
          <a:xfrm>
            <a:off x="61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1" name="Text 19"/>
          <p:cNvSpPr/>
          <p:nvPr/>
        </p:nvSpPr>
        <p:spPr>
          <a:xfrm>
            <a:off x="61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62</a:t>
            </a:r>
            <a:endParaRPr lang="en-US" sz="690" dirty="0"/>
          </a:p>
        </p:txBody>
      </p:sp>
      <p:sp>
        <p:nvSpPr>
          <p:cNvPr id="22" name="Text 20"/>
          <p:cNvSpPr/>
          <p:nvPr/>
        </p:nvSpPr>
        <p:spPr>
          <a:xfrm>
            <a:off x="61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23" name="Text 21"/>
          <p:cNvSpPr/>
          <p:nvPr/>
        </p:nvSpPr>
        <p:spPr>
          <a:xfrm>
            <a:off x="61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4" name="Text 22"/>
          <p:cNvSpPr/>
          <p:nvPr/>
        </p:nvSpPr>
        <p:spPr>
          <a:xfrm>
            <a:off x="61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25" name="Text 23"/>
          <p:cNvSpPr/>
          <p:nvPr/>
        </p:nvSpPr>
        <p:spPr>
          <a:xfrm>
            <a:off x="61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26" name="Text 24"/>
          <p:cNvSpPr/>
          <p:nvPr/>
        </p:nvSpPr>
        <p:spPr>
          <a:xfrm>
            <a:off x="61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27" name="Text 25"/>
          <p:cNvSpPr/>
          <p:nvPr/>
        </p:nvSpPr>
        <p:spPr>
          <a:xfrm>
            <a:off x="61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8" name="Text 26"/>
          <p:cNvSpPr/>
          <p:nvPr/>
        </p:nvSpPr>
        <p:spPr>
          <a:xfrm>
            <a:off x="61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9" name="Text 27"/>
          <p:cNvSpPr/>
          <p:nvPr/>
        </p:nvSpPr>
        <p:spPr>
          <a:xfrm>
            <a:off x="61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0" name="Text 28"/>
          <p:cNvSpPr/>
          <p:nvPr/>
        </p:nvSpPr>
        <p:spPr>
          <a:xfrm>
            <a:off x="61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1" name="Text 29"/>
          <p:cNvSpPr/>
          <p:nvPr/>
        </p:nvSpPr>
        <p:spPr>
          <a:xfrm>
            <a:off x="61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2" name="Text 30"/>
          <p:cNvSpPr/>
          <p:nvPr/>
        </p:nvSpPr>
        <p:spPr>
          <a:xfrm>
            <a:off x="61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3" name="Text 31"/>
          <p:cNvSpPr/>
          <p:nvPr/>
        </p:nvSpPr>
        <p:spPr>
          <a:xfrm>
            <a:off x="61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4" name="Text 32"/>
          <p:cNvSpPr/>
          <p:nvPr/>
        </p:nvSpPr>
        <p:spPr>
          <a:xfrm>
            <a:off x="61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5" name="Text 33"/>
          <p:cNvSpPr/>
          <p:nvPr/>
        </p:nvSpPr>
        <p:spPr>
          <a:xfrm>
            <a:off x="61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6" name="Text 34"/>
          <p:cNvSpPr/>
          <p:nvPr/>
        </p:nvSpPr>
        <p:spPr>
          <a:xfrm>
            <a:off x="61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37" name="Text 35"/>
          <p:cNvSpPr/>
          <p:nvPr/>
        </p:nvSpPr>
        <p:spPr>
          <a:xfrm>
            <a:off x="61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62</a:t>
            </a:r>
            <a:endParaRPr lang="en-US" sz="690" dirty="0"/>
          </a:p>
        </p:txBody>
      </p:sp>
      <p:sp>
        <p:nvSpPr>
          <p:cNvPr id="38" name="Text 36"/>
          <p:cNvSpPr/>
          <p:nvPr/>
        </p:nvSpPr>
        <p:spPr>
          <a:xfrm>
            <a:off x="612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61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40" name="Text 38"/>
          <p:cNvSpPr/>
          <p:nvPr/>
        </p:nvSpPr>
        <p:spPr>
          <a:xfrm>
            <a:off x="61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41" name="Text 39"/>
          <p:cNvSpPr/>
          <p:nvPr/>
        </p:nvSpPr>
        <p:spPr>
          <a:xfrm>
            <a:off x="61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2" name="Text 40"/>
          <p:cNvSpPr/>
          <p:nvPr/>
        </p:nvSpPr>
        <p:spPr>
          <a:xfrm>
            <a:off x="61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612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44" name="Text 42"/>
          <p:cNvSpPr/>
          <p:nvPr/>
        </p:nvSpPr>
        <p:spPr>
          <a:xfrm>
            <a:off x="265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45" name="Text 43"/>
          <p:cNvSpPr/>
          <p:nvPr/>
        </p:nvSpPr>
        <p:spPr>
          <a:xfrm>
            <a:off x="265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46" name="Text 44"/>
          <p:cNvSpPr/>
          <p:nvPr/>
        </p:nvSpPr>
        <p:spPr>
          <a:xfrm>
            <a:off x="265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7" name="Text 45"/>
          <p:cNvSpPr/>
          <p:nvPr/>
        </p:nvSpPr>
        <p:spPr>
          <a:xfrm>
            <a:off x="265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8" name="Text 46"/>
          <p:cNvSpPr/>
          <p:nvPr/>
        </p:nvSpPr>
        <p:spPr>
          <a:xfrm>
            <a:off x="265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9" name="Text 47"/>
          <p:cNvSpPr/>
          <p:nvPr/>
        </p:nvSpPr>
        <p:spPr>
          <a:xfrm>
            <a:off x="265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50" name="Text 48"/>
          <p:cNvSpPr/>
          <p:nvPr/>
        </p:nvSpPr>
        <p:spPr>
          <a:xfrm>
            <a:off x="265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51" name="Text 49"/>
          <p:cNvSpPr/>
          <p:nvPr/>
        </p:nvSpPr>
        <p:spPr>
          <a:xfrm>
            <a:off x="265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2" name="Text 50"/>
          <p:cNvSpPr/>
          <p:nvPr/>
        </p:nvSpPr>
        <p:spPr>
          <a:xfrm>
            <a:off x="265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3" name="Text 51"/>
          <p:cNvSpPr/>
          <p:nvPr/>
        </p:nvSpPr>
        <p:spPr>
          <a:xfrm>
            <a:off x="265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54" name="Text 52"/>
          <p:cNvSpPr/>
          <p:nvPr/>
        </p:nvSpPr>
        <p:spPr>
          <a:xfrm>
            <a:off x="265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55" name="Text 53"/>
          <p:cNvSpPr/>
          <p:nvPr/>
        </p:nvSpPr>
        <p:spPr>
          <a:xfrm>
            <a:off x="265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6" name="Text 54"/>
          <p:cNvSpPr/>
          <p:nvPr/>
        </p:nvSpPr>
        <p:spPr>
          <a:xfrm>
            <a:off x="265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57" name="Text 55"/>
          <p:cNvSpPr/>
          <p:nvPr/>
        </p:nvSpPr>
        <p:spPr>
          <a:xfrm>
            <a:off x="265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8" name="Text 56"/>
          <p:cNvSpPr/>
          <p:nvPr/>
        </p:nvSpPr>
        <p:spPr>
          <a:xfrm>
            <a:off x="265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59" name="Text 57"/>
          <p:cNvSpPr/>
          <p:nvPr/>
        </p:nvSpPr>
        <p:spPr>
          <a:xfrm>
            <a:off x="265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0" name="Text 58"/>
          <p:cNvSpPr/>
          <p:nvPr/>
        </p:nvSpPr>
        <p:spPr>
          <a:xfrm>
            <a:off x="265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61" name="Text 59"/>
          <p:cNvSpPr/>
          <p:nvPr/>
        </p:nvSpPr>
        <p:spPr>
          <a:xfrm>
            <a:off x="265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62" name="Text 60"/>
          <p:cNvSpPr/>
          <p:nvPr/>
        </p:nvSpPr>
        <p:spPr>
          <a:xfrm>
            <a:off x="265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3" name="Text 61"/>
          <p:cNvSpPr/>
          <p:nvPr/>
        </p:nvSpPr>
        <p:spPr>
          <a:xfrm>
            <a:off x="265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64" name="Text 62"/>
          <p:cNvSpPr/>
          <p:nvPr/>
        </p:nvSpPr>
        <p:spPr>
          <a:xfrm>
            <a:off x="265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65" name="Text 63"/>
          <p:cNvSpPr/>
          <p:nvPr/>
        </p:nvSpPr>
        <p:spPr>
          <a:xfrm>
            <a:off x="265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6" name="Text 64"/>
          <p:cNvSpPr/>
          <p:nvPr/>
        </p:nvSpPr>
        <p:spPr>
          <a:xfrm>
            <a:off x="265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7" name="Text 65"/>
          <p:cNvSpPr/>
          <p:nvPr/>
        </p:nvSpPr>
        <p:spPr>
          <a:xfrm>
            <a:off x="265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8" name="Text 66"/>
          <p:cNvSpPr/>
          <p:nvPr/>
        </p:nvSpPr>
        <p:spPr>
          <a:xfrm>
            <a:off x="265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9" name="Text 67"/>
          <p:cNvSpPr/>
          <p:nvPr/>
        </p:nvSpPr>
        <p:spPr>
          <a:xfrm>
            <a:off x="265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0" name="Text 68"/>
          <p:cNvSpPr/>
          <p:nvPr/>
        </p:nvSpPr>
        <p:spPr>
          <a:xfrm>
            <a:off x="265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1" name="Text 69"/>
          <p:cNvSpPr/>
          <p:nvPr/>
        </p:nvSpPr>
        <p:spPr>
          <a:xfrm>
            <a:off x="265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72" name="Text 70"/>
          <p:cNvSpPr/>
          <p:nvPr/>
        </p:nvSpPr>
        <p:spPr>
          <a:xfrm>
            <a:off x="265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3" name="Text 71"/>
          <p:cNvSpPr/>
          <p:nvPr/>
        </p:nvSpPr>
        <p:spPr>
          <a:xfrm>
            <a:off x="265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74" name="Text 72"/>
          <p:cNvSpPr/>
          <p:nvPr/>
        </p:nvSpPr>
        <p:spPr>
          <a:xfrm>
            <a:off x="265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5" name="Text 73"/>
          <p:cNvSpPr/>
          <p:nvPr/>
        </p:nvSpPr>
        <p:spPr>
          <a:xfrm>
            <a:off x="265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6" name="Text 74"/>
          <p:cNvSpPr/>
          <p:nvPr/>
        </p:nvSpPr>
        <p:spPr>
          <a:xfrm>
            <a:off x="265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7" name="Text 75"/>
          <p:cNvSpPr/>
          <p:nvPr/>
        </p:nvSpPr>
        <p:spPr>
          <a:xfrm>
            <a:off x="265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78" name="Text 76"/>
          <p:cNvSpPr/>
          <p:nvPr/>
        </p:nvSpPr>
        <p:spPr>
          <a:xfrm>
            <a:off x="265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79" name="Text 77"/>
          <p:cNvSpPr/>
          <p:nvPr/>
        </p:nvSpPr>
        <p:spPr>
          <a:xfrm>
            <a:off x="265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0" name="Text 78"/>
          <p:cNvSpPr/>
          <p:nvPr/>
        </p:nvSpPr>
        <p:spPr>
          <a:xfrm>
            <a:off x="265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1" name="Text 79"/>
          <p:cNvSpPr/>
          <p:nvPr/>
        </p:nvSpPr>
        <p:spPr>
          <a:xfrm>
            <a:off x="265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2" name="Text 80"/>
          <p:cNvSpPr/>
          <p:nvPr/>
        </p:nvSpPr>
        <p:spPr>
          <a:xfrm>
            <a:off x="2652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3" name="Text 81"/>
          <p:cNvSpPr/>
          <p:nvPr/>
        </p:nvSpPr>
        <p:spPr>
          <a:xfrm>
            <a:off x="469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4" name="Text 82"/>
          <p:cNvSpPr/>
          <p:nvPr/>
        </p:nvSpPr>
        <p:spPr>
          <a:xfrm>
            <a:off x="469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85" name="Text 83"/>
          <p:cNvSpPr/>
          <p:nvPr/>
        </p:nvSpPr>
        <p:spPr>
          <a:xfrm>
            <a:off x="469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86" name="Text 84"/>
          <p:cNvSpPr/>
          <p:nvPr/>
        </p:nvSpPr>
        <p:spPr>
          <a:xfrm>
            <a:off x="469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87" name="Text 85"/>
          <p:cNvSpPr/>
          <p:nvPr/>
        </p:nvSpPr>
        <p:spPr>
          <a:xfrm>
            <a:off x="469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88" name="Text 86"/>
          <p:cNvSpPr/>
          <p:nvPr/>
        </p:nvSpPr>
        <p:spPr>
          <a:xfrm>
            <a:off x="469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89" name="Text 87"/>
          <p:cNvSpPr/>
          <p:nvPr/>
        </p:nvSpPr>
        <p:spPr>
          <a:xfrm>
            <a:off x="469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0" name="Text 88"/>
          <p:cNvSpPr/>
          <p:nvPr/>
        </p:nvSpPr>
        <p:spPr>
          <a:xfrm>
            <a:off x="469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91" name="Text 89"/>
          <p:cNvSpPr/>
          <p:nvPr/>
        </p:nvSpPr>
        <p:spPr>
          <a:xfrm>
            <a:off x="469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2" name="Text 90"/>
          <p:cNvSpPr/>
          <p:nvPr/>
        </p:nvSpPr>
        <p:spPr>
          <a:xfrm>
            <a:off x="469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93" name="Text 91"/>
          <p:cNvSpPr/>
          <p:nvPr/>
        </p:nvSpPr>
        <p:spPr>
          <a:xfrm>
            <a:off x="469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94" name="Text 92"/>
          <p:cNvSpPr/>
          <p:nvPr/>
        </p:nvSpPr>
        <p:spPr>
          <a:xfrm>
            <a:off x="469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5" name="Text 93"/>
          <p:cNvSpPr/>
          <p:nvPr/>
        </p:nvSpPr>
        <p:spPr>
          <a:xfrm>
            <a:off x="469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6" name="Text 94"/>
          <p:cNvSpPr/>
          <p:nvPr/>
        </p:nvSpPr>
        <p:spPr>
          <a:xfrm>
            <a:off x="469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7" name="Text 95"/>
          <p:cNvSpPr/>
          <p:nvPr/>
        </p:nvSpPr>
        <p:spPr>
          <a:xfrm>
            <a:off x="469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98" name="Text 96"/>
          <p:cNvSpPr/>
          <p:nvPr/>
        </p:nvSpPr>
        <p:spPr>
          <a:xfrm>
            <a:off x="469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99" name="Text 97"/>
          <p:cNvSpPr/>
          <p:nvPr/>
        </p:nvSpPr>
        <p:spPr>
          <a:xfrm>
            <a:off x="469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0" name="Text 98"/>
          <p:cNvSpPr/>
          <p:nvPr/>
        </p:nvSpPr>
        <p:spPr>
          <a:xfrm>
            <a:off x="469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01" name="Text 99"/>
          <p:cNvSpPr/>
          <p:nvPr/>
        </p:nvSpPr>
        <p:spPr>
          <a:xfrm>
            <a:off x="469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2" name="Text 100"/>
          <p:cNvSpPr/>
          <p:nvPr/>
        </p:nvSpPr>
        <p:spPr>
          <a:xfrm>
            <a:off x="469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3" name="Text 101"/>
          <p:cNvSpPr/>
          <p:nvPr/>
        </p:nvSpPr>
        <p:spPr>
          <a:xfrm>
            <a:off x="469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4" name="Text 102"/>
          <p:cNvSpPr/>
          <p:nvPr/>
        </p:nvSpPr>
        <p:spPr>
          <a:xfrm>
            <a:off x="469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105" name="Text 103"/>
          <p:cNvSpPr/>
          <p:nvPr/>
        </p:nvSpPr>
        <p:spPr>
          <a:xfrm>
            <a:off x="469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06" name="Text 104"/>
          <p:cNvSpPr/>
          <p:nvPr/>
        </p:nvSpPr>
        <p:spPr>
          <a:xfrm>
            <a:off x="469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7" name="Text 105"/>
          <p:cNvSpPr/>
          <p:nvPr/>
        </p:nvSpPr>
        <p:spPr>
          <a:xfrm>
            <a:off x="469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108" name="Text 106"/>
          <p:cNvSpPr/>
          <p:nvPr/>
        </p:nvSpPr>
        <p:spPr>
          <a:xfrm>
            <a:off x="469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109" name="Text 107"/>
          <p:cNvSpPr/>
          <p:nvPr/>
        </p:nvSpPr>
        <p:spPr>
          <a:xfrm>
            <a:off x="469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10" name="Text 108"/>
          <p:cNvSpPr/>
          <p:nvPr/>
        </p:nvSpPr>
        <p:spPr>
          <a:xfrm>
            <a:off x="469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1" name="Text 109"/>
          <p:cNvSpPr/>
          <p:nvPr/>
        </p:nvSpPr>
        <p:spPr>
          <a:xfrm>
            <a:off x="469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12" name="Text 110"/>
          <p:cNvSpPr/>
          <p:nvPr/>
        </p:nvSpPr>
        <p:spPr>
          <a:xfrm>
            <a:off x="469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3" name="Text 111"/>
          <p:cNvSpPr/>
          <p:nvPr/>
        </p:nvSpPr>
        <p:spPr>
          <a:xfrm>
            <a:off x="469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4" name="Text 112"/>
          <p:cNvSpPr/>
          <p:nvPr/>
        </p:nvSpPr>
        <p:spPr>
          <a:xfrm>
            <a:off x="469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5" name="Text 113"/>
          <p:cNvSpPr/>
          <p:nvPr/>
        </p:nvSpPr>
        <p:spPr>
          <a:xfrm>
            <a:off x="469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6" name="Text 114"/>
          <p:cNvSpPr/>
          <p:nvPr/>
        </p:nvSpPr>
        <p:spPr>
          <a:xfrm>
            <a:off x="469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7" name="Text 115"/>
          <p:cNvSpPr/>
          <p:nvPr/>
        </p:nvSpPr>
        <p:spPr>
          <a:xfrm>
            <a:off x="469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8" name="Text 116"/>
          <p:cNvSpPr/>
          <p:nvPr/>
        </p:nvSpPr>
        <p:spPr>
          <a:xfrm>
            <a:off x="469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9" name="Text 117"/>
          <p:cNvSpPr/>
          <p:nvPr/>
        </p:nvSpPr>
        <p:spPr>
          <a:xfrm>
            <a:off x="469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20" name="Text 118"/>
          <p:cNvSpPr/>
          <p:nvPr/>
        </p:nvSpPr>
        <p:spPr>
          <a:xfrm>
            <a:off x="469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21" name="Text 119"/>
          <p:cNvSpPr/>
          <p:nvPr/>
        </p:nvSpPr>
        <p:spPr>
          <a:xfrm>
            <a:off x="4692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22" name="Text 1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67</a:t>
            </a:r>
            <a:endParaRPr lang="en-US" sz="750" dirty="0"/>
          </a:p>
        </p:txBody>
      </p:sp>
      <p:sp>
        <p:nvSpPr>
          <p:cNvPr id="123" name="Text 1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43" name="Text 41"/>
          <p:cNvSpPr/>
          <p:nvPr/>
        </p:nvSpPr>
        <p:spPr>
          <a:xfrm>
            <a:off x="828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44" name="Text 42"/>
          <p:cNvSpPr/>
          <p:nvPr/>
        </p:nvSpPr>
        <p:spPr>
          <a:xfrm>
            <a:off x="828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45" name="Text 43"/>
          <p:cNvSpPr/>
          <p:nvPr/>
        </p:nvSpPr>
        <p:spPr>
          <a:xfrm>
            <a:off x="828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46" name="Text 44"/>
          <p:cNvSpPr/>
          <p:nvPr/>
        </p:nvSpPr>
        <p:spPr>
          <a:xfrm>
            <a:off x="828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47" name="Text 45"/>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48" name="Text 46"/>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49" name="Text 47"/>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0" name="Text 48"/>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51" name="Text 49"/>
          <p:cNvSpPr/>
          <p:nvPr/>
        </p:nvSpPr>
        <p:spPr>
          <a:xfrm>
            <a:off x="2868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53" name="Text 51"/>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54" name="Text 52"/>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55" name="Text 53"/>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56" name="Text 54"/>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7" name="Text 55"/>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8" name="Text 56"/>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59" name="Text 57"/>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60" name="Text 58"/>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1" name="Text 59"/>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62" name="Text 60"/>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63" name="Text 61"/>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64" name="Text 62"/>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5" name="Text 63"/>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6" name="Text 64"/>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7" name="Text 65"/>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68" name="Text 66"/>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9" name="Text 67"/>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70" name="Text 68"/>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71" name="Text 69"/>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2" name="Text 70"/>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73" name="Text 71"/>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4" name="Text 72"/>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75" name="Text 73"/>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76" name="Text 74"/>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77" name="Text 75"/>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78" name="Text 76"/>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79" name="Text 77"/>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80" name="Text 78"/>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81" name="Text 79"/>
          <p:cNvSpPr/>
          <p:nvPr/>
        </p:nvSpPr>
        <p:spPr>
          <a:xfrm>
            <a:off x="286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82" name="Text 80"/>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83" name="Text 81"/>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84" name="Text 82"/>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85" name="Text 83"/>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86" name="Text 84"/>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7" name="Text 85"/>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88" name="Text 86"/>
          <p:cNvSpPr/>
          <p:nvPr/>
        </p:nvSpPr>
        <p:spPr>
          <a:xfrm>
            <a:off x="2868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89" name="Text 87"/>
          <p:cNvSpPr/>
          <p:nvPr/>
        </p:nvSpPr>
        <p:spPr>
          <a:xfrm>
            <a:off x="2868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90" name="Text 88"/>
          <p:cNvSpPr/>
          <p:nvPr/>
        </p:nvSpPr>
        <p:spPr>
          <a:xfrm>
            <a:off x="2868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91" name="Text 89"/>
          <p:cNvSpPr/>
          <p:nvPr/>
        </p:nvSpPr>
        <p:spPr>
          <a:xfrm>
            <a:off x="2868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92" name="Text 90"/>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3" name="Text 91"/>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94" name="Text 92"/>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5" name="Text 93"/>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6" name="Text 94"/>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7" name="Text 95"/>
          <p:cNvSpPr/>
          <p:nvPr/>
        </p:nvSpPr>
        <p:spPr>
          <a:xfrm>
            <a:off x="490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8" name="Text 96"/>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99" name="Text 97"/>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0" name="Text 98"/>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1" name="Text 99"/>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2" name="Text 100"/>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3" name="Text 101"/>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4" name="Text 102"/>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05" name="Text 103"/>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06" name="Text 104"/>
          <p:cNvSpPr/>
          <p:nvPr/>
        </p:nvSpPr>
        <p:spPr>
          <a:xfrm>
            <a:off x="490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7" name="Text 105"/>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08" name="Text 106"/>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09" name="Text 107"/>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10" name="Text 108"/>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11" name="Text 109"/>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12" name="Text 110"/>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13" name="Text 111"/>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14" name="Text 112"/>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15" name="Text 113"/>
          <p:cNvSpPr/>
          <p:nvPr/>
        </p:nvSpPr>
        <p:spPr>
          <a:xfrm>
            <a:off x="490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16" name="Text 114"/>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117" name="Text 115"/>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18" name="Text 116"/>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119" name="Text 117"/>
          <p:cNvSpPr/>
          <p:nvPr/>
        </p:nvSpPr>
        <p:spPr>
          <a:xfrm>
            <a:off x="490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0" name="Text 118"/>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1" name="Text 119"/>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48</a:t>
            </a:r>
            <a:endParaRPr lang="en-US" sz="690" dirty="0"/>
          </a:p>
        </p:txBody>
      </p:sp>
      <p:sp>
        <p:nvSpPr>
          <p:cNvPr id="122" name="Text 120"/>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48</a:t>
            </a:r>
            <a:endParaRPr lang="en-US" sz="690" dirty="0"/>
          </a:p>
        </p:txBody>
      </p:sp>
      <p:sp>
        <p:nvSpPr>
          <p:cNvPr id="123" name="Text 121"/>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24" name="Text 122"/>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48</a:t>
            </a:r>
            <a:endParaRPr lang="en-US" sz="690" dirty="0"/>
          </a:p>
        </p:txBody>
      </p:sp>
      <p:sp>
        <p:nvSpPr>
          <p:cNvPr id="125" name="Text 123"/>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126" name="Text 124"/>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27" name="Text 125"/>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8" name="Text 126"/>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9" name="Text 127"/>
          <p:cNvSpPr/>
          <p:nvPr/>
        </p:nvSpPr>
        <p:spPr>
          <a:xfrm>
            <a:off x="490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30" name="Text 128"/>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31" name="Text 129"/>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32" name="Text 130"/>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33" name="Text 131"/>
          <p:cNvSpPr/>
          <p:nvPr/>
        </p:nvSpPr>
        <p:spPr>
          <a:xfrm>
            <a:off x="4908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134" name="Text 132"/>
          <p:cNvSpPr/>
          <p:nvPr/>
        </p:nvSpPr>
        <p:spPr>
          <a:xfrm>
            <a:off x="4908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5" name="Text 133"/>
          <p:cNvSpPr/>
          <p:nvPr/>
        </p:nvSpPr>
        <p:spPr>
          <a:xfrm>
            <a:off x="4908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6" name="Text 134"/>
          <p:cNvSpPr/>
          <p:nvPr/>
        </p:nvSpPr>
        <p:spPr>
          <a:xfrm>
            <a:off x="4908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7" name="Text 13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68</a:t>
            </a:r>
            <a:endParaRPr lang="en-US" sz="750" dirty="0"/>
          </a:p>
        </p:txBody>
      </p:sp>
      <p:sp>
        <p:nvSpPr>
          <p:cNvPr id="138" name="Text 13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43" name="Text 41"/>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44" name="Text 42"/>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45" name="Text 43"/>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46" name="Text 44"/>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7" name="Text 45"/>
          <p:cNvSpPr/>
          <p:nvPr/>
        </p:nvSpPr>
        <p:spPr>
          <a:xfrm>
            <a:off x="265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8" name="Text 46"/>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9" name="Text 47"/>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50" name="Text 48"/>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1" name="Text 49"/>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52" name="Text 50"/>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53" name="Text 51"/>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54" name="Text 52"/>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55" name="Text 53"/>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56" name="Text 54"/>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57" name="Text 55"/>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58" name="Text 56"/>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9" name="Text 57"/>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0" name="Text 58"/>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61" name="Text 59"/>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62" name="Text 60"/>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3" name="Text 61"/>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4" name="Text 62"/>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65" name="Text 63"/>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57</a:t>
            </a:r>
            <a:endParaRPr lang="en-US" sz="690" dirty="0"/>
          </a:p>
        </p:txBody>
      </p:sp>
      <p:sp>
        <p:nvSpPr>
          <p:cNvPr id="66" name="Text 64"/>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7" name="Text 65"/>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8" name="Text 66"/>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9" name="Text 67"/>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0" name="Text 68"/>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1" name="Text 69"/>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72" name="Text 70"/>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3" name="Text 71"/>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4" name="Text 72"/>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5" name="Text 73"/>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6" name="Text 74"/>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77" name="Text 75"/>
          <p:cNvSpPr/>
          <p:nvPr/>
        </p:nvSpPr>
        <p:spPr>
          <a:xfrm>
            <a:off x="2652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79" name="Text 77"/>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0" name="Text 78"/>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1" name="Text 79"/>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2" name="Text 80"/>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3" name="Text 81"/>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4" name="Text 82"/>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5" name="Text 83"/>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6" name="Text 84"/>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7" name="Text 85"/>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8" name="Text 86"/>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89" name="Text 87"/>
          <p:cNvSpPr/>
          <p:nvPr/>
        </p:nvSpPr>
        <p:spPr>
          <a:xfrm>
            <a:off x="4692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1" name="Text 89"/>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2" name="Text 90"/>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3" name="Text 91"/>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4" name="Text 92"/>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5" name="Text 93"/>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6" name="Text 94"/>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7" name="Text 95"/>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8" name="Text 96"/>
          <p:cNvSpPr/>
          <p:nvPr/>
        </p:nvSpPr>
        <p:spPr>
          <a:xfrm>
            <a:off x="4692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0" name="Text 98"/>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1" name="Text 99"/>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2" name="Text 100"/>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3" name="Text 101"/>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4" name="Text 102"/>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5" name="Text 103"/>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6" name="Text 104"/>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7" name="Text 105"/>
          <p:cNvSpPr/>
          <p:nvPr/>
        </p:nvSpPr>
        <p:spPr>
          <a:xfrm>
            <a:off x="4692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09" name="Text 107"/>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0" name="Text 108"/>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1" name="Text 109"/>
          <p:cNvSpPr/>
          <p:nvPr/>
        </p:nvSpPr>
        <p:spPr>
          <a:xfrm>
            <a:off x="4692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3" name="Text 111"/>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4" name="Text 112"/>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63</a:t>
            </a:r>
            <a:endParaRPr lang="en-US" sz="690" dirty="0"/>
          </a:p>
        </p:txBody>
      </p:sp>
      <p:sp>
        <p:nvSpPr>
          <p:cNvPr id="115" name="Text 113"/>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6" name="Text 114"/>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7" name="Text 115"/>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8" name="Text 116"/>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19" name="Text 117"/>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62</a:t>
            </a:r>
            <a:endParaRPr lang="en-US" sz="690" dirty="0"/>
          </a:p>
        </p:txBody>
      </p:sp>
      <p:sp>
        <p:nvSpPr>
          <p:cNvPr id="120" name="Text 118"/>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21" name="Text 119"/>
          <p:cNvSpPr/>
          <p:nvPr/>
        </p:nvSpPr>
        <p:spPr>
          <a:xfrm>
            <a:off x="4692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23" name="Text 121"/>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24" name="Text 122"/>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125" name="Text 12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69</a:t>
            </a:r>
            <a:endParaRPr lang="en-US" sz="750" dirty="0"/>
          </a:p>
        </p:txBody>
      </p:sp>
      <p:sp>
        <p:nvSpPr>
          <p:cNvPr id="126" name="Text 12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828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828000" y="1512000"/>
            <a:ext cx="6120000" cy="0"/>
          </a:xfrm>
          <a:prstGeom prst="line">
            <a:avLst/>
          </a:prstGeom>
          <a:noFill/>
          <a:ln w="10160">
            <a:solidFill>
              <a:srgbClr val="67067C"/>
            </a:solidFill>
            <a:prstDash val="solid"/>
          </a:ln>
        </p:spPr>
      </p:sp>
      <p:sp>
        <p:nvSpPr>
          <p:cNvPr id="6" name="Text 4"/>
          <p:cNvSpPr/>
          <p:nvPr/>
        </p:nvSpPr>
        <p:spPr>
          <a:xfrm>
            <a:off x="828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7" name="Text 5"/>
          <p:cNvSpPr/>
          <p:nvPr/>
        </p:nvSpPr>
        <p:spPr>
          <a:xfrm>
            <a:off x="828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8" name="Text 6"/>
          <p:cNvSpPr/>
          <p:nvPr/>
        </p:nvSpPr>
        <p:spPr>
          <a:xfrm>
            <a:off x="828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9" name="Text 7"/>
          <p:cNvSpPr/>
          <p:nvPr/>
        </p:nvSpPr>
        <p:spPr>
          <a:xfrm>
            <a:off x="828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10" name="Text 8"/>
          <p:cNvSpPr/>
          <p:nvPr/>
        </p:nvSpPr>
        <p:spPr>
          <a:xfrm>
            <a:off x="828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11" name="Text 9"/>
          <p:cNvSpPr/>
          <p:nvPr/>
        </p:nvSpPr>
        <p:spPr>
          <a:xfrm>
            <a:off x="828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7</a:t>
            </a:r>
            <a:endParaRPr lang="en-US" sz="740" dirty="0"/>
          </a:p>
        </p:txBody>
      </p:sp>
      <p:sp>
        <p:nvSpPr>
          <p:cNvPr id="12" name="Text 10"/>
          <p:cNvSpPr/>
          <p:nvPr/>
        </p:nvSpPr>
        <p:spPr>
          <a:xfrm>
            <a:off x="828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37</a:t>
            </a:r>
            <a:endParaRPr lang="en-US" sz="740" dirty="0"/>
          </a:p>
        </p:txBody>
      </p:sp>
      <p:sp>
        <p:nvSpPr>
          <p:cNvPr id="13" name="Text 11"/>
          <p:cNvSpPr/>
          <p:nvPr/>
        </p:nvSpPr>
        <p:spPr>
          <a:xfrm>
            <a:off x="3888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37</a:t>
            </a:r>
            <a:endParaRPr lang="en-US" sz="740" dirty="0"/>
          </a:p>
        </p:txBody>
      </p:sp>
      <p:sp>
        <p:nvSpPr>
          <p:cNvPr id="14" name="Text 12"/>
          <p:cNvSpPr/>
          <p:nvPr/>
        </p:nvSpPr>
        <p:spPr>
          <a:xfrm>
            <a:off x="3888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37</a:t>
            </a:r>
            <a:endParaRPr lang="en-US" sz="740" dirty="0"/>
          </a:p>
        </p:txBody>
      </p:sp>
      <p:sp>
        <p:nvSpPr>
          <p:cNvPr id="15" name="Text 13"/>
          <p:cNvSpPr/>
          <p:nvPr/>
        </p:nvSpPr>
        <p:spPr>
          <a:xfrm>
            <a:off x="3888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52</a:t>
            </a:r>
            <a:endParaRPr lang="en-US" sz="740" dirty="0"/>
          </a:p>
        </p:txBody>
      </p:sp>
      <p:sp>
        <p:nvSpPr>
          <p:cNvPr id="16" name="Text 14"/>
          <p:cNvSpPr/>
          <p:nvPr/>
        </p:nvSpPr>
        <p:spPr>
          <a:xfrm>
            <a:off x="3888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54</a:t>
            </a:r>
            <a:endParaRPr lang="en-US" sz="740" dirty="0"/>
          </a:p>
        </p:txBody>
      </p:sp>
      <p:sp>
        <p:nvSpPr>
          <p:cNvPr id="17" name="Text 15"/>
          <p:cNvSpPr/>
          <p:nvPr/>
        </p:nvSpPr>
        <p:spPr>
          <a:xfrm>
            <a:off x="3888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54</a:t>
            </a:r>
            <a:endParaRPr lang="en-US" sz="740" dirty="0"/>
          </a:p>
        </p:txBody>
      </p:sp>
      <p:sp>
        <p:nvSpPr>
          <p:cNvPr id="18" name="Text 16"/>
          <p:cNvSpPr/>
          <p:nvPr/>
        </p:nvSpPr>
        <p:spPr>
          <a:xfrm>
            <a:off x="3888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54</a:t>
            </a:r>
            <a:endParaRPr lang="en-US" sz="740" dirty="0"/>
          </a:p>
        </p:txBody>
      </p:sp>
      <p:sp>
        <p:nvSpPr>
          <p:cNvPr id="19" name="Text 17"/>
          <p:cNvSpPr/>
          <p:nvPr/>
        </p:nvSpPr>
        <p:spPr>
          <a:xfrm>
            <a:off x="3888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59</a:t>
            </a:r>
            <a:endParaRPr lang="en-US" sz="740" dirty="0"/>
          </a:p>
        </p:txBody>
      </p:sp>
      <p:sp>
        <p:nvSpPr>
          <p:cNvPr id="20" name="Text 18"/>
          <p:cNvSpPr/>
          <p:nvPr/>
        </p:nvSpPr>
        <p:spPr>
          <a:xfrm>
            <a:off x="828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828000" y="2988000"/>
            <a:ext cx="6120000" cy="0"/>
          </a:xfrm>
          <a:prstGeom prst="line">
            <a:avLst/>
          </a:prstGeom>
          <a:noFill/>
          <a:ln w="10160">
            <a:solidFill>
              <a:srgbClr val="67067C"/>
            </a:solidFill>
            <a:prstDash val="solid"/>
          </a:ln>
        </p:spPr>
      </p:sp>
      <p:sp>
        <p:nvSpPr>
          <p:cNvPr id="22" name="Text 20"/>
          <p:cNvSpPr/>
          <p:nvPr/>
        </p:nvSpPr>
        <p:spPr>
          <a:xfrm>
            <a:off x="828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3" name="Text 21"/>
          <p:cNvSpPr/>
          <p:nvPr/>
        </p:nvSpPr>
        <p:spPr>
          <a:xfrm>
            <a:off x="828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4" name="Text 22"/>
          <p:cNvSpPr/>
          <p:nvPr/>
        </p:nvSpPr>
        <p:spPr>
          <a:xfrm>
            <a:off x="828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5" name="Text 23"/>
          <p:cNvSpPr/>
          <p:nvPr/>
        </p:nvSpPr>
        <p:spPr>
          <a:xfrm>
            <a:off x="828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6" name="Text 24"/>
          <p:cNvSpPr/>
          <p:nvPr/>
        </p:nvSpPr>
        <p:spPr>
          <a:xfrm>
            <a:off x="3888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7" name="Text 25"/>
          <p:cNvSpPr/>
          <p:nvPr/>
        </p:nvSpPr>
        <p:spPr>
          <a:xfrm>
            <a:off x="3888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8" name="Text 26"/>
          <p:cNvSpPr/>
          <p:nvPr/>
        </p:nvSpPr>
        <p:spPr>
          <a:xfrm>
            <a:off x="3888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29" name="Text 27"/>
          <p:cNvSpPr/>
          <p:nvPr/>
        </p:nvSpPr>
        <p:spPr>
          <a:xfrm>
            <a:off x="3888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13</a:t>
            </a:r>
            <a:endParaRPr lang="en-US" sz="740" dirty="0"/>
          </a:p>
        </p:txBody>
      </p:sp>
      <p:sp>
        <p:nvSpPr>
          <p:cNvPr id="30" name="Text 28"/>
          <p:cNvSpPr/>
          <p:nvPr/>
        </p:nvSpPr>
        <p:spPr>
          <a:xfrm>
            <a:off x="828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828000" y="4032000"/>
            <a:ext cx="6120000" cy="0"/>
          </a:xfrm>
          <a:prstGeom prst="line">
            <a:avLst/>
          </a:prstGeom>
          <a:noFill/>
          <a:ln w="10160">
            <a:solidFill>
              <a:srgbClr val="67067C"/>
            </a:solidFill>
            <a:prstDash val="solid"/>
          </a:ln>
        </p:spPr>
      </p:sp>
      <p:sp>
        <p:nvSpPr>
          <p:cNvPr id="32" name="Text 30"/>
          <p:cNvSpPr/>
          <p:nvPr/>
        </p:nvSpPr>
        <p:spPr>
          <a:xfrm>
            <a:off x="828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56</a:t>
            </a:r>
            <a:endParaRPr lang="en-US" sz="740" dirty="0"/>
          </a:p>
        </p:txBody>
      </p:sp>
      <p:sp>
        <p:nvSpPr>
          <p:cNvPr id="33" name="Text 31"/>
          <p:cNvSpPr/>
          <p:nvPr/>
        </p:nvSpPr>
        <p:spPr>
          <a:xfrm>
            <a:off x="828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56</a:t>
            </a:r>
            <a:endParaRPr lang="en-US" sz="740" dirty="0"/>
          </a:p>
        </p:txBody>
      </p:sp>
      <p:sp>
        <p:nvSpPr>
          <p:cNvPr id="34" name="Text 32"/>
          <p:cNvSpPr/>
          <p:nvPr/>
        </p:nvSpPr>
        <p:spPr>
          <a:xfrm>
            <a:off x="828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56</a:t>
            </a:r>
            <a:endParaRPr lang="en-US" sz="740" dirty="0"/>
          </a:p>
        </p:txBody>
      </p:sp>
      <p:sp>
        <p:nvSpPr>
          <p:cNvPr id="35" name="Text 33"/>
          <p:cNvSpPr/>
          <p:nvPr/>
        </p:nvSpPr>
        <p:spPr>
          <a:xfrm>
            <a:off x="828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56</a:t>
            </a:r>
            <a:endParaRPr lang="en-US" sz="740" dirty="0"/>
          </a:p>
        </p:txBody>
      </p:sp>
      <p:sp>
        <p:nvSpPr>
          <p:cNvPr id="36" name="Text 34"/>
          <p:cNvSpPr/>
          <p:nvPr/>
        </p:nvSpPr>
        <p:spPr>
          <a:xfrm>
            <a:off x="3888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56</a:t>
            </a:r>
            <a:endParaRPr lang="en-US" sz="740" dirty="0"/>
          </a:p>
        </p:txBody>
      </p:sp>
      <p:sp>
        <p:nvSpPr>
          <p:cNvPr id="37" name="Text 35"/>
          <p:cNvSpPr/>
          <p:nvPr/>
        </p:nvSpPr>
        <p:spPr>
          <a:xfrm>
            <a:off x="3888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56</a:t>
            </a:r>
            <a:endParaRPr lang="en-US" sz="740" dirty="0"/>
          </a:p>
        </p:txBody>
      </p:sp>
      <p:sp>
        <p:nvSpPr>
          <p:cNvPr id="38" name="Text 36"/>
          <p:cNvSpPr/>
          <p:nvPr/>
        </p:nvSpPr>
        <p:spPr>
          <a:xfrm>
            <a:off x="3888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56</a:t>
            </a:r>
            <a:endParaRPr lang="en-US" sz="740" dirty="0"/>
          </a:p>
        </p:txBody>
      </p:sp>
      <p:sp>
        <p:nvSpPr>
          <p:cNvPr id="39" name="Text 37"/>
          <p:cNvSpPr/>
          <p:nvPr/>
        </p:nvSpPr>
        <p:spPr>
          <a:xfrm>
            <a:off x="3888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56</a:t>
            </a:r>
            <a:endParaRPr lang="en-US" sz="740" dirty="0"/>
          </a:p>
        </p:txBody>
      </p:sp>
      <p:sp>
        <p:nvSpPr>
          <p:cNvPr id="40" name="Text 38"/>
          <p:cNvSpPr/>
          <p:nvPr/>
        </p:nvSpPr>
        <p:spPr>
          <a:xfrm>
            <a:off x="828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828000" y="5076000"/>
            <a:ext cx="6120000" cy="0"/>
          </a:xfrm>
          <a:prstGeom prst="line">
            <a:avLst/>
          </a:prstGeom>
          <a:noFill/>
          <a:ln w="10160">
            <a:solidFill>
              <a:srgbClr val="67067C"/>
            </a:solidFill>
            <a:prstDash val="solid"/>
          </a:ln>
        </p:spPr>
      </p:sp>
      <p:sp>
        <p:nvSpPr>
          <p:cNvPr id="42" name="Text 40"/>
          <p:cNvSpPr/>
          <p:nvPr/>
        </p:nvSpPr>
        <p:spPr>
          <a:xfrm>
            <a:off x="828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39</a:t>
            </a:r>
            <a:endParaRPr lang="en-US" sz="740" dirty="0"/>
          </a:p>
        </p:txBody>
      </p:sp>
      <p:sp>
        <p:nvSpPr>
          <p:cNvPr id="43" name="Text 41"/>
          <p:cNvSpPr/>
          <p:nvPr/>
        </p:nvSpPr>
        <p:spPr>
          <a:xfrm>
            <a:off x="828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39</a:t>
            </a:r>
            <a:endParaRPr lang="en-US" sz="740" dirty="0"/>
          </a:p>
        </p:txBody>
      </p:sp>
      <p:sp>
        <p:nvSpPr>
          <p:cNvPr id="44" name="Text 42"/>
          <p:cNvSpPr/>
          <p:nvPr/>
        </p:nvSpPr>
        <p:spPr>
          <a:xfrm>
            <a:off x="3888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39</a:t>
            </a:r>
            <a:endParaRPr lang="en-US" sz="740" dirty="0"/>
          </a:p>
        </p:txBody>
      </p:sp>
      <p:sp>
        <p:nvSpPr>
          <p:cNvPr id="45" name="Text 43"/>
          <p:cNvSpPr/>
          <p:nvPr/>
        </p:nvSpPr>
        <p:spPr>
          <a:xfrm>
            <a:off x="828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828000" y="5832000"/>
            <a:ext cx="6120000" cy="0"/>
          </a:xfrm>
          <a:prstGeom prst="line">
            <a:avLst/>
          </a:prstGeom>
          <a:noFill/>
          <a:ln w="10160">
            <a:solidFill>
              <a:srgbClr val="67067C"/>
            </a:solidFill>
            <a:prstDash val="solid"/>
          </a:ln>
        </p:spPr>
      </p:sp>
      <p:sp>
        <p:nvSpPr>
          <p:cNvPr id="47" name="Text 45"/>
          <p:cNvSpPr/>
          <p:nvPr/>
        </p:nvSpPr>
        <p:spPr>
          <a:xfrm>
            <a:off x="828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48" name="Text 46"/>
          <p:cNvSpPr/>
          <p:nvPr/>
        </p:nvSpPr>
        <p:spPr>
          <a:xfrm>
            <a:off x="828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49" name="Text 47"/>
          <p:cNvSpPr/>
          <p:nvPr/>
        </p:nvSpPr>
        <p:spPr>
          <a:xfrm>
            <a:off x="828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50" name="Text 48"/>
          <p:cNvSpPr/>
          <p:nvPr/>
        </p:nvSpPr>
        <p:spPr>
          <a:xfrm>
            <a:off x="828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51" name="Text 49"/>
          <p:cNvSpPr/>
          <p:nvPr/>
        </p:nvSpPr>
        <p:spPr>
          <a:xfrm>
            <a:off x="828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52" name="Text 50"/>
          <p:cNvSpPr/>
          <p:nvPr/>
        </p:nvSpPr>
        <p:spPr>
          <a:xfrm>
            <a:off x="3888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53" name="Text 51"/>
          <p:cNvSpPr/>
          <p:nvPr/>
        </p:nvSpPr>
        <p:spPr>
          <a:xfrm>
            <a:off x="3888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37</a:t>
            </a:r>
            <a:endParaRPr lang="en-US" sz="740" dirty="0"/>
          </a:p>
        </p:txBody>
      </p:sp>
      <p:sp>
        <p:nvSpPr>
          <p:cNvPr id="54" name="Text 52"/>
          <p:cNvSpPr/>
          <p:nvPr/>
        </p:nvSpPr>
        <p:spPr>
          <a:xfrm>
            <a:off x="3888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62</a:t>
            </a:r>
            <a:endParaRPr lang="en-US" sz="740" dirty="0"/>
          </a:p>
        </p:txBody>
      </p:sp>
      <p:sp>
        <p:nvSpPr>
          <p:cNvPr id="55" name="Text 53"/>
          <p:cNvSpPr/>
          <p:nvPr/>
        </p:nvSpPr>
        <p:spPr>
          <a:xfrm>
            <a:off x="3888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63</a:t>
            </a:r>
            <a:endParaRPr lang="en-US" sz="740" dirty="0"/>
          </a:p>
        </p:txBody>
      </p:sp>
      <p:sp>
        <p:nvSpPr>
          <p:cNvPr id="56" name="Text 5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70</a:t>
            </a:r>
            <a:endParaRPr lang="en-US" sz="750" dirty="0"/>
          </a:p>
        </p:txBody>
      </p:sp>
      <p:sp>
        <p:nvSpPr>
          <p:cNvPr id="57" name="Text 5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quarante domaines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DE A À Z</a:t>
            </a:r>
            <a:endParaRPr lang="en-US" sz="800" dirty="0"/>
          </a:p>
        </p:txBody>
      </p:sp>
      <p:sp>
        <p:nvSpPr>
          <p:cNvPr id="4" name="Text 2"/>
          <p:cNvSpPr/>
          <p:nvPr/>
        </p:nvSpPr>
        <p:spPr>
          <a:xfrm>
            <a:off x="61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31   </a:t>
            </a:r>
            <a:r>
              <a:rPr lang="en-US" sz="840" b="1" dirty="0">
                <a:solidFill>
                  <a:srgbClr val="46606E"/>
                </a:solidFill>
                <a:latin typeface="IBM Plex Sans" pitchFamily="34" charset="0"/>
                <a:ea typeface="IBM Plex Sans" pitchFamily="34" charset="-122"/>
                <a:cs typeface="IBM Plex Sans" pitchFamily="34" charset="-120"/>
              </a:rPr>
              <a:t>Bastide de Blacailloux   </a:t>
            </a:r>
            <a:r>
              <a:rPr lang="en-US" sz="700" dirty="0">
                <a:solidFill>
                  <a:srgbClr val="A8515F"/>
                </a:solidFill>
                <a:latin typeface="IBM Plex Sans" pitchFamily="34" charset="0"/>
                <a:ea typeface="IBM Plex Sans" pitchFamily="34" charset="-122"/>
                <a:cs typeface="IBM Plex Sans" pitchFamily="34" charset="-120"/>
              </a:rPr>
              <a:t>Provence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52</a:t>
            </a:r>
            <a:endParaRPr lang="en-US" sz="840" dirty="0"/>
          </a:p>
        </p:txBody>
      </p:sp>
      <p:sp>
        <p:nvSpPr>
          <p:cNvPr id="5" name="Text 3"/>
          <p:cNvSpPr/>
          <p:nvPr/>
        </p:nvSpPr>
        <p:spPr>
          <a:xfrm>
            <a:off x="61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5   </a:t>
            </a:r>
            <a:r>
              <a:rPr lang="en-US" sz="840" b="1" dirty="0">
                <a:solidFill>
                  <a:srgbClr val="46606E"/>
                </a:solidFill>
                <a:latin typeface="IBM Plex Sans" pitchFamily="34" charset="0"/>
                <a:ea typeface="IBM Plex Sans" pitchFamily="34" charset="-122"/>
                <a:cs typeface="IBM Plex Sans" pitchFamily="34" charset="-120"/>
              </a:rPr>
              <a:t>Chai Berteaud Manceau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10</a:t>
            </a:r>
            <a:endParaRPr lang="en-US" sz="840" dirty="0"/>
          </a:p>
        </p:txBody>
      </p:sp>
      <p:sp>
        <p:nvSpPr>
          <p:cNvPr id="6" name="Text 4"/>
          <p:cNvSpPr/>
          <p:nvPr/>
        </p:nvSpPr>
        <p:spPr>
          <a:xfrm>
            <a:off x="61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37   </a:t>
            </a:r>
            <a:r>
              <a:rPr lang="en-US" sz="840" b="1" dirty="0">
                <a:solidFill>
                  <a:srgbClr val="46606E"/>
                </a:solidFill>
                <a:latin typeface="IBM Plex Sans" pitchFamily="34" charset="0"/>
                <a:ea typeface="IBM Plex Sans" pitchFamily="34" charset="-122"/>
                <a:cs typeface="IBM Plex Sans" pitchFamily="34" charset="-120"/>
              </a:rPr>
              <a:t>Champagne Dekeyne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62</a:t>
            </a:r>
            <a:endParaRPr lang="en-US" sz="840" dirty="0"/>
          </a:p>
        </p:txBody>
      </p:sp>
      <p:sp>
        <p:nvSpPr>
          <p:cNvPr id="7" name="Text 5"/>
          <p:cNvSpPr/>
          <p:nvPr/>
        </p:nvSpPr>
        <p:spPr>
          <a:xfrm>
            <a:off x="61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38   </a:t>
            </a:r>
            <a:r>
              <a:rPr lang="en-US" sz="840" b="1" dirty="0">
                <a:solidFill>
                  <a:srgbClr val="46606E"/>
                </a:solidFill>
                <a:latin typeface="IBM Plex Sans" pitchFamily="34" charset="0"/>
                <a:ea typeface="IBM Plex Sans" pitchFamily="34" charset="-122"/>
                <a:cs typeface="IBM Plex Sans" pitchFamily="34" charset="-120"/>
              </a:rPr>
              <a:t>Champagne Denis Frézier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63</a:t>
            </a:r>
            <a:endParaRPr lang="en-US" sz="840" dirty="0"/>
          </a:p>
        </p:txBody>
      </p:sp>
      <p:sp>
        <p:nvSpPr>
          <p:cNvPr id="8" name="Text 6"/>
          <p:cNvSpPr/>
          <p:nvPr/>
        </p:nvSpPr>
        <p:spPr>
          <a:xfrm>
            <a:off x="61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39   </a:t>
            </a:r>
            <a:r>
              <a:rPr lang="en-US" sz="840" b="1" dirty="0">
                <a:solidFill>
                  <a:srgbClr val="46606E"/>
                </a:solidFill>
                <a:latin typeface="IBM Plex Sans" pitchFamily="34" charset="0"/>
                <a:ea typeface="IBM Plex Sans" pitchFamily="34" charset="-122"/>
                <a:cs typeface="IBM Plex Sans" pitchFamily="34" charset="-120"/>
              </a:rPr>
              <a:t>Champagne Solemme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65</a:t>
            </a:r>
            <a:endParaRPr lang="en-US" sz="840" dirty="0"/>
          </a:p>
        </p:txBody>
      </p:sp>
      <p:sp>
        <p:nvSpPr>
          <p:cNvPr id="9" name="Text 7"/>
          <p:cNvSpPr/>
          <p:nvPr/>
        </p:nvSpPr>
        <p:spPr>
          <a:xfrm>
            <a:off x="61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29   </a:t>
            </a:r>
            <a:r>
              <a:rPr lang="en-US" sz="840" b="1" dirty="0">
                <a:solidFill>
                  <a:srgbClr val="46606E"/>
                </a:solidFill>
                <a:latin typeface="IBM Plex Sans" pitchFamily="34" charset="0"/>
                <a:ea typeface="IBM Plex Sans" pitchFamily="34" charset="-122"/>
                <a:cs typeface="IBM Plex Sans" pitchFamily="34" charset="-120"/>
              </a:rPr>
              <a:t>Château Balac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49</a:t>
            </a:r>
            <a:endParaRPr lang="en-US" sz="840" dirty="0"/>
          </a:p>
        </p:txBody>
      </p:sp>
      <p:sp>
        <p:nvSpPr>
          <p:cNvPr id="10" name="Text 8"/>
          <p:cNvSpPr/>
          <p:nvPr/>
        </p:nvSpPr>
        <p:spPr>
          <a:xfrm>
            <a:off x="61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34   </a:t>
            </a:r>
            <a:r>
              <a:rPr lang="en-US" sz="840" b="1" dirty="0">
                <a:solidFill>
                  <a:srgbClr val="46606E"/>
                </a:solidFill>
                <a:latin typeface="IBM Plex Sans" pitchFamily="34" charset="0"/>
                <a:ea typeface="IBM Plex Sans" pitchFamily="34" charset="-122"/>
                <a:cs typeface="IBM Plex Sans" pitchFamily="34" charset="-120"/>
              </a:rPr>
              <a:t>Château de Gragnos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57</a:t>
            </a:r>
            <a:endParaRPr lang="en-US" sz="840" dirty="0"/>
          </a:p>
        </p:txBody>
      </p:sp>
      <p:sp>
        <p:nvSpPr>
          <p:cNvPr id="11" name="Text 9"/>
          <p:cNvSpPr/>
          <p:nvPr/>
        </p:nvSpPr>
        <p:spPr>
          <a:xfrm>
            <a:off x="61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r>
              <a:rPr lang="en-US" sz="840" b="1" dirty="0">
                <a:solidFill>
                  <a:srgbClr val="46606E"/>
                </a:solidFill>
                <a:latin typeface="IBM Plex Sans" pitchFamily="34" charset="0"/>
                <a:ea typeface="IBM Plex Sans" pitchFamily="34" charset="-122"/>
                <a:cs typeface="IBM Plex Sans" pitchFamily="34" charset="-120"/>
              </a:rPr>
              <a:t>Château du Cray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25</a:t>
            </a:r>
            <a:endParaRPr lang="en-US" sz="840" dirty="0"/>
          </a:p>
        </p:txBody>
      </p:sp>
      <p:sp>
        <p:nvSpPr>
          <p:cNvPr id="12" name="Text 10"/>
          <p:cNvSpPr/>
          <p:nvPr/>
        </p:nvSpPr>
        <p:spPr>
          <a:xfrm>
            <a:off x="61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27   </a:t>
            </a:r>
            <a:r>
              <a:rPr lang="en-US" sz="840" b="1" dirty="0">
                <a:solidFill>
                  <a:srgbClr val="46606E"/>
                </a:solidFill>
                <a:latin typeface="IBM Plex Sans" pitchFamily="34" charset="0"/>
                <a:ea typeface="IBM Plex Sans" pitchFamily="34" charset="-122"/>
                <a:cs typeface="IBM Plex Sans" pitchFamily="34" charset="-120"/>
              </a:rPr>
              <a:t>Château Falfas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47</a:t>
            </a:r>
            <a:endParaRPr lang="en-US" sz="840" dirty="0"/>
          </a:p>
        </p:txBody>
      </p:sp>
      <p:sp>
        <p:nvSpPr>
          <p:cNvPr id="13" name="Text 11"/>
          <p:cNvSpPr/>
          <p:nvPr/>
        </p:nvSpPr>
        <p:spPr>
          <a:xfrm>
            <a:off x="61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30   </a:t>
            </a:r>
            <a:r>
              <a:rPr lang="en-US" sz="840" b="1" dirty="0">
                <a:solidFill>
                  <a:srgbClr val="46606E"/>
                </a:solidFill>
                <a:latin typeface="IBM Plex Sans" pitchFamily="34" charset="0"/>
                <a:ea typeface="IBM Plex Sans" pitchFamily="34" charset="-122"/>
                <a:cs typeface="IBM Plex Sans" pitchFamily="34" charset="-120"/>
              </a:rPr>
              <a:t>Château l’Escarderie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50</a:t>
            </a:r>
            <a:endParaRPr lang="en-US" sz="840" dirty="0"/>
          </a:p>
        </p:txBody>
      </p:sp>
      <p:sp>
        <p:nvSpPr>
          <p:cNvPr id="14" name="Text 12"/>
          <p:cNvSpPr/>
          <p:nvPr/>
        </p:nvSpPr>
        <p:spPr>
          <a:xfrm>
            <a:off x="61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Château la Gorce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11   </a:t>
            </a:r>
            <a:r>
              <a:rPr lang="en-US" sz="840" b="1" dirty="0">
                <a:solidFill>
                  <a:srgbClr val="46606E"/>
                </a:solidFill>
                <a:latin typeface="IBM Plex Sans" pitchFamily="34" charset="0"/>
                <a:ea typeface="IBM Plex Sans" pitchFamily="34" charset="-122"/>
                <a:cs typeface="IBM Plex Sans" pitchFamily="34" charset="-120"/>
              </a:rPr>
              <a:t>45</a:t>
            </a:r>
            <a:endParaRPr lang="en-US" sz="840" dirty="0"/>
          </a:p>
        </p:txBody>
      </p:sp>
      <p:sp>
        <p:nvSpPr>
          <p:cNvPr id="15" name="Text 13"/>
          <p:cNvSpPr/>
          <p:nvPr/>
        </p:nvSpPr>
        <p:spPr>
          <a:xfrm>
            <a:off x="61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28   </a:t>
            </a:r>
            <a:r>
              <a:rPr lang="en-US" sz="840" b="1" dirty="0">
                <a:solidFill>
                  <a:srgbClr val="46606E"/>
                </a:solidFill>
                <a:latin typeface="IBM Plex Sans" pitchFamily="34" charset="0"/>
                <a:ea typeface="IBM Plex Sans" pitchFamily="34" charset="-122"/>
                <a:cs typeface="IBM Plex Sans" pitchFamily="34" charset="-120"/>
              </a:rPr>
              <a:t>Château Pré la Lande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48</a:t>
            </a:r>
            <a:endParaRPr lang="en-US" sz="840" dirty="0"/>
          </a:p>
        </p:txBody>
      </p:sp>
      <p:sp>
        <p:nvSpPr>
          <p:cNvPr id="16" name="Text 14"/>
          <p:cNvSpPr/>
          <p:nvPr/>
        </p:nvSpPr>
        <p:spPr>
          <a:xfrm>
            <a:off x="61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Divin No Low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13</a:t>
            </a:r>
            <a:endParaRPr lang="en-US" sz="840" dirty="0"/>
          </a:p>
        </p:txBody>
      </p:sp>
      <p:sp>
        <p:nvSpPr>
          <p:cNvPr id="17" name="Text 15"/>
          <p:cNvSpPr/>
          <p:nvPr/>
        </p:nvSpPr>
        <p:spPr>
          <a:xfrm>
            <a:off x="61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8   </a:t>
            </a:r>
            <a:r>
              <a:rPr lang="en-US" sz="840" b="1" dirty="0">
                <a:solidFill>
                  <a:srgbClr val="46606E"/>
                </a:solidFill>
                <a:latin typeface="IBM Plex Sans" pitchFamily="34" charset="0"/>
                <a:ea typeface="IBM Plex Sans" pitchFamily="34" charset="-122"/>
                <a:cs typeface="IBM Plex Sans" pitchFamily="34" charset="-120"/>
              </a:rPr>
              <a:t>Domaine Boehler   </a:t>
            </a:r>
            <a:r>
              <a:rPr lang="en-US" sz="700" dirty="0">
                <a:solidFill>
                  <a:srgbClr val="A8515F"/>
                </a:solidFill>
                <a:latin typeface="IBM Plex Sans" pitchFamily="34" charset="0"/>
                <a:ea typeface="IBM Plex Sans" pitchFamily="34" charset="-122"/>
                <a:cs typeface="IBM Plex Sans" pitchFamily="34" charset="-120"/>
              </a:rPr>
              <a:t>Alsace   </a:t>
            </a:r>
            <a:r>
              <a:rPr lang="en-US" sz="700" dirty="0">
                <a:solidFill>
                  <a:srgbClr val="46606E"/>
                </a:solidFill>
                <a:latin typeface="IBM Plex Sans" pitchFamily="34" charset="0"/>
                <a:ea typeface="IBM Plex Sans" pitchFamily="34" charset="-122"/>
                <a:cs typeface="IBM Plex Sans" pitchFamily="34" charset="-120"/>
              </a:rPr>
              <a:t>15   </a:t>
            </a:r>
            <a:r>
              <a:rPr lang="en-US" sz="840" b="1" dirty="0">
                <a:solidFill>
                  <a:srgbClr val="46606E"/>
                </a:solidFill>
                <a:latin typeface="IBM Plex Sans" pitchFamily="34" charset="0"/>
                <a:ea typeface="IBM Plex Sans" pitchFamily="34" charset="-122"/>
                <a:cs typeface="IBM Plex Sans" pitchFamily="34" charset="-120"/>
              </a:rPr>
              <a:t>15</a:t>
            </a:r>
            <a:endParaRPr lang="en-US" sz="840" dirty="0"/>
          </a:p>
        </p:txBody>
      </p:sp>
      <p:sp>
        <p:nvSpPr>
          <p:cNvPr id="18" name="Text 16"/>
          <p:cNvSpPr/>
          <p:nvPr/>
        </p:nvSpPr>
        <p:spPr>
          <a:xfrm>
            <a:off x="61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r>
              <a:rPr lang="en-US" sz="840" b="1" dirty="0">
                <a:solidFill>
                  <a:srgbClr val="46606E"/>
                </a:solidFill>
                <a:latin typeface="IBM Plex Sans" pitchFamily="34" charset="0"/>
                <a:ea typeface="IBM Plex Sans" pitchFamily="34" charset="-122"/>
                <a:cs typeface="IBM Plex Sans" pitchFamily="34" charset="-120"/>
              </a:rPr>
              <a:t>Domaine de Coyeux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30</a:t>
            </a:r>
            <a:endParaRPr lang="en-US" sz="840" dirty="0"/>
          </a:p>
        </p:txBody>
      </p:sp>
      <p:sp>
        <p:nvSpPr>
          <p:cNvPr id="19" name="Text 17"/>
          <p:cNvSpPr/>
          <p:nvPr/>
        </p:nvSpPr>
        <p:spPr>
          <a:xfrm>
            <a:off x="61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   </a:t>
            </a:r>
            <a:r>
              <a:rPr lang="en-US" sz="840" b="1" dirty="0">
                <a:solidFill>
                  <a:srgbClr val="46606E"/>
                </a:solidFill>
                <a:latin typeface="IBM Plex Sans" pitchFamily="34" charset="0"/>
                <a:ea typeface="IBM Plex Sans" pitchFamily="34" charset="-122"/>
                <a:cs typeface="IBM Plex Sans" pitchFamily="34" charset="-120"/>
              </a:rPr>
              <a:t>Domaine de la Barbinière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6</a:t>
            </a:r>
            <a:endParaRPr lang="en-US" sz="840" dirty="0"/>
          </a:p>
        </p:txBody>
      </p:sp>
      <p:sp>
        <p:nvSpPr>
          <p:cNvPr id="20" name="Text 18"/>
          <p:cNvSpPr/>
          <p:nvPr/>
        </p:nvSpPr>
        <p:spPr>
          <a:xfrm>
            <a:off x="612000" y="590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r>
              <a:rPr lang="en-US" sz="840" b="1" dirty="0">
                <a:solidFill>
                  <a:srgbClr val="46606E"/>
                </a:solidFill>
                <a:latin typeface="IBM Plex Sans" pitchFamily="34" charset="0"/>
                <a:ea typeface="IBM Plex Sans" pitchFamily="34" charset="-122"/>
                <a:cs typeface="IBM Plex Sans" pitchFamily="34" charset="-120"/>
              </a:rPr>
              <a:t>Domaine de la Pousterle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32</a:t>
            </a:r>
            <a:endParaRPr lang="en-US" sz="840" dirty="0"/>
          </a:p>
        </p:txBody>
      </p:sp>
      <p:sp>
        <p:nvSpPr>
          <p:cNvPr id="21" name="Text 19"/>
          <p:cNvSpPr/>
          <p:nvPr/>
        </p:nvSpPr>
        <p:spPr>
          <a:xfrm>
            <a:off x="612000" y="619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   </a:t>
            </a:r>
            <a:r>
              <a:rPr lang="en-US" sz="840" b="1" dirty="0">
                <a:solidFill>
                  <a:srgbClr val="46606E"/>
                </a:solidFill>
                <a:latin typeface="IBM Plex Sans" pitchFamily="34" charset="0"/>
                <a:ea typeface="IBM Plex Sans" pitchFamily="34" charset="-122"/>
                <a:cs typeface="IBM Plex Sans" pitchFamily="34" charset="-120"/>
              </a:rPr>
              <a:t>Domaine des Noëls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9</a:t>
            </a:r>
            <a:endParaRPr lang="en-US" sz="840" dirty="0"/>
          </a:p>
        </p:txBody>
      </p:sp>
      <p:sp>
        <p:nvSpPr>
          <p:cNvPr id="22" name="Text 20"/>
          <p:cNvSpPr/>
          <p:nvPr/>
        </p:nvSpPr>
        <p:spPr>
          <a:xfrm>
            <a:off x="612000" y="648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9   </a:t>
            </a:r>
            <a:r>
              <a:rPr lang="en-US" sz="840" b="1" dirty="0">
                <a:solidFill>
                  <a:srgbClr val="46606E"/>
                </a:solidFill>
                <a:latin typeface="IBM Plex Sans" pitchFamily="34" charset="0"/>
                <a:ea typeface="IBM Plex Sans" pitchFamily="34" charset="-122"/>
                <a:cs typeface="IBM Plex Sans" pitchFamily="34" charset="-120"/>
              </a:rPr>
              <a:t>Domaine des Nugues   </a:t>
            </a:r>
            <a:r>
              <a:rPr lang="en-US" sz="700" dirty="0">
                <a:solidFill>
                  <a:srgbClr val="A8515F"/>
                </a:solidFill>
                <a:latin typeface="IBM Plex Sans" pitchFamily="34" charset="0"/>
                <a:ea typeface="IBM Plex Sans" pitchFamily="34" charset="-122"/>
                <a:cs typeface="IBM Plex Sans" pitchFamily="34" charset="-120"/>
              </a:rPr>
              <a:t>Beaujolais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18</a:t>
            </a:r>
            <a:endParaRPr lang="en-US" sz="840" dirty="0"/>
          </a:p>
        </p:txBody>
      </p:sp>
      <p:sp>
        <p:nvSpPr>
          <p:cNvPr id="23" name="Text 21"/>
          <p:cNvSpPr/>
          <p:nvPr/>
        </p:nvSpPr>
        <p:spPr>
          <a:xfrm>
            <a:off x="612000" y="676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20   </a:t>
            </a:r>
            <a:r>
              <a:rPr lang="en-US" sz="840" b="1" dirty="0">
                <a:solidFill>
                  <a:srgbClr val="46606E"/>
                </a:solidFill>
                <a:latin typeface="IBM Plex Sans" pitchFamily="34" charset="0"/>
                <a:ea typeface="IBM Plex Sans" pitchFamily="34" charset="-122"/>
                <a:cs typeface="IBM Plex Sans" pitchFamily="34" charset="-120"/>
              </a:rPr>
              <a:t>Domaine des Pasquiers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33</a:t>
            </a:r>
            <a:endParaRPr lang="en-US" sz="840" dirty="0"/>
          </a:p>
        </p:txBody>
      </p:sp>
      <p:sp>
        <p:nvSpPr>
          <p:cNvPr id="24" name="Text 22"/>
          <p:cNvSpPr/>
          <p:nvPr/>
        </p:nvSpPr>
        <p:spPr>
          <a:xfrm>
            <a:off x="367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15   </a:t>
            </a:r>
            <a:r>
              <a:rPr lang="en-US" sz="840" b="1" dirty="0">
                <a:solidFill>
                  <a:srgbClr val="46606E"/>
                </a:solidFill>
                <a:latin typeface="IBM Plex Sans" pitchFamily="34" charset="0"/>
                <a:ea typeface="IBM Plex Sans" pitchFamily="34" charset="-122"/>
                <a:cs typeface="IBM Plex Sans" pitchFamily="34" charset="-120"/>
              </a:rPr>
              <a:t>Domaine des Verchères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27</a:t>
            </a:r>
            <a:endParaRPr lang="en-US" sz="840" dirty="0"/>
          </a:p>
        </p:txBody>
      </p:sp>
      <p:sp>
        <p:nvSpPr>
          <p:cNvPr id="25" name="Text 23"/>
          <p:cNvSpPr/>
          <p:nvPr/>
        </p:nvSpPr>
        <p:spPr>
          <a:xfrm>
            <a:off x="367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   </a:t>
            </a:r>
            <a:r>
              <a:rPr lang="en-US" sz="840" b="1" dirty="0">
                <a:solidFill>
                  <a:srgbClr val="46606E"/>
                </a:solidFill>
                <a:latin typeface="IBM Plex Sans" pitchFamily="34" charset="0"/>
                <a:ea typeface="IBM Plex Sans" pitchFamily="34" charset="-122"/>
                <a:cs typeface="IBM Plex Sans" pitchFamily="34" charset="-120"/>
              </a:rPr>
              <a:t>Domaine du Colombier / J.Y Bretaudeau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14   </a:t>
            </a:r>
            <a:r>
              <a:rPr lang="en-US" sz="840" b="1" dirty="0">
                <a:solidFill>
                  <a:srgbClr val="46606E"/>
                </a:solidFill>
                <a:latin typeface="IBM Plex Sans" pitchFamily="34" charset="0"/>
                <a:ea typeface="IBM Plex Sans" pitchFamily="34" charset="-122"/>
                <a:cs typeface="IBM Plex Sans" pitchFamily="34" charset="-120"/>
              </a:rPr>
              <a:t>7</a:t>
            </a:r>
            <a:endParaRPr lang="en-US" sz="840" dirty="0"/>
          </a:p>
        </p:txBody>
      </p:sp>
      <p:sp>
        <p:nvSpPr>
          <p:cNvPr id="26" name="Text 24"/>
          <p:cNvSpPr/>
          <p:nvPr/>
        </p:nvSpPr>
        <p:spPr>
          <a:xfrm>
            <a:off x="367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r>
              <a:rPr lang="en-US" sz="840" b="1" dirty="0">
                <a:solidFill>
                  <a:srgbClr val="46606E"/>
                </a:solidFill>
                <a:latin typeface="IBM Plex Sans" pitchFamily="34" charset="0"/>
                <a:ea typeface="IBM Plex Sans" pitchFamily="34" charset="-122"/>
                <a:cs typeface="IBM Plex Sans" pitchFamily="34" charset="-120"/>
              </a:rPr>
              <a:t>Domaine du Moulin Blanc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31</a:t>
            </a:r>
            <a:endParaRPr lang="en-US" sz="840" dirty="0"/>
          </a:p>
        </p:txBody>
      </p:sp>
      <p:sp>
        <p:nvSpPr>
          <p:cNvPr id="27" name="Text 25"/>
          <p:cNvSpPr/>
          <p:nvPr/>
        </p:nvSpPr>
        <p:spPr>
          <a:xfrm>
            <a:off x="367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23   </a:t>
            </a:r>
            <a:r>
              <a:rPr lang="en-US" sz="840" b="1" dirty="0">
                <a:solidFill>
                  <a:srgbClr val="46606E"/>
                </a:solidFill>
                <a:latin typeface="IBM Plex Sans" pitchFamily="34" charset="0"/>
                <a:ea typeface="IBM Plex Sans" pitchFamily="34" charset="-122"/>
                <a:cs typeface="IBM Plex Sans" pitchFamily="34" charset="-120"/>
              </a:rPr>
              <a:t>Domaine Haut Marin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21   </a:t>
            </a:r>
            <a:r>
              <a:rPr lang="en-US" sz="840" b="1" dirty="0">
                <a:solidFill>
                  <a:srgbClr val="46606E"/>
                </a:solidFill>
                <a:latin typeface="IBM Plex Sans" pitchFamily="34" charset="0"/>
                <a:ea typeface="IBM Plex Sans" pitchFamily="34" charset="-122"/>
                <a:cs typeface="IBM Plex Sans" pitchFamily="34" charset="-120"/>
              </a:rPr>
              <a:t>37</a:t>
            </a:r>
            <a:endParaRPr lang="en-US" sz="840" dirty="0"/>
          </a:p>
        </p:txBody>
      </p:sp>
      <p:sp>
        <p:nvSpPr>
          <p:cNvPr id="28" name="Text 26"/>
          <p:cNvSpPr/>
          <p:nvPr/>
        </p:nvSpPr>
        <p:spPr>
          <a:xfrm>
            <a:off x="367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r>
              <a:rPr lang="en-US" sz="840" b="1" dirty="0">
                <a:solidFill>
                  <a:srgbClr val="46606E"/>
                </a:solidFill>
                <a:latin typeface="IBM Plex Sans" pitchFamily="34" charset="0"/>
                <a:ea typeface="IBM Plex Sans" pitchFamily="34" charset="-122"/>
                <a:cs typeface="IBM Plex Sans" pitchFamily="34" charset="-120"/>
              </a:rPr>
              <a:t>Domaine Jean de Villebois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16   </a:t>
            </a:r>
            <a:r>
              <a:rPr lang="en-US" sz="840" b="1" dirty="0">
                <a:solidFill>
                  <a:srgbClr val="46606E"/>
                </a:solidFill>
                <a:latin typeface="IBM Plex Sans" pitchFamily="34" charset="0"/>
                <a:ea typeface="IBM Plex Sans" pitchFamily="34" charset="-122"/>
                <a:cs typeface="IBM Plex Sans" pitchFamily="34" charset="-120"/>
              </a:rPr>
              <a:t>11</a:t>
            </a:r>
            <a:endParaRPr lang="en-US" sz="840" dirty="0"/>
          </a:p>
        </p:txBody>
      </p:sp>
      <p:sp>
        <p:nvSpPr>
          <p:cNvPr id="29" name="Text 27"/>
          <p:cNvSpPr/>
          <p:nvPr/>
        </p:nvSpPr>
        <p:spPr>
          <a:xfrm>
            <a:off x="367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r>
              <a:rPr lang="en-US" sz="840" b="1" dirty="0">
                <a:solidFill>
                  <a:srgbClr val="46606E"/>
                </a:solidFill>
                <a:latin typeface="IBM Plex Sans" pitchFamily="34" charset="0"/>
                <a:ea typeface="IBM Plex Sans" pitchFamily="34" charset="-122"/>
                <a:cs typeface="IBM Plex Sans" pitchFamily="34" charset="-120"/>
              </a:rPr>
              <a:t>Domaine Le Prieuré des Papes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29</a:t>
            </a:r>
            <a:endParaRPr lang="en-US" sz="840" dirty="0"/>
          </a:p>
        </p:txBody>
      </p:sp>
      <p:sp>
        <p:nvSpPr>
          <p:cNvPr id="30" name="Text 28"/>
          <p:cNvSpPr/>
          <p:nvPr/>
        </p:nvSpPr>
        <p:spPr>
          <a:xfrm>
            <a:off x="367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r>
              <a:rPr lang="en-US" sz="840" b="1" dirty="0">
                <a:solidFill>
                  <a:srgbClr val="46606E"/>
                </a:solidFill>
                <a:latin typeface="IBM Plex Sans" pitchFamily="34" charset="0"/>
                <a:ea typeface="IBM Plex Sans" pitchFamily="34" charset="-122"/>
                <a:cs typeface="IBM Plex Sans" pitchFamily="34" charset="-120"/>
              </a:rPr>
              <a:t>Domaine Les Guignottes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26</a:t>
            </a:r>
            <a:endParaRPr lang="en-US" sz="840" dirty="0"/>
          </a:p>
        </p:txBody>
      </p:sp>
      <p:sp>
        <p:nvSpPr>
          <p:cNvPr id="31" name="Text 29"/>
          <p:cNvSpPr/>
          <p:nvPr/>
        </p:nvSpPr>
        <p:spPr>
          <a:xfrm>
            <a:off x="367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35   </a:t>
            </a:r>
            <a:r>
              <a:rPr lang="en-US" sz="840" b="1" dirty="0">
                <a:solidFill>
                  <a:srgbClr val="46606E"/>
                </a:solidFill>
                <a:latin typeface="IBM Plex Sans" pitchFamily="34" charset="0"/>
                <a:ea typeface="IBM Plex Sans" pitchFamily="34" charset="-122"/>
                <a:cs typeface="IBM Plex Sans" pitchFamily="34" charset="-120"/>
              </a:rPr>
              <a:t>Domaine Les Lys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58</a:t>
            </a:r>
            <a:endParaRPr lang="en-US" sz="840" dirty="0"/>
          </a:p>
        </p:txBody>
      </p:sp>
      <p:sp>
        <p:nvSpPr>
          <p:cNvPr id="32" name="Text 30"/>
          <p:cNvSpPr/>
          <p:nvPr/>
        </p:nvSpPr>
        <p:spPr>
          <a:xfrm>
            <a:off x="367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11   </a:t>
            </a:r>
            <a:r>
              <a:rPr lang="en-US" sz="840" b="1" dirty="0">
                <a:solidFill>
                  <a:srgbClr val="46606E"/>
                </a:solidFill>
                <a:latin typeface="IBM Plex Sans" pitchFamily="34" charset="0"/>
                <a:ea typeface="IBM Plex Sans" pitchFamily="34" charset="-122"/>
                <a:cs typeface="IBM Plex Sans" pitchFamily="34" charset="-120"/>
              </a:rPr>
              <a:t>Domaine Nadine Ferrand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22</a:t>
            </a:r>
            <a:endParaRPr lang="en-US" sz="840" dirty="0"/>
          </a:p>
        </p:txBody>
      </p:sp>
      <p:sp>
        <p:nvSpPr>
          <p:cNvPr id="33" name="Text 31"/>
          <p:cNvSpPr/>
          <p:nvPr/>
        </p:nvSpPr>
        <p:spPr>
          <a:xfrm>
            <a:off x="367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10   </a:t>
            </a:r>
            <a:r>
              <a:rPr lang="en-US" sz="840" b="1" dirty="0">
                <a:solidFill>
                  <a:srgbClr val="46606E"/>
                </a:solidFill>
                <a:latin typeface="IBM Plex Sans" pitchFamily="34" charset="0"/>
                <a:ea typeface="IBM Plex Sans" pitchFamily="34" charset="-122"/>
                <a:cs typeface="IBM Plex Sans" pitchFamily="34" charset="-120"/>
              </a:rPr>
              <a:t>Domaine Sébastien Magnien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15   </a:t>
            </a:r>
            <a:r>
              <a:rPr lang="en-US" sz="840" b="1" dirty="0">
                <a:solidFill>
                  <a:srgbClr val="46606E"/>
                </a:solidFill>
                <a:latin typeface="IBM Plex Sans" pitchFamily="34" charset="0"/>
                <a:ea typeface="IBM Plex Sans" pitchFamily="34" charset="-122"/>
                <a:cs typeface="IBM Plex Sans" pitchFamily="34" charset="-120"/>
              </a:rPr>
              <a:t>20</a:t>
            </a:r>
            <a:endParaRPr lang="en-US" sz="840" dirty="0"/>
          </a:p>
        </p:txBody>
      </p:sp>
      <p:sp>
        <p:nvSpPr>
          <p:cNvPr id="34" name="Text 32"/>
          <p:cNvSpPr/>
          <p:nvPr/>
        </p:nvSpPr>
        <p:spPr>
          <a:xfrm>
            <a:off x="367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22   </a:t>
            </a:r>
            <a:r>
              <a:rPr lang="en-US" sz="840" b="1" dirty="0">
                <a:solidFill>
                  <a:srgbClr val="46606E"/>
                </a:solidFill>
                <a:latin typeface="IBM Plex Sans" pitchFamily="34" charset="0"/>
                <a:ea typeface="IBM Plex Sans" pitchFamily="34" charset="-122"/>
                <a:cs typeface="IBM Plex Sans" pitchFamily="34" charset="-120"/>
              </a:rPr>
              <a:t>Domaine Stratéus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36</a:t>
            </a:r>
            <a:endParaRPr lang="en-US" sz="840" dirty="0"/>
          </a:p>
        </p:txBody>
      </p:sp>
      <p:sp>
        <p:nvSpPr>
          <p:cNvPr id="35" name="Text 33"/>
          <p:cNvSpPr/>
          <p:nvPr/>
        </p:nvSpPr>
        <p:spPr>
          <a:xfrm>
            <a:off x="367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Domaine Trichon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34</a:t>
            </a:r>
            <a:endParaRPr lang="en-US" sz="840" dirty="0"/>
          </a:p>
        </p:txBody>
      </p:sp>
      <p:sp>
        <p:nvSpPr>
          <p:cNvPr id="36" name="Text 34"/>
          <p:cNvSpPr/>
          <p:nvPr/>
        </p:nvSpPr>
        <p:spPr>
          <a:xfrm>
            <a:off x="367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24   </a:t>
            </a:r>
            <a:r>
              <a:rPr lang="en-US" sz="840" b="1" dirty="0">
                <a:solidFill>
                  <a:srgbClr val="46606E"/>
                </a:solidFill>
                <a:latin typeface="IBM Plex Sans" pitchFamily="34" charset="0"/>
                <a:ea typeface="IBM Plex Sans" pitchFamily="34" charset="-122"/>
                <a:cs typeface="IBM Plex Sans" pitchFamily="34" charset="-120"/>
              </a:rPr>
              <a:t>Fabien Castaing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13   </a:t>
            </a:r>
            <a:r>
              <a:rPr lang="en-US" sz="840" b="1" dirty="0">
                <a:solidFill>
                  <a:srgbClr val="46606E"/>
                </a:solidFill>
                <a:latin typeface="IBM Plex Sans" pitchFamily="34" charset="0"/>
                <a:ea typeface="IBM Plex Sans" pitchFamily="34" charset="-122"/>
                <a:cs typeface="IBM Plex Sans" pitchFamily="34" charset="-120"/>
              </a:rPr>
              <a:t>39</a:t>
            </a:r>
            <a:endParaRPr lang="en-US" sz="840" dirty="0"/>
          </a:p>
        </p:txBody>
      </p:sp>
      <p:sp>
        <p:nvSpPr>
          <p:cNvPr id="37" name="Text 35"/>
          <p:cNvSpPr/>
          <p:nvPr/>
        </p:nvSpPr>
        <p:spPr>
          <a:xfrm>
            <a:off x="367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32   </a:t>
            </a:r>
            <a:r>
              <a:rPr lang="en-US" sz="840" b="1" dirty="0">
                <a:solidFill>
                  <a:srgbClr val="46606E"/>
                </a:solidFill>
                <a:latin typeface="IBM Plex Sans" pitchFamily="34" charset="0"/>
                <a:ea typeface="IBM Plex Sans" pitchFamily="34" charset="-122"/>
                <a:cs typeface="IBM Plex Sans" pitchFamily="34" charset="-120"/>
              </a:rPr>
              <a:t>Famille d’Exea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21   </a:t>
            </a:r>
            <a:r>
              <a:rPr lang="en-US" sz="840" b="1" dirty="0">
                <a:solidFill>
                  <a:srgbClr val="46606E"/>
                </a:solidFill>
                <a:latin typeface="IBM Plex Sans" pitchFamily="34" charset="0"/>
                <a:ea typeface="IBM Plex Sans" pitchFamily="34" charset="-122"/>
                <a:cs typeface="IBM Plex Sans" pitchFamily="34" charset="-120"/>
              </a:rPr>
              <a:t>54</a:t>
            </a:r>
            <a:endParaRPr lang="en-US" sz="840" dirty="0"/>
          </a:p>
        </p:txBody>
      </p:sp>
      <p:sp>
        <p:nvSpPr>
          <p:cNvPr id="38" name="Text 36"/>
          <p:cNvSpPr/>
          <p:nvPr/>
        </p:nvSpPr>
        <p:spPr>
          <a:xfrm>
            <a:off x="367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33   </a:t>
            </a:r>
            <a:r>
              <a:rPr lang="en-US" sz="840" b="1" dirty="0">
                <a:solidFill>
                  <a:srgbClr val="46606E"/>
                </a:solidFill>
                <a:latin typeface="IBM Plex Sans" pitchFamily="34" charset="0"/>
                <a:ea typeface="IBM Plex Sans" pitchFamily="34" charset="-122"/>
                <a:cs typeface="IBM Plex Sans" pitchFamily="34" charset="-120"/>
              </a:rPr>
              <a:t>Famille d’Exea — Jus de Cépages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56</a:t>
            </a:r>
            <a:endParaRPr lang="en-US" sz="840" dirty="0"/>
          </a:p>
        </p:txBody>
      </p:sp>
      <p:sp>
        <p:nvSpPr>
          <p:cNvPr id="39" name="Text 37"/>
          <p:cNvSpPr/>
          <p:nvPr/>
        </p:nvSpPr>
        <p:spPr>
          <a:xfrm>
            <a:off x="367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   </a:t>
            </a:r>
            <a:r>
              <a:rPr lang="en-US" sz="840" b="1" dirty="0">
                <a:solidFill>
                  <a:srgbClr val="46606E"/>
                </a:solidFill>
                <a:latin typeface="IBM Plex Sans" pitchFamily="34" charset="0"/>
                <a:ea typeface="IBM Plex Sans" pitchFamily="34" charset="-122"/>
                <a:cs typeface="IBM Plex Sans" pitchFamily="34" charset="-120"/>
              </a:rPr>
              <a:t>François Reverdy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a:t>
            </a:r>
            <a:endParaRPr lang="en-US" sz="840" dirty="0"/>
          </a:p>
        </p:txBody>
      </p:sp>
      <p:sp>
        <p:nvSpPr>
          <p:cNvPr id="40" name="Text 38"/>
          <p:cNvSpPr/>
          <p:nvPr/>
        </p:nvSpPr>
        <p:spPr>
          <a:xfrm>
            <a:off x="3672000" y="590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25   </a:t>
            </a:r>
            <a:r>
              <a:rPr lang="en-US" sz="840" b="1" dirty="0">
                <a:solidFill>
                  <a:srgbClr val="46606E"/>
                </a:solidFill>
                <a:latin typeface="IBM Plex Sans" pitchFamily="34" charset="0"/>
                <a:ea typeface="IBM Plex Sans" pitchFamily="34" charset="-122"/>
                <a:cs typeface="IBM Plex Sans" pitchFamily="34" charset="-120"/>
              </a:rPr>
              <a:t>La Passion des Terroirs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31   </a:t>
            </a:r>
            <a:r>
              <a:rPr lang="en-US" sz="840" b="1" dirty="0">
                <a:solidFill>
                  <a:srgbClr val="46606E"/>
                </a:solidFill>
                <a:latin typeface="IBM Plex Sans" pitchFamily="34" charset="0"/>
                <a:ea typeface="IBM Plex Sans" pitchFamily="34" charset="-122"/>
                <a:cs typeface="IBM Plex Sans" pitchFamily="34" charset="-120"/>
              </a:rPr>
              <a:t>42</a:t>
            </a:r>
            <a:endParaRPr lang="en-US" sz="840" dirty="0"/>
          </a:p>
        </p:txBody>
      </p:sp>
      <p:sp>
        <p:nvSpPr>
          <p:cNvPr id="41" name="Text 39"/>
          <p:cNvSpPr/>
          <p:nvPr/>
        </p:nvSpPr>
        <p:spPr>
          <a:xfrm>
            <a:off x="3672000" y="619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r>
              <a:rPr lang="en-US" sz="840" b="1" dirty="0">
                <a:solidFill>
                  <a:srgbClr val="46606E"/>
                </a:solidFill>
                <a:latin typeface="IBM Plex Sans" pitchFamily="34" charset="0"/>
                <a:ea typeface="IBM Plex Sans" pitchFamily="34" charset="-122"/>
                <a:cs typeface="IBM Plex Sans" pitchFamily="34" charset="-120"/>
              </a:rPr>
              <a:t>Maison et Domaine André Goichot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23   </a:t>
            </a:r>
            <a:r>
              <a:rPr lang="en-US" sz="840" b="1" dirty="0">
                <a:solidFill>
                  <a:srgbClr val="46606E"/>
                </a:solidFill>
                <a:latin typeface="IBM Plex Sans" pitchFamily="34" charset="0"/>
                <a:ea typeface="IBM Plex Sans" pitchFamily="34" charset="-122"/>
                <a:cs typeface="IBM Plex Sans" pitchFamily="34" charset="-120"/>
              </a:rPr>
              <a:t>23</a:t>
            </a:r>
            <a:endParaRPr lang="en-US" sz="840" dirty="0"/>
          </a:p>
        </p:txBody>
      </p:sp>
      <p:sp>
        <p:nvSpPr>
          <p:cNvPr id="42" name="Text 40"/>
          <p:cNvSpPr/>
          <p:nvPr/>
        </p:nvSpPr>
        <p:spPr>
          <a:xfrm>
            <a:off x="3672000" y="648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36   </a:t>
            </a:r>
            <a:r>
              <a:rPr lang="en-US" sz="840" b="1" dirty="0">
                <a:solidFill>
                  <a:srgbClr val="46606E"/>
                </a:solidFill>
                <a:latin typeface="IBM Plex Sans" pitchFamily="34" charset="0"/>
                <a:ea typeface="IBM Plex Sans" pitchFamily="34" charset="-122"/>
                <a:cs typeface="IBM Plex Sans" pitchFamily="34" charset="-120"/>
              </a:rPr>
              <a:t>Prieuré Sainte-Marie d’Albas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13   </a:t>
            </a:r>
            <a:r>
              <a:rPr lang="en-US" sz="840" b="1" dirty="0">
                <a:solidFill>
                  <a:srgbClr val="46606E"/>
                </a:solidFill>
                <a:latin typeface="IBM Plex Sans" pitchFamily="34" charset="0"/>
                <a:ea typeface="IBM Plex Sans" pitchFamily="34" charset="-122"/>
                <a:cs typeface="IBM Plex Sans" pitchFamily="34" charset="-120"/>
              </a:rPr>
              <a:t>59</a:t>
            </a:r>
            <a:endParaRPr lang="en-US" sz="840" dirty="0"/>
          </a:p>
        </p:txBody>
      </p:sp>
      <p:sp>
        <p:nvSpPr>
          <p:cNvPr id="43" name="Text 41"/>
          <p:cNvSpPr/>
          <p:nvPr/>
        </p:nvSpPr>
        <p:spPr>
          <a:xfrm>
            <a:off x="3672000" y="676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40   </a:t>
            </a:r>
            <a:r>
              <a:rPr lang="en-US" sz="840" b="1" dirty="0">
                <a:solidFill>
                  <a:srgbClr val="46606E"/>
                </a:solidFill>
                <a:latin typeface="IBM Plex Sans" pitchFamily="34" charset="0"/>
                <a:ea typeface="IBM Plex Sans" pitchFamily="34" charset="-122"/>
                <a:cs typeface="IBM Plex Sans" pitchFamily="34" charset="-120"/>
              </a:rPr>
              <a:t>Vazart-Coquart &amp; Fils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66</a:t>
            </a:r>
            <a:endParaRPr lang="en-US" sz="840" dirty="0"/>
          </a:p>
        </p:txBody>
      </p:sp>
      <p:sp>
        <p:nvSpPr>
          <p:cNvPr id="44" name="Text 42"/>
          <p:cNvSpPr/>
          <p:nvPr/>
        </p:nvSpPr>
        <p:spPr>
          <a:xfrm>
            <a:off x="612000" y="8604000"/>
            <a:ext cx="6120000" cy="180000"/>
          </a:xfrm>
          <a:prstGeom prst="rect">
            <a:avLst/>
          </a:prstGeom>
          <a:noFill/>
          <a:ln/>
        </p:spPr>
        <p:txBody>
          <a:bodyPr wrap="square" lIns="0" tIns="0" rIns="0" bIns="0" rtlCol="0" anchor="ctr"/>
          <a:lstStyle/>
          <a:p>
            <a:pPr indent="0" marL="0">
              <a:buNone/>
            </a:pPr>
            <a:r>
              <a:rPr lang="en-US" sz="800" dirty="0">
                <a:solidFill>
                  <a:srgbClr val="46606E"/>
                </a:solidFill>
                <a:latin typeface="Spectral" pitchFamily="34" charset="0"/>
                <a:ea typeface="Spectral" pitchFamily="34" charset="-122"/>
                <a:cs typeface="Spectral" pitchFamily="34" charset="-120"/>
              </a:rPr>
              <a:t>Le chiffre avant la page est le nombre de références au tarif.</a:t>
            </a:r>
            <a:endParaRPr lang="en-US" sz="800" dirty="0"/>
          </a:p>
        </p:txBody>
      </p:sp>
      <p:sp>
        <p:nvSpPr>
          <p:cNvPr id="45" name="Text 4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71</a:t>
            </a:r>
            <a:endParaRPr lang="en-US" sz="750" dirty="0"/>
          </a:p>
        </p:txBody>
      </p:sp>
      <p:sp>
        <p:nvSpPr>
          <p:cNvPr id="46" name="Text 4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2026-10-02T11:09:21Z</dcterms:created>
  <dcterms:modified xsi:type="dcterms:W3CDTF">2026-10-02T11:09:21Z</dcterms:modified>
</cp:coreProperties>
</file>