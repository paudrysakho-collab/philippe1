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jp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jp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jp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jp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jp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jp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jp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1.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jp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jp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slideLayout" Target="../slideLayouts/slideLayout1.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jp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1.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slideLayout" Target="../slideLayouts/slideLayout1.xml"/><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jp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slideLayout" Target="../slideLayouts/slideLayout1.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jp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slideLayout" Target="../slideLayouts/slideLayout1.xm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slideLayout" Target="../slideLayouts/slideLayout1.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jpg"/><Relationship Id="rId3" Type="http://schemas.openxmlformats.org/officeDocument/2006/relationships/image" Target="../media/image-54-3.png"/><Relationship Id="rId4" Type="http://schemas.openxmlformats.org/officeDocument/2006/relationships/slideLayout" Target="../slideLayouts/slideLayout1.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slideLayout" Target="../slideLayouts/slideLayout1.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jpg"/><Relationship Id="rId3" Type="http://schemas.openxmlformats.org/officeDocument/2006/relationships/image" Target="../media/image-58-3.png"/><Relationship Id="rId4" Type="http://schemas.openxmlformats.org/officeDocument/2006/relationships/slideLayout" Target="../slideLayouts/slideLayout1.xm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jp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slideLayout" Target="../slideLayouts/slideLayout1.xml"/><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slideLayout" Target="../slideLayouts/slideLayout1.xml"/><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jp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slideLayout" Target="../slideLayouts/slideLayout1.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slideLayout" Target="../slideLayouts/slideLayout1.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jpg"/><Relationship Id="rId3" Type="http://schemas.openxmlformats.org/officeDocument/2006/relationships/image" Target="../media/image-65-3.png"/><Relationship Id="rId4" Type="http://schemas.openxmlformats.org/officeDocument/2006/relationships/slideLayout" Target="../slideLayouts/slideLayout1.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slideLayout" Target="../slideLayouts/slideLayout1.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jp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slideLayout" Target="../slideLayouts/slideLayout1.xml"/><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67067C"/>
                </a:solidFill>
                <a:latin typeface="Young Serif" pitchFamily="34" charset="0"/>
                <a:ea typeface="Young Serif" pitchFamily="34" charset="-122"/>
                <a:cs typeface="Young Serif" pitchFamily="34" charset="-120"/>
              </a:rPr>
              <a:t>pieds</a:t>
            </a:r>
            <a:endParaRPr lang="en-US" sz="4600" dirty="0"/>
          </a:p>
        </p:txBody>
      </p:sp>
      <p:sp>
        <p:nvSpPr>
          <p:cNvPr id="5" name="Text 1"/>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Shape 2"/>
          <p:cNvSpPr/>
          <p:nvPr/>
        </p:nvSpPr>
        <p:spPr>
          <a:xfrm>
            <a:off x="-216000" y="7776000"/>
            <a:ext cx="2808000" cy="864000"/>
          </a:xfrm>
          <a:prstGeom prst="roundRect">
            <a:avLst>
              <a:gd name="adj" fmla="val 3175"/>
            </a:avLst>
          </a:prstGeom>
          <a:solidFill>
            <a:srgbClr val="F2EADA"/>
          </a:solidFill>
          <a:ln w="12700">
            <a:solidFill>
              <a:srgbClr val="F2EADA"/>
            </a:solidFill>
            <a:prstDash val="solid"/>
          </a:ln>
        </p:spPr>
      </p:sp>
      <p:sp>
        <p:nvSpPr>
          <p:cNvPr id="7" name="Text 3"/>
          <p:cNvSpPr/>
          <p:nvPr/>
        </p:nvSpPr>
        <p:spPr>
          <a:xfrm>
            <a:off x="612000" y="7848000"/>
            <a:ext cx="2160000" cy="180000"/>
          </a:xfrm>
          <a:prstGeom prst="rect">
            <a:avLst/>
          </a:prstGeom>
          <a:noFill/>
          <a:ln/>
        </p:spPr>
        <p:txBody>
          <a:bodyPr wrap="square" lIns="0" tIns="0" rIns="0" bIns="0" rtlCol="0" anchor="ctr"/>
          <a:lstStyle/>
          <a:p>
            <a:pPr indent="0" marL="0">
              <a:buNone/>
            </a:pPr>
            <a:r>
              <a:rPr lang="en-US" sz="900" b="1" spc="30" kern="0" dirty="0">
                <a:solidFill>
                  <a:srgbClr val="46606E"/>
                </a:solidFill>
                <a:latin typeface="IBM Plex Sans" pitchFamily="34" charset="0"/>
                <a:ea typeface="IBM Plex Sans" pitchFamily="34" charset="-122"/>
                <a:cs typeface="IBM Plex Sans" pitchFamily="34" charset="-120"/>
              </a:rPr>
              <a:t>TARIFS CAVISTES VENDÉE (85)</a:t>
            </a:r>
            <a:endParaRPr lang="en-US" sz="900" dirty="0"/>
          </a:p>
        </p:txBody>
      </p:sp>
      <p:sp>
        <p:nvSpPr>
          <p:cNvPr id="8" name="Text 4"/>
          <p:cNvSpPr/>
          <p:nvPr/>
        </p:nvSpPr>
        <p:spPr>
          <a:xfrm>
            <a:off x="612000" y="8064000"/>
            <a:ext cx="2160000" cy="504000"/>
          </a:xfrm>
          <a:prstGeom prst="rect">
            <a:avLst/>
          </a:prstGeom>
          <a:noFill/>
          <a:ln/>
        </p:spPr>
        <p:txBody>
          <a:bodyPr wrap="square" lIns="0" tIns="0" rIns="0" bIns="0" rtlCol="0" anchor="ctr"/>
          <a:lstStyle/>
          <a:p>
            <a:pPr indent="0" marL="0">
              <a:buNone/>
            </a:pPr>
            <a:r>
              <a:rPr lang="en-US" sz="3400" dirty="0">
                <a:solidFill>
                  <a:srgbClr val="67067C"/>
                </a:solidFill>
                <a:latin typeface="Young Serif" pitchFamily="34" charset="0"/>
                <a:ea typeface="Young Serif" pitchFamily="34" charset="-122"/>
                <a:cs typeface="Young Serif" pitchFamily="34" charset="-120"/>
              </a:rPr>
              <a:t>2026</a:t>
            </a:r>
            <a:endParaRPr lang="en-US" sz="3400" dirty="0"/>
          </a:p>
        </p:txBody>
      </p:sp>
      <p:sp>
        <p:nvSpPr>
          <p:cNvPr id="9" name="Text 5"/>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30000"/>
              </a:lnSpc>
              <a:buNone/>
            </a:pPr>
            <a:r>
              <a:rPr lang="en-US" sz="1700" dirty="0">
                <a:solidFill>
                  <a:srgbClr val="46606E"/>
                </a:solidFill>
                <a:latin typeface="Young Serif" pitchFamily="34" charset="0"/>
                <a:ea typeface="Young Serif" pitchFamily="34" charset="-122"/>
                <a:cs typeface="Young Serif" pitchFamily="34" charset="-120"/>
              </a:rPr>
              <a:t>L'Agence SCIO, c'est </a:t>
            </a:r>
            <a:r>
              <a:rPr lang="en-US" sz="1700" dirty="0">
                <a:solidFill>
                  <a:srgbClr val="67067C"/>
                </a:solidFill>
                <a:latin typeface="Young Serif" pitchFamily="34" charset="0"/>
                <a:ea typeface="Young Serif" pitchFamily="34" charset="-122"/>
                <a:cs typeface="Young Serif" pitchFamily="34" charset="-120"/>
              </a:rPr>
              <a:t>partager notre savoir et notre passion</a:t>
            </a:r>
            <a:r>
              <a:rPr lang="en-US" sz="17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7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9" name="Image 1" descr="/home/user/philippe1/build/deco/coupe-nue.png">    </p:cNvPr>
          <p:cNvPicPr>
            <a:picLocks noChangeAspect="1"/>
          </p:cNvPicPr>
          <p:nvPr/>
        </p:nvPicPr>
        <p:blipFill>
          <a:blip r:embed="rId2"/>
          <a:stretch>
            <a:fillRect/>
          </a:stretch>
        </p:blipFill>
        <p:spPr>
          <a:xfrm>
            <a:off x="828000" y="4860000"/>
            <a:ext cx="6120000" cy="1460455"/>
          </a:xfrm>
          <a:prstGeom prst="rect">
            <a:avLst/>
          </a:prstGeom>
        </p:spPr>
      </p:pic>
      <p:sp>
        <p:nvSpPr>
          <p:cNvPr id="10" name="Shape 6"/>
          <p:cNvSpPr/>
          <p:nvPr/>
        </p:nvSpPr>
        <p:spPr>
          <a:xfrm>
            <a:off x="828000" y="6732000"/>
            <a:ext cx="6120000" cy="0"/>
          </a:xfrm>
          <a:prstGeom prst="line">
            <a:avLst/>
          </a:prstGeom>
          <a:noFill/>
          <a:ln w="10160">
            <a:solidFill>
              <a:srgbClr val="67067C"/>
            </a:solidFill>
            <a:prstDash val="solid"/>
          </a:ln>
        </p:spPr>
      </p:sp>
      <p:sp>
        <p:nvSpPr>
          <p:cNvPr id="11" name="Text 7"/>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2" name="Text 8"/>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3" name="Text 9"/>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4" name="Text 10"/>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5" name="Text 11"/>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6" name="Text 12"/>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Comment lire ce catalogue</a:t>
            </a:r>
            <a:endParaRPr lang="en-US" sz="2400" dirty="0"/>
          </a:p>
        </p:txBody>
      </p:sp>
      <p:pic>
        <p:nvPicPr>
          <p:cNvPr id="3" name="Image 0" descr="/home/user/philippe1/build/deco/me-tranche.png">    </p:cNvPr>
          <p:cNvPicPr>
            <a:picLocks noChangeAspect="1"/>
          </p:cNvPicPr>
          <p:nvPr/>
        </p:nvPicPr>
        <p:blipFill>
          <a:blip r:embed="rId1"/>
          <a:stretch>
            <a:fillRect/>
          </a:stretch>
        </p:blipFill>
        <p:spPr>
          <a:xfrm>
            <a:off x="612000" y="1080000"/>
            <a:ext cx="2898000" cy="828000"/>
          </a:xfrm>
          <a:prstGeom prst="rect">
            <a:avLst/>
          </a:prstGeom>
        </p:spPr>
      </p:pic>
      <p:sp>
        <p:nvSpPr>
          <p:cNvPr id="4" name="Text 1"/>
          <p:cNvSpPr/>
          <p:nvPr/>
        </p:nvSpPr>
        <p:spPr>
          <a:xfrm>
            <a:off x="612000" y="19728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La tranche vous emmène</a:t>
            </a:r>
            <a:endParaRPr lang="en-US" sz="1150" dirty="0"/>
          </a:p>
        </p:txBody>
      </p:sp>
      <p:sp>
        <p:nvSpPr>
          <p:cNvPr id="5" name="Text 2"/>
          <p:cNvSpPr/>
          <p:nvPr/>
        </p:nvSpPr>
        <p:spPr>
          <a:xfrm>
            <a:off x="612000" y="21924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Dix régions, dix strates. Sur le bord de chaque page, la strate de la région où vous êtes est pleine et marquée d'or. Catalogue fermé, la tranche affiche les dix bandes : vous ouvrez directement à la bonne région.</a:t>
            </a:r>
            <a:endParaRPr lang="en-US" sz="820" dirty="0"/>
          </a:p>
        </p:txBody>
      </p:sp>
      <p:pic>
        <p:nvPicPr>
          <p:cNvPr id="6" name="Image 1" descr="/home/user/philippe1/build/deco/me-prix.png">    </p:cNvPr>
          <p:cNvPicPr>
            <a:picLocks noChangeAspect="1"/>
          </p:cNvPicPr>
          <p:nvPr/>
        </p:nvPicPr>
        <p:blipFill>
          <a:blip r:embed="rId2"/>
          <a:stretch>
            <a:fillRect/>
          </a:stretch>
        </p:blipFill>
        <p:spPr>
          <a:xfrm>
            <a:off x="3834000" y="1080000"/>
            <a:ext cx="2898000" cy="828000"/>
          </a:xfrm>
          <a:prstGeom prst="rect">
            <a:avLst/>
          </a:prstGeom>
        </p:spPr>
      </p:pic>
      <p:sp>
        <p:nvSpPr>
          <p:cNvPr id="7" name="Text 3"/>
          <p:cNvSpPr/>
          <p:nvPr/>
        </p:nvSpPr>
        <p:spPr>
          <a:xfrm>
            <a:off x="3834000" y="1972800"/>
            <a:ext cx="2898000" cy="3384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 prix tombe toujours au même endroit</a:t>
            </a:r>
            <a:endParaRPr lang="en-US" sz="1150" dirty="0"/>
          </a:p>
        </p:txBody>
      </p:sp>
      <p:sp>
        <p:nvSpPr>
          <p:cNvPr id="8" name="Text 4"/>
          <p:cNvSpPr/>
          <p:nvPr/>
        </p:nvSpPr>
        <p:spPr>
          <a:xfrm>
            <a:off x="3834000" y="23616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Le bloc de prix a la même largeur sur les quarante fiches, divisé en autant de parts qu'il y a de paliers. Les paliers, eux, sont ceux de chaque domaine : nous ne les avons pas harmonisés. Un domaine à tarif unique n'a qu'une part.</a:t>
            </a:r>
            <a:endParaRPr lang="en-US" sz="820" dirty="0"/>
          </a:p>
        </p:txBody>
      </p:sp>
      <p:pic>
        <p:nvPicPr>
          <p:cNvPr id="9" name="Image 2" descr="/home/user/philippe1/build/deco/me-pictos.png">    </p:cNvPr>
          <p:cNvPicPr>
            <a:picLocks noChangeAspect="1"/>
          </p:cNvPicPr>
          <p:nvPr/>
        </p:nvPicPr>
        <p:blipFill>
          <a:blip r:embed="rId3"/>
          <a:stretch>
            <a:fillRect/>
          </a:stretch>
        </p:blipFill>
        <p:spPr>
          <a:xfrm>
            <a:off x="612000" y="3164400"/>
            <a:ext cx="2898000" cy="1152000"/>
          </a:xfrm>
          <a:prstGeom prst="rect">
            <a:avLst/>
          </a:prstGeom>
        </p:spPr>
      </p:pic>
      <p:sp>
        <p:nvSpPr>
          <p:cNvPr id="10" name="Text 5"/>
          <p:cNvSpPr/>
          <p:nvPr/>
        </p:nvSpPr>
        <p:spPr>
          <a:xfrm>
            <a:off x="612000" y="43812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Les pictos sont les nôtres</a:t>
            </a:r>
            <a:endParaRPr lang="en-US" sz="1150" dirty="0"/>
          </a:p>
        </p:txBody>
      </p:sp>
      <p:sp>
        <p:nvSpPr>
          <p:cNvPr id="11" name="Text 6"/>
          <p:cNvSpPr/>
          <p:nvPr/>
        </p:nvSpPr>
        <p:spPr>
          <a:xfrm>
            <a:off x="612000" y="46008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Une forme par type : bulles, blanc, rosé, rouge, doux, sans alcool, jus de cépages, bière, spiritueux. Ce sont </a:t>
            </a:r>
            <a:r>
              <a:rPr lang="en-US" sz="820" b="1" dirty="0">
                <a:solidFill>
                  <a:srgbClr val="46606E"/>
                </a:solidFill>
                <a:latin typeface="Spectral" pitchFamily="34" charset="0"/>
                <a:ea typeface="Spectral" pitchFamily="34" charset="-122"/>
                <a:cs typeface="Spectral" pitchFamily="34" charset="-120"/>
              </a:rPr>
              <a:t>nos</a:t>
            </a:r>
            <a:r>
              <a:rPr lang="en-US" sz="820" dirty="0">
                <a:solidFill>
                  <a:srgbClr val="46606E"/>
                </a:solidFill>
                <a:latin typeface="Spectral" pitchFamily="34" charset="0"/>
                <a:ea typeface="Spectral" pitchFamily="34" charset="-122"/>
                <a:cs typeface="Spectral" pitchFamily="34" charset="-120"/>
              </a:rPr>
              <a:t> pictos, dessinés pour ce catalogue : ce ne sont pas les logos officiels des organismes certificateurs.</a:t>
            </a:r>
            <a:endParaRPr lang="en-US" sz="820" dirty="0"/>
          </a:p>
        </p:txBody>
      </p:sp>
      <p:pic>
        <p:nvPicPr>
          <p:cNvPr id="12" name="Image 3" descr="/home/user/philippe1/build/deco/me-jetons.png">    </p:cNvPr>
          <p:cNvPicPr>
            <a:picLocks noChangeAspect="1"/>
          </p:cNvPicPr>
          <p:nvPr/>
        </p:nvPicPr>
        <p:blipFill>
          <a:blip r:embed="rId4"/>
          <a:stretch>
            <a:fillRect/>
          </a:stretch>
        </p:blipFill>
        <p:spPr>
          <a:xfrm>
            <a:off x="3834000" y="3164400"/>
            <a:ext cx="2898000" cy="828000"/>
          </a:xfrm>
          <a:prstGeom prst="rect">
            <a:avLst/>
          </a:prstGeom>
        </p:spPr>
      </p:pic>
      <p:sp>
        <p:nvSpPr>
          <p:cNvPr id="13" name="Text 7"/>
          <p:cNvSpPr/>
          <p:nvPr/>
        </p:nvSpPr>
        <p:spPr>
          <a:xfrm>
            <a:off x="3834000" y="40572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Les mentions</a:t>
            </a:r>
            <a:endParaRPr lang="en-US" sz="1150" dirty="0"/>
          </a:p>
        </p:txBody>
      </p:sp>
      <p:sp>
        <p:nvSpPr>
          <p:cNvPr id="14" name="Text 8"/>
          <p:cNvSpPr/>
          <p:nvPr/>
        </p:nvSpPr>
        <p:spPr>
          <a:xfrm>
            <a:off x="3834000" y="4276800"/>
            <a:ext cx="2898000" cy="828000"/>
          </a:xfrm>
          <a:prstGeom prst="rect">
            <a:avLst/>
          </a:prstGeom>
          <a:noFill/>
          <a:ln/>
        </p:spPr>
        <p:txBody>
          <a:bodyPr wrap="square" lIns="0" tIns="0" rIns="0" bIns="0" rtlCol="0" anchor="t"/>
          <a:lstStyle/>
          <a:p>
            <a:pPr indent="0" marL="0">
              <a:lnSpc>
                <a:spcPct val="128000"/>
              </a:lnSpc>
              <a:buNone/>
            </a:pPr>
            <a:r>
              <a:rPr lang="en-US" sz="820" b="1" dirty="0">
                <a:solidFill>
                  <a:srgbClr val="46606E"/>
                </a:solidFill>
                <a:latin typeface="Spectral" pitchFamily="34" charset="0"/>
                <a:ea typeface="Spectral" pitchFamily="34" charset="-122"/>
                <a:cs typeface="Spectral" pitchFamily="34" charset="-120"/>
              </a:rPr>
              <a:t>Allocation</a:t>
            </a:r>
            <a:r>
              <a:rPr lang="en-US" sz="820" dirty="0">
                <a:solidFill>
                  <a:srgbClr val="46606E"/>
                </a:solidFill>
                <a:latin typeface="Spectral" pitchFamily="34" charset="0"/>
                <a:ea typeface="Spectral" pitchFamily="34" charset="-122"/>
                <a:cs typeface="Spectral" pitchFamily="34" charset="-120"/>
              </a:rPr>
              <a:t> : quantités limitées, à réserver. </a:t>
            </a:r>
            <a:r>
              <a:rPr lang="en-US" sz="820" b="1" dirty="0">
                <a:solidFill>
                  <a:srgbClr val="46606E"/>
                </a:solidFill>
                <a:latin typeface="Spectral" pitchFamily="34" charset="0"/>
                <a:ea typeface="Spectral" pitchFamily="34" charset="-122"/>
                <a:cs typeface="Spectral" pitchFamily="34" charset="-120"/>
              </a:rPr>
              <a:t>Panachage</a:t>
            </a:r>
            <a:r>
              <a:rPr lang="en-US" sz="820" dirty="0">
                <a:solidFill>
                  <a:srgbClr val="46606E"/>
                </a:solidFill>
                <a:latin typeface="Spectral" pitchFamily="34" charset="0"/>
                <a:ea typeface="Spectral" pitchFamily="34" charset="-122"/>
                <a:cs typeface="Spectral" pitchFamily="34" charset="-120"/>
              </a:rPr>
              <a:t> : vous pouvez mélanger à l'intérieur du domaine, et parfois entre plusieurs domaines — les quatre alliances sont page 7. </a:t>
            </a:r>
            <a:r>
              <a:rPr lang="en-US" sz="820" b="1" dirty="0">
                <a:solidFill>
                  <a:srgbClr val="46606E"/>
                </a:solidFill>
                <a:latin typeface="Spectral" pitchFamily="34" charset="0"/>
                <a:ea typeface="Spectral" pitchFamily="34" charset="-122"/>
                <a:cs typeface="Spectral" pitchFamily="34" charset="-120"/>
              </a:rPr>
              <a:t>Consultez-nous</a:t>
            </a:r>
            <a:r>
              <a:rPr lang="en-US" sz="820" dirty="0">
                <a:solidFill>
                  <a:srgbClr val="46606E"/>
                </a:solidFill>
                <a:latin typeface="Spectral" pitchFamily="34" charset="0"/>
                <a:ea typeface="Spectral" pitchFamily="34" charset="-122"/>
                <a:cs typeface="Spectral" pitchFamily="34" charset="-120"/>
              </a:rPr>
              <a:t> : le domaine communique ses tarifs et ses offres au cas par cas.</a:t>
            </a:r>
            <a:endParaRPr lang="en-US" sz="820" dirty="0"/>
          </a:p>
        </p:txBody>
      </p:sp>
      <p:pic>
        <p:nvPicPr>
          <p:cNvPr id="15" name="Image 4" descr="/home/user/philippe1/build/deco/me-paliers.png">    </p:cNvPr>
          <p:cNvPicPr>
            <a:picLocks noChangeAspect="1"/>
          </p:cNvPicPr>
          <p:nvPr/>
        </p:nvPicPr>
        <p:blipFill>
          <a:blip r:embed="rId5"/>
          <a:stretch>
            <a:fillRect/>
          </a:stretch>
        </p:blipFill>
        <p:spPr>
          <a:xfrm>
            <a:off x="612000" y="5403600"/>
            <a:ext cx="2898000" cy="828000"/>
          </a:xfrm>
          <a:prstGeom prst="rect">
            <a:avLst/>
          </a:prstGeom>
        </p:spPr>
      </p:pic>
      <p:sp>
        <p:nvSpPr>
          <p:cNvPr id="16" name="Text 9"/>
          <p:cNvSpPr/>
          <p:nvPr/>
        </p:nvSpPr>
        <p:spPr>
          <a:xfrm>
            <a:off x="612000" y="62964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Les paliers sont ceux du domaine</a:t>
            </a:r>
            <a:endParaRPr lang="en-US" sz="1150" dirty="0"/>
          </a:p>
        </p:txBody>
      </p:sp>
      <p:sp>
        <p:nvSpPr>
          <p:cNvPr id="17" name="Text 10"/>
          <p:cNvSpPr/>
          <p:nvPr/>
        </p:nvSpPr>
        <p:spPr>
          <a:xfrm>
            <a:off x="612000" y="6516000"/>
            <a:ext cx="2898000" cy="8280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Treize notations différentes dans cette sélection, toutes recopiées telles quelles : bouteilles, cols, bag-in-box, demi-palette, palette, ou tarif unique. </a:t>
            </a:r>
            <a:r>
              <a:rPr lang="en-US" sz="820" b="1" dirty="0">
                <a:solidFill>
                  <a:srgbClr val="46606E"/>
                </a:solidFill>
                <a:latin typeface="Spectral" pitchFamily="34" charset="0"/>
                <a:ea typeface="Spectral" pitchFamily="34" charset="-122"/>
                <a:cs typeface="Spectral" pitchFamily="34" charset="-120"/>
              </a:rPr>
              <a:t>Nous n'avons harmonisé aucun seuil</a:t>
            </a:r>
            <a:r>
              <a:rPr lang="en-US" sz="820" dirty="0">
                <a:solidFill>
                  <a:srgbClr val="46606E"/>
                </a:solidFill>
                <a:latin typeface="Spectral" pitchFamily="34" charset="0"/>
                <a:ea typeface="Spectral" pitchFamily="34" charset="-122"/>
                <a:cs typeface="Spectral" pitchFamily="34" charset="-120"/>
              </a:rPr>
              <a:t> — une quantité approximative serait une erreur de commande.</a:t>
            </a:r>
            <a:endParaRPr lang="en-US" sz="820" dirty="0"/>
          </a:p>
        </p:txBody>
      </p:sp>
      <p:pic>
        <p:nvPicPr>
          <p:cNvPr id="18" name="Image 5" descr="/home/user/philippe1/build/deco/me-pied.png">    </p:cNvPr>
          <p:cNvPicPr>
            <a:picLocks noChangeAspect="1"/>
          </p:cNvPicPr>
          <p:nvPr/>
        </p:nvPicPr>
        <p:blipFill>
          <a:blip r:embed="rId6"/>
          <a:stretch>
            <a:fillRect/>
          </a:stretch>
        </p:blipFill>
        <p:spPr>
          <a:xfrm>
            <a:off x="3834000" y="5403600"/>
            <a:ext cx="2898000" cy="828000"/>
          </a:xfrm>
          <a:prstGeom prst="rect">
            <a:avLst/>
          </a:prstGeom>
        </p:spPr>
      </p:pic>
      <p:sp>
        <p:nvSpPr>
          <p:cNvPr id="19" name="Text 11"/>
          <p:cNvSpPr/>
          <p:nvPr/>
        </p:nvSpPr>
        <p:spPr>
          <a:xfrm>
            <a:off x="3834000" y="62964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 bas de page dit le reste</a:t>
            </a:r>
            <a:endParaRPr lang="en-US" sz="1150" dirty="0"/>
          </a:p>
        </p:txBody>
      </p:sp>
      <p:sp>
        <p:nvSpPr>
          <p:cNvPr id="20" name="Text 12"/>
          <p:cNvSpPr/>
          <p:nvPr/>
        </p:nvSpPr>
        <p:spPr>
          <a:xfrm>
            <a:off x="3834000" y="65160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À gauche, les conditions exactes du domaine : hors transport, franco de port, départ chai, départ cave, ou franco à partir d'une quantité. À droite, les départements où ce domaine est distribué. Les deux changent d'une fiche à l'autre.</a:t>
            </a:r>
            <a:endParaRPr lang="en-US" sz="820" dirty="0"/>
          </a:p>
        </p:txBody>
      </p:sp>
      <p:sp>
        <p:nvSpPr>
          <p:cNvPr id="21" name="Shape 13"/>
          <p:cNvSpPr/>
          <p:nvPr/>
        </p:nvSpPr>
        <p:spPr>
          <a:xfrm>
            <a:off x="612000" y="8280000"/>
            <a:ext cx="6120000" cy="0"/>
          </a:xfrm>
          <a:prstGeom prst="line">
            <a:avLst/>
          </a:prstGeom>
          <a:noFill/>
          <a:ln w="10160">
            <a:solidFill>
              <a:srgbClr val="67067C"/>
            </a:solidFill>
            <a:prstDash val="solid"/>
          </a:ln>
        </p:spPr>
      </p:sp>
      <p:sp>
        <p:nvSpPr>
          <p:cNvPr id="22" name="Text 14"/>
          <p:cNvSpPr/>
          <p:nvPr/>
        </p:nvSpPr>
        <p:spPr>
          <a:xfrm>
            <a:off x="612000" y="8337600"/>
            <a:ext cx="6120000" cy="396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Tous les prix sont </a:t>
            </a:r>
            <a:r>
              <a:rPr lang="en-US" sz="860" b="1" dirty="0">
                <a:solidFill>
                  <a:srgbClr val="67067C"/>
                </a:solidFill>
                <a:latin typeface="Spectral" pitchFamily="34" charset="0"/>
                <a:ea typeface="Spectral" pitchFamily="34" charset="-122"/>
                <a:cs typeface="Spectral" pitchFamily="34" charset="-120"/>
              </a:rPr>
              <a:t>hors taxes, par bouteille</a:t>
            </a:r>
            <a:r>
              <a:rPr lang="en-US" sz="860" dirty="0">
                <a:solidFill>
                  <a:srgbClr val="46606E"/>
                </a:solidFill>
                <a:latin typeface="Spectral" pitchFamily="34" charset="0"/>
                <a:ea typeface="Spectral" pitchFamily="34" charset="-122"/>
                <a:cs typeface="Spectral" pitchFamily="34" charset="-120"/>
              </a:rPr>
              <a:t>. Les conditions de port diffèrent d'un domaine à l'autre : elles sont écrites en bas de chaque fiche, avec les départements de distribution.</a:t>
            </a:r>
            <a:endParaRPr lang="en-US" sz="860" dirty="0"/>
          </a:p>
        </p:txBody>
      </p:sp>
      <p:sp>
        <p:nvSpPr>
          <p:cNvPr id="23"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4"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La coupe</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SOMMAIRE DES DIX RÉGIONS</a:t>
            </a:r>
            <a:endParaRPr lang="en-US" sz="800" dirty="0"/>
          </a:p>
        </p:txBody>
      </p:sp>
      <p:sp>
        <p:nvSpPr>
          <p:cNvPr id="4" name="Shape 2"/>
          <p:cNvSpPr/>
          <p:nvPr/>
        </p:nvSpPr>
        <p:spPr>
          <a:xfrm>
            <a:off x="828000" y="1296000"/>
            <a:ext cx="6120000" cy="1126125"/>
          </a:xfrm>
          <a:prstGeom prst="roundRect">
            <a:avLst>
              <a:gd name="adj" fmla="val 1218"/>
            </a:avLst>
          </a:prstGeom>
          <a:solidFill>
            <a:srgbClr val="46606E"/>
          </a:solidFill>
          <a:ln w="12700">
            <a:solidFill>
              <a:srgbClr val="46606E"/>
            </a:solidFill>
            <a:prstDash val="solid"/>
          </a:ln>
        </p:spPr>
      </p:sp>
      <p:sp>
        <p:nvSpPr>
          <p:cNvPr id="5" name="Text 3"/>
          <p:cNvSpPr/>
          <p:nvPr/>
        </p:nvSpPr>
        <p:spPr>
          <a:xfrm>
            <a:off x="936000" y="135360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Loire</a:t>
            </a:r>
            <a:endParaRPr lang="en-US" sz="1150" dirty="0"/>
          </a:p>
        </p:txBody>
      </p:sp>
      <p:sp>
        <p:nvSpPr>
          <p:cNvPr id="6" name="Text 4"/>
          <p:cNvSpPr/>
          <p:nvPr/>
        </p:nvSpPr>
        <p:spPr>
          <a:xfrm>
            <a:off x="2124000" y="135360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schistes et tuffeau</a:t>
            </a:r>
            <a:endParaRPr lang="en-US" sz="700" dirty="0"/>
          </a:p>
        </p:txBody>
      </p:sp>
      <p:sp>
        <p:nvSpPr>
          <p:cNvPr id="7" name="Text 5"/>
          <p:cNvSpPr/>
          <p:nvPr/>
        </p:nvSpPr>
        <p:spPr>
          <a:xfrm>
            <a:off x="6516000" y="135360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7</a:t>
            </a:r>
            <a:endParaRPr lang="en-US" sz="750" dirty="0"/>
          </a:p>
        </p:txBody>
      </p:sp>
      <p:sp>
        <p:nvSpPr>
          <p:cNvPr id="8" name="Text 6"/>
          <p:cNvSpPr/>
          <p:nvPr/>
        </p:nvSpPr>
        <p:spPr>
          <a:xfrm>
            <a:off x="972000" y="1584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  </a:t>
            </a:r>
            <a:r>
              <a:rPr lang="en-US" sz="740" dirty="0">
                <a:solidFill>
                  <a:srgbClr val="FBF8F1"/>
                </a:solidFill>
                <a:latin typeface="IBM Plex Sans" pitchFamily="34" charset="0"/>
                <a:ea typeface="IBM Plex Sans" pitchFamily="34" charset="-122"/>
                <a:cs typeface="IBM Plex Sans" pitchFamily="34" charset="-120"/>
              </a:rPr>
              <a:t>François Reverdy</a:t>
            </a:r>
            <a:r>
              <a:rPr lang="en-US" sz="740" b="1" dirty="0">
                <a:solidFill>
                  <a:srgbClr val="FBF8F1"/>
                </a:solidFill>
                <a:latin typeface="IBM Plex Sans" pitchFamily="34" charset="0"/>
                <a:ea typeface="IBM Plex Sans" pitchFamily="34" charset="-122"/>
                <a:cs typeface="IBM Plex Sans" pitchFamily="34" charset="-120"/>
              </a:rPr>
              <a:t>   7</a:t>
            </a:r>
            <a:endParaRPr lang="en-US" sz="740" dirty="0"/>
          </a:p>
        </p:txBody>
      </p:sp>
      <p:sp>
        <p:nvSpPr>
          <p:cNvPr id="9" name="Text 7"/>
          <p:cNvSpPr/>
          <p:nvPr/>
        </p:nvSpPr>
        <p:spPr>
          <a:xfrm>
            <a:off x="972000" y="1713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  </a:t>
            </a:r>
            <a:r>
              <a:rPr lang="en-US" sz="740" dirty="0">
                <a:solidFill>
                  <a:srgbClr val="FBF8F1"/>
                </a:solidFill>
                <a:latin typeface="IBM Plex Sans" pitchFamily="34" charset="0"/>
                <a:ea typeface="IBM Plex Sans" pitchFamily="34" charset="-122"/>
                <a:cs typeface="IBM Plex Sans" pitchFamily="34" charset="-120"/>
              </a:rPr>
              <a:t>Domaine de la Barbinière</a:t>
            </a:r>
            <a:r>
              <a:rPr lang="en-US" sz="740" b="1" dirty="0">
                <a:solidFill>
                  <a:srgbClr val="FBF8F1"/>
                </a:solidFill>
                <a:latin typeface="IBM Plex Sans" pitchFamily="34" charset="0"/>
                <a:ea typeface="IBM Plex Sans" pitchFamily="34" charset="-122"/>
                <a:cs typeface="IBM Plex Sans" pitchFamily="34" charset="-120"/>
              </a:rPr>
              <a:t>   8</a:t>
            </a:r>
            <a:endParaRPr lang="en-US" sz="740" dirty="0"/>
          </a:p>
        </p:txBody>
      </p:sp>
      <p:sp>
        <p:nvSpPr>
          <p:cNvPr id="10" name="Text 8"/>
          <p:cNvSpPr/>
          <p:nvPr/>
        </p:nvSpPr>
        <p:spPr>
          <a:xfrm>
            <a:off x="972000" y="18432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  </a:t>
            </a:r>
            <a:r>
              <a:rPr lang="en-US" sz="740" dirty="0">
                <a:solidFill>
                  <a:srgbClr val="FBF8F1"/>
                </a:solidFill>
                <a:latin typeface="IBM Plex Sans" pitchFamily="34" charset="0"/>
                <a:ea typeface="IBM Plex Sans" pitchFamily="34" charset="-122"/>
                <a:cs typeface="IBM Plex Sans" pitchFamily="34" charset="-120"/>
              </a:rPr>
              <a:t>Domaine du Colombier / J.Y Bretaudeau</a:t>
            </a:r>
            <a:r>
              <a:rPr lang="en-US" sz="740" b="1" dirty="0">
                <a:solidFill>
                  <a:srgbClr val="FBF8F1"/>
                </a:solidFill>
                <a:latin typeface="IBM Plex Sans" pitchFamily="34" charset="0"/>
                <a:ea typeface="IBM Plex Sans" pitchFamily="34" charset="-122"/>
                <a:cs typeface="IBM Plex Sans" pitchFamily="34" charset="-120"/>
              </a:rPr>
              <a:t>   9</a:t>
            </a:r>
            <a:endParaRPr lang="en-US" sz="740" dirty="0"/>
          </a:p>
        </p:txBody>
      </p:sp>
      <p:sp>
        <p:nvSpPr>
          <p:cNvPr id="11" name="Text 9"/>
          <p:cNvSpPr/>
          <p:nvPr/>
        </p:nvSpPr>
        <p:spPr>
          <a:xfrm>
            <a:off x="2916000" y="1584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4  </a:t>
            </a:r>
            <a:r>
              <a:rPr lang="en-US" sz="740" dirty="0">
                <a:solidFill>
                  <a:srgbClr val="FBF8F1"/>
                </a:solidFill>
                <a:latin typeface="IBM Plex Sans" pitchFamily="34" charset="0"/>
                <a:ea typeface="IBM Plex Sans" pitchFamily="34" charset="-122"/>
                <a:cs typeface="IBM Plex Sans" pitchFamily="34" charset="-120"/>
              </a:rPr>
              <a:t>Domaine des Noëls</a:t>
            </a:r>
            <a:r>
              <a:rPr lang="en-US" sz="740" b="1" dirty="0">
                <a:solidFill>
                  <a:srgbClr val="FBF8F1"/>
                </a:solidFill>
                <a:latin typeface="IBM Plex Sans" pitchFamily="34" charset="0"/>
                <a:ea typeface="IBM Plex Sans" pitchFamily="34" charset="-122"/>
                <a:cs typeface="IBM Plex Sans" pitchFamily="34" charset="-120"/>
              </a:rPr>
              <a:t>   11</a:t>
            </a:r>
            <a:endParaRPr lang="en-US" sz="740" dirty="0"/>
          </a:p>
        </p:txBody>
      </p:sp>
      <p:sp>
        <p:nvSpPr>
          <p:cNvPr id="12" name="Text 10"/>
          <p:cNvSpPr/>
          <p:nvPr/>
        </p:nvSpPr>
        <p:spPr>
          <a:xfrm>
            <a:off x="2916000" y="1713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5  </a:t>
            </a:r>
            <a:r>
              <a:rPr lang="en-US" sz="740" dirty="0">
                <a:solidFill>
                  <a:srgbClr val="FBF8F1"/>
                </a:solidFill>
                <a:latin typeface="IBM Plex Sans" pitchFamily="34" charset="0"/>
                <a:ea typeface="IBM Plex Sans" pitchFamily="34" charset="-122"/>
                <a:cs typeface="IBM Plex Sans" pitchFamily="34" charset="-120"/>
              </a:rPr>
              <a:t>Chai Berteaud Manceau</a:t>
            </a:r>
            <a:r>
              <a:rPr lang="en-US" sz="740" b="1" dirty="0">
                <a:solidFill>
                  <a:srgbClr val="FBF8F1"/>
                </a:solidFill>
                <a:latin typeface="IBM Plex Sans" pitchFamily="34" charset="0"/>
                <a:ea typeface="IBM Plex Sans" pitchFamily="34" charset="-122"/>
                <a:cs typeface="IBM Plex Sans" pitchFamily="34" charset="-120"/>
              </a:rPr>
              <a:t>   12</a:t>
            </a:r>
            <a:endParaRPr lang="en-US" sz="740" dirty="0"/>
          </a:p>
        </p:txBody>
      </p:sp>
      <p:sp>
        <p:nvSpPr>
          <p:cNvPr id="13" name="Text 11"/>
          <p:cNvSpPr/>
          <p:nvPr/>
        </p:nvSpPr>
        <p:spPr>
          <a:xfrm>
            <a:off x="2916000" y="18432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6  </a:t>
            </a:r>
            <a:r>
              <a:rPr lang="en-US" sz="740" dirty="0">
                <a:solidFill>
                  <a:srgbClr val="FBF8F1"/>
                </a:solidFill>
                <a:latin typeface="IBM Plex Sans" pitchFamily="34" charset="0"/>
                <a:ea typeface="IBM Plex Sans" pitchFamily="34" charset="-122"/>
                <a:cs typeface="IBM Plex Sans" pitchFamily="34" charset="-120"/>
              </a:rPr>
              <a:t>Domaine Jean de Villebois</a:t>
            </a:r>
            <a:r>
              <a:rPr lang="en-US" sz="740" b="1" dirty="0">
                <a:solidFill>
                  <a:srgbClr val="FBF8F1"/>
                </a:solidFill>
                <a:latin typeface="IBM Plex Sans" pitchFamily="34" charset="0"/>
                <a:ea typeface="IBM Plex Sans" pitchFamily="34" charset="-122"/>
                <a:cs typeface="IBM Plex Sans" pitchFamily="34" charset="-120"/>
              </a:rPr>
              <a:t>   13</a:t>
            </a:r>
            <a:endParaRPr lang="en-US" sz="740" dirty="0"/>
          </a:p>
        </p:txBody>
      </p:sp>
      <p:sp>
        <p:nvSpPr>
          <p:cNvPr id="14" name="Text 12"/>
          <p:cNvSpPr/>
          <p:nvPr/>
        </p:nvSpPr>
        <p:spPr>
          <a:xfrm>
            <a:off x="4860000" y="1584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7  </a:t>
            </a:r>
            <a:r>
              <a:rPr lang="en-US" sz="740" dirty="0">
                <a:solidFill>
                  <a:srgbClr val="FBF8F1"/>
                </a:solidFill>
                <a:latin typeface="IBM Plex Sans" pitchFamily="34" charset="0"/>
                <a:ea typeface="IBM Plex Sans" pitchFamily="34" charset="-122"/>
                <a:cs typeface="IBM Plex Sans" pitchFamily="34" charset="-120"/>
              </a:rPr>
              <a:t>Divin No Low</a:t>
            </a:r>
            <a:r>
              <a:rPr lang="en-US" sz="740" b="1" dirty="0">
                <a:solidFill>
                  <a:srgbClr val="FBF8F1"/>
                </a:solidFill>
                <a:latin typeface="IBM Plex Sans" pitchFamily="34" charset="0"/>
                <a:ea typeface="IBM Plex Sans" pitchFamily="34" charset="-122"/>
                <a:cs typeface="IBM Plex Sans" pitchFamily="34" charset="-120"/>
              </a:rPr>
              <a:t>   15</a:t>
            </a:r>
            <a:endParaRPr lang="en-US" sz="740" dirty="0"/>
          </a:p>
        </p:txBody>
      </p:sp>
      <p:sp>
        <p:nvSpPr>
          <p:cNvPr id="15" name="Shape 13"/>
          <p:cNvSpPr/>
          <p:nvPr/>
        </p:nvSpPr>
        <p:spPr>
          <a:xfrm>
            <a:off x="828000" y="2465325"/>
            <a:ext cx="6120000" cy="418275"/>
          </a:xfrm>
          <a:prstGeom prst="roundRect">
            <a:avLst>
              <a:gd name="adj" fmla="val 3279"/>
            </a:avLst>
          </a:prstGeom>
          <a:solidFill>
            <a:srgbClr val="3C5B47"/>
          </a:solidFill>
          <a:ln w="12700">
            <a:solidFill>
              <a:srgbClr val="3C5B47"/>
            </a:solidFill>
            <a:prstDash val="solid"/>
          </a:ln>
        </p:spPr>
      </p:sp>
      <p:sp>
        <p:nvSpPr>
          <p:cNvPr id="16" name="Text 14"/>
          <p:cNvSpPr/>
          <p:nvPr/>
        </p:nvSpPr>
        <p:spPr>
          <a:xfrm>
            <a:off x="936000" y="252292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Alsace</a:t>
            </a:r>
            <a:endParaRPr lang="en-US" sz="1150" dirty="0"/>
          </a:p>
        </p:txBody>
      </p:sp>
      <p:sp>
        <p:nvSpPr>
          <p:cNvPr id="17" name="Text 15"/>
          <p:cNvSpPr/>
          <p:nvPr/>
        </p:nvSpPr>
        <p:spPr>
          <a:xfrm>
            <a:off x="2124000" y="252292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coteaux du Bruderthal</a:t>
            </a:r>
            <a:endParaRPr lang="en-US" sz="700" dirty="0"/>
          </a:p>
        </p:txBody>
      </p:sp>
      <p:sp>
        <p:nvSpPr>
          <p:cNvPr id="18" name="Text 16"/>
          <p:cNvSpPr/>
          <p:nvPr/>
        </p:nvSpPr>
        <p:spPr>
          <a:xfrm>
            <a:off x="6516000" y="252292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1</a:t>
            </a:r>
            <a:endParaRPr lang="en-US" sz="750" dirty="0"/>
          </a:p>
        </p:txBody>
      </p:sp>
      <p:sp>
        <p:nvSpPr>
          <p:cNvPr id="19" name="Text 17"/>
          <p:cNvSpPr/>
          <p:nvPr/>
        </p:nvSpPr>
        <p:spPr>
          <a:xfrm>
            <a:off x="972000" y="275332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8  </a:t>
            </a:r>
            <a:r>
              <a:rPr lang="en-US" sz="740" dirty="0">
                <a:solidFill>
                  <a:srgbClr val="FBF8F1"/>
                </a:solidFill>
                <a:latin typeface="IBM Plex Sans" pitchFamily="34" charset="0"/>
                <a:ea typeface="IBM Plex Sans" pitchFamily="34" charset="-122"/>
                <a:cs typeface="IBM Plex Sans" pitchFamily="34" charset="-120"/>
              </a:rPr>
              <a:t>Domaine Boehler</a:t>
            </a:r>
            <a:r>
              <a:rPr lang="en-US" sz="740" b="1" dirty="0">
                <a:solidFill>
                  <a:srgbClr val="FBF8F1"/>
                </a:solidFill>
                <a:latin typeface="IBM Plex Sans" pitchFamily="34" charset="0"/>
                <a:ea typeface="IBM Plex Sans" pitchFamily="34" charset="-122"/>
                <a:cs typeface="IBM Plex Sans" pitchFamily="34" charset="-120"/>
              </a:rPr>
              <a:t>   17</a:t>
            </a:r>
            <a:endParaRPr lang="en-US" sz="740" dirty="0"/>
          </a:p>
        </p:txBody>
      </p:sp>
      <p:sp>
        <p:nvSpPr>
          <p:cNvPr id="20" name="Shape 18"/>
          <p:cNvSpPr/>
          <p:nvPr/>
        </p:nvSpPr>
        <p:spPr>
          <a:xfrm>
            <a:off x="828000" y="2926800"/>
            <a:ext cx="6120000" cy="418275"/>
          </a:xfrm>
          <a:prstGeom prst="roundRect">
            <a:avLst>
              <a:gd name="adj" fmla="val 3279"/>
            </a:avLst>
          </a:prstGeom>
          <a:solidFill>
            <a:srgbClr val="A8515F"/>
          </a:solidFill>
          <a:ln w="12700">
            <a:solidFill>
              <a:srgbClr val="A8515F"/>
            </a:solidFill>
            <a:prstDash val="solid"/>
          </a:ln>
        </p:spPr>
      </p:sp>
      <p:sp>
        <p:nvSpPr>
          <p:cNvPr id="21" name="Text 19"/>
          <p:cNvSpPr/>
          <p:nvPr/>
        </p:nvSpPr>
        <p:spPr>
          <a:xfrm>
            <a:off x="936000" y="298440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Beaujolais</a:t>
            </a:r>
            <a:endParaRPr lang="en-US" sz="1150" dirty="0"/>
          </a:p>
        </p:txBody>
      </p:sp>
      <p:sp>
        <p:nvSpPr>
          <p:cNvPr id="22" name="Text 20"/>
          <p:cNvSpPr/>
          <p:nvPr/>
        </p:nvSpPr>
        <p:spPr>
          <a:xfrm>
            <a:off x="2124000" y="298440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le Clos des Nugues</a:t>
            </a:r>
            <a:endParaRPr lang="en-US" sz="700" dirty="0"/>
          </a:p>
        </p:txBody>
      </p:sp>
      <p:sp>
        <p:nvSpPr>
          <p:cNvPr id="23" name="Text 21"/>
          <p:cNvSpPr/>
          <p:nvPr/>
        </p:nvSpPr>
        <p:spPr>
          <a:xfrm>
            <a:off x="6516000" y="298440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1</a:t>
            </a:r>
            <a:endParaRPr lang="en-US" sz="750" dirty="0"/>
          </a:p>
        </p:txBody>
      </p:sp>
      <p:sp>
        <p:nvSpPr>
          <p:cNvPr id="24" name="Text 22"/>
          <p:cNvSpPr/>
          <p:nvPr/>
        </p:nvSpPr>
        <p:spPr>
          <a:xfrm>
            <a:off x="972000" y="3214800"/>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9  </a:t>
            </a:r>
            <a:r>
              <a:rPr lang="en-US" sz="740" dirty="0">
                <a:solidFill>
                  <a:srgbClr val="FBF8F1"/>
                </a:solidFill>
                <a:latin typeface="IBM Plex Sans" pitchFamily="34" charset="0"/>
                <a:ea typeface="IBM Plex Sans" pitchFamily="34" charset="-122"/>
                <a:cs typeface="IBM Plex Sans" pitchFamily="34" charset="-120"/>
              </a:rPr>
              <a:t>Domaine des Nugues</a:t>
            </a:r>
            <a:r>
              <a:rPr lang="en-US" sz="740" b="1" dirty="0">
                <a:solidFill>
                  <a:srgbClr val="FBF8F1"/>
                </a:solidFill>
                <a:latin typeface="IBM Plex Sans" pitchFamily="34" charset="0"/>
                <a:ea typeface="IBM Plex Sans" pitchFamily="34" charset="-122"/>
                <a:cs typeface="IBM Plex Sans" pitchFamily="34" charset="-120"/>
              </a:rPr>
              <a:t>   20</a:t>
            </a:r>
            <a:endParaRPr lang="en-US" sz="740" dirty="0"/>
          </a:p>
        </p:txBody>
      </p:sp>
      <p:sp>
        <p:nvSpPr>
          <p:cNvPr id="25" name="Shape 23"/>
          <p:cNvSpPr/>
          <p:nvPr/>
        </p:nvSpPr>
        <p:spPr>
          <a:xfrm>
            <a:off x="828000" y="3388275"/>
            <a:ext cx="6120000" cy="965250"/>
          </a:xfrm>
          <a:prstGeom prst="roundRect">
            <a:avLst>
              <a:gd name="adj" fmla="val 1421"/>
            </a:avLst>
          </a:prstGeom>
          <a:solidFill>
            <a:srgbClr val="D08C3C"/>
          </a:solidFill>
          <a:ln w="12700">
            <a:solidFill>
              <a:srgbClr val="D08C3C"/>
            </a:solidFill>
            <a:prstDash val="solid"/>
          </a:ln>
        </p:spPr>
      </p:sp>
      <p:sp>
        <p:nvSpPr>
          <p:cNvPr id="26" name="Text 24"/>
          <p:cNvSpPr/>
          <p:nvPr/>
        </p:nvSpPr>
        <p:spPr>
          <a:xfrm>
            <a:off x="936000" y="344587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Bourgogne</a:t>
            </a:r>
            <a:endParaRPr lang="en-US" sz="1150" dirty="0"/>
          </a:p>
        </p:txBody>
      </p:sp>
      <p:sp>
        <p:nvSpPr>
          <p:cNvPr id="27" name="Text 25"/>
          <p:cNvSpPr/>
          <p:nvPr/>
        </p:nvSpPr>
        <p:spPr>
          <a:xfrm>
            <a:off x="2124000" y="344587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climats et terrasses</a:t>
            </a:r>
            <a:endParaRPr lang="en-US" sz="700" dirty="0"/>
          </a:p>
        </p:txBody>
      </p:sp>
      <p:sp>
        <p:nvSpPr>
          <p:cNvPr id="28" name="Text 26"/>
          <p:cNvSpPr/>
          <p:nvPr/>
        </p:nvSpPr>
        <p:spPr>
          <a:xfrm>
            <a:off x="6516000" y="344587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6</a:t>
            </a:r>
            <a:endParaRPr lang="en-US" sz="750" dirty="0"/>
          </a:p>
        </p:txBody>
      </p:sp>
      <p:sp>
        <p:nvSpPr>
          <p:cNvPr id="29" name="Text 27"/>
          <p:cNvSpPr/>
          <p:nvPr/>
        </p:nvSpPr>
        <p:spPr>
          <a:xfrm>
            <a:off x="972000" y="36762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10  </a:t>
            </a:r>
            <a:r>
              <a:rPr lang="en-US" sz="740" dirty="0">
                <a:solidFill>
                  <a:srgbClr val="FBF8F1"/>
                </a:solidFill>
                <a:latin typeface="IBM Plex Sans" pitchFamily="34" charset="0"/>
                <a:ea typeface="IBM Plex Sans" pitchFamily="34" charset="-122"/>
                <a:cs typeface="IBM Plex Sans" pitchFamily="34" charset="-120"/>
              </a:rPr>
              <a:t>Domaine Sébastien Magnien</a:t>
            </a:r>
            <a:r>
              <a:rPr lang="en-US" sz="740" b="1" dirty="0">
                <a:solidFill>
                  <a:srgbClr val="FBF8F1"/>
                </a:solidFill>
                <a:latin typeface="IBM Plex Sans" pitchFamily="34" charset="0"/>
                <a:ea typeface="IBM Plex Sans" pitchFamily="34" charset="-122"/>
                <a:cs typeface="IBM Plex Sans" pitchFamily="34" charset="-120"/>
              </a:rPr>
              <a:t>   22</a:t>
            </a:r>
            <a:endParaRPr lang="en-US" sz="740" dirty="0"/>
          </a:p>
        </p:txBody>
      </p:sp>
      <p:sp>
        <p:nvSpPr>
          <p:cNvPr id="30" name="Text 28"/>
          <p:cNvSpPr/>
          <p:nvPr/>
        </p:nvSpPr>
        <p:spPr>
          <a:xfrm>
            <a:off x="972000" y="38058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11  </a:t>
            </a:r>
            <a:r>
              <a:rPr lang="en-US" sz="740" dirty="0">
                <a:solidFill>
                  <a:srgbClr val="FBF8F1"/>
                </a:solidFill>
                <a:latin typeface="IBM Plex Sans" pitchFamily="34" charset="0"/>
                <a:ea typeface="IBM Plex Sans" pitchFamily="34" charset="-122"/>
                <a:cs typeface="IBM Plex Sans" pitchFamily="34" charset="-120"/>
              </a:rPr>
              <a:t>Domaine Nadine Ferrand</a:t>
            </a:r>
            <a:r>
              <a:rPr lang="en-US" sz="740" b="1" dirty="0">
                <a:solidFill>
                  <a:srgbClr val="FBF8F1"/>
                </a:solidFill>
                <a:latin typeface="IBM Plex Sans" pitchFamily="34" charset="0"/>
                <a:ea typeface="IBM Plex Sans" pitchFamily="34" charset="-122"/>
                <a:cs typeface="IBM Plex Sans" pitchFamily="34" charset="-120"/>
              </a:rPr>
              <a:t>   24</a:t>
            </a:r>
            <a:endParaRPr lang="en-US" sz="740" dirty="0"/>
          </a:p>
        </p:txBody>
      </p:sp>
      <p:sp>
        <p:nvSpPr>
          <p:cNvPr id="31" name="Text 29"/>
          <p:cNvSpPr/>
          <p:nvPr/>
        </p:nvSpPr>
        <p:spPr>
          <a:xfrm>
            <a:off x="2916000" y="36762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12  </a:t>
            </a:r>
            <a:r>
              <a:rPr lang="en-US" sz="740" dirty="0">
                <a:solidFill>
                  <a:srgbClr val="FBF8F1"/>
                </a:solidFill>
                <a:latin typeface="IBM Plex Sans" pitchFamily="34" charset="0"/>
                <a:ea typeface="IBM Plex Sans" pitchFamily="34" charset="-122"/>
                <a:cs typeface="IBM Plex Sans" pitchFamily="34" charset="-120"/>
              </a:rPr>
              <a:t>Maison et Domaine André Goichot</a:t>
            </a:r>
            <a:r>
              <a:rPr lang="en-US" sz="740" b="1" dirty="0">
                <a:solidFill>
                  <a:srgbClr val="FBF8F1"/>
                </a:solidFill>
                <a:latin typeface="IBM Plex Sans" pitchFamily="34" charset="0"/>
                <a:ea typeface="IBM Plex Sans" pitchFamily="34" charset="-122"/>
                <a:cs typeface="IBM Plex Sans" pitchFamily="34" charset="-120"/>
              </a:rPr>
              <a:t>   25</a:t>
            </a:r>
            <a:endParaRPr lang="en-US" sz="740" dirty="0"/>
          </a:p>
        </p:txBody>
      </p:sp>
      <p:sp>
        <p:nvSpPr>
          <p:cNvPr id="32" name="Text 30"/>
          <p:cNvSpPr/>
          <p:nvPr/>
        </p:nvSpPr>
        <p:spPr>
          <a:xfrm>
            <a:off x="2916000" y="38058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13  </a:t>
            </a:r>
            <a:r>
              <a:rPr lang="en-US" sz="740" dirty="0">
                <a:solidFill>
                  <a:srgbClr val="FBF8F1"/>
                </a:solidFill>
                <a:latin typeface="IBM Plex Sans" pitchFamily="34" charset="0"/>
                <a:ea typeface="IBM Plex Sans" pitchFamily="34" charset="-122"/>
                <a:cs typeface="IBM Plex Sans" pitchFamily="34" charset="-120"/>
              </a:rPr>
              <a:t>Château du Cray</a:t>
            </a:r>
            <a:r>
              <a:rPr lang="en-US" sz="740" b="1" dirty="0">
                <a:solidFill>
                  <a:srgbClr val="FBF8F1"/>
                </a:solidFill>
                <a:latin typeface="IBM Plex Sans" pitchFamily="34" charset="0"/>
                <a:ea typeface="IBM Plex Sans" pitchFamily="34" charset="-122"/>
                <a:cs typeface="IBM Plex Sans" pitchFamily="34" charset="-120"/>
              </a:rPr>
              <a:t>   27</a:t>
            </a:r>
            <a:endParaRPr lang="en-US" sz="740" dirty="0"/>
          </a:p>
        </p:txBody>
      </p:sp>
      <p:sp>
        <p:nvSpPr>
          <p:cNvPr id="33" name="Text 31"/>
          <p:cNvSpPr/>
          <p:nvPr/>
        </p:nvSpPr>
        <p:spPr>
          <a:xfrm>
            <a:off x="4860000" y="36762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14  </a:t>
            </a:r>
            <a:r>
              <a:rPr lang="en-US" sz="740" dirty="0">
                <a:solidFill>
                  <a:srgbClr val="FBF8F1"/>
                </a:solidFill>
                <a:latin typeface="IBM Plex Sans" pitchFamily="34" charset="0"/>
                <a:ea typeface="IBM Plex Sans" pitchFamily="34" charset="-122"/>
                <a:cs typeface="IBM Plex Sans" pitchFamily="34" charset="-120"/>
              </a:rPr>
              <a:t>Domaine Les Guignottes</a:t>
            </a:r>
            <a:r>
              <a:rPr lang="en-US" sz="740" b="1" dirty="0">
                <a:solidFill>
                  <a:srgbClr val="FBF8F1"/>
                </a:solidFill>
                <a:latin typeface="IBM Plex Sans" pitchFamily="34" charset="0"/>
                <a:ea typeface="IBM Plex Sans" pitchFamily="34" charset="-122"/>
                <a:cs typeface="IBM Plex Sans" pitchFamily="34" charset="-120"/>
              </a:rPr>
              <a:t>   28</a:t>
            </a:r>
            <a:endParaRPr lang="en-US" sz="740" dirty="0"/>
          </a:p>
        </p:txBody>
      </p:sp>
      <p:sp>
        <p:nvSpPr>
          <p:cNvPr id="34" name="Text 32"/>
          <p:cNvSpPr/>
          <p:nvPr/>
        </p:nvSpPr>
        <p:spPr>
          <a:xfrm>
            <a:off x="4860000" y="38058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15  </a:t>
            </a:r>
            <a:r>
              <a:rPr lang="en-US" sz="740" dirty="0">
                <a:solidFill>
                  <a:srgbClr val="FBF8F1"/>
                </a:solidFill>
                <a:latin typeface="IBM Plex Sans" pitchFamily="34" charset="0"/>
                <a:ea typeface="IBM Plex Sans" pitchFamily="34" charset="-122"/>
                <a:cs typeface="IBM Plex Sans" pitchFamily="34" charset="-120"/>
              </a:rPr>
              <a:t>Domaine des Verchères</a:t>
            </a:r>
            <a:r>
              <a:rPr lang="en-US" sz="740" b="1" dirty="0">
                <a:solidFill>
                  <a:srgbClr val="FBF8F1"/>
                </a:solidFill>
                <a:latin typeface="IBM Plex Sans" pitchFamily="34" charset="0"/>
                <a:ea typeface="IBM Plex Sans" pitchFamily="34" charset="-122"/>
                <a:cs typeface="IBM Plex Sans" pitchFamily="34" charset="-120"/>
              </a:rPr>
              <a:t>   29</a:t>
            </a:r>
            <a:endParaRPr lang="en-US" sz="740" dirty="0"/>
          </a:p>
        </p:txBody>
      </p:sp>
      <p:sp>
        <p:nvSpPr>
          <p:cNvPr id="35" name="Shape 33"/>
          <p:cNvSpPr/>
          <p:nvPr/>
        </p:nvSpPr>
        <p:spPr>
          <a:xfrm>
            <a:off x="828000" y="4396725"/>
            <a:ext cx="6120000" cy="965250"/>
          </a:xfrm>
          <a:prstGeom prst="roundRect">
            <a:avLst>
              <a:gd name="adj" fmla="val 1421"/>
            </a:avLst>
          </a:prstGeom>
          <a:solidFill>
            <a:srgbClr val="3C5B47"/>
          </a:solidFill>
          <a:ln w="12700">
            <a:solidFill>
              <a:srgbClr val="3C5B47"/>
            </a:solidFill>
            <a:prstDash val="solid"/>
          </a:ln>
        </p:spPr>
      </p:sp>
      <p:sp>
        <p:nvSpPr>
          <p:cNvPr id="36" name="Text 34"/>
          <p:cNvSpPr/>
          <p:nvPr/>
        </p:nvSpPr>
        <p:spPr>
          <a:xfrm>
            <a:off x="936000" y="445432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Rhône</a:t>
            </a:r>
            <a:endParaRPr lang="en-US" sz="1150" dirty="0"/>
          </a:p>
        </p:txBody>
      </p:sp>
      <p:sp>
        <p:nvSpPr>
          <p:cNvPr id="37" name="Text 35"/>
          <p:cNvSpPr/>
          <p:nvPr/>
        </p:nvSpPr>
        <p:spPr>
          <a:xfrm>
            <a:off x="2124000" y="445432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sables, grès et Trias</a:t>
            </a:r>
            <a:endParaRPr lang="en-US" sz="700" dirty="0"/>
          </a:p>
        </p:txBody>
      </p:sp>
      <p:sp>
        <p:nvSpPr>
          <p:cNvPr id="38" name="Text 36"/>
          <p:cNvSpPr/>
          <p:nvPr/>
        </p:nvSpPr>
        <p:spPr>
          <a:xfrm>
            <a:off x="6516000" y="445432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6</a:t>
            </a:r>
            <a:endParaRPr lang="en-US" sz="750" dirty="0"/>
          </a:p>
        </p:txBody>
      </p:sp>
      <p:sp>
        <p:nvSpPr>
          <p:cNvPr id="39" name="Text 37"/>
          <p:cNvSpPr/>
          <p:nvPr/>
        </p:nvSpPr>
        <p:spPr>
          <a:xfrm>
            <a:off x="972000" y="46847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16  </a:t>
            </a:r>
            <a:r>
              <a:rPr lang="en-US" sz="740" dirty="0">
                <a:solidFill>
                  <a:srgbClr val="FBF8F1"/>
                </a:solidFill>
                <a:latin typeface="IBM Plex Sans" pitchFamily="34" charset="0"/>
                <a:ea typeface="IBM Plex Sans" pitchFamily="34" charset="-122"/>
                <a:cs typeface="IBM Plex Sans" pitchFamily="34" charset="-120"/>
              </a:rPr>
              <a:t>Domaine Le Prieuré des Papes</a:t>
            </a:r>
            <a:r>
              <a:rPr lang="en-US" sz="740" b="1" dirty="0">
                <a:solidFill>
                  <a:srgbClr val="FBF8F1"/>
                </a:solidFill>
                <a:latin typeface="IBM Plex Sans" pitchFamily="34" charset="0"/>
                <a:ea typeface="IBM Plex Sans" pitchFamily="34" charset="-122"/>
                <a:cs typeface="IBM Plex Sans" pitchFamily="34" charset="-120"/>
              </a:rPr>
              <a:t>   31</a:t>
            </a:r>
            <a:endParaRPr lang="en-US" sz="740" dirty="0"/>
          </a:p>
        </p:txBody>
      </p:sp>
      <p:sp>
        <p:nvSpPr>
          <p:cNvPr id="40" name="Text 38"/>
          <p:cNvSpPr/>
          <p:nvPr/>
        </p:nvSpPr>
        <p:spPr>
          <a:xfrm>
            <a:off x="972000" y="48143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17  </a:t>
            </a:r>
            <a:r>
              <a:rPr lang="en-US" sz="740" dirty="0">
                <a:solidFill>
                  <a:srgbClr val="FBF8F1"/>
                </a:solidFill>
                <a:latin typeface="IBM Plex Sans" pitchFamily="34" charset="0"/>
                <a:ea typeface="IBM Plex Sans" pitchFamily="34" charset="-122"/>
                <a:cs typeface="IBM Plex Sans" pitchFamily="34" charset="-120"/>
              </a:rPr>
              <a:t>Domaine de Coyeux</a:t>
            </a:r>
            <a:r>
              <a:rPr lang="en-US" sz="740" b="1" dirty="0">
                <a:solidFill>
                  <a:srgbClr val="FBF8F1"/>
                </a:solidFill>
                <a:latin typeface="IBM Plex Sans" pitchFamily="34" charset="0"/>
                <a:ea typeface="IBM Plex Sans" pitchFamily="34" charset="-122"/>
                <a:cs typeface="IBM Plex Sans" pitchFamily="34" charset="-120"/>
              </a:rPr>
              <a:t>   32</a:t>
            </a:r>
            <a:endParaRPr lang="en-US" sz="740" dirty="0"/>
          </a:p>
        </p:txBody>
      </p:sp>
      <p:sp>
        <p:nvSpPr>
          <p:cNvPr id="41" name="Text 39"/>
          <p:cNvSpPr/>
          <p:nvPr/>
        </p:nvSpPr>
        <p:spPr>
          <a:xfrm>
            <a:off x="2916000" y="46847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18  </a:t>
            </a:r>
            <a:r>
              <a:rPr lang="en-US" sz="740" dirty="0">
                <a:solidFill>
                  <a:srgbClr val="FBF8F1"/>
                </a:solidFill>
                <a:latin typeface="IBM Plex Sans" pitchFamily="34" charset="0"/>
                <a:ea typeface="IBM Plex Sans" pitchFamily="34" charset="-122"/>
                <a:cs typeface="IBM Plex Sans" pitchFamily="34" charset="-120"/>
              </a:rPr>
              <a:t>Domaine du Moulin Blanc</a:t>
            </a:r>
            <a:r>
              <a:rPr lang="en-US" sz="740" b="1" dirty="0">
                <a:solidFill>
                  <a:srgbClr val="FBF8F1"/>
                </a:solidFill>
                <a:latin typeface="IBM Plex Sans" pitchFamily="34" charset="0"/>
                <a:ea typeface="IBM Plex Sans" pitchFamily="34" charset="-122"/>
                <a:cs typeface="IBM Plex Sans" pitchFamily="34" charset="-120"/>
              </a:rPr>
              <a:t>   33</a:t>
            </a:r>
            <a:endParaRPr lang="en-US" sz="740" dirty="0"/>
          </a:p>
        </p:txBody>
      </p:sp>
      <p:sp>
        <p:nvSpPr>
          <p:cNvPr id="42" name="Text 40"/>
          <p:cNvSpPr/>
          <p:nvPr/>
        </p:nvSpPr>
        <p:spPr>
          <a:xfrm>
            <a:off x="2916000" y="48143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19  </a:t>
            </a:r>
            <a:r>
              <a:rPr lang="en-US" sz="740" dirty="0">
                <a:solidFill>
                  <a:srgbClr val="FBF8F1"/>
                </a:solidFill>
                <a:latin typeface="IBM Plex Sans" pitchFamily="34" charset="0"/>
                <a:ea typeface="IBM Plex Sans" pitchFamily="34" charset="-122"/>
                <a:cs typeface="IBM Plex Sans" pitchFamily="34" charset="-120"/>
              </a:rPr>
              <a:t>Domaine de la Pousterle</a:t>
            </a:r>
            <a:r>
              <a:rPr lang="en-US" sz="740" b="1" dirty="0">
                <a:solidFill>
                  <a:srgbClr val="FBF8F1"/>
                </a:solidFill>
                <a:latin typeface="IBM Plex Sans" pitchFamily="34" charset="0"/>
                <a:ea typeface="IBM Plex Sans" pitchFamily="34" charset="-122"/>
                <a:cs typeface="IBM Plex Sans" pitchFamily="34" charset="-120"/>
              </a:rPr>
              <a:t>   34</a:t>
            </a:r>
            <a:endParaRPr lang="en-US" sz="740" dirty="0"/>
          </a:p>
        </p:txBody>
      </p:sp>
      <p:sp>
        <p:nvSpPr>
          <p:cNvPr id="43" name="Text 41"/>
          <p:cNvSpPr/>
          <p:nvPr/>
        </p:nvSpPr>
        <p:spPr>
          <a:xfrm>
            <a:off x="4860000" y="46847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20  </a:t>
            </a:r>
            <a:r>
              <a:rPr lang="en-US" sz="740" dirty="0">
                <a:solidFill>
                  <a:srgbClr val="FBF8F1"/>
                </a:solidFill>
                <a:latin typeface="IBM Plex Sans" pitchFamily="34" charset="0"/>
                <a:ea typeface="IBM Plex Sans" pitchFamily="34" charset="-122"/>
                <a:cs typeface="IBM Plex Sans" pitchFamily="34" charset="-120"/>
              </a:rPr>
              <a:t>Domaine des Pasquiers</a:t>
            </a:r>
            <a:r>
              <a:rPr lang="en-US" sz="740" b="1" dirty="0">
                <a:solidFill>
                  <a:srgbClr val="FBF8F1"/>
                </a:solidFill>
                <a:latin typeface="IBM Plex Sans" pitchFamily="34" charset="0"/>
                <a:ea typeface="IBM Plex Sans" pitchFamily="34" charset="-122"/>
                <a:cs typeface="IBM Plex Sans" pitchFamily="34" charset="-120"/>
              </a:rPr>
              <a:t>   35</a:t>
            </a:r>
            <a:endParaRPr lang="en-US" sz="740" dirty="0"/>
          </a:p>
        </p:txBody>
      </p:sp>
      <p:sp>
        <p:nvSpPr>
          <p:cNvPr id="44" name="Text 42"/>
          <p:cNvSpPr/>
          <p:nvPr/>
        </p:nvSpPr>
        <p:spPr>
          <a:xfrm>
            <a:off x="4860000" y="48143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21  </a:t>
            </a:r>
            <a:r>
              <a:rPr lang="en-US" sz="740" dirty="0">
                <a:solidFill>
                  <a:srgbClr val="FBF8F1"/>
                </a:solidFill>
                <a:latin typeface="IBM Plex Sans" pitchFamily="34" charset="0"/>
                <a:ea typeface="IBM Plex Sans" pitchFamily="34" charset="-122"/>
                <a:cs typeface="IBM Plex Sans" pitchFamily="34" charset="-120"/>
              </a:rPr>
              <a:t>Domaine Trichon</a:t>
            </a:r>
            <a:r>
              <a:rPr lang="en-US" sz="740" b="1" dirty="0">
                <a:solidFill>
                  <a:srgbClr val="FBF8F1"/>
                </a:solidFill>
                <a:latin typeface="IBM Plex Sans" pitchFamily="34" charset="0"/>
                <a:ea typeface="IBM Plex Sans" pitchFamily="34" charset="-122"/>
                <a:cs typeface="IBM Plex Sans" pitchFamily="34" charset="-120"/>
              </a:rPr>
              <a:t>   36</a:t>
            </a:r>
            <a:endParaRPr lang="en-US" sz="740" dirty="0"/>
          </a:p>
        </p:txBody>
      </p:sp>
      <p:sp>
        <p:nvSpPr>
          <p:cNvPr id="45" name="Shape 43"/>
          <p:cNvSpPr/>
          <p:nvPr/>
        </p:nvSpPr>
        <p:spPr>
          <a:xfrm>
            <a:off x="828000" y="5405175"/>
            <a:ext cx="6120000" cy="482625"/>
          </a:xfrm>
          <a:prstGeom prst="roundRect">
            <a:avLst>
              <a:gd name="adj" fmla="val 2842"/>
            </a:avLst>
          </a:prstGeom>
          <a:solidFill>
            <a:srgbClr val="D08C3C"/>
          </a:solidFill>
          <a:ln w="12700">
            <a:solidFill>
              <a:srgbClr val="D08C3C"/>
            </a:solidFill>
            <a:prstDash val="solid"/>
          </a:ln>
        </p:spPr>
      </p:sp>
      <p:sp>
        <p:nvSpPr>
          <p:cNvPr id="46" name="Text 44"/>
          <p:cNvSpPr/>
          <p:nvPr/>
        </p:nvSpPr>
        <p:spPr>
          <a:xfrm>
            <a:off x="936000" y="546277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Sud-Ouest</a:t>
            </a:r>
            <a:endParaRPr lang="en-US" sz="1150" dirty="0"/>
          </a:p>
        </p:txBody>
      </p:sp>
      <p:sp>
        <p:nvSpPr>
          <p:cNvPr id="47" name="Text 45"/>
          <p:cNvSpPr/>
          <p:nvPr/>
        </p:nvSpPr>
        <p:spPr>
          <a:xfrm>
            <a:off x="2124000" y="546277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sables fauves et fossiles marins</a:t>
            </a:r>
            <a:endParaRPr lang="en-US" sz="700" dirty="0"/>
          </a:p>
        </p:txBody>
      </p:sp>
      <p:sp>
        <p:nvSpPr>
          <p:cNvPr id="48" name="Text 46"/>
          <p:cNvSpPr/>
          <p:nvPr/>
        </p:nvSpPr>
        <p:spPr>
          <a:xfrm>
            <a:off x="6516000" y="546277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3</a:t>
            </a:r>
            <a:endParaRPr lang="en-US" sz="750" dirty="0"/>
          </a:p>
        </p:txBody>
      </p:sp>
      <p:sp>
        <p:nvSpPr>
          <p:cNvPr id="49" name="Text 47"/>
          <p:cNvSpPr/>
          <p:nvPr/>
        </p:nvSpPr>
        <p:spPr>
          <a:xfrm>
            <a:off x="972000" y="569317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22  </a:t>
            </a:r>
            <a:r>
              <a:rPr lang="en-US" sz="740" dirty="0">
                <a:solidFill>
                  <a:srgbClr val="FBF8F1"/>
                </a:solidFill>
                <a:latin typeface="IBM Plex Sans" pitchFamily="34" charset="0"/>
                <a:ea typeface="IBM Plex Sans" pitchFamily="34" charset="-122"/>
                <a:cs typeface="IBM Plex Sans" pitchFamily="34" charset="-120"/>
              </a:rPr>
              <a:t>Domaine Stratéus</a:t>
            </a:r>
            <a:r>
              <a:rPr lang="en-US" sz="740" b="1" dirty="0">
                <a:solidFill>
                  <a:srgbClr val="FBF8F1"/>
                </a:solidFill>
                <a:latin typeface="IBM Plex Sans" pitchFamily="34" charset="0"/>
                <a:ea typeface="IBM Plex Sans" pitchFamily="34" charset="-122"/>
                <a:cs typeface="IBM Plex Sans" pitchFamily="34" charset="-120"/>
              </a:rPr>
              <a:t>   38</a:t>
            </a:r>
            <a:endParaRPr lang="en-US" sz="740" dirty="0"/>
          </a:p>
        </p:txBody>
      </p:sp>
      <p:sp>
        <p:nvSpPr>
          <p:cNvPr id="50" name="Text 48"/>
          <p:cNvSpPr/>
          <p:nvPr/>
        </p:nvSpPr>
        <p:spPr>
          <a:xfrm>
            <a:off x="972000" y="582277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23  </a:t>
            </a:r>
            <a:r>
              <a:rPr lang="en-US" sz="740" dirty="0">
                <a:solidFill>
                  <a:srgbClr val="FBF8F1"/>
                </a:solidFill>
                <a:latin typeface="IBM Plex Sans" pitchFamily="34" charset="0"/>
                <a:ea typeface="IBM Plex Sans" pitchFamily="34" charset="-122"/>
                <a:cs typeface="IBM Plex Sans" pitchFamily="34" charset="-120"/>
              </a:rPr>
              <a:t>Domaine Haut Marin</a:t>
            </a:r>
            <a:r>
              <a:rPr lang="en-US" sz="740" b="1" dirty="0">
                <a:solidFill>
                  <a:srgbClr val="FBF8F1"/>
                </a:solidFill>
                <a:latin typeface="IBM Plex Sans" pitchFamily="34" charset="0"/>
                <a:ea typeface="IBM Plex Sans" pitchFamily="34" charset="-122"/>
                <a:cs typeface="IBM Plex Sans" pitchFamily="34" charset="-120"/>
              </a:rPr>
              <a:t>   39</a:t>
            </a:r>
            <a:endParaRPr lang="en-US" sz="740" dirty="0"/>
          </a:p>
        </p:txBody>
      </p:sp>
      <p:sp>
        <p:nvSpPr>
          <p:cNvPr id="51" name="Text 49"/>
          <p:cNvSpPr/>
          <p:nvPr/>
        </p:nvSpPr>
        <p:spPr>
          <a:xfrm>
            <a:off x="3888000" y="569317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24  </a:t>
            </a:r>
            <a:r>
              <a:rPr lang="en-US" sz="740" dirty="0">
                <a:solidFill>
                  <a:srgbClr val="FBF8F1"/>
                </a:solidFill>
                <a:latin typeface="IBM Plex Sans" pitchFamily="34" charset="0"/>
                <a:ea typeface="IBM Plex Sans" pitchFamily="34" charset="-122"/>
                <a:cs typeface="IBM Plex Sans" pitchFamily="34" charset="-120"/>
              </a:rPr>
              <a:t>Fabien Castaing</a:t>
            </a:r>
            <a:r>
              <a:rPr lang="en-US" sz="740" b="1" dirty="0">
                <a:solidFill>
                  <a:srgbClr val="FBF8F1"/>
                </a:solidFill>
                <a:latin typeface="IBM Plex Sans" pitchFamily="34" charset="0"/>
                <a:ea typeface="IBM Plex Sans" pitchFamily="34" charset="-122"/>
                <a:cs typeface="IBM Plex Sans" pitchFamily="34" charset="-120"/>
              </a:rPr>
              <a:t>   41</a:t>
            </a:r>
            <a:endParaRPr lang="en-US" sz="740" dirty="0"/>
          </a:p>
        </p:txBody>
      </p:sp>
      <p:sp>
        <p:nvSpPr>
          <p:cNvPr id="52" name="Shape 50"/>
          <p:cNvSpPr/>
          <p:nvPr/>
        </p:nvSpPr>
        <p:spPr>
          <a:xfrm>
            <a:off x="828000" y="5931000"/>
            <a:ext cx="6120000" cy="965250"/>
          </a:xfrm>
          <a:prstGeom prst="roundRect">
            <a:avLst>
              <a:gd name="adj" fmla="val 1421"/>
            </a:avLst>
          </a:prstGeom>
          <a:solidFill>
            <a:srgbClr val="A8515F"/>
          </a:solidFill>
          <a:ln w="12700">
            <a:solidFill>
              <a:srgbClr val="A8515F"/>
            </a:solidFill>
            <a:prstDash val="solid"/>
          </a:ln>
        </p:spPr>
      </p:sp>
      <p:sp>
        <p:nvSpPr>
          <p:cNvPr id="53" name="Text 51"/>
          <p:cNvSpPr/>
          <p:nvPr/>
        </p:nvSpPr>
        <p:spPr>
          <a:xfrm>
            <a:off x="936000" y="598860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Bordeaux</a:t>
            </a:r>
            <a:endParaRPr lang="en-US" sz="1150" dirty="0"/>
          </a:p>
        </p:txBody>
      </p:sp>
      <p:sp>
        <p:nvSpPr>
          <p:cNvPr id="54" name="Text 52"/>
          <p:cNvSpPr/>
          <p:nvPr/>
        </p:nvSpPr>
        <p:spPr>
          <a:xfrm>
            <a:off x="2124000" y="598860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graves et argilo-calcaire</a:t>
            </a:r>
            <a:endParaRPr lang="en-US" sz="700" dirty="0"/>
          </a:p>
        </p:txBody>
      </p:sp>
      <p:sp>
        <p:nvSpPr>
          <p:cNvPr id="55" name="Text 53"/>
          <p:cNvSpPr/>
          <p:nvPr/>
        </p:nvSpPr>
        <p:spPr>
          <a:xfrm>
            <a:off x="6516000" y="598860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6</a:t>
            </a:r>
            <a:endParaRPr lang="en-US" sz="750" dirty="0"/>
          </a:p>
        </p:txBody>
      </p:sp>
      <p:sp>
        <p:nvSpPr>
          <p:cNvPr id="56" name="Text 54"/>
          <p:cNvSpPr/>
          <p:nvPr/>
        </p:nvSpPr>
        <p:spPr>
          <a:xfrm>
            <a:off x="972000" y="6219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25  </a:t>
            </a:r>
            <a:r>
              <a:rPr lang="en-US" sz="740" dirty="0">
                <a:solidFill>
                  <a:srgbClr val="FBF8F1"/>
                </a:solidFill>
                <a:latin typeface="IBM Plex Sans" pitchFamily="34" charset="0"/>
                <a:ea typeface="IBM Plex Sans" pitchFamily="34" charset="-122"/>
                <a:cs typeface="IBM Plex Sans" pitchFamily="34" charset="-120"/>
              </a:rPr>
              <a:t>La Passion des Terroirs</a:t>
            </a:r>
            <a:r>
              <a:rPr lang="en-US" sz="740" b="1" dirty="0">
                <a:solidFill>
                  <a:srgbClr val="FBF8F1"/>
                </a:solidFill>
                <a:latin typeface="IBM Plex Sans" pitchFamily="34" charset="0"/>
                <a:ea typeface="IBM Plex Sans" pitchFamily="34" charset="-122"/>
                <a:cs typeface="IBM Plex Sans" pitchFamily="34" charset="-120"/>
              </a:rPr>
              <a:t>   44</a:t>
            </a:r>
            <a:endParaRPr lang="en-US" sz="740" dirty="0"/>
          </a:p>
        </p:txBody>
      </p:sp>
      <p:sp>
        <p:nvSpPr>
          <p:cNvPr id="57" name="Text 55"/>
          <p:cNvSpPr/>
          <p:nvPr/>
        </p:nvSpPr>
        <p:spPr>
          <a:xfrm>
            <a:off x="972000" y="6348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26  </a:t>
            </a:r>
            <a:r>
              <a:rPr lang="en-US" sz="740" dirty="0">
                <a:solidFill>
                  <a:srgbClr val="FBF8F1"/>
                </a:solidFill>
                <a:latin typeface="IBM Plex Sans" pitchFamily="34" charset="0"/>
                <a:ea typeface="IBM Plex Sans" pitchFamily="34" charset="-122"/>
                <a:cs typeface="IBM Plex Sans" pitchFamily="34" charset="-120"/>
              </a:rPr>
              <a:t>Château la Gorce</a:t>
            </a:r>
            <a:r>
              <a:rPr lang="en-US" sz="740" b="1" dirty="0">
                <a:solidFill>
                  <a:srgbClr val="FBF8F1"/>
                </a:solidFill>
                <a:latin typeface="IBM Plex Sans" pitchFamily="34" charset="0"/>
                <a:ea typeface="IBM Plex Sans" pitchFamily="34" charset="-122"/>
                <a:cs typeface="IBM Plex Sans" pitchFamily="34" charset="-120"/>
              </a:rPr>
              <a:t>   47</a:t>
            </a:r>
            <a:endParaRPr lang="en-US" sz="740" dirty="0"/>
          </a:p>
        </p:txBody>
      </p:sp>
      <p:sp>
        <p:nvSpPr>
          <p:cNvPr id="58" name="Text 56"/>
          <p:cNvSpPr/>
          <p:nvPr/>
        </p:nvSpPr>
        <p:spPr>
          <a:xfrm>
            <a:off x="2916000" y="6219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27  </a:t>
            </a:r>
            <a:r>
              <a:rPr lang="en-US" sz="740" dirty="0">
                <a:solidFill>
                  <a:srgbClr val="FBF8F1"/>
                </a:solidFill>
                <a:latin typeface="IBM Plex Sans" pitchFamily="34" charset="0"/>
                <a:ea typeface="IBM Plex Sans" pitchFamily="34" charset="-122"/>
                <a:cs typeface="IBM Plex Sans" pitchFamily="34" charset="-120"/>
              </a:rPr>
              <a:t>Château Falfas</a:t>
            </a:r>
            <a:r>
              <a:rPr lang="en-US" sz="740" b="1" dirty="0">
                <a:solidFill>
                  <a:srgbClr val="FBF8F1"/>
                </a:solidFill>
                <a:latin typeface="IBM Plex Sans" pitchFamily="34" charset="0"/>
                <a:ea typeface="IBM Plex Sans" pitchFamily="34" charset="-122"/>
                <a:cs typeface="IBM Plex Sans" pitchFamily="34" charset="-120"/>
              </a:rPr>
              <a:t>   49</a:t>
            </a:r>
            <a:endParaRPr lang="en-US" sz="740" dirty="0"/>
          </a:p>
        </p:txBody>
      </p:sp>
      <p:sp>
        <p:nvSpPr>
          <p:cNvPr id="59" name="Text 57"/>
          <p:cNvSpPr/>
          <p:nvPr/>
        </p:nvSpPr>
        <p:spPr>
          <a:xfrm>
            <a:off x="2916000" y="6348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28  </a:t>
            </a:r>
            <a:r>
              <a:rPr lang="en-US" sz="740" dirty="0">
                <a:solidFill>
                  <a:srgbClr val="FBF8F1"/>
                </a:solidFill>
                <a:latin typeface="IBM Plex Sans" pitchFamily="34" charset="0"/>
                <a:ea typeface="IBM Plex Sans" pitchFamily="34" charset="-122"/>
                <a:cs typeface="IBM Plex Sans" pitchFamily="34" charset="-120"/>
              </a:rPr>
              <a:t>Château Pré la Lande</a:t>
            </a:r>
            <a:r>
              <a:rPr lang="en-US" sz="740" b="1" dirty="0">
                <a:solidFill>
                  <a:srgbClr val="FBF8F1"/>
                </a:solidFill>
                <a:latin typeface="IBM Plex Sans" pitchFamily="34" charset="0"/>
                <a:ea typeface="IBM Plex Sans" pitchFamily="34" charset="-122"/>
                <a:cs typeface="IBM Plex Sans" pitchFamily="34" charset="-120"/>
              </a:rPr>
              <a:t>   50</a:t>
            </a:r>
            <a:endParaRPr lang="en-US" sz="740" dirty="0"/>
          </a:p>
        </p:txBody>
      </p:sp>
      <p:sp>
        <p:nvSpPr>
          <p:cNvPr id="60" name="Text 58"/>
          <p:cNvSpPr/>
          <p:nvPr/>
        </p:nvSpPr>
        <p:spPr>
          <a:xfrm>
            <a:off x="4860000" y="6219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29  </a:t>
            </a:r>
            <a:r>
              <a:rPr lang="en-US" sz="740" dirty="0">
                <a:solidFill>
                  <a:srgbClr val="FBF8F1"/>
                </a:solidFill>
                <a:latin typeface="IBM Plex Sans" pitchFamily="34" charset="0"/>
                <a:ea typeface="IBM Plex Sans" pitchFamily="34" charset="-122"/>
                <a:cs typeface="IBM Plex Sans" pitchFamily="34" charset="-120"/>
              </a:rPr>
              <a:t>Château Balac</a:t>
            </a:r>
            <a:r>
              <a:rPr lang="en-US" sz="740" b="1" dirty="0">
                <a:solidFill>
                  <a:srgbClr val="FBF8F1"/>
                </a:solidFill>
                <a:latin typeface="IBM Plex Sans" pitchFamily="34" charset="0"/>
                <a:ea typeface="IBM Plex Sans" pitchFamily="34" charset="-122"/>
                <a:cs typeface="IBM Plex Sans" pitchFamily="34" charset="-120"/>
              </a:rPr>
              <a:t>   51</a:t>
            </a:r>
            <a:endParaRPr lang="en-US" sz="740" dirty="0"/>
          </a:p>
        </p:txBody>
      </p:sp>
      <p:sp>
        <p:nvSpPr>
          <p:cNvPr id="61" name="Text 59"/>
          <p:cNvSpPr/>
          <p:nvPr/>
        </p:nvSpPr>
        <p:spPr>
          <a:xfrm>
            <a:off x="4860000" y="6348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30  </a:t>
            </a:r>
            <a:r>
              <a:rPr lang="en-US" sz="740" dirty="0">
                <a:solidFill>
                  <a:srgbClr val="FBF8F1"/>
                </a:solidFill>
                <a:latin typeface="IBM Plex Sans" pitchFamily="34" charset="0"/>
                <a:ea typeface="IBM Plex Sans" pitchFamily="34" charset="-122"/>
                <a:cs typeface="IBM Plex Sans" pitchFamily="34" charset="-120"/>
              </a:rPr>
              <a:t>Château l’Escarderie</a:t>
            </a:r>
            <a:r>
              <a:rPr lang="en-US" sz="740" b="1" dirty="0">
                <a:solidFill>
                  <a:srgbClr val="FBF8F1"/>
                </a:solidFill>
                <a:latin typeface="IBM Plex Sans" pitchFamily="34" charset="0"/>
                <a:ea typeface="IBM Plex Sans" pitchFamily="34" charset="-122"/>
                <a:cs typeface="IBM Plex Sans" pitchFamily="34" charset="-120"/>
              </a:rPr>
              <a:t>   52</a:t>
            </a:r>
            <a:endParaRPr lang="en-US" sz="740" dirty="0"/>
          </a:p>
        </p:txBody>
      </p:sp>
      <p:sp>
        <p:nvSpPr>
          <p:cNvPr id="62" name="Shape 60"/>
          <p:cNvSpPr/>
          <p:nvPr/>
        </p:nvSpPr>
        <p:spPr>
          <a:xfrm>
            <a:off x="828000" y="6939450"/>
            <a:ext cx="6120000" cy="418275"/>
          </a:xfrm>
          <a:prstGeom prst="roundRect">
            <a:avLst>
              <a:gd name="adj" fmla="val 3279"/>
            </a:avLst>
          </a:prstGeom>
          <a:solidFill>
            <a:srgbClr val="46606E"/>
          </a:solidFill>
          <a:ln w="12700">
            <a:solidFill>
              <a:srgbClr val="46606E"/>
            </a:solidFill>
            <a:prstDash val="solid"/>
          </a:ln>
        </p:spPr>
      </p:sp>
      <p:sp>
        <p:nvSpPr>
          <p:cNvPr id="63" name="Text 61"/>
          <p:cNvSpPr/>
          <p:nvPr/>
        </p:nvSpPr>
        <p:spPr>
          <a:xfrm>
            <a:off x="936000" y="699705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Provence</a:t>
            </a:r>
            <a:endParaRPr lang="en-US" sz="1150" dirty="0"/>
          </a:p>
        </p:txBody>
      </p:sp>
      <p:sp>
        <p:nvSpPr>
          <p:cNvPr id="64" name="Text 62"/>
          <p:cNvSpPr/>
          <p:nvPr/>
        </p:nvSpPr>
        <p:spPr>
          <a:xfrm>
            <a:off x="2124000" y="699705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la Provence Verte</a:t>
            </a:r>
            <a:endParaRPr lang="en-US" sz="700" dirty="0"/>
          </a:p>
        </p:txBody>
      </p:sp>
      <p:sp>
        <p:nvSpPr>
          <p:cNvPr id="65" name="Text 63"/>
          <p:cNvSpPr/>
          <p:nvPr/>
        </p:nvSpPr>
        <p:spPr>
          <a:xfrm>
            <a:off x="6516000" y="699705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1</a:t>
            </a:r>
            <a:endParaRPr lang="en-US" sz="750" dirty="0"/>
          </a:p>
        </p:txBody>
      </p:sp>
      <p:sp>
        <p:nvSpPr>
          <p:cNvPr id="66" name="Text 64"/>
          <p:cNvSpPr/>
          <p:nvPr/>
        </p:nvSpPr>
        <p:spPr>
          <a:xfrm>
            <a:off x="972000" y="7227450"/>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31  </a:t>
            </a:r>
            <a:r>
              <a:rPr lang="en-US" sz="740" dirty="0">
                <a:solidFill>
                  <a:srgbClr val="FBF8F1"/>
                </a:solidFill>
                <a:latin typeface="IBM Plex Sans" pitchFamily="34" charset="0"/>
                <a:ea typeface="IBM Plex Sans" pitchFamily="34" charset="-122"/>
                <a:cs typeface="IBM Plex Sans" pitchFamily="34" charset="-120"/>
              </a:rPr>
              <a:t>Bastide de Blacailloux</a:t>
            </a:r>
            <a:r>
              <a:rPr lang="en-US" sz="740" b="1" dirty="0">
                <a:solidFill>
                  <a:srgbClr val="FBF8F1"/>
                </a:solidFill>
                <a:latin typeface="IBM Plex Sans" pitchFamily="34" charset="0"/>
                <a:ea typeface="IBM Plex Sans" pitchFamily="34" charset="-122"/>
                <a:cs typeface="IBM Plex Sans" pitchFamily="34" charset="-120"/>
              </a:rPr>
              <a:t>   54</a:t>
            </a:r>
            <a:endParaRPr lang="en-US" sz="740" dirty="0"/>
          </a:p>
        </p:txBody>
      </p:sp>
      <p:sp>
        <p:nvSpPr>
          <p:cNvPr id="67" name="Shape 65"/>
          <p:cNvSpPr/>
          <p:nvPr/>
        </p:nvSpPr>
        <p:spPr>
          <a:xfrm>
            <a:off x="828000" y="7400925"/>
            <a:ext cx="6120000" cy="804375"/>
          </a:xfrm>
          <a:prstGeom prst="roundRect">
            <a:avLst>
              <a:gd name="adj" fmla="val 1705"/>
            </a:avLst>
          </a:prstGeom>
          <a:solidFill>
            <a:srgbClr val="3C5B47"/>
          </a:solidFill>
          <a:ln w="12700">
            <a:solidFill>
              <a:srgbClr val="3C5B47"/>
            </a:solidFill>
            <a:prstDash val="solid"/>
          </a:ln>
        </p:spPr>
      </p:sp>
      <p:sp>
        <p:nvSpPr>
          <p:cNvPr id="68" name="Text 66"/>
          <p:cNvSpPr/>
          <p:nvPr/>
        </p:nvSpPr>
        <p:spPr>
          <a:xfrm>
            <a:off x="936000" y="745852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Languedoc</a:t>
            </a:r>
            <a:endParaRPr lang="en-US" sz="1150" dirty="0"/>
          </a:p>
        </p:txBody>
      </p:sp>
      <p:sp>
        <p:nvSpPr>
          <p:cNvPr id="69" name="Text 67"/>
          <p:cNvSpPr/>
          <p:nvPr/>
        </p:nvSpPr>
        <p:spPr>
          <a:xfrm>
            <a:off x="2124000" y="745852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terrasses et garrigue</a:t>
            </a:r>
            <a:endParaRPr lang="en-US" sz="700" dirty="0"/>
          </a:p>
        </p:txBody>
      </p:sp>
      <p:sp>
        <p:nvSpPr>
          <p:cNvPr id="70" name="Text 68"/>
          <p:cNvSpPr/>
          <p:nvPr/>
        </p:nvSpPr>
        <p:spPr>
          <a:xfrm>
            <a:off x="6516000" y="745852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5</a:t>
            </a:r>
            <a:endParaRPr lang="en-US" sz="750" dirty="0"/>
          </a:p>
        </p:txBody>
      </p:sp>
      <p:sp>
        <p:nvSpPr>
          <p:cNvPr id="71" name="Text 69"/>
          <p:cNvSpPr/>
          <p:nvPr/>
        </p:nvSpPr>
        <p:spPr>
          <a:xfrm>
            <a:off x="972000" y="76889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32  </a:t>
            </a:r>
            <a:r>
              <a:rPr lang="en-US" sz="740" dirty="0">
                <a:solidFill>
                  <a:srgbClr val="FBF8F1"/>
                </a:solidFill>
                <a:latin typeface="IBM Plex Sans" pitchFamily="34" charset="0"/>
                <a:ea typeface="IBM Plex Sans" pitchFamily="34" charset="-122"/>
                <a:cs typeface="IBM Plex Sans" pitchFamily="34" charset="-120"/>
              </a:rPr>
              <a:t>Famille d’Exea</a:t>
            </a:r>
            <a:r>
              <a:rPr lang="en-US" sz="740" b="1" dirty="0">
                <a:solidFill>
                  <a:srgbClr val="FBF8F1"/>
                </a:solidFill>
                <a:latin typeface="IBM Plex Sans" pitchFamily="34" charset="0"/>
                <a:ea typeface="IBM Plex Sans" pitchFamily="34" charset="-122"/>
                <a:cs typeface="IBM Plex Sans" pitchFamily="34" charset="-120"/>
              </a:rPr>
              <a:t>   56</a:t>
            </a:r>
            <a:endParaRPr lang="en-US" sz="740" dirty="0"/>
          </a:p>
        </p:txBody>
      </p:sp>
      <p:sp>
        <p:nvSpPr>
          <p:cNvPr id="72" name="Text 70"/>
          <p:cNvSpPr/>
          <p:nvPr/>
        </p:nvSpPr>
        <p:spPr>
          <a:xfrm>
            <a:off x="972000" y="78185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33  </a:t>
            </a:r>
            <a:r>
              <a:rPr lang="en-US" sz="740" dirty="0">
                <a:solidFill>
                  <a:srgbClr val="FBF8F1"/>
                </a:solidFill>
                <a:latin typeface="IBM Plex Sans" pitchFamily="34" charset="0"/>
                <a:ea typeface="IBM Plex Sans" pitchFamily="34" charset="-122"/>
                <a:cs typeface="IBM Plex Sans" pitchFamily="34" charset="-120"/>
              </a:rPr>
              <a:t>Famille d’Exea — Jus de Cépages</a:t>
            </a:r>
            <a:r>
              <a:rPr lang="en-US" sz="740" b="1" dirty="0">
                <a:solidFill>
                  <a:srgbClr val="FBF8F1"/>
                </a:solidFill>
                <a:latin typeface="IBM Plex Sans" pitchFamily="34" charset="0"/>
                <a:ea typeface="IBM Plex Sans" pitchFamily="34" charset="-122"/>
                <a:cs typeface="IBM Plex Sans" pitchFamily="34" charset="-120"/>
              </a:rPr>
              <a:t>   58</a:t>
            </a:r>
            <a:endParaRPr lang="en-US" sz="740" dirty="0"/>
          </a:p>
        </p:txBody>
      </p:sp>
      <p:sp>
        <p:nvSpPr>
          <p:cNvPr id="73" name="Text 71"/>
          <p:cNvSpPr/>
          <p:nvPr/>
        </p:nvSpPr>
        <p:spPr>
          <a:xfrm>
            <a:off x="2916000" y="76889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34  </a:t>
            </a:r>
            <a:r>
              <a:rPr lang="en-US" sz="740" dirty="0">
                <a:solidFill>
                  <a:srgbClr val="FBF8F1"/>
                </a:solidFill>
                <a:latin typeface="IBM Plex Sans" pitchFamily="34" charset="0"/>
                <a:ea typeface="IBM Plex Sans" pitchFamily="34" charset="-122"/>
                <a:cs typeface="IBM Plex Sans" pitchFamily="34" charset="-120"/>
              </a:rPr>
              <a:t>Château de Gragnos</a:t>
            </a:r>
            <a:r>
              <a:rPr lang="en-US" sz="740" b="1" dirty="0">
                <a:solidFill>
                  <a:srgbClr val="FBF8F1"/>
                </a:solidFill>
                <a:latin typeface="IBM Plex Sans" pitchFamily="34" charset="0"/>
                <a:ea typeface="IBM Plex Sans" pitchFamily="34" charset="-122"/>
                <a:cs typeface="IBM Plex Sans" pitchFamily="34" charset="-120"/>
              </a:rPr>
              <a:t>   59</a:t>
            </a:r>
            <a:endParaRPr lang="en-US" sz="740" dirty="0"/>
          </a:p>
        </p:txBody>
      </p:sp>
      <p:sp>
        <p:nvSpPr>
          <p:cNvPr id="74" name="Text 72"/>
          <p:cNvSpPr/>
          <p:nvPr/>
        </p:nvSpPr>
        <p:spPr>
          <a:xfrm>
            <a:off x="2916000" y="78185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35  </a:t>
            </a:r>
            <a:r>
              <a:rPr lang="en-US" sz="740" dirty="0">
                <a:solidFill>
                  <a:srgbClr val="FBF8F1"/>
                </a:solidFill>
                <a:latin typeface="IBM Plex Sans" pitchFamily="34" charset="0"/>
                <a:ea typeface="IBM Plex Sans" pitchFamily="34" charset="-122"/>
                <a:cs typeface="IBM Plex Sans" pitchFamily="34" charset="-120"/>
              </a:rPr>
              <a:t>Domaine Les Lys</a:t>
            </a:r>
            <a:r>
              <a:rPr lang="en-US" sz="740" b="1" dirty="0">
                <a:solidFill>
                  <a:srgbClr val="FBF8F1"/>
                </a:solidFill>
                <a:latin typeface="IBM Plex Sans" pitchFamily="34" charset="0"/>
                <a:ea typeface="IBM Plex Sans" pitchFamily="34" charset="-122"/>
                <a:cs typeface="IBM Plex Sans" pitchFamily="34" charset="-120"/>
              </a:rPr>
              <a:t>   60</a:t>
            </a:r>
            <a:endParaRPr lang="en-US" sz="740" dirty="0"/>
          </a:p>
        </p:txBody>
      </p:sp>
      <p:sp>
        <p:nvSpPr>
          <p:cNvPr id="75" name="Text 73"/>
          <p:cNvSpPr/>
          <p:nvPr/>
        </p:nvSpPr>
        <p:spPr>
          <a:xfrm>
            <a:off x="4860000" y="76889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36  </a:t>
            </a:r>
            <a:r>
              <a:rPr lang="en-US" sz="740" dirty="0">
                <a:solidFill>
                  <a:srgbClr val="FBF8F1"/>
                </a:solidFill>
                <a:latin typeface="IBM Plex Sans" pitchFamily="34" charset="0"/>
                <a:ea typeface="IBM Plex Sans" pitchFamily="34" charset="-122"/>
                <a:cs typeface="IBM Plex Sans" pitchFamily="34" charset="-120"/>
              </a:rPr>
              <a:t>Prieuré Sainte-Marie d’Albas</a:t>
            </a:r>
            <a:r>
              <a:rPr lang="en-US" sz="740" b="1" dirty="0">
                <a:solidFill>
                  <a:srgbClr val="FBF8F1"/>
                </a:solidFill>
                <a:latin typeface="IBM Plex Sans" pitchFamily="34" charset="0"/>
                <a:ea typeface="IBM Plex Sans" pitchFamily="34" charset="-122"/>
                <a:cs typeface="IBM Plex Sans" pitchFamily="34" charset="-120"/>
              </a:rPr>
              <a:t>   61</a:t>
            </a:r>
            <a:endParaRPr lang="en-US" sz="740" dirty="0"/>
          </a:p>
        </p:txBody>
      </p:sp>
      <p:sp>
        <p:nvSpPr>
          <p:cNvPr id="76" name="Shape 74"/>
          <p:cNvSpPr/>
          <p:nvPr/>
        </p:nvSpPr>
        <p:spPr>
          <a:xfrm>
            <a:off x="828000" y="8248500"/>
            <a:ext cx="6120000" cy="643500"/>
          </a:xfrm>
          <a:prstGeom prst="roundRect">
            <a:avLst>
              <a:gd name="adj" fmla="val 2131"/>
            </a:avLst>
          </a:prstGeom>
          <a:solidFill>
            <a:srgbClr val="FBF8F1"/>
          </a:solidFill>
          <a:ln w="12700">
            <a:solidFill>
              <a:srgbClr val="FBF8F1"/>
            </a:solidFill>
            <a:prstDash val="solid"/>
          </a:ln>
        </p:spPr>
      </p:sp>
      <p:sp>
        <p:nvSpPr>
          <p:cNvPr id="77" name="Text 75"/>
          <p:cNvSpPr/>
          <p:nvPr/>
        </p:nvSpPr>
        <p:spPr>
          <a:xfrm>
            <a:off x="936000" y="8306100"/>
            <a:ext cx="1800000" cy="216000"/>
          </a:xfrm>
          <a:prstGeom prst="rect">
            <a:avLst/>
          </a:prstGeom>
          <a:noFill/>
          <a:ln/>
        </p:spPr>
        <p:txBody>
          <a:bodyPr wrap="square" lIns="0" tIns="0" rIns="0" bIns="0" rtlCol="0" anchor="ctr"/>
          <a:lstStyle/>
          <a:p>
            <a:pPr indent="0" marL="0">
              <a:buNone/>
            </a:pPr>
            <a:r>
              <a:rPr lang="en-US" sz="1150" dirty="0">
                <a:solidFill>
                  <a:srgbClr val="46606E"/>
                </a:solidFill>
                <a:latin typeface="Young Serif" pitchFamily="34" charset="0"/>
                <a:ea typeface="Young Serif" pitchFamily="34" charset="-122"/>
                <a:cs typeface="Young Serif" pitchFamily="34" charset="-120"/>
              </a:rPr>
              <a:t>Champagne</a:t>
            </a:r>
            <a:endParaRPr lang="en-US" sz="1150" dirty="0"/>
          </a:p>
        </p:txBody>
      </p:sp>
      <p:sp>
        <p:nvSpPr>
          <p:cNvPr id="78" name="Text 76"/>
          <p:cNvSpPr/>
          <p:nvPr/>
        </p:nvSpPr>
        <p:spPr>
          <a:xfrm>
            <a:off x="2124000" y="8306100"/>
            <a:ext cx="2520000" cy="216000"/>
          </a:xfrm>
          <a:prstGeom prst="rect">
            <a:avLst/>
          </a:prstGeom>
          <a:noFill/>
          <a:ln/>
        </p:spPr>
        <p:txBody>
          <a:bodyPr wrap="square" lIns="0" tIns="0" rIns="0" bIns="0" rtlCol="0" anchor="ctr"/>
          <a:lstStyle/>
          <a:p>
            <a:pPr indent="0" marL="0">
              <a:buNone/>
            </a:pPr>
            <a:r>
              <a:rPr lang="en-US" sz="700" i="1" dirty="0">
                <a:solidFill>
                  <a:srgbClr val="46606E">
                    <a:alpha val="82000"/>
                  </a:srgbClr>
                </a:solidFill>
                <a:latin typeface="Spectral" pitchFamily="34" charset="0"/>
                <a:ea typeface="Spectral" pitchFamily="34" charset="-122"/>
                <a:cs typeface="Spectral" pitchFamily="34" charset="-120"/>
              </a:rPr>
              <a:t>la craie</a:t>
            </a:r>
            <a:endParaRPr lang="en-US" sz="700" dirty="0"/>
          </a:p>
        </p:txBody>
      </p:sp>
      <p:sp>
        <p:nvSpPr>
          <p:cNvPr id="79" name="Text 77"/>
          <p:cNvSpPr/>
          <p:nvPr/>
        </p:nvSpPr>
        <p:spPr>
          <a:xfrm>
            <a:off x="6516000" y="8306100"/>
            <a:ext cx="324000" cy="216000"/>
          </a:xfrm>
          <a:prstGeom prst="rect">
            <a:avLst/>
          </a:prstGeom>
          <a:noFill/>
          <a:ln/>
        </p:spPr>
        <p:txBody>
          <a:bodyPr wrap="square" lIns="0" tIns="0" rIns="0" bIns="0" rtlCol="0" anchor="ctr"/>
          <a:lstStyle/>
          <a:p>
            <a:pPr algn="ctr" indent="0" marL="0">
              <a:buNone/>
            </a:pPr>
            <a:r>
              <a:rPr lang="en-US" sz="750" b="1" dirty="0">
                <a:solidFill>
                  <a:srgbClr val="46606E"/>
                </a:solidFill>
                <a:latin typeface="IBM Plex Sans" pitchFamily="34" charset="0"/>
                <a:ea typeface="IBM Plex Sans" pitchFamily="34" charset="-122"/>
                <a:cs typeface="IBM Plex Sans" pitchFamily="34" charset="-120"/>
              </a:rPr>
              <a:t>4</a:t>
            </a:r>
            <a:endParaRPr lang="en-US" sz="750" dirty="0"/>
          </a:p>
        </p:txBody>
      </p:sp>
      <p:sp>
        <p:nvSpPr>
          <p:cNvPr id="80" name="Text 78"/>
          <p:cNvSpPr/>
          <p:nvPr/>
        </p:nvSpPr>
        <p:spPr>
          <a:xfrm>
            <a:off x="972000" y="85365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37  </a:t>
            </a:r>
            <a:r>
              <a:rPr lang="en-US" sz="740" dirty="0">
                <a:solidFill>
                  <a:srgbClr val="46606E"/>
                </a:solidFill>
                <a:latin typeface="IBM Plex Sans" pitchFamily="34" charset="0"/>
                <a:ea typeface="IBM Plex Sans" pitchFamily="34" charset="-122"/>
                <a:cs typeface="IBM Plex Sans" pitchFamily="34" charset="-120"/>
              </a:rPr>
              <a:t>Champagne Dekeyne</a:t>
            </a:r>
            <a:r>
              <a:rPr lang="en-US" sz="740" b="1" dirty="0">
                <a:solidFill>
                  <a:srgbClr val="46606E"/>
                </a:solidFill>
                <a:latin typeface="IBM Plex Sans" pitchFamily="34" charset="0"/>
                <a:ea typeface="IBM Plex Sans" pitchFamily="34" charset="-122"/>
                <a:cs typeface="IBM Plex Sans" pitchFamily="34" charset="-120"/>
              </a:rPr>
              <a:t>   64</a:t>
            </a:r>
            <a:endParaRPr lang="en-US" sz="740" dirty="0"/>
          </a:p>
        </p:txBody>
      </p:sp>
      <p:sp>
        <p:nvSpPr>
          <p:cNvPr id="81" name="Text 79"/>
          <p:cNvSpPr/>
          <p:nvPr/>
        </p:nvSpPr>
        <p:spPr>
          <a:xfrm>
            <a:off x="972000" y="86661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38  </a:t>
            </a:r>
            <a:r>
              <a:rPr lang="en-US" sz="740" dirty="0">
                <a:solidFill>
                  <a:srgbClr val="46606E"/>
                </a:solidFill>
                <a:latin typeface="IBM Plex Sans" pitchFamily="34" charset="0"/>
                <a:ea typeface="IBM Plex Sans" pitchFamily="34" charset="-122"/>
                <a:cs typeface="IBM Plex Sans" pitchFamily="34" charset="-120"/>
              </a:rPr>
              <a:t>Champagne Denis Frézier</a:t>
            </a:r>
            <a:r>
              <a:rPr lang="en-US" sz="740" b="1" dirty="0">
                <a:solidFill>
                  <a:srgbClr val="46606E"/>
                </a:solidFill>
                <a:latin typeface="IBM Plex Sans" pitchFamily="34" charset="0"/>
                <a:ea typeface="IBM Plex Sans" pitchFamily="34" charset="-122"/>
                <a:cs typeface="IBM Plex Sans" pitchFamily="34" charset="-120"/>
              </a:rPr>
              <a:t>   65</a:t>
            </a:r>
            <a:endParaRPr lang="en-US" sz="740" dirty="0"/>
          </a:p>
        </p:txBody>
      </p:sp>
      <p:sp>
        <p:nvSpPr>
          <p:cNvPr id="82" name="Text 80"/>
          <p:cNvSpPr/>
          <p:nvPr/>
        </p:nvSpPr>
        <p:spPr>
          <a:xfrm>
            <a:off x="3888000" y="85365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39  </a:t>
            </a:r>
            <a:r>
              <a:rPr lang="en-US" sz="740" dirty="0">
                <a:solidFill>
                  <a:srgbClr val="46606E"/>
                </a:solidFill>
                <a:latin typeface="IBM Plex Sans" pitchFamily="34" charset="0"/>
                <a:ea typeface="IBM Plex Sans" pitchFamily="34" charset="-122"/>
                <a:cs typeface="IBM Plex Sans" pitchFamily="34" charset="-120"/>
              </a:rPr>
              <a:t>Champagne Solemme</a:t>
            </a:r>
            <a:r>
              <a:rPr lang="en-US" sz="740" b="1" dirty="0">
                <a:solidFill>
                  <a:srgbClr val="46606E"/>
                </a:solidFill>
                <a:latin typeface="IBM Plex Sans" pitchFamily="34" charset="0"/>
                <a:ea typeface="IBM Plex Sans" pitchFamily="34" charset="-122"/>
                <a:cs typeface="IBM Plex Sans" pitchFamily="34" charset="-120"/>
              </a:rPr>
              <a:t>   66</a:t>
            </a:r>
            <a:endParaRPr lang="en-US" sz="740" dirty="0"/>
          </a:p>
        </p:txBody>
      </p:sp>
      <p:sp>
        <p:nvSpPr>
          <p:cNvPr id="83" name="Text 81"/>
          <p:cNvSpPr/>
          <p:nvPr/>
        </p:nvSpPr>
        <p:spPr>
          <a:xfrm>
            <a:off x="3888000" y="86661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40  </a:t>
            </a:r>
            <a:r>
              <a:rPr lang="en-US" sz="740" dirty="0">
                <a:solidFill>
                  <a:srgbClr val="46606E"/>
                </a:solidFill>
                <a:latin typeface="IBM Plex Sans" pitchFamily="34" charset="0"/>
                <a:ea typeface="IBM Plex Sans" pitchFamily="34" charset="-122"/>
                <a:cs typeface="IBM Plex Sans" pitchFamily="34" charset="-120"/>
              </a:rPr>
              <a:t>Vazart-Coquart &amp; Fils</a:t>
            </a:r>
            <a:r>
              <a:rPr lang="en-US" sz="740" b="1" dirty="0">
                <a:solidFill>
                  <a:srgbClr val="46606E"/>
                </a:solidFill>
                <a:latin typeface="IBM Plex Sans" pitchFamily="34" charset="0"/>
                <a:ea typeface="IBM Plex Sans" pitchFamily="34" charset="-122"/>
                <a:cs typeface="IBM Plex Sans" pitchFamily="34" charset="-120"/>
              </a:rPr>
              <a:t>   67</a:t>
            </a:r>
            <a:endParaRPr lang="en-US" sz="740" dirty="0"/>
          </a:p>
        </p:txBody>
      </p:sp>
      <p:sp>
        <p:nvSpPr>
          <p:cNvPr id="84" name="Text 8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85" name="Text 8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quatre alliances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QUE L'ON PEUT MÉLANGER ENTRE DOMAINES</a:t>
            </a:r>
            <a:endParaRPr lang="en-US" sz="800" dirty="0"/>
          </a:p>
        </p:txBody>
      </p:sp>
      <p:sp>
        <p:nvSpPr>
          <p:cNvPr id="4" name="Text 2"/>
          <p:cNvSpPr/>
          <p:nvPr/>
        </p:nvSpPr>
        <p:spPr>
          <a:xfrm>
            <a:off x="612000" y="1296000"/>
            <a:ext cx="6120000" cy="432000"/>
          </a:xfrm>
          <a:prstGeom prst="rect">
            <a:avLst/>
          </a:prstGeom>
          <a:noFill/>
          <a:ln/>
        </p:spPr>
        <p:txBody>
          <a:bodyPr wrap="square" lIns="0" tIns="0" rIns="0" bIns="0" rtlCol="0" anchor="ctr"/>
          <a:lstStyle/>
          <a:p>
            <a:pPr indent="0" marL="0">
              <a:buNone/>
            </a:pPr>
            <a:r>
              <a:rPr lang="en-US" sz="950" dirty="0">
                <a:solidFill>
                  <a:srgbClr val="46606E"/>
                </a:solidFill>
                <a:latin typeface="Spectral" pitchFamily="34" charset="0"/>
                <a:ea typeface="Spectral" pitchFamily="34" charset="-122"/>
                <a:cs typeface="Spectral" pitchFamily="34" charset="-120"/>
              </a:rPr>
              <a:t>Partout ailleurs, « Possibilité de panacher » vaut </a:t>
            </a:r>
            <a:r>
              <a:rPr lang="en-US" sz="950" b="1" dirty="0">
                <a:solidFill>
                  <a:srgbClr val="67067C"/>
                </a:solidFill>
                <a:latin typeface="Spectral" pitchFamily="34" charset="0"/>
                <a:ea typeface="Spectral" pitchFamily="34" charset="-122"/>
                <a:cs typeface="Spectral" pitchFamily="34" charset="-120"/>
              </a:rPr>
              <a:t>à l'intérieur d'un domaine</a:t>
            </a:r>
            <a:r>
              <a:rPr lang="en-US" sz="950" dirty="0">
                <a:solidFill>
                  <a:srgbClr val="46606E"/>
                </a:solidFill>
                <a:latin typeface="Spectral" pitchFamily="34" charset="0"/>
                <a:ea typeface="Spectral" pitchFamily="34" charset="-122"/>
                <a:cs typeface="Spectral" pitchFamily="34" charset="-120"/>
              </a:rPr>
              <a:t>. Ces quatre groupes-là se panachent </a:t>
            </a:r>
            <a:r>
              <a:rPr lang="en-US" sz="950" b="1" dirty="0">
                <a:solidFill>
                  <a:srgbClr val="67067C"/>
                </a:solidFill>
                <a:latin typeface="Spectral" pitchFamily="34" charset="0"/>
                <a:ea typeface="Spectral" pitchFamily="34" charset="-122"/>
                <a:cs typeface="Spectral" pitchFamily="34" charset="-120"/>
              </a:rPr>
              <a:t>entre eux</a:t>
            </a:r>
            <a:r>
              <a:rPr lang="en-US" sz="950" dirty="0">
                <a:solidFill>
                  <a:srgbClr val="46606E"/>
                </a:solidFill>
                <a:latin typeface="Spectral" pitchFamily="34" charset="0"/>
                <a:ea typeface="Spectral" pitchFamily="34" charset="-122"/>
                <a:cs typeface="Spectral" pitchFamily="34" charset="-120"/>
              </a:rPr>
              <a:t> : une commande peut mélanger leurs vins pour atteindre un palier.</a:t>
            </a:r>
            <a:endParaRPr lang="en-US" sz="950" dirty="0"/>
          </a:p>
        </p:txBody>
      </p:sp>
      <p:sp>
        <p:nvSpPr>
          <p:cNvPr id="5" name="Shape 3"/>
          <p:cNvSpPr/>
          <p:nvPr/>
        </p:nvSpPr>
        <p:spPr>
          <a:xfrm>
            <a:off x="612000" y="1800000"/>
            <a:ext cx="6120000" cy="720000"/>
          </a:xfrm>
          <a:prstGeom prst="roundRect">
            <a:avLst>
              <a:gd name="adj" fmla="val 1524"/>
            </a:avLst>
          </a:prstGeom>
          <a:solidFill>
            <a:srgbClr val="FBF8F1"/>
          </a:solidFill>
          <a:ln w="15240">
            <a:solidFill>
              <a:srgbClr val="A8515F"/>
            </a:solidFill>
            <a:prstDash val="solid"/>
          </a:ln>
        </p:spPr>
      </p:sp>
      <p:sp>
        <p:nvSpPr>
          <p:cNvPr id="6" name="Text 4"/>
          <p:cNvSpPr/>
          <p:nvPr/>
        </p:nvSpPr>
        <p:spPr>
          <a:xfrm>
            <a:off x="756000" y="1872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Domaine Jean de Villebois et Divin No Low</a:t>
            </a:r>
            <a:endParaRPr lang="en-US" sz="1300" dirty="0"/>
          </a:p>
        </p:txBody>
      </p:sp>
      <p:sp>
        <p:nvSpPr>
          <p:cNvPr id="7" name="Text 5"/>
          <p:cNvSpPr/>
          <p:nvPr/>
        </p:nvSpPr>
        <p:spPr>
          <a:xfrm>
            <a:off x="792000" y="21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0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800" b="1" dirty="0">
                <a:solidFill>
                  <a:srgbClr val="46606E"/>
                </a:solidFill>
                <a:latin typeface="IBM Plex Sans" pitchFamily="34" charset="0"/>
                <a:ea typeface="IBM Plex Sans" pitchFamily="34" charset="-122"/>
                <a:cs typeface="IBM Plex Sans" pitchFamily="34" charset="-120"/>
              </a:rPr>
              <a:t>p. 13</a:t>
            </a:r>
            <a:endParaRPr lang="en-US" sz="800" dirty="0"/>
          </a:p>
        </p:txBody>
      </p:sp>
      <p:sp>
        <p:nvSpPr>
          <p:cNvPr id="8" name="Text 6"/>
          <p:cNvSpPr/>
          <p:nvPr/>
        </p:nvSpPr>
        <p:spPr>
          <a:xfrm>
            <a:off x="3852000" y="21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00" b="1" dirty="0">
                <a:solidFill>
                  <a:srgbClr val="46606E"/>
                </a:solidFill>
                <a:latin typeface="IBM Plex Sans" pitchFamily="34" charset="0"/>
                <a:ea typeface="IBM Plex Sans" pitchFamily="34" charset="-122"/>
                <a:cs typeface="IBM Plex Sans" pitchFamily="34" charset="-120"/>
              </a:rPr>
              <a:t>Divin No Low  </a:t>
            </a:r>
            <a:r>
              <a:rPr lang="en-US" sz="700" dirty="0">
                <a:solidFill>
                  <a:srgbClr val="A8515F"/>
                </a:solidFill>
                <a:latin typeface="IBM Plex Sans" pitchFamily="34" charset="0"/>
                <a:ea typeface="IBM Plex Sans" pitchFamily="34" charset="-122"/>
                <a:cs typeface="IBM Plex Sans" pitchFamily="34" charset="-120"/>
              </a:rPr>
              <a:t>Loire   </a:t>
            </a:r>
            <a:r>
              <a:rPr lang="en-US" sz="800" b="1" dirty="0">
                <a:solidFill>
                  <a:srgbClr val="46606E"/>
                </a:solidFill>
                <a:latin typeface="IBM Plex Sans" pitchFamily="34" charset="0"/>
                <a:ea typeface="IBM Plex Sans" pitchFamily="34" charset="-122"/>
                <a:cs typeface="IBM Plex Sans" pitchFamily="34" charset="-120"/>
              </a:rPr>
              <a:t>p. 15</a:t>
            </a:r>
            <a:endParaRPr lang="en-US" sz="800" dirty="0"/>
          </a:p>
        </p:txBody>
      </p:sp>
      <p:sp>
        <p:nvSpPr>
          <p:cNvPr id="9" name="Shape 7"/>
          <p:cNvSpPr/>
          <p:nvPr/>
        </p:nvSpPr>
        <p:spPr>
          <a:xfrm>
            <a:off x="612000" y="2700000"/>
            <a:ext cx="6120000" cy="972000"/>
          </a:xfrm>
          <a:prstGeom prst="roundRect">
            <a:avLst>
              <a:gd name="adj" fmla="val 1129"/>
            </a:avLst>
          </a:prstGeom>
          <a:solidFill>
            <a:srgbClr val="FBF8F1"/>
          </a:solidFill>
          <a:ln w="15240">
            <a:solidFill>
              <a:srgbClr val="A8515F"/>
            </a:solidFill>
            <a:prstDash val="solid"/>
          </a:ln>
        </p:spPr>
      </p:sp>
      <p:sp>
        <p:nvSpPr>
          <p:cNvPr id="10" name="Text 8"/>
          <p:cNvSpPr/>
          <p:nvPr/>
        </p:nvSpPr>
        <p:spPr>
          <a:xfrm>
            <a:off x="756000" y="2772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Maison André Goichot, Château du Cray et Domaine Les Guignottes</a:t>
            </a:r>
            <a:endParaRPr lang="en-US" sz="1300" dirty="0"/>
          </a:p>
        </p:txBody>
      </p:sp>
      <p:sp>
        <p:nvSpPr>
          <p:cNvPr id="11" name="Text 9"/>
          <p:cNvSpPr/>
          <p:nvPr/>
        </p:nvSpPr>
        <p:spPr>
          <a:xfrm>
            <a:off x="792000" y="30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0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800" b="1" dirty="0">
                <a:solidFill>
                  <a:srgbClr val="46606E"/>
                </a:solidFill>
                <a:latin typeface="IBM Plex Sans" pitchFamily="34" charset="0"/>
                <a:ea typeface="IBM Plex Sans" pitchFamily="34" charset="-122"/>
                <a:cs typeface="IBM Plex Sans" pitchFamily="34" charset="-120"/>
              </a:rPr>
              <a:t>p. 25</a:t>
            </a:r>
            <a:endParaRPr lang="en-US" sz="800" dirty="0"/>
          </a:p>
        </p:txBody>
      </p:sp>
      <p:sp>
        <p:nvSpPr>
          <p:cNvPr id="12" name="Text 10"/>
          <p:cNvSpPr/>
          <p:nvPr/>
        </p:nvSpPr>
        <p:spPr>
          <a:xfrm>
            <a:off x="3852000" y="30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0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800" b="1" dirty="0">
                <a:solidFill>
                  <a:srgbClr val="46606E"/>
                </a:solidFill>
                <a:latin typeface="IBM Plex Sans" pitchFamily="34" charset="0"/>
                <a:ea typeface="IBM Plex Sans" pitchFamily="34" charset="-122"/>
                <a:cs typeface="IBM Plex Sans" pitchFamily="34" charset="-120"/>
              </a:rPr>
              <a:t>p. 27</a:t>
            </a:r>
            <a:endParaRPr lang="en-US" sz="800" dirty="0"/>
          </a:p>
        </p:txBody>
      </p:sp>
      <p:sp>
        <p:nvSpPr>
          <p:cNvPr id="13" name="Text 11"/>
          <p:cNvSpPr/>
          <p:nvPr/>
        </p:nvSpPr>
        <p:spPr>
          <a:xfrm>
            <a:off x="792000" y="3312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0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800" b="1" dirty="0">
                <a:solidFill>
                  <a:srgbClr val="46606E"/>
                </a:solidFill>
                <a:latin typeface="IBM Plex Sans" pitchFamily="34" charset="0"/>
                <a:ea typeface="IBM Plex Sans" pitchFamily="34" charset="-122"/>
                <a:cs typeface="IBM Plex Sans" pitchFamily="34" charset="-120"/>
              </a:rPr>
              <a:t>p. 28</a:t>
            </a:r>
            <a:endParaRPr lang="en-US" sz="800" dirty="0"/>
          </a:p>
        </p:txBody>
      </p:sp>
      <p:sp>
        <p:nvSpPr>
          <p:cNvPr id="14" name="Shape 12"/>
          <p:cNvSpPr/>
          <p:nvPr/>
        </p:nvSpPr>
        <p:spPr>
          <a:xfrm>
            <a:off x="612000" y="3852000"/>
            <a:ext cx="6120000" cy="972000"/>
          </a:xfrm>
          <a:prstGeom prst="roundRect">
            <a:avLst>
              <a:gd name="adj" fmla="val 1129"/>
            </a:avLst>
          </a:prstGeom>
          <a:solidFill>
            <a:srgbClr val="FBF8F1"/>
          </a:solidFill>
          <a:ln w="15240">
            <a:solidFill>
              <a:srgbClr val="A8515F"/>
            </a:solidFill>
            <a:prstDash val="solid"/>
          </a:ln>
        </p:spPr>
      </p:sp>
      <p:sp>
        <p:nvSpPr>
          <p:cNvPr id="15" name="Text 13"/>
          <p:cNvSpPr/>
          <p:nvPr/>
        </p:nvSpPr>
        <p:spPr>
          <a:xfrm>
            <a:off x="756000" y="3924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Les quatre domaines Strasser Radziwill</a:t>
            </a:r>
            <a:endParaRPr lang="en-US" sz="1300" dirty="0"/>
          </a:p>
        </p:txBody>
      </p:sp>
      <p:sp>
        <p:nvSpPr>
          <p:cNvPr id="16" name="Text 14"/>
          <p:cNvSpPr/>
          <p:nvPr/>
        </p:nvSpPr>
        <p:spPr>
          <a:xfrm>
            <a:off x="792000" y="4212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0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800" b="1" dirty="0">
                <a:solidFill>
                  <a:srgbClr val="46606E"/>
                </a:solidFill>
                <a:latin typeface="IBM Plex Sans" pitchFamily="34" charset="0"/>
                <a:ea typeface="IBM Plex Sans" pitchFamily="34" charset="-122"/>
                <a:cs typeface="IBM Plex Sans" pitchFamily="34" charset="-120"/>
              </a:rPr>
              <a:t>p. 31</a:t>
            </a:r>
            <a:endParaRPr lang="en-US" sz="800" dirty="0"/>
          </a:p>
        </p:txBody>
      </p:sp>
      <p:sp>
        <p:nvSpPr>
          <p:cNvPr id="17" name="Text 15"/>
          <p:cNvSpPr/>
          <p:nvPr/>
        </p:nvSpPr>
        <p:spPr>
          <a:xfrm>
            <a:off x="3852000" y="4212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0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800" b="1" dirty="0">
                <a:solidFill>
                  <a:srgbClr val="46606E"/>
                </a:solidFill>
                <a:latin typeface="IBM Plex Sans" pitchFamily="34" charset="0"/>
                <a:ea typeface="IBM Plex Sans" pitchFamily="34" charset="-122"/>
                <a:cs typeface="IBM Plex Sans" pitchFamily="34" charset="-120"/>
              </a:rPr>
              <a:t>p. 32</a:t>
            </a:r>
            <a:endParaRPr lang="en-US" sz="800" dirty="0"/>
          </a:p>
        </p:txBody>
      </p:sp>
      <p:sp>
        <p:nvSpPr>
          <p:cNvPr id="18" name="Text 16"/>
          <p:cNvSpPr/>
          <p:nvPr/>
        </p:nvSpPr>
        <p:spPr>
          <a:xfrm>
            <a:off x="792000" y="44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0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800" b="1" dirty="0">
                <a:solidFill>
                  <a:srgbClr val="46606E"/>
                </a:solidFill>
                <a:latin typeface="IBM Plex Sans" pitchFamily="34" charset="0"/>
                <a:ea typeface="IBM Plex Sans" pitchFamily="34" charset="-122"/>
                <a:cs typeface="IBM Plex Sans" pitchFamily="34" charset="-120"/>
              </a:rPr>
              <a:t>p. 33</a:t>
            </a:r>
            <a:endParaRPr lang="en-US" sz="800" dirty="0"/>
          </a:p>
        </p:txBody>
      </p:sp>
      <p:sp>
        <p:nvSpPr>
          <p:cNvPr id="19" name="Text 17"/>
          <p:cNvSpPr/>
          <p:nvPr/>
        </p:nvSpPr>
        <p:spPr>
          <a:xfrm>
            <a:off x="3852000" y="44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0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800" b="1" dirty="0">
                <a:solidFill>
                  <a:srgbClr val="46606E"/>
                </a:solidFill>
                <a:latin typeface="IBM Plex Sans" pitchFamily="34" charset="0"/>
                <a:ea typeface="IBM Plex Sans" pitchFamily="34" charset="-122"/>
                <a:cs typeface="IBM Plex Sans" pitchFamily="34" charset="-120"/>
              </a:rPr>
              <a:t>p. 34</a:t>
            </a:r>
            <a:endParaRPr lang="en-US" sz="800" dirty="0"/>
          </a:p>
        </p:txBody>
      </p:sp>
      <p:sp>
        <p:nvSpPr>
          <p:cNvPr id="20" name="Shape 18"/>
          <p:cNvSpPr/>
          <p:nvPr/>
        </p:nvSpPr>
        <p:spPr>
          <a:xfrm>
            <a:off x="612000" y="5004000"/>
            <a:ext cx="6120000" cy="720000"/>
          </a:xfrm>
          <a:prstGeom prst="roundRect">
            <a:avLst>
              <a:gd name="adj" fmla="val 1524"/>
            </a:avLst>
          </a:prstGeom>
          <a:solidFill>
            <a:srgbClr val="FBF8F1"/>
          </a:solidFill>
          <a:ln w="15240">
            <a:solidFill>
              <a:srgbClr val="A8515F"/>
            </a:solidFill>
            <a:prstDash val="solid"/>
          </a:ln>
        </p:spPr>
      </p:sp>
      <p:sp>
        <p:nvSpPr>
          <p:cNvPr id="21" name="Text 19"/>
          <p:cNvSpPr/>
          <p:nvPr/>
        </p:nvSpPr>
        <p:spPr>
          <a:xfrm>
            <a:off x="756000" y="5076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Famille d’Exea : les vins et les jus de cépages</a:t>
            </a:r>
            <a:endParaRPr lang="en-US" sz="1300" dirty="0"/>
          </a:p>
        </p:txBody>
      </p:sp>
      <p:sp>
        <p:nvSpPr>
          <p:cNvPr id="22" name="Text 20"/>
          <p:cNvSpPr/>
          <p:nvPr/>
        </p:nvSpPr>
        <p:spPr>
          <a:xfrm>
            <a:off x="792000" y="53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32  </a:t>
            </a:r>
            <a:r>
              <a:rPr lang="en-US" sz="80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800" b="1" dirty="0">
                <a:solidFill>
                  <a:srgbClr val="46606E"/>
                </a:solidFill>
                <a:latin typeface="IBM Plex Sans" pitchFamily="34" charset="0"/>
                <a:ea typeface="IBM Plex Sans" pitchFamily="34" charset="-122"/>
                <a:cs typeface="IBM Plex Sans" pitchFamily="34" charset="-120"/>
              </a:rPr>
              <a:t>p. 56</a:t>
            </a:r>
            <a:endParaRPr lang="en-US" sz="800" dirty="0"/>
          </a:p>
        </p:txBody>
      </p:sp>
      <p:sp>
        <p:nvSpPr>
          <p:cNvPr id="23" name="Text 21"/>
          <p:cNvSpPr/>
          <p:nvPr/>
        </p:nvSpPr>
        <p:spPr>
          <a:xfrm>
            <a:off x="3852000" y="53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33  </a:t>
            </a:r>
            <a:r>
              <a:rPr lang="en-US" sz="800" b="1" dirty="0">
                <a:solidFill>
                  <a:srgbClr val="46606E"/>
                </a:solidFill>
                <a:latin typeface="IBM Plex Sans" pitchFamily="34" charset="0"/>
                <a:ea typeface="IBM Plex Sans" pitchFamily="34" charset="-122"/>
                <a:cs typeface="IBM Plex Sans" pitchFamily="34" charset="-120"/>
              </a:rPr>
              <a:t>Famille d’Exea — Jus de Cépages  </a:t>
            </a:r>
            <a:r>
              <a:rPr lang="en-US" sz="700" dirty="0">
                <a:solidFill>
                  <a:srgbClr val="A8515F"/>
                </a:solidFill>
                <a:latin typeface="IBM Plex Sans" pitchFamily="34" charset="0"/>
                <a:ea typeface="IBM Plex Sans" pitchFamily="34" charset="-122"/>
                <a:cs typeface="IBM Plex Sans" pitchFamily="34" charset="-120"/>
              </a:rPr>
              <a:t>Languedoc   </a:t>
            </a:r>
            <a:r>
              <a:rPr lang="en-US" sz="800" b="1" dirty="0">
                <a:solidFill>
                  <a:srgbClr val="46606E"/>
                </a:solidFill>
                <a:latin typeface="IBM Plex Sans" pitchFamily="34" charset="0"/>
                <a:ea typeface="IBM Plex Sans" pitchFamily="34" charset="-122"/>
                <a:cs typeface="IBM Plex Sans" pitchFamily="34" charset="-120"/>
              </a:rPr>
              <a:t>p. 58</a:t>
            </a:r>
            <a:endParaRPr lang="en-US" sz="800" dirty="0"/>
          </a:p>
        </p:txBody>
      </p:sp>
      <p:sp>
        <p:nvSpPr>
          <p:cNvPr id="24" name="Text 22"/>
          <p:cNvSpPr/>
          <p:nvPr/>
        </p:nvSpPr>
        <p:spPr>
          <a:xfrm>
            <a:off x="612000" y="8460000"/>
            <a:ext cx="6120000" cy="288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Les paliers restent ceux de chaque domaine : le panachage permet d’atteindre la quantité, il ne change pas le tarif de la bouteille.</a:t>
            </a:r>
            <a:endParaRPr lang="en-US" sz="860" dirty="0"/>
          </a:p>
        </p:txBody>
      </p:sp>
      <p:sp>
        <p:nvSpPr>
          <p:cNvPr id="25" name="Text 2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6" name="Text 2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7</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68</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8</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11</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12</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13</a:t>
            </a:r>
            <a:endParaRPr lang="en-US" sz="860" dirty="0"/>
          </a:p>
        </p:txBody>
      </p:sp>
      <p:sp>
        <p:nvSpPr>
          <p:cNvPr id="18" name="Text 14"/>
          <p:cNvSpPr/>
          <p:nvPr/>
        </p:nvSpPr>
        <p:spPr>
          <a:xfrm>
            <a:off x="828000" y="7884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Divin No Low</a:t>
            </a: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9"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6</a:t>
            </a:r>
            <a:endParaRPr lang="en-US" sz="750" dirty="0"/>
          </a:p>
        </p:txBody>
      </p:sp>
      <p:sp>
        <p:nvSpPr>
          <p:cNvPr id="20"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portrait du vigneron, noir et blanc — François Reverdy">    </p:cNvPr>
          <p:cNvPicPr>
            <a:picLocks noChangeAspect="1"/>
          </p:cNvPicPr>
          <p:nvPr/>
        </p:nvPicPr>
        <p:blipFill>
          <a:blip r:embed="rId2"/>
          <a:srcRect l="2263" r="2470" t="0" b="0"/>
          <a:stretch/>
        </p:blipFill>
        <p:spPr>
          <a:xfrm>
            <a:off x="612000" y="1357200"/>
            <a:ext cx="1440000" cy="1440000"/>
          </a:xfrm>
          <a:prstGeom prst="ellipse">
            <a:avLst/>
          </a:prstGeom>
        </p:spPr>
      </p:pic>
      <p:pic>
        <p:nvPicPr>
          <p:cNvPr id="14" name="Image 2" descr="Une bouteille du domaine François Reverdy">    </p:cNvPr>
          <p:cNvPicPr>
            <a:picLocks noChangeAspect="1"/>
          </p:cNvPicPr>
          <p:nvPr/>
        </p:nvPicPr>
        <p:blipFill>
          <a:blip r:embed="rId3"/>
          <a:stretch>
            <a:fillRect/>
          </a:stretch>
        </p:blipFill>
        <p:spPr>
          <a:xfrm>
            <a:off x="5992033" y="1357200"/>
            <a:ext cx="615934" cy="2232000"/>
          </a:xfrm>
          <a:prstGeom prst="rect">
            <a:avLst/>
          </a:prstGeom>
        </p:spPr>
      </p:pic>
      <p:sp>
        <p:nvSpPr>
          <p:cNvPr id="15" name="Text 10"/>
          <p:cNvSpPr/>
          <p:nvPr/>
        </p:nvSpPr>
        <p:spPr>
          <a:xfrm>
            <a:off x="2177967" y="1261763"/>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6" name="Text 11"/>
          <p:cNvSpPr/>
          <p:nvPr/>
        </p:nvSpPr>
        <p:spPr>
          <a:xfrm>
            <a:off x="2232000" y="1404528"/>
            <a:ext cx="3456000" cy="2184573"/>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Jusqu'à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612000" y="72827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sol-loire.png">    </p:cNvPr>
          <p:cNvPicPr>
            <a:picLocks noChangeAspect="1"/>
          </p:cNvPicPr>
          <p:nvPr/>
        </p:nvPicPr>
        <p:blipFill>
          <a:blip r:embed="rId4"/>
          <a:stretch>
            <a:fillRect/>
          </a:stretch>
        </p:blipFill>
        <p:spPr>
          <a:xfrm>
            <a:off x="612000" y="7430326"/>
            <a:ext cx="6120000" cy="657953"/>
          </a:xfrm>
          <a:prstGeom prst="rect">
            <a:avLst/>
          </a:prstGeom>
        </p:spPr>
      </p:pic>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460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956162"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9561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20836"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2083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5" name="Image 1" descr="vendanges dans les vignes du domaine — Domaine de la Barbinière">    </p:cNvPr>
          <p:cNvPicPr>
            <a:picLocks noChangeAspect="1"/>
          </p:cNvPicPr>
          <p:nvPr/>
        </p:nvPicPr>
        <p:blipFill>
          <a:blip r:embed="rId2"/>
          <a:srcRect l="16680" r="16680" t="0" b="0"/>
          <a:stretch/>
        </p:blipFill>
        <p:spPr>
          <a:xfrm>
            <a:off x="828000" y="1357200"/>
            <a:ext cx="1440000" cy="1440000"/>
          </a:xfrm>
          <a:prstGeom prst="ellipse">
            <a:avLst/>
          </a:prstGeom>
        </p:spPr>
      </p:pic>
      <p:pic>
        <p:nvPicPr>
          <p:cNvPr id="16" name="Image 2" descr="Une bouteille du domaine Domaine de la Barbinière">    </p:cNvPr>
          <p:cNvPicPr>
            <a:picLocks noChangeAspect="1"/>
          </p:cNvPicPr>
          <p:nvPr/>
        </p:nvPicPr>
        <p:blipFill>
          <a:blip r:embed="rId3"/>
          <a:stretch>
            <a:fillRect/>
          </a:stretch>
        </p:blipFill>
        <p:spPr>
          <a:xfrm>
            <a:off x="6229377" y="1357200"/>
            <a:ext cx="573246" cy="2232000"/>
          </a:xfrm>
          <a:prstGeom prst="rect">
            <a:avLst/>
          </a:prstGeom>
        </p:spPr>
      </p:pic>
      <p:sp>
        <p:nvSpPr>
          <p:cNvPr id="17" name="Text 12"/>
          <p:cNvSpPr/>
          <p:nvPr/>
        </p:nvSpPr>
        <p:spPr>
          <a:xfrm>
            <a:off x="2393960" y="1352724"/>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8" name="Text 13"/>
          <p:cNvSpPr/>
          <p:nvPr/>
        </p:nvSpPr>
        <p:spPr>
          <a:xfrm>
            <a:off x="2448000" y="1462935"/>
            <a:ext cx="3456000" cy="21261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Shape 14"/>
          <p:cNvSpPr/>
          <p:nvPr/>
        </p:nvSpPr>
        <p:spPr>
          <a:xfrm>
            <a:off x="828000" y="8388000"/>
            <a:ext cx="6120000" cy="0"/>
          </a:xfrm>
          <a:prstGeom prst="line">
            <a:avLst/>
          </a:prstGeom>
          <a:noFill/>
          <a:ln w="8890">
            <a:solidFill>
              <a:srgbClr val="46606E"/>
            </a:solidFill>
            <a:prstDash val="solid"/>
          </a:ln>
        </p:spPr>
      </p:sp>
      <p:sp>
        <p:nvSpPr>
          <p:cNvPr id="21"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3"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4"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5"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071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71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536422"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5364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3" name="Image 1" descr="le vigneron au chai — Domaine du Colombier / J.Y Bretaudeau">    </p:cNvPr>
          <p:cNvPicPr>
            <a:picLocks noChangeAspect="1"/>
          </p:cNvPicPr>
          <p:nvPr/>
        </p:nvPicPr>
        <p:blipFill>
          <a:blip r:embed="rId2"/>
          <a:srcRect l="29320" r="5437" t="0" b="0"/>
          <a:stretch/>
        </p:blipFill>
        <p:spPr>
          <a:xfrm>
            <a:off x="612000" y="1357200"/>
            <a:ext cx="1440000" cy="1440000"/>
          </a:xfrm>
          <a:prstGeom prst="ellipse">
            <a:avLst/>
          </a:prstGeom>
        </p:spPr>
      </p:pic>
      <p:pic>
        <p:nvPicPr>
          <p:cNvPr id="14" name="Image 2" descr="Une bouteille du domaine Domaine du Colombier / J.Y Bretaudeau">    </p:cNvPr>
          <p:cNvPicPr>
            <a:picLocks noChangeAspect="1"/>
          </p:cNvPicPr>
          <p:nvPr/>
        </p:nvPicPr>
        <p:blipFill>
          <a:blip r:embed="rId3"/>
          <a:stretch>
            <a:fillRect/>
          </a:stretch>
        </p:blipFill>
        <p:spPr>
          <a:xfrm>
            <a:off x="6002705" y="1357200"/>
            <a:ext cx="594590" cy="2232000"/>
          </a:xfrm>
          <a:prstGeom prst="rect">
            <a:avLst/>
          </a:prstGeom>
        </p:spPr>
      </p:pic>
      <p:sp>
        <p:nvSpPr>
          <p:cNvPr id="15" name="Text 10"/>
          <p:cNvSpPr/>
          <p:nvPr/>
        </p:nvSpPr>
        <p:spPr>
          <a:xfrm>
            <a:off x="2178005" y="1483976"/>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6" name="Text 11"/>
          <p:cNvSpPr/>
          <p:nvPr/>
        </p:nvSpPr>
        <p:spPr>
          <a:xfrm>
            <a:off x="2232000" y="1610077"/>
            <a:ext cx="3456000" cy="197902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friands et expressifs.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sol-loire.png">    </p:cNvPr>
          <p:cNvPicPr>
            <a:picLocks noChangeAspect="1"/>
          </p:cNvPicPr>
          <p:nvPr/>
        </p:nvPicPr>
        <p:blipFill>
          <a:blip r:embed="rId4"/>
          <a:stretch>
            <a:fillRect/>
          </a:stretch>
        </p:blipFill>
        <p:spPr>
          <a:xfrm>
            <a:off x="612000" y="6214847"/>
            <a:ext cx="6120000" cy="1148400"/>
          </a:xfrm>
          <a:prstGeom prst="rect">
            <a:avLst/>
          </a:prstGeom>
        </p:spPr>
      </p:pic>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550" dirty="0">
                <a:solidFill>
                  <a:srgbClr val="46606E"/>
                </a:solidFill>
                <a:latin typeface="Young Serif" pitchFamily="34" charset="0"/>
                <a:ea typeface="Young Serif" pitchFamily="34" charset="-122"/>
                <a:cs typeface="Young Serif" pitchFamily="34" charset="-120"/>
              </a:rPr>
              <a:t>   Domaine du Colombier / J.Y Bretaudeau</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287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87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52422"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524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828000" y="292666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Text 10"/>
          <p:cNvSpPr/>
          <p:nvPr/>
        </p:nvSpPr>
        <p:spPr>
          <a:xfrm>
            <a:off x="828000" y="486583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6" name="Image 1" descr="/home/user/philippe1/build/deco/sol-loire.png">    </p:cNvPr>
          <p:cNvPicPr>
            <a:picLocks noChangeAspect="1"/>
          </p:cNvPicPr>
          <p:nvPr/>
        </p:nvPicPr>
        <p:blipFill>
          <a:blip r:embed="rId2"/>
          <a:stretch>
            <a:fillRect/>
          </a:stretch>
        </p:blipFill>
        <p:spPr>
          <a:xfrm>
            <a:off x="828000" y="5013432"/>
            <a:ext cx="6120000" cy="1680802"/>
          </a:xfrm>
          <a:prstGeom prst="rect">
            <a:avLst/>
          </a:prstGeom>
        </p:spPr>
      </p:pic>
      <p:sp>
        <p:nvSpPr>
          <p:cNvPr id="17" name="Shape 11"/>
          <p:cNvSpPr/>
          <p:nvPr/>
        </p:nvSpPr>
        <p:spPr>
          <a:xfrm>
            <a:off x="828000" y="8388000"/>
            <a:ext cx="6120000" cy="0"/>
          </a:xfrm>
          <a:prstGeom prst="line">
            <a:avLst/>
          </a:prstGeom>
          <a:noFill/>
          <a:ln w="8890">
            <a:solidFill>
              <a:srgbClr val="46606E"/>
            </a:solidFill>
            <a:prstDash val="solid"/>
          </a:ln>
        </p:spPr>
      </p:sp>
      <p:sp>
        <p:nvSpPr>
          <p:cNvPr id="18"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9"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0"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1"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2"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3" name="Image 1" descr="portrait — Domaine des Noëls">    </p:cNvPr>
          <p:cNvPicPr>
            <a:picLocks noChangeAspect="1"/>
          </p:cNvPicPr>
          <p:nvPr/>
        </p:nvPicPr>
        <p:blipFill>
          <a:blip r:embed="rId2"/>
          <a:srcRect l="0" r="0" t="8302" b="16679"/>
          <a:stretch/>
        </p:blipFill>
        <p:spPr>
          <a:xfrm>
            <a:off x="612000" y="1357200"/>
            <a:ext cx="1440000" cy="1440000"/>
          </a:xfrm>
          <a:prstGeom prst="ellipse">
            <a:avLst/>
          </a:prstGeom>
        </p:spPr>
      </p:pic>
      <p:pic>
        <p:nvPicPr>
          <p:cNvPr id="14" name="Image 2" descr="Une bouteille du domaine Domaine des Noëls">    </p:cNvPr>
          <p:cNvPicPr>
            <a:picLocks noChangeAspect="1"/>
          </p:cNvPicPr>
          <p:nvPr/>
        </p:nvPicPr>
        <p:blipFill>
          <a:blip r:embed="rId3"/>
          <a:stretch>
            <a:fillRect/>
          </a:stretch>
        </p:blipFill>
        <p:spPr>
          <a:xfrm>
            <a:off x="6001180" y="1357200"/>
            <a:ext cx="597639" cy="2232000"/>
          </a:xfrm>
          <a:prstGeom prst="rect">
            <a:avLst/>
          </a:prstGeom>
        </p:spPr>
      </p:pic>
      <p:sp>
        <p:nvSpPr>
          <p:cNvPr id="15" name="Text 10"/>
          <p:cNvSpPr/>
          <p:nvPr/>
        </p:nvSpPr>
        <p:spPr>
          <a:xfrm>
            <a:off x="2177965" y="1477539"/>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6" name="Text 11"/>
          <p:cNvSpPr/>
          <p:nvPr/>
        </p:nvSpPr>
        <p:spPr>
          <a:xfrm>
            <a:off x="2232000" y="1614506"/>
            <a:ext cx="3456000" cy="197459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612000" y="8388000"/>
            <a:ext cx="6120000" cy="0"/>
          </a:xfrm>
          <a:prstGeom prst="line">
            <a:avLst/>
          </a:prstGeom>
          <a:noFill/>
          <a:ln w="8890">
            <a:solidFill>
              <a:srgbClr val="46606E"/>
            </a:solidFill>
            <a:prstDash val="solid"/>
          </a:ln>
        </p:spPr>
      </p:sp>
      <p:sp>
        <p:nvSpPr>
          <p:cNvPr id="19"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0"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2"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3"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les deux fondateurs du chai — Chai Berteaud Manceau">    </p:cNvPr>
          <p:cNvPicPr>
            <a:picLocks noChangeAspect="1"/>
          </p:cNvPicPr>
          <p:nvPr/>
        </p:nvPicPr>
        <p:blipFill>
          <a:blip r:embed="rId2"/>
          <a:srcRect l="0" r="0" t="10078" b="20234"/>
          <a:stretch/>
        </p:blipFill>
        <p:spPr>
          <a:xfrm>
            <a:off x="828000" y="1357200"/>
            <a:ext cx="1440000" cy="1440000"/>
          </a:xfrm>
          <a:prstGeom prst="ellipse">
            <a:avLst/>
          </a:prstGeom>
        </p:spPr>
      </p:pic>
      <p:pic>
        <p:nvPicPr>
          <p:cNvPr id="14" name="Image 2" descr="Une bouteille du domaine Chai Berteaud Manceau">    </p:cNvPr>
          <p:cNvPicPr>
            <a:picLocks noChangeAspect="1"/>
          </p:cNvPicPr>
          <p:nvPr/>
        </p:nvPicPr>
        <p:blipFill>
          <a:blip r:embed="rId3"/>
          <a:stretch>
            <a:fillRect/>
          </a:stretch>
        </p:blipFill>
        <p:spPr>
          <a:xfrm>
            <a:off x="6214131" y="1357200"/>
            <a:ext cx="603738" cy="2232000"/>
          </a:xfrm>
          <a:prstGeom prst="rect">
            <a:avLst/>
          </a:prstGeom>
        </p:spPr>
      </p:pic>
      <p:sp>
        <p:nvSpPr>
          <p:cNvPr id="15" name="Text 10"/>
          <p:cNvSpPr/>
          <p:nvPr/>
        </p:nvSpPr>
        <p:spPr>
          <a:xfrm>
            <a:off x="2394017" y="1488545"/>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6" name="Text 11"/>
          <p:cNvSpPr/>
          <p:nvPr/>
        </p:nvSpPr>
        <p:spPr>
          <a:xfrm>
            <a:off x="2448000" y="1606934"/>
            <a:ext cx="3456000" cy="19821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828000" y="535912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sol-loire.png">    </p:cNvPr>
          <p:cNvPicPr>
            <a:picLocks noChangeAspect="1"/>
          </p:cNvPicPr>
          <p:nvPr/>
        </p:nvPicPr>
        <p:blipFill>
          <a:blip r:embed="rId4"/>
          <a:stretch>
            <a:fillRect/>
          </a:stretch>
        </p:blipFill>
        <p:spPr>
          <a:xfrm>
            <a:off x="828000" y="5506723"/>
            <a:ext cx="6120000" cy="1540294"/>
          </a:xfrm>
          <a:prstGeom prst="rect">
            <a:avLst/>
          </a:prstGeom>
        </p:spPr>
      </p:pic>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864357" cy="180000"/>
          </a:xfrm>
          <a:prstGeom prst="roundRect">
            <a:avLst>
              <a:gd name="adj" fmla="val 10160"/>
            </a:avLst>
          </a:prstGeom>
          <a:solidFill>
            <a:srgbClr val="D08C3C"/>
          </a:solidFill>
          <a:ln w="8890">
            <a:solidFill>
              <a:srgbClr val="D08C3C"/>
            </a:solidFill>
            <a:prstDash val="solid"/>
          </a:ln>
        </p:spPr>
      </p:sp>
      <p:sp>
        <p:nvSpPr>
          <p:cNvPr id="10" name="Text 7"/>
          <p:cNvSpPr/>
          <p:nvPr/>
        </p:nvSpPr>
        <p:spPr>
          <a:xfrm>
            <a:off x="2043390"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1" name="Shape 8"/>
          <p:cNvSpPr/>
          <p:nvPr/>
        </p:nvSpPr>
        <p:spPr>
          <a:xfrm>
            <a:off x="2986947"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986947"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3" name="Image 1" descr="dans les vignes — Domaine Jean de Villebois">    </p:cNvPr>
          <p:cNvPicPr>
            <a:picLocks noChangeAspect="1"/>
          </p:cNvPicPr>
          <p:nvPr/>
        </p:nvPicPr>
        <p:blipFill>
          <a:blip r:embed="rId2"/>
          <a:srcRect l="2667" r="30666" t="0" b="0"/>
          <a:stretch/>
        </p:blipFill>
        <p:spPr>
          <a:xfrm>
            <a:off x="612000" y="1357200"/>
            <a:ext cx="1440000" cy="1440000"/>
          </a:xfrm>
          <a:prstGeom prst="ellipse">
            <a:avLst/>
          </a:prstGeom>
        </p:spPr>
      </p:pic>
      <p:pic>
        <p:nvPicPr>
          <p:cNvPr id="14" name="Image 2" descr="Une bouteille du domaine Domaine Jean de Villebois">    </p:cNvPr>
          <p:cNvPicPr>
            <a:picLocks noChangeAspect="1"/>
          </p:cNvPicPr>
          <p:nvPr/>
        </p:nvPicPr>
        <p:blipFill>
          <a:blip r:embed="rId3"/>
          <a:stretch>
            <a:fillRect/>
          </a:stretch>
        </p:blipFill>
        <p:spPr>
          <a:xfrm>
            <a:off x="5993557" y="1357200"/>
            <a:ext cx="612885" cy="2232000"/>
          </a:xfrm>
          <a:prstGeom prst="rect">
            <a:avLst/>
          </a:prstGeom>
        </p:spPr>
      </p:pic>
      <p:sp>
        <p:nvSpPr>
          <p:cNvPr id="15" name="Text 10"/>
          <p:cNvSpPr/>
          <p:nvPr/>
        </p:nvSpPr>
        <p:spPr>
          <a:xfrm>
            <a:off x="2177960" y="1493390"/>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6" name="Text 11"/>
          <p:cNvSpPr/>
          <p:nvPr/>
        </p:nvSpPr>
        <p:spPr>
          <a:xfrm>
            <a:off x="2232000" y="1603600"/>
            <a:ext cx="3456000" cy="19855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612000" y="56825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sol-loire.png">    </p:cNvPr>
          <p:cNvPicPr>
            <a:picLocks noChangeAspect="1"/>
          </p:cNvPicPr>
          <p:nvPr/>
        </p:nvPicPr>
        <p:blipFill>
          <a:blip r:embed="rId4"/>
          <a:stretch>
            <a:fillRect/>
          </a:stretch>
        </p:blipFill>
        <p:spPr>
          <a:xfrm>
            <a:off x="612000" y="5830126"/>
            <a:ext cx="6120000" cy="1148400"/>
          </a:xfrm>
          <a:prstGeom prst="rect">
            <a:avLst/>
          </a:prstGeom>
        </p:spPr>
      </p:pic>
      <p:sp>
        <p:nvSpPr>
          <p:cNvPr id="20" name="Text 13"/>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15</a:t>
            </a:r>
            <a:endParaRPr lang="en-US" sz="74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6"/>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4"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5"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6"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47600"/>
            <a:ext cx="864357" cy="180000"/>
          </a:xfrm>
          <a:prstGeom prst="roundRect">
            <a:avLst>
              <a:gd name="adj" fmla="val 10160"/>
            </a:avLst>
          </a:prstGeom>
          <a:solidFill>
            <a:srgbClr val="D08C3C"/>
          </a:solidFill>
          <a:ln w="8890">
            <a:solidFill>
              <a:srgbClr val="D08C3C"/>
            </a:solidFill>
            <a:prstDash val="solid"/>
          </a:ln>
        </p:spPr>
      </p:sp>
      <p:sp>
        <p:nvSpPr>
          <p:cNvPr id="10" name="Text 7"/>
          <p:cNvSpPr/>
          <p:nvPr/>
        </p:nvSpPr>
        <p:spPr>
          <a:xfrm>
            <a:off x="2259390"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1" name="Shape 8"/>
          <p:cNvSpPr/>
          <p:nvPr/>
        </p:nvSpPr>
        <p:spPr>
          <a:xfrm>
            <a:off x="3202947"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3202947"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510165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5" name="Image 1" descr="/home/user/philippe1/build/deco/sol-loire.png">    </p:cNvPr>
          <p:cNvPicPr>
            <a:picLocks noChangeAspect="1"/>
          </p:cNvPicPr>
          <p:nvPr/>
        </p:nvPicPr>
        <p:blipFill>
          <a:blip r:embed="rId2"/>
          <a:stretch>
            <a:fillRect/>
          </a:stretch>
        </p:blipFill>
        <p:spPr>
          <a:xfrm>
            <a:off x="828000" y="5249250"/>
            <a:ext cx="6120000" cy="1452068"/>
          </a:xfrm>
          <a:prstGeom prst="rect">
            <a:avLst/>
          </a:prstGeom>
        </p:spPr>
      </p:pic>
      <p:sp>
        <p:nvSpPr>
          <p:cNvPr id="16" name="Text 11"/>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15</a:t>
            </a:r>
            <a:endParaRPr lang="en-US" sz="740" dirty="0"/>
          </a:p>
        </p:txBody>
      </p:sp>
      <p:sp>
        <p:nvSpPr>
          <p:cNvPr id="17" name="Shape 12"/>
          <p:cNvSpPr/>
          <p:nvPr/>
        </p:nvSpPr>
        <p:spPr>
          <a:xfrm>
            <a:off x="828000" y="8388000"/>
            <a:ext cx="6120000" cy="0"/>
          </a:xfrm>
          <a:prstGeom prst="line">
            <a:avLst/>
          </a:prstGeom>
          <a:noFill/>
          <a:ln w="8890">
            <a:solidFill>
              <a:srgbClr val="46606E"/>
            </a:solidFill>
            <a:prstDash val="solid"/>
          </a:ln>
        </p:spPr>
      </p:sp>
      <p:sp>
        <p:nvSpPr>
          <p:cNvPr id="18"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9"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0"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1"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2"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612000" y="13572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5956967" y="1357200"/>
            <a:ext cx="686066" cy="2232000"/>
          </a:xfrm>
          <a:prstGeom prst="rect">
            <a:avLst/>
          </a:prstGeom>
        </p:spPr>
      </p:pic>
      <p:sp>
        <p:nvSpPr>
          <p:cNvPr id="13" name="Text 8"/>
          <p:cNvSpPr/>
          <p:nvPr/>
        </p:nvSpPr>
        <p:spPr>
          <a:xfrm>
            <a:off x="2178033" y="1347672"/>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232000" y="1466412"/>
            <a:ext cx="3456000" cy="212268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Text 10"/>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13</a:t>
            </a:r>
            <a:endParaRPr lang="en-US" sz="740" dirty="0"/>
          </a:p>
        </p:txBody>
      </p:sp>
      <p:sp>
        <p:nvSpPr>
          <p:cNvPr id="17" name="Shape 11"/>
          <p:cNvSpPr/>
          <p:nvPr/>
        </p:nvSpPr>
        <p:spPr>
          <a:xfrm>
            <a:off x="612000" y="8388000"/>
            <a:ext cx="6120000" cy="0"/>
          </a:xfrm>
          <a:prstGeom prst="line">
            <a:avLst/>
          </a:prstGeom>
          <a:noFill/>
          <a:ln w="8890">
            <a:solidFill>
              <a:srgbClr val="46606E"/>
            </a:solidFill>
            <a:prstDash val="solid"/>
          </a:ln>
        </p:spPr>
      </p:sp>
      <p:sp>
        <p:nvSpPr>
          <p:cNvPr id="18" name="Text 12"/>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9" name="Text 13"/>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0" name="Text 14"/>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1"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2"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alsac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15</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17</a:t>
            </a:r>
            <a:endParaRPr lang="en-US" sz="860" dirty="0"/>
          </a:p>
        </p:txBody>
      </p:sp>
      <p:sp>
        <p:nvSpPr>
          <p:cNvPr id="13" name="Text 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16</a:t>
            </a:r>
            <a:endParaRPr lang="en-US" sz="750" dirty="0"/>
          </a:p>
        </p:txBody>
      </p:sp>
      <p:sp>
        <p:nvSpPr>
          <p:cNvPr id="14" name="Text 1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3" name="Image 1" descr="logo du domaine — Domaine Boehler">    </p:cNvPr>
          <p:cNvPicPr>
            <a:picLocks noChangeAspect="1"/>
          </p:cNvPicPr>
          <p:nvPr/>
        </p:nvPicPr>
        <p:blipFill>
          <a:blip r:embed="rId2"/>
          <a:stretch>
            <a:fillRect/>
          </a:stretch>
        </p:blipFill>
        <p:spPr>
          <a:xfrm>
            <a:off x="612000" y="1357200"/>
            <a:ext cx="1440000" cy="1440000"/>
          </a:xfrm>
          <a:prstGeom prst="rect">
            <a:avLst/>
          </a:prstGeom>
        </p:spPr>
      </p:pic>
      <p:pic>
        <p:nvPicPr>
          <p:cNvPr id="14" name="Image 2" descr="Une bouteille du domaine Domaine Boehler">    </p:cNvPr>
          <p:cNvPicPr>
            <a:picLocks noChangeAspect="1"/>
          </p:cNvPicPr>
          <p:nvPr/>
        </p:nvPicPr>
        <p:blipFill>
          <a:blip r:embed="rId3"/>
          <a:stretch>
            <a:fillRect/>
          </a:stretch>
        </p:blipFill>
        <p:spPr>
          <a:xfrm>
            <a:off x="6056066" y="1357200"/>
            <a:ext cx="487869" cy="2232000"/>
          </a:xfrm>
          <a:prstGeom prst="rect">
            <a:avLst/>
          </a:prstGeom>
        </p:spPr>
      </p:pic>
      <p:sp>
        <p:nvSpPr>
          <p:cNvPr id="15" name="Text 10"/>
          <p:cNvSpPr/>
          <p:nvPr/>
        </p:nvSpPr>
        <p:spPr>
          <a:xfrm>
            <a:off x="2177956" y="1351894"/>
            <a:ext cx="251419" cy="439318"/>
          </a:xfrm>
          <a:prstGeom prst="rect">
            <a:avLst/>
          </a:prstGeom>
          <a:noFill/>
          <a:ln/>
        </p:spPr>
        <p:txBody>
          <a:bodyPr wrap="square" lIns="0" tIns="0" rIns="0" bIns="0" rtlCol="0" anchor="t"/>
          <a:lstStyle/>
          <a:p>
            <a:pPr algn="r" indent="0" marL="0">
              <a:lnSpc>
                <a:spcPct val="125900"/>
              </a:lnSpc>
              <a:buNone/>
            </a:pPr>
            <a:r>
              <a:rPr lang="en-US" sz="2162" dirty="0">
                <a:solidFill>
                  <a:srgbClr val="67067C"/>
                </a:solidFill>
                <a:latin typeface="Young Serif" pitchFamily="34" charset="0"/>
                <a:ea typeface="Young Serif" pitchFamily="34" charset="-122"/>
                <a:cs typeface="Young Serif" pitchFamily="34" charset="-120"/>
              </a:rPr>
              <a:t>B</a:t>
            </a:r>
            <a:endParaRPr lang="en-US" sz="2162" dirty="0"/>
          </a:p>
        </p:txBody>
      </p:sp>
      <p:sp>
        <p:nvSpPr>
          <p:cNvPr id="16" name="Text 11"/>
          <p:cNvSpPr/>
          <p:nvPr/>
        </p:nvSpPr>
        <p:spPr>
          <a:xfrm>
            <a:off x="2232000" y="1463507"/>
            <a:ext cx="3456000" cy="212559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19" name="Image 3" descr="/home/user/philippe1/build/deco/sol-alsace.png">    </p:cNvPr>
          <p:cNvPicPr>
            <a:picLocks noChangeAspect="1"/>
          </p:cNvPicPr>
          <p:nvPr/>
        </p:nvPicPr>
        <p:blipFill>
          <a:blip r:embed="rId4"/>
          <a:stretch>
            <a:fillRect/>
          </a:stretch>
        </p:blipFill>
        <p:spPr>
          <a:xfrm>
            <a:off x="612000" y="6276164"/>
            <a:ext cx="6120000" cy="1148400"/>
          </a:xfrm>
          <a:prstGeom prst="rect">
            <a:avLst/>
          </a:prstGeom>
        </p:spPr>
      </p:pic>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Conditions de port non précisées par le domaine — nous consulter.</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56630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15" name="Image 1" descr="/home/user/philippe1/build/deco/sol-alsace.png">    </p:cNvPr>
          <p:cNvPicPr>
            <a:picLocks noChangeAspect="1"/>
          </p:cNvPicPr>
          <p:nvPr/>
        </p:nvPicPr>
        <p:blipFill>
          <a:blip r:embed="rId2"/>
          <a:stretch>
            <a:fillRect/>
          </a:stretch>
        </p:blipFill>
        <p:spPr>
          <a:xfrm>
            <a:off x="828000" y="5810630"/>
            <a:ext cx="6120000" cy="1357950"/>
          </a:xfrm>
          <a:prstGeom prst="rect">
            <a:avLst/>
          </a:prstGeom>
        </p:spPr>
      </p:pic>
      <p:sp>
        <p:nvSpPr>
          <p:cNvPr id="16" name="Shape 11"/>
          <p:cNvSpPr/>
          <p:nvPr/>
        </p:nvSpPr>
        <p:spPr>
          <a:xfrm>
            <a:off x="828000" y="8388000"/>
            <a:ext cx="6120000" cy="0"/>
          </a:xfrm>
          <a:prstGeom prst="line">
            <a:avLst/>
          </a:prstGeom>
          <a:noFill/>
          <a:ln w="8890">
            <a:solidFill>
              <a:srgbClr val="46606E"/>
            </a:solidFill>
            <a:prstDash val="solid"/>
          </a:ln>
        </p:spPr>
      </p:sp>
      <p:sp>
        <p:nvSpPr>
          <p:cNvPr id="17"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Conditions de port non précisées par le domaine — nous consulter.</a:t>
            </a:r>
            <a:endParaRPr lang="en-US" sz="720" dirty="0"/>
          </a:p>
        </p:txBody>
      </p:sp>
      <p:sp>
        <p:nvSpPr>
          <p:cNvPr id="18"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19"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0"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1"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eaujolais.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eaujolais.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Beaujolais</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le Clos des Nugues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des Nugues</a:t>
            </a: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19</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287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87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52422"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524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portrait des vignerons — Domaine des Nugues">    </p:cNvPr>
          <p:cNvPicPr>
            <a:picLocks noChangeAspect="1"/>
          </p:cNvPicPr>
          <p:nvPr/>
        </p:nvPicPr>
        <p:blipFill>
          <a:blip r:embed="rId2"/>
          <a:srcRect l="0" r="0" t="10991" b="22342"/>
          <a:stretch/>
        </p:blipFill>
        <p:spPr>
          <a:xfrm>
            <a:off x="828000" y="1357200"/>
            <a:ext cx="1440000" cy="1440000"/>
          </a:xfrm>
          <a:prstGeom prst="ellipse">
            <a:avLst/>
          </a:prstGeom>
        </p:spPr>
      </p:pic>
      <p:pic>
        <p:nvPicPr>
          <p:cNvPr id="14" name="Image 2" descr="Une bouteille du domaine Domaine des Nugues">    </p:cNvPr>
          <p:cNvPicPr>
            <a:picLocks noChangeAspect="1"/>
          </p:cNvPicPr>
          <p:nvPr/>
        </p:nvPicPr>
        <p:blipFill>
          <a:blip r:embed="rId3"/>
          <a:stretch>
            <a:fillRect/>
          </a:stretch>
        </p:blipFill>
        <p:spPr>
          <a:xfrm>
            <a:off x="6226328" y="1357200"/>
            <a:ext cx="579344" cy="2232000"/>
          </a:xfrm>
          <a:prstGeom prst="rect">
            <a:avLst/>
          </a:prstGeom>
        </p:spPr>
      </p:pic>
      <p:sp>
        <p:nvSpPr>
          <p:cNvPr id="15" name="Text 10"/>
          <p:cNvSpPr/>
          <p:nvPr/>
        </p:nvSpPr>
        <p:spPr>
          <a:xfrm>
            <a:off x="2393990" y="1270119"/>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6" name="Text 11"/>
          <p:cNvSpPr/>
          <p:nvPr/>
        </p:nvSpPr>
        <p:spPr>
          <a:xfrm>
            <a:off x="2448000" y="1382839"/>
            <a:ext cx="3456000" cy="2206261"/>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828000" y="72827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19" name="Image 3" descr="/home/user/philippe1/build/deco/sol-beaujolais.png">    </p:cNvPr>
          <p:cNvPicPr>
            <a:picLocks noChangeAspect="1"/>
          </p:cNvPicPr>
          <p:nvPr/>
        </p:nvPicPr>
        <p:blipFill>
          <a:blip r:embed="rId4"/>
          <a:stretch>
            <a:fillRect/>
          </a:stretch>
        </p:blipFill>
        <p:spPr>
          <a:xfrm>
            <a:off x="828000" y="7430326"/>
            <a:ext cx="6120000" cy="657953"/>
          </a:xfrm>
          <a:prstGeom prst="rect">
            <a:avLst/>
          </a:prstGeom>
        </p:spPr>
      </p:pic>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11   </a:t>
            </a:r>
            <a:r>
              <a:rPr lang="en-US" sz="860" dirty="0">
                <a:solidFill>
                  <a:srgbClr val="FBF8F1"/>
                </a:solidFill>
                <a:latin typeface="IBM Plex Sans" pitchFamily="34" charset="0"/>
                <a:ea typeface="IBM Plex Sans" pitchFamily="34" charset="-122"/>
                <a:cs typeface="IBM Plex Sans" pitchFamily="34" charset="-120"/>
              </a:rPr>
              <a:t>Domaine Nadine Ferrand</a:t>
            </a:r>
            <a:r>
              <a:rPr lang="en-US" sz="860" b="1" dirty="0">
                <a:solidFill>
                  <a:srgbClr val="FBF8F1"/>
                </a:solidFill>
                <a:latin typeface="IBM Plex Sans" pitchFamily="34" charset="0"/>
                <a:ea typeface="IBM Plex Sans" pitchFamily="34" charset="-122"/>
                <a:cs typeface="IBM Plex Sans" pitchFamily="34" charset="-120"/>
              </a:rPr>
              <a:t>   24</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25</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27</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28</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21</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5" name="Image 1" descr="portrait au chai, recadré au-dessus du verre — Domaine Sébastien Magnien">    </p:cNvPr>
          <p:cNvPicPr>
            <a:picLocks noChangeAspect="1"/>
          </p:cNvPicPr>
          <p:nvPr/>
        </p:nvPicPr>
        <p:blipFill>
          <a:blip r:embed="rId2"/>
          <a:stretch>
            <a:fillRect/>
          </a:stretch>
        </p:blipFill>
        <p:spPr>
          <a:xfrm>
            <a:off x="828000" y="1357200"/>
            <a:ext cx="1440000" cy="1440000"/>
          </a:xfrm>
          <a:prstGeom prst="rect">
            <a:avLst/>
          </a:prstGeom>
        </p:spPr>
      </p:pic>
      <p:pic>
        <p:nvPicPr>
          <p:cNvPr id="16" name="Image 2" descr="Une bouteille du domaine Domaine Sébastien Magnien">    </p:cNvPr>
          <p:cNvPicPr>
            <a:picLocks noChangeAspect="1"/>
          </p:cNvPicPr>
          <p:nvPr/>
        </p:nvPicPr>
        <p:blipFill>
          <a:blip r:embed="rId3"/>
          <a:stretch>
            <a:fillRect/>
          </a:stretch>
        </p:blipFill>
        <p:spPr>
          <a:xfrm>
            <a:off x="6223279" y="1357200"/>
            <a:ext cx="585443" cy="2232000"/>
          </a:xfrm>
          <a:prstGeom prst="rect">
            <a:avLst/>
          </a:prstGeom>
        </p:spPr>
      </p:pic>
      <p:sp>
        <p:nvSpPr>
          <p:cNvPr id="17" name="Text 12"/>
          <p:cNvSpPr/>
          <p:nvPr/>
        </p:nvSpPr>
        <p:spPr>
          <a:xfrm>
            <a:off x="2394024" y="1347810"/>
            <a:ext cx="168801" cy="451307"/>
          </a:xfrm>
          <a:prstGeom prst="rect">
            <a:avLst/>
          </a:prstGeom>
          <a:noFill/>
          <a:ln/>
        </p:spPr>
        <p:txBody>
          <a:bodyPr wrap="square" lIns="0" tIns="0" rIns="0" bIns="0" rtlCol="0" anchor="t"/>
          <a:lstStyle/>
          <a:p>
            <a:pPr algn="r" indent="0" marL="0">
              <a:lnSpc>
                <a:spcPct val="125000"/>
              </a:lnSpc>
              <a:buNone/>
            </a:pPr>
            <a:r>
              <a:rPr lang="en-US" sz="2221" dirty="0">
                <a:solidFill>
                  <a:srgbClr val="67067C"/>
                </a:solidFill>
                <a:latin typeface="Young Serif" pitchFamily="34" charset="0"/>
                <a:ea typeface="Young Serif" pitchFamily="34" charset="-122"/>
                <a:cs typeface="Young Serif" pitchFamily="34" charset="-120"/>
              </a:rPr>
              <a:t>I</a:t>
            </a:r>
            <a:endParaRPr lang="en-US" sz="2221" dirty="0"/>
          </a:p>
        </p:txBody>
      </p:sp>
      <p:sp>
        <p:nvSpPr>
          <p:cNvPr id="18" name="Text 13"/>
          <p:cNvSpPr/>
          <p:nvPr/>
        </p:nvSpPr>
        <p:spPr>
          <a:xfrm>
            <a:off x="2448000" y="1466316"/>
            <a:ext cx="3456000" cy="212278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Text 14"/>
          <p:cNvSpPr/>
          <p:nvPr/>
        </p:nvSpPr>
        <p:spPr>
          <a:xfrm>
            <a:off x="828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ol-bourgogne.png">    </p:cNvPr>
          <p:cNvPicPr>
            <a:picLocks noChangeAspect="1"/>
          </p:cNvPicPr>
          <p:nvPr/>
        </p:nvPicPr>
        <p:blipFill>
          <a:blip r:embed="rId4"/>
          <a:stretch>
            <a:fillRect/>
          </a:stretch>
        </p:blipFill>
        <p:spPr>
          <a:xfrm>
            <a:off x="828000" y="6214847"/>
            <a:ext cx="6120000" cy="1148400"/>
          </a:xfrm>
          <a:prstGeom prst="rect">
            <a:avLst/>
          </a:prstGeom>
        </p:spPr>
      </p:pic>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4"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077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077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788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788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252750"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25275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Text 12"/>
          <p:cNvSpPr/>
          <p:nvPr/>
        </p:nvSpPr>
        <p:spPr>
          <a:xfrm>
            <a:off x="612000" y="56017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7" name="Image 1" descr="/home/user/philippe1/build/deco/sol-bourgogne.png">    </p:cNvPr>
          <p:cNvPicPr>
            <a:picLocks noChangeAspect="1"/>
          </p:cNvPicPr>
          <p:nvPr/>
        </p:nvPicPr>
        <p:blipFill>
          <a:blip r:embed="rId2"/>
          <a:stretch>
            <a:fillRect/>
          </a:stretch>
        </p:blipFill>
        <p:spPr>
          <a:xfrm>
            <a:off x="612000" y="5749313"/>
            <a:ext cx="6120000" cy="1394740"/>
          </a:xfrm>
          <a:prstGeom prst="rect">
            <a:avLst/>
          </a:prstGeom>
        </p:spPr>
      </p:pic>
      <p:sp>
        <p:nvSpPr>
          <p:cNvPr id="18" name="Shape 13"/>
          <p:cNvSpPr/>
          <p:nvPr/>
        </p:nvSpPr>
        <p:spPr>
          <a:xfrm>
            <a:off x="612000" y="8388000"/>
            <a:ext cx="6120000" cy="0"/>
          </a:xfrm>
          <a:prstGeom prst="line">
            <a:avLst/>
          </a:prstGeom>
          <a:noFill/>
          <a:ln w="8890">
            <a:solidFill>
              <a:srgbClr val="46606E"/>
            </a:solidFill>
            <a:prstDash val="solid"/>
          </a:ln>
        </p:spPr>
      </p:sp>
      <p:sp>
        <p:nvSpPr>
          <p:cNvPr id="19"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0"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3572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1754" y="1357200"/>
            <a:ext cx="588492" cy="2232000"/>
          </a:xfrm>
          <a:prstGeom prst="rect">
            <a:avLst/>
          </a:prstGeom>
        </p:spPr>
      </p:pic>
      <p:sp>
        <p:nvSpPr>
          <p:cNvPr id="17" name="Text 12"/>
          <p:cNvSpPr/>
          <p:nvPr/>
        </p:nvSpPr>
        <p:spPr>
          <a:xfrm>
            <a:off x="2393990" y="1274606"/>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88865"/>
            <a:ext cx="3456000" cy="2200235"/>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Text 14"/>
          <p:cNvSpPr/>
          <p:nvPr/>
        </p:nvSpPr>
        <p:spPr>
          <a:xfrm>
            <a:off x="828000" y="683668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ol-bourgogne.png">    </p:cNvPr>
          <p:cNvPicPr>
            <a:picLocks noChangeAspect="1"/>
          </p:cNvPicPr>
          <p:nvPr/>
        </p:nvPicPr>
        <p:blipFill>
          <a:blip r:embed="rId4"/>
          <a:stretch>
            <a:fillRect/>
          </a:stretch>
        </p:blipFill>
        <p:spPr>
          <a:xfrm>
            <a:off x="828000" y="6984288"/>
            <a:ext cx="6120000" cy="1103991"/>
          </a:xfrm>
          <a:prstGeom prst="rect">
            <a:avLst/>
          </a:prstGeom>
        </p:spPr>
      </p:pic>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4"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630911" cy="180000"/>
          </a:xfrm>
          <a:prstGeom prst="roundRect">
            <a:avLst>
              <a:gd name="adj" fmla="val 10160"/>
            </a:avLst>
          </a:prstGeom>
          <a:solidFill>
            <a:srgbClr val="67067C"/>
          </a:solidFill>
          <a:ln w="8890">
            <a:solidFill>
              <a:srgbClr val="67067C"/>
            </a:solidFill>
            <a:prstDash val="solid"/>
          </a:ln>
        </p:spPr>
      </p:sp>
      <p:sp>
        <p:nvSpPr>
          <p:cNvPr id="8" name="Text 5"/>
          <p:cNvSpPr/>
          <p:nvPr/>
        </p:nvSpPr>
        <p:spPr>
          <a:xfrm>
            <a:off x="612000"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9" name="Shape 6"/>
          <p:cNvSpPr/>
          <p:nvPr/>
        </p:nvSpPr>
        <p:spPr>
          <a:xfrm>
            <a:off x="132211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32211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753500"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5350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3" name="Image 1" descr="deux portraits de la maison, côte à côte — Maison et Domaine André Goichot">    </p:cNvPr>
          <p:cNvPicPr>
            <a:picLocks noChangeAspect="1"/>
          </p:cNvPicPr>
          <p:nvPr/>
        </p:nvPicPr>
        <p:blipFill>
          <a:blip r:embed="rId2"/>
          <a:stretch>
            <a:fillRect/>
          </a:stretch>
        </p:blipFill>
        <p:spPr>
          <a:xfrm>
            <a:off x="612000" y="1357200"/>
            <a:ext cx="1440000" cy="1440000"/>
          </a:xfrm>
          <a:prstGeom prst="rect">
            <a:avLst/>
          </a:prstGeom>
        </p:spPr>
      </p:pic>
      <p:pic>
        <p:nvPicPr>
          <p:cNvPr id="14" name="Image 2" descr="Une bouteille du domaine Maison et Domaine André Goichot">    </p:cNvPr>
          <p:cNvPicPr>
            <a:picLocks noChangeAspect="1"/>
          </p:cNvPicPr>
          <p:nvPr/>
        </p:nvPicPr>
        <p:blipFill>
          <a:blip r:embed="rId3"/>
          <a:stretch>
            <a:fillRect/>
          </a:stretch>
        </p:blipFill>
        <p:spPr>
          <a:xfrm>
            <a:off x="6019475" y="1357200"/>
            <a:ext cx="561049" cy="2232000"/>
          </a:xfrm>
          <a:prstGeom prst="rect">
            <a:avLst/>
          </a:prstGeom>
        </p:spPr>
      </p:pic>
      <p:sp>
        <p:nvSpPr>
          <p:cNvPr id="15" name="Text 10"/>
          <p:cNvSpPr/>
          <p:nvPr/>
        </p:nvSpPr>
        <p:spPr>
          <a:xfrm>
            <a:off x="2178034" y="1627895"/>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6" name="Text 11"/>
          <p:cNvSpPr/>
          <p:nvPr/>
        </p:nvSpPr>
        <p:spPr>
          <a:xfrm>
            <a:off x="2232000" y="1748504"/>
            <a:ext cx="3456000" cy="184059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612000" y="620193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sol-bourgogne.png">    </p:cNvPr>
          <p:cNvPicPr>
            <a:picLocks noChangeAspect="1"/>
          </p:cNvPicPr>
          <p:nvPr/>
        </p:nvPicPr>
        <p:blipFill>
          <a:blip r:embed="rId4"/>
          <a:stretch>
            <a:fillRect/>
          </a:stretch>
        </p:blipFill>
        <p:spPr>
          <a:xfrm>
            <a:off x="612000" y="6349536"/>
            <a:ext cx="6120000" cy="1148400"/>
          </a:xfrm>
          <a:prstGeom prst="rect">
            <a:avLst/>
          </a:prstGeom>
        </p:spPr>
      </p:pic>
      <p:sp>
        <p:nvSpPr>
          <p:cNvPr id="20" name="Text 13"/>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27 · n°14 p. 28</a:t>
            </a:r>
            <a:endParaRPr lang="en-US" sz="74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3" name="Text 16"/>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6"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630911" cy="180000"/>
          </a:xfrm>
          <a:prstGeom prst="roundRect">
            <a:avLst>
              <a:gd name="adj" fmla="val 10160"/>
            </a:avLst>
          </a:prstGeom>
          <a:solidFill>
            <a:srgbClr val="67067C"/>
          </a:solidFill>
          <a:ln w="8890">
            <a:solidFill>
              <a:srgbClr val="67067C"/>
            </a:solidFill>
            <a:prstDash val="solid"/>
          </a:ln>
        </p:spPr>
      </p:sp>
      <p:sp>
        <p:nvSpPr>
          <p:cNvPr id="8" name="Text 5"/>
          <p:cNvSpPr/>
          <p:nvPr/>
        </p:nvSpPr>
        <p:spPr>
          <a:xfrm>
            <a:off x="828000"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9" name="Shape 6"/>
          <p:cNvSpPr/>
          <p:nvPr/>
        </p:nvSpPr>
        <p:spPr>
          <a:xfrm>
            <a:off x="153811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53811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969500"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96950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625968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5" name="Image 1" descr="/home/user/philippe1/build/deco/sol-bourgogne.png">    </p:cNvPr>
          <p:cNvPicPr>
            <a:picLocks noChangeAspect="1"/>
          </p:cNvPicPr>
          <p:nvPr/>
        </p:nvPicPr>
        <p:blipFill>
          <a:blip r:embed="rId2"/>
          <a:stretch>
            <a:fillRect/>
          </a:stretch>
        </p:blipFill>
        <p:spPr>
          <a:xfrm>
            <a:off x="828000" y="6407282"/>
            <a:ext cx="6120000" cy="1148400"/>
          </a:xfrm>
          <a:prstGeom prst="rect">
            <a:avLst/>
          </a:prstGeom>
        </p:spPr>
      </p:pic>
      <p:sp>
        <p:nvSpPr>
          <p:cNvPr id="16" name="Text 11"/>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27 · n°14 p. 28</a:t>
            </a:r>
            <a:endParaRPr lang="en-US" sz="740" dirty="0"/>
          </a:p>
        </p:txBody>
      </p:sp>
      <p:sp>
        <p:nvSpPr>
          <p:cNvPr id="17" name="Shape 12"/>
          <p:cNvSpPr/>
          <p:nvPr/>
        </p:nvSpPr>
        <p:spPr>
          <a:xfrm>
            <a:off x="828000" y="8388000"/>
            <a:ext cx="6120000" cy="0"/>
          </a:xfrm>
          <a:prstGeom prst="line">
            <a:avLst/>
          </a:prstGeom>
          <a:noFill/>
          <a:ln w="8890">
            <a:solidFill>
              <a:srgbClr val="46606E"/>
            </a:solidFill>
            <a:prstDash val="solid"/>
          </a:ln>
        </p:spPr>
      </p:sp>
      <p:sp>
        <p:nvSpPr>
          <p:cNvPr id="18"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19"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0"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1"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2"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3572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357200"/>
            <a:ext cx="598337" cy="2232000"/>
          </a:xfrm>
          <a:prstGeom prst="rect">
            <a:avLst/>
          </a:prstGeom>
        </p:spPr>
      </p:pic>
      <p:sp>
        <p:nvSpPr>
          <p:cNvPr id="13" name="Text 8"/>
          <p:cNvSpPr/>
          <p:nvPr/>
        </p:nvSpPr>
        <p:spPr>
          <a:xfrm>
            <a:off x="2177990" y="1393631"/>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507890"/>
            <a:ext cx="3456000" cy="2081211"/>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Text 10"/>
          <p:cNvSpPr/>
          <p:nvPr/>
        </p:nvSpPr>
        <p:spPr>
          <a:xfrm>
            <a:off x="612000" y="504390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7" name="Image 3" descr="/home/user/philippe1/build/deco/sol-bourgogne.png">    </p:cNvPr>
          <p:cNvPicPr>
            <a:picLocks noChangeAspect="1"/>
          </p:cNvPicPr>
          <p:nvPr/>
        </p:nvPicPr>
        <p:blipFill>
          <a:blip r:embed="rId4"/>
          <a:stretch>
            <a:fillRect/>
          </a:stretch>
        </p:blipFill>
        <p:spPr>
          <a:xfrm>
            <a:off x="612000" y="5191505"/>
            <a:ext cx="6120000" cy="1486716"/>
          </a:xfrm>
          <a:prstGeom prst="rect">
            <a:avLst/>
          </a:prstGeom>
        </p:spPr>
      </p:pic>
      <p:sp>
        <p:nvSpPr>
          <p:cNvPr id="18" name="Text 11"/>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25 · n°14 p. 28</a:t>
            </a:r>
            <a:endParaRPr lang="en-US" sz="740" dirty="0"/>
          </a:p>
        </p:txBody>
      </p:sp>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3572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357200"/>
            <a:ext cx="570197" cy="2232000"/>
          </a:xfrm>
          <a:prstGeom prst="rect">
            <a:avLst/>
          </a:prstGeom>
        </p:spPr>
      </p:pic>
      <p:sp>
        <p:nvSpPr>
          <p:cNvPr id="13" name="Text 8"/>
          <p:cNvSpPr/>
          <p:nvPr/>
        </p:nvSpPr>
        <p:spPr>
          <a:xfrm>
            <a:off x="2393990" y="1274606"/>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88865"/>
            <a:ext cx="3456000" cy="2200235"/>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Text 10"/>
          <p:cNvSpPr/>
          <p:nvPr/>
        </p:nvSpPr>
        <p:spPr>
          <a:xfrm>
            <a:off x="828000" y="568639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7" name="Image 3" descr="/home/user/philippe1/build/deco/sol-bourgogne.png">    </p:cNvPr>
          <p:cNvPicPr>
            <a:picLocks noChangeAspect="1"/>
          </p:cNvPicPr>
          <p:nvPr/>
        </p:nvPicPr>
        <p:blipFill>
          <a:blip r:embed="rId4"/>
          <a:stretch>
            <a:fillRect/>
          </a:stretch>
        </p:blipFill>
        <p:spPr>
          <a:xfrm>
            <a:off x="828000" y="5833996"/>
            <a:ext cx="6120000" cy="1148400"/>
          </a:xfrm>
          <a:prstGeom prst="rect">
            <a:avLst/>
          </a:prstGeom>
        </p:spPr>
      </p:pic>
      <p:sp>
        <p:nvSpPr>
          <p:cNvPr id="18" name="Text 11"/>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25 · n°13 p. 27</a:t>
            </a:r>
            <a:endParaRPr lang="en-US" sz="740" dirty="0"/>
          </a:p>
        </p:txBody>
      </p:sp>
      <p:sp>
        <p:nvSpPr>
          <p:cNvPr id="19" name="Shape 12"/>
          <p:cNvSpPr/>
          <p:nvPr/>
        </p:nvSpPr>
        <p:spPr>
          <a:xfrm>
            <a:off x="828000" y="8388000"/>
            <a:ext cx="6120000" cy="0"/>
          </a:xfrm>
          <a:prstGeom prst="line">
            <a:avLst/>
          </a:prstGeom>
          <a:noFill/>
          <a:ln w="8890">
            <a:solidFill>
              <a:srgbClr val="46606E"/>
            </a:solidFill>
            <a:prstDash val="solid"/>
          </a:ln>
        </p:spPr>
      </p:sp>
      <p:sp>
        <p:nvSpPr>
          <p:cNvPr id="20"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Prix de la bouteille H.T. Franco de port.</a:t>
            </a:r>
            <a:endParaRPr lang="en-US" sz="720" dirty="0"/>
          </a:p>
        </p:txBody>
      </p:sp>
      <p:sp>
        <p:nvSpPr>
          <p:cNvPr id="21"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071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71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536422"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5364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3" name="Image 1" descr="portrait du vigneron — Domaine des Verchères">    </p:cNvPr>
          <p:cNvPicPr>
            <a:picLocks noChangeAspect="1"/>
          </p:cNvPicPr>
          <p:nvPr/>
        </p:nvPicPr>
        <p:blipFill>
          <a:blip r:embed="rId2"/>
          <a:srcRect l="6000" r="6040" t="0" b="0"/>
          <a:stretch/>
        </p:blipFill>
        <p:spPr>
          <a:xfrm>
            <a:off x="612000" y="1357200"/>
            <a:ext cx="1440000" cy="1440000"/>
          </a:xfrm>
          <a:prstGeom prst="ellipse">
            <a:avLst/>
          </a:prstGeom>
        </p:spPr>
      </p:pic>
      <p:pic>
        <p:nvPicPr>
          <p:cNvPr id="14" name="Image 2" descr="Une bouteille du domaine Domaine des Verchères">    </p:cNvPr>
          <p:cNvPicPr>
            <a:picLocks noChangeAspect="1"/>
          </p:cNvPicPr>
          <p:nvPr/>
        </p:nvPicPr>
        <p:blipFill>
          <a:blip r:embed="rId3"/>
          <a:stretch>
            <a:fillRect/>
          </a:stretch>
        </p:blipFill>
        <p:spPr>
          <a:xfrm>
            <a:off x="6024049" y="1357200"/>
            <a:ext cx="551902" cy="2232000"/>
          </a:xfrm>
          <a:prstGeom prst="rect">
            <a:avLst/>
          </a:prstGeom>
        </p:spPr>
      </p:pic>
      <p:sp>
        <p:nvSpPr>
          <p:cNvPr id="15" name="Text 10"/>
          <p:cNvSpPr/>
          <p:nvPr/>
        </p:nvSpPr>
        <p:spPr>
          <a:xfrm>
            <a:off x="2178017" y="1347879"/>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6" name="Text 11"/>
          <p:cNvSpPr/>
          <p:nvPr/>
        </p:nvSpPr>
        <p:spPr>
          <a:xfrm>
            <a:off x="2232000" y="1466269"/>
            <a:ext cx="3456000" cy="212283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612000" y="57438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sol-bourgogne.png">    </p:cNvPr>
          <p:cNvPicPr>
            <a:picLocks noChangeAspect="1"/>
          </p:cNvPicPr>
          <p:nvPr/>
        </p:nvPicPr>
        <p:blipFill>
          <a:blip r:embed="rId4"/>
          <a:stretch>
            <a:fillRect/>
          </a:stretch>
        </p:blipFill>
        <p:spPr>
          <a:xfrm>
            <a:off x="612000" y="5891443"/>
            <a:ext cx="6120000" cy="1309461"/>
          </a:xfrm>
          <a:prstGeom prst="rect">
            <a:avLst/>
          </a:prstGeom>
        </p:spPr>
      </p:pic>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chai.</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rho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27</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33</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des Pasquiers</a:t>
            </a:r>
            <a:r>
              <a:rPr lang="en-US" sz="860" b="1" dirty="0">
                <a:solidFill>
                  <a:srgbClr val="FBF8F1"/>
                </a:solidFill>
                <a:latin typeface="IBM Plex Sans" pitchFamily="34" charset="0"/>
                <a:ea typeface="IBM Plex Sans" pitchFamily="34" charset="-122"/>
                <a:cs typeface="IBM Plex Sans" pitchFamily="34" charset="-120"/>
              </a:rPr>
              <a:t>   35</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30</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461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61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logo du domaine — Domaine Le Prieuré des Papes">    </p:cNvPr>
          <p:cNvPicPr>
            <a:picLocks noChangeAspect="1"/>
          </p:cNvPicPr>
          <p:nvPr/>
        </p:nvPicPr>
        <p:blipFill>
          <a:blip r:embed="rId2"/>
          <a:stretch>
            <a:fillRect/>
          </a:stretch>
        </p:blipFill>
        <p:spPr>
          <a:xfrm>
            <a:off x="612000" y="1357200"/>
            <a:ext cx="1440000" cy="1440000"/>
          </a:xfrm>
          <a:prstGeom prst="rect">
            <a:avLst/>
          </a:prstGeom>
        </p:spPr>
      </p:pic>
      <p:pic>
        <p:nvPicPr>
          <p:cNvPr id="14" name="Image 2" descr="Une bouteille du domaine Domaine Le Prieuré des Papes">    </p:cNvPr>
          <p:cNvPicPr>
            <a:picLocks noChangeAspect="1"/>
          </p:cNvPicPr>
          <p:nvPr/>
        </p:nvPicPr>
        <p:blipFill>
          <a:blip r:embed="rId3"/>
          <a:stretch>
            <a:fillRect/>
          </a:stretch>
        </p:blipFill>
        <p:spPr>
          <a:xfrm>
            <a:off x="6011852" y="1357200"/>
            <a:ext cx="576295" cy="2232000"/>
          </a:xfrm>
          <a:prstGeom prst="rect">
            <a:avLst/>
          </a:prstGeom>
        </p:spPr>
      </p:pic>
      <p:sp>
        <p:nvSpPr>
          <p:cNvPr id="15" name="Text 10"/>
          <p:cNvSpPr/>
          <p:nvPr/>
        </p:nvSpPr>
        <p:spPr>
          <a:xfrm>
            <a:off x="2178049" y="1190137"/>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6" name="Text 11"/>
          <p:cNvSpPr/>
          <p:nvPr/>
        </p:nvSpPr>
        <p:spPr>
          <a:xfrm>
            <a:off x="2232000" y="1217729"/>
            <a:ext cx="3456000" cy="2492071"/>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38718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612000" y="541850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19" name="Image 3" descr="/home/user/philippe1/build/deco/sol-rhone.png">    </p:cNvPr>
          <p:cNvPicPr>
            <a:picLocks noChangeAspect="1"/>
          </p:cNvPicPr>
          <p:nvPr/>
        </p:nvPicPr>
        <p:blipFill>
          <a:blip r:embed="rId4"/>
          <a:stretch>
            <a:fillRect/>
          </a:stretch>
        </p:blipFill>
        <p:spPr>
          <a:xfrm>
            <a:off x="612000" y="5566105"/>
            <a:ext cx="6120000" cy="1261955"/>
          </a:xfrm>
          <a:prstGeom prst="rect">
            <a:avLst/>
          </a:prstGeom>
        </p:spPr>
      </p:pic>
      <p:sp>
        <p:nvSpPr>
          <p:cNvPr id="20" name="Text 13"/>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32 · n°18 p. 33 · n°19 p. 34</a:t>
            </a:r>
            <a:endParaRPr lang="en-US" sz="740" dirty="0"/>
          </a:p>
        </p:txBody>
      </p:sp>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6"/>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6"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3" name="Image 1" descr="le domaine — Domaine de Coyeux">    </p:cNvPr>
          <p:cNvPicPr>
            <a:picLocks noChangeAspect="1"/>
          </p:cNvPicPr>
          <p:nvPr/>
        </p:nvPicPr>
        <p:blipFill>
          <a:blip r:embed="rId2"/>
          <a:srcRect l="2570" r="2693" t="0" b="0"/>
          <a:stretch/>
        </p:blipFill>
        <p:spPr>
          <a:xfrm>
            <a:off x="828000" y="1357200"/>
            <a:ext cx="1440000" cy="1440000"/>
          </a:xfrm>
          <a:prstGeom prst="ellipse">
            <a:avLst/>
          </a:prstGeom>
        </p:spPr>
      </p:pic>
      <p:pic>
        <p:nvPicPr>
          <p:cNvPr id="14" name="Image 2" descr="Une bouteille du domaine Domaine de Coyeux">    </p:cNvPr>
          <p:cNvPicPr>
            <a:picLocks noChangeAspect="1"/>
          </p:cNvPicPr>
          <p:nvPr/>
        </p:nvPicPr>
        <p:blipFill>
          <a:blip r:embed="rId3"/>
          <a:stretch>
            <a:fillRect/>
          </a:stretch>
        </p:blipFill>
        <p:spPr>
          <a:xfrm>
            <a:off x="6217180" y="1357200"/>
            <a:ext cx="597639" cy="2232000"/>
          </a:xfrm>
          <a:prstGeom prst="rect">
            <a:avLst/>
          </a:prstGeom>
        </p:spPr>
      </p:pic>
      <p:sp>
        <p:nvSpPr>
          <p:cNvPr id="15" name="Text 10"/>
          <p:cNvSpPr/>
          <p:nvPr/>
        </p:nvSpPr>
        <p:spPr>
          <a:xfrm>
            <a:off x="2394017" y="1174495"/>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6" name="Text 11"/>
          <p:cNvSpPr/>
          <p:nvPr/>
        </p:nvSpPr>
        <p:spPr>
          <a:xfrm>
            <a:off x="2448000" y="1257820"/>
            <a:ext cx="3456000" cy="2813930"/>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423375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31 · n°18 p. 33 · n°19 p. 34</a:t>
            </a:r>
            <a:endParaRPr lang="en-US" sz="740" dirty="0"/>
          </a:p>
        </p:txBody>
      </p:sp>
      <p:sp>
        <p:nvSpPr>
          <p:cNvPr id="19" name="Shape 13"/>
          <p:cNvSpPr/>
          <p:nvPr/>
        </p:nvSpPr>
        <p:spPr>
          <a:xfrm>
            <a:off x="828000" y="8388000"/>
            <a:ext cx="6120000" cy="0"/>
          </a:xfrm>
          <a:prstGeom prst="line">
            <a:avLst/>
          </a:prstGeom>
          <a:noFill/>
          <a:ln w="8890">
            <a:solidFill>
              <a:srgbClr val="46606E"/>
            </a:solidFill>
            <a:prstDash val="solid"/>
          </a:ln>
        </p:spPr>
      </p:sp>
      <p:sp>
        <p:nvSpPr>
          <p:cNvPr id="20"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4"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461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61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le couple, recadré au-dessus du verre — Domaine du Moulin Blanc">    </p:cNvPr>
          <p:cNvPicPr>
            <a:picLocks noChangeAspect="1"/>
          </p:cNvPicPr>
          <p:nvPr/>
        </p:nvPicPr>
        <p:blipFill>
          <a:blip r:embed="rId2"/>
          <a:stretch>
            <a:fillRect/>
          </a:stretch>
        </p:blipFill>
        <p:spPr>
          <a:xfrm>
            <a:off x="612000" y="1357200"/>
            <a:ext cx="1440000" cy="1440000"/>
          </a:xfrm>
          <a:prstGeom prst="rect">
            <a:avLst/>
          </a:prstGeom>
        </p:spPr>
      </p:pic>
      <p:sp>
        <p:nvSpPr>
          <p:cNvPr id="14" name="Shape 10"/>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5" name="Text 11"/>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6" name="Text 12"/>
          <p:cNvSpPr/>
          <p:nvPr/>
        </p:nvSpPr>
        <p:spPr>
          <a:xfrm>
            <a:off x="2177970" y="1318030"/>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7" name="Text 13"/>
          <p:cNvSpPr/>
          <p:nvPr/>
        </p:nvSpPr>
        <p:spPr>
          <a:xfrm>
            <a:off x="2232000" y="1397825"/>
            <a:ext cx="3456000" cy="2191275"/>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4"/>
          <p:cNvSpPr/>
          <p:nvPr/>
        </p:nvSpPr>
        <p:spPr>
          <a:xfrm>
            <a:off x="612000" y="49782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0" name="Image 2" descr="/home/user/philippe1/build/deco/sol-rhone.png">    </p:cNvPr>
          <p:cNvPicPr>
            <a:picLocks noChangeAspect="1"/>
          </p:cNvPicPr>
          <p:nvPr/>
        </p:nvPicPr>
        <p:blipFill>
          <a:blip r:embed="rId3"/>
          <a:stretch>
            <a:fillRect/>
          </a:stretch>
        </p:blipFill>
        <p:spPr>
          <a:xfrm>
            <a:off x="612000" y="5125871"/>
            <a:ext cx="6120000" cy="1526096"/>
          </a:xfrm>
          <a:prstGeom prst="rect">
            <a:avLst/>
          </a:prstGeom>
        </p:spPr>
      </p:pic>
      <p:sp>
        <p:nvSpPr>
          <p:cNvPr id="21" name="Text 15"/>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31 · n°17 p. 32 · n°19 p. 34</a:t>
            </a:r>
            <a:endParaRPr lang="en-US" sz="740" dirty="0"/>
          </a:p>
        </p:txBody>
      </p:sp>
      <p:sp>
        <p:nvSpPr>
          <p:cNvPr id="22" name="Shape 16"/>
          <p:cNvSpPr/>
          <p:nvPr/>
        </p:nvSpPr>
        <p:spPr>
          <a:xfrm>
            <a:off x="612000" y="8388000"/>
            <a:ext cx="6120000" cy="0"/>
          </a:xfrm>
          <a:prstGeom prst="line">
            <a:avLst/>
          </a:prstGeom>
          <a:noFill/>
          <a:ln w="8890">
            <a:solidFill>
              <a:srgbClr val="46606E"/>
            </a:solidFill>
            <a:prstDash val="solid"/>
          </a:ln>
        </p:spPr>
      </p:sp>
      <p:sp>
        <p:nvSpPr>
          <p:cNvPr id="23" name="Text 17"/>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4" name="Text 18"/>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3" name="Image 1" descr="vendanges dans les vignes — Domaine de la Pousterle">    </p:cNvPr>
          <p:cNvPicPr>
            <a:picLocks noChangeAspect="1"/>
          </p:cNvPicPr>
          <p:nvPr/>
        </p:nvPicPr>
        <p:blipFill>
          <a:blip r:embed="rId2"/>
          <a:srcRect l="0" r="10156" t="0" b="0"/>
          <a:stretch/>
        </p:blipFill>
        <p:spPr>
          <a:xfrm>
            <a:off x="828000" y="1357200"/>
            <a:ext cx="1440000" cy="1440000"/>
          </a:xfrm>
          <a:prstGeom prst="ellipse">
            <a:avLst/>
          </a:prstGeom>
        </p:spPr>
      </p:pic>
      <p:pic>
        <p:nvPicPr>
          <p:cNvPr id="14" name="Image 2" descr="Une bouteille du domaine Domaine de la Pousterle">    </p:cNvPr>
          <p:cNvPicPr>
            <a:picLocks noChangeAspect="1"/>
          </p:cNvPicPr>
          <p:nvPr/>
        </p:nvPicPr>
        <p:blipFill>
          <a:blip r:embed="rId3"/>
          <a:stretch>
            <a:fillRect/>
          </a:stretch>
        </p:blipFill>
        <p:spPr>
          <a:xfrm>
            <a:off x="6223279" y="1357200"/>
            <a:ext cx="585443" cy="2232000"/>
          </a:xfrm>
          <a:prstGeom prst="rect">
            <a:avLst/>
          </a:prstGeom>
        </p:spPr>
      </p:pic>
      <p:sp>
        <p:nvSpPr>
          <p:cNvPr id="15" name="Text 10"/>
          <p:cNvSpPr/>
          <p:nvPr/>
        </p:nvSpPr>
        <p:spPr>
          <a:xfrm>
            <a:off x="2393990" y="1288254"/>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6" name="Text 11"/>
          <p:cNvSpPr/>
          <p:nvPr/>
        </p:nvSpPr>
        <p:spPr>
          <a:xfrm>
            <a:off x="2448000" y="1370362"/>
            <a:ext cx="3456000" cy="22187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828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19" name="Image 3" descr="/home/user/philippe1/build/deco/sol-rhone.png">    </p:cNvPr>
          <p:cNvPicPr>
            <a:picLocks noChangeAspect="1"/>
          </p:cNvPicPr>
          <p:nvPr/>
        </p:nvPicPr>
        <p:blipFill>
          <a:blip r:embed="rId4"/>
          <a:stretch>
            <a:fillRect/>
          </a:stretch>
        </p:blipFill>
        <p:spPr>
          <a:xfrm>
            <a:off x="828000" y="6276164"/>
            <a:ext cx="6120000" cy="1148400"/>
          </a:xfrm>
          <a:prstGeom prst="rect">
            <a:avLst/>
          </a:prstGeom>
        </p:spPr>
      </p:pic>
      <p:sp>
        <p:nvSpPr>
          <p:cNvPr id="20" name="Text 13"/>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31 · n°17 p. 32 · n°18 p. 33</a:t>
            </a:r>
            <a:endParaRPr lang="en-US" sz="740" dirty="0"/>
          </a:p>
        </p:txBody>
      </p:sp>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3" name="Image 1" descr="portrait de la famille — Domaine des Pasquiers">    </p:cNvPr>
          <p:cNvPicPr>
            <a:picLocks noChangeAspect="1"/>
          </p:cNvPicPr>
          <p:nvPr/>
        </p:nvPicPr>
        <p:blipFill>
          <a:blip r:embed="rId2"/>
          <a:srcRect l="12500" r="12500" t="0" b="0"/>
          <a:stretch/>
        </p:blipFill>
        <p:spPr>
          <a:xfrm>
            <a:off x="612000" y="1357200"/>
            <a:ext cx="1440000" cy="1440000"/>
          </a:xfrm>
          <a:prstGeom prst="ellipse">
            <a:avLst/>
          </a:prstGeom>
        </p:spPr>
      </p:pic>
      <p:pic>
        <p:nvPicPr>
          <p:cNvPr id="14" name="Image 2" descr="Une bouteille du domaine Domaine des Pasquiers">    </p:cNvPr>
          <p:cNvPicPr>
            <a:picLocks noChangeAspect="1"/>
          </p:cNvPicPr>
          <p:nvPr/>
        </p:nvPicPr>
        <p:blipFill>
          <a:blip r:embed="rId3"/>
          <a:stretch>
            <a:fillRect/>
          </a:stretch>
        </p:blipFill>
        <p:spPr>
          <a:xfrm>
            <a:off x="6001180" y="1357200"/>
            <a:ext cx="597639" cy="2232000"/>
          </a:xfrm>
          <a:prstGeom prst="rect">
            <a:avLst/>
          </a:prstGeom>
        </p:spPr>
      </p:pic>
      <p:sp>
        <p:nvSpPr>
          <p:cNvPr id="15" name="Text 10"/>
          <p:cNvSpPr/>
          <p:nvPr/>
        </p:nvSpPr>
        <p:spPr>
          <a:xfrm>
            <a:off x="2178018" y="1358881"/>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6" name="Text 11"/>
          <p:cNvSpPr/>
          <p:nvPr/>
        </p:nvSpPr>
        <p:spPr>
          <a:xfrm>
            <a:off x="2232000" y="1492951"/>
            <a:ext cx="3456000" cy="2096149"/>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612000" y="569026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19" name="Image 3" descr="/home/user/philippe1/build/deco/sol-rhone.png">    </p:cNvPr>
          <p:cNvPicPr>
            <a:picLocks noChangeAspect="1"/>
          </p:cNvPicPr>
          <p:nvPr/>
        </p:nvPicPr>
        <p:blipFill>
          <a:blip r:embed="rId4"/>
          <a:stretch>
            <a:fillRect/>
          </a:stretch>
        </p:blipFill>
        <p:spPr>
          <a:xfrm>
            <a:off x="612000" y="5837865"/>
            <a:ext cx="6120000" cy="1341608"/>
          </a:xfrm>
          <a:prstGeom prst="rect">
            <a:avLst/>
          </a:prstGeom>
        </p:spPr>
      </p:pic>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les deux vignerons, recadrés sur leurs visages — Domaine Trichon">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Domaine Trichon">    </p:cNvPr>
          <p:cNvPicPr>
            <a:picLocks noChangeAspect="1"/>
          </p:cNvPicPr>
          <p:nvPr/>
        </p:nvPicPr>
        <p:blipFill>
          <a:blip r:embed="rId3"/>
          <a:stretch>
            <a:fillRect/>
          </a:stretch>
        </p:blipFill>
        <p:spPr>
          <a:xfrm>
            <a:off x="6199083" y="1357200"/>
            <a:ext cx="633834" cy="2232000"/>
          </a:xfrm>
          <a:prstGeom prst="rect">
            <a:avLst/>
          </a:prstGeom>
        </p:spPr>
      </p:pic>
      <p:sp>
        <p:nvSpPr>
          <p:cNvPr id="15" name="Text 10"/>
          <p:cNvSpPr/>
          <p:nvPr/>
        </p:nvSpPr>
        <p:spPr>
          <a:xfrm>
            <a:off x="2393985" y="1329391"/>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6" name="Text 11"/>
          <p:cNvSpPr/>
          <p:nvPr/>
        </p:nvSpPr>
        <p:spPr>
          <a:xfrm>
            <a:off x="2448000" y="1435633"/>
            <a:ext cx="3456000" cy="2153467"/>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allient leurs savoir-faire à la vigne et dans la création des cuvées.</a:t>
            </a:r>
            <a:endParaRPr lang="en-US" sz="1175"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828000" y="535912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19" name="Image 3" descr="/home/user/philippe1/build/deco/sol-rhone.png">    </p:cNvPr>
          <p:cNvPicPr>
            <a:picLocks noChangeAspect="1"/>
          </p:cNvPicPr>
          <p:nvPr/>
        </p:nvPicPr>
        <p:blipFill>
          <a:blip r:embed="rId4"/>
          <a:stretch>
            <a:fillRect/>
          </a:stretch>
        </p:blipFill>
        <p:spPr>
          <a:xfrm>
            <a:off x="828000" y="5506723"/>
            <a:ext cx="6120000" cy="1540294"/>
          </a:xfrm>
          <a:prstGeom prst="rect">
            <a:avLst/>
          </a:prstGeom>
        </p:spPr>
      </p:pic>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cave.</a:t>
            </a:r>
            <a:endParaRPr lang="en-US" sz="720" dirty="0"/>
          </a:p>
        </p:txBody>
      </p:sp>
      <p:sp>
        <p:nvSpPr>
          <p:cNvPr id="22"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3</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40</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38</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23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Fabien Castaing</a:t>
            </a:r>
            <a:r>
              <a:rPr lang="en-US" sz="860" b="1" dirty="0">
                <a:solidFill>
                  <a:srgbClr val="FBF8F1"/>
                </a:solidFill>
                <a:latin typeface="IBM Plex Sans" pitchFamily="34" charset="0"/>
                <a:ea typeface="IBM Plex Sans" pitchFamily="34" charset="-122"/>
                <a:cs typeface="IBM Plex Sans" pitchFamily="34" charset="-120"/>
              </a:rPr>
              <a:t>   41</a:t>
            </a:r>
            <a:endParaRPr lang="en-US" sz="860" dirty="0"/>
          </a:p>
        </p:txBody>
      </p:sp>
      <p:sp>
        <p:nvSpPr>
          <p:cNvPr id="15" name="Text 1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37</a:t>
            </a:r>
            <a:endParaRPr lang="en-US" sz="750" dirty="0"/>
          </a:p>
        </p:txBody>
      </p:sp>
      <p:sp>
        <p:nvSpPr>
          <p:cNvPr id="16" name="Text 1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460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956162"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9561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20836"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20836"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5" name="Image 1" descr="logo du domaine — Domaine Stratéus">    </p:cNvPr>
          <p:cNvPicPr>
            <a:picLocks noChangeAspect="1"/>
          </p:cNvPicPr>
          <p:nvPr/>
        </p:nvPicPr>
        <p:blipFill>
          <a:blip r:embed="rId2"/>
          <a:stretch>
            <a:fillRect/>
          </a:stretch>
        </p:blipFill>
        <p:spPr>
          <a:xfrm>
            <a:off x="828000" y="1357200"/>
            <a:ext cx="1440000" cy="1440000"/>
          </a:xfrm>
          <a:prstGeom prst="rect">
            <a:avLst/>
          </a:prstGeom>
        </p:spPr>
      </p:pic>
      <p:pic>
        <p:nvPicPr>
          <p:cNvPr id="16" name="Image 2" descr="Une bouteille du domaine Domaine Stratéus">    </p:cNvPr>
          <p:cNvPicPr>
            <a:picLocks noChangeAspect="1"/>
          </p:cNvPicPr>
          <p:nvPr/>
        </p:nvPicPr>
        <p:blipFill>
          <a:blip r:embed="rId3"/>
          <a:stretch>
            <a:fillRect/>
          </a:stretch>
        </p:blipFill>
        <p:spPr>
          <a:xfrm>
            <a:off x="6272066" y="1357200"/>
            <a:ext cx="487869" cy="2232000"/>
          </a:xfrm>
          <a:prstGeom prst="rect">
            <a:avLst/>
          </a:prstGeom>
        </p:spPr>
      </p:pic>
      <p:sp>
        <p:nvSpPr>
          <p:cNvPr id="17" name="Text 12"/>
          <p:cNvSpPr/>
          <p:nvPr/>
        </p:nvSpPr>
        <p:spPr>
          <a:xfrm>
            <a:off x="2393975" y="1470964"/>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8" name="Text 13"/>
          <p:cNvSpPr/>
          <p:nvPr/>
        </p:nvSpPr>
        <p:spPr>
          <a:xfrm>
            <a:off x="2448000" y="1619031"/>
            <a:ext cx="3456000" cy="197007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Text 14"/>
          <p:cNvSpPr/>
          <p:nvPr/>
        </p:nvSpPr>
        <p:spPr>
          <a:xfrm>
            <a:off x="828000" y="65132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1" name="Image 3" descr="/home/user/philippe1/build/deco/sol-sud-ouest.png">    </p:cNvPr>
          <p:cNvPicPr>
            <a:picLocks noChangeAspect="1"/>
          </p:cNvPicPr>
          <p:nvPr/>
        </p:nvPicPr>
        <p:blipFill>
          <a:blip r:embed="rId4"/>
          <a:stretch>
            <a:fillRect/>
          </a:stretch>
        </p:blipFill>
        <p:spPr>
          <a:xfrm>
            <a:off x="828000" y="6660885"/>
            <a:ext cx="6120000" cy="1148400"/>
          </a:xfrm>
          <a:prstGeom prst="rect">
            <a:avLst/>
          </a:prstGeom>
        </p:spPr>
      </p:pic>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4"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63997"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63997"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IGP</a:t>
            </a:r>
            <a:endParaRPr lang="en-US" sz="720" dirty="0"/>
          </a:p>
        </p:txBody>
      </p:sp>
      <p:sp>
        <p:nvSpPr>
          <p:cNvPr id="9" name="Shape 6"/>
          <p:cNvSpPr/>
          <p:nvPr/>
        </p:nvSpPr>
        <p:spPr>
          <a:xfrm>
            <a:off x="1055197"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55197"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514946"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514946"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2979619"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2979619"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3923176"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392317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7" name="Image 1" descr="logo du domaine — Domaine Haut Marin">    </p:cNvPr>
          <p:cNvPicPr>
            <a:picLocks noChangeAspect="1"/>
          </p:cNvPicPr>
          <p:nvPr/>
        </p:nvPicPr>
        <p:blipFill>
          <a:blip r:embed="rId2"/>
          <a:stretch>
            <a:fillRect/>
          </a:stretch>
        </p:blipFill>
        <p:spPr>
          <a:xfrm>
            <a:off x="612000" y="1357200"/>
            <a:ext cx="1440000" cy="1440000"/>
          </a:xfrm>
          <a:prstGeom prst="rect">
            <a:avLst/>
          </a:prstGeom>
        </p:spPr>
      </p:pic>
      <p:pic>
        <p:nvPicPr>
          <p:cNvPr id="18" name="Image 2" descr="Une bouteille du domaine Domaine Haut Marin">    </p:cNvPr>
          <p:cNvPicPr>
            <a:picLocks noChangeAspect="1"/>
          </p:cNvPicPr>
          <p:nvPr/>
        </p:nvPicPr>
        <p:blipFill>
          <a:blip r:embed="rId3"/>
          <a:stretch>
            <a:fillRect/>
          </a:stretch>
        </p:blipFill>
        <p:spPr>
          <a:xfrm>
            <a:off x="6028623" y="1357200"/>
            <a:ext cx="542754" cy="2232000"/>
          </a:xfrm>
          <a:prstGeom prst="rect">
            <a:avLst/>
          </a:prstGeom>
        </p:spPr>
      </p:pic>
      <p:sp>
        <p:nvSpPr>
          <p:cNvPr id="19" name="Text 14"/>
          <p:cNvSpPr/>
          <p:nvPr/>
        </p:nvSpPr>
        <p:spPr>
          <a:xfrm>
            <a:off x="2177992" y="1329261"/>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0" name="Text 15"/>
          <p:cNvSpPr/>
          <p:nvPr/>
        </p:nvSpPr>
        <p:spPr>
          <a:xfrm>
            <a:off x="2232000" y="1479080"/>
            <a:ext cx="3456000" cy="211002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a:t>
            </a:r>
            <a:endParaRPr lang="en-US" sz="13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6"/>
          <p:cNvSpPr/>
          <p:nvPr/>
        </p:nvSpPr>
        <p:spPr>
          <a:xfrm>
            <a:off x="612000" y="8388000"/>
            <a:ext cx="6120000" cy="0"/>
          </a:xfrm>
          <a:prstGeom prst="line">
            <a:avLst/>
          </a:prstGeom>
          <a:noFill/>
          <a:ln w="8890">
            <a:solidFill>
              <a:srgbClr val="46606E"/>
            </a:solidFill>
            <a:prstDash val="solid"/>
          </a:ln>
        </p:spPr>
      </p:sp>
      <p:sp>
        <p:nvSpPr>
          <p:cNvPr id="23" name="Text 17"/>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4" name="Text 18"/>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7"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63997"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63997"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IGP</a:t>
            </a:r>
            <a:endParaRPr lang="en-US" sz="720" dirty="0"/>
          </a:p>
        </p:txBody>
      </p:sp>
      <p:sp>
        <p:nvSpPr>
          <p:cNvPr id="9" name="Shape 6"/>
          <p:cNvSpPr/>
          <p:nvPr/>
        </p:nvSpPr>
        <p:spPr>
          <a:xfrm>
            <a:off x="1271197"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271197"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730946"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730946"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195619"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3195619"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4139176"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413917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269583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2000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1990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21" name="Table 2"/>
          <p:cNvGraphicFramePr>
            <a:graphicFrameLocks noGrp="1"/>
          </p:cNvGraphicFramePr>
          <p:nvPr>
            <p:extLst>
              <p:ext uri="{D42A27DB-BD31-4B8C-83A1-F6EECF244321}">
                <p14:modId xmlns:p14="http://schemas.microsoft.com/office/powerpoint/2010/main" val="1579011935"/>
              </p:ext>
            </p:extLst>
          </p:nvPr>
        </p:nvGraphicFramePr>
        <p:xfrm>
          <a:off x="828000" y="5799423"/>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10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8388000"/>
            <a:ext cx="6120000" cy="0"/>
          </a:xfrm>
          <a:prstGeom prst="line">
            <a:avLst/>
          </a:prstGeom>
          <a:noFill/>
          <a:ln w="8890">
            <a:solidFill>
              <a:srgbClr val="46606E"/>
            </a:solidFill>
            <a:prstDash val="solid"/>
          </a:ln>
        </p:spPr>
      </p:sp>
      <p:sp>
        <p:nvSpPr>
          <p:cNvPr id="21"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3"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4"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5"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300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489800"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4898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2954473"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29544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3898030"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38980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7" name="Image 1" descr="portrait du vigneron dans ses vignes — Fabien Castaing">    </p:cNvPr>
          <p:cNvPicPr>
            <a:picLocks noChangeAspect="1"/>
          </p:cNvPicPr>
          <p:nvPr/>
        </p:nvPicPr>
        <p:blipFill>
          <a:blip r:embed="rId2"/>
          <a:srcRect l="0" r="0" t="8320" b="16680"/>
          <a:stretch/>
        </p:blipFill>
        <p:spPr>
          <a:xfrm>
            <a:off x="612000" y="1357200"/>
            <a:ext cx="1440000" cy="1440000"/>
          </a:xfrm>
          <a:prstGeom prst="ellipse">
            <a:avLst/>
          </a:prstGeom>
        </p:spPr>
      </p:pic>
      <p:pic>
        <p:nvPicPr>
          <p:cNvPr id="18" name="Image 2" descr="Une bouteille du domaine Fabien Castaing">    </p:cNvPr>
          <p:cNvPicPr>
            <a:picLocks noChangeAspect="1"/>
          </p:cNvPicPr>
          <p:nvPr/>
        </p:nvPicPr>
        <p:blipFill>
          <a:blip r:embed="rId3"/>
          <a:stretch>
            <a:fillRect/>
          </a:stretch>
        </p:blipFill>
        <p:spPr>
          <a:xfrm>
            <a:off x="6023794" y="1357200"/>
            <a:ext cx="552412" cy="2232000"/>
          </a:xfrm>
          <a:prstGeom prst="rect">
            <a:avLst/>
          </a:prstGeom>
        </p:spPr>
      </p:pic>
      <p:sp>
        <p:nvSpPr>
          <p:cNvPr id="19" name="Text 14"/>
          <p:cNvSpPr/>
          <p:nvPr/>
        </p:nvSpPr>
        <p:spPr>
          <a:xfrm>
            <a:off x="2177975" y="1402836"/>
            <a:ext cx="219650" cy="379171"/>
          </a:xfrm>
          <a:prstGeom prst="rect">
            <a:avLst/>
          </a:prstGeom>
          <a:noFill/>
          <a:ln/>
        </p:spPr>
        <p:txBody>
          <a:bodyPr wrap="square" lIns="0" tIns="0" rIns="0" bIns="0" rtlCol="0" anchor="t"/>
          <a:lstStyle/>
          <a:p>
            <a:pPr algn="r" indent="0" marL="0">
              <a:lnSpc>
                <a:spcPct val="125200"/>
              </a:lnSpc>
              <a:buNone/>
            </a:pPr>
            <a:r>
              <a:rPr lang="en-US" sz="1866" dirty="0">
                <a:solidFill>
                  <a:srgbClr val="67067C"/>
                </a:solidFill>
                <a:latin typeface="Young Serif" pitchFamily="34" charset="0"/>
                <a:ea typeface="Young Serif" pitchFamily="34" charset="-122"/>
                <a:cs typeface="Young Serif" pitchFamily="34" charset="-120"/>
              </a:rPr>
              <a:t>L</a:t>
            </a:r>
            <a:endParaRPr lang="en-US" sz="1866" dirty="0"/>
          </a:p>
        </p:txBody>
      </p:sp>
      <p:sp>
        <p:nvSpPr>
          <p:cNvPr id="20" name="Text 15"/>
          <p:cNvSpPr/>
          <p:nvPr/>
        </p:nvSpPr>
        <p:spPr>
          <a:xfrm>
            <a:off x="2232000" y="1501556"/>
            <a:ext cx="3456000" cy="2087545"/>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1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Text 16"/>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3" name="Image 3" descr="/home/user/philippe1/build/deco/sol-sud-ouest.png">    </p:cNvPr>
          <p:cNvPicPr>
            <a:picLocks noChangeAspect="1"/>
          </p:cNvPicPr>
          <p:nvPr/>
        </p:nvPicPr>
        <p:blipFill>
          <a:blip r:embed="rId4"/>
          <a:stretch>
            <a:fillRect/>
          </a:stretch>
        </p:blipFill>
        <p:spPr>
          <a:xfrm>
            <a:off x="612000" y="6214847"/>
            <a:ext cx="6120000" cy="1148400"/>
          </a:xfrm>
          <a:prstGeom prst="rect">
            <a:avLst/>
          </a:prstGeom>
        </p:spPr>
      </p:pic>
      <p:sp>
        <p:nvSpPr>
          <p:cNvPr id="24" name="Shape 17"/>
          <p:cNvSpPr/>
          <p:nvPr/>
        </p:nvSpPr>
        <p:spPr>
          <a:xfrm>
            <a:off x="612000" y="8388000"/>
            <a:ext cx="6120000" cy="0"/>
          </a:xfrm>
          <a:prstGeom prst="line">
            <a:avLst/>
          </a:prstGeom>
          <a:noFill/>
          <a:ln w="8890">
            <a:solidFill>
              <a:srgbClr val="46606E"/>
            </a:solidFill>
            <a:prstDash val="solid"/>
          </a:ln>
        </p:spPr>
      </p:sp>
      <p:sp>
        <p:nvSpPr>
          <p:cNvPr id="25" name="Text 18"/>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6" name="Text 19"/>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20"/>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8"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9"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2460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705800"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7058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170473"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31704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4114030"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41140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828000" y="3696109"/>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4"/>
          <p:cNvSpPr/>
          <p:nvPr/>
        </p:nvSpPr>
        <p:spPr>
          <a:xfrm>
            <a:off x="828000" y="524281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0" name="Image 1" descr="/home/user/philippe1/build/deco/sol-sud-ouest.png">    </p:cNvPr>
          <p:cNvPicPr>
            <a:picLocks noChangeAspect="1"/>
          </p:cNvPicPr>
          <p:nvPr/>
        </p:nvPicPr>
        <p:blipFill>
          <a:blip r:embed="rId2"/>
          <a:stretch>
            <a:fillRect/>
          </a:stretch>
        </p:blipFill>
        <p:spPr>
          <a:xfrm>
            <a:off x="828000" y="5390414"/>
            <a:ext cx="6120000" cy="1610079"/>
          </a:xfrm>
          <a:prstGeom prst="rect">
            <a:avLst/>
          </a:prstGeom>
        </p:spPr>
      </p:pic>
      <p:sp>
        <p:nvSpPr>
          <p:cNvPr id="21" name="Shape 15"/>
          <p:cNvSpPr/>
          <p:nvPr/>
        </p:nvSpPr>
        <p:spPr>
          <a:xfrm>
            <a:off x="828000" y="8388000"/>
            <a:ext cx="6120000" cy="0"/>
          </a:xfrm>
          <a:prstGeom prst="line">
            <a:avLst/>
          </a:prstGeom>
          <a:noFill/>
          <a:ln w="8890">
            <a:solidFill>
              <a:srgbClr val="46606E"/>
            </a:solidFill>
            <a:prstDash val="solid"/>
          </a:ln>
        </p:spPr>
      </p:sp>
      <p:sp>
        <p:nvSpPr>
          <p:cNvPr id="22"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ordeaux.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59</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La Passion des Terroirs</a:t>
            </a:r>
            <a:r>
              <a:rPr lang="en-US" sz="860" b="1" dirty="0">
                <a:solidFill>
                  <a:srgbClr val="FBF8F1"/>
                </a:solidFill>
                <a:latin typeface="IBM Plex Sans" pitchFamily="34" charset="0"/>
                <a:ea typeface="IBM Plex Sans" pitchFamily="34" charset="-122"/>
                <a:cs typeface="IBM Plex Sans" pitchFamily="34" charset="-120"/>
              </a:rPr>
              <a:t>   44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la Gorce</a:t>
            </a:r>
            <a:r>
              <a:rPr lang="en-US" sz="860" b="1" dirty="0">
                <a:solidFill>
                  <a:srgbClr val="FBF8F1"/>
                </a:solidFill>
                <a:latin typeface="IBM Plex Sans" pitchFamily="34" charset="0"/>
                <a:ea typeface="IBM Plex Sans" pitchFamily="34" charset="-122"/>
                <a:cs typeface="IBM Plex Sans" pitchFamily="34" charset="-120"/>
              </a:rPr>
              <a:t>   47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27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49</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28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50</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29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51</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30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52</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43</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864357" cy="180000"/>
          </a:xfrm>
          <a:prstGeom prst="roundRect">
            <a:avLst>
              <a:gd name="adj" fmla="val 10160"/>
            </a:avLst>
          </a:prstGeom>
          <a:solidFill>
            <a:srgbClr val="D08C3C"/>
          </a:solidFill>
          <a:ln w="8890">
            <a:solidFill>
              <a:srgbClr val="D08C3C"/>
            </a:solidFill>
            <a:prstDash val="solid"/>
          </a:ln>
        </p:spPr>
      </p:sp>
      <p:sp>
        <p:nvSpPr>
          <p:cNvPr id="12" name="Text 9"/>
          <p:cNvSpPr/>
          <p:nvPr/>
        </p:nvSpPr>
        <p:spPr>
          <a:xfrm>
            <a:off x="27107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3" name="Shape 10"/>
          <p:cNvSpPr/>
          <p:nvPr/>
        </p:nvSpPr>
        <p:spPr>
          <a:xfrm>
            <a:off x="3654282"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6542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5" name="Image 1" descr="portrait de famille d'époque — La Passion des Terroirs">    </p:cNvPr>
          <p:cNvPicPr>
            <a:picLocks noChangeAspect="1"/>
          </p:cNvPicPr>
          <p:nvPr/>
        </p:nvPicPr>
        <p:blipFill>
          <a:blip r:embed="rId2"/>
          <a:srcRect l="0" r="0" t="12247" b="24677"/>
          <a:stretch/>
        </p:blipFill>
        <p:spPr>
          <a:xfrm>
            <a:off x="828000" y="1357200"/>
            <a:ext cx="1440000" cy="1440000"/>
          </a:xfrm>
          <a:prstGeom prst="ellipse">
            <a:avLst/>
          </a:prstGeom>
        </p:spPr>
      </p:pic>
      <p:pic>
        <p:nvPicPr>
          <p:cNvPr id="16" name="Image 2" descr="Une bouteille du domaine La Passion des Terroirs">    </p:cNvPr>
          <p:cNvPicPr>
            <a:picLocks noChangeAspect="1"/>
          </p:cNvPicPr>
          <p:nvPr/>
        </p:nvPicPr>
        <p:blipFill>
          <a:blip r:embed="rId3"/>
          <a:stretch>
            <a:fillRect/>
          </a:stretch>
        </p:blipFill>
        <p:spPr>
          <a:xfrm>
            <a:off x="6243098" y="1357200"/>
            <a:ext cx="545803" cy="2232000"/>
          </a:xfrm>
          <a:prstGeom prst="rect">
            <a:avLst/>
          </a:prstGeom>
        </p:spPr>
      </p:pic>
      <p:sp>
        <p:nvSpPr>
          <p:cNvPr id="17" name="Text 12"/>
          <p:cNvSpPr/>
          <p:nvPr/>
        </p:nvSpPr>
        <p:spPr>
          <a:xfrm>
            <a:off x="2394044" y="1273737"/>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8" name="Text 13"/>
          <p:cNvSpPr/>
          <p:nvPr/>
        </p:nvSpPr>
        <p:spPr>
          <a:xfrm>
            <a:off x="2448000" y="1396289"/>
            <a:ext cx="3456000" cy="2192812"/>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Text 14"/>
          <p:cNvSpPr/>
          <p:nvPr/>
        </p:nvSpPr>
        <p:spPr>
          <a:xfrm>
            <a:off x="828000" y="645196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1" name="Image 3" descr="/home/user/philippe1/build/deco/sol-bordeaux.png">    </p:cNvPr>
          <p:cNvPicPr>
            <a:picLocks noChangeAspect="1"/>
          </p:cNvPicPr>
          <p:nvPr/>
        </p:nvPicPr>
        <p:blipFill>
          <a:blip r:embed="rId4"/>
          <a:stretch>
            <a:fillRect/>
          </a:stretch>
        </p:blipFill>
        <p:spPr>
          <a:xfrm>
            <a:off x="828000" y="6599568"/>
            <a:ext cx="6120000" cy="1148400"/>
          </a:xfrm>
          <a:prstGeom prst="rect">
            <a:avLst/>
          </a:prstGeom>
        </p:spPr>
      </p:pic>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Demander le tarif et offre.</a:t>
            </a:r>
            <a:endParaRPr lang="en-US" sz="720" dirty="0"/>
          </a:p>
        </p:txBody>
      </p:sp>
      <p:sp>
        <p:nvSpPr>
          <p:cNvPr id="24"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864357" cy="180000"/>
          </a:xfrm>
          <a:prstGeom prst="roundRect">
            <a:avLst>
              <a:gd name="adj" fmla="val 10160"/>
            </a:avLst>
          </a:prstGeom>
          <a:solidFill>
            <a:srgbClr val="D08C3C"/>
          </a:solidFill>
          <a:ln w="8890">
            <a:solidFill>
              <a:srgbClr val="D08C3C"/>
            </a:solidFill>
            <a:prstDash val="solid"/>
          </a:ln>
        </p:spPr>
      </p:sp>
      <p:sp>
        <p:nvSpPr>
          <p:cNvPr id="12" name="Text 9"/>
          <p:cNvSpPr/>
          <p:nvPr/>
        </p:nvSpPr>
        <p:spPr>
          <a:xfrm>
            <a:off x="24947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3" name="Shape 10"/>
          <p:cNvSpPr/>
          <p:nvPr/>
        </p:nvSpPr>
        <p:spPr>
          <a:xfrm>
            <a:off x="3438282"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382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Text 12"/>
          <p:cNvSpPr/>
          <p:nvPr/>
        </p:nvSpPr>
        <p:spPr>
          <a:xfrm>
            <a:off x="612000" y="67558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7" name="Image 1" descr="/home/user/philippe1/build/deco/sol-bordeaux.png">    </p:cNvPr>
          <p:cNvPicPr>
            <a:picLocks noChangeAspect="1"/>
          </p:cNvPicPr>
          <p:nvPr/>
        </p:nvPicPr>
        <p:blipFill>
          <a:blip r:embed="rId2"/>
          <a:stretch>
            <a:fillRect/>
          </a:stretch>
        </p:blipFill>
        <p:spPr>
          <a:xfrm>
            <a:off x="612000" y="6903475"/>
            <a:ext cx="6120000" cy="1148400"/>
          </a:xfrm>
          <a:prstGeom prst="rect">
            <a:avLst/>
          </a:prstGeom>
        </p:spPr>
      </p:pic>
      <p:sp>
        <p:nvSpPr>
          <p:cNvPr id="18" name="Shape 13"/>
          <p:cNvSpPr/>
          <p:nvPr/>
        </p:nvSpPr>
        <p:spPr>
          <a:xfrm>
            <a:off x="612000" y="8388000"/>
            <a:ext cx="6120000" cy="0"/>
          </a:xfrm>
          <a:prstGeom prst="line">
            <a:avLst/>
          </a:prstGeom>
          <a:noFill/>
          <a:ln w="8890">
            <a:solidFill>
              <a:srgbClr val="46606E"/>
            </a:solidFill>
            <a:prstDash val="solid"/>
          </a:ln>
        </p:spPr>
      </p:sp>
      <p:sp>
        <p:nvSpPr>
          <p:cNvPr id="19"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Demander le tarif et offre.</a:t>
            </a:r>
            <a:endParaRPr lang="en-US" sz="720" dirty="0"/>
          </a:p>
        </p:txBody>
      </p:sp>
      <p:sp>
        <p:nvSpPr>
          <p:cNvPr id="20"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864357" cy="180000"/>
          </a:xfrm>
          <a:prstGeom prst="roundRect">
            <a:avLst>
              <a:gd name="adj" fmla="val 10160"/>
            </a:avLst>
          </a:prstGeom>
          <a:solidFill>
            <a:srgbClr val="D08C3C"/>
          </a:solidFill>
          <a:ln w="8890">
            <a:solidFill>
              <a:srgbClr val="D08C3C"/>
            </a:solidFill>
            <a:prstDash val="solid"/>
          </a:ln>
        </p:spPr>
      </p:sp>
      <p:sp>
        <p:nvSpPr>
          <p:cNvPr id="12" name="Text 9"/>
          <p:cNvSpPr/>
          <p:nvPr/>
        </p:nvSpPr>
        <p:spPr>
          <a:xfrm>
            <a:off x="27107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3" name="Shape 10"/>
          <p:cNvSpPr/>
          <p:nvPr/>
        </p:nvSpPr>
        <p:spPr>
          <a:xfrm>
            <a:off x="3654282"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6542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Text 12"/>
          <p:cNvSpPr/>
          <p:nvPr/>
        </p:nvSpPr>
        <p:spPr>
          <a:xfrm>
            <a:off x="828000" y="637115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7" name="Image 1" descr="/home/user/philippe1/build/deco/sol-bordeaux.png">    </p:cNvPr>
          <p:cNvPicPr>
            <a:picLocks noChangeAspect="1"/>
          </p:cNvPicPr>
          <p:nvPr/>
        </p:nvPicPr>
        <p:blipFill>
          <a:blip r:embed="rId2"/>
          <a:stretch>
            <a:fillRect/>
          </a:stretch>
        </p:blipFill>
        <p:spPr>
          <a:xfrm>
            <a:off x="828000" y="6518754"/>
            <a:ext cx="6120000" cy="1148400"/>
          </a:xfrm>
          <a:prstGeom prst="rect">
            <a:avLst/>
          </a:prstGeom>
        </p:spPr>
      </p:pic>
      <p:sp>
        <p:nvSpPr>
          <p:cNvPr id="18" name="Shape 13"/>
          <p:cNvSpPr/>
          <p:nvPr/>
        </p:nvSpPr>
        <p:spPr>
          <a:xfrm>
            <a:off x="828000" y="8388000"/>
            <a:ext cx="6120000" cy="0"/>
          </a:xfrm>
          <a:prstGeom prst="line">
            <a:avLst/>
          </a:prstGeom>
          <a:noFill/>
          <a:ln w="8890">
            <a:solidFill>
              <a:srgbClr val="46606E"/>
            </a:solidFill>
            <a:prstDash val="solid"/>
          </a:ln>
        </p:spPr>
      </p:sp>
      <p:sp>
        <p:nvSpPr>
          <p:cNvPr id="19"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Demander le tarif et offre.</a:t>
            </a:r>
            <a:endParaRPr lang="en-US" sz="720" dirty="0"/>
          </a:p>
        </p:txBody>
      </p:sp>
      <p:sp>
        <p:nvSpPr>
          <p:cNvPr id="20"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3"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3" name="Image 1" descr="portrait des vignerons — Château la Gorce">    </p:cNvPr>
          <p:cNvPicPr>
            <a:picLocks noChangeAspect="1"/>
          </p:cNvPicPr>
          <p:nvPr/>
        </p:nvPicPr>
        <p:blipFill>
          <a:blip r:embed="rId2"/>
          <a:srcRect l="0" r="0" t="11067" b="22266"/>
          <a:stretch/>
        </p:blipFill>
        <p:spPr>
          <a:xfrm>
            <a:off x="612000" y="1357200"/>
            <a:ext cx="1440000" cy="1440000"/>
          </a:xfrm>
          <a:prstGeom prst="ellipse">
            <a:avLst/>
          </a:prstGeom>
        </p:spPr>
      </p:pic>
      <p:pic>
        <p:nvPicPr>
          <p:cNvPr id="14" name="Image 2" descr="Une bouteille du domaine Château la Gorce">    </p:cNvPr>
          <p:cNvPicPr>
            <a:picLocks noChangeAspect="1"/>
          </p:cNvPicPr>
          <p:nvPr/>
        </p:nvPicPr>
        <p:blipFill>
          <a:blip r:embed="rId3"/>
          <a:stretch>
            <a:fillRect/>
          </a:stretch>
        </p:blipFill>
        <p:spPr>
          <a:xfrm>
            <a:off x="6024049" y="1357200"/>
            <a:ext cx="551902" cy="2232000"/>
          </a:xfrm>
          <a:prstGeom prst="rect">
            <a:avLst/>
          </a:prstGeom>
        </p:spPr>
      </p:pic>
      <p:sp>
        <p:nvSpPr>
          <p:cNvPr id="15" name="Text 10"/>
          <p:cNvSpPr/>
          <p:nvPr/>
        </p:nvSpPr>
        <p:spPr>
          <a:xfrm>
            <a:off x="2177992" y="1188595"/>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6" name="Text 11"/>
          <p:cNvSpPr/>
          <p:nvPr/>
        </p:nvSpPr>
        <p:spPr>
          <a:xfrm>
            <a:off x="2232000" y="1338415"/>
            <a:ext cx="3456000" cy="225068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9" name="Image 3" descr="/home/user/philippe1/build/deco/sol-bordeaux.png">    </p:cNvPr>
          <p:cNvPicPr>
            <a:picLocks noChangeAspect="1"/>
          </p:cNvPicPr>
          <p:nvPr/>
        </p:nvPicPr>
        <p:blipFill>
          <a:blip r:embed="rId4"/>
          <a:stretch>
            <a:fillRect/>
          </a:stretch>
        </p:blipFill>
        <p:spPr>
          <a:xfrm>
            <a:off x="612000" y="6276164"/>
            <a:ext cx="6120000" cy="1148400"/>
          </a:xfrm>
          <a:prstGeom prst="rect">
            <a:avLst/>
          </a:prstGeom>
        </p:spPr>
      </p:pic>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41241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5" name="Image 1" descr="/home/user/philippe1/build/deco/sol-bordeaux.png">    </p:cNvPr>
          <p:cNvPicPr>
            <a:picLocks noChangeAspect="1"/>
          </p:cNvPicPr>
          <p:nvPr/>
        </p:nvPicPr>
        <p:blipFill>
          <a:blip r:embed="rId2"/>
          <a:stretch>
            <a:fillRect/>
          </a:stretch>
        </p:blipFill>
        <p:spPr>
          <a:xfrm>
            <a:off x="828000" y="4271747"/>
            <a:ext cx="6120000" cy="2281279"/>
          </a:xfrm>
          <a:prstGeom prst="rect">
            <a:avLst/>
          </a:prstGeom>
        </p:spPr>
      </p:pic>
      <p:sp>
        <p:nvSpPr>
          <p:cNvPr id="16" name="Shape 11"/>
          <p:cNvSpPr/>
          <p:nvPr/>
        </p:nvSpPr>
        <p:spPr>
          <a:xfrm>
            <a:off x="828000" y="8388000"/>
            <a:ext cx="6120000" cy="0"/>
          </a:xfrm>
          <a:prstGeom prst="line">
            <a:avLst/>
          </a:prstGeom>
          <a:noFill/>
          <a:ln w="8890">
            <a:solidFill>
              <a:srgbClr val="46606E"/>
            </a:solidFill>
            <a:prstDash val="solid"/>
          </a:ln>
        </p:spPr>
      </p:sp>
      <p:sp>
        <p:nvSpPr>
          <p:cNvPr id="17"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18"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19"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0"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21"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568457"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30051" y="1047600"/>
            <a:ext cx="568457"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Biodyvin</a:t>
            </a:r>
            <a:endParaRPr lang="en-US" sz="720" dirty="0"/>
          </a:p>
        </p:txBody>
      </p:sp>
      <p:sp>
        <p:nvSpPr>
          <p:cNvPr id="11" name="Shape 8"/>
          <p:cNvSpPr/>
          <p:nvPr/>
        </p:nvSpPr>
        <p:spPr>
          <a:xfrm>
            <a:off x="1677709"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677709"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142382"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14238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5" name="Image 1" descr="logo du château — Château Falfas">    </p:cNvPr>
          <p:cNvPicPr>
            <a:picLocks noChangeAspect="1"/>
          </p:cNvPicPr>
          <p:nvPr/>
        </p:nvPicPr>
        <p:blipFill>
          <a:blip r:embed="rId2"/>
          <a:stretch>
            <a:fillRect/>
          </a:stretch>
        </p:blipFill>
        <p:spPr>
          <a:xfrm>
            <a:off x="612000" y="1357200"/>
            <a:ext cx="1440000" cy="1440000"/>
          </a:xfrm>
          <a:prstGeom prst="rect">
            <a:avLst/>
          </a:prstGeom>
        </p:spPr>
      </p:pic>
      <p:pic>
        <p:nvPicPr>
          <p:cNvPr id="16" name="Image 2" descr="Une bouteille du domaine Château Falfas">    </p:cNvPr>
          <p:cNvPicPr>
            <a:picLocks noChangeAspect="1"/>
          </p:cNvPicPr>
          <p:nvPr/>
        </p:nvPicPr>
        <p:blipFill>
          <a:blip r:embed="rId3"/>
          <a:stretch>
            <a:fillRect/>
          </a:stretch>
        </p:blipFill>
        <p:spPr>
          <a:xfrm>
            <a:off x="6028623" y="1357200"/>
            <a:ext cx="542754" cy="2232000"/>
          </a:xfrm>
          <a:prstGeom prst="rect">
            <a:avLst/>
          </a:prstGeom>
        </p:spPr>
      </p:pic>
      <p:sp>
        <p:nvSpPr>
          <p:cNvPr id="17" name="Text 12"/>
          <p:cNvSpPr/>
          <p:nvPr/>
        </p:nvSpPr>
        <p:spPr>
          <a:xfrm>
            <a:off x="2177960" y="1352724"/>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8" name="Text 13"/>
          <p:cNvSpPr/>
          <p:nvPr/>
        </p:nvSpPr>
        <p:spPr>
          <a:xfrm>
            <a:off x="2232000" y="1462935"/>
            <a:ext cx="3456000" cy="21261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Text 14"/>
          <p:cNvSpPr/>
          <p:nvPr/>
        </p:nvSpPr>
        <p:spPr>
          <a:xfrm>
            <a:off x="612000" y="529780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1" name="Image 3" descr="/home/user/philippe1/build/deco/sol-bordeaux.png">    </p:cNvPr>
          <p:cNvPicPr>
            <a:picLocks noChangeAspect="1"/>
          </p:cNvPicPr>
          <p:nvPr/>
        </p:nvPicPr>
        <p:blipFill>
          <a:blip r:embed="rId4"/>
          <a:stretch>
            <a:fillRect/>
          </a:stretch>
        </p:blipFill>
        <p:spPr>
          <a:xfrm>
            <a:off x="612000" y="5445405"/>
            <a:ext cx="6120000" cy="1577084"/>
          </a:xfrm>
          <a:prstGeom prst="rect">
            <a:avLst/>
          </a:prstGeom>
        </p:spPr>
      </p:pic>
      <p:sp>
        <p:nvSpPr>
          <p:cNvPr id="22" name="Shape 15"/>
          <p:cNvSpPr/>
          <p:nvPr/>
        </p:nvSpPr>
        <p:spPr>
          <a:xfrm>
            <a:off x="612000" y="8388000"/>
            <a:ext cx="6120000" cy="0"/>
          </a:xfrm>
          <a:prstGeom prst="line">
            <a:avLst/>
          </a:prstGeom>
          <a:noFill/>
          <a:ln w="8890">
            <a:solidFill>
              <a:srgbClr val="46606E"/>
            </a:solidFill>
            <a:prstDash val="solid"/>
          </a:ln>
        </p:spPr>
      </p:sp>
      <p:sp>
        <p:nvSpPr>
          <p:cNvPr id="23"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4"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569006"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246051" y="1047600"/>
            <a:ext cx="56900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Demeter</a:t>
            </a:r>
            <a:endParaRPr lang="en-US" sz="720" dirty="0"/>
          </a:p>
        </p:txBody>
      </p:sp>
      <p:sp>
        <p:nvSpPr>
          <p:cNvPr id="11" name="Shape 8"/>
          <p:cNvSpPr/>
          <p:nvPr/>
        </p:nvSpPr>
        <p:spPr>
          <a:xfrm>
            <a:off x="189425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89425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358931"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35893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5" name="Image 1" descr="vendanges au domaine — Château Pré la Lande">    </p:cNvPr>
          <p:cNvPicPr>
            <a:picLocks noChangeAspect="1"/>
          </p:cNvPicPr>
          <p:nvPr/>
        </p:nvPicPr>
        <p:blipFill>
          <a:blip r:embed="rId2"/>
          <a:srcRect l="10000" r="10000" t="0" b="0"/>
          <a:stretch/>
        </p:blipFill>
        <p:spPr>
          <a:xfrm>
            <a:off x="828000" y="1357200"/>
            <a:ext cx="1440000" cy="1440000"/>
          </a:xfrm>
          <a:prstGeom prst="ellipse">
            <a:avLst/>
          </a:prstGeom>
        </p:spPr>
      </p:pic>
      <p:pic>
        <p:nvPicPr>
          <p:cNvPr id="16" name="Image 2" descr="Une bouteille du domaine Château Pré la Lande">    </p:cNvPr>
          <p:cNvPicPr>
            <a:picLocks noChangeAspect="1"/>
          </p:cNvPicPr>
          <p:nvPr/>
        </p:nvPicPr>
        <p:blipFill>
          <a:blip r:embed="rId3"/>
          <a:stretch>
            <a:fillRect/>
          </a:stretch>
        </p:blipFill>
        <p:spPr>
          <a:xfrm>
            <a:off x="6238525" y="1357200"/>
            <a:ext cx="554951" cy="2232000"/>
          </a:xfrm>
          <a:prstGeom prst="rect">
            <a:avLst/>
          </a:prstGeom>
        </p:spPr>
      </p:pic>
      <p:sp>
        <p:nvSpPr>
          <p:cNvPr id="17" name="Text 12"/>
          <p:cNvSpPr/>
          <p:nvPr/>
        </p:nvSpPr>
        <p:spPr>
          <a:xfrm>
            <a:off x="2394017" y="1347879"/>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8" name="Text 13"/>
          <p:cNvSpPr/>
          <p:nvPr/>
        </p:nvSpPr>
        <p:spPr>
          <a:xfrm>
            <a:off x="2448000" y="1466269"/>
            <a:ext cx="3456000" cy="212283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Text 14"/>
          <p:cNvSpPr/>
          <p:nvPr/>
        </p:nvSpPr>
        <p:spPr>
          <a:xfrm>
            <a:off x="828000" y="529780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1" name="Image 3" descr="/home/user/philippe1/build/deco/sol-bordeaux.png">    </p:cNvPr>
          <p:cNvPicPr>
            <a:picLocks noChangeAspect="1"/>
          </p:cNvPicPr>
          <p:nvPr/>
        </p:nvPicPr>
        <p:blipFill>
          <a:blip r:embed="rId4"/>
          <a:stretch>
            <a:fillRect/>
          </a:stretch>
        </p:blipFill>
        <p:spPr>
          <a:xfrm>
            <a:off x="828000" y="5445405"/>
            <a:ext cx="6120000" cy="1577084"/>
          </a:xfrm>
          <a:prstGeom prst="rect">
            <a:avLst/>
          </a:prstGeom>
        </p:spPr>
      </p:pic>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chai.</a:t>
            </a:r>
            <a:endParaRPr lang="en-US" sz="720" dirty="0"/>
          </a:p>
        </p:txBody>
      </p:sp>
      <p:sp>
        <p:nvSpPr>
          <p:cNvPr id="24"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portrait des vignerons — Château Balac">    </p:cNvPr>
          <p:cNvPicPr>
            <a:picLocks noChangeAspect="1"/>
          </p:cNvPicPr>
          <p:nvPr/>
        </p:nvPicPr>
        <p:blipFill>
          <a:blip r:embed="rId2"/>
          <a:srcRect l="16591" r="16705" t="0" b="0"/>
          <a:stretch/>
        </p:blipFill>
        <p:spPr>
          <a:xfrm>
            <a:off x="612000" y="1357200"/>
            <a:ext cx="1440000" cy="1440000"/>
          </a:xfrm>
          <a:prstGeom prst="ellipse">
            <a:avLst/>
          </a:prstGeom>
        </p:spPr>
      </p:pic>
      <p:pic>
        <p:nvPicPr>
          <p:cNvPr id="14" name="Image 2" descr="Une bouteille du domaine Château Balac">    </p:cNvPr>
          <p:cNvPicPr>
            <a:picLocks noChangeAspect="1"/>
          </p:cNvPicPr>
          <p:nvPr/>
        </p:nvPicPr>
        <p:blipFill>
          <a:blip r:embed="rId3"/>
          <a:stretch>
            <a:fillRect/>
          </a:stretch>
        </p:blipFill>
        <p:spPr>
          <a:xfrm>
            <a:off x="6030148" y="1357200"/>
            <a:ext cx="539705" cy="2232000"/>
          </a:xfrm>
          <a:prstGeom prst="rect">
            <a:avLst/>
          </a:prstGeom>
        </p:spPr>
      </p:pic>
      <p:sp>
        <p:nvSpPr>
          <p:cNvPr id="15" name="Text 10"/>
          <p:cNvSpPr/>
          <p:nvPr/>
        </p:nvSpPr>
        <p:spPr>
          <a:xfrm>
            <a:off x="2177976" y="1476709"/>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6" name="Text 11"/>
          <p:cNvSpPr/>
          <p:nvPr/>
        </p:nvSpPr>
        <p:spPr>
          <a:xfrm>
            <a:off x="2232000" y="1615078"/>
            <a:ext cx="3456000" cy="197402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612000" y="535912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9" name="Image 3" descr="/home/user/philippe1/build/deco/sol-bordeaux.png">    </p:cNvPr>
          <p:cNvPicPr>
            <a:picLocks noChangeAspect="1"/>
          </p:cNvPicPr>
          <p:nvPr/>
        </p:nvPicPr>
        <p:blipFill>
          <a:blip r:embed="rId4"/>
          <a:stretch>
            <a:fillRect/>
          </a:stretch>
        </p:blipFill>
        <p:spPr>
          <a:xfrm>
            <a:off x="612000" y="5506723"/>
            <a:ext cx="6120000" cy="1540294"/>
          </a:xfrm>
          <a:prstGeom prst="rect">
            <a:avLst/>
          </a:prstGeom>
        </p:spPr>
      </p:pic>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les deux vignerons, deux portraits côte à côte — Château l’Escarderie">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Château l’Escarderie">    </p:cNvPr>
          <p:cNvPicPr>
            <a:picLocks noChangeAspect="1"/>
          </p:cNvPicPr>
          <p:nvPr/>
        </p:nvPicPr>
        <p:blipFill>
          <a:blip r:embed="rId3"/>
          <a:stretch>
            <a:fillRect/>
          </a:stretch>
        </p:blipFill>
        <p:spPr>
          <a:xfrm>
            <a:off x="6243098" y="1357200"/>
            <a:ext cx="545803" cy="2232000"/>
          </a:xfrm>
          <a:prstGeom prst="rect">
            <a:avLst/>
          </a:prstGeom>
        </p:spPr>
      </p:pic>
      <p:sp>
        <p:nvSpPr>
          <p:cNvPr id="15" name="Text 10"/>
          <p:cNvSpPr/>
          <p:nvPr/>
        </p:nvSpPr>
        <p:spPr>
          <a:xfrm>
            <a:off x="2394014" y="1339504"/>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6" name="Text 11"/>
          <p:cNvSpPr/>
          <p:nvPr/>
        </p:nvSpPr>
        <p:spPr>
          <a:xfrm>
            <a:off x="2448000" y="1472031"/>
            <a:ext cx="3456000" cy="211706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828000" y="72214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9" name="Image 3" descr="/home/user/philippe1/build/deco/sol-bordeaux.png">    </p:cNvPr>
          <p:cNvPicPr>
            <a:picLocks noChangeAspect="1"/>
          </p:cNvPicPr>
          <p:nvPr/>
        </p:nvPicPr>
        <p:blipFill>
          <a:blip r:embed="rId4"/>
          <a:stretch>
            <a:fillRect/>
          </a:stretch>
        </p:blipFill>
        <p:spPr>
          <a:xfrm>
            <a:off x="828000" y="7369009"/>
            <a:ext cx="6120000" cy="719270"/>
          </a:xfrm>
          <a:prstGeom prst="rect">
            <a:avLst/>
          </a:prstGeom>
        </p:spPr>
      </p:pic>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franco à partir de 180 bouteilles.</a:t>
            </a:r>
            <a:endParaRPr lang="en-US" sz="720" dirty="0"/>
          </a:p>
        </p:txBody>
      </p:sp>
      <p:sp>
        <p:nvSpPr>
          <p:cNvPr id="22"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52</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31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54</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53</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borie en pierre sèche du domaine — Bastide de Blacailloux">    </p:cNvPr>
          <p:cNvPicPr>
            <a:picLocks noChangeAspect="1"/>
          </p:cNvPicPr>
          <p:nvPr/>
        </p:nvPicPr>
        <p:blipFill>
          <a:blip r:embed="rId2"/>
          <a:srcRect l="16602" r="16640" t="0" b="0"/>
          <a:stretch/>
        </p:blipFill>
        <p:spPr>
          <a:xfrm>
            <a:off x="828000" y="1357200"/>
            <a:ext cx="1440000" cy="1440000"/>
          </a:xfrm>
          <a:prstGeom prst="ellipse">
            <a:avLst/>
          </a:prstGeom>
        </p:spPr>
      </p:pic>
      <p:pic>
        <p:nvPicPr>
          <p:cNvPr id="14" name="Image 2" descr="Une bouteille du domaine Bastide de Blacailloux">    </p:cNvPr>
          <p:cNvPicPr>
            <a:picLocks noChangeAspect="1"/>
          </p:cNvPicPr>
          <p:nvPr/>
        </p:nvPicPr>
        <p:blipFill>
          <a:blip r:embed="rId3"/>
          <a:stretch>
            <a:fillRect/>
          </a:stretch>
        </p:blipFill>
        <p:spPr>
          <a:xfrm>
            <a:off x="6267492" y="1357200"/>
            <a:ext cx="497016" cy="2232000"/>
          </a:xfrm>
          <a:prstGeom prst="rect">
            <a:avLst/>
          </a:prstGeom>
        </p:spPr>
      </p:pic>
      <p:sp>
        <p:nvSpPr>
          <p:cNvPr id="15" name="Text 10"/>
          <p:cNvSpPr/>
          <p:nvPr/>
        </p:nvSpPr>
        <p:spPr>
          <a:xfrm>
            <a:off x="2393992" y="1329261"/>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6" name="Text 11"/>
          <p:cNvSpPr/>
          <p:nvPr/>
        </p:nvSpPr>
        <p:spPr>
          <a:xfrm>
            <a:off x="2448000" y="1479080"/>
            <a:ext cx="3456000" cy="211002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828000" y="691600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8388000"/>
            <a:ext cx="6120000" cy="0"/>
          </a:xfrm>
          <a:prstGeom prst="line">
            <a:avLst/>
          </a:prstGeom>
          <a:noFill/>
          <a:ln w="8890">
            <a:solidFill>
              <a:srgbClr val="46606E"/>
            </a:solidFill>
            <a:prstDash val="solid"/>
          </a:ln>
        </p:spPr>
      </p:sp>
      <p:sp>
        <p:nvSpPr>
          <p:cNvPr id="20"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1"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54</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9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32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56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33   </a:t>
            </a:r>
            <a:r>
              <a:rPr lang="en-US" sz="860" dirty="0">
                <a:solidFill>
                  <a:srgbClr val="FBF8F1"/>
                </a:solidFill>
                <a:latin typeface="IBM Plex Sans" pitchFamily="34" charset="0"/>
                <a:ea typeface="IBM Plex Sans" pitchFamily="34" charset="-122"/>
                <a:cs typeface="IBM Plex Sans" pitchFamily="34" charset="-120"/>
              </a:rPr>
              <a:t>Famille d’Exea — Jus de Cépages</a:t>
            </a:r>
            <a:r>
              <a:rPr lang="en-US" sz="860" b="1" dirty="0">
                <a:solidFill>
                  <a:srgbClr val="FBF8F1"/>
                </a:solidFill>
                <a:latin typeface="IBM Plex Sans" pitchFamily="34" charset="0"/>
                <a:ea typeface="IBM Plex Sans" pitchFamily="34" charset="-122"/>
                <a:cs typeface="IBM Plex Sans" pitchFamily="34" charset="-120"/>
              </a:rPr>
              <a:t>   58</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34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59</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35   </a:t>
            </a:r>
            <a:r>
              <a:rPr lang="en-US" sz="860" dirty="0">
                <a:solidFill>
                  <a:srgbClr val="FBF8F1"/>
                </a:solidFill>
                <a:latin typeface="IBM Plex Sans" pitchFamily="34" charset="0"/>
                <a:ea typeface="IBM Plex Sans" pitchFamily="34" charset="-122"/>
                <a:cs typeface="IBM Plex Sans" pitchFamily="34" charset="-120"/>
              </a:rPr>
              <a:t>Domaine Les Lys</a:t>
            </a:r>
            <a:r>
              <a:rPr lang="en-US" sz="860" b="1" dirty="0">
                <a:solidFill>
                  <a:srgbClr val="FBF8F1"/>
                </a:solidFill>
                <a:latin typeface="IBM Plex Sans" pitchFamily="34" charset="0"/>
                <a:ea typeface="IBM Plex Sans" pitchFamily="34" charset="-122"/>
                <a:cs typeface="IBM Plex Sans" pitchFamily="34" charset="-120"/>
              </a:rPr>
              <a:t>   60</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36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61</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55</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3" name="Image 1" descr="logo de la maison — Famille d’Exea">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Famille d’Exea">    </p:cNvPr>
          <p:cNvPicPr>
            <a:picLocks noChangeAspect="1"/>
          </p:cNvPicPr>
          <p:nvPr/>
        </p:nvPicPr>
        <p:blipFill>
          <a:blip r:embed="rId3"/>
          <a:stretch>
            <a:fillRect/>
          </a:stretch>
        </p:blipFill>
        <p:spPr>
          <a:xfrm>
            <a:off x="6223279" y="1357200"/>
            <a:ext cx="585443" cy="2232000"/>
          </a:xfrm>
          <a:prstGeom prst="rect">
            <a:avLst/>
          </a:prstGeom>
        </p:spPr>
      </p:pic>
      <p:sp>
        <p:nvSpPr>
          <p:cNvPr id="15" name="Text 10"/>
          <p:cNvSpPr/>
          <p:nvPr/>
        </p:nvSpPr>
        <p:spPr>
          <a:xfrm>
            <a:off x="2393965" y="1758870"/>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6" name="Text 11"/>
          <p:cNvSpPr/>
          <p:nvPr/>
        </p:nvSpPr>
        <p:spPr>
          <a:xfrm>
            <a:off x="2448000" y="1895837"/>
            <a:ext cx="3456000" cy="169326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58</a:t>
            </a:r>
            <a:endParaRPr lang="en-US" sz="740" dirty="0"/>
          </a:p>
        </p:txBody>
      </p:sp>
      <p:sp>
        <p:nvSpPr>
          <p:cNvPr id="19" name="Shape 13"/>
          <p:cNvSpPr/>
          <p:nvPr/>
        </p:nvSpPr>
        <p:spPr>
          <a:xfrm>
            <a:off x="828000" y="8388000"/>
            <a:ext cx="6120000" cy="0"/>
          </a:xfrm>
          <a:prstGeom prst="line">
            <a:avLst/>
          </a:prstGeom>
          <a:noFill/>
          <a:ln w="8890">
            <a:solidFill>
              <a:srgbClr val="46606E"/>
            </a:solidFill>
            <a:prstDash val="solid"/>
          </a:ln>
        </p:spPr>
      </p:sp>
      <p:sp>
        <p:nvSpPr>
          <p:cNvPr id="20"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Franco de port à partir de 72 bouteilles</a:t>
            </a:r>
            <a:endParaRPr lang="en-US" sz="720" dirty="0"/>
          </a:p>
        </p:txBody>
      </p:sp>
      <p:sp>
        <p:nvSpPr>
          <p:cNvPr id="21"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2"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3"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56</a:t>
            </a:r>
            <a:endParaRPr lang="en-US" sz="750" dirty="0"/>
          </a:p>
        </p:txBody>
      </p:sp>
      <p:sp>
        <p:nvSpPr>
          <p:cNvPr id="24"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461441"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614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15" name="Table 1"/>
          <p:cNvGraphicFramePr>
            <a:graphicFrameLocks noGrp="1"/>
          </p:cNvGraphicFramePr>
          <p:nvPr>
            <p:extLst>
              <p:ext uri="{D42A27DB-BD31-4B8C-83A1-F6EECF244321}">
                <p14:modId xmlns:p14="http://schemas.microsoft.com/office/powerpoint/2010/main" val="1579011935"/>
              </p:ext>
            </p:extLst>
          </p:nvPr>
        </p:nvGraphicFramePr>
        <p:xfrm>
          <a:off x="612000" y="568103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50 BIB demi pal</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100 BIB 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5" name="Text 10"/>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58</a:t>
            </a:r>
            <a:endParaRPr lang="en-US" sz="740" dirty="0"/>
          </a:p>
        </p:txBody>
      </p:sp>
      <p:sp>
        <p:nvSpPr>
          <p:cNvPr id="16" name="Shape 11"/>
          <p:cNvSpPr/>
          <p:nvPr/>
        </p:nvSpPr>
        <p:spPr>
          <a:xfrm>
            <a:off x="612000" y="8388000"/>
            <a:ext cx="6120000" cy="0"/>
          </a:xfrm>
          <a:prstGeom prst="line">
            <a:avLst/>
          </a:prstGeom>
          <a:noFill/>
          <a:ln w="8890">
            <a:solidFill>
              <a:srgbClr val="46606E"/>
            </a:solidFill>
            <a:prstDash val="solid"/>
          </a:ln>
        </p:spPr>
      </p:sp>
      <p:sp>
        <p:nvSpPr>
          <p:cNvPr id="17" name="Text 12"/>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Franco de port à partir de 72 bouteilles</a:t>
            </a:r>
            <a:endParaRPr lang="en-US" sz="720" dirty="0"/>
          </a:p>
        </p:txBody>
      </p:sp>
      <p:sp>
        <p:nvSpPr>
          <p:cNvPr id="18" name="Text 13"/>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19" name="Text 14"/>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0"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57</a:t>
            </a:r>
            <a:endParaRPr lang="en-US" sz="750" dirty="0"/>
          </a:p>
        </p:txBody>
      </p:sp>
      <p:sp>
        <p:nvSpPr>
          <p:cNvPr id="21"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brebis dans les vignes — Famille d’Exea — Jus de Cépages">    </p:cNvPr>
          <p:cNvPicPr>
            <a:picLocks noChangeAspect="1"/>
          </p:cNvPicPr>
          <p:nvPr/>
        </p:nvPicPr>
        <p:blipFill>
          <a:blip r:embed="rId2"/>
          <a:srcRect l="11667" r="21666" t="0" b="0"/>
          <a:stretch/>
        </p:blipFill>
        <p:spPr>
          <a:xfrm>
            <a:off x="828000" y="1357200"/>
            <a:ext cx="1440000" cy="1440000"/>
          </a:xfrm>
          <a:prstGeom prst="ellipse">
            <a:avLst/>
          </a:prstGeom>
        </p:spPr>
      </p:pic>
      <p:pic>
        <p:nvPicPr>
          <p:cNvPr id="14" name="Image 2" descr="Une bouteille du domaine Famille d’Exea — Jus de Cépages">    </p:cNvPr>
          <p:cNvPicPr>
            <a:picLocks noChangeAspect="1"/>
          </p:cNvPicPr>
          <p:nvPr/>
        </p:nvPicPr>
        <p:blipFill>
          <a:blip r:embed="rId3"/>
          <a:stretch>
            <a:fillRect/>
          </a:stretch>
        </p:blipFill>
        <p:spPr>
          <a:xfrm>
            <a:off x="6113508" y="1357200"/>
            <a:ext cx="804984" cy="2232000"/>
          </a:xfrm>
          <a:prstGeom prst="rect">
            <a:avLst/>
          </a:prstGeom>
        </p:spPr>
      </p:pic>
      <p:sp>
        <p:nvSpPr>
          <p:cNvPr id="15" name="Text 10"/>
          <p:cNvSpPr/>
          <p:nvPr/>
        </p:nvSpPr>
        <p:spPr>
          <a:xfrm>
            <a:off x="2394013" y="1280867"/>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6" name="Text 11"/>
          <p:cNvSpPr/>
          <p:nvPr/>
        </p:nvSpPr>
        <p:spPr>
          <a:xfrm>
            <a:off x="2448000" y="1391383"/>
            <a:ext cx="3456000" cy="2197717"/>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17" name="Table 1"/>
          <p:cNvGraphicFramePr>
            <a:graphicFrameLocks noGrp="1"/>
          </p:cNvGraphicFramePr>
          <p:nvPr>
            <p:extLst>
              <p:ext uri="{D42A27DB-BD31-4B8C-83A1-F6EECF244321}">
                <p14:modId xmlns:p14="http://schemas.microsoft.com/office/powerpoint/2010/main" val="1579011935"/>
              </p:ext>
            </p:extLst>
          </p:nvPr>
        </p:nvGraphicFramePr>
        <p:xfrm>
          <a:off x="828000" y="6085247"/>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2"/>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56</a:t>
            </a:r>
            <a:endParaRPr lang="en-US" sz="740" dirty="0"/>
          </a:p>
        </p:txBody>
      </p:sp>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Franco de port à partir de 72 bouteilles</a:t>
            </a:r>
            <a:endParaRPr lang="en-US" sz="720" dirty="0"/>
          </a:p>
        </p:txBody>
      </p:sp>
      <p:sp>
        <p:nvSpPr>
          <p:cNvPr id="22"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58</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grappes à la vigne — Château de Gragnos">    </p:cNvPr>
          <p:cNvPicPr>
            <a:picLocks noChangeAspect="1"/>
          </p:cNvPicPr>
          <p:nvPr/>
        </p:nvPicPr>
        <p:blipFill>
          <a:blip r:embed="rId2"/>
          <a:srcRect l="0" r="0" t="11094" b="22239"/>
          <a:stretch/>
        </p:blipFill>
        <p:spPr>
          <a:xfrm>
            <a:off x="612000" y="1357200"/>
            <a:ext cx="1440000" cy="1440000"/>
          </a:xfrm>
          <a:prstGeom prst="ellipse">
            <a:avLst/>
          </a:prstGeom>
        </p:spPr>
      </p:pic>
      <p:pic>
        <p:nvPicPr>
          <p:cNvPr id="14" name="Image 2" descr="Une bouteille du domaine Château de Gragnos">    </p:cNvPr>
          <p:cNvPicPr>
            <a:picLocks noChangeAspect="1"/>
          </p:cNvPicPr>
          <p:nvPr/>
        </p:nvPicPr>
        <p:blipFill>
          <a:blip r:embed="rId3"/>
          <a:stretch>
            <a:fillRect/>
          </a:stretch>
        </p:blipFill>
        <p:spPr>
          <a:xfrm>
            <a:off x="6008803" y="1357200"/>
            <a:ext cx="582393" cy="2232000"/>
          </a:xfrm>
          <a:prstGeom prst="rect">
            <a:avLst/>
          </a:prstGeom>
        </p:spPr>
      </p:pic>
      <p:sp>
        <p:nvSpPr>
          <p:cNvPr id="15" name="Text 10"/>
          <p:cNvSpPr/>
          <p:nvPr/>
        </p:nvSpPr>
        <p:spPr>
          <a:xfrm>
            <a:off x="2177976" y="1336044"/>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6" name="Text 11"/>
          <p:cNvSpPr/>
          <p:nvPr/>
        </p:nvSpPr>
        <p:spPr>
          <a:xfrm>
            <a:off x="2232000" y="1474413"/>
            <a:ext cx="3456000" cy="211468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612000" y="72214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3" descr="/home/user/philippe1/build/deco/sol-languedoc.png">    </p:cNvPr>
          <p:cNvPicPr>
            <a:picLocks noChangeAspect="1"/>
          </p:cNvPicPr>
          <p:nvPr/>
        </p:nvPicPr>
        <p:blipFill>
          <a:blip r:embed="rId4"/>
          <a:stretch>
            <a:fillRect/>
          </a:stretch>
        </p:blipFill>
        <p:spPr>
          <a:xfrm>
            <a:off x="612000" y="7369009"/>
            <a:ext cx="6120000" cy="719270"/>
          </a:xfrm>
          <a:prstGeom prst="rect">
            <a:avLst/>
          </a:prstGeom>
        </p:spPr>
      </p:pic>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 à partir de 180 bouteilles.</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3" name="Image 1" descr="logo du domaine — Domaine Les Lys">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Domaine Les Lys">    </p:cNvPr>
          <p:cNvPicPr>
            <a:picLocks noChangeAspect="1"/>
          </p:cNvPicPr>
          <p:nvPr/>
        </p:nvPicPr>
        <p:blipFill>
          <a:blip r:embed="rId3"/>
          <a:stretch>
            <a:fillRect/>
          </a:stretch>
        </p:blipFill>
        <p:spPr>
          <a:xfrm>
            <a:off x="6224803" y="1357200"/>
            <a:ext cx="582393" cy="2232000"/>
          </a:xfrm>
          <a:prstGeom prst="rect">
            <a:avLst/>
          </a:prstGeom>
        </p:spPr>
      </p:pic>
      <p:sp>
        <p:nvSpPr>
          <p:cNvPr id="15" name="Text 10"/>
          <p:cNvSpPr/>
          <p:nvPr/>
        </p:nvSpPr>
        <p:spPr>
          <a:xfrm>
            <a:off x="2393960" y="1493390"/>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6" name="Text 11"/>
          <p:cNvSpPr/>
          <p:nvPr/>
        </p:nvSpPr>
        <p:spPr>
          <a:xfrm>
            <a:off x="2448000" y="1603600"/>
            <a:ext cx="3456000" cy="19855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2"/>
          <p:cNvSpPr/>
          <p:nvPr/>
        </p:nvSpPr>
        <p:spPr>
          <a:xfrm>
            <a:off x="828000" y="683668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3" descr="/home/user/philippe1/build/deco/sol-languedoc.png">    </p:cNvPr>
          <p:cNvPicPr>
            <a:picLocks noChangeAspect="1"/>
          </p:cNvPicPr>
          <p:nvPr/>
        </p:nvPicPr>
        <p:blipFill>
          <a:blip r:embed="rId4"/>
          <a:stretch>
            <a:fillRect/>
          </a:stretch>
        </p:blipFill>
        <p:spPr>
          <a:xfrm>
            <a:off x="828000" y="6984288"/>
            <a:ext cx="6120000" cy="1103991"/>
          </a:xfrm>
          <a:prstGeom prst="rect">
            <a:avLst/>
          </a:prstGeom>
        </p:spPr>
      </p:pic>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85474"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9" name="Shape 6"/>
          <p:cNvSpPr/>
          <p:nvPr/>
        </p:nvSpPr>
        <p:spPr>
          <a:xfrm>
            <a:off x="2076674" y="1047600"/>
            <a:ext cx="787182"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76674"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1" name="Image 1" descr="les deux vignerons et leur rosé, noir et blanc — Prieuré Sainte-Marie d’Albas">    </p:cNvPr>
          <p:cNvPicPr>
            <a:picLocks noChangeAspect="1"/>
          </p:cNvPicPr>
          <p:nvPr/>
        </p:nvPicPr>
        <p:blipFill>
          <a:blip r:embed="rId2"/>
          <a:srcRect l="0" r="0" t="0" b="0"/>
          <a:stretch/>
        </p:blipFill>
        <p:spPr>
          <a:xfrm>
            <a:off x="612000" y="1357200"/>
            <a:ext cx="1440000" cy="1440000"/>
          </a:xfrm>
          <a:prstGeom prst="ellipse">
            <a:avLst/>
          </a:prstGeom>
        </p:spPr>
      </p:pic>
      <p:pic>
        <p:nvPicPr>
          <p:cNvPr id="12" name="Image 2" descr="Une bouteille du domaine Prieuré Sainte-Marie d’Albas">    </p:cNvPr>
          <p:cNvPicPr>
            <a:picLocks noChangeAspect="1"/>
          </p:cNvPicPr>
          <p:nvPr/>
        </p:nvPicPr>
        <p:blipFill>
          <a:blip r:embed="rId3"/>
          <a:stretch>
            <a:fillRect/>
          </a:stretch>
        </p:blipFill>
        <p:spPr>
          <a:xfrm>
            <a:off x="6056066" y="1357200"/>
            <a:ext cx="487869" cy="2232000"/>
          </a:xfrm>
          <a:prstGeom prst="rect">
            <a:avLst/>
          </a:prstGeom>
        </p:spPr>
      </p:pic>
      <p:sp>
        <p:nvSpPr>
          <p:cNvPr id="13" name="Text 8"/>
          <p:cNvSpPr/>
          <p:nvPr/>
        </p:nvSpPr>
        <p:spPr>
          <a:xfrm>
            <a:off x="2177963" y="1269446"/>
            <a:ext cx="278400" cy="456794"/>
          </a:xfrm>
          <a:prstGeom prst="rect">
            <a:avLst/>
          </a:prstGeom>
          <a:noFill/>
          <a:ln/>
        </p:spPr>
        <p:txBody>
          <a:bodyPr wrap="square" lIns="0" tIns="0" rIns="0" bIns="0" rtlCol="0" anchor="t"/>
          <a:lstStyle/>
          <a:p>
            <a:pPr algn="r" indent="0" marL="0">
              <a:lnSpc>
                <a:spcPct val="122800"/>
              </a:lnSpc>
              <a:buNone/>
            </a:pPr>
            <a:r>
              <a:rPr lang="en-US" sz="2248" dirty="0">
                <a:solidFill>
                  <a:srgbClr val="67067C"/>
                </a:solidFill>
                <a:latin typeface="Young Serif" pitchFamily="34" charset="0"/>
                <a:ea typeface="Young Serif" pitchFamily="34" charset="-122"/>
                <a:cs typeface="Young Serif" pitchFamily="34" charset="-120"/>
              </a:rPr>
              <a:t>A</a:t>
            </a:r>
            <a:endParaRPr lang="en-US" sz="2248" dirty="0"/>
          </a:p>
        </p:txBody>
      </p:sp>
      <p:sp>
        <p:nvSpPr>
          <p:cNvPr id="14" name="Text 9"/>
          <p:cNvSpPr/>
          <p:nvPr/>
        </p:nvSpPr>
        <p:spPr>
          <a:xfrm>
            <a:off x="2232000" y="1399241"/>
            <a:ext cx="3456000" cy="2189859"/>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 AOP Corbières et IGP Pays d’Oc.</a:t>
            </a:r>
            <a:endParaRPr lang="en-US" sz="1225"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Text 10"/>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7" name="Image 3" descr="/home/user/philippe1/build/deco/sol-languedoc.png">    </p:cNvPr>
          <p:cNvPicPr>
            <a:picLocks noChangeAspect="1"/>
          </p:cNvPicPr>
          <p:nvPr/>
        </p:nvPicPr>
        <p:blipFill>
          <a:blip r:embed="rId4"/>
          <a:stretch>
            <a:fillRect/>
          </a:stretch>
        </p:blipFill>
        <p:spPr>
          <a:xfrm>
            <a:off x="612000" y="6214847"/>
            <a:ext cx="6120000" cy="1148400"/>
          </a:xfrm>
          <a:prstGeom prst="rect">
            <a:avLst/>
          </a:prstGeom>
        </p:spPr>
      </p:pic>
      <p:sp>
        <p:nvSpPr>
          <p:cNvPr id="18" name="Shape 11"/>
          <p:cNvSpPr/>
          <p:nvPr/>
        </p:nvSpPr>
        <p:spPr>
          <a:xfrm>
            <a:off x="612000" y="8388000"/>
            <a:ext cx="6120000" cy="0"/>
          </a:xfrm>
          <a:prstGeom prst="line">
            <a:avLst/>
          </a:prstGeom>
          <a:noFill/>
          <a:ln w="8890">
            <a:solidFill>
              <a:srgbClr val="46606E"/>
            </a:solidFill>
            <a:prstDash val="solid"/>
          </a:ln>
        </p:spPr>
      </p:sp>
      <p:sp>
        <p:nvSpPr>
          <p:cNvPr id="19" name="Text 12"/>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cave.</a:t>
            </a:r>
            <a:endParaRPr lang="en-US" sz="720" dirty="0"/>
          </a:p>
        </p:txBody>
      </p:sp>
      <p:sp>
        <p:nvSpPr>
          <p:cNvPr id="20" name="Text 13"/>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4"/>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2"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61</a:t>
            </a:r>
            <a:endParaRPr lang="en-US" sz="750" dirty="0"/>
          </a:p>
        </p:txBody>
      </p:sp>
      <p:sp>
        <p:nvSpPr>
          <p:cNvPr id="23"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85474"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9" name="Shape 6"/>
          <p:cNvSpPr/>
          <p:nvPr/>
        </p:nvSpPr>
        <p:spPr>
          <a:xfrm>
            <a:off x="2292674" y="1047600"/>
            <a:ext cx="787182"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92674"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BIB 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2" name="Text 8"/>
          <p:cNvSpPr/>
          <p:nvPr/>
        </p:nvSpPr>
        <p:spPr>
          <a:xfrm>
            <a:off x="828000" y="48322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3" name="Image 1" descr="/home/user/philippe1/build/deco/sol-languedoc.png">    </p:cNvPr>
          <p:cNvPicPr>
            <a:picLocks noChangeAspect="1"/>
          </p:cNvPicPr>
          <p:nvPr/>
        </p:nvPicPr>
        <p:blipFill>
          <a:blip r:embed="rId2"/>
          <a:stretch>
            <a:fillRect/>
          </a:stretch>
        </p:blipFill>
        <p:spPr>
          <a:xfrm>
            <a:off x="828000" y="4979871"/>
            <a:ext cx="6120000" cy="1856405"/>
          </a:xfrm>
          <a:prstGeom prst="rect">
            <a:avLst/>
          </a:prstGeom>
        </p:spPr>
      </p:pic>
      <p:sp>
        <p:nvSpPr>
          <p:cNvPr id="14" name="Shape 9"/>
          <p:cNvSpPr/>
          <p:nvPr/>
        </p:nvSpPr>
        <p:spPr>
          <a:xfrm>
            <a:off x="828000" y="8388000"/>
            <a:ext cx="6120000" cy="0"/>
          </a:xfrm>
          <a:prstGeom prst="line">
            <a:avLst/>
          </a:prstGeom>
          <a:noFill/>
          <a:ln w="8890">
            <a:solidFill>
              <a:srgbClr val="46606E"/>
            </a:solidFill>
            <a:prstDash val="solid"/>
          </a:ln>
        </p:spPr>
      </p:sp>
      <p:sp>
        <p:nvSpPr>
          <p:cNvPr id="15" name="Text 10"/>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cave.</a:t>
            </a:r>
            <a:endParaRPr lang="en-US" sz="720" dirty="0"/>
          </a:p>
        </p:txBody>
      </p:sp>
      <p:sp>
        <p:nvSpPr>
          <p:cNvPr id="16" name="Text 11"/>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17" name="Text 12"/>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18"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62</a:t>
            </a:r>
            <a:endParaRPr lang="en-US" sz="750" dirty="0"/>
          </a:p>
        </p:txBody>
      </p:sp>
      <p:sp>
        <p:nvSpPr>
          <p:cNvPr id="19"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champa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10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26</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37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64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38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65</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39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66</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40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67</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63</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460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956162"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9561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20836"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20836"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5" name="Image 1" descr="les deux frères dans les vignes — Champagne Dekeyne">    </p:cNvPr>
          <p:cNvPicPr>
            <a:picLocks noChangeAspect="1"/>
          </p:cNvPicPr>
          <p:nvPr/>
        </p:nvPicPr>
        <p:blipFill>
          <a:blip r:embed="rId2"/>
          <a:stretch>
            <a:fillRect/>
          </a:stretch>
        </p:blipFill>
        <p:spPr>
          <a:xfrm>
            <a:off x="828000" y="1357200"/>
            <a:ext cx="1440000" cy="1440000"/>
          </a:xfrm>
          <a:prstGeom prst="rect">
            <a:avLst/>
          </a:prstGeom>
        </p:spPr>
      </p:pic>
      <p:pic>
        <p:nvPicPr>
          <p:cNvPr id="16" name="Image 2" descr="Une bouteille du domaine Champagne Dekeyne">    </p:cNvPr>
          <p:cNvPicPr>
            <a:picLocks noChangeAspect="1"/>
          </p:cNvPicPr>
          <p:nvPr/>
        </p:nvPicPr>
        <p:blipFill>
          <a:blip r:embed="rId3"/>
          <a:stretch>
            <a:fillRect/>
          </a:stretch>
        </p:blipFill>
        <p:spPr>
          <a:xfrm>
            <a:off x="6221754" y="1357200"/>
            <a:ext cx="588492" cy="2232000"/>
          </a:xfrm>
          <a:prstGeom prst="rect">
            <a:avLst/>
          </a:prstGeom>
        </p:spPr>
      </p:pic>
      <p:sp>
        <p:nvSpPr>
          <p:cNvPr id="17" name="Text 12"/>
          <p:cNvSpPr/>
          <p:nvPr/>
        </p:nvSpPr>
        <p:spPr>
          <a:xfrm>
            <a:off x="2394034" y="1487230"/>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8" name="Text 13"/>
          <p:cNvSpPr/>
          <p:nvPr/>
        </p:nvSpPr>
        <p:spPr>
          <a:xfrm>
            <a:off x="2448000" y="1607839"/>
            <a:ext cx="3456000" cy="198126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26,48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Text 14"/>
          <p:cNvSpPr/>
          <p:nvPr/>
        </p:nvSpPr>
        <p:spPr>
          <a:xfrm>
            <a:off x="828000" y="56825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1" name="Image 3" descr="/home/user/philippe1/build/deco/sol-champagne.png">    </p:cNvPr>
          <p:cNvPicPr>
            <a:picLocks noChangeAspect="1"/>
          </p:cNvPicPr>
          <p:nvPr/>
        </p:nvPicPr>
        <p:blipFill>
          <a:blip r:embed="rId4"/>
          <a:stretch>
            <a:fillRect/>
          </a:stretch>
        </p:blipFill>
        <p:spPr>
          <a:xfrm>
            <a:off x="828000" y="5830126"/>
            <a:ext cx="6120000" cy="1346252"/>
          </a:xfrm>
          <a:prstGeom prst="rect">
            <a:avLst/>
          </a:prstGeom>
        </p:spPr>
      </p:pic>
      <p:sp>
        <p:nvSpPr>
          <p:cNvPr id="22" name="Shape 15"/>
          <p:cNvSpPr/>
          <p:nvPr/>
        </p:nvSpPr>
        <p:spPr>
          <a:xfrm>
            <a:off x="828000" y="8388000"/>
            <a:ext cx="6120000" cy="0"/>
          </a:xfrm>
          <a:prstGeom prst="line">
            <a:avLst/>
          </a:prstGeom>
          <a:noFill/>
          <a:ln w="8890">
            <a:solidFill>
              <a:srgbClr val="46606E"/>
            </a:solidFill>
            <a:prstDash val="solid"/>
          </a:ln>
        </p:spPr>
      </p:sp>
      <p:sp>
        <p:nvSpPr>
          <p:cNvPr id="23"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 à partir de 48 bouteilles.</a:t>
            </a:r>
            <a:endParaRPr lang="en-US" sz="720" dirty="0"/>
          </a:p>
        </p:txBody>
      </p:sp>
      <p:sp>
        <p:nvSpPr>
          <p:cNvPr id="24"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5"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300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489800" y="1047600"/>
            <a:ext cx="630911" cy="180000"/>
          </a:xfrm>
          <a:prstGeom prst="roundRect">
            <a:avLst>
              <a:gd name="adj" fmla="val 10160"/>
            </a:avLst>
          </a:prstGeom>
          <a:solidFill>
            <a:srgbClr val="67067C"/>
          </a:solidFill>
          <a:ln w="8890">
            <a:solidFill>
              <a:srgbClr val="67067C"/>
            </a:solidFill>
            <a:prstDash val="solid"/>
          </a:ln>
        </p:spPr>
      </p:sp>
      <p:sp>
        <p:nvSpPr>
          <p:cNvPr id="12" name="Text 9"/>
          <p:cNvSpPr/>
          <p:nvPr/>
        </p:nvSpPr>
        <p:spPr>
          <a:xfrm>
            <a:off x="1489800"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3" name="Shape 10"/>
          <p:cNvSpPr/>
          <p:nvPr/>
        </p:nvSpPr>
        <p:spPr>
          <a:xfrm>
            <a:off x="2199910" y="1047600"/>
            <a:ext cx="1385474" cy="180000"/>
          </a:xfrm>
          <a:prstGeom prst="roundRect">
            <a:avLst>
              <a:gd name="adj" fmla="val 10160"/>
            </a:avLst>
          </a:prstGeom>
          <a:solidFill>
            <a:srgbClr val="F2EADA"/>
          </a:solidFill>
          <a:ln w="8890">
            <a:solidFill>
              <a:srgbClr val="A8515F"/>
            </a:solidFill>
            <a:prstDash val="solid"/>
          </a:ln>
        </p:spPr>
      </p:sp>
      <p:sp>
        <p:nvSpPr>
          <p:cNvPr id="14" name="Text 11"/>
          <p:cNvSpPr/>
          <p:nvPr/>
        </p:nvSpPr>
        <p:spPr>
          <a:xfrm>
            <a:off x="219991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2"/>
          <p:cNvSpPr/>
          <p:nvPr/>
        </p:nvSpPr>
        <p:spPr>
          <a:xfrm>
            <a:off x="3664584"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3664584"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7" name="Image 1" descr="le village dans ses vignes — Champagne Denis Frézier">    </p:cNvPr>
          <p:cNvPicPr>
            <a:picLocks noChangeAspect="1"/>
          </p:cNvPicPr>
          <p:nvPr/>
        </p:nvPicPr>
        <p:blipFill>
          <a:blip r:embed="rId2"/>
          <a:srcRect l="12500" r="12500" t="0" b="0"/>
          <a:stretch/>
        </p:blipFill>
        <p:spPr>
          <a:xfrm>
            <a:off x="612000" y="1357200"/>
            <a:ext cx="1440000" cy="1440000"/>
          </a:xfrm>
          <a:prstGeom prst="ellipse">
            <a:avLst/>
          </a:prstGeom>
        </p:spPr>
      </p:pic>
      <p:pic>
        <p:nvPicPr>
          <p:cNvPr id="18" name="Image 2" descr="Une bouteille du domaine Champagne Denis Frézier">    </p:cNvPr>
          <p:cNvPicPr>
            <a:picLocks noChangeAspect="1"/>
          </p:cNvPicPr>
          <p:nvPr/>
        </p:nvPicPr>
        <p:blipFill>
          <a:blip r:embed="rId3"/>
          <a:stretch>
            <a:fillRect/>
          </a:stretch>
        </p:blipFill>
        <p:spPr>
          <a:xfrm>
            <a:off x="6002705" y="1357200"/>
            <a:ext cx="594590" cy="2232000"/>
          </a:xfrm>
          <a:prstGeom prst="rect">
            <a:avLst/>
          </a:prstGeom>
        </p:spPr>
      </p:pic>
      <p:sp>
        <p:nvSpPr>
          <p:cNvPr id="19" name="Text 14"/>
          <p:cNvSpPr/>
          <p:nvPr/>
        </p:nvSpPr>
        <p:spPr>
          <a:xfrm>
            <a:off x="2177992" y="1469926"/>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0" name="Text 15"/>
          <p:cNvSpPr/>
          <p:nvPr/>
        </p:nvSpPr>
        <p:spPr>
          <a:xfrm>
            <a:off x="2232000" y="1619745"/>
            <a:ext cx="3456000" cy="196935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Trois Crus, Terroir Noir et Terroir Blanc.</a:t>
            </a:r>
            <a:endParaRPr lang="en-US" sz="13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23,17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31" name="Table 1"/>
          <p:cNvGraphicFramePr>
            <a:graphicFrameLocks noGrp="1"/>
          </p:cNvGraphicFramePr>
          <p:nvPr>
            <p:extLst>
              <p:ext uri="{D42A27DB-BD31-4B8C-83A1-F6EECF244321}">
                <p14:modId xmlns:p14="http://schemas.microsoft.com/office/powerpoint/2010/main" val="1579011935"/>
              </p:ext>
            </p:extLst>
          </p:nvPr>
        </p:nvGraphicFramePr>
        <p:xfrm>
          <a:off x="612000" y="7685447"/>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RATAFIA · RATAFIA</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13,62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5" name="Text 18"/>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65</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3" name="Image 1" descr="logo de la maison — Champagne Solemme">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Champagne Solemme">    </p:cNvPr>
          <p:cNvPicPr>
            <a:picLocks noChangeAspect="1"/>
          </p:cNvPicPr>
          <p:nvPr/>
        </p:nvPicPr>
        <p:blipFill>
          <a:blip r:embed="rId3"/>
          <a:stretch>
            <a:fillRect/>
          </a:stretch>
        </p:blipFill>
        <p:spPr>
          <a:xfrm>
            <a:off x="6218705" y="1357200"/>
            <a:ext cx="594590" cy="2232000"/>
          </a:xfrm>
          <a:prstGeom prst="rect">
            <a:avLst/>
          </a:prstGeom>
        </p:spPr>
      </p:pic>
      <p:sp>
        <p:nvSpPr>
          <p:cNvPr id="15" name="Text 10"/>
          <p:cNvSpPr/>
          <p:nvPr/>
        </p:nvSpPr>
        <p:spPr>
          <a:xfrm>
            <a:off x="2393976" y="1336044"/>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6" name="Text 11"/>
          <p:cNvSpPr/>
          <p:nvPr/>
        </p:nvSpPr>
        <p:spPr>
          <a:xfrm>
            <a:off x="2448000" y="1474413"/>
            <a:ext cx="3456000" cy="211468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BSA</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828000" y="65132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19" name="Image 3" descr="/home/user/philippe1/build/deco/sol-champagne.png">    </p:cNvPr>
          <p:cNvPicPr>
            <a:picLocks noChangeAspect="1"/>
          </p:cNvPicPr>
          <p:nvPr/>
        </p:nvPicPr>
        <p:blipFill>
          <a:blip r:embed="rId4"/>
          <a:stretch>
            <a:fillRect/>
          </a:stretch>
        </p:blipFill>
        <p:spPr>
          <a:xfrm>
            <a:off x="828000" y="6660885"/>
            <a:ext cx="6120000" cy="1148400"/>
          </a:xfrm>
          <a:prstGeom prst="rect">
            <a:avLst/>
          </a:prstGeom>
        </p:spPr>
      </p:pic>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2"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66</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071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71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536422"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5364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3" name="Image 1" descr="la maison de champagne — Vazart-Coquart &amp; Fils">    </p:cNvPr>
          <p:cNvPicPr>
            <a:picLocks noChangeAspect="1"/>
          </p:cNvPicPr>
          <p:nvPr/>
        </p:nvPicPr>
        <p:blipFill>
          <a:blip r:embed="rId2"/>
          <a:srcRect l="25260" r="25261" t="0" b="0"/>
          <a:stretch/>
        </p:blipFill>
        <p:spPr>
          <a:xfrm>
            <a:off x="612000" y="1357200"/>
            <a:ext cx="1440000" cy="1440000"/>
          </a:xfrm>
          <a:prstGeom prst="ellipse">
            <a:avLst/>
          </a:prstGeom>
        </p:spPr>
      </p:pic>
      <p:pic>
        <p:nvPicPr>
          <p:cNvPr id="14" name="Image 2" descr="Une bouteille du domaine Vazart-Coquart &amp; Fils">    </p:cNvPr>
          <p:cNvPicPr>
            <a:picLocks noChangeAspect="1"/>
          </p:cNvPicPr>
          <p:nvPr/>
        </p:nvPicPr>
        <p:blipFill>
          <a:blip r:embed="rId3"/>
          <a:stretch>
            <a:fillRect/>
          </a:stretch>
        </p:blipFill>
        <p:spPr>
          <a:xfrm>
            <a:off x="5913248" y="1357200"/>
            <a:ext cx="773503" cy="2232000"/>
          </a:xfrm>
          <a:prstGeom prst="rect">
            <a:avLst/>
          </a:prstGeom>
        </p:spPr>
      </p:pic>
      <p:sp>
        <p:nvSpPr>
          <p:cNvPr id="15" name="Text 10"/>
          <p:cNvSpPr/>
          <p:nvPr/>
        </p:nvSpPr>
        <p:spPr>
          <a:xfrm>
            <a:off x="2178033" y="1473248"/>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6" name="Text 11"/>
          <p:cNvSpPr/>
          <p:nvPr/>
        </p:nvSpPr>
        <p:spPr>
          <a:xfrm>
            <a:off x="2232000" y="1617459"/>
            <a:ext cx="3456000" cy="19716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 Troisième domaine certifié HVE de France.</a:t>
            </a:r>
            <a:endParaRPr lang="en-US" sz="13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41,10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8" name="Text 12"/>
          <p:cNvSpPr/>
          <p:nvPr/>
        </p:nvSpPr>
        <p:spPr>
          <a:xfrm>
            <a:off x="612000" y="65132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19" name="Image 3" descr="/home/user/philippe1/build/deco/sol-champagne.png">    </p:cNvPr>
          <p:cNvPicPr>
            <a:picLocks noChangeAspect="1"/>
          </p:cNvPicPr>
          <p:nvPr/>
        </p:nvPicPr>
        <p:blipFill>
          <a:blip r:embed="rId4"/>
          <a:stretch>
            <a:fillRect/>
          </a:stretch>
        </p:blipFill>
        <p:spPr>
          <a:xfrm>
            <a:off x="612000" y="6660885"/>
            <a:ext cx="6120000" cy="1148400"/>
          </a:xfrm>
          <a:prstGeom prst="rect">
            <a:avLst/>
          </a:prstGeom>
        </p:spPr>
      </p:pic>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2" name="Text 1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68</a:t>
            </a:r>
            <a:endParaRPr lang="en-US" sz="750" dirty="0"/>
          </a:p>
        </p:txBody>
      </p:sp>
      <p:sp>
        <p:nvSpPr>
          <p:cNvPr id="123" name="Text 1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51</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51</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51</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5" name="Text 12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70</a:t>
            </a:r>
            <a:endParaRPr lang="en-US" sz="750" dirty="0"/>
          </a:p>
        </p:txBody>
      </p:sp>
      <p:sp>
        <p:nvSpPr>
          <p:cNvPr id="126" name="Text 12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39</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39</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39</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54</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56</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56</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56</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61</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58</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58</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58</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41</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41</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41</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64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65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quarante domaines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828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31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54</a:t>
            </a:r>
            <a:endParaRPr lang="en-US" sz="840" dirty="0"/>
          </a:p>
        </p:txBody>
      </p:sp>
      <p:sp>
        <p:nvSpPr>
          <p:cNvPr id="5" name="Text 3"/>
          <p:cNvSpPr/>
          <p:nvPr/>
        </p:nvSpPr>
        <p:spPr>
          <a:xfrm>
            <a:off x="828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12</a:t>
            </a:r>
            <a:endParaRPr lang="en-US" sz="840" dirty="0"/>
          </a:p>
        </p:txBody>
      </p:sp>
      <p:sp>
        <p:nvSpPr>
          <p:cNvPr id="6" name="Text 4"/>
          <p:cNvSpPr/>
          <p:nvPr/>
        </p:nvSpPr>
        <p:spPr>
          <a:xfrm>
            <a:off x="828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37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64</a:t>
            </a:r>
            <a:endParaRPr lang="en-US" sz="840" dirty="0"/>
          </a:p>
        </p:txBody>
      </p:sp>
      <p:sp>
        <p:nvSpPr>
          <p:cNvPr id="7" name="Text 5"/>
          <p:cNvSpPr/>
          <p:nvPr/>
        </p:nvSpPr>
        <p:spPr>
          <a:xfrm>
            <a:off x="828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38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65</a:t>
            </a:r>
            <a:endParaRPr lang="en-US" sz="840" dirty="0"/>
          </a:p>
        </p:txBody>
      </p:sp>
      <p:sp>
        <p:nvSpPr>
          <p:cNvPr id="8" name="Text 6"/>
          <p:cNvSpPr/>
          <p:nvPr/>
        </p:nvSpPr>
        <p:spPr>
          <a:xfrm>
            <a:off x="828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39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66</a:t>
            </a:r>
            <a:endParaRPr lang="en-US" sz="840" dirty="0"/>
          </a:p>
        </p:txBody>
      </p:sp>
      <p:sp>
        <p:nvSpPr>
          <p:cNvPr id="9" name="Text 7"/>
          <p:cNvSpPr/>
          <p:nvPr/>
        </p:nvSpPr>
        <p:spPr>
          <a:xfrm>
            <a:off x="828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29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51</a:t>
            </a:r>
            <a:endParaRPr lang="en-US" sz="840" dirty="0"/>
          </a:p>
        </p:txBody>
      </p:sp>
      <p:sp>
        <p:nvSpPr>
          <p:cNvPr id="10" name="Text 8"/>
          <p:cNvSpPr/>
          <p:nvPr/>
        </p:nvSpPr>
        <p:spPr>
          <a:xfrm>
            <a:off x="828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34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59</a:t>
            </a:r>
            <a:endParaRPr lang="en-US" sz="840" dirty="0"/>
          </a:p>
        </p:txBody>
      </p:sp>
      <p:sp>
        <p:nvSpPr>
          <p:cNvPr id="11" name="Text 9"/>
          <p:cNvSpPr/>
          <p:nvPr/>
        </p:nvSpPr>
        <p:spPr>
          <a:xfrm>
            <a:off x="828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27</a:t>
            </a:r>
            <a:endParaRPr lang="en-US" sz="840" dirty="0"/>
          </a:p>
        </p:txBody>
      </p:sp>
      <p:sp>
        <p:nvSpPr>
          <p:cNvPr id="12" name="Text 10"/>
          <p:cNvSpPr/>
          <p:nvPr/>
        </p:nvSpPr>
        <p:spPr>
          <a:xfrm>
            <a:off x="828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27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49</a:t>
            </a:r>
            <a:endParaRPr lang="en-US" sz="840" dirty="0"/>
          </a:p>
        </p:txBody>
      </p:sp>
      <p:sp>
        <p:nvSpPr>
          <p:cNvPr id="13" name="Text 11"/>
          <p:cNvSpPr/>
          <p:nvPr/>
        </p:nvSpPr>
        <p:spPr>
          <a:xfrm>
            <a:off x="828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30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52</a:t>
            </a:r>
            <a:endParaRPr lang="en-US" sz="840" dirty="0"/>
          </a:p>
        </p:txBody>
      </p:sp>
      <p:sp>
        <p:nvSpPr>
          <p:cNvPr id="14" name="Text 12"/>
          <p:cNvSpPr/>
          <p:nvPr/>
        </p:nvSpPr>
        <p:spPr>
          <a:xfrm>
            <a:off x="828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la Gorce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11   </a:t>
            </a:r>
            <a:r>
              <a:rPr lang="en-US" sz="840" b="1" dirty="0">
                <a:solidFill>
                  <a:srgbClr val="46606E"/>
                </a:solidFill>
                <a:latin typeface="IBM Plex Sans" pitchFamily="34" charset="0"/>
                <a:ea typeface="IBM Plex Sans" pitchFamily="34" charset="-122"/>
                <a:cs typeface="IBM Plex Sans" pitchFamily="34" charset="-120"/>
              </a:rPr>
              <a:t>47</a:t>
            </a:r>
            <a:endParaRPr lang="en-US" sz="840" dirty="0"/>
          </a:p>
        </p:txBody>
      </p:sp>
      <p:sp>
        <p:nvSpPr>
          <p:cNvPr id="15" name="Text 13"/>
          <p:cNvSpPr/>
          <p:nvPr/>
        </p:nvSpPr>
        <p:spPr>
          <a:xfrm>
            <a:off x="828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28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50</a:t>
            </a:r>
            <a:endParaRPr lang="en-US" sz="840" dirty="0"/>
          </a:p>
        </p:txBody>
      </p:sp>
      <p:sp>
        <p:nvSpPr>
          <p:cNvPr id="16" name="Text 14"/>
          <p:cNvSpPr/>
          <p:nvPr/>
        </p:nvSpPr>
        <p:spPr>
          <a:xfrm>
            <a:off x="828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Divin No Low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17" name="Text 15"/>
          <p:cNvSpPr/>
          <p:nvPr/>
        </p:nvSpPr>
        <p:spPr>
          <a:xfrm>
            <a:off x="828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15   </a:t>
            </a:r>
            <a:r>
              <a:rPr lang="en-US" sz="840" b="1" dirty="0">
                <a:solidFill>
                  <a:srgbClr val="46606E"/>
                </a:solidFill>
                <a:latin typeface="IBM Plex Sans" pitchFamily="34" charset="0"/>
                <a:ea typeface="IBM Plex Sans" pitchFamily="34" charset="-122"/>
                <a:cs typeface="IBM Plex Sans" pitchFamily="34" charset="-120"/>
              </a:rPr>
              <a:t>17</a:t>
            </a:r>
            <a:endParaRPr lang="en-US" sz="840" dirty="0"/>
          </a:p>
        </p:txBody>
      </p:sp>
      <p:sp>
        <p:nvSpPr>
          <p:cNvPr id="18" name="Text 16"/>
          <p:cNvSpPr/>
          <p:nvPr/>
        </p:nvSpPr>
        <p:spPr>
          <a:xfrm>
            <a:off x="828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19" name="Text 17"/>
          <p:cNvSpPr/>
          <p:nvPr/>
        </p:nvSpPr>
        <p:spPr>
          <a:xfrm>
            <a:off x="828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8</a:t>
            </a:r>
            <a:endParaRPr lang="en-US" sz="840" dirty="0"/>
          </a:p>
        </p:txBody>
      </p:sp>
      <p:sp>
        <p:nvSpPr>
          <p:cNvPr id="20" name="Text 18"/>
          <p:cNvSpPr/>
          <p:nvPr/>
        </p:nvSpPr>
        <p:spPr>
          <a:xfrm>
            <a:off x="828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21" name="Text 19"/>
          <p:cNvSpPr/>
          <p:nvPr/>
        </p:nvSpPr>
        <p:spPr>
          <a:xfrm>
            <a:off x="828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11</a:t>
            </a:r>
            <a:endParaRPr lang="en-US" sz="840" dirty="0"/>
          </a:p>
        </p:txBody>
      </p:sp>
      <p:sp>
        <p:nvSpPr>
          <p:cNvPr id="22" name="Text 20"/>
          <p:cNvSpPr/>
          <p:nvPr/>
        </p:nvSpPr>
        <p:spPr>
          <a:xfrm>
            <a:off x="828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des Nugues   </a:t>
            </a:r>
            <a:r>
              <a:rPr lang="en-US" sz="700" dirty="0">
                <a:solidFill>
                  <a:srgbClr val="A8515F"/>
                </a:solidFill>
                <a:latin typeface="IBM Plex Sans" pitchFamily="34" charset="0"/>
                <a:ea typeface="IBM Plex Sans" pitchFamily="34" charset="-122"/>
                <a:cs typeface="IBM Plex Sans" pitchFamily="34" charset="-120"/>
              </a:rPr>
              <a:t>Beaujolais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23" name="Text 21"/>
          <p:cNvSpPr/>
          <p:nvPr/>
        </p:nvSpPr>
        <p:spPr>
          <a:xfrm>
            <a:off x="828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des Pasquiers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35</a:t>
            </a:r>
            <a:endParaRPr lang="en-US" sz="840" dirty="0"/>
          </a:p>
        </p:txBody>
      </p:sp>
      <p:sp>
        <p:nvSpPr>
          <p:cNvPr id="24" name="Text 22"/>
          <p:cNvSpPr/>
          <p:nvPr/>
        </p:nvSpPr>
        <p:spPr>
          <a:xfrm>
            <a:off x="3888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25" name="Text 23"/>
          <p:cNvSpPr/>
          <p:nvPr/>
        </p:nvSpPr>
        <p:spPr>
          <a:xfrm>
            <a:off x="3888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14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26" name="Text 24"/>
          <p:cNvSpPr/>
          <p:nvPr/>
        </p:nvSpPr>
        <p:spPr>
          <a:xfrm>
            <a:off x="3888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33</a:t>
            </a:r>
            <a:endParaRPr lang="en-US" sz="840" dirty="0"/>
          </a:p>
        </p:txBody>
      </p:sp>
      <p:sp>
        <p:nvSpPr>
          <p:cNvPr id="27" name="Text 25"/>
          <p:cNvSpPr/>
          <p:nvPr/>
        </p:nvSpPr>
        <p:spPr>
          <a:xfrm>
            <a:off x="3888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21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28" name="Text 26"/>
          <p:cNvSpPr/>
          <p:nvPr/>
        </p:nvSpPr>
        <p:spPr>
          <a:xfrm>
            <a:off x="3888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16   </a:t>
            </a:r>
            <a:r>
              <a:rPr lang="en-US" sz="840" b="1" dirty="0">
                <a:solidFill>
                  <a:srgbClr val="46606E"/>
                </a:solidFill>
                <a:latin typeface="IBM Plex Sans" pitchFamily="34" charset="0"/>
                <a:ea typeface="IBM Plex Sans" pitchFamily="34" charset="-122"/>
                <a:cs typeface="IBM Plex Sans" pitchFamily="34" charset="-120"/>
              </a:rPr>
              <a:t>13</a:t>
            </a:r>
            <a:endParaRPr lang="en-US" sz="840" dirty="0"/>
          </a:p>
        </p:txBody>
      </p:sp>
      <p:sp>
        <p:nvSpPr>
          <p:cNvPr id="29" name="Text 27"/>
          <p:cNvSpPr/>
          <p:nvPr/>
        </p:nvSpPr>
        <p:spPr>
          <a:xfrm>
            <a:off x="3888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30" name="Text 28"/>
          <p:cNvSpPr/>
          <p:nvPr/>
        </p:nvSpPr>
        <p:spPr>
          <a:xfrm>
            <a:off x="3888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28</a:t>
            </a:r>
            <a:endParaRPr lang="en-US" sz="840" dirty="0"/>
          </a:p>
        </p:txBody>
      </p:sp>
      <p:sp>
        <p:nvSpPr>
          <p:cNvPr id="31" name="Text 29"/>
          <p:cNvSpPr/>
          <p:nvPr/>
        </p:nvSpPr>
        <p:spPr>
          <a:xfrm>
            <a:off x="3888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35   </a:t>
            </a:r>
            <a:r>
              <a:rPr lang="en-US" sz="840" b="1" dirty="0">
                <a:solidFill>
                  <a:srgbClr val="46606E"/>
                </a:solidFill>
                <a:latin typeface="IBM Plex Sans" pitchFamily="34" charset="0"/>
                <a:ea typeface="IBM Plex Sans" pitchFamily="34" charset="-122"/>
                <a:cs typeface="IBM Plex Sans" pitchFamily="34" charset="-120"/>
              </a:rPr>
              <a:t>Domaine Les Lys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60</a:t>
            </a:r>
            <a:endParaRPr lang="en-US" sz="840" dirty="0"/>
          </a:p>
        </p:txBody>
      </p:sp>
      <p:sp>
        <p:nvSpPr>
          <p:cNvPr id="32" name="Text 30"/>
          <p:cNvSpPr/>
          <p:nvPr/>
        </p:nvSpPr>
        <p:spPr>
          <a:xfrm>
            <a:off x="3888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Domaine Nadine Ferrand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24</a:t>
            </a:r>
            <a:endParaRPr lang="en-US" sz="840" dirty="0"/>
          </a:p>
        </p:txBody>
      </p:sp>
      <p:sp>
        <p:nvSpPr>
          <p:cNvPr id="33" name="Text 31"/>
          <p:cNvSpPr/>
          <p:nvPr/>
        </p:nvSpPr>
        <p:spPr>
          <a:xfrm>
            <a:off x="3888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15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34" name="Text 32"/>
          <p:cNvSpPr/>
          <p:nvPr/>
        </p:nvSpPr>
        <p:spPr>
          <a:xfrm>
            <a:off x="3888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38</a:t>
            </a:r>
            <a:endParaRPr lang="en-US" sz="840" dirty="0"/>
          </a:p>
        </p:txBody>
      </p:sp>
      <p:sp>
        <p:nvSpPr>
          <p:cNvPr id="35" name="Text 33"/>
          <p:cNvSpPr/>
          <p:nvPr/>
        </p:nvSpPr>
        <p:spPr>
          <a:xfrm>
            <a:off x="3888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36" name="Text 34"/>
          <p:cNvSpPr/>
          <p:nvPr/>
        </p:nvSpPr>
        <p:spPr>
          <a:xfrm>
            <a:off x="3888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Fabien Castaing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13   </a:t>
            </a:r>
            <a:r>
              <a:rPr lang="en-US" sz="840" b="1" dirty="0">
                <a:solidFill>
                  <a:srgbClr val="46606E"/>
                </a:solidFill>
                <a:latin typeface="IBM Plex Sans" pitchFamily="34" charset="0"/>
                <a:ea typeface="IBM Plex Sans" pitchFamily="34" charset="-122"/>
                <a:cs typeface="IBM Plex Sans" pitchFamily="34" charset="-120"/>
              </a:rPr>
              <a:t>41</a:t>
            </a:r>
            <a:endParaRPr lang="en-US" sz="840" dirty="0"/>
          </a:p>
        </p:txBody>
      </p:sp>
      <p:sp>
        <p:nvSpPr>
          <p:cNvPr id="37" name="Text 35"/>
          <p:cNvSpPr/>
          <p:nvPr/>
        </p:nvSpPr>
        <p:spPr>
          <a:xfrm>
            <a:off x="3888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32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21   </a:t>
            </a:r>
            <a:r>
              <a:rPr lang="en-US" sz="840" b="1" dirty="0">
                <a:solidFill>
                  <a:srgbClr val="46606E"/>
                </a:solidFill>
                <a:latin typeface="IBM Plex Sans" pitchFamily="34" charset="0"/>
                <a:ea typeface="IBM Plex Sans" pitchFamily="34" charset="-122"/>
                <a:cs typeface="IBM Plex Sans" pitchFamily="34" charset="-120"/>
              </a:rPr>
              <a:t>56</a:t>
            </a:r>
            <a:endParaRPr lang="en-US" sz="840" dirty="0"/>
          </a:p>
        </p:txBody>
      </p:sp>
      <p:sp>
        <p:nvSpPr>
          <p:cNvPr id="38" name="Text 36"/>
          <p:cNvSpPr/>
          <p:nvPr/>
        </p:nvSpPr>
        <p:spPr>
          <a:xfrm>
            <a:off x="3888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33   </a:t>
            </a:r>
            <a:r>
              <a:rPr lang="en-US" sz="840" b="1" dirty="0">
                <a:solidFill>
                  <a:srgbClr val="46606E"/>
                </a:solidFill>
                <a:latin typeface="IBM Plex Sans" pitchFamily="34" charset="0"/>
                <a:ea typeface="IBM Plex Sans" pitchFamily="34" charset="-122"/>
                <a:cs typeface="IBM Plex Sans" pitchFamily="34" charset="-120"/>
              </a:rPr>
              <a:t>Famille d’Exea — Jus de Cépages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58</a:t>
            </a:r>
            <a:endParaRPr lang="en-US" sz="840" dirty="0"/>
          </a:p>
        </p:txBody>
      </p:sp>
      <p:sp>
        <p:nvSpPr>
          <p:cNvPr id="39" name="Text 37"/>
          <p:cNvSpPr/>
          <p:nvPr/>
        </p:nvSpPr>
        <p:spPr>
          <a:xfrm>
            <a:off x="3888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40" name="Text 38"/>
          <p:cNvSpPr/>
          <p:nvPr/>
        </p:nvSpPr>
        <p:spPr>
          <a:xfrm>
            <a:off x="3888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La Passion des Terroirs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31   </a:t>
            </a:r>
            <a:r>
              <a:rPr lang="en-US" sz="840" b="1" dirty="0">
                <a:solidFill>
                  <a:srgbClr val="46606E"/>
                </a:solidFill>
                <a:latin typeface="IBM Plex Sans" pitchFamily="34" charset="0"/>
                <a:ea typeface="IBM Plex Sans" pitchFamily="34" charset="-122"/>
                <a:cs typeface="IBM Plex Sans" pitchFamily="34" charset="-120"/>
              </a:rPr>
              <a:t>44</a:t>
            </a:r>
            <a:endParaRPr lang="en-US" sz="840" dirty="0"/>
          </a:p>
        </p:txBody>
      </p:sp>
      <p:sp>
        <p:nvSpPr>
          <p:cNvPr id="41" name="Text 39"/>
          <p:cNvSpPr/>
          <p:nvPr/>
        </p:nvSpPr>
        <p:spPr>
          <a:xfrm>
            <a:off x="3888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23   </a:t>
            </a:r>
            <a:r>
              <a:rPr lang="en-US" sz="840" b="1" dirty="0">
                <a:solidFill>
                  <a:srgbClr val="46606E"/>
                </a:solidFill>
                <a:latin typeface="IBM Plex Sans" pitchFamily="34" charset="0"/>
                <a:ea typeface="IBM Plex Sans" pitchFamily="34" charset="-122"/>
                <a:cs typeface="IBM Plex Sans" pitchFamily="34" charset="-120"/>
              </a:rPr>
              <a:t>25</a:t>
            </a:r>
            <a:endParaRPr lang="en-US" sz="840" dirty="0"/>
          </a:p>
        </p:txBody>
      </p:sp>
      <p:sp>
        <p:nvSpPr>
          <p:cNvPr id="42" name="Text 40"/>
          <p:cNvSpPr/>
          <p:nvPr/>
        </p:nvSpPr>
        <p:spPr>
          <a:xfrm>
            <a:off x="3888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36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13   </a:t>
            </a:r>
            <a:r>
              <a:rPr lang="en-US" sz="840" b="1" dirty="0">
                <a:solidFill>
                  <a:srgbClr val="46606E"/>
                </a:solidFill>
                <a:latin typeface="IBM Plex Sans" pitchFamily="34" charset="0"/>
                <a:ea typeface="IBM Plex Sans" pitchFamily="34" charset="-122"/>
                <a:cs typeface="IBM Plex Sans" pitchFamily="34" charset="-120"/>
              </a:rPr>
              <a:t>61</a:t>
            </a:r>
            <a:endParaRPr lang="en-US" sz="840" dirty="0"/>
          </a:p>
        </p:txBody>
      </p:sp>
      <p:sp>
        <p:nvSpPr>
          <p:cNvPr id="43" name="Text 41"/>
          <p:cNvSpPr/>
          <p:nvPr/>
        </p:nvSpPr>
        <p:spPr>
          <a:xfrm>
            <a:off x="3888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40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67</a:t>
            </a:r>
            <a:endParaRPr lang="en-US" sz="840" dirty="0"/>
          </a:p>
        </p:txBody>
      </p:sp>
      <p:sp>
        <p:nvSpPr>
          <p:cNvPr id="44" name="Text 42"/>
          <p:cNvSpPr/>
          <p:nvPr/>
        </p:nvSpPr>
        <p:spPr>
          <a:xfrm>
            <a:off x="828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références au tarif.</a:t>
            </a:r>
            <a:endParaRPr lang="en-US" sz="800" dirty="0"/>
          </a:p>
        </p:txBody>
      </p:sp>
      <p:sp>
        <p:nvSpPr>
          <p:cNvPr id="45" name="Text 4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72</a:t>
            </a:r>
            <a:endParaRPr lang="en-US" sz="750" dirty="0"/>
          </a:p>
        </p:txBody>
      </p:sp>
      <p:sp>
        <p:nvSpPr>
          <p:cNvPr id="46" name="Text 4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b"/>
          <a:lstStyle/>
          <a:p>
            <a:pPr indent="0" marL="0">
              <a:buNone/>
            </a:pPr>
            <a:r>
              <a:rPr lang="en-US" sz="2000" dirty="0">
                <a:solidFill>
                  <a:srgbClr val="67067C"/>
                </a:solidFill>
                <a:latin typeface="Young Serif" pitchFamily="34" charset="0"/>
                <a:ea typeface="Young Serif" pitchFamily="34" charset="-122"/>
                <a:cs typeface="Young Serif" pitchFamily="34" charset="-120"/>
              </a:rPr>
              <a:t>Vos notes</a:t>
            </a:r>
            <a:endParaRPr lang="en-US" sz="2000" dirty="0"/>
          </a:p>
        </p:txBody>
      </p:sp>
      <p:sp>
        <p:nvSpPr>
          <p:cNvPr id="3" name="Text 1"/>
          <p:cNvSpPr/>
          <p:nvPr/>
        </p:nvSpPr>
        <p:spPr>
          <a:xfrm>
            <a:off x="612000" y="882000"/>
            <a:ext cx="6120000" cy="180000"/>
          </a:xfrm>
          <a:prstGeom prst="rect">
            <a:avLst/>
          </a:prstGeom>
          <a:noFill/>
          <a:ln/>
        </p:spPr>
        <p:txBody>
          <a:bodyPr wrap="square" lIns="0" tIns="0" rIns="0" bIns="0" rtlCol="0" anchor="ctr"/>
          <a:lstStyle/>
          <a:p>
            <a:pPr indent="0" marL="0">
              <a:buNone/>
            </a:pPr>
            <a:r>
              <a:rPr lang="en-US" sz="750" b="1" spc="30" kern="0" dirty="0">
                <a:solidFill>
                  <a:srgbClr val="A8515F"/>
                </a:solidFill>
                <a:latin typeface="IBM Plex Sans" pitchFamily="34" charset="0"/>
                <a:ea typeface="IBM Plex Sans" pitchFamily="34" charset="-122"/>
                <a:cs typeface="IBM Plex Sans" pitchFamily="34" charset="-120"/>
              </a:rPr>
              <a:t>QUANTITÉS, PALIERS, DATES DE LIVRAISON</a:t>
            </a:r>
            <a:endParaRPr lang="en-US" sz="750" dirty="0"/>
          </a:p>
        </p:txBody>
      </p:sp>
      <p:sp>
        <p:nvSpPr>
          <p:cNvPr id="4" name="Shape 2"/>
          <p:cNvSpPr/>
          <p:nvPr/>
        </p:nvSpPr>
        <p:spPr>
          <a:xfrm>
            <a:off x="612000" y="1440000"/>
            <a:ext cx="6120000" cy="0"/>
          </a:xfrm>
          <a:prstGeom prst="line">
            <a:avLst/>
          </a:prstGeom>
          <a:noFill/>
          <a:ln w="7620">
            <a:solidFill>
              <a:srgbClr val="B4C2C9"/>
            </a:solidFill>
            <a:prstDash val="solid"/>
          </a:ln>
        </p:spPr>
      </p:sp>
      <p:sp>
        <p:nvSpPr>
          <p:cNvPr id="5" name="Shape 3"/>
          <p:cNvSpPr/>
          <p:nvPr/>
        </p:nvSpPr>
        <p:spPr>
          <a:xfrm>
            <a:off x="612000" y="1746000"/>
            <a:ext cx="6120000" cy="0"/>
          </a:xfrm>
          <a:prstGeom prst="line">
            <a:avLst/>
          </a:prstGeom>
          <a:noFill/>
          <a:ln w="7620">
            <a:solidFill>
              <a:srgbClr val="B4C2C9"/>
            </a:solidFill>
            <a:prstDash val="solid"/>
          </a:ln>
        </p:spPr>
      </p:sp>
      <p:sp>
        <p:nvSpPr>
          <p:cNvPr id="6" name="Shape 4"/>
          <p:cNvSpPr/>
          <p:nvPr/>
        </p:nvSpPr>
        <p:spPr>
          <a:xfrm>
            <a:off x="612000" y="2052000"/>
            <a:ext cx="6120000" cy="0"/>
          </a:xfrm>
          <a:prstGeom prst="line">
            <a:avLst/>
          </a:prstGeom>
          <a:noFill/>
          <a:ln w="7620">
            <a:solidFill>
              <a:srgbClr val="B4C2C9"/>
            </a:solidFill>
            <a:prstDash val="solid"/>
          </a:ln>
        </p:spPr>
      </p:sp>
      <p:sp>
        <p:nvSpPr>
          <p:cNvPr id="7" name="Shape 5"/>
          <p:cNvSpPr/>
          <p:nvPr/>
        </p:nvSpPr>
        <p:spPr>
          <a:xfrm>
            <a:off x="612000" y="2358000"/>
            <a:ext cx="6120000" cy="0"/>
          </a:xfrm>
          <a:prstGeom prst="line">
            <a:avLst/>
          </a:prstGeom>
          <a:noFill/>
          <a:ln w="7620">
            <a:solidFill>
              <a:srgbClr val="B4C2C9"/>
            </a:solidFill>
            <a:prstDash val="solid"/>
          </a:ln>
        </p:spPr>
      </p:sp>
      <p:sp>
        <p:nvSpPr>
          <p:cNvPr id="8" name="Shape 6"/>
          <p:cNvSpPr/>
          <p:nvPr/>
        </p:nvSpPr>
        <p:spPr>
          <a:xfrm>
            <a:off x="612000" y="2664000"/>
            <a:ext cx="6120000" cy="0"/>
          </a:xfrm>
          <a:prstGeom prst="line">
            <a:avLst/>
          </a:prstGeom>
          <a:noFill/>
          <a:ln w="7620">
            <a:solidFill>
              <a:srgbClr val="B4C2C9"/>
            </a:solidFill>
            <a:prstDash val="solid"/>
          </a:ln>
        </p:spPr>
      </p:sp>
      <p:sp>
        <p:nvSpPr>
          <p:cNvPr id="9" name="Shape 7"/>
          <p:cNvSpPr/>
          <p:nvPr/>
        </p:nvSpPr>
        <p:spPr>
          <a:xfrm>
            <a:off x="612000" y="2970000"/>
            <a:ext cx="6120000" cy="0"/>
          </a:xfrm>
          <a:prstGeom prst="line">
            <a:avLst/>
          </a:prstGeom>
          <a:noFill/>
          <a:ln w="7620">
            <a:solidFill>
              <a:srgbClr val="B4C2C9"/>
            </a:solidFill>
            <a:prstDash val="solid"/>
          </a:ln>
        </p:spPr>
      </p:sp>
      <p:sp>
        <p:nvSpPr>
          <p:cNvPr id="10" name="Shape 8"/>
          <p:cNvSpPr/>
          <p:nvPr/>
        </p:nvSpPr>
        <p:spPr>
          <a:xfrm>
            <a:off x="612000" y="3276000"/>
            <a:ext cx="6120000" cy="0"/>
          </a:xfrm>
          <a:prstGeom prst="line">
            <a:avLst/>
          </a:prstGeom>
          <a:noFill/>
          <a:ln w="7620">
            <a:solidFill>
              <a:srgbClr val="B4C2C9"/>
            </a:solidFill>
            <a:prstDash val="solid"/>
          </a:ln>
        </p:spPr>
      </p:sp>
      <p:sp>
        <p:nvSpPr>
          <p:cNvPr id="11" name="Shape 9"/>
          <p:cNvSpPr/>
          <p:nvPr/>
        </p:nvSpPr>
        <p:spPr>
          <a:xfrm>
            <a:off x="612000" y="3582000"/>
            <a:ext cx="6120000" cy="0"/>
          </a:xfrm>
          <a:prstGeom prst="line">
            <a:avLst/>
          </a:prstGeom>
          <a:noFill/>
          <a:ln w="7620">
            <a:solidFill>
              <a:srgbClr val="B4C2C9"/>
            </a:solidFill>
            <a:prstDash val="solid"/>
          </a:ln>
        </p:spPr>
      </p:sp>
      <p:sp>
        <p:nvSpPr>
          <p:cNvPr id="12" name="Shape 10"/>
          <p:cNvSpPr/>
          <p:nvPr/>
        </p:nvSpPr>
        <p:spPr>
          <a:xfrm>
            <a:off x="612000" y="3888000"/>
            <a:ext cx="6120000" cy="0"/>
          </a:xfrm>
          <a:prstGeom prst="line">
            <a:avLst/>
          </a:prstGeom>
          <a:noFill/>
          <a:ln w="7620">
            <a:solidFill>
              <a:srgbClr val="B4C2C9"/>
            </a:solidFill>
            <a:prstDash val="solid"/>
          </a:ln>
        </p:spPr>
      </p:sp>
      <p:sp>
        <p:nvSpPr>
          <p:cNvPr id="13" name="Shape 11"/>
          <p:cNvSpPr/>
          <p:nvPr/>
        </p:nvSpPr>
        <p:spPr>
          <a:xfrm>
            <a:off x="612000" y="4194000"/>
            <a:ext cx="6120000" cy="0"/>
          </a:xfrm>
          <a:prstGeom prst="line">
            <a:avLst/>
          </a:prstGeom>
          <a:noFill/>
          <a:ln w="7620">
            <a:solidFill>
              <a:srgbClr val="B4C2C9"/>
            </a:solidFill>
            <a:prstDash val="solid"/>
          </a:ln>
        </p:spPr>
      </p:sp>
      <p:sp>
        <p:nvSpPr>
          <p:cNvPr id="14" name="Shape 12"/>
          <p:cNvSpPr/>
          <p:nvPr/>
        </p:nvSpPr>
        <p:spPr>
          <a:xfrm>
            <a:off x="612000" y="4500000"/>
            <a:ext cx="6120000" cy="0"/>
          </a:xfrm>
          <a:prstGeom prst="line">
            <a:avLst/>
          </a:prstGeom>
          <a:noFill/>
          <a:ln w="7620">
            <a:solidFill>
              <a:srgbClr val="B4C2C9"/>
            </a:solidFill>
            <a:prstDash val="solid"/>
          </a:ln>
        </p:spPr>
      </p:sp>
      <p:sp>
        <p:nvSpPr>
          <p:cNvPr id="15" name="Shape 13"/>
          <p:cNvSpPr/>
          <p:nvPr/>
        </p:nvSpPr>
        <p:spPr>
          <a:xfrm>
            <a:off x="612000" y="4806000"/>
            <a:ext cx="6120000" cy="0"/>
          </a:xfrm>
          <a:prstGeom prst="line">
            <a:avLst/>
          </a:prstGeom>
          <a:noFill/>
          <a:ln w="7620">
            <a:solidFill>
              <a:srgbClr val="B4C2C9"/>
            </a:solidFill>
            <a:prstDash val="solid"/>
          </a:ln>
        </p:spPr>
      </p:sp>
      <p:sp>
        <p:nvSpPr>
          <p:cNvPr id="16" name="Shape 14"/>
          <p:cNvSpPr/>
          <p:nvPr/>
        </p:nvSpPr>
        <p:spPr>
          <a:xfrm>
            <a:off x="612000" y="5112000"/>
            <a:ext cx="6120000" cy="0"/>
          </a:xfrm>
          <a:prstGeom prst="line">
            <a:avLst/>
          </a:prstGeom>
          <a:noFill/>
          <a:ln w="7620">
            <a:solidFill>
              <a:srgbClr val="B4C2C9"/>
            </a:solidFill>
            <a:prstDash val="solid"/>
          </a:ln>
        </p:spPr>
      </p:sp>
      <p:sp>
        <p:nvSpPr>
          <p:cNvPr id="17" name="Shape 15"/>
          <p:cNvSpPr/>
          <p:nvPr/>
        </p:nvSpPr>
        <p:spPr>
          <a:xfrm>
            <a:off x="612000" y="5418000"/>
            <a:ext cx="6120000" cy="0"/>
          </a:xfrm>
          <a:prstGeom prst="line">
            <a:avLst/>
          </a:prstGeom>
          <a:noFill/>
          <a:ln w="7620">
            <a:solidFill>
              <a:srgbClr val="B4C2C9"/>
            </a:solidFill>
            <a:prstDash val="solid"/>
          </a:ln>
        </p:spPr>
      </p:sp>
      <p:sp>
        <p:nvSpPr>
          <p:cNvPr id="18" name="Shape 16"/>
          <p:cNvSpPr/>
          <p:nvPr/>
        </p:nvSpPr>
        <p:spPr>
          <a:xfrm>
            <a:off x="612000" y="5724000"/>
            <a:ext cx="6120000" cy="0"/>
          </a:xfrm>
          <a:prstGeom prst="line">
            <a:avLst/>
          </a:prstGeom>
          <a:noFill/>
          <a:ln w="7620">
            <a:solidFill>
              <a:srgbClr val="B4C2C9"/>
            </a:solidFill>
            <a:prstDash val="solid"/>
          </a:ln>
        </p:spPr>
      </p:sp>
      <p:sp>
        <p:nvSpPr>
          <p:cNvPr id="19" name="Shape 17"/>
          <p:cNvSpPr/>
          <p:nvPr/>
        </p:nvSpPr>
        <p:spPr>
          <a:xfrm>
            <a:off x="612000" y="6030000"/>
            <a:ext cx="6120000" cy="0"/>
          </a:xfrm>
          <a:prstGeom prst="line">
            <a:avLst/>
          </a:prstGeom>
          <a:noFill/>
          <a:ln w="7620">
            <a:solidFill>
              <a:srgbClr val="B4C2C9"/>
            </a:solidFill>
            <a:prstDash val="solid"/>
          </a:ln>
        </p:spPr>
      </p:sp>
      <p:sp>
        <p:nvSpPr>
          <p:cNvPr id="20" name="Shape 18"/>
          <p:cNvSpPr/>
          <p:nvPr/>
        </p:nvSpPr>
        <p:spPr>
          <a:xfrm>
            <a:off x="612000" y="6336000"/>
            <a:ext cx="6120000" cy="0"/>
          </a:xfrm>
          <a:prstGeom prst="line">
            <a:avLst/>
          </a:prstGeom>
          <a:noFill/>
          <a:ln w="7620">
            <a:solidFill>
              <a:srgbClr val="B4C2C9"/>
            </a:solidFill>
            <a:prstDash val="solid"/>
          </a:ln>
        </p:spPr>
      </p:sp>
      <p:sp>
        <p:nvSpPr>
          <p:cNvPr id="21" name="Shape 19"/>
          <p:cNvSpPr/>
          <p:nvPr/>
        </p:nvSpPr>
        <p:spPr>
          <a:xfrm>
            <a:off x="612000" y="6642000"/>
            <a:ext cx="6120000" cy="0"/>
          </a:xfrm>
          <a:prstGeom prst="line">
            <a:avLst/>
          </a:prstGeom>
          <a:noFill/>
          <a:ln w="7620">
            <a:solidFill>
              <a:srgbClr val="B4C2C9"/>
            </a:solidFill>
            <a:prstDash val="solid"/>
          </a:ln>
        </p:spPr>
      </p:sp>
      <p:sp>
        <p:nvSpPr>
          <p:cNvPr id="22" name="Shape 20"/>
          <p:cNvSpPr/>
          <p:nvPr/>
        </p:nvSpPr>
        <p:spPr>
          <a:xfrm>
            <a:off x="612000" y="6948000"/>
            <a:ext cx="6120000" cy="0"/>
          </a:xfrm>
          <a:prstGeom prst="line">
            <a:avLst/>
          </a:prstGeom>
          <a:noFill/>
          <a:ln w="7620">
            <a:solidFill>
              <a:srgbClr val="B4C2C9"/>
            </a:solidFill>
            <a:prstDash val="solid"/>
          </a:ln>
        </p:spPr>
      </p:sp>
      <p:sp>
        <p:nvSpPr>
          <p:cNvPr id="23" name="Shape 21"/>
          <p:cNvSpPr/>
          <p:nvPr/>
        </p:nvSpPr>
        <p:spPr>
          <a:xfrm>
            <a:off x="612000" y="7254000"/>
            <a:ext cx="6120000" cy="0"/>
          </a:xfrm>
          <a:prstGeom prst="line">
            <a:avLst/>
          </a:prstGeom>
          <a:noFill/>
          <a:ln w="7620">
            <a:solidFill>
              <a:srgbClr val="B4C2C9"/>
            </a:solidFill>
            <a:prstDash val="solid"/>
          </a:ln>
        </p:spPr>
      </p:sp>
      <p:sp>
        <p:nvSpPr>
          <p:cNvPr id="24" name="Shape 22"/>
          <p:cNvSpPr/>
          <p:nvPr/>
        </p:nvSpPr>
        <p:spPr>
          <a:xfrm>
            <a:off x="612000" y="7560000"/>
            <a:ext cx="6120000" cy="0"/>
          </a:xfrm>
          <a:prstGeom prst="line">
            <a:avLst/>
          </a:prstGeom>
          <a:noFill/>
          <a:ln w="7620">
            <a:solidFill>
              <a:srgbClr val="B4C2C9"/>
            </a:solidFill>
            <a:prstDash val="solid"/>
          </a:ln>
        </p:spPr>
      </p:sp>
      <p:sp>
        <p:nvSpPr>
          <p:cNvPr id="25" name="Shape 23"/>
          <p:cNvSpPr/>
          <p:nvPr/>
        </p:nvSpPr>
        <p:spPr>
          <a:xfrm>
            <a:off x="612000" y="7866000"/>
            <a:ext cx="6120000" cy="0"/>
          </a:xfrm>
          <a:prstGeom prst="line">
            <a:avLst/>
          </a:prstGeom>
          <a:noFill/>
          <a:ln w="7620">
            <a:solidFill>
              <a:srgbClr val="B4C2C9"/>
            </a:solidFill>
            <a:prstDash val="solid"/>
          </a:ln>
        </p:spPr>
      </p:sp>
      <p:sp>
        <p:nvSpPr>
          <p:cNvPr id="26" name="Shape 24"/>
          <p:cNvSpPr/>
          <p:nvPr/>
        </p:nvSpPr>
        <p:spPr>
          <a:xfrm>
            <a:off x="612000" y="8172000"/>
            <a:ext cx="6120000" cy="0"/>
          </a:xfrm>
          <a:prstGeom prst="line">
            <a:avLst/>
          </a:prstGeom>
          <a:noFill/>
          <a:ln w="7620">
            <a:solidFill>
              <a:srgbClr val="B4C2C9"/>
            </a:solidFill>
            <a:prstDash val="solid"/>
          </a:ln>
        </p:spPr>
      </p:sp>
      <p:sp>
        <p:nvSpPr>
          <p:cNvPr id="27" name="Text 2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73</a:t>
            </a:r>
            <a:endParaRPr lang="en-US" sz="750" dirty="0"/>
          </a:p>
        </p:txBody>
      </p:sp>
      <p:sp>
        <p:nvSpPr>
          <p:cNvPr id="28" name="Text 2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324000"/>
          </a:xfrm>
          <a:prstGeom prst="rect">
            <a:avLst/>
          </a:prstGeom>
          <a:noFill/>
          <a:ln/>
        </p:spPr>
        <p:txBody>
          <a:bodyPr wrap="square" lIns="0" tIns="0" rIns="0" bIns="0" rtlCol="0" anchor="b"/>
          <a:lstStyle/>
          <a:p>
            <a:pPr indent="0" marL="0">
              <a:buNone/>
            </a:pPr>
            <a:r>
              <a:rPr lang="en-US" sz="2000" dirty="0">
                <a:solidFill>
                  <a:srgbClr val="67067C"/>
                </a:solidFill>
                <a:latin typeface="Young Serif" pitchFamily="34" charset="0"/>
                <a:ea typeface="Young Serif" pitchFamily="34" charset="-122"/>
                <a:cs typeface="Young Serif" pitchFamily="34" charset="-120"/>
              </a:rPr>
              <a:t>Vos notes</a:t>
            </a:r>
            <a:endParaRPr lang="en-US" sz="2000" dirty="0"/>
          </a:p>
        </p:txBody>
      </p:sp>
      <p:sp>
        <p:nvSpPr>
          <p:cNvPr id="3" name="Text 1"/>
          <p:cNvSpPr/>
          <p:nvPr/>
        </p:nvSpPr>
        <p:spPr>
          <a:xfrm>
            <a:off x="828000" y="882000"/>
            <a:ext cx="6120000" cy="180000"/>
          </a:xfrm>
          <a:prstGeom prst="rect">
            <a:avLst/>
          </a:prstGeom>
          <a:noFill/>
          <a:ln/>
        </p:spPr>
        <p:txBody>
          <a:bodyPr wrap="square" lIns="0" tIns="0" rIns="0" bIns="0" rtlCol="0" anchor="ctr"/>
          <a:lstStyle/>
          <a:p>
            <a:pPr indent="0" marL="0">
              <a:buNone/>
            </a:pPr>
            <a:r>
              <a:rPr lang="en-US" sz="750" b="1" spc="30" kern="0" dirty="0">
                <a:solidFill>
                  <a:srgbClr val="A8515F"/>
                </a:solidFill>
                <a:latin typeface="IBM Plex Sans" pitchFamily="34" charset="0"/>
                <a:ea typeface="IBM Plex Sans" pitchFamily="34" charset="-122"/>
                <a:cs typeface="IBM Plex Sans" pitchFamily="34" charset="-120"/>
              </a:rPr>
              <a:t>QUANTITÉS, PALIERS, DATES DE LIVRAISON</a:t>
            </a:r>
            <a:endParaRPr lang="en-US" sz="750" dirty="0"/>
          </a:p>
        </p:txBody>
      </p:sp>
      <p:sp>
        <p:nvSpPr>
          <p:cNvPr id="4" name="Shape 2"/>
          <p:cNvSpPr/>
          <p:nvPr/>
        </p:nvSpPr>
        <p:spPr>
          <a:xfrm>
            <a:off x="828000" y="1440000"/>
            <a:ext cx="6120000" cy="0"/>
          </a:xfrm>
          <a:prstGeom prst="line">
            <a:avLst/>
          </a:prstGeom>
          <a:noFill/>
          <a:ln w="7620">
            <a:solidFill>
              <a:srgbClr val="B4C2C9"/>
            </a:solidFill>
            <a:prstDash val="solid"/>
          </a:ln>
        </p:spPr>
      </p:sp>
      <p:sp>
        <p:nvSpPr>
          <p:cNvPr id="5" name="Shape 3"/>
          <p:cNvSpPr/>
          <p:nvPr/>
        </p:nvSpPr>
        <p:spPr>
          <a:xfrm>
            <a:off x="828000" y="1746000"/>
            <a:ext cx="6120000" cy="0"/>
          </a:xfrm>
          <a:prstGeom prst="line">
            <a:avLst/>
          </a:prstGeom>
          <a:noFill/>
          <a:ln w="7620">
            <a:solidFill>
              <a:srgbClr val="B4C2C9"/>
            </a:solidFill>
            <a:prstDash val="solid"/>
          </a:ln>
        </p:spPr>
      </p:sp>
      <p:sp>
        <p:nvSpPr>
          <p:cNvPr id="6" name="Shape 4"/>
          <p:cNvSpPr/>
          <p:nvPr/>
        </p:nvSpPr>
        <p:spPr>
          <a:xfrm>
            <a:off x="828000" y="2052000"/>
            <a:ext cx="6120000" cy="0"/>
          </a:xfrm>
          <a:prstGeom prst="line">
            <a:avLst/>
          </a:prstGeom>
          <a:noFill/>
          <a:ln w="7620">
            <a:solidFill>
              <a:srgbClr val="B4C2C9"/>
            </a:solidFill>
            <a:prstDash val="solid"/>
          </a:ln>
        </p:spPr>
      </p:sp>
      <p:sp>
        <p:nvSpPr>
          <p:cNvPr id="7" name="Shape 5"/>
          <p:cNvSpPr/>
          <p:nvPr/>
        </p:nvSpPr>
        <p:spPr>
          <a:xfrm>
            <a:off x="828000" y="2358000"/>
            <a:ext cx="6120000" cy="0"/>
          </a:xfrm>
          <a:prstGeom prst="line">
            <a:avLst/>
          </a:prstGeom>
          <a:noFill/>
          <a:ln w="7620">
            <a:solidFill>
              <a:srgbClr val="B4C2C9"/>
            </a:solidFill>
            <a:prstDash val="solid"/>
          </a:ln>
        </p:spPr>
      </p:sp>
      <p:sp>
        <p:nvSpPr>
          <p:cNvPr id="8" name="Shape 6"/>
          <p:cNvSpPr/>
          <p:nvPr/>
        </p:nvSpPr>
        <p:spPr>
          <a:xfrm>
            <a:off x="828000" y="2664000"/>
            <a:ext cx="6120000" cy="0"/>
          </a:xfrm>
          <a:prstGeom prst="line">
            <a:avLst/>
          </a:prstGeom>
          <a:noFill/>
          <a:ln w="7620">
            <a:solidFill>
              <a:srgbClr val="B4C2C9"/>
            </a:solidFill>
            <a:prstDash val="solid"/>
          </a:ln>
        </p:spPr>
      </p:sp>
      <p:sp>
        <p:nvSpPr>
          <p:cNvPr id="9" name="Shape 7"/>
          <p:cNvSpPr/>
          <p:nvPr/>
        </p:nvSpPr>
        <p:spPr>
          <a:xfrm>
            <a:off x="828000" y="2970000"/>
            <a:ext cx="6120000" cy="0"/>
          </a:xfrm>
          <a:prstGeom prst="line">
            <a:avLst/>
          </a:prstGeom>
          <a:noFill/>
          <a:ln w="7620">
            <a:solidFill>
              <a:srgbClr val="B4C2C9"/>
            </a:solidFill>
            <a:prstDash val="solid"/>
          </a:ln>
        </p:spPr>
      </p:sp>
      <p:sp>
        <p:nvSpPr>
          <p:cNvPr id="10" name="Shape 8"/>
          <p:cNvSpPr/>
          <p:nvPr/>
        </p:nvSpPr>
        <p:spPr>
          <a:xfrm>
            <a:off x="828000" y="3276000"/>
            <a:ext cx="6120000" cy="0"/>
          </a:xfrm>
          <a:prstGeom prst="line">
            <a:avLst/>
          </a:prstGeom>
          <a:noFill/>
          <a:ln w="7620">
            <a:solidFill>
              <a:srgbClr val="B4C2C9"/>
            </a:solidFill>
            <a:prstDash val="solid"/>
          </a:ln>
        </p:spPr>
      </p:sp>
      <p:sp>
        <p:nvSpPr>
          <p:cNvPr id="11" name="Shape 9"/>
          <p:cNvSpPr/>
          <p:nvPr/>
        </p:nvSpPr>
        <p:spPr>
          <a:xfrm>
            <a:off x="828000" y="3582000"/>
            <a:ext cx="6120000" cy="0"/>
          </a:xfrm>
          <a:prstGeom prst="line">
            <a:avLst/>
          </a:prstGeom>
          <a:noFill/>
          <a:ln w="7620">
            <a:solidFill>
              <a:srgbClr val="B4C2C9"/>
            </a:solidFill>
            <a:prstDash val="solid"/>
          </a:ln>
        </p:spPr>
      </p:sp>
      <p:sp>
        <p:nvSpPr>
          <p:cNvPr id="12" name="Shape 10"/>
          <p:cNvSpPr/>
          <p:nvPr/>
        </p:nvSpPr>
        <p:spPr>
          <a:xfrm>
            <a:off x="828000" y="3888000"/>
            <a:ext cx="6120000" cy="0"/>
          </a:xfrm>
          <a:prstGeom prst="line">
            <a:avLst/>
          </a:prstGeom>
          <a:noFill/>
          <a:ln w="7620">
            <a:solidFill>
              <a:srgbClr val="B4C2C9"/>
            </a:solidFill>
            <a:prstDash val="solid"/>
          </a:ln>
        </p:spPr>
      </p:sp>
      <p:sp>
        <p:nvSpPr>
          <p:cNvPr id="13" name="Shape 11"/>
          <p:cNvSpPr/>
          <p:nvPr/>
        </p:nvSpPr>
        <p:spPr>
          <a:xfrm>
            <a:off x="828000" y="4194000"/>
            <a:ext cx="6120000" cy="0"/>
          </a:xfrm>
          <a:prstGeom prst="line">
            <a:avLst/>
          </a:prstGeom>
          <a:noFill/>
          <a:ln w="7620">
            <a:solidFill>
              <a:srgbClr val="B4C2C9"/>
            </a:solidFill>
            <a:prstDash val="solid"/>
          </a:ln>
        </p:spPr>
      </p:sp>
      <p:sp>
        <p:nvSpPr>
          <p:cNvPr id="14" name="Shape 12"/>
          <p:cNvSpPr/>
          <p:nvPr/>
        </p:nvSpPr>
        <p:spPr>
          <a:xfrm>
            <a:off x="828000" y="4500000"/>
            <a:ext cx="6120000" cy="0"/>
          </a:xfrm>
          <a:prstGeom prst="line">
            <a:avLst/>
          </a:prstGeom>
          <a:noFill/>
          <a:ln w="7620">
            <a:solidFill>
              <a:srgbClr val="B4C2C9"/>
            </a:solidFill>
            <a:prstDash val="solid"/>
          </a:ln>
        </p:spPr>
      </p:sp>
      <p:sp>
        <p:nvSpPr>
          <p:cNvPr id="15" name="Shape 13"/>
          <p:cNvSpPr/>
          <p:nvPr/>
        </p:nvSpPr>
        <p:spPr>
          <a:xfrm>
            <a:off x="828000" y="4806000"/>
            <a:ext cx="6120000" cy="0"/>
          </a:xfrm>
          <a:prstGeom prst="line">
            <a:avLst/>
          </a:prstGeom>
          <a:noFill/>
          <a:ln w="7620">
            <a:solidFill>
              <a:srgbClr val="B4C2C9"/>
            </a:solidFill>
            <a:prstDash val="solid"/>
          </a:ln>
        </p:spPr>
      </p:sp>
      <p:sp>
        <p:nvSpPr>
          <p:cNvPr id="16" name="Shape 14"/>
          <p:cNvSpPr/>
          <p:nvPr/>
        </p:nvSpPr>
        <p:spPr>
          <a:xfrm>
            <a:off x="828000" y="5112000"/>
            <a:ext cx="6120000" cy="0"/>
          </a:xfrm>
          <a:prstGeom prst="line">
            <a:avLst/>
          </a:prstGeom>
          <a:noFill/>
          <a:ln w="7620">
            <a:solidFill>
              <a:srgbClr val="B4C2C9"/>
            </a:solidFill>
            <a:prstDash val="solid"/>
          </a:ln>
        </p:spPr>
      </p:sp>
      <p:sp>
        <p:nvSpPr>
          <p:cNvPr id="17" name="Shape 15"/>
          <p:cNvSpPr/>
          <p:nvPr/>
        </p:nvSpPr>
        <p:spPr>
          <a:xfrm>
            <a:off x="828000" y="5418000"/>
            <a:ext cx="6120000" cy="0"/>
          </a:xfrm>
          <a:prstGeom prst="line">
            <a:avLst/>
          </a:prstGeom>
          <a:noFill/>
          <a:ln w="7620">
            <a:solidFill>
              <a:srgbClr val="B4C2C9"/>
            </a:solidFill>
            <a:prstDash val="solid"/>
          </a:ln>
        </p:spPr>
      </p:sp>
      <p:sp>
        <p:nvSpPr>
          <p:cNvPr id="18" name="Shape 16"/>
          <p:cNvSpPr/>
          <p:nvPr/>
        </p:nvSpPr>
        <p:spPr>
          <a:xfrm>
            <a:off x="828000" y="5724000"/>
            <a:ext cx="6120000" cy="0"/>
          </a:xfrm>
          <a:prstGeom prst="line">
            <a:avLst/>
          </a:prstGeom>
          <a:noFill/>
          <a:ln w="7620">
            <a:solidFill>
              <a:srgbClr val="B4C2C9"/>
            </a:solidFill>
            <a:prstDash val="solid"/>
          </a:ln>
        </p:spPr>
      </p:sp>
      <p:sp>
        <p:nvSpPr>
          <p:cNvPr id="19" name="Shape 17"/>
          <p:cNvSpPr/>
          <p:nvPr/>
        </p:nvSpPr>
        <p:spPr>
          <a:xfrm>
            <a:off x="828000" y="6030000"/>
            <a:ext cx="6120000" cy="0"/>
          </a:xfrm>
          <a:prstGeom prst="line">
            <a:avLst/>
          </a:prstGeom>
          <a:noFill/>
          <a:ln w="7620">
            <a:solidFill>
              <a:srgbClr val="B4C2C9"/>
            </a:solidFill>
            <a:prstDash val="solid"/>
          </a:ln>
        </p:spPr>
      </p:sp>
      <p:sp>
        <p:nvSpPr>
          <p:cNvPr id="20" name="Shape 18"/>
          <p:cNvSpPr/>
          <p:nvPr/>
        </p:nvSpPr>
        <p:spPr>
          <a:xfrm>
            <a:off x="828000" y="6336000"/>
            <a:ext cx="6120000" cy="0"/>
          </a:xfrm>
          <a:prstGeom prst="line">
            <a:avLst/>
          </a:prstGeom>
          <a:noFill/>
          <a:ln w="7620">
            <a:solidFill>
              <a:srgbClr val="B4C2C9"/>
            </a:solidFill>
            <a:prstDash val="solid"/>
          </a:ln>
        </p:spPr>
      </p:sp>
      <p:sp>
        <p:nvSpPr>
          <p:cNvPr id="21" name="Shape 19"/>
          <p:cNvSpPr/>
          <p:nvPr/>
        </p:nvSpPr>
        <p:spPr>
          <a:xfrm>
            <a:off x="828000" y="6642000"/>
            <a:ext cx="6120000" cy="0"/>
          </a:xfrm>
          <a:prstGeom prst="line">
            <a:avLst/>
          </a:prstGeom>
          <a:noFill/>
          <a:ln w="7620">
            <a:solidFill>
              <a:srgbClr val="B4C2C9"/>
            </a:solidFill>
            <a:prstDash val="solid"/>
          </a:ln>
        </p:spPr>
      </p:sp>
      <p:sp>
        <p:nvSpPr>
          <p:cNvPr id="22" name="Shape 20"/>
          <p:cNvSpPr/>
          <p:nvPr/>
        </p:nvSpPr>
        <p:spPr>
          <a:xfrm>
            <a:off x="828000" y="6948000"/>
            <a:ext cx="6120000" cy="0"/>
          </a:xfrm>
          <a:prstGeom prst="line">
            <a:avLst/>
          </a:prstGeom>
          <a:noFill/>
          <a:ln w="7620">
            <a:solidFill>
              <a:srgbClr val="B4C2C9"/>
            </a:solidFill>
            <a:prstDash val="solid"/>
          </a:ln>
        </p:spPr>
      </p:sp>
      <p:sp>
        <p:nvSpPr>
          <p:cNvPr id="23" name="Shape 21"/>
          <p:cNvSpPr/>
          <p:nvPr/>
        </p:nvSpPr>
        <p:spPr>
          <a:xfrm>
            <a:off x="828000" y="7254000"/>
            <a:ext cx="6120000" cy="0"/>
          </a:xfrm>
          <a:prstGeom prst="line">
            <a:avLst/>
          </a:prstGeom>
          <a:noFill/>
          <a:ln w="7620">
            <a:solidFill>
              <a:srgbClr val="B4C2C9"/>
            </a:solidFill>
            <a:prstDash val="solid"/>
          </a:ln>
        </p:spPr>
      </p:sp>
      <p:sp>
        <p:nvSpPr>
          <p:cNvPr id="24" name="Shape 22"/>
          <p:cNvSpPr/>
          <p:nvPr/>
        </p:nvSpPr>
        <p:spPr>
          <a:xfrm>
            <a:off x="828000" y="7560000"/>
            <a:ext cx="6120000" cy="0"/>
          </a:xfrm>
          <a:prstGeom prst="line">
            <a:avLst/>
          </a:prstGeom>
          <a:noFill/>
          <a:ln w="7620">
            <a:solidFill>
              <a:srgbClr val="B4C2C9"/>
            </a:solidFill>
            <a:prstDash val="solid"/>
          </a:ln>
        </p:spPr>
      </p:sp>
      <p:sp>
        <p:nvSpPr>
          <p:cNvPr id="25" name="Shape 23"/>
          <p:cNvSpPr/>
          <p:nvPr/>
        </p:nvSpPr>
        <p:spPr>
          <a:xfrm>
            <a:off x="828000" y="7866000"/>
            <a:ext cx="6120000" cy="0"/>
          </a:xfrm>
          <a:prstGeom prst="line">
            <a:avLst/>
          </a:prstGeom>
          <a:noFill/>
          <a:ln w="7620">
            <a:solidFill>
              <a:srgbClr val="B4C2C9"/>
            </a:solidFill>
            <a:prstDash val="solid"/>
          </a:ln>
        </p:spPr>
      </p:sp>
      <p:sp>
        <p:nvSpPr>
          <p:cNvPr id="26" name="Shape 24"/>
          <p:cNvSpPr/>
          <p:nvPr/>
        </p:nvSpPr>
        <p:spPr>
          <a:xfrm>
            <a:off x="828000" y="8172000"/>
            <a:ext cx="6120000" cy="0"/>
          </a:xfrm>
          <a:prstGeom prst="line">
            <a:avLst/>
          </a:prstGeom>
          <a:noFill/>
          <a:ln w="7620">
            <a:solidFill>
              <a:srgbClr val="B4C2C9"/>
            </a:solidFill>
            <a:prstDash val="solid"/>
          </a:ln>
        </p:spPr>
      </p:sp>
      <p:sp>
        <p:nvSpPr>
          <p:cNvPr id="27" name="Text 2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74</a:t>
            </a:r>
            <a:endParaRPr lang="en-US" sz="750" dirty="0"/>
          </a:p>
        </p:txBody>
      </p:sp>
      <p:sp>
        <p:nvSpPr>
          <p:cNvPr id="28" name="Text 2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46606E"/>
        </a:solidFill>
      </p:bgPr>
    </p:bg>
    <p:spTree>
      <p:nvGrpSpPr>
        <p:cNvPr id="1" name=""/>
        <p:cNvGrpSpPr/>
        <p:nvPr/>
      </p:nvGrpSpPr>
      <p:grpSpPr>
        <a:xfrm>
          <a:off x="0" y="0"/>
          <a:ext cx="0" cy="0"/>
          <a:chOff x="0" y="0"/>
          <a:chExt cx="0" cy="0"/>
        </a:xfrm>
      </p:grpSpPr>
      <p:pic>
        <p:nvPicPr>
          <p:cNvPr id="2" name="Image 0" descr="/home/user/philippe1/build/deco/coupe-pleine.png">    </p:cNvPr>
          <p:cNvPicPr>
            <a:picLocks noChangeAspect="1"/>
          </p:cNvPicPr>
          <p:nvPr/>
        </p:nvPicPr>
        <p:blipFill>
          <a:blip r:embed="rId1"/>
          <a:stretch>
            <a:fillRect/>
          </a:stretch>
        </p:blipFill>
        <p:spPr>
          <a:xfrm>
            <a:off x="0" y="0"/>
            <a:ext cx="7560000" cy="9360000"/>
          </a:xfrm>
          <a:prstGeom prst="rect">
            <a:avLst/>
          </a:prstGeom>
        </p:spPr>
      </p:pic>
      <p:sp>
        <p:nvSpPr>
          <p:cNvPr id="3" name="Text 0"/>
          <p:cNvSpPr/>
          <p:nvPr/>
        </p:nvSpPr>
        <p:spPr>
          <a:xfrm>
            <a:off x="612000" y="6732000"/>
            <a:ext cx="4320000" cy="1512000"/>
          </a:xfrm>
          <a:prstGeom prst="rect">
            <a:avLst/>
          </a:prstGeom>
          <a:noFill/>
          <a:ln/>
        </p:spPr>
        <p:txBody>
          <a:bodyPr wrap="square" lIns="0" tIns="0" rIns="0" bIns="0" rtlCol="0" anchor="ctr"/>
          <a:lstStyle/>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Dix régions,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dix sols,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quarante domaines.</a:t>
            </a:r>
            <a:endParaRPr lang="en-US" sz="2600" dirty="0"/>
          </a:p>
        </p:txBody>
      </p:sp>
      <p:sp>
        <p:nvSpPr>
          <p:cNvPr id="4" name="Text 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75</a:t>
            </a:r>
            <a:endParaRPr lang="en-US" sz="750" dirty="0"/>
          </a:p>
        </p:txBody>
      </p:sp>
      <p:sp>
        <p:nvSpPr>
          <p:cNvPr id="5" name="Text 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2026-10-02T08:59:33Z</dcterms:created>
  <dcterms:modified xsi:type="dcterms:W3CDTF">2026-10-02T08:59:33Z</dcterms:modified>
</cp:coreProperties>
</file>