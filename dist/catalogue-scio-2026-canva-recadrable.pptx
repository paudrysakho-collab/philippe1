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Lst>
  <p:notesMasterIdLst>
    <p:notesMasterId r:id="rId78"/>
  </p:notesMasterIdLst>
  <p:sldSz cx="7560000" cy="9360000"/>
  <p:notesSz cx="9360000" cy="7560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notesMaster" Target="notesMasters/notesMaster1.xml"/><Relationship Id="rId79" Type="http://schemas.openxmlformats.org/officeDocument/2006/relationships/presProps" Target="presProps.xml"/><Relationship Id="rId80" Type="http://schemas.openxmlformats.org/officeDocument/2006/relationships/viewProps" Target="viewProps.xml"/><Relationship Id="rId81" Type="http://schemas.openxmlformats.org/officeDocument/2006/relationships/theme" Target="theme/theme1.xml"/><Relationship Id="rId8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jp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jp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jp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jp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jp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jp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jp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jpg"/><Relationship Id="rId3" Type="http://schemas.openxmlformats.org/officeDocument/2006/relationships/image" Target="../media/image-32-3.png"/><Relationship Id="rId4" Type="http://schemas.openxmlformats.org/officeDocument/2006/relationships/slideLayout" Target="../slideLayouts/slideLayout1.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slideLayout" Target="../slideLayouts/slideLayout1.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jp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jp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slideLayout" Target="../slideLayouts/slideLayout1.xml"/><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slideLayout" Target="../slideLayouts/slideLayout1.xm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1.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slideLayout" Target="../slideLayouts/slideLayout1.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jp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slideLayout" Target="../slideLayouts/slideLayout1.xml"/><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jp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slideLayout" Target="../slideLayouts/slideLayout1.xml"/><Relationship Id="rId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jp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slideLayout" Target="../slideLayouts/slideLayout1.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image" Target="../media/image-49-4.png"/><Relationship Id="rId5" Type="http://schemas.openxmlformats.org/officeDocument/2006/relationships/slideLayout" Target="../slideLayouts/slideLayout1.xml"/><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jpg"/><Relationship Id="rId3" Type="http://schemas.openxmlformats.org/officeDocument/2006/relationships/image" Target="../media/image-50-3.png"/><Relationship Id="rId4" Type="http://schemas.openxmlformats.org/officeDocument/2006/relationships/image" Target="../media/image-50-4.png"/><Relationship Id="rId5" Type="http://schemas.openxmlformats.org/officeDocument/2006/relationships/slideLayout" Target="../slideLayouts/slideLayout1.xml"/><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jpg"/><Relationship Id="rId3" Type="http://schemas.openxmlformats.org/officeDocument/2006/relationships/image" Target="../media/image-51-3.png"/><Relationship Id="rId4" Type="http://schemas.openxmlformats.org/officeDocument/2006/relationships/image" Target="../media/image-51-4.png"/><Relationship Id="rId5" Type="http://schemas.openxmlformats.org/officeDocument/2006/relationships/slideLayout" Target="../slideLayouts/slideLayout1.xml"/><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png"/><Relationship Id="rId4" Type="http://schemas.openxmlformats.org/officeDocument/2006/relationships/image" Target="../media/image-52-4.png"/><Relationship Id="rId5" Type="http://schemas.openxmlformats.org/officeDocument/2006/relationships/slideLayout" Target="../slideLayouts/slideLayout1.xml"/><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jpg"/><Relationship Id="rId3" Type="http://schemas.openxmlformats.org/officeDocument/2006/relationships/image" Target="../media/image-54-3.png"/><Relationship Id="rId4" Type="http://schemas.openxmlformats.org/officeDocument/2006/relationships/slideLayout" Target="../slideLayouts/slideLayout1.xml"/><Relationship Id="rId5"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image" Target="../media/image-56-3.png"/><Relationship Id="rId4" Type="http://schemas.openxmlformats.org/officeDocument/2006/relationships/slideLayout" Target="../slideLayouts/slideLayout1.xml"/><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jpg"/><Relationship Id="rId3" Type="http://schemas.openxmlformats.org/officeDocument/2006/relationships/image" Target="../media/image-58-3.png"/><Relationship Id="rId4" Type="http://schemas.openxmlformats.org/officeDocument/2006/relationships/slideLayout" Target="../slideLayouts/slideLayout1.xml"/><Relationship Id="rId5"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jpg"/><Relationship Id="rId3" Type="http://schemas.openxmlformats.org/officeDocument/2006/relationships/image" Target="../media/image-59-3.png"/><Relationship Id="rId4" Type="http://schemas.openxmlformats.org/officeDocument/2006/relationships/image" Target="../media/image-59-4.png"/><Relationship Id="rId5" Type="http://schemas.openxmlformats.org/officeDocument/2006/relationships/slideLayout" Target="../slideLayouts/slideLayout1.xml"/><Relationship Id="rId6"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image" Target="../media/image-60-3.png"/><Relationship Id="rId4" Type="http://schemas.openxmlformats.org/officeDocument/2006/relationships/image" Target="../media/image-60-4.png"/><Relationship Id="rId5" Type="http://schemas.openxmlformats.org/officeDocument/2006/relationships/slideLayout" Target="../slideLayouts/slideLayout1.xml"/><Relationship Id="rId6"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jp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slideLayout" Target="../slideLayouts/slideLayout1.xml"/><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image" Target="../media/image-64-4.png"/><Relationship Id="rId5" Type="http://schemas.openxmlformats.org/officeDocument/2006/relationships/slideLayout" Target="../slideLayouts/slideLayout1.xml"/><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jpg"/><Relationship Id="rId3" Type="http://schemas.openxmlformats.org/officeDocument/2006/relationships/image" Target="../media/image-65-3.png"/><Relationship Id="rId4" Type="http://schemas.openxmlformats.org/officeDocument/2006/relationships/slideLayout" Target="../slideLayouts/slideLayout1.xml"/><Relationship Id="rId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image" Target="../media/image-66-3.png"/><Relationship Id="rId4" Type="http://schemas.openxmlformats.org/officeDocument/2006/relationships/image" Target="../media/image-66-4.png"/><Relationship Id="rId5" Type="http://schemas.openxmlformats.org/officeDocument/2006/relationships/slideLayout" Target="../slideLayouts/slideLayout1.xml"/><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jpg"/><Relationship Id="rId3" Type="http://schemas.openxmlformats.org/officeDocument/2006/relationships/image" Target="../media/image-67-3.png"/><Relationship Id="rId4" Type="http://schemas.openxmlformats.org/officeDocument/2006/relationships/image" Target="../media/image-67-4.png"/><Relationship Id="rId5" Type="http://schemas.openxmlformats.org/officeDocument/2006/relationships/slideLayout" Target="../slideLayouts/slideLayout1.xml"/><Relationship Id="rId6"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image" Target="../media/image-76-2.png"/><Relationship Id="rId3" Type="http://schemas.openxmlformats.org/officeDocument/2006/relationships/slideLayout" Target="../slideLayouts/slideLayout1.xml"/><Relationship Id="rId4" Type="http://schemas.openxmlformats.org/officeDocument/2006/relationships/notesSlide" Target="../notesSlides/notesSlide7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EADA"/>
        </a:solidFill>
      </p:bgPr>
    </p:bg>
    <p:spTree>
      <p:nvGrpSpPr>
        <p:cNvPr id="1" name=""/>
        <p:cNvGrpSpPr/>
        <p:nvPr/>
      </p:nvGrpSpPr>
      <p:grpSpPr>
        <a:xfrm>
          <a:off x="0" y="0"/>
          <a:ext cx="0" cy="0"/>
          <a:chOff x="0" y="0"/>
          <a:chExt cx="0" cy="0"/>
        </a:xfrm>
      </p:grpSpPr>
      <p:pic>
        <p:nvPicPr>
          <p:cNvPr id="2" name="Image 0" descr="/home/user/philippe1/build/deco/coupe-titree.png">    </p:cNvPr>
          <p:cNvPicPr>
            <a:picLocks noChangeAspect="1"/>
          </p:cNvPicPr>
          <p:nvPr/>
        </p:nvPicPr>
        <p:blipFill>
          <a:blip r:embed="rId1"/>
          <a:stretch>
            <a:fillRect/>
          </a:stretch>
        </p:blipFill>
        <p:spPr>
          <a:xfrm>
            <a:off x="0" y="4032000"/>
            <a:ext cx="7560000" cy="5328000"/>
          </a:xfrm>
          <a:prstGeom prst="rect">
            <a:avLst/>
          </a:prstGeom>
        </p:spPr>
      </p:pic>
      <p:pic>
        <p:nvPicPr>
          <p:cNvPr id="3" name="Image 1" descr="/home/user/philippe1/src/images/logo-agence-scio-detoure.png">    </p:cNvPr>
          <p:cNvPicPr>
            <a:picLocks noChangeAspect="1"/>
          </p:cNvPicPr>
          <p:nvPr/>
        </p:nvPicPr>
        <p:blipFill>
          <a:blip r:embed="rId2"/>
          <a:stretch>
            <a:fillRect/>
          </a:stretch>
        </p:blipFill>
        <p:spPr>
          <a:xfrm>
            <a:off x="612000" y="612000"/>
            <a:ext cx="2232000" cy="543915"/>
          </a:xfrm>
          <a:prstGeom prst="rect">
            <a:avLst/>
          </a:prstGeom>
        </p:spPr>
      </p:pic>
      <p:sp>
        <p:nvSpPr>
          <p:cNvPr id="4" name="Text 0"/>
          <p:cNvSpPr/>
          <p:nvPr/>
        </p:nvSpPr>
        <p:spPr>
          <a:xfrm>
            <a:off x="612000" y="1512000"/>
            <a:ext cx="5400000" cy="1800000"/>
          </a:xfrm>
          <a:prstGeom prst="rect">
            <a:avLst/>
          </a:prstGeom>
          <a:noFill/>
          <a:ln/>
        </p:spPr>
        <p:txBody>
          <a:bodyPr wrap="square" lIns="0" tIns="0" rIns="0" bIns="0" rtlCol="0" anchor="ctr"/>
          <a:lstStyle/>
          <a:p>
            <a:pPr indent="0" marL="0">
              <a:lnSpc>
                <a:spcPct val="92000"/>
              </a:lnSpc>
              <a:buNone/>
            </a:pPr>
            <a:r>
              <a:rPr lang="en-US" sz="4600" dirty="0">
                <a:solidFill>
                  <a:srgbClr val="46606E"/>
                </a:solidFill>
                <a:latin typeface="Young Serif" pitchFamily="34" charset="0"/>
                <a:ea typeface="Young Serif" pitchFamily="34" charset="-122"/>
                <a:cs typeface="Young Serif" pitchFamily="34" charset="-120"/>
              </a:rPr>
              <a:t>Sous</a:t>
            </a:r>
            <a:endParaRPr lang="en-US" sz="4600" dirty="0"/>
          </a:p>
          <a:p>
            <a:pPr indent="0" marL="0">
              <a:lnSpc>
                <a:spcPct val="92000"/>
              </a:lnSpc>
              <a:buNone/>
            </a:pPr>
            <a:r>
              <a:rPr lang="en-US" sz="4600" dirty="0">
                <a:solidFill>
                  <a:srgbClr val="46606E"/>
                </a:solidFill>
                <a:latin typeface="Young Serif" pitchFamily="34" charset="0"/>
                <a:ea typeface="Young Serif" pitchFamily="34" charset="-122"/>
                <a:cs typeface="Young Serif" pitchFamily="34" charset="-120"/>
              </a:rPr>
              <a:t>nos</a:t>
            </a:r>
            <a:endParaRPr lang="en-US" sz="4600" dirty="0"/>
          </a:p>
          <a:p>
            <a:pPr indent="0" marL="0">
              <a:lnSpc>
                <a:spcPct val="92000"/>
              </a:lnSpc>
              <a:buNone/>
            </a:pPr>
            <a:r>
              <a:rPr lang="en-US" sz="4600" dirty="0">
                <a:solidFill>
                  <a:srgbClr val="67067C"/>
                </a:solidFill>
                <a:latin typeface="Young Serif" pitchFamily="34" charset="0"/>
                <a:ea typeface="Young Serif" pitchFamily="34" charset="-122"/>
                <a:cs typeface="Young Serif" pitchFamily="34" charset="-120"/>
              </a:rPr>
              <a:t>pieds</a:t>
            </a:r>
            <a:endParaRPr lang="en-US" sz="4600" dirty="0"/>
          </a:p>
        </p:txBody>
      </p:sp>
      <p:sp>
        <p:nvSpPr>
          <p:cNvPr id="5" name="Text 1"/>
          <p:cNvSpPr/>
          <p:nvPr/>
        </p:nvSpPr>
        <p:spPr>
          <a:xfrm>
            <a:off x="612000" y="3420000"/>
            <a:ext cx="4320000" cy="504000"/>
          </a:xfrm>
          <a:prstGeom prst="rect">
            <a:avLst/>
          </a:prstGeom>
          <a:noFill/>
          <a:ln/>
        </p:spPr>
        <p:txBody>
          <a:bodyPr wrap="square" lIns="0" tIns="0" rIns="0" bIns="0" rtlCol="0" anchor="ctr"/>
          <a:lstStyle/>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Quarante domaines, dix régions,</a:t>
            </a:r>
            <a:endParaRPr lang="en-US" sz="1050" dirty="0"/>
          </a:p>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et la terre qu'ils ont sous les pieds.</a:t>
            </a:r>
            <a:endParaRPr lang="en-US" sz="1050" dirty="0"/>
          </a:p>
        </p:txBody>
      </p:sp>
      <p:sp>
        <p:nvSpPr>
          <p:cNvPr id="6" name="Shape 2"/>
          <p:cNvSpPr/>
          <p:nvPr/>
        </p:nvSpPr>
        <p:spPr>
          <a:xfrm>
            <a:off x="-216000" y="7776000"/>
            <a:ext cx="2808000" cy="864000"/>
          </a:xfrm>
          <a:prstGeom prst="roundRect">
            <a:avLst>
              <a:gd name="adj" fmla="val 3175"/>
            </a:avLst>
          </a:prstGeom>
          <a:solidFill>
            <a:srgbClr val="F2EADA"/>
          </a:solidFill>
          <a:ln w="12700">
            <a:solidFill>
              <a:srgbClr val="F2EADA"/>
            </a:solidFill>
            <a:prstDash val="solid"/>
          </a:ln>
        </p:spPr>
      </p:sp>
      <p:sp>
        <p:nvSpPr>
          <p:cNvPr id="7" name="Text 3"/>
          <p:cNvSpPr/>
          <p:nvPr/>
        </p:nvSpPr>
        <p:spPr>
          <a:xfrm>
            <a:off x="612000" y="7848000"/>
            <a:ext cx="2160000" cy="180000"/>
          </a:xfrm>
          <a:prstGeom prst="rect">
            <a:avLst/>
          </a:prstGeom>
          <a:noFill/>
          <a:ln/>
        </p:spPr>
        <p:txBody>
          <a:bodyPr wrap="square" lIns="0" tIns="0" rIns="0" bIns="0" rtlCol="0" anchor="ctr"/>
          <a:lstStyle/>
          <a:p>
            <a:pPr indent="0" marL="0">
              <a:buNone/>
            </a:pPr>
            <a:r>
              <a:rPr lang="en-US" sz="900" b="1" spc="30" kern="0" dirty="0">
                <a:solidFill>
                  <a:srgbClr val="46606E"/>
                </a:solidFill>
                <a:latin typeface="IBM Plex Sans" pitchFamily="34" charset="0"/>
                <a:ea typeface="IBM Plex Sans" pitchFamily="34" charset="-122"/>
                <a:cs typeface="IBM Plex Sans" pitchFamily="34" charset="-120"/>
              </a:rPr>
              <a:t>TARIFS CAVISTES VENDÉE (85)</a:t>
            </a:r>
            <a:endParaRPr lang="en-US" sz="900" dirty="0"/>
          </a:p>
        </p:txBody>
      </p:sp>
      <p:sp>
        <p:nvSpPr>
          <p:cNvPr id="8" name="Text 4"/>
          <p:cNvSpPr/>
          <p:nvPr/>
        </p:nvSpPr>
        <p:spPr>
          <a:xfrm>
            <a:off x="612000" y="8064000"/>
            <a:ext cx="2160000" cy="504000"/>
          </a:xfrm>
          <a:prstGeom prst="rect">
            <a:avLst/>
          </a:prstGeom>
          <a:noFill/>
          <a:ln/>
        </p:spPr>
        <p:txBody>
          <a:bodyPr wrap="square" lIns="0" tIns="0" rIns="0" bIns="0" rtlCol="0" anchor="ctr"/>
          <a:lstStyle/>
          <a:p>
            <a:pPr indent="0" marL="0">
              <a:buNone/>
            </a:pPr>
            <a:r>
              <a:rPr lang="en-US" sz="3400" dirty="0">
                <a:solidFill>
                  <a:srgbClr val="67067C"/>
                </a:solidFill>
                <a:latin typeface="Young Serif" pitchFamily="34" charset="0"/>
                <a:ea typeface="Young Serif" pitchFamily="34" charset="-122"/>
                <a:cs typeface="Young Serif" pitchFamily="34" charset="-120"/>
              </a:rPr>
              <a:t>2026</a:t>
            </a:r>
            <a:endParaRPr lang="en-US" sz="3400" dirty="0"/>
          </a:p>
        </p:txBody>
      </p:sp>
      <p:sp>
        <p:nvSpPr>
          <p:cNvPr id="9" name="Text 5"/>
          <p:cNvSpPr/>
          <p:nvPr/>
        </p:nvSpPr>
        <p:spPr>
          <a:xfrm>
            <a:off x="612000" y="8892000"/>
            <a:ext cx="5040000" cy="180000"/>
          </a:xfrm>
          <a:prstGeom prst="rect">
            <a:avLst/>
          </a:prstGeom>
          <a:noFill/>
          <a:ln/>
        </p:spPr>
        <p:txBody>
          <a:bodyPr wrap="square" lIns="0" tIns="0" rIns="0" bIns="0" rtlCol="0" anchor="ctr"/>
          <a:lstStyle/>
          <a:p>
            <a:pPr indent="0" marL="0">
              <a:buNone/>
            </a:pPr>
            <a:r>
              <a:rPr lang="en-US" sz="560"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664000" cy="649188"/>
          </a:xfrm>
          <a:prstGeom prst="rect">
            <a:avLst/>
          </a:prstGeom>
        </p:spPr>
      </p:pic>
      <p:sp>
        <p:nvSpPr>
          <p:cNvPr id="3" name="Text 0"/>
          <p:cNvSpPr/>
          <p:nvPr/>
        </p:nvSpPr>
        <p:spPr>
          <a:xfrm>
            <a:off x="828000" y="1692000"/>
            <a:ext cx="5400000" cy="1440000"/>
          </a:xfrm>
          <a:prstGeom prst="rect">
            <a:avLst/>
          </a:prstGeom>
          <a:noFill/>
          <a:ln/>
        </p:spPr>
        <p:txBody>
          <a:bodyPr wrap="square" lIns="0" tIns="0" rIns="0" bIns="0" rtlCol="0" anchor="ctr"/>
          <a:lstStyle/>
          <a:p>
            <a:pPr indent="0" marL="0">
              <a:lnSpc>
                <a:spcPct val="130000"/>
              </a:lnSpc>
              <a:buNone/>
            </a:pPr>
            <a:r>
              <a:rPr lang="en-US" sz="1700" dirty="0">
                <a:solidFill>
                  <a:srgbClr val="46606E"/>
                </a:solidFill>
                <a:latin typeface="Young Serif" pitchFamily="34" charset="0"/>
                <a:ea typeface="Young Serif" pitchFamily="34" charset="-122"/>
                <a:cs typeface="Young Serif" pitchFamily="34" charset="-120"/>
              </a:rPr>
              <a:t>L'Agence SCIO, c'est </a:t>
            </a:r>
            <a:pPr indent="0" marL="0">
              <a:lnSpc>
                <a:spcPct val="130000"/>
              </a:lnSpc>
              <a:buNone/>
            </a:pPr>
            <a:r>
              <a:rPr lang="en-US" sz="1700" dirty="0">
                <a:solidFill>
                  <a:srgbClr val="67067C"/>
                </a:solidFill>
                <a:latin typeface="Young Serif" pitchFamily="34" charset="0"/>
                <a:ea typeface="Young Serif" pitchFamily="34" charset="-122"/>
                <a:cs typeface="Young Serif" pitchFamily="34" charset="-120"/>
              </a:rPr>
              <a:t>partager notre savoir et notre passion</a:t>
            </a:r>
            <a:pPr indent="0" marL="0">
              <a:lnSpc>
                <a:spcPct val="130000"/>
              </a:lnSpc>
              <a:buNone/>
            </a:pPr>
            <a:r>
              <a:rPr lang="en-US" sz="1700" dirty="0">
                <a:solidFill>
                  <a:srgbClr val="46606E"/>
                </a:solidFill>
                <a:latin typeface="Young Serif" pitchFamily="34" charset="0"/>
                <a:ea typeface="Young Serif" pitchFamily="34" charset="-122"/>
                <a:cs typeface="Young Serif" pitchFamily="34" charset="-120"/>
              </a:rPr>
              <a:t> en vous proposant des vignerons de tous horizons, avant-gardistes et respectueux de la nature. Découvrez notre sélection. Laissez-vous guider et conseiller.</a:t>
            </a:r>
            <a:endParaRPr lang="en-US" sz="1700" dirty="0"/>
          </a:p>
        </p:txBody>
      </p:sp>
      <p:sp>
        <p:nvSpPr>
          <p:cNvPr id="4" name="Text 1"/>
          <p:cNvSpPr/>
          <p:nvPr/>
        </p:nvSpPr>
        <p:spPr>
          <a:xfrm>
            <a:off x="82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5" name="Text 2"/>
          <p:cNvSpPr/>
          <p:nvPr/>
        </p:nvSpPr>
        <p:spPr>
          <a:xfrm>
            <a:off x="82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6" name="Text 3"/>
          <p:cNvSpPr/>
          <p:nvPr/>
        </p:nvSpPr>
        <p:spPr>
          <a:xfrm>
            <a:off x="280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7" name="Text 4"/>
          <p:cNvSpPr/>
          <p:nvPr/>
        </p:nvSpPr>
        <p:spPr>
          <a:xfrm>
            <a:off x="280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8" name="Text 5"/>
          <p:cNvSpPr/>
          <p:nvPr/>
        </p:nvSpPr>
        <p:spPr>
          <a:xfrm>
            <a:off x="828000" y="3924000"/>
            <a:ext cx="4320000" cy="720000"/>
          </a:xfrm>
          <a:prstGeom prst="rect">
            <a:avLst/>
          </a:prstGeom>
          <a:noFill/>
          <a:ln/>
        </p:spPr>
        <p:txBody>
          <a:bodyPr wrap="square" lIns="0" tIns="0" rIns="0" bIns="0" rtlCol="0" anchor="ctr"/>
          <a:lstStyle/>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contact@agencescio.com</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www.agencescio.com</a:t>
            </a:r>
            <a:endParaRPr lang="en-US" sz="1000" dirty="0"/>
          </a:p>
        </p:txBody>
      </p:sp>
      <p:pic>
        <p:nvPicPr>
          <p:cNvPr id="9" name="Image 1" descr="/home/user/philippe1/build/deco/coupe-nue.png">    </p:cNvPr>
          <p:cNvPicPr>
            <a:picLocks noChangeAspect="1"/>
          </p:cNvPicPr>
          <p:nvPr/>
        </p:nvPicPr>
        <p:blipFill>
          <a:blip r:embed="rId2"/>
          <a:stretch>
            <a:fillRect/>
          </a:stretch>
        </p:blipFill>
        <p:spPr>
          <a:xfrm>
            <a:off x="828000" y="4860000"/>
            <a:ext cx="6120000" cy="1460455"/>
          </a:xfrm>
          <a:prstGeom prst="rect">
            <a:avLst/>
          </a:prstGeom>
        </p:spPr>
      </p:pic>
      <p:sp>
        <p:nvSpPr>
          <p:cNvPr id="10" name="Shape 6"/>
          <p:cNvSpPr/>
          <p:nvPr/>
        </p:nvSpPr>
        <p:spPr>
          <a:xfrm>
            <a:off x="828000" y="6732000"/>
            <a:ext cx="6120000" cy="0"/>
          </a:xfrm>
          <a:prstGeom prst="line">
            <a:avLst/>
          </a:prstGeom>
          <a:noFill/>
          <a:ln w="10160">
            <a:solidFill>
              <a:srgbClr val="67067C"/>
            </a:solidFill>
            <a:prstDash val="solid"/>
          </a:ln>
        </p:spPr>
      </p:sp>
      <p:sp>
        <p:nvSpPr>
          <p:cNvPr id="11" name="Text 7"/>
          <p:cNvSpPr/>
          <p:nvPr/>
        </p:nvSpPr>
        <p:spPr>
          <a:xfrm>
            <a:off x="828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40</a:t>
            </a:r>
            <a:endParaRPr lang="en-US" sz="2600" dirty="0"/>
          </a:p>
        </p:txBody>
      </p:sp>
      <p:sp>
        <p:nvSpPr>
          <p:cNvPr id="12" name="Text 8"/>
          <p:cNvSpPr/>
          <p:nvPr/>
        </p:nvSpPr>
        <p:spPr>
          <a:xfrm>
            <a:off x="828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domaines</a:t>
            </a:r>
            <a:endParaRPr lang="en-US" sz="900" dirty="0"/>
          </a:p>
        </p:txBody>
      </p:sp>
      <p:sp>
        <p:nvSpPr>
          <p:cNvPr id="13" name="Text 9"/>
          <p:cNvSpPr/>
          <p:nvPr/>
        </p:nvSpPr>
        <p:spPr>
          <a:xfrm>
            <a:off x="2340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10</a:t>
            </a:r>
            <a:endParaRPr lang="en-US" sz="2600" dirty="0"/>
          </a:p>
        </p:txBody>
      </p:sp>
      <p:sp>
        <p:nvSpPr>
          <p:cNvPr id="14" name="Text 10"/>
          <p:cNvSpPr/>
          <p:nvPr/>
        </p:nvSpPr>
        <p:spPr>
          <a:xfrm>
            <a:off x="2340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régions</a:t>
            </a:r>
            <a:endParaRPr lang="en-US" sz="900" dirty="0"/>
          </a:p>
        </p:txBody>
      </p:sp>
      <p:sp>
        <p:nvSpPr>
          <p:cNvPr id="15" name="Text 11"/>
          <p:cNvSpPr/>
          <p:nvPr/>
        </p:nvSpPr>
        <p:spPr>
          <a:xfrm>
            <a:off x="3852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365</a:t>
            </a:r>
            <a:endParaRPr lang="en-US" sz="2600" dirty="0"/>
          </a:p>
        </p:txBody>
      </p:sp>
      <p:sp>
        <p:nvSpPr>
          <p:cNvPr id="16" name="Text 12"/>
          <p:cNvSpPr/>
          <p:nvPr/>
        </p:nvSpPr>
        <p:spPr>
          <a:xfrm>
            <a:off x="3852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références</a:t>
            </a:r>
            <a:endParaRPr lang="en-US" sz="900" dirty="0"/>
          </a:p>
        </p:txBody>
      </p:sp>
      <p:sp>
        <p:nvSpPr>
          <p:cNvPr id="17" name="Text 1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a:t>
            </a:r>
            <a:endParaRPr lang="en-US" sz="750" dirty="0"/>
          </a:p>
        </p:txBody>
      </p:sp>
      <p:sp>
        <p:nvSpPr>
          <p:cNvPr id="18" name="Text 1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Comment lire ce catalogue</a:t>
            </a:r>
            <a:endParaRPr lang="en-US" sz="2400" dirty="0"/>
          </a:p>
        </p:txBody>
      </p:sp>
      <p:pic>
        <p:nvPicPr>
          <p:cNvPr id="3" name="Image 0" descr="/home/user/philippe1/build/deco/me-tranche.png">    </p:cNvPr>
          <p:cNvPicPr>
            <a:picLocks noChangeAspect="1"/>
          </p:cNvPicPr>
          <p:nvPr/>
        </p:nvPicPr>
        <p:blipFill>
          <a:blip r:embed="rId1"/>
          <a:stretch>
            <a:fillRect/>
          </a:stretch>
        </p:blipFill>
        <p:spPr>
          <a:xfrm>
            <a:off x="612000" y="1080000"/>
            <a:ext cx="2898000" cy="828000"/>
          </a:xfrm>
          <a:prstGeom prst="rect">
            <a:avLst/>
          </a:prstGeom>
        </p:spPr>
      </p:pic>
      <p:sp>
        <p:nvSpPr>
          <p:cNvPr id="4" name="Text 1"/>
          <p:cNvSpPr/>
          <p:nvPr/>
        </p:nvSpPr>
        <p:spPr>
          <a:xfrm>
            <a:off x="612000" y="1972800"/>
            <a:ext cx="2898000" cy="169200"/>
          </a:xfrm>
          <a:prstGeom prst="rect">
            <a:avLst/>
          </a:prstGeom>
          <a:noFill/>
          <a:ln/>
        </p:spPr>
        <p:txBody>
          <a:bodyPr wrap="square" lIns="0" tIns="0" rIns="0" bIns="0" rtlCol="0" anchor="t"/>
          <a:lstStyle/>
          <a:p>
            <a:pPr indent="0" marL="0">
              <a:lnSpc>
                <a:spcPct val="105000"/>
              </a:lnSpc>
              <a:buNone/>
            </a:pPr>
            <a:r>
              <a:rPr lang="en-US" sz="1150" dirty="0">
                <a:solidFill>
                  <a:srgbClr val="67067C"/>
                </a:solidFill>
                <a:latin typeface="Young Serif" pitchFamily="34" charset="0"/>
                <a:ea typeface="Young Serif" pitchFamily="34" charset="-122"/>
                <a:cs typeface="Young Serif" pitchFamily="34" charset="-120"/>
              </a:rPr>
              <a:t>La tranche vous emmène</a:t>
            </a:r>
            <a:endParaRPr lang="en-US" sz="1150" dirty="0"/>
          </a:p>
        </p:txBody>
      </p:sp>
      <p:sp>
        <p:nvSpPr>
          <p:cNvPr id="5" name="Text 2"/>
          <p:cNvSpPr/>
          <p:nvPr/>
        </p:nvSpPr>
        <p:spPr>
          <a:xfrm>
            <a:off x="612000" y="2192400"/>
            <a:ext cx="2898000" cy="676800"/>
          </a:xfrm>
          <a:prstGeom prst="rect">
            <a:avLst/>
          </a:prstGeom>
          <a:noFill/>
          <a:ln/>
        </p:spPr>
        <p:txBody>
          <a:bodyPr wrap="square" lIns="0" tIns="0" rIns="0" bIns="0" rtlCol="0" anchor="t"/>
          <a:lstStyle/>
          <a:p>
            <a:pPr indent="0" marL="0">
              <a:lnSpc>
                <a:spcPct val="128000"/>
              </a:lnSpc>
              <a:buNone/>
            </a:pPr>
            <a:r>
              <a:rPr lang="en-US" sz="820" dirty="0">
                <a:solidFill>
                  <a:srgbClr val="46606E"/>
                </a:solidFill>
                <a:latin typeface="Spectral" pitchFamily="34" charset="0"/>
                <a:ea typeface="Spectral" pitchFamily="34" charset="-122"/>
                <a:cs typeface="Spectral" pitchFamily="34" charset="-120"/>
              </a:rPr>
              <a:t>Dix régions, dix strates. Sur le bord de chaque page, la strate de la région où vous êtes est pleine et marquée d'or. Catalogue fermé, la tranche affiche les dix bandes : vous ouvrez directement à la bonne région.</a:t>
            </a:r>
            <a:endParaRPr lang="en-US" sz="820" dirty="0"/>
          </a:p>
        </p:txBody>
      </p:sp>
      <p:pic>
        <p:nvPicPr>
          <p:cNvPr id="6" name="Image 1" descr="/home/user/philippe1/build/deco/me-prix.png">    </p:cNvPr>
          <p:cNvPicPr>
            <a:picLocks noChangeAspect="1"/>
          </p:cNvPicPr>
          <p:nvPr/>
        </p:nvPicPr>
        <p:blipFill>
          <a:blip r:embed="rId2"/>
          <a:stretch>
            <a:fillRect/>
          </a:stretch>
        </p:blipFill>
        <p:spPr>
          <a:xfrm>
            <a:off x="3834000" y="1080000"/>
            <a:ext cx="2898000" cy="828000"/>
          </a:xfrm>
          <a:prstGeom prst="rect">
            <a:avLst/>
          </a:prstGeom>
        </p:spPr>
      </p:pic>
      <p:sp>
        <p:nvSpPr>
          <p:cNvPr id="7" name="Text 3"/>
          <p:cNvSpPr/>
          <p:nvPr/>
        </p:nvSpPr>
        <p:spPr>
          <a:xfrm>
            <a:off x="3834000" y="1972800"/>
            <a:ext cx="2898000" cy="338400"/>
          </a:xfrm>
          <a:prstGeom prst="rect">
            <a:avLst/>
          </a:prstGeom>
          <a:noFill/>
          <a:ln/>
        </p:spPr>
        <p:txBody>
          <a:bodyPr wrap="square" lIns="0" tIns="0" rIns="0" bIns="0" rtlCol="0" anchor="t"/>
          <a:lstStyle/>
          <a:p>
            <a:pPr indent="0" marL="0">
              <a:lnSpc>
                <a:spcPct val="105000"/>
              </a:lnSpc>
              <a:buNone/>
            </a:pPr>
            <a:r>
              <a:rPr lang="en-US" sz="1150" dirty="0">
                <a:solidFill>
                  <a:srgbClr val="67067C"/>
                </a:solidFill>
                <a:latin typeface="Young Serif" pitchFamily="34" charset="0"/>
                <a:ea typeface="Young Serif" pitchFamily="34" charset="-122"/>
                <a:cs typeface="Young Serif" pitchFamily="34" charset="-120"/>
              </a:rPr>
              <a:t>Le prix tombe toujours au même endroit</a:t>
            </a:r>
            <a:endParaRPr lang="en-US" sz="1150" dirty="0"/>
          </a:p>
        </p:txBody>
      </p:sp>
      <p:sp>
        <p:nvSpPr>
          <p:cNvPr id="8" name="Text 4"/>
          <p:cNvSpPr/>
          <p:nvPr/>
        </p:nvSpPr>
        <p:spPr>
          <a:xfrm>
            <a:off x="3834000" y="2361600"/>
            <a:ext cx="2898000" cy="676800"/>
          </a:xfrm>
          <a:prstGeom prst="rect">
            <a:avLst/>
          </a:prstGeom>
          <a:noFill/>
          <a:ln/>
        </p:spPr>
        <p:txBody>
          <a:bodyPr wrap="square" lIns="0" tIns="0" rIns="0" bIns="0" rtlCol="0" anchor="t"/>
          <a:lstStyle/>
          <a:p>
            <a:pPr indent="0" marL="0">
              <a:lnSpc>
                <a:spcPct val="128000"/>
              </a:lnSpc>
              <a:buNone/>
            </a:pPr>
            <a:r>
              <a:rPr lang="en-US" sz="820" dirty="0">
                <a:solidFill>
                  <a:srgbClr val="46606E"/>
                </a:solidFill>
                <a:latin typeface="Spectral" pitchFamily="34" charset="0"/>
                <a:ea typeface="Spectral" pitchFamily="34" charset="-122"/>
                <a:cs typeface="Spectral" pitchFamily="34" charset="-120"/>
              </a:rPr>
              <a:t>Le bloc de prix a la même largeur sur les quarante fiches, divisé en autant de parts qu'il y a de paliers. Les paliers, eux, sont ceux de chaque domaine : nous ne les avons pas harmonisés. Un domaine à tarif unique n'a qu'une part.</a:t>
            </a:r>
            <a:endParaRPr lang="en-US" sz="820" dirty="0"/>
          </a:p>
        </p:txBody>
      </p:sp>
      <p:pic>
        <p:nvPicPr>
          <p:cNvPr id="9" name="Image 2" descr="/home/user/philippe1/build/deco/me-pictos.png">    </p:cNvPr>
          <p:cNvPicPr>
            <a:picLocks noChangeAspect="1"/>
          </p:cNvPicPr>
          <p:nvPr/>
        </p:nvPicPr>
        <p:blipFill>
          <a:blip r:embed="rId3"/>
          <a:stretch>
            <a:fillRect/>
          </a:stretch>
        </p:blipFill>
        <p:spPr>
          <a:xfrm>
            <a:off x="612000" y="3164400"/>
            <a:ext cx="2898000" cy="1152000"/>
          </a:xfrm>
          <a:prstGeom prst="rect">
            <a:avLst/>
          </a:prstGeom>
        </p:spPr>
      </p:pic>
      <p:sp>
        <p:nvSpPr>
          <p:cNvPr id="10" name="Text 5"/>
          <p:cNvSpPr/>
          <p:nvPr/>
        </p:nvSpPr>
        <p:spPr>
          <a:xfrm>
            <a:off x="612000" y="4381200"/>
            <a:ext cx="2898000" cy="169200"/>
          </a:xfrm>
          <a:prstGeom prst="rect">
            <a:avLst/>
          </a:prstGeom>
          <a:noFill/>
          <a:ln/>
        </p:spPr>
        <p:txBody>
          <a:bodyPr wrap="square" lIns="0" tIns="0" rIns="0" bIns="0" rtlCol="0" anchor="t"/>
          <a:lstStyle/>
          <a:p>
            <a:pPr indent="0" marL="0">
              <a:lnSpc>
                <a:spcPct val="105000"/>
              </a:lnSpc>
              <a:buNone/>
            </a:pPr>
            <a:r>
              <a:rPr lang="en-US" sz="1150" dirty="0">
                <a:solidFill>
                  <a:srgbClr val="67067C"/>
                </a:solidFill>
                <a:latin typeface="Young Serif" pitchFamily="34" charset="0"/>
                <a:ea typeface="Young Serif" pitchFamily="34" charset="-122"/>
                <a:cs typeface="Young Serif" pitchFamily="34" charset="-120"/>
              </a:rPr>
              <a:t>Les pictos sont les nôtres</a:t>
            </a:r>
            <a:endParaRPr lang="en-US" sz="1150" dirty="0"/>
          </a:p>
        </p:txBody>
      </p:sp>
      <p:sp>
        <p:nvSpPr>
          <p:cNvPr id="11" name="Text 6"/>
          <p:cNvSpPr/>
          <p:nvPr/>
        </p:nvSpPr>
        <p:spPr>
          <a:xfrm>
            <a:off x="612000" y="4600800"/>
            <a:ext cx="2898000" cy="676800"/>
          </a:xfrm>
          <a:prstGeom prst="rect">
            <a:avLst/>
          </a:prstGeom>
          <a:noFill/>
          <a:ln/>
        </p:spPr>
        <p:txBody>
          <a:bodyPr wrap="square" lIns="0" tIns="0" rIns="0" bIns="0" rtlCol="0" anchor="t"/>
          <a:lstStyle/>
          <a:p>
            <a:pPr indent="0" marL="0">
              <a:lnSpc>
                <a:spcPct val="128000"/>
              </a:lnSpc>
              <a:buNone/>
            </a:pPr>
            <a:r>
              <a:rPr lang="en-US" sz="820" dirty="0">
                <a:solidFill>
                  <a:srgbClr val="46606E"/>
                </a:solidFill>
                <a:latin typeface="Spectral" pitchFamily="34" charset="0"/>
                <a:ea typeface="Spectral" pitchFamily="34" charset="-122"/>
                <a:cs typeface="Spectral" pitchFamily="34" charset="-120"/>
              </a:rPr>
              <a:t>Une forme par type : bulles, blanc, rosé, rouge, doux, sans alcool, jus de cépages, bière, spiritueux. Ce sont </a:t>
            </a:r>
            <a:pPr indent="0" marL="0">
              <a:lnSpc>
                <a:spcPct val="128000"/>
              </a:lnSpc>
              <a:buNone/>
            </a:pPr>
            <a:r>
              <a:rPr lang="en-US" sz="820" b="1" dirty="0">
                <a:solidFill>
                  <a:srgbClr val="46606E"/>
                </a:solidFill>
                <a:latin typeface="Spectral" pitchFamily="34" charset="0"/>
                <a:ea typeface="Spectral" pitchFamily="34" charset="-122"/>
                <a:cs typeface="Spectral" pitchFamily="34" charset="-120"/>
              </a:rPr>
              <a:t>nos</a:t>
            </a:r>
            <a:pPr indent="0" marL="0">
              <a:lnSpc>
                <a:spcPct val="128000"/>
              </a:lnSpc>
              <a:buNone/>
            </a:pPr>
            <a:r>
              <a:rPr lang="en-US" sz="820" dirty="0">
                <a:solidFill>
                  <a:srgbClr val="46606E"/>
                </a:solidFill>
                <a:latin typeface="Spectral" pitchFamily="34" charset="0"/>
                <a:ea typeface="Spectral" pitchFamily="34" charset="-122"/>
                <a:cs typeface="Spectral" pitchFamily="34" charset="-120"/>
              </a:rPr>
              <a:t> pictos, dessinés pour ce catalogue : ce ne sont pas les logos officiels des organismes certificateurs.</a:t>
            </a:r>
            <a:endParaRPr lang="en-US" sz="820" dirty="0"/>
          </a:p>
        </p:txBody>
      </p:sp>
      <p:pic>
        <p:nvPicPr>
          <p:cNvPr id="12" name="Image 3" descr="/home/user/philippe1/build/deco/me-jetons.png">    </p:cNvPr>
          <p:cNvPicPr>
            <a:picLocks noChangeAspect="1"/>
          </p:cNvPicPr>
          <p:nvPr/>
        </p:nvPicPr>
        <p:blipFill>
          <a:blip r:embed="rId4"/>
          <a:stretch>
            <a:fillRect/>
          </a:stretch>
        </p:blipFill>
        <p:spPr>
          <a:xfrm>
            <a:off x="3834000" y="3164400"/>
            <a:ext cx="2898000" cy="828000"/>
          </a:xfrm>
          <a:prstGeom prst="rect">
            <a:avLst/>
          </a:prstGeom>
        </p:spPr>
      </p:pic>
      <p:sp>
        <p:nvSpPr>
          <p:cNvPr id="13" name="Text 7"/>
          <p:cNvSpPr/>
          <p:nvPr/>
        </p:nvSpPr>
        <p:spPr>
          <a:xfrm>
            <a:off x="3834000" y="4057200"/>
            <a:ext cx="2898000" cy="169200"/>
          </a:xfrm>
          <a:prstGeom prst="rect">
            <a:avLst/>
          </a:prstGeom>
          <a:noFill/>
          <a:ln/>
        </p:spPr>
        <p:txBody>
          <a:bodyPr wrap="square" lIns="0" tIns="0" rIns="0" bIns="0" rtlCol="0" anchor="t"/>
          <a:lstStyle/>
          <a:p>
            <a:pPr indent="0" marL="0">
              <a:lnSpc>
                <a:spcPct val="105000"/>
              </a:lnSpc>
              <a:buNone/>
            </a:pPr>
            <a:r>
              <a:rPr lang="en-US" sz="1150" dirty="0">
                <a:solidFill>
                  <a:srgbClr val="67067C"/>
                </a:solidFill>
                <a:latin typeface="Young Serif" pitchFamily="34" charset="0"/>
                <a:ea typeface="Young Serif" pitchFamily="34" charset="-122"/>
                <a:cs typeface="Young Serif" pitchFamily="34" charset="-120"/>
              </a:rPr>
              <a:t>Les mentions</a:t>
            </a:r>
            <a:endParaRPr lang="en-US" sz="1150" dirty="0"/>
          </a:p>
        </p:txBody>
      </p:sp>
      <p:sp>
        <p:nvSpPr>
          <p:cNvPr id="14" name="Text 8"/>
          <p:cNvSpPr/>
          <p:nvPr/>
        </p:nvSpPr>
        <p:spPr>
          <a:xfrm>
            <a:off x="3834000" y="4276800"/>
            <a:ext cx="2898000" cy="828000"/>
          </a:xfrm>
          <a:prstGeom prst="rect">
            <a:avLst/>
          </a:prstGeom>
          <a:noFill/>
          <a:ln/>
        </p:spPr>
        <p:txBody>
          <a:bodyPr wrap="square" lIns="0" tIns="0" rIns="0" bIns="0" rtlCol="0" anchor="t"/>
          <a:lstStyle/>
          <a:p>
            <a:pPr indent="0" marL="0">
              <a:lnSpc>
                <a:spcPct val="128000"/>
              </a:lnSpc>
              <a:buNone/>
            </a:pPr>
            <a:r>
              <a:rPr lang="en-US" sz="820" b="1" dirty="0">
                <a:solidFill>
                  <a:srgbClr val="46606E"/>
                </a:solidFill>
                <a:latin typeface="Spectral" pitchFamily="34" charset="0"/>
                <a:ea typeface="Spectral" pitchFamily="34" charset="-122"/>
                <a:cs typeface="Spectral" pitchFamily="34" charset="-120"/>
              </a:rPr>
              <a:t>Allocation</a:t>
            </a:r>
            <a:pPr indent="0" marL="0">
              <a:lnSpc>
                <a:spcPct val="128000"/>
              </a:lnSpc>
              <a:buNone/>
            </a:pPr>
            <a:r>
              <a:rPr lang="en-US" sz="820" dirty="0">
                <a:solidFill>
                  <a:srgbClr val="46606E"/>
                </a:solidFill>
                <a:latin typeface="Spectral" pitchFamily="34" charset="0"/>
                <a:ea typeface="Spectral" pitchFamily="34" charset="-122"/>
                <a:cs typeface="Spectral" pitchFamily="34" charset="-120"/>
              </a:rPr>
              <a:t> : quantités limitées, à réserver. </a:t>
            </a:r>
            <a:pPr indent="0" marL="0">
              <a:lnSpc>
                <a:spcPct val="128000"/>
              </a:lnSpc>
              <a:buNone/>
            </a:pPr>
            <a:r>
              <a:rPr lang="en-US" sz="820" b="1" dirty="0">
                <a:solidFill>
                  <a:srgbClr val="46606E"/>
                </a:solidFill>
                <a:latin typeface="Spectral" pitchFamily="34" charset="0"/>
                <a:ea typeface="Spectral" pitchFamily="34" charset="-122"/>
                <a:cs typeface="Spectral" pitchFamily="34" charset="-120"/>
              </a:rPr>
              <a:t>Panachage</a:t>
            </a:r>
            <a:pPr indent="0" marL="0">
              <a:lnSpc>
                <a:spcPct val="128000"/>
              </a:lnSpc>
              <a:buNone/>
            </a:pPr>
            <a:r>
              <a:rPr lang="en-US" sz="820" dirty="0">
                <a:solidFill>
                  <a:srgbClr val="46606E"/>
                </a:solidFill>
                <a:latin typeface="Spectral" pitchFamily="34" charset="0"/>
                <a:ea typeface="Spectral" pitchFamily="34" charset="-122"/>
                <a:cs typeface="Spectral" pitchFamily="34" charset="-120"/>
              </a:rPr>
              <a:t> : vous pouvez mélanger à l'intérieur du domaine, et parfois entre plusieurs domaines — les quatre alliances sont page 7. </a:t>
            </a:r>
            <a:pPr indent="0" marL="0">
              <a:lnSpc>
                <a:spcPct val="128000"/>
              </a:lnSpc>
              <a:buNone/>
            </a:pPr>
            <a:r>
              <a:rPr lang="en-US" sz="820" b="1" dirty="0">
                <a:solidFill>
                  <a:srgbClr val="46606E"/>
                </a:solidFill>
                <a:latin typeface="Spectral" pitchFamily="34" charset="0"/>
                <a:ea typeface="Spectral" pitchFamily="34" charset="-122"/>
                <a:cs typeface="Spectral" pitchFamily="34" charset="-120"/>
              </a:rPr>
              <a:t>Consultez-nous</a:t>
            </a:r>
            <a:pPr indent="0" marL="0">
              <a:lnSpc>
                <a:spcPct val="128000"/>
              </a:lnSpc>
              <a:buNone/>
            </a:pPr>
            <a:r>
              <a:rPr lang="en-US" sz="820" dirty="0">
                <a:solidFill>
                  <a:srgbClr val="46606E"/>
                </a:solidFill>
                <a:latin typeface="Spectral" pitchFamily="34" charset="0"/>
                <a:ea typeface="Spectral" pitchFamily="34" charset="-122"/>
                <a:cs typeface="Spectral" pitchFamily="34" charset="-120"/>
              </a:rPr>
              <a:t> : le domaine communique ses tarifs et ses offres au cas par cas.</a:t>
            </a:r>
            <a:endParaRPr lang="en-US" sz="820" dirty="0"/>
          </a:p>
        </p:txBody>
      </p:sp>
      <p:pic>
        <p:nvPicPr>
          <p:cNvPr id="15" name="Image 4" descr="/home/user/philippe1/build/deco/me-paliers.png">    </p:cNvPr>
          <p:cNvPicPr>
            <a:picLocks noChangeAspect="1"/>
          </p:cNvPicPr>
          <p:nvPr/>
        </p:nvPicPr>
        <p:blipFill>
          <a:blip r:embed="rId5"/>
          <a:stretch>
            <a:fillRect/>
          </a:stretch>
        </p:blipFill>
        <p:spPr>
          <a:xfrm>
            <a:off x="612000" y="5403600"/>
            <a:ext cx="2898000" cy="828000"/>
          </a:xfrm>
          <a:prstGeom prst="rect">
            <a:avLst/>
          </a:prstGeom>
        </p:spPr>
      </p:pic>
      <p:sp>
        <p:nvSpPr>
          <p:cNvPr id="16" name="Text 9"/>
          <p:cNvSpPr/>
          <p:nvPr/>
        </p:nvSpPr>
        <p:spPr>
          <a:xfrm>
            <a:off x="612000" y="6296400"/>
            <a:ext cx="2898000" cy="169200"/>
          </a:xfrm>
          <a:prstGeom prst="rect">
            <a:avLst/>
          </a:prstGeom>
          <a:noFill/>
          <a:ln/>
        </p:spPr>
        <p:txBody>
          <a:bodyPr wrap="square" lIns="0" tIns="0" rIns="0" bIns="0" rtlCol="0" anchor="t"/>
          <a:lstStyle/>
          <a:p>
            <a:pPr indent="0" marL="0">
              <a:lnSpc>
                <a:spcPct val="105000"/>
              </a:lnSpc>
              <a:buNone/>
            </a:pPr>
            <a:r>
              <a:rPr lang="en-US" sz="1150" dirty="0">
                <a:solidFill>
                  <a:srgbClr val="67067C"/>
                </a:solidFill>
                <a:latin typeface="Young Serif" pitchFamily="34" charset="0"/>
                <a:ea typeface="Young Serif" pitchFamily="34" charset="-122"/>
                <a:cs typeface="Young Serif" pitchFamily="34" charset="-120"/>
              </a:rPr>
              <a:t>Les paliers sont ceux du domaine</a:t>
            </a:r>
            <a:endParaRPr lang="en-US" sz="1150" dirty="0"/>
          </a:p>
        </p:txBody>
      </p:sp>
      <p:sp>
        <p:nvSpPr>
          <p:cNvPr id="17" name="Text 10"/>
          <p:cNvSpPr/>
          <p:nvPr/>
        </p:nvSpPr>
        <p:spPr>
          <a:xfrm>
            <a:off x="612000" y="6516000"/>
            <a:ext cx="2898000" cy="828000"/>
          </a:xfrm>
          <a:prstGeom prst="rect">
            <a:avLst/>
          </a:prstGeom>
          <a:noFill/>
          <a:ln/>
        </p:spPr>
        <p:txBody>
          <a:bodyPr wrap="square" lIns="0" tIns="0" rIns="0" bIns="0" rtlCol="0" anchor="t"/>
          <a:lstStyle/>
          <a:p>
            <a:pPr indent="0" marL="0">
              <a:lnSpc>
                <a:spcPct val="128000"/>
              </a:lnSpc>
              <a:buNone/>
            </a:pPr>
            <a:r>
              <a:rPr lang="en-US" sz="820" dirty="0">
                <a:solidFill>
                  <a:srgbClr val="46606E"/>
                </a:solidFill>
                <a:latin typeface="Spectral" pitchFamily="34" charset="0"/>
                <a:ea typeface="Spectral" pitchFamily="34" charset="-122"/>
                <a:cs typeface="Spectral" pitchFamily="34" charset="-120"/>
              </a:rPr>
              <a:t>Treize notations différentes dans cette sélection, toutes recopiées telles quelles : bouteilles, cols, bag-in-box, demi-palette, palette, ou tarif unique. </a:t>
            </a:r>
            <a:pPr indent="0" marL="0">
              <a:lnSpc>
                <a:spcPct val="128000"/>
              </a:lnSpc>
              <a:buNone/>
            </a:pPr>
            <a:r>
              <a:rPr lang="en-US" sz="820" b="1" dirty="0">
                <a:solidFill>
                  <a:srgbClr val="46606E"/>
                </a:solidFill>
                <a:latin typeface="Spectral" pitchFamily="34" charset="0"/>
                <a:ea typeface="Spectral" pitchFamily="34" charset="-122"/>
                <a:cs typeface="Spectral" pitchFamily="34" charset="-120"/>
              </a:rPr>
              <a:t>Nous n'avons harmonisé aucun seuil</a:t>
            </a:r>
            <a:pPr indent="0" marL="0">
              <a:lnSpc>
                <a:spcPct val="128000"/>
              </a:lnSpc>
              <a:buNone/>
            </a:pPr>
            <a:r>
              <a:rPr lang="en-US" sz="820" dirty="0">
                <a:solidFill>
                  <a:srgbClr val="46606E"/>
                </a:solidFill>
                <a:latin typeface="Spectral" pitchFamily="34" charset="0"/>
                <a:ea typeface="Spectral" pitchFamily="34" charset="-122"/>
                <a:cs typeface="Spectral" pitchFamily="34" charset="-120"/>
              </a:rPr>
              <a:t> — une quantité approximative serait une erreur de commande.</a:t>
            </a:r>
            <a:endParaRPr lang="en-US" sz="820" dirty="0"/>
          </a:p>
        </p:txBody>
      </p:sp>
      <p:pic>
        <p:nvPicPr>
          <p:cNvPr id="18" name="Image 5" descr="/home/user/philippe1/build/deco/me-pied.png">    </p:cNvPr>
          <p:cNvPicPr>
            <a:picLocks noChangeAspect="1"/>
          </p:cNvPicPr>
          <p:nvPr/>
        </p:nvPicPr>
        <p:blipFill>
          <a:blip r:embed="rId6"/>
          <a:stretch>
            <a:fillRect/>
          </a:stretch>
        </p:blipFill>
        <p:spPr>
          <a:xfrm>
            <a:off x="3834000" y="5403600"/>
            <a:ext cx="2898000" cy="828000"/>
          </a:xfrm>
          <a:prstGeom prst="rect">
            <a:avLst/>
          </a:prstGeom>
        </p:spPr>
      </p:pic>
      <p:sp>
        <p:nvSpPr>
          <p:cNvPr id="19" name="Text 11"/>
          <p:cNvSpPr/>
          <p:nvPr/>
        </p:nvSpPr>
        <p:spPr>
          <a:xfrm>
            <a:off x="3834000" y="6296400"/>
            <a:ext cx="2898000" cy="169200"/>
          </a:xfrm>
          <a:prstGeom prst="rect">
            <a:avLst/>
          </a:prstGeom>
          <a:noFill/>
          <a:ln/>
        </p:spPr>
        <p:txBody>
          <a:bodyPr wrap="square" lIns="0" tIns="0" rIns="0" bIns="0" rtlCol="0" anchor="t"/>
          <a:lstStyle/>
          <a:p>
            <a:pPr indent="0" marL="0">
              <a:lnSpc>
                <a:spcPct val="105000"/>
              </a:lnSpc>
              <a:buNone/>
            </a:pPr>
            <a:r>
              <a:rPr lang="en-US" sz="1150" dirty="0">
                <a:solidFill>
                  <a:srgbClr val="67067C"/>
                </a:solidFill>
                <a:latin typeface="Young Serif" pitchFamily="34" charset="0"/>
                <a:ea typeface="Young Serif" pitchFamily="34" charset="-122"/>
                <a:cs typeface="Young Serif" pitchFamily="34" charset="-120"/>
              </a:rPr>
              <a:t>Le bas de page dit le reste</a:t>
            </a:r>
            <a:endParaRPr lang="en-US" sz="1150" dirty="0"/>
          </a:p>
        </p:txBody>
      </p:sp>
      <p:sp>
        <p:nvSpPr>
          <p:cNvPr id="20" name="Text 12"/>
          <p:cNvSpPr/>
          <p:nvPr/>
        </p:nvSpPr>
        <p:spPr>
          <a:xfrm>
            <a:off x="3834000" y="6516000"/>
            <a:ext cx="2898000" cy="676800"/>
          </a:xfrm>
          <a:prstGeom prst="rect">
            <a:avLst/>
          </a:prstGeom>
          <a:noFill/>
          <a:ln/>
        </p:spPr>
        <p:txBody>
          <a:bodyPr wrap="square" lIns="0" tIns="0" rIns="0" bIns="0" rtlCol="0" anchor="t"/>
          <a:lstStyle/>
          <a:p>
            <a:pPr indent="0" marL="0">
              <a:lnSpc>
                <a:spcPct val="128000"/>
              </a:lnSpc>
              <a:buNone/>
            </a:pPr>
            <a:r>
              <a:rPr lang="en-US" sz="820" dirty="0">
                <a:solidFill>
                  <a:srgbClr val="46606E"/>
                </a:solidFill>
                <a:latin typeface="Spectral" pitchFamily="34" charset="0"/>
                <a:ea typeface="Spectral" pitchFamily="34" charset="-122"/>
                <a:cs typeface="Spectral" pitchFamily="34" charset="-120"/>
              </a:rPr>
              <a:t>À gauche, les conditions exactes du domaine : hors transport, franco de port, départ chai, départ cave, ou franco à partir d'une quantité. À droite, les départements où ce domaine est distribué. Les deux changent d'une fiche à l'autre.</a:t>
            </a:r>
            <a:endParaRPr lang="en-US" sz="820" dirty="0"/>
          </a:p>
        </p:txBody>
      </p:sp>
      <p:sp>
        <p:nvSpPr>
          <p:cNvPr id="21" name="Shape 13"/>
          <p:cNvSpPr/>
          <p:nvPr/>
        </p:nvSpPr>
        <p:spPr>
          <a:xfrm>
            <a:off x="612000" y="8280000"/>
            <a:ext cx="6120000" cy="0"/>
          </a:xfrm>
          <a:prstGeom prst="line">
            <a:avLst/>
          </a:prstGeom>
          <a:noFill/>
          <a:ln w="10160">
            <a:solidFill>
              <a:srgbClr val="67067C"/>
            </a:solidFill>
            <a:prstDash val="solid"/>
          </a:ln>
        </p:spPr>
      </p:sp>
      <p:sp>
        <p:nvSpPr>
          <p:cNvPr id="22" name="Text 14"/>
          <p:cNvSpPr/>
          <p:nvPr/>
        </p:nvSpPr>
        <p:spPr>
          <a:xfrm>
            <a:off x="612000" y="8337600"/>
            <a:ext cx="6120000" cy="396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Tous les prix sont </a:t>
            </a:r>
            <a:pPr indent="0" marL="0">
              <a:buNone/>
            </a:pPr>
            <a:r>
              <a:rPr lang="en-US" sz="860" b="1" dirty="0">
                <a:solidFill>
                  <a:srgbClr val="67067C"/>
                </a:solidFill>
                <a:latin typeface="Spectral" pitchFamily="34" charset="0"/>
                <a:ea typeface="Spectral" pitchFamily="34" charset="-122"/>
                <a:cs typeface="Spectral" pitchFamily="34" charset="-120"/>
              </a:rPr>
              <a:t>hors taxes, par bouteille</a:t>
            </a:r>
            <a:pPr indent="0" marL="0">
              <a:buNone/>
            </a:pPr>
            <a:r>
              <a:rPr lang="en-US" sz="860" dirty="0">
                <a:solidFill>
                  <a:srgbClr val="46606E"/>
                </a:solidFill>
                <a:latin typeface="Spectral" pitchFamily="34" charset="0"/>
                <a:ea typeface="Spectral" pitchFamily="34" charset="-122"/>
                <a:cs typeface="Spectral" pitchFamily="34" charset="-120"/>
              </a:rPr>
              <a:t>. Les conditions de port diffèrent d'un domaine à l'autre : elles sont écrites en bas de chaque fiche, avec les départements de distribution.</a:t>
            </a:r>
            <a:endParaRPr lang="en-US" sz="860" dirty="0"/>
          </a:p>
        </p:txBody>
      </p:sp>
      <p:sp>
        <p:nvSpPr>
          <p:cNvPr id="23" name="Text 1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a:t>
            </a:r>
            <a:endParaRPr lang="en-US" sz="750" dirty="0"/>
          </a:p>
        </p:txBody>
      </p:sp>
      <p:sp>
        <p:nvSpPr>
          <p:cNvPr id="24" name="Text 1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La coupe</a:t>
            </a:r>
            <a:endParaRPr lang="en-US" sz="2400" dirty="0"/>
          </a:p>
        </p:txBody>
      </p:sp>
      <p:sp>
        <p:nvSpPr>
          <p:cNvPr id="3" name="Text 1"/>
          <p:cNvSpPr/>
          <p:nvPr/>
        </p:nvSpPr>
        <p:spPr>
          <a:xfrm>
            <a:off x="828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SOMMAIRE DES DIX RÉGIONS</a:t>
            </a:r>
            <a:endParaRPr lang="en-US" sz="800" dirty="0"/>
          </a:p>
        </p:txBody>
      </p:sp>
      <p:sp>
        <p:nvSpPr>
          <p:cNvPr id="4" name="Shape 2"/>
          <p:cNvSpPr/>
          <p:nvPr/>
        </p:nvSpPr>
        <p:spPr>
          <a:xfrm>
            <a:off x="828000" y="1296000"/>
            <a:ext cx="6120000" cy="1126125"/>
          </a:xfrm>
          <a:prstGeom prst="roundRect">
            <a:avLst>
              <a:gd name="adj" fmla="val 1218"/>
            </a:avLst>
          </a:prstGeom>
          <a:solidFill>
            <a:srgbClr val="46606E"/>
          </a:solidFill>
          <a:ln w="12700">
            <a:solidFill>
              <a:srgbClr val="46606E"/>
            </a:solidFill>
            <a:prstDash val="solid"/>
          </a:ln>
        </p:spPr>
      </p:sp>
      <p:sp>
        <p:nvSpPr>
          <p:cNvPr id="5" name="Text 3"/>
          <p:cNvSpPr/>
          <p:nvPr/>
        </p:nvSpPr>
        <p:spPr>
          <a:xfrm>
            <a:off x="936000" y="1353600"/>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Loire</a:t>
            </a:r>
            <a:endParaRPr lang="en-US" sz="1150" dirty="0"/>
          </a:p>
        </p:txBody>
      </p:sp>
      <p:sp>
        <p:nvSpPr>
          <p:cNvPr id="6" name="Text 4"/>
          <p:cNvSpPr/>
          <p:nvPr/>
        </p:nvSpPr>
        <p:spPr>
          <a:xfrm>
            <a:off x="2124000" y="1353600"/>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schistes et tuffeau</a:t>
            </a:r>
            <a:endParaRPr lang="en-US" sz="700" dirty="0"/>
          </a:p>
        </p:txBody>
      </p:sp>
      <p:sp>
        <p:nvSpPr>
          <p:cNvPr id="7" name="Text 5"/>
          <p:cNvSpPr/>
          <p:nvPr/>
        </p:nvSpPr>
        <p:spPr>
          <a:xfrm>
            <a:off x="6516000" y="1353600"/>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7</a:t>
            </a:r>
            <a:endParaRPr lang="en-US" sz="750" dirty="0"/>
          </a:p>
        </p:txBody>
      </p:sp>
      <p:sp>
        <p:nvSpPr>
          <p:cNvPr id="8" name="Text 6"/>
          <p:cNvSpPr/>
          <p:nvPr/>
        </p:nvSpPr>
        <p:spPr>
          <a:xfrm>
            <a:off x="972000" y="15840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  </a:t>
            </a:r>
            <a:pPr indent="0" marL="0">
              <a:buNone/>
            </a:pPr>
            <a:r>
              <a:rPr lang="en-US" sz="740" dirty="0">
                <a:solidFill>
                  <a:srgbClr val="FBF8F1"/>
                </a:solidFill>
                <a:latin typeface="IBM Plex Sans" pitchFamily="34" charset="0"/>
                <a:ea typeface="IBM Plex Sans" pitchFamily="34" charset="-122"/>
                <a:cs typeface="IBM Plex Sans" pitchFamily="34" charset="-120"/>
              </a:rPr>
              <a:t>François Reverdy</a:t>
            </a:r>
            <a:pPr indent="0" marL="0">
              <a:buNone/>
            </a:pPr>
            <a:r>
              <a:rPr lang="en-US" sz="740" b="1" dirty="0">
                <a:solidFill>
                  <a:srgbClr val="FBF8F1"/>
                </a:solidFill>
                <a:latin typeface="IBM Plex Sans" pitchFamily="34" charset="0"/>
                <a:ea typeface="IBM Plex Sans" pitchFamily="34" charset="-122"/>
                <a:cs typeface="IBM Plex Sans" pitchFamily="34" charset="-120"/>
              </a:rPr>
              <a:t>   7</a:t>
            </a:r>
            <a:endParaRPr lang="en-US" sz="740" dirty="0"/>
          </a:p>
        </p:txBody>
      </p:sp>
      <p:sp>
        <p:nvSpPr>
          <p:cNvPr id="9" name="Text 7"/>
          <p:cNvSpPr/>
          <p:nvPr/>
        </p:nvSpPr>
        <p:spPr>
          <a:xfrm>
            <a:off x="972000" y="17136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  </a:t>
            </a:r>
            <a:pPr indent="0" marL="0">
              <a:buNone/>
            </a:pPr>
            <a:r>
              <a:rPr lang="en-US" sz="740" dirty="0">
                <a:solidFill>
                  <a:srgbClr val="FBF8F1"/>
                </a:solidFill>
                <a:latin typeface="IBM Plex Sans" pitchFamily="34" charset="0"/>
                <a:ea typeface="IBM Plex Sans" pitchFamily="34" charset="-122"/>
                <a:cs typeface="IBM Plex Sans" pitchFamily="34" charset="-120"/>
              </a:rPr>
              <a:t>Domaine de la Barbinière</a:t>
            </a:r>
            <a:pPr indent="0" marL="0">
              <a:buNone/>
            </a:pPr>
            <a:r>
              <a:rPr lang="en-US" sz="740" b="1" dirty="0">
                <a:solidFill>
                  <a:srgbClr val="FBF8F1"/>
                </a:solidFill>
                <a:latin typeface="IBM Plex Sans" pitchFamily="34" charset="0"/>
                <a:ea typeface="IBM Plex Sans" pitchFamily="34" charset="-122"/>
                <a:cs typeface="IBM Plex Sans" pitchFamily="34" charset="-120"/>
              </a:rPr>
              <a:t>   8</a:t>
            </a:r>
            <a:endParaRPr lang="en-US" sz="740" dirty="0"/>
          </a:p>
        </p:txBody>
      </p:sp>
      <p:sp>
        <p:nvSpPr>
          <p:cNvPr id="10" name="Text 8"/>
          <p:cNvSpPr/>
          <p:nvPr/>
        </p:nvSpPr>
        <p:spPr>
          <a:xfrm>
            <a:off x="972000" y="18432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3  </a:t>
            </a:r>
            <a:pPr indent="0" marL="0">
              <a:buNone/>
            </a:pPr>
            <a:r>
              <a:rPr lang="en-US" sz="740" dirty="0">
                <a:solidFill>
                  <a:srgbClr val="FBF8F1"/>
                </a:solidFill>
                <a:latin typeface="IBM Plex Sans" pitchFamily="34" charset="0"/>
                <a:ea typeface="IBM Plex Sans" pitchFamily="34" charset="-122"/>
                <a:cs typeface="IBM Plex Sans" pitchFamily="34" charset="-120"/>
              </a:rPr>
              <a:t>Domaine du Colombier / J.Y Bretaudeau</a:t>
            </a:r>
            <a:pPr indent="0" marL="0">
              <a:buNone/>
            </a:pPr>
            <a:r>
              <a:rPr lang="en-US" sz="740" b="1" dirty="0">
                <a:solidFill>
                  <a:srgbClr val="FBF8F1"/>
                </a:solidFill>
                <a:latin typeface="IBM Plex Sans" pitchFamily="34" charset="0"/>
                <a:ea typeface="IBM Plex Sans" pitchFamily="34" charset="-122"/>
                <a:cs typeface="IBM Plex Sans" pitchFamily="34" charset="-120"/>
              </a:rPr>
              <a:t>   9</a:t>
            </a:r>
            <a:endParaRPr lang="en-US" sz="740" dirty="0"/>
          </a:p>
        </p:txBody>
      </p:sp>
      <p:sp>
        <p:nvSpPr>
          <p:cNvPr id="11" name="Text 9"/>
          <p:cNvSpPr/>
          <p:nvPr/>
        </p:nvSpPr>
        <p:spPr>
          <a:xfrm>
            <a:off x="2916000" y="15840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4  </a:t>
            </a:r>
            <a:pPr indent="0" marL="0">
              <a:buNone/>
            </a:pPr>
            <a:r>
              <a:rPr lang="en-US" sz="740" dirty="0">
                <a:solidFill>
                  <a:srgbClr val="FBF8F1"/>
                </a:solidFill>
                <a:latin typeface="IBM Plex Sans" pitchFamily="34" charset="0"/>
                <a:ea typeface="IBM Plex Sans" pitchFamily="34" charset="-122"/>
                <a:cs typeface="IBM Plex Sans" pitchFamily="34" charset="-120"/>
              </a:rPr>
              <a:t>Domaine des Noëls</a:t>
            </a:r>
            <a:pPr indent="0" marL="0">
              <a:buNone/>
            </a:pPr>
            <a:r>
              <a:rPr lang="en-US" sz="740" b="1" dirty="0">
                <a:solidFill>
                  <a:srgbClr val="FBF8F1"/>
                </a:solidFill>
                <a:latin typeface="IBM Plex Sans" pitchFamily="34" charset="0"/>
                <a:ea typeface="IBM Plex Sans" pitchFamily="34" charset="-122"/>
                <a:cs typeface="IBM Plex Sans" pitchFamily="34" charset="-120"/>
              </a:rPr>
              <a:t>   11</a:t>
            </a:r>
            <a:endParaRPr lang="en-US" sz="740" dirty="0"/>
          </a:p>
        </p:txBody>
      </p:sp>
      <p:sp>
        <p:nvSpPr>
          <p:cNvPr id="12" name="Text 10"/>
          <p:cNvSpPr/>
          <p:nvPr/>
        </p:nvSpPr>
        <p:spPr>
          <a:xfrm>
            <a:off x="2916000" y="17136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5  </a:t>
            </a:r>
            <a:pPr indent="0" marL="0">
              <a:buNone/>
            </a:pPr>
            <a:r>
              <a:rPr lang="en-US" sz="740" dirty="0">
                <a:solidFill>
                  <a:srgbClr val="FBF8F1"/>
                </a:solidFill>
                <a:latin typeface="IBM Plex Sans" pitchFamily="34" charset="0"/>
                <a:ea typeface="IBM Plex Sans" pitchFamily="34" charset="-122"/>
                <a:cs typeface="IBM Plex Sans" pitchFamily="34" charset="-120"/>
              </a:rPr>
              <a:t>Chai Berteaud Manceau</a:t>
            </a:r>
            <a:pPr indent="0" marL="0">
              <a:buNone/>
            </a:pPr>
            <a:r>
              <a:rPr lang="en-US" sz="740" b="1" dirty="0">
                <a:solidFill>
                  <a:srgbClr val="FBF8F1"/>
                </a:solidFill>
                <a:latin typeface="IBM Plex Sans" pitchFamily="34" charset="0"/>
                <a:ea typeface="IBM Plex Sans" pitchFamily="34" charset="-122"/>
                <a:cs typeface="IBM Plex Sans" pitchFamily="34" charset="-120"/>
              </a:rPr>
              <a:t>   12</a:t>
            </a:r>
            <a:endParaRPr lang="en-US" sz="740" dirty="0"/>
          </a:p>
        </p:txBody>
      </p:sp>
      <p:sp>
        <p:nvSpPr>
          <p:cNvPr id="13" name="Text 11"/>
          <p:cNvSpPr/>
          <p:nvPr/>
        </p:nvSpPr>
        <p:spPr>
          <a:xfrm>
            <a:off x="2916000" y="18432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6  </a:t>
            </a:r>
            <a:pPr indent="0" marL="0">
              <a:buNone/>
            </a:pPr>
            <a:r>
              <a:rPr lang="en-US" sz="740" dirty="0">
                <a:solidFill>
                  <a:srgbClr val="FBF8F1"/>
                </a:solidFill>
                <a:latin typeface="IBM Plex Sans" pitchFamily="34" charset="0"/>
                <a:ea typeface="IBM Plex Sans" pitchFamily="34" charset="-122"/>
                <a:cs typeface="IBM Plex Sans" pitchFamily="34" charset="-120"/>
              </a:rPr>
              <a:t>Domaine Jean de Villebois</a:t>
            </a:r>
            <a:pPr indent="0" marL="0">
              <a:buNone/>
            </a:pPr>
            <a:r>
              <a:rPr lang="en-US" sz="740" b="1" dirty="0">
                <a:solidFill>
                  <a:srgbClr val="FBF8F1"/>
                </a:solidFill>
                <a:latin typeface="IBM Plex Sans" pitchFamily="34" charset="0"/>
                <a:ea typeface="IBM Plex Sans" pitchFamily="34" charset="-122"/>
                <a:cs typeface="IBM Plex Sans" pitchFamily="34" charset="-120"/>
              </a:rPr>
              <a:t>   13</a:t>
            </a:r>
            <a:endParaRPr lang="en-US" sz="740" dirty="0"/>
          </a:p>
        </p:txBody>
      </p:sp>
      <p:sp>
        <p:nvSpPr>
          <p:cNvPr id="14" name="Text 12"/>
          <p:cNvSpPr/>
          <p:nvPr/>
        </p:nvSpPr>
        <p:spPr>
          <a:xfrm>
            <a:off x="4860000" y="15840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7  </a:t>
            </a:r>
            <a:pPr indent="0" marL="0">
              <a:buNone/>
            </a:pPr>
            <a:r>
              <a:rPr lang="en-US" sz="740" dirty="0">
                <a:solidFill>
                  <a:srgbClr val="FBF8F1"/>
                </a:solidFill>
                <a:latin typeface="IBM Plex Sans" pitchFamily="34" charset="0"/>
                <a:ea typeface="IBM Plex Sans" pitchFamily="34" charset="-122"/>
                <a:cs typeface="IBM Plex Sans" pitchFamily="34" charset="-120"/>
              </a:rPr>
              <a:t>Divin No Low</a:t>
            </a:r>
            <a:pPr indent="0" marL="0">
              <a:buNone/>
            </a:pPr>
            <a:r>
              <a:rPr lang="en-US" sz="740" b="1" dirty="0">
                <a:solidFill>
                  <a:srgbClr val="FBF8F1"/>
                </a:solidFill>
                <a:latin typeface="IBM Plex Sans" pitchFamily="34" charset="0"/>
                <a:ea typeface="IBM Plex Sans" pitchFamily="34" charset="-122"/>
                <a:cs typeface="IBM Plex Sans" pitchFamily="34" charset="-120"/>
              </a:rPr>
              <a:t>   15</a:t>
            </a:r>
            <a:endParaRPr lang="en-US" sz="740" dirty="0"/>
          </a:p>
        </p:txBody>
      </p:sp>
      <p:sp>
        <p:nvSpPr>
          <p:cNvPr id="15" name="Shape 13"/>
          <p:cNvSpPr/>
          <p:nvPr/>
        </p:nvSpPr>
        <p:spPr>
          <a:xfrm>
            <a:off x="828000" y="2465325"/>
            <a:ext cx="6120000" cy="418275"/>
          </a:xfrm>
          <a:prstGeom prst="roundRect">
            <a:avLst>
              <a:gd name="adj" fmla="val 3279"/>
            </a:avLst>
          </a:prstGeom>
          <a:solidFill>
            <a:srgbClr val="3C5B47"/>
          </a:solidFill>
          <a:ln w="12700">
            <a:solidFill>
              <a:srgbClr val="3C5B47"/>
            </a:solidFill>
            <a:prstDash val="solid"/>
          </a:ln>
        </p:spPr>
      </p:sp>
      <p:sp>
        <p:nvSpPr>
          <p:cNvPr id="16" name="Text 14"/>
          <p:cNvSpPr/>
          <p:nvPr/>
        </p:nvSpPr>
        <p:spPr>
          <a:xfrm>
            <a:off x="936000" y="2522925"/>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Alsace</a:t>
            </a:r>
            <a:endParaRPr lang="en-US" sz="1150" dirty="0"/>
          </a:p>
        </p:txBody>
      </p:sp>
      <p:sp>
        <p:nvSpPr>
          <p:cNvPr id="17" name="Text 15"/>
          <p:cNvSpPr/>
          <p:nvPr/>
        </p:nvSpPr>
        <p:spPr>
          <a:xfrm>
            <a:off x="2124000" y="2522925"/>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coteaux du Bruderthal</a:t>
            </a:r>
            <a:endParaRPr lang="en-US" sz="700" dirty="0"/>
          </a:p>
        </p:txBody>
      </p:sp>
      <p:sp>
        <p:nvSpPr>
          <p:cNvPr id="18" name="Text 16"/>
          <p:cNvSpPr/>
          <p:nvPr/>
        </p:nvSpPr>
        <p:spPr>
          <a:xfrm>
            <a:off x="6516000" y="2522925"/>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1</a:t>
            </a:r>
            <a:endParaRPr lang="en-US" sz="750" dirty="0"/>
          </a:p>
        </p:txBody>
      </p:sp>
      <p:sp>
        <p:nvSpPr>
          <p:cNvPr id="19" name="Text 17"/>
          <p:cNvSpPr/>
          <p:nvPr/>
        </p:nvSpPr>
        <p:spPr>
          <a:xfrm>
            <a:off x="972000" y="2753325"/>
            <a:ext cx="2844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8  </a:t>
            </a:r>
            <a:pPr indent="0" marL="0">
              <a:buNone/>
            </a:pPr>
            <a:r>
              <a:rPr lang="en-US" sz="740" dirty="0">
                <a:solidFill>
                  <a:srgbClr val="FBF8F1"/>
                </a:solidFill>
                <a:latin typeface="IBM Plex Sans" pitchFamily="34" charset="0"/>
                <a:ea typeface="IBM Plex Sans" pitchFamily="34" charset="-122"/>
                <a:cs typeface="IBM Plex Sans" pitchFamily="34" charset="-120"/>
              </a:rPr>
              <a:t>Domaine Boehler</a:t>
            </a:r>
            <a:pPr indent="0" marL="0">
              <a:buNone/>
            </a:pPr>
            <a:r>
              <a:rPr lang="en-US" sz="740" b="1" dirty="0">
                <a:solidFill>
                  <a:srgbClr val="FBF8F1"/>
                </a:solidFill>
                <a:latin typeface="IBM Plex Sans" pitchFamily="34" charset="0"/>
                <a:ea typeface="IBM Plex Sans" pitchFamily="34" charset="-122"/>
                <a:cs typeface="IBM Plex Sans" pitchFamily="34" charset="-120"/>
              </a:rPr>
              <a:t>   17</a:t>
            </a:r>
            <a:endParaRPr lang="en-US" sz="740" dirty="0"/>
          </a:p>
        </p:txBody>
      </p:sp>
      <p:sp>
        <p:nvSpPr>
          <p:cNvPr id="20" name="Shape 18"/>
          <p:cNvSpPr/>
          <p:nvPr/>
        </p:nvSpPr>
        <p:spPr>
          <a:xfrm>
            <a:off x="828000" y="2926800"/>
            <a:ext cx="6120000" cy="418275"/>
          </a:xfrm>
          <a:prstGeom prst="roundRect">
            <a:avLst>
              <a:gd name="adj" fmla="val 3279"/>
            </a:avLst>
          </a:prstGeom>
          <a:solidFill>
            <a:srgbClr val="A8515F"/>
          </a:solidFill>
          <a:ln w="12700">
            <a:solidFill>
              <a:srgbClr val="A8515F"/>
            </a:solidFill>
            <a:prstDash val="solid"/>
          </a:ln>
        </p:spPr>
      </p:sp>
      <p:sp>
        <p:nvSpPr>
          <p:cNvPr id="21" name="Text 19"/>
          <p:cNvSpPr/>
          <p:nvPr/>
        </p:nvSpPr>
        <p:spPr>
          <a:xfrm>
            <a:off x="936000" y="2984400"/>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Beaujolais</a:t>
            </a:r>
            <a:endParaRPr lang="en-US" sz="1150" dirty="0"/>
          </a:p>
        </p:txBody>
      </p:sp>
      <p:sp>
        <p:nvSpPr>
          <p:cNvPr id="22" name="Text 20"/>
          <p:cNvSpPr/>
          <p:nvPr/>
        </p:nvSpPr>
        <p:spPr>
          <a:xfrm>
            <a:off x="2124000" y="2984400"/>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le Clos des Nugues</a:t>
            </a:r>
            <a:endParaRPr lang="en-US" sz="700" dirty="0"/>
          </a:p>
        </p:txBody>
      </p:sp>
      <p:sp>
        <p:nvSpPr>
          <p:cNvPr id="23" name="Text 21"/>
          <p:cNvSpPr/>
          <p:nvPr/>
        </p:nvSpPr>
        <p:spPr>
          <a:xfrm>
            <a:off x="6516000" y="2984400"/>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1</a:t>
            </a:r>
            <a:endParaRPr lang="en-US" sz="750" dirty="0"/>
          </a:p>
        </p:txBody>
      </p:sp>
      <p:sp>
        <p:nvSpPr>
          <p:cNvPr id="24" name="Text 22"/>
          <p:cNvSpPr/>
          <p:nvPr/>
        </p:nvSpPr>
        <p:spPr>
          <a:xfrm>
            <a:off x="972000" y="3214800"/>
            <a:ext cx="2844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9  </a:t>
            </a:r>
            <a:pPr indent="0" marL="0">
              <a:buNone/>
            </a:pPr>
            <a:r>
              <a:rPr lang="en-US" sz="740" dirty="0">
                <a:solidFill>
                  <a:srgbClr val="FBF8F1"/>
                </a:solidFill>
                <a:latin typeface="IBM Plex Sans" pitchFamily="34" charset="0"/>
                <a:ea typeface="IBM Plex Sans" pitchFamily="34" charset="-122"/>
                <a:cs typeface="IBM Plex Sans" pitchFamily="34" charset="-120"/>
              </a:rPr>
              <a:t>Domaine des Nugues</a:t>
            </a:r>
            <a:pPr indent="0" marL="0">
              <a:buNone/>
            </a:pPr>
            <a:r>
              <a:rPr lang="en-US" sz="740" b="1" dirty="0">
                <a:solidFill>
                  <a:srgbClr val="FBF8F1"/>
                </a:solidFill>
                <a:latin typeface="IBM Plex Sans" pitchFamily="34" charset="0"/>
                <a:ea typeface="IBM Plex Sans" pitchFamily="34" charset="-122"/>
                <a:cs typeface="IBM Plex Sans" pitchFamily="34" charset="-120"/>
              </a:rPr>
              <a:t>   20</a:t>
            </a:r>
            <a:endParaRPr lang="en-US" sz="740" dirty="0"/>
          </a:p>
        </p:txBody>
      </p:sp>
      <p:sp>
        <p:nvSpPr>
          <p:cNvPr id="25" name="Shape 23"/>
          <p:cNvSpPr/>
          <p:nvPr/>
        </p:nvSpPr>
        <p:spPr>
          <a:xfrm>
            <a:off x="828000" y="3388275"/>
            <a:ext cx="6120000" cy="965250"/>
          </a:xfrm>
          <a:prstGeom prst="roundRect">
            <a:avLst>
              <a:gd name="adj" fmla="val 1421"/>
            </a:avLst>
          </a:prstGeom>
          <a:solidFill>
            <a:srgbClr val="D08C3C"/>
          </a:solidFill>
          <a:ln w="12700">
            <a:solidFill>
              <a:srgbClr val="D08C3C"/>
            </a:solidFill>
            <a:prstDash val="solid"/>
          </a:ln>
        </p:spPr>
      </p:sp>
      <p:sp>
        <p:nvSpPr>
          <p:cNvPr id="26" name="Text 24"/>
          <p:cNvSpPr/>
          <p:nvPr/>
        </p:nvSpPr>
        <p:spPr>
          <a:xfrm>
            <a:off x="936000" y="3445875"/>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Bourgogne</a:t>
            </a:r>
            <a:endParaRPr lang="en-US" sz="1150" dirty="0"/>
          </a:p>
        </p:txBody>
      </p:sp>
      <p:sp>
        <p:nvSpPr>
          <p:cNvPr id="27" name="Text 25"/>
          <p:cNvSpPr/>
          <p:nvPr/>
        </p:nvSpPr>
        <p:spPr>
          <a:xfrm>
            <a:off x="2124000" y="3445875"/>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climats et terrasses</a:t>
            </a:r>
            <a:endParaRPr lang="en-US" sz="700" dirty="0"/>
          </a:p>
        </p:txBody>
      </p:sp>
      <p:sp>
        <p:nvSpPr>
          <p:cNvPr id="28" name="Text 26"/>
          <p:cNvSpPr/>
          <p:nvPr/>
        </p:nvSpPr>
        <p:spPr>
          <a:xfrm>
            <a:off x="6516000" y="3445875"/>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6</a:t>
            </a:r>
            <a:endParaRPr lang="en-US" sz="750" dirty="0"/>
          </a:p>
        </p:txBody>
      </p:sp>
      <p:sp>
        <p:nvSpPr>
          <p:cNvPr id="29" name="Text 27"/>
          <p:cNvSpPr/>
          <p:nvPr/>
        </p:nvSpPr>
        <p:spPr>
          <a:xfrm>
            <a:off x="972000" y="367627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10  </a:t>
            </a:r>
            <a:pPr indent="0" marL="0">
              <a:buNone/>
            </a:pPr>
            <a:r>
              <a:rPr lang="en-US" sz="740" dirty="0">
                <a:solidFill>
                  <a:srgbClr val="FBF8F1"/>
                </a:solidFill>
                <a:latin typeface="IBM Plex Sans" pitchFamily="34" charset="0"/>
                <a:ea typeface="IBM Plex Sans" pitchFamily="34" charset="-122"/>
                <a:cs typeface="IBM Plex Sans" pitchFamily="34" charset="-120"/>
              </a:rPr>
              <a:t>Domaine Sébastien Magnien</a:t>
            </a:r>
            <a:pPr indent="0" marL="0">
              <a:buNone/>
            </a:pPr>
            <a:r>
              <a:rPr lang="en-US" sz="740" b="1" dirty="0">
                <a:solidFill>
                  <a:srgbClr val="FBF8F1"/>
                </a:solidFill>
                <a:latin typeface="IBM Plex Sans" pitchFamily="34" charset="0"/>
                <a:ea typeface="IBM Plex Sans" pitchFamily="34" charset="-122"/>
                <a:cs typeface="IBM Plex Sans" pitchFamily="34" charset="-120"/>
              </a:rPr>
              <a:t>   22</a:t>
            </a:r>
            <a:endParaRPr lang="en-US" sz="740" dirty="0"/>
          </a:p>
        </p:txBody>
      </p:sp>
      <p:sp>
        <p:nvSpPr>
          <p:cNvPr id="30" name="Text 28"/>
          <p:cNvSpPr/>
          <p:nvPr/>
        </p:nvSpPr>
        <p:spPr>
          <a:xfrm>
            <a:off x="972000" y="380587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11  </a:t>
            </a:r>
            <a:pPr indent="0" marL="0">
              <a:buNone/>
            </a:pPr>
            <a:r>
              <a:rPr lang="en-US" sz="740" dirty="0">
                <a:solidFill>
                  <a:srgbClr val="FBF8F1"/>
                </a:solidFill>
                <a:latin typeface="IBM Plex Sans" pitchFamily="34" charset="0"/>
                <a:ea typeface="IBM Plex Sans" pitchFamily="34" charset="-122"/>
                <a:cs typeface="IBM Plex Sans" pitchFamily="34" charset="-120"/>
              </a:rPr>
              <a:t>Domaine Nadine Ferrand</a:t>
            </a:r>
            <a:pPr indent="0" marL="0">
              <a:buNone/>
            </a:pPr>
            <a:r>
              <a:rPr lang="en-US" sz="740" b="1" dirty="0">
                <a:solidFill>
                  <a:srgbClr val="FBF8F1"/>
                </a:solidFill>
                <a:latin typeface="IBM Plex Sans" pitchFamily="34" charset="0"/>
                <a:ea typeface="IBM Plex Sans" pitchFamily="34" charset="-122"/>
                <a:cs typeface="IBM Plex Sans" pitchFamily="34" charset="-120"/>
              </a:rPr>
              <a:t>   24</a:t>
            </a:r>
            <a:endParaRPr lang="en-US" sz="740" dirty="0"/>
          </a:p>
        </p:txBody>
      </p:sp>
      <p:sp>
        <p:nvSpPr>
          <p:cNvPr id="31" name="Text 29"/>
          <p:cNvSpPr/>
          <p:nvPr/>
        </p:nvSpPr>
        <p:spPr>
          <a:xfrm>
            <a:off x="2916000" y="367627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12  </a:t>
            </a:r>
            <a:pPr indent="0" marL="0">
              <a:buNone/>
            </a:pPr>
            <a:r>
              <a:rPr lang="en-US" sz="740" dirty="0">
                <a:solidFill>
                  <a:srgbClr val="FBF8F1"/>
                </a:solidFill>
                <a:latin typeface="IBM Plex Sans" pitchFamily="34" charset="0"/>
                <a:ea typeface="IBM Plex Sans" pitchFamily="34" charset="-122"/>
                <a:cs typeface="IBM Plex Sans" pitchFamily="34" charset="-120"/>
              </a:rPr>
              <a:t>Maison et Domaine André Goichot</a:t>
            </a:r>
            <a:pPr indent="0" marL="0">
              <a:buNone/>
            </a:pPr>
            <a:r>
              <a:rPr lang="en-US" sz="740" b="1" dirty="0">
                <a:solidFill>
                  <a:srgbClr val="FBF8F1"/>
                </a:solidFill>
                <a:latin typeface="IBM Plex Sans" pitchFamily="34" charset="0"/>
                <a:ea typeface="IBM Plex Sans" pitchFamily="34" charset="-122"/>
                <a:cs typeface="IBM Plex Sans" pitchFamily="34" charset="-120"/>
              </a:rPr>
              <a:t>   25</a:t>
            </a:r>
            <a:endParaRPr lang="en-US" sz="740" dirty="0"/>
          </a:p>
        </p:txBody>
      </p:sp>
      <p:sp>
        <p:nvSpPr>
          <p:cNvPr id="32" name="Text 30"/>
          <p:cNvSpPr/>
          <p:nvPr/>
        </p:nvSpPr>
        <p:spPr>
          <a:xfrm>
            <a:off x="2916000" y="380587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13  </a:t>
            </a:r>
            <a:pPr indent="0" marL="0">
              <a:buNone/>
            </a:pPr>
            <a:r>
              <a:rPr lang="en-US" sz="740" dirty="0">
                <a:solidFill>
                  <a:srgbClr val="FBF8F1"/>
                </a:solidFill>
                <a:latin typeface="IBM Plex Sans" pitchFamily="34" charset="0"/>
                <a:ea typeface="IBM Plex Sans" pitchFamily="34" charset="-122"/>
                <a:cs typeface="IBM Plex Sans" pitchFamily="34" charset="-120"/>
              </a:rPr>
              <a:t>Château du Cray</a:t>
            </a:r>
            <a:pPr indent="0" marL="0">
              <a:buNone/>
            </a:pPr>
            <a:r>
              <a:rPr lang="en-US" sz="740" b="1" dirty="0">
                <a:solidFill>
                  <a:srgbClr val="FBF8F1"/>
                </a:solidFill>
                <a:latin typeface="IBM Plex Sans" pitchFamily="34" charset="0"/>
                <a:ea typeface="IBM Plex Sans" pitchFamily="34" charset="-122"/>
                <a:cs typeface="IBM Plex Sans" pitchFamily="34" charset="-120"/>
              </a:rPr>
              <a:t>   27</a:t>
            </a:r>
            <a:endParaRPr lang="en-US" sz="740" dirty="0"/>
          </a:p>
        </p:txBody>
      </p:sp>
      <p:sp>
        <p:nvSpPr>
          <p:cNvPr id="33" name="Text 31"/>
          <p:cNvSpPr/>
          <p:nvPr/>
        </p:nvSpPr>
        <p:spPr>
          <a:xfrm>
            <a:off x="4860000" y="367627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14  </a:t>
            </a:r>
            <a:pPr indent="0" marL="0">
              <a:buNone/>
            </a:pPr>
            <a:r>
              <a:rPr lang="en-US" sz="740" dirty="0">
                <a:solidFill>
                  <a:srgbClr val="FBF8F1"/>
                </a:solidFill>
                <a:latin typeface="IBM Plex Sans" pitchFamily="34" charset="0"/>
                <a:ea typeface="IBM Plex Sans" pitchFamily="34" charset="-122"/>
                <a:cs typeface="IBM Plex Sans" pitchFamily="34" charset="-120"/>
              </a:rPr>
              <a:t>Domaine Les Guignottes</a:t>
            </a:r>
            <a:pPr indent="0" marL="0">
              <a:buNone/>
            </a:pPr>
            <a:r>
              <a:rPr lang="en-US" sz="740" b="1" dirty="0">
                <a:solidFill>
                  <a:srgbClr val="FBF8F1"/>
                </a:solidFill>
                <a:latin typeface="IBM Plex Sans" pitchFamily="34" charset="0"/>
                <a:ea typeface="IBM Plex Sans" pitchFamily="34" charset="-122"/>
                <a:cs typeface="IBM Plex Sans" pitchFamily="34" charset="-120"/>
              </a:rPr>
              <a:t>   28</a:t>
            </a:r>
            <a:endParaRPr lang="en-US" sz="740" dirty="0"/>
          </a:p>
        </p:txBody>
      </p:sp>
      <p:sp>
        <p:nvSpPr>
          <p:cNvPr id="34" name="Text 32"/>
          <p:cNvSpPr/>
          <p:nvPr/>
        </p:nvSpPr>
        <p:spPr>
          <a:xfrm>
            <a:off x="4860000" y="380587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15  </a:t>
            </a:r>
            <a:pPr indent="0" marL="0">
              <a:buNone/>
            </a:pPr>
            <a:r>
              <a:rPr lang="en-US" sz="740" dirty="0">
                <a:solidFill>
                  <a:srgbClr val="FBF8F1"/>
                </a:solidFill>
                <a:latin typeface="IBM Plex Sans" pitchFamily="34" charset="0"/>
                <a:ea typeface="IBM Plex Sans" pitchFamily="34" charset="-122"/>
                <a:cs typeface="IBM Plex Sans" pitchFamily="34" charset="-120"/>
              </a:rPr>
              <a:t>Domaine des Verchères</a:t>
            </a:r>
            <a:pPr indent="0" marL="0">
              <a:buNone/>
            </a:pPr>
            <a:r>
              <a:rPr lang="en-US" sz="740" b="1" dirty="0">
                <a:solidFill>
                  <a:srgbClr val="FBF8F1"/>
                </a:solidFill>
                <a:latin typeface="IBM Plex Sans" pitchFamily="34" charset="0"/>
                <a:ea typeface="IBM Plex Sans" pitchFamily="34" charset="-122"/>
                <a:cs typeface="IBM Plex Sans" pitchFamily="34" charset="-120"/>
              </a:rPr>
              <a:t>   29</a:t>
            </a:r>
            <a:endParaRPr lang="en-US" sz="740" dirty="0"/>
          </a:p>
        </p:txBody>
      </p:sp>
      <p:sp>
        <p:nvSpPr>
          <p:cNvPr id="35" name="Shape 33"/>
          <p:cNvSpPr/>
          <p:nvPr/>
        </p:nvSpPr>
        <p:spPr>
          <a:xfrm>
            <a:off x="828000" y="4396725"/>
            <a:ext cx="6120000" cy="965250"/>
          </a:xfrm>
          <a:prstGeom prst="roundRect">
            <a:avLst>
              <a:gd name="adj" fmla="val 1421"/>
            </a:avLst>
          </a:prstGeom>
          <a:solidFill>
            <a:srgbClr val="3C5B47"/>
          </a:solidFill>
          <a:ln w="12700">
            <a:solidFill>
              <a:srgbClr val="3C5B47"/>
            </a:solidFill>
            <a:prstDash val="solid"/>
          </a:ln>
        </p:spPr>
      </p:sp>
      <p:sp>
        <p:nvSpPr>
          <p:cNvPr id="36" name="Text 34"/>
          <p:cNvSpPr/>
          <p:nvPr/>
        </p:nvSpPr>
        <p:spPr>
          <a:xfrm>
            <a:off x="936000" y="4454325"/>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Rhône</a:t>
            </a:r>
            <a:endParaRPr lang="en-US" sz="1150" dirty="0"/>
          </a:p>
        </p:txBody>
      </p:sp>
      <p:sp>
        <p:nvSpPr>
          <p:cNvPr id="37" name="Text 35"/>
          <p:cNvSpPr/>
          <p:nvPr/>
        </p:nvSpPr>
        <p:spPr>
          <a:xfrm>
            <a:off x="2124000" y="4454325"/>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sables, grès et Trias</a:t>
            </a:r>
            <a:endParaRPr lang="en-US" sz="700" dirty="0"/>
          </a:p>
        </p:txBody>
      </p:sp>
      <p:sp>
        <p:nvSpPr>
          <p:cNvPr id="38" name="Text 36"/>
          <p:cNvSpPr/>
          <p:nvPr/>
        </p:nvSpPr>
        <p:spPr>
          <a:xfrm>
            <a:off x="6516000" y="4454325"/>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6</a:t>
            </a:r>
            <a:endParaRPr lang="en-US" sz="750" dirty="0"/>
          </a:p>
        </p:txBody>
      </p:sp>
      <p:sp>
        <p:nvSpPr>
          <p:cNvPr id="39" name="Text 37"/>
          <p:cNvSpPr/>
          <p:nvPr/>
        </p:nvSpPr>
        <p:spPr>
          <a:xfrm>
            <a:off x="972000" y="46847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16  </a:t>
            </a:r>
            <a:pPr indent="0" marL="0">
              <a:buNone/>
            </a:pPr>
            <a:r>
              <a:rPr lang="en-US" sz="740" dirty="0">
                <a:solidFill>
                  <a:srgbClr val="FBF8F1"/>
                </a:solidFill>
                <a:latin typeface="IBM Plex Sans" pitchFamily="34" charset="0"/>
                <a:ea typeface="IBM Plex Sans" pitchFamily="34" charset="-122"/>
                <a:cs typeface="IBM Plex Sans" pitchFamily="34" charset="-120"/>
              </a:rPr>
              <a:t>Domaine Le Prieuré des Papes</a:t>
            </a:r>
            <a:pPr indent="0" marL="0">
              <a:buNone/>
            </a:pPr>
            <a:r>
              <a:rPr lang="en-US" sz="740" b="1" dirty="0">
                <a:solidFill>
                  <a:srgbClr val="FBF8F1"/>
                </a:solidFill>
                <a:latin typeface="IBM Plex Sans" pitchFamily="34" charset="0"/>
                <a:ea typeface="IBM Plex Sans" pitchFamily="34" charset="-122"/>
                <a:cs typeface="IBM Plex Sans" pitchFamily="34" charset="-120"/>
              </a:rPr>
              <a:t>   31</a:t>
            </a:r>
            <a:endParaRPr lang="en-US" sz="740" dirty="0"/>
          </a:p>
        </p:txBody>
      </p:sp>
      <p:sp>
        <p:nvSpPr>
          <p:cNvPr id="40" name="Text 38"/>
          <p:cNvSpPr/>
          <p:nvPr/>
        </p:nvSpPr>
        <p:spPr>
          <a:xfrm>
            <a:off x="972000" y="48143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17  </a:t>
            </a:r>
            <a:pPr indent="0" marL="0">
              <a:buNone/>
            </a:pPr>
            <a:r>
              <a:rPr lang="en-US" sz="740" dirty="0">
                <a:solidFill>
                  <a:srgbClr val="FBF8F1"/>
                </a:solidFill>
                <a:latin typeface="IBM Plex Sans" pitchFamily="34" charset="0"/>
                <a:ea typeface="IBM Plex Sans" pitchFamily="34" charset="-122"/>
                <a:cs typeface="IBM Plex Sans" pitchFamily="34" charset="-120"/>
              </a:rPr>
              <a:t>Domaine de Coyeux</a:t>
            </a:r>
            <a:pPr indent="0" marL="0">
              <a:buNone/>
            </a:pPr>
            <a:r>
              <a:rPr lang="en-US" sz="740" b="1" dirty="0">
                <a:solidFill>
                  <a:srgbClr val="FBF8F1"/>
                </a:solidFill>
                <a:latin typeface="IBM Plex Sans" pitchFamily="34" charset="0"/>
                <a:ea typeface="IBM Plex Sans" pitchFamily="34" charset="-122"/>
                <a:cs typeface="IBM Plex Sans" pitchFamily="34" charset="-120"/>
              </a:rPr>
              <a:t>   32</a:t>
            </a:r>
            <a:endParaRPr lang="en-US" sz="740" dirty="0"/>
          </a:p>
        </p:txBody>
      </p:sp>
      <p:sp>
        <p:nvSpPr>
          <p:cNvPr id="41" name="Text 39"/>
          <p:cNvSpPr/>
          <p:nvPr/>
        </p:nvSpPr>
        <p:spPr>
          <a:xfrm>
            <a:off x="2916000" y="46847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18  </a:t>
            </a:r>
            <a:pPr indent="0" marL="0">
              <a:buNone/>
            </a:pPr>
            <a:r>
              <a:rPr lang="en-US" sz="740" dirty="0">
                <a:solidFill>
                  <a:srgbClr val="FBF8F1"/>
                </a:solidFill>
                <a:latin typeface="IBM Plex Sans" pitchFamily="34" charset="0"/>
                <a:ea typeface="IBM Plex Sans" pitchFamily="34" charset="-122"/>
                <a:cs typeface="IBM Plex Sans" pitchFamily="34" charset="-120"/>
              </a:rPr>
              <a:t>Domaine du Moulin Blanc</a:t>
            </a:r>
            <a:pPr indent="0" marL="0">
              <a:buNone/>
            </a:pPr>
            <a:r>
              <a:rPr lang="en-US" sz="740" b="1" dirty="0">
                <a:solidFill>
                  <a:srgbClr val="FBF8F1"/>
                </a:solidFill>
                <a:latin typeface="IBM Plex Sans" pitchFamily="34" charset="0"/>
                <a:ea typeface="IBM Plex Sans" pitchFamily="34" charset="-122"/>
                <a:cs typeface="IBM Plex Sans" pitchFamily="34" charset="-120"/>
              </a:rPr>
              <a:t>   33</a:t>
            </a:r>
            <a:endParaRPr lang="en-US" sz="740" dirty="0"/>
          </a:p>
        </p:txBody>
      </p:sp>
      <p:sp>
        <p:nvSpPr>
          <p:cNvPr id="42" name="Text 40"/>
          <p:cNvSpPr/>
          <p:nvPr/>
        </p:nvSpPr>
        <p:spPr>
          <a:xfrm>
            <a:off x="2916000" y="48143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19  </a:t>
            </a:r>
            <a:pPr indent="0" marL="0">
              <a:buNone/>
            </a:pPr>
            <a:r>
              <a:rPr lang="en-US" sz="740" dirty="0">
                <a:solidFill>
                  <a:srgbClr val="FBF8F1"/>
                </a:solidFill>
                <a:latin typeface="IBM Plex Sans" pitchFamily="34" charset="0"/>
                <a:ea typeface="IBM Plex Sans" pitchFamily="34" charset="-122"/>
                <a:cs typeface="IBM Plex Sans" pitchFamily="34" charset="-120"/>
              </a:rPr>
              <a:t>Domaine de la Pousterle</a:t>
            </a:r>
            <a:pPr indent="0" marL="0">
              <a:buNone/>
            </a:pPr>
            <a:r>
              <a:rPr lang="en-US" sz="740" b="1" dirty="0">
                <a:solidFill>
                  <a:srgbClr val="FBF8F1"/>
                </a:solidFill>
                <a:latin typeface="IBM Plex Sans" pitchFamily="34" charset="0"/>
                <a:ea typeface="IBM Plex Sans" pitchFamily="34" charset="-122"/>
                <a:cs typeface="IBM Plex Sans" pitchFamily="34" charset="-120"/>
              </a:rPr>
              <a:t>   34</a:t>
            </a:r>
            <a:endParaRPr lang="en-US" sz="740" dirty="0"/>
          </a:p>
        </p:txBody>
      </p:sp>
      <p:sp>
        <p:nvSpPr>
          <p:cNvPr id="43" name="Text 41"/>
          <p:cNvSpPr/>
          <p:nvPr/>
        </p:nvSpPr>
        <p:spPr>
          <a:xfrm>
            <a:off x="4860000" y="46847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20  </a:t>
            </a:r>
            <a:pPr indent="0" marL="0">
              <a:buNone/>
            </a:pPr>
            <a:r>
              <a:rPr lang="en-US" sz="740" dirty="0">
                <a:solidFill>
                  <a:srgbClr val="FBF8F1"/>
                </a:solidFill>
                <a:latin typeface="IBM Plex Sans" pitchFamily="34" charset="0"/>
                <a:ea typeface="IBM Plex Sans" pitchFamily="34" charset="-122"/>
                <a:cs typeface="IBM Plex Sans" pitchFamily="34" charset="-120"/>
              </a:rPr>
              <a:t>Domaine des Pasquiers</a:t>
            </a:r>
            <a:pPr indent="0" marL="0">
              <a:buNone/>
            </a:pPr>
            <a:r>
              <a:rPr lang="en-US" sz="740" b="1" dirty="0">
                <a:solidFill>
                  <a:srgbClr val="FBF8F1"/>
                </a:solidFill>
                <a:latin typeface="IBM Plex Sans" pitchFamily="34" charset="0"/>
                <a:ea typeface="IBM Plex Sans" pitchFamily="34" charset="-122"/>
                <a:cs typeface="IBM Plex Sans" pitchFamily="34" charset="-120"/>
              </a:rPr>
              <a:t>   35</a:t>
            </a:r>
            <a:endParaRPr lang="en-US" sz="740" dirty="0"/>
          </a:p>
        </p:txBody>
      </p:sp>
      <p:sp>
        <p:nvSpPr>
          <p:cNvPr id="44" name="Text 42"/>
          <p:cNvSpPr/>
          <p:nvPr/>
        </p:nvSpPr>
        <p:spPr>
          <a:xfrm>
            <a:off x="4860000" y="48143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21  </a:t>
            </a:r>
            <a:pPr indent="0" marL="0">
              <a:buNone/>
            </a:pPr>
            <a:r>
              <a:rPr lang="en-US" sz="740" dirty="0">
                <a:solidFill>
                  <a:srgbClr val="FBF8F1"/>
                </a:solidFill>
                <a:latin typeface="IBM Plex Sans" pitchFamily="34" charset="0"/>
                <a:ea typeface="IBM Plex Sans" pitchFamily="34" charset="-122"/>
                <a:cs typeface="IBM Plex Sans" pitchFamily="34" charset="-120"/>
              </a:rPr>
              <a:t>Domaine Trichon</a:t>
            </a:r>
            <a:pPr indent="0" marL="0">
              <a:buNone/>
            </a:pPr>
            <a:r>
              <a:rPr lang="en-US" sz="740" b="1" dirty="0">
                <a:solidFill>
                  <a:srgbClr val="FBF8F1"/>
                </a:solidFill>
                <a:latin typeface="IBM Plex Sans" pitchFamily="34" charset="0"/>
                <a:ea typeface="IBM Plex Sans" pitchFamily="34" charset="-122"/>
                <a:cs typeface="IBM Plex Sans" pitchFamily="34" charset="-120"/>
              </a:rPr>
              <a:t>   36</a:t>
            </a:r>
            <a:endParaRPr lang="en-US" sz="740" dirty="0"/>
          </a:p>
        </p:txBody>
      </p:sp>
      <p:sp>
        <p:nvSpPr>
          <p:cNvPr id="45" name="Shape 43"/>
          <p:cNvSpPr/>
          <p:nvPr/>
        </p:nvSpPr>
        <p:spPr>
          <a:xfrm>
            <a:off x="828000" y="5405175"/>
            <a:ext cx="6120000" cy="482625"/>
          </a:xfrm>
          <a:prstGeom prst="roundRect">
            <a:avLst>
              <a:gd name="adj" fmla="val 2842"/>
            </a:avLst>
          </a:prstGeom>
          <a:solidFill>
            <a:srgbClr val="D08C3C"/>
          </a:solidFill>
          <a:ln w="12700">
            <a:solidFill>
              <a:srgbClr val="D08C3C"/>
            </a:solidFill>
            <a:prstDash val="solid"/>
          </a:ln>
        </p:spPr>
      </p:sp>
      <p:sp>
        <p:nvSpPr>
          <p:cNvPr id="46" name="Text 44"/>
          <p:cNvSpPr/>
          <p:nvPr/>
        </p:nvSpPr>
        <p:spPr>
          <a:xfrm>
            <a:off x="936000" y="5462775"/>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Sud-Ouest</a:t>
            </a:r>
            <a:endParaRPr lang="en-US" sz="1150" dirty="0"/>
          </a:p>
        </p:txBody>
      </p:sp>
      <p:sp>
        <p:nvSpPr>
          <p:cNvPr id="47" name="Text 45"/>
          <p:cNvSpPr/>
          <p:nvPr/>
        </p:nvSpPr>
        <p:spPr>
          <a:xfrm>
            <a:off x="2124000" y="5462775"/>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sables fauves et fossiles marins</a:t>
            </a:r>
            <a:endParaRPr lang="en-US" sz="700" dirty="0"/>
          </a:p>
        </p:txBody>
      </p:sp>
      <p:sp>
        <p:nvSpPr>
          <p:cNvPr id="48" name="Text 46"/>
          <p:cNvSpPr/>
          <p:nvPr/>
        </p:nvSpPr>
        <p:spPr>
          <a:xfrm>
            <a:off x="6516000" y="5462775"/>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3</a:t>
            </a:r>
            <a:endParaRPr lang="en-US" sz="750" dirty="0"/>
          </a:p>
        </p:txBody>
      </p:sp>
      <p:sp>
        <p:nvSpPr>
          <p:cNvPr id="49" name="Text 47"/>
          <p:cNvSpPr/>
          <p:nvPr/>
        </p:nvSpPr>
        <p:spPr>
          <a:xfrm>
            <a:off x="972000" y="5693175"/>
            <a:ext cx="2844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22  </a:t>
            </a:r>
            <a:pPr indent="0" marL="0">
              <a:buNone/>
            </a:pPr>
            <a:r>
              <a:rPr lang="en-US" sz="740" dirty="0">
                <a:solidFill>
                  <a:srgbClr val="FBF8F1"/>
                </a:solidFill>
                <a:latin typeface="IBM Plex Sans" pitchFamily="34" charset="0"/>
                <a:ea typeface="IBM Plex Sans" pitchFamily="34" charset="-122"/>
                <a:cs typeface="IBM Plex Sans" pitchFamily="34" charset="-120"/>
              </a:rPr>
              <a:t>Domaine Stratéus</a:t>
            </a:r>
            <a:pPr indent="0" marL="0">
              <a:buNone/>
            </a:pPr>
            <a:r>
              <a:rPr lang="en-US" sz="740" b="1" dirty="0">
                <a:solidFill>
                  <a:srgbClr val="FBF8F1"/>
                </a:solidFill>
                <a:latin typeface="IBM Plex Sans" pitchFamily="34" charset="0"/>
                <a:ea typeface="IBM Plex Sans" pitchFamily="34" charset="-122"/>
                <a:cs typeface="IBM Plex Sans" pitchFamily="34" charset="-120"/>
              </a:rPr>
              <a:t>   38</a:t>
            </a:r>
            <a:endParaRPr lang="en-US" sz="740" dirty="0"/>
          </a:p>
        </p:txBody>
      </p:sp>
      <p:sp>
        <p:nvSpPr>
          <p:cNvPr id="50" name="Text 48"/>
          <p:cNvSpPr/>
          <p:nvPr/>
        </p:nvSpPr>
        <p:spPr>
          <a:xfrm>
            <a:off x="972000" y="5822775"/>
            <a:ext cx="2844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23  </a:t>
            </a:r>
            <a:pPr indent="0" marL="0">
              <a:buNone/>
            </a:pPr>
            <a:r>
              <a:rPr lang="en-US" sz="740" dirty="0">
                <a:solidFill>
                  <a:srgbClr val="FBF8F1"/>
                </a:solidFill>
                <a:latin typeface="IBM Plex Sans" pitchFamily="34" charset="0"/>
                <a:ea typeface="IBM Plex Sans" pitchFamily="34" charset="-122"/>
                <a:cs typeface="IBM Plex Sans" pitchFamily="34" charset="-120"/>
              </a:rPr>
              <a:t>Domaine Haut Marin</a:t>
            </a:r>
            <a:pPr indent="0" marL="0">
              <a:buNone/>
            </a:pPr>
            <a:r>
              <a:rPr lang="en-US" sz="740" b="1" dirty="0">
                <a:solidFill>
                  <a:srgbClr val="FBF8F1"/>
                </a:solidFill>
                <a:latin typeface="IBM Plex Sans" pitchFamily="34" charset="0"/>
                <a:ea typeface="IBM Plex Sans" pitchFamily="34" charset="-122"/>
                <a:cs typeface="IBM Plex Sans" pitchFamily="34" charset="-120"/>
              </a:rPr>
              <a:t>   39</a:t>
            </a:r>
            <a:endParaRPr lang="en-US" sz="740" dirty="0"/>
          </a:p>
        </p:txBody>
      </p:sp>
      <p:sp>
        <p:nvSpPr>
          <p:cNvPr id="51" name="Text 49"/>
          <p:cNvSpPr/>
          <p:nvPr/>
        </p:nvSpPr>
        <p:spPr>
          <a:xfrm>
            <a:off x="3888000" y="5693175"/>
            <a:ext cx="2844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24  </a:t>
            </a:r>
            <a:pPr indent="0" marL="0">
              <a:buNone/>
            </a:pPr>
            <a:r>
              <a:rPr lang="en-US" sz="740" dirty="0">
                <a:solidFill>
                  <a:srgbClr val="FBF8F1"/>
                </a:solidFill>
                <a:latin typeface="IBM Plex Sans" pitchFamily="34" charset="0"/>
                <a:ea typeface="IBM Plex Sans" pitchFamily="34" charset="-122"/>
                <a:cs typeface="IBM Plex Sans" pitchFamily="34" charset="-120"/>
              </a:rPr>
              <a:t>Fabien Castaing</a:t>
            </a:r>
            <a:pPr indent="0" marL="0">
              <a:buNone/>
            </a:pPr>
            <a:r>
              <a:rPr lang="en-US" sz="740" b="1" dirty="0">
                <a:solidFill>
                  <a:srgbClr val="FBF8F1"/>
                </a:solidFill>
                <a:latin typeface="IBM Plex Sans" pitchFamily="34" charset="0"/>
                <a:ea typeface="IBM Plex Sans" pitchFamily="34" charset="-122"/>
                <a:cs typeface="IBM Plex Sans" pitchFamily="34" charset="-120"/>
              </a:rPr>
              <a:t>   41</a:t>
            </a:r>
            <a:endParaRPr lang="en-US" sz="740" dirty="0"/>
          </a:p>
        </p:txBody>
      </p:sp>
      <p:sp>
        <p:nvSpPr>
          <p:cNvPr id="52" name="Shape 50"/>
          <p:cNvSpPr/>
          <p:nvPr/>
        </p:nvSpPr>
        <p:spPr>
          <a:xfrm>
            <a:off x="828000" y="5931000"/>
            <a:ext cx="6120000" cy="965250"/>
          </a:xfrm>
          <a:prstGeom prst="roundRect">
            <a:avLst>
              <a:gd name="adj" fmla="val 1421"/>
            </a:avLst>
          </a:prstGeom>
          <a:solidFill>
            <a:srgbClr val="A8515F"/>
          </a:solidFill>
          <a:ln w="12700">
            <a:solidFill>
              <a:srgbClr val="A8515F"/>
            </a:solidFill>
            <a:prstDash val="solid"/>
          </a:ln>
        </p:spPr>
      </p:sp>
      <p:sp>
        <p:nvSpPr>
          <p:cNvPr id="53" name="Text 51"/>
          <p:cNvSpPr/>
          <p:nvPr/>
        </p:nvSpPr>
        <p:spPr>
          <a:xfrm>
            <a:off x="936000" y="5988600"/>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Bordeaux</a:t>
            </a:r>
            <a:endParaRPr lang="en-US" sz="1150" dirty="0"/>
          </a:p>
        </p:txBody>
      </p:sp>
      <p:sp>
        <p:nvSpPr>
          <p:cNvPr id="54" name="Text 52"/>
          <p:cNvSpPr/>
          <p:nvPr/>
        </p:nvSpPr>
        <p:spPr>
          <a:xfrm>
            <a:off x="2124000" y="5988600"/>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graves et argilo-calcaire</a:t>
            </a:r>
            <a:endParaRPr lang="en-US" sz="700" dirty="0"/>
          </a:p>
        </p:txBody>
      </p:sp>
      <p:sp>
        <p:nvSpPr>
          <p:cNvPr id="55" name="Text 53"/>
          <p:cNvSpPr/>
          <p:nvPr/>
        </p:nvSpPr>
        <p:spPr>
          <a:xfrm>
            <a:off x="6516000" y="5988600"/>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6</a:t>
            </a:r>
            <a:endParaRPr lang="en-US" sz="750" dirty="0"/>
          </a:p>
        </p:txBody>
      </p:sp>
      <p:sp>
        <p:nvSpPr>
          <p:cNvPr id="56" name="Text 54"/>
          <p:cNvSpPr/>
          <p:nvPr/>
        </p:nvSpPr>
        <p:spPr>
          <a:xfrm>
            <a:off x="972000" y="62190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25  </a:t>
            </a:r>
            <a:pPr indent="0" marL="0">
              <a:buNone/>
            </a:pPr>
            <a:r>
              <a:rPr lang="en-US" sz="740" dirty="0">
                <a:solidFill>
                  <a:srgbClr val="FBF8F1"/>
                </a:solidFill>
                <a:latin typeface="IBM Plex Sans" pitchFamily="34" charset="0"/>
                <a:ea typeface="IBM Plex Sans" pitchFamily="34" charset="-122"/>
                <a:cs typeface="IBM Plex Sans" pitchFamily="34" charset="-120"/>
              </a:rPr>
              <a:t>La Passion des Terroirs</a:t>
            </a:r>
            <a:pPr indent="0" marL="0">
              <a:buNone/>
            </a:pPr>
            <a:r>
              <a:rPr lang="en-US" sz="740" b="1" dirty="0">
                <a:solidFill>
                  <a:srgbClr val="FBF8F1"/>
                </a:solidFill>
                <a:latin typeface="IBM Plex Sans" pitchFamily="34" charset="0"/>
                <a:ea typeface="IBM Plex Sans" pitchFamily="34" charset="-122"/>
                <a:cs typeface="IBM Plex Sans" pitchFamily="34" charset="-120"/>
              </a:rPr>
              <a:t>   44</a:t>
            </a:r>
            <a:endParaRPr lang="en-US" sz="740" dirty="0"/>
          </a:p>
        </p:txBody>
      </p:sp>
      <p:sp>
        <p:nvSpPr>
          <p:cNvPr id="57" name="Text 55"/>
          <p:cNvSpPr/>
          <p:nvPr/>
        </p:nvSpPr>
        <p:spPr>
          <a:xfrm>
            <a:off x="972000" y="63486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26  </a:t>
            </a:r>
            <a:pPr indent="0" marL="0">
              <a:buNone/>
            </a:pPr>
            <a:r>
              <a:rPr lang="en-US" sz="740" dirty="0">
                <a:solidFill>
                  <a:srgbClr val="FBF8F1"/>
                </a:solidFill>
                <a:latin typeface="IBM Plex Sans" pitchFamily="34" charset="0"/>
                <a:ea typeface="IBM Plex Sans" pitchFamily="34" charset="-122"/>
                <a:cs typeface="IBM Plex Sans" pitchFamily="34" charset="-120"/>
              </a:rPr>
              <a:t>Château la Gorce</a:t>
            </a:r>
            <a:pPr indent="0" marL="0">
              <a:buNone/>
            </a:pPr>
            <a:r>
              <a:rPr lang="en-US" sz="740" b="1" dirty="0">
                <a:solidFill>
                  <a:srgbClr val="FBF8F1"/>
                </a:solidFill>
                <a:latin typeface="IBM Plex Sans" pitchFamily="34" charset="0"/>
                <a:ea typeface="IBM Plex Sans" pitchFamily="34" charset="-122"/>
                <a:cs typeface="IBM Plex Sans" pitchFamily="34" charset="-120"/>
              </a:rPr>
              <a:t>   47</a:t>
            </a:r>
            <a:endParaRPr lang="en-US" sz="740" dirty="0"/>
          </a:p>
        </p:txBody>
      </p:sp>
      <p:sp>
        <p:nvSpPr>
          <p:cNvPr id="58" name="Text 56"/>
          <p:cNvSpPr/>
          <p:nvPr/>
        </p:nvSpPr>
        <p:spPr>
          <a:xfrm>
            <a:off x="2916000" y="62190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27  </a:t>
            </a:r>
            <a:pPr indent="0" marL="0">
              <a:buNone/>
            </a:pPr>
            <a:r>
              <a:rPr lang="en-US" sz="740" dirty="0">
                <a:solidFill>
                  <a:srgbClr val="FBF8F1"/>
                </a:solidFill>
                <a:latin typeface="IBM Plex Sans" pitchFamily="34" charset="0"/>
                <a:ea typeface="IBM Plex Sans" pitchFamily="34" charset="-122"/>
                <a:cs typeface="IBM Plex Sans" pitchFamily="34" charset="-120"/>
              </a:rPr>
              <a:t>Château Falfas</a:t>
            </a:r>
            <a:pPr indent="0" marL="0">
              <a:buNone/>
            </a:pPr>
            <a:r>
              <a:rPr lang="en-US" sz="740" b="1" dirty="0">
                <a:solidFill>
                  <a:srgbClr val="FBF8F1"/>
                </a:solidFill>
                <a:latin typeface="IBM Plex Sans" pitchFamily="34" charset="0"/>
                <a:ea typeface="IBM Plex Sans" pitchFamily="34" charset="-122"/>
                <a:cs typeface="IBM Plex Sans" pitchFamily="34" charset="-120"/>
              </a:rPr>
              <a:t>   49</a:t>
            </a:r>
            <a:endParaRPr lang="en-US" sz="740" dirty="0"/>
          </a:p>
        </p:txBody>
      </p:sp>
      <p:sp>
        <p:nvSpPr>
          <p:cNvPr id="59" name="Text 57"/>
          <p:cNvSpPr/>
          <p:nvPr/>
        </p:nvSpPr>
        <p:spPr>
          <a:xfrm>
            <a:off x="2916000" y="63486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28  </a:t>
            </a:r>
            <a:pPr indent="0" marL="0">
              <a:buNone/>
            </a:pPr>
            <a:r>
              <a:rPr lang="en-US" sz="740" dirty="0">
                <a:solidFill>
                  <a:srgbClr val="FBF8F1"/>
                </a:solidFill>
                <a:latin typeface="IBM Plex Sans" pitchFamily="34" charset="0"/>
                <a:ea typeface="IBM Plex Sans" pitchFamily="34" charset="-122"/>
                <a:cs typeface="IBM Plex Sans" pitchFamily="34" charset="-120"/>
              </a:rPr>
              <a:t>Château Pré la Lande</a:t>
            </a:r>
            <a:pPr indent="0" marL="0">
              <a:buNone/>
            </a:pPr>
            <a:r>
              <a:rPr lang="en-US" sz="740" b="1" dirty="0">
                <a:solidFill>
                  <a:srgbClr val="FBF8F1"/>
                </a:solidFill>
                <a:latin typeface="IBM Plex Sans" pitchFamily="34" charset="0"/>
                <a:ea typeface="IBM Plex Sans" pitchFamily="34" charset="-122"/>
                <a:cs typeface="IBM Plex Sans" pitchFamily="34" charset="-120"/>
              </a:rPr>
              <a:t>   50</a:t>
            </a:r>
            <a:endParaRPr lang="en-US" sz="740" dirty="0"/>
          </a:p>
        </p:txBody>
      </p:sp>
      <p:sp>
        <p:nvSpPr>
          <p:cNvPr id="60" name="Text 58"/>
          <p:cNvSpPr/>
          <p:nvPr/>
        </p:nvSpPr>
        <p:spPr>
          <a:xfrm>
            <a:off x="4860000" y="62190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29  </a:t>
            </a:r>
            <a:pPr indent="0" marL="0">
              <a:buNone/>
            </a:pPr>
            <a:r>
              <a:rPr lang="en-US" sz="740" dirty="0">
                <a:solidFill>
                  <a:srgbClr val="FBF8F1"/>
                </a:solidFill>
                <a:latin typeface="IBM Plex Sans" pitchFamily="34" charset="0"/>
                <a:ea typeface="IBM Plex Sans" pitchFamily="34" charset="-122"/>
                <a:cs typeface="IBM Plex Sans" pitchFamily="34" charset="-120"/>
              </a:rPr>
              <a:t>Château Balac</a:t>
            </a:r>
            <a:pPr indent="0" marL="0">
              <a:buNone/>
            </a:pPr>
            <a:r>
              <a:rPr lang="en-US" sz="740" b="1" dirty="0">
                <a:solidFill>
                  <a:srgbClr val="FBF8F1"/>
                </a:solidFill>
                <a:latin typeface="IBM Plex Sans" pitchFamily="34" charset="0"/>
                <a:ea typeface="IBM Plex Sans" pitchFamily="34" charset="-122"/>
                <a:cs typeface="IBM Plex Sans" pitchFamily="34" charset="-120"/>
              </a:rPr>
              <a:t>   51</a:t>
            </a:r>
            <a:endParaRPr lang="en-US" sz="740" dirty="0"/>
          </a:p>
        </p:txBody>
      </p:sp>
      <p:sp>
        <p:nvSpPr>
          <p:cNvPr id="61" name="Text 59"/>
          <p:cNvSpPr/>
          <p:nvPr/>
        </p:nvSpPr>
        <p:spPr>
          <a:xfrm>
            <a:off x="4860000" y="63486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30  </a:t>
            </a:r>
            <a:pPr indent="0" marL="0">
              <a:buNone/>
            </a:pPr>
            <a:r>
              <a:rPr lang="en-US" sz="740" dirty="0">
                <a:solidFill>
                  <a:srgbClr val="FBF8F1"/>
                </a:solidFill>
                <a:latin typeface="IBM Plex Sans" pitchFamily="34" charset="0"/>
                <a:ea typeface="IBM Plex Sans" pitchFamily="34" charset="-122"/>
                <a:cs typeface="IBM Plex Sans" pitchFamily="34" charset="-120"/>
              </a:rPr>
              <a:t>Château l’Escarderie</a:t>
            </a:r>
            <a:pPr indent="0" marL="0">
              <a:buNone/>
            </a:pPr>
            <a:r>
              <a:rPr lang="en-US" sz="740" b="1" dirty="0">
                <a:solidFill>
                  <a:srgbClr val="FBF8F1"/>
                </a:solidFill>
                <a:latin typeface="IBM Plex Sans" pitchFamily="34" charset="0"/>
                <a:ea typeface="IBM Plex Sans" pitchFamily="34" charset="-122"/>
                <a:cs typeface="IBM Plex Sans" pitchFamily="34" charset="-120"/>
              </a:rPr>
              <a:t>   52</a:t>
            </a:r>
            <a:endParaRPr lang="en-US" sz="740" dirty="0"/>
          </a:p>
        </p:txBody>
      </p:sp>
      <p:sp>
        <p:nvSpPr>
          <p:cNvPr id="62" name="Shape 60"/>
          <p:cNvSpPr/>
          <p:nvPr/>
        </p:nvSpPr>
        <p:spPr>
          <a:xfrm>
            <a:off x="828000" y="6939450"/>
            <a:ext cx="6120000" cy="418275"/>
          </a:xfrm>
          <a:prstGeom prst="roundRect">
            <a:avLst>
              <a:gd name="adj" fmla="val 3279"/>
            </a:avLst>
          </a:prstGeom>
          <a:solidFill>
            <a:srgbClr val="46606E"/>
          </a:solidFill>
          <a:ln w="12700">
            <a:solidFill>
              <a:srgbClr val="46606E"/>
            </a:solidFill>
            <a:prstDash val="solid"/>
          </a:ln>
        </p:spPr>
      </p:sp>
      <p:sp>
        <p:nvSpPr>
          <p:cNvPr id="63" name="Text 61"/>
          <p:cNvSpPr/>
          <p:nvPr/>
        </p:nvSpPr>
        <p:spPr>
          <a:xfrm>
            <a:off x="936000" y="6997050"/>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Provence</a:t>
            </a:r>
            <a:endParaRPr lang="en-US" sz="1150" dirty="0"/>
          </a:p>
        </p:txBody>
      </p:sp>
      <p:sp>
        <p:nvSpPr>
          <p:cNvPr id="64" name="Text 62"/>
          <p:cNvSpPr/>
          <p:nvPr/>
        </p:nvSpPr>
        <p:spPr>
          <a:xfrm>
            <a:off x="2124000" y="6997050"/>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la Provence Verte</a:t>
            </a:r>
            <a:endParaRPr lang="en-US" sz="700" dirty="0"/>
          </a:p>
        </p:txBody>
      </p:sp>
      <p:sp>
        <p:nvSpPr>
          <p:cNvPr id="65" name="Text 63"/>
          <p:cNvSpPr/>
          <p:nvPr/>
        </p:nvSpPr>
        <p:spPr>
          <a:xfrm>
            <a:off x="6516000" y="6997050"/>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1</a:t>
            </a:r>
            <a:endParaRPr lang="en-US" sz="750" dirty="0"/>
          </a:p>
        </p:txBody>
      </p:sp>
      <p:sp>
        <p:nvSpPr>
          <p:cNvPr id="66" name="Text 64"/>
          <p:cNvSpPr/>
          <p:nvPr/>
        </p:nvSpPr>
        <p:spPr>
          <a:xfrm>
            <a:off x="972000" y="7227450"/>
            <a:ext cx="2844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31  </a:t>
            </a:r>
            <a:pPr indent="0" marL="0">
              <a:buNone/>
            </a:pPr>
            <a:r>
              <a:rPr lang="en-US" sz="740" dirty="0">
                <a:solidFill>
                  <a:srgbClr val="FBF8F1"/>
                </a:solidFill>
                <a:latin typeface="IBM Plex Sans" pitchFamily="34" charset="0"/>
                <a:ea typeface="IBM Plex Sans" pitchFamily="34" charset="-122"/>
                <a:cs typeface="IBM Plex Sans" pitchFamily="34" charset="-120"/>
              </a:rPr>
              <a:t>Bastide de Blacailloux</a:t>
            </a:r>
            <a:pPr indent="0" marL="0">
              <a:buNone/>
            </a:pPr>
            <a:r>
              <a:rPr lang="en-US" sz="740" b="1" dirty="0">
                <a:solidFill>
                  <a:srgbClr val="FBF8F1"/>
                </a:solidFill>
                <a:latin typeface="IBM Plex Sans" pitchFamily="34" charset="0"/>
                <a:ea typeface="IBM Plex Sans" pitchFamily="34" charset="-122"/>
                <a:cs typeface="IBM Plex Sans" pitchFamily="34" charset="-120"/>
              </a:rPr>
              <a:t>   54</a:t>
            </a:r>
            <a:endParaRPr lang="en-US" sz="740" dirty="0"/>
          </a:p>
        </p:txBody>
      </p:sp>
      <p:sp>
        <p:nvSpPr>
          <p:cNvPr id="67" name="Shape 65"/>
          <p:cNvSpPr/>
          <p:nvPr/>
        </p:nvSpPr>
        <p:spPr>
          <a:xfrm>
            <a:off x="828000" y="7400925"/>
            <a:ext cx="6120000" cy="804375"/>
          </a:xfrm>
          <a:prstGeom prst="roundRect">
            <a:avLst>
              <a:gd name="adj" fmla="val 1705"/>
            </a:avLst>
          </a:prstGeom>
          <a:solidFill>
            <a:srgbClr val="3C5B47"/>
          </a:solidFill>
          <a:ln w="12700">
            <a:solidFill>
              <a:srgbClr val="3C5B47"/>
            </a:solidFill>
            <a:prstDash val="solid"/>
          </a:ln>
        </p:spPr>
      </p:sp>
      <p:sp>
        <p:nvSpPr>
          <p:cNvPr id="68" name="Text 66"/>
          <p:cNvSpPr/>
          <p:nvPr/>
        </p:nvSpPr>
        <p:spPr>
          <a:xfrm>
            <a:off x="936000" y="7458525"/>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Languedoc</a:t>
            </a:r>
            <a:endParaRPr lang="en-US" sz="1150" dirty="0"/>
          </a:p>
        </p:txBody>
      </p:sp>
      <p:sp>
        <p:nvSpPr>
          <p:cNvPr id="69" name="Text 67"/>
          <p:cNvSpPr/>
          <p:nvPr/>
        </p:nvSpPr>
        <p:spPr>
          <a:xfrm>
            <a:off x="2124000" y="7458525"/>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terrasses et garrigue</a:t>
            </a:r>
            <a:endParaRPr lang="en-US" sz="700" dirty="0"/>
          </a:p>
        </p:txBody>
      </p:sp>
      <p:sp>
        <p:nvSpPr>
          <p:cNvPr id="70" name="Text 68"/>
          <p:cNvSpPr/>
          <p:nvPr/>
        </p:nvSpPr>
        <p:spPr>
          <a:xfrm>
            <a:off x="6516000" y="7458525"/>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5</a:t>
            </a:r>
            <a:endParaRPr lang="en-US" sz="750" dirty="0"/>
          </a:p>
        </p:txBody>
      </p:sp>
      <p:sp>
        <p:nvSpPr>
          <p:cNvPr id="71" name="Text 69"/>
          <p:cNvSpPr/>
          <p:nvPr/>
        </p:nvSpPr>
        <p:spPr>
          <a:xfrm>
            <a:off x="972000" y="76889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32  </a:t>
            </a:r>
            <a:pPr indent="0" marL="0">
              <a:buNone/>
            </a:pPr>
            <a:r>
              <a:rPr lang="en-US" sz="740" dirty="0">
                <a:solidFill>
                  <a:srgbClr val="FBF8F1"/>
                </a:solidFill>
                <a:latin typeface="IBM Plex Sans" pitchFamily="34" charset="0"/>
                <a:ea typeface="IBM Plex Sans" pitchFamily="34" charset="-122"/>
                <a:cs typeface="IBM Plex Sans" pitchFamily="34" charset="-120"/>
              </a:rPr>
              <a:t>Famille d’Exea</a:t>
            </a:r>
            <a:pPr indent="0" marL="0">
              <a:buNone/>
            </a:pPr>
            <a:r>
              <a:rPr lang="en-US" sz="740" b="1" dirty="0">
                <a:solidFill>
                  <a:srgbClr val="FBF8F1"/>
                </a:solidFill>
                <a:latin typeface="IBM Plex Sans" pitchFamily="34" charset="0"/>
                <a:ea typeface="IBM Plex Sans" pitchFamily="34" charset="-122"/>
                <a:cs typeface="IBM Plex Sans" pitchFamily="34" charset="-120"/>
              </a:rPr>
              <a:t>   56</a:t>
            </a:r>
            <a:endParaRPr lang="en-US" sz="740" dirty="0"/>
          </a:p>
        </p:txBody>
      </p:sp>
      <p:sp>
        <p:nvSpPr>
          <p:cNvPr id="72" name="Text 70"/>
          <p:cNvSpPr/>
          <p:nvPr/>
        </p:nvSpPr>
        <p:spPr>
          <a:xfrm>
            <a:off x="972000" y="78185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33  </a:t>
            </a:r>
            <a:pPr indent="0" marL="0">
              <a:buNone/>
            </a:pPr>
            <a:r>
              <a:rPr lang="en-US" sz="740" dirty="0">
                <a:solidFill>
                  <a:srgbClr val="FBF8F1"/>
                </a:solidFill>
                <a:latin typeface="IBM Plex Sans" pitchFamily="34" charset="0"/>
                <a:ea typeface="IBM Plex Sans" pitchFamily="34" charset="-122"/>
                <a:cs typeface="IBM Plex Sans" pitchFamily="34" charset="-120"/>
              </a:rPr>
              <a:t>Famille d’Exea — Jus de Cépages</a:t>
            </a:r>
            <a:pPr indent="0" marL="0">
              <a:buNone/>
            </a:pPr>
            <a:r>
              <a:rPr lang="en-US" sz="740" b="1" dirty="0">
                <a:solidFill>
                  <a:srgbClr val="FBF8F1"/>
                </a:solidFill>
                <a:latin typeface="IBM Plex Sans" pitchFamily="34" charset="0"/>
                <a:ea typeface="IBM Plex Sans" pitchFamily="34" charset="-122"/>
                <a:cs typeface="IBM Plex Sans" pitchFamily="34" charset="-120"/>
              </a:rPr>
              <a:t>   58</a:t>
            </a:r>
            <a:endParaRPr lang="en-US" sz="740" dirty="0"/>
          </a:p>
        </p:txBody>
      </p:sp>
      <p:sp>
        <p:nvSpPr>
          <p:cNvPr id="73" name="Text 71"/>
          <p:cNvSpPr/>
          <p:nvPr/>
        </p:nvSpPr>
        <p:spPr>
          <a:xfrm>
            <a:off x="2916000" y="76889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34  </a:t>
            </a:r>
            <a:pPr indent="0" marL="0">
              <a:buNone/>
            </a:pPr>
            <a:r>
              <a:rPr lang="en-US" sz="740" dirty="0">
                <a:solidFill>
                  <a:srgbClr val="FBF8F1"/>
                </a:solidFill>
                <a:latin typeface="IBM Plex Sans" pitchFamily="34" charset="0"/>
                <a:ea typeface="IBM Plex Sans" pitchFamily="34" charset="-122"/>
                <a:cs typeface="IBM Plex Sans" pitchFamily="34" charset="-120"/>
              </a:rPr>
              <a:t>Château de Gragnos</a:t>
            </a:r>
            <a:pPr indent="0" marL="0">
              <a:buNone/>
            </a:pPr>
            <a:r>
              <a:rPr lang="en-US" sz="740" b="1" dirty="0">
                <a:solidFill>
                  <a:srgbClr val="FBF8F1"/>
                </a:solidFill>
                <a:latin typeface="IBM Plex Sans" pitchFamily="34" charset="0"/>
                <a:ea typeface="IBM Plex Sans" pitchFamily="34" charset="-122"/>
                <a:cs typeface="IBM Plex Sans" pitchFamily="34" charset="-120"/>
              </a:rPr>
              <a:t>   59</a:t>
            </a:r>
            <a:endParaRPr lang="en-US" sz="740" dirty="0"/>
          </a:p>
        </p:txBody>
      </p:sp>
      <p:sp>
        <p:nvSpPr>
          <p:cNvPr id="74" name="Text 72"/>
          <p:cNvSpPr/>
          <p:nvPr/>
        </p:nvSpPr>
        <p:spPr>
          <a:xfrm>
            <a:off x="2916000" y="78185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35  </a:t>
            </a:r>
            <a:pPr indent="0" marL="0">
              <a:buNone/>
            </a:pPr>
            <a:r>
              <a:rPr lang="en-US" sz="740" dirty="0">
                <a:solidFill>
                  <a:srgbClr val="FBF8F1"/>
                </a:solidFill>
                <a:latin typeface="IBM Plex Sans" pitchFamily="34" charset="0"/>
                <a:ea typeface="IBM Plex Sans" pitchFamily="34" charset="-122"/>
                <a:cs typeface="IBM Plex Sans" pitchFamily="34" charset="-120"/>
              </a:rPr>
              <a:t>Domaine Les Lys</a:t>
            </a:r>
            <a:pPr indent="0" marL="0">
              <a:buNone/>
            </a:pPr>
            <a:r>
              <a:rPr lang="en-US" sz="740" b="1" dirty="0">
                <a:solidFill>
                  <a:srgbClr val="FBF8F1"/>
                </a:solidFill>
                <a:latin typeface="IBM Plex Sans" pitchFamily="34" charset="0"/>
                <a:ea typeface="IBM Plex Sans" pitchFamily="34" charset="-122"/>
                <a:cs typeface="IBM Plex Sans" pitchFamily="34" charset="-120"/>
              </a:rPr>
              <a:t>   60</a:t>
            </a:r>
            <a:endParaRPr lang="en-US" sz="740" dirty="0"/>
          </a:p>
        </p:txBody>
      </p:sp>
      <p:sp>
        <p:nvSpPr>
          <p:cNvPr id="75" name="Text 73"/>
          <p:cNvSpPr/>
          <p:nvPr/>
        </p:nvSpPr>
        <p:spPr>
          <a:xfrm>
            <a:off x="4860000" y="76889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36  </a:t>
            </a:r>
            <a:pPr indent="0" marL="0">
              <a:buNone/>
            </a:pPr>
            <a:r>
              <a:rPr lang="en-US" sz="740" dirty="0">
                <a:solidFill>
                  <a:srgbClr val="FBF8F1"/>
                </a:solidFill>
                <a:latin typeface="IBM Plex Sans" pitchFamily="34" charset="0"/>
                <a:ea typeface="IBM Plex Sans" pitchFamily="34" charset="-122"/>
                <a:cs typeface="IBM Plex Sans" pitchFamily="34" charset="-120"/>
              </a:rPr>
              <a:t>Prieuré Sainte-Marie d’Albas</a:t>
            </a:r>
            <a:pPr indent="0" marL="0">
              <a:buNone/>
            </a:pPr>
            <a:r>
              <a:rPr lang="en-US" sz="740" b="1" dirty="0">
                <a:solidFill>
                  <a:srgbClr val="FBF8F1"/>
                </a:solidFill>
                <a:latin typeface="IBM Plex Sans" pitchFamily="34" charset="0"/>
                <a:ea typeface="IBM Plex Sans" pitchFamily="34" charset="-122"/>
                <a:cs typeface="IBM Plex Sans" pitchFamily="34" charset="-120"/>
              </a:rPr>
              <a:t>   61</a:t>
            </a:r>
            <a:endParaRPr lang="en-US" sz="740" dirty="0"/>
          </a:p>
        </p:txBody>
      </p:sp>
      <p:sp>
        <p:nvSpPr>
          <p:cNvPr id="76" name="Shape 74"/>
          <p:cNvSpPr/>
          <p:nvPr/>
        </p:nvSpPr>
        <p:spPr>
          <a:xfrm>
            <a:off x="828000" y="8248500"/>
            <a:ext cx="6120000" cy="643500"/>
          </a:xfrm>
          <a:prstGeom prst="roundRect">
            <a:avLst>
              <a:gd name="adj" fmla="val 2131"/>
            </a:avLst>
          </a:prstGeom>
          <a:solidFill>
            <a:srgbClr val="FBF8F1"/>
          </a:solidFill>
          <a:ln w="12700">
            <a:solidFill>
              <a:srgbClr val="FBF8F1"/>
            </a:solidFill>
            <a:prstDash val="solid"/>
          </a:ln>
        </p:spPr>
      </p:sp>
      <p:sp>
        <p:nvSpPr>
          <p:cNvPr id="77" name="Text 75"/>
          <p:cNvSpPr/>
          <p:nvPr/>
        </p:nvSpPr>
        <p:spPr>
          <a:xfrm>
            <a:off x="936000" y="8306100"/>
            <a:ext cx="1800000" cy="216000"/>
          </a:xfrm>
          <a:prstGeom prst="rect">
            <a:avLst/>
          </a:prstGeom>
          <a:noFill/>
          <a:ln/>
        </p:spPr>
        <p:txBody>
          <a:bodyPr wrap="square" lIns="0" tIns="0" rIns="0" bIns="0" rtlCol="0" anchor="ctr"/>
          <a:lstStyle/>
          <a:p>
            <a:pPr indent="0" marL="0">
              <a:buNone/>
            </a:pPr>
            <a:r>
              <a:rPr lang="en-US" sz="1150" dirty="0">
                <a:solidFill>
                  <a:srgbClr val="46606E"/>
                </a:solidFill>
                <a:latin typeface="Young Serif" pitchFamily="34" charset="0"/>
                <a:ea typeface="Young Serif" pitchFamily="34" charset="-122"/>
                <a:cs typeface="Young Serif" pitchFamily="34" charset="-120"/>
              </a:rPr>
              <a:t>Champagne</a:t>
            </a:r>
            <a:endParaRPr lang="en-US" sz="1150" dirty="0"/>
          </a:p>
        </p:txBody>
      </p:sp>
      <p:sp>
        <p:nvSpPr>
          <p:cNvPr id="78" name="Text 76"/>
          <p:cNvSpPr/>
          <p:nvPr/>
        </p:nvSpPr>
        <p:spPr>
          <a:xfrm>
            <a:off x="2124000" y="8306100"/>
            <a:ext cx="2520000" cy="216000"/>
          </a:xfrm>
          <a:prstGeom prst="rect">
            <a:avLst/>
          </a:prstGeom>
          <a:noFill/>
          <a:ln/>
        </p:spPr>
        <p:txBody>
          <a:bodyPr wrap="square" lIns="0" tIns="0" rIns="0" bIns="0" rtlCol="0" anchor="ctr"/>
          <a:lstStyle/>
          <a:p>
            <a:pPr indent="0" marL="0">
              <a:buNone/>
            </a:pPr>
            <a:r>
              <a:rPr lang="en-US" sz="700" i="1" dirty="0">
                <a:solidFill>
                  <a:srgbClr val="46606E">
                    <a:alpha val="82000"/>
                  </a:srgbClr>
                </a:solidFill>
                <a:latin typeface="Spectral" pitchFamily="34" charset="0"/>
                <a:ea typeface="Spectral" pitchFamily="34" charset="-122"/>
                <a:cs typeface="Spectral" pitchFamily="34" charset="-120"/>
              </a:rPr>
              <a:t>la craie</a:t>
            </a:r>
            <a:endParaRPr lang="en-US" sz="700" dirty="0"/>
          </a:p>
        </p:txBody>
      </p:sp>
      <p:sp>
        <p:nvSpPr>
          <p:cNvPr id="79" name="Text 77"/>
          <p:cNvSpPr/>
          <p:nvPr/>
        </p:nvSpPr>
        <p:spPr>
          <a:xfrm>
            <a:off x="6516000" y="8306100"/>
            <a:ext cx="324000" cy="216000"/>
          </a:xfrm>
          <a:prstGeom prst="rect">
            <a:avLst/>
          </a:prstGeom>
          <a:noFill/>
          <a:ln/>
        </p:spPr>
        <p:txBody>
          <a:bodyPr wrap="square" lIns="0" tIns="0" rIns="0" bIns="0" rtlCol="0" anchor="ctr"/>
          <a:lstStyle/>
          <a:p>
            <a:pPr algn="ctr" indent="0" marL="0">
              <a:buNone/>
            </a:pPr>
            <a:r>
              <a:rPr lang="en-US" sz="750" b="1" dirty="0">
                <a:solidFill>
                  <a:srgbClr val="46606E"/>
                </a:solidFill>
                <a:latin typeface="IBM Plex Sans" pitchFamily="34" charset="0"/>
                <a:ea typeface="IBM Plex Sans" pitchFamily="34" charset="-122"/>
                <a:cs typeface="IBM Plex Sans" pitchFamily="34" charset="-120"/>
              </a:rPr>
              <a:t>4</a:t>
            </a:r>
            <a:endParaRPr lang="en-US" sz="750" dirty="0"/>
          </a:p>
        </p:txBody>
      </p:sp>
      <p:sp>
        <p:nvSpPr>
          <p:cNvPr id="80" name="Text 78"/>
          <p:cNvSpPr/>
          <p:nvPr/>
        </p:nvSpPr>
        <p:spPr>
          <a:xfrm>
            <a:off x="972000" y="8536500"/>
            <a:ext cx="2844000" cy="129600"/>
          </a:xfrm>
          <a:prstGeom prst="rect">
            <a:avLst/>
          </a:prstGeom>
          <a:noFill/>
          <a:ln/>
        </p:spPr>
        <p:txBody>
          <a:bodyPr wrap="square" lIns="0" tIns="0" rIns="0" bIns="0" rtlCol="0" anchor="ctr"/>
          <a:lstStyle/>
          <a:p>
            <a:pPr indent="0" marL="0">
              <a:buNone/>
            </a:pPr>
            <a:r>
              <a:rPr lang="en-US" sz="740" b="1" dirty="0">
                <a:solidFill>
                  <a:srgbClr val="46606E"/>
                </a:solidFill>
                <a:latin typeface="IBM Plex Sans" pitchFamily="34" charset="0"/>
                <a:ea typeface="IBM Plex Sans" pitchFamily="34" charset="-122"/>
                <a:cs typeface="IBM Plex Sans" pitchFamily="34" charset="-120"/>
              </a:rPr>
              <a:t>37  </a:t>
            </a:r>
            <a:pPr indent="0" marL="0">
              <a:buNone/>
            </a:pPr>
            <a:r>
              <a:rPr lang="en-US" sz="740" dirty="0">
                <a:solidFill>
                  <a:srgbClr val="46606E"/>
                </a:solidFill>
                <a:latin typeface="IBM Plex Sans" pitchFamily="34" charset="0"/>
                <a:ea typeface="IBM Plex Sans" pitchFamily="34" charset="-122"/>
                <a:cs typeface="IBM Plex Sans" pitchFamily="34" charset="-120"/>
              </a:rPr>
              <a:t>Champagne Dekeyne</a:t>
            </a:r>
            <a:pPr indent="0" marL="0">
              <a:buNone/>
            </a:pPr>
            <a:r>
              <a:rPr lang="en-US" sz="740" b="1" dirty="0">
                <a:solidFill>
                  <a:srgbClr val="46606E"/>
                </a:solidFill>
                <a:latin typeface="IBM Plex Sans" pitchFamily="34" charset="0"/>
                <a:ea typeface="IBM Plex Sans" pitchFamily="34" charset="-122"/>
                <a:cs typeface="IBM Plex Sans" pitchFamily="34" charset="-120"/>
              </a:rPr>
              <a:t>   64</a:t>
            </a:r>
            <a:endParaRPr lang="en-US" sz="740" dirty="0"/>
          </a:p>
        </p:txBody>
      </p:sp>
      <p:sp>
        <p:nvSpPr>
          <p:cNvPr id="81" name="Text 79"/>
          <p:cNvSpPr/>
          <p:nvPr/>
        </p:nvSpPr>
        <p:spPr>
          <a:xfrm>
            <a:off x="972000" y="8666100"/>
            <a:ext cx="2844000" cy="129600"/>
          </a:xfrm>
          <a:prstGeom prst="rect">
            <a:avLst/>
          </a:prstGeom>
          <a:noFill/>
          <a:ln/>
        </p:spPr>
        <p:txBody>
          <a:bodyPr wrap="square" lIns="0" tIns="0" rIns="0" bIns="0" rtlCol="0" anchor="ctr"/>
          <a:lstStyle/>
          <a:p>
            <a:pPr indent="0" marL="0">
              <a:buNone/>
            </a:pPr>
            <a:r>
              <a:rPr lang="en-US" sz="740" b="1" dirty="0">
                <a:solidFill>
                  <a:srgbClr val="46606E"/>
                </a:solidFill>
                <a:latin typeface="IBM Plex Sans" pitchFamily="34" charset="0"/>
                <a:ea typeface="IBM Plex Sans" pitchFamily="34" charset="-122"/>
                <a:cs typeface="IBM Plex Sans" pitchFamily="34" charset="-120"/>
              </a:rPr>
              <a:t>38  </a:t>
            </a:r>
            <a:pPr indent="0" marL="0">
              <a:buNone/>
            </a:pPr>
            <a:r>
              <a:rPr lang="en-US" sz="740" dirty="0">
                <a:solidFill>
                  <a:srgbClr val="46606E"/>
                </a:solidFill>
                <a:latin typeface="IBM Plex Sans" pitchFamily="34" charset="0"/>
                <a:ea typeface="IBM Plex Sans" pitchFamily="34" charset="-122"/>
                <a:cs typeface="IBM Plex Sans" pitchFamily="34" charset="-120"/>
              </a:rPr>
              <a:t>Champagne Denis Frézier</a:t>
            </a:r>
            <a:pPr indent="0" marL="0">
              <a:buNone/>
            </a:pPr>
            <a:r>
              <a:rPr lang="en-US" sz="740" b="1" dirty="0">
                <a:solidFill>
                  <a:srgbClr val="46606E"/>
                </a:solidFill>
                <a:latin typeface="IBM Plex Sans" pitchFamily="34" charset="0"/>
                <a:ea typeface="IBM Plex Sans" pitchFamily="34" charset="-122"/>
                <a:cs typeface="IBM Plex Sans" pitchFamily="34" charset="-120"/>
              </a:rPr>
              <a:t>   65</a:t>
            </a:r>
            <a:endParaRPr lang="en-US" sz="740" dirty="0"/>
          </a:p>
        </p:txBody>
      </p:sp>
      <p:sp>
        <p:nvSpPr>
          <p:cNvPr id="82" name="Text 80"/>
          <p:cNvSpPr/>
          <p:nvPr/>
        </p:nvSpPr>
        <p:spPr>
          <a:xfrm>
            <a:off x="3888000" y="8536500"/>
            <a:ext cx="2844000" cy="129600"/>
          </a:xfrm>
          <a:prstGeom prst="rect">
            <a:avLst/>
          </a:prstGeom>
          <a:noFill/>
          <a:ln/>
        </p:spPr>
        <p:txBody>
          <a:bodyPr wrap="square" lIns="0" tIns="0" rIns="0" bIns="0" rtlCol="0" anchor="ctr"/>
          <a:lstStyle/>
          <a:p>
            <a:pPr indent="0" marL="0">
              <a:buNone/>
            </a:pPr>
            <a:r>
              <a:rPr lang="en-US" sz="740" b="1" dirty="0">
                <a:solidFill>
                  <a:srgbClr val="46606E"/>
                </a:solidFill>
                <a:latin typeface="IBM Plex Sans" pitchFamily="34" charset="0"/>
                <a:ea typeface="IBM Plex Sans" pitchFamily="34" charset="-122"/>
                <a:cs typeface="IBM Plex Sans" pitchFamily="34" charset="-120"/>
              </a:rPr>
              <a:t>39  </a:t>
            </a:r>
            <a:pPr indent="0" marL="0">
              <a:buNone/>
            </a:pPr>
            <a:r>
              <a:rPr lang="en-US" sz="740" dirty="0">
                <a:solidFill>
                  <a:srgbClr val="46606E"/>
                </a:solidFill>
                <a:latin typeface="IBM Plex Sans" pitchFamily="34" charset="0"/>
                <a:ea typeface="IBM Plex Sans" pitchFamily="34" charset="-122"/>
                <a:cs typeface="IBM Plex Sans" pitchFamily="34" charset="-120"/>
              </a:rPr>
              <a:t>Champagne Solemme</a:t>
            </a:r>
            <a:pPr indent="0" marL="0">
              <a:buNone/>
            </a:pPr>
            <a:r>
              <a:rPr lang="en-US" sz="740" b="1" dirty="0">
                <a:solidFill>
                  <a:srgbClr val="46606E"/>
                </a:solidFill>
                <a:latin typeface="IBM Plex Sans" pitchFamily="34" charset="0"/>
                <a:ea typeface="IBM Plex Sans" pitchFamily="34" charset="-122"/>
                <a:cs typeface="IBM Plex Sans" pitchFamily="34" charset="-120"/>
              </a:rPr>
              <a:t>   66</a:t>
            </a:r>
            <a:endParaRPr lang="en-US" sz="740" dirty="0"/>
          </a:p>
        </p:txBody>
      </p:sp>
      <p:sp>
        <p:nvSpPr>
          <p:cNvPr id="83" name="Text 81"/>
          <p:cNvSpPr/>
          <p:nvPr/>
        </p:nvSpPr>
        <p:spPr>
          <a:xfrm>
            <a:off x="3888000" y="8666100"/>
            <a:ext cx="2844000" cy="129600"/>
          </a:xfrm>
          <a:prstGeom prst="rect">
            <a:avLst/>
          </a:prstGeom>
          <a:noFill/>
          <a:ln/>
        </p:spPr>
        <p:txBody>
          <a:bodyPr wrap="square" lIns="0" tIns="0" rIns="0" bIns="0" rtlCol="0" anchor="ctr"/>
          <a:lstStyle/>
          <a:p>
            <a:pPr indent="0" marL="0">
              <a:buNone/>
            </a:pPr>
            <a:r>
              <a:rPr lang="en-US" sz="740" b="1" dirty="0">
                <a:solidFill>
                  <a:srgbClr val="46606E"/>
                </a:solidFill>
                <a:latin typeface="IBM Plex Sans" pitchFamily="34" charset="0"/>
                <a:ea typeface="IBM Plex Sans" pitchFamily="34" charset="-122"/>
                <a:cs typeface="IBM Plex Sans" pitchFamily="34" charset="-120"/>
              </a:rPr>
              <a:t>40  </a:t>
            </a:r>
            <a:pPr indent="0" marL="0">
              <a:buNone/>
            </a:pPr>
            <a:r>
              <a:rPr lang="en-US" sz="740" dirty="0">
                <a:solidFill>
                  <a:srgbClr val="46606E"/>
                </a:solidFill>
                <a:latin typeface="IBM Plex Sans" pitchFamily="34" charset="0"/>
                <a:ea typeface="IBM Plex Sans" pitchFamily="34" charset="-122"/>
                <a:cs typeface="IBM Plex Sans" pitchFamily="34" charset="-120"/>
              </a:rPr>
              <a:t>Vazart-Coquart &amp; Fils</a:t>
            </a:r>
            <a:pPr indent="0" marL="0">
              <a:buNone/>
            </a:pPr>
            <a:r>
              <a:rPr lang="en-US" sz="740" b="1" dirty="0">
                <a:solidFill>
                  <a:srgbClr val="46606E"/>
                </a:solidFill>
                <a:latin typeface="IBM Plex Sans" pitchFamily="34" charset="0"/>
                <a:ea typeface="IBM Plex Sans" pitchFamily="34" charset="-122"/>
                <a:cs typeface="IBM Plex Sans" pitchFamily="34" charset="-120"/>
              </a:rPr>
              <a:t>   67</a:t>
            </a:r>
            <a:endParaRPr lang="en-US" sz="740" dirty="0"/>
          </a:p>
        </p:txBody>
      </p:sp>
      <p:sp>
        <p:nvSpPr>
          <p:cNvPr id="84" name="Text 8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a:t>
            </a:r>
            <a:endParaRPr lang="en-US" sz="750" dirty="0"/>
          </a:p>
        </p:txBody>
      </p:sp>
      <p:sp>
        <p:nvSpPr>
          <p:cNvPr id="85" name="Text 8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quatre alliances</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CE QUE L'ON PEUT MÉLANGER ENTRE DOMAINES</a:t>
            </a:r>
            <a:endParaRPr lang="en-US" sz="800" dirty="0"/>
          </a:p>
        </p:txBody>
      </p:sp>
      <p:sp>
        <p:nvSpPr>
          <p:cNvPr id="4" name="Text 2"/>
          <p:cNvSpPr/>
          <p:nvPr/>
        </p:nvSpPr>
        <p:spPr>
          <a:xfrm>
            <a:off x="612000" y="1296000"/>
            <a:ext cx="6120000" cy="432000"/>
          </a:xfrm>
          <a:prstGeom prst="rect">
            <a:avLst/>
          </a:prstGeom>
          <a:noFill/>
          <a:ln/>
        </p:spPr>
        <p:txBody>
          <a:bodyPr wrap="square" lIns="0" tIns="0" rIns="0" bIns="0" rtlCol="0" anchor="ctr"/>
          <a:lstStyle/>
          <a:p>
            <a:pPr indent="0" marL="0">
              <a:buNone/>
            </a:pPr>
            <a:r>
              <a:rPr lang="en-US" sz="950" dirty="0">
                <a:solidFill>
                  <a:srgbClr val="46606E"/>
                </a:solidFill>
                <a:latin typeface="Spectral" pitchFamily="34" charset="0"/>
                <a:ea typeface="Spectral" pitchFamily="34" charset="-122"/>
                <a:cs typeface="Spectral" pitchFamily="34" charset="-120"/>
              </a:rPr>
              <a:t>Partout ailleurs, « Possibilité de panacher » vaut </a:t>
            </a:r>
            <a:pPr indent="0" marL="0">
              <a:buNone/>
            </a:pPr>
            <a:r>
              <a:rPr lang="en-US" sz="950" b="1" dirty="0">
                <a:solidFill>
                  <a:srgbClr val="67067C"/>
                </a:solidFill>
                <a:latin typeface="Spectral" pitchFamily="34" charset="0"/>
                <a:ea typeface="Spectral" pitchFamily="34" charset="-122"/>
                <a:cs typeface="Spectral" pitchFamily="34" charset="-120"/>
              </a:rPr>
              <a:t>à l'intérieur d'un domaine</a:t>
            </a:r>
            <a:pPr indent="0" marL="0">
              <a:buNone/>
            </a:pPr>
            <a:r>
              <a:rPr lang="en-US" sz="950" dirty="0">
                <a:solidFill>
                  <a:srgbClr val="46606E"/>
                </a:solidFill>
                <a:latin typeface="Spectral" pitchFamily="34" charset="0"/>
                <a:ea typeface="Spectral" pitchFamily="34" charset="-122"/>
                <a:cs typeface="Spectral" pitchFamily="34" charset="-120"/>
              </a:rPr>
              <a:t>. Ces quatre groupes-là se panachent </a:t>
            </a:r>
            <a:pPr indent="0" marL="0">
              <a:buNone/>
            </a:pPr>
            <a:r>
              <a:rPr lang="en-US" sz="950" b="1" dirty="0">
                <a:solidFill>
                  <a:srgbClr val="67067C"/>
                </a:solidFill>
                <a:latin typeface="Spectral" pitchFamily="34" charset="0"/>
                <a:ea typeface="Spectral" pitchFamily="34" charset="-122"/>
                <a:cs typeface="Spectral" pitchFamily="34" charset="-120"/>
              </a:rPr>
              <a:t>entre eux</a:t>
            </a:r>
            <a:pPr indent="0" marL="0">
              <a:buNone/>
            </a:pPr>
            <a:r>
              <a:rPr lang="en-US" sz="950" dirty="0">
                <a:solidFill>
                  <a:srgbClr val="46606E"/>
                </a:solidFill>
                <a:latin typeface="Spectral" pitchFamily="34" charset="0"/>
                <a:ea typeface="Spectral" pitchFamily="34" charset="-122"/>
                <a:cs typeface="Spectral" pitchFamily="34" charset="-120"/>
              </a:rPr>
              <a:t> : une commande peut mélanger leurs vins pour atteindre un palier.</a:t>
            </a:r>
            <a:endParaRPr lang="en-US" sz="950" dirty="0"/>
          </a:p>
        </p:txBody>
      </p:sp>
      <p:sp>
        <p:nvSpPr>
          <p:cNvPr id="5" name="Shape 3"/>
          <p:cNvSpPr/>
          <p:nvPr/>
        </p:nvSpPr>
        <p:spPr>
          <a:xfrm>
            <a:off x="612000" y="1800000"/>
            <a:ext cx="6120000" cy="720000"/>
          </a:xfrm>
          <a:prstGeom prst="roundRect">
            <a:avLst>
              <a:gd name="adj" fmla="val 1524"/>
            </a:avLst>
          </a:prstGeom>
          <a:solidFill>
            <a:srgbClr val="FBF8F1"/>
          </a:solidFill>
          <a:ln w="15240">
            <a:solidFill>
              <a:srgbClr val="A8515F"/>
            </a:solidFill>
            <a:prstDash val="solid"/>
          </a:ln>
        </p:spPr>
      </p:sp>
      <p:sp>
        <p:nvSpPr>
          <p:cNvPr id="6" name="Text 4"/>
          <p:cNvSpPr/>
          <p:nvPr/>
        </p:nvSpPr>
        <p:spPr>
          <a:xfrm>
            <a:off x="756000" y="1872000"/>
            <a:ext cx="5832000" cy="252000"/>
          </a:xfrm>
          <a:prstGeom prst="rect">
            <a:avLst/>
          </a:prstGeom>
          <a:noFill/>
          <a:ln/>
        </p:spPr>
        <p:txBody>
          <a:bodyPr wrap="square" lIns="0" tIns="0" rIns="0" bIns="0" rtlCol="0" anchor="ctr"/>
          <a:lstStyle/>
          <a:p>
            <a:pPr indent="0" marL="0">
              <a:buNone/>
            </a:pPr>
            <a:r>
              <a:rPr lang="en-US" sz="1300" dirty="0">
                <a:solidFill>
                  <a:srgbClr val="A8515F"/>
                </a:solidFill>
                <a:latin typeface="Young Serif" pitchFamily="34" charset="0"/>
                <a:ea typeface="Young Serif" pitchFamily="34" charset="-122"/>
                <a:cs typeface="Young Serif" pitchFamily="34" charset="-120"/>
              </a:rPr>
              <a:t>Domaine Jean de Villebois et Divin No Low</a:t>
            </a:r>
            <a:endParaRPr lang="en-US" sz="1300" dirty="0"/>
          </a:p>
        </p:txBody>
      </p:sp>
      <p:sp>
        <p:nvSpPr>
          <p:cNvPr id="7" name="Text 5"/>
          <p:cNvSpPr/>
          <p:nvPr/>
        </p:nvSpPr>
        <p:spPr>
          <a:xfrm>
            <a:off x="792000" y="2160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6  </a:t>
            </a:r>
            <a:pPr indent="0" marL="0">
              <a:buNone/>
            </a:pPr>
            <a:r>
              <a:rPr lang="en-US" sz="800" b="1" dirty="0">
                <a:solidFill>
                  <a:srgbClr val="46606E"/>
                </a:solidFill>
                <a:latin typeface="IBM Plex Sans" pitchFamily="34" charset="0"/>
                <a:ea typeface="IBM Plex Sans" pitchFamily="34" charset="-122"/>
                <a:cs typeface="IBM Plex Sans" pitchFamily="34" charset="-120"/>
              </a:rPr>
              <a:t>Domaine Jean de Villebois  </a:t>
            </a:r>
            <a:pPr indent="0" marL="0">
              <a:buNone/>
            </a:pPr>
            <a:r>
              <a:rPr lang="en-US" sz="700" dirty="0">
                <a:solidFill>
                  <a:srgbClr val="A8515F"/>
                </a:solidFill>
                <a:latin typeface="IBM Plex Sans" pitchFamily="34" charset="0"/>
                <a:ea typeface="IBM Plex Sans" pitchFamily="34" charset="-122"/>
                <a:cs typeface="IBM Plex Sans" pitchFamily="34" charset="-120"/>
              </a:rPr>
              <a:t>Loire   </a:t>
            </a:r>
            <a:pPr indent="0" marL="0">
              <a:buNone/>
            </a:pPr>
            <a:r>
              <a:rPr lang="en-US" sz="800" b="1" dirty="0">
                <a:solidFill>
                  <a:srgbClr val="46606E"/>
                </a:solidFill>
                <a:latin typeface="IBM Plex Sans" pitchFamily="34" charset="0"/>
                <a:ea typeface="IBM Plex Sans" pitchFamily="34" charset="-122"/>
                <a:cs typeface="IBM Plex Sans" pitchFamily="34" charset="-120"/>
              </a:rPr>
              <a:t>p. 13</a:t>
            </a:r>
            <a:endParaRPr lang="en-US" sz="800" dirty="0"/>
          </a:p>
        </p:txBody>
      </p:sp>
      <p:sp>
        <p:nvSpPr>
          <p:cNvPr id="8" name="Text 6"/>
          <p:cNvSpPr/>
          <p:nvPr/>
        </p:nvSpPr>
        <p:spPr>
          <a:xfrm>
            <a:off x="3852000" y="2160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pPr indent="0" marL="0">
              <a:buNone/>
            </a:pPr>
            <a:r>
              <a:rPr lang="en-US" sz="800" b="1" dirty="0">
                <a:solidFill>
                  <a:srgbClr val="46606E"/>
                </a:solidFill>
                <a:latin typeface="IBM Plex Sans" pitchFamily="34" charset="0"/>
                <a:ea typeface="IBM Plex Sans" pitchFamily="34" charset="-122"/>
                <a:cs typeface="IBM Plex Sans" pitchFamily="34" charset="-120"/>
              </a:rPr>
              <a:t>Divin No Low  </a:t>
            </a:r>
            <a:pPr indent="0" marL="0">
              <a:buNone/>
            </a:pPr>
            <a:r>
              <a:rPr lang="en-US" sz="700" dirty="0">
                <a:solidFill>
                  <a:srgbClr val="A8515F"/>
                </a:solidFill>
                <a:latin typeface="IBM Plex Sans" pitchFamily="34" charset="0"/>
                <a:ea typeface="IBM Plex Sans" pitchFamily="34" charset="-122"/>
                <a:cs typeface="IBM Plex Sans" pitchFamily="34" charset="-120"/>
              </a:rPr>
              <a:t>Loire   </a:t>
            </a:r>
            <a:pPr indent="0" marL="0">
              <a:buNone/>
            </a:pPr>
            <a:r>
              <a:rPr lang="en-US" sz="800" b="1" dirty="0">
                <a:solidFill>
                  <a:srgbClr val="46606E"/>
                </a:solidFill>
                <a:latin typeface="IBM Plex Sans" pitchFamily="34" charset="0"/>
                <a:ea typeface="IBM Plex Sans" pitchFamily="34" charset="-122"/>
                <a:cs typeface="IBM Plex Sans" pitchFamily="34" charset="-120"/>
              </a:rPr>
              <a:t>p. 15</a:t>
            </a:r>
            <a:endParaRPr lang="en-US" sz="800" dirty="0"/>
          </a:p>
        </p:txBody>
      </p:sp>
      <p:sp>
        <p:nvSpPr>
          <p:cNvPr id="9" name="Shape 7"/>
          <p:cNvSpPr/>
          <p:nvPr/>
        </p:nvSpPr>
        <p:spPr>
          <a:xfrm>
            <a:off x="612000" y="2700000"/>
            <a:ext cx="6120000" cy="972000"/>
          </a:xfrm>
          <a:prstGeom prst="roundRect">
            <a:avLst>
              <a:gd name="adj" fmla="val 1129"/>
            </a:avLst>
          </a:prstGeom>
          <a:solidFill>
            <a:srgbClr val="FBF8F1"/>
          </a:solidFill>
          <a:ln w="15240">
            <a:solidFill>
              <a:srgbClr val="A8515F"/>
            </a:solidFill>
            <a:prstDash val="solid"/>
          </a:ln>
        </p:spPr>
      </p:sp>
      <p:sp>
        <p:nvSpPr>
          <p:cNvPr id="10" name="Text 8"/>
          <p:cNvSpPr/>
          <p:nvPr/>
        </p:nvSpPr>
        <p:spPr>
          <a:xfrm>
            <a:off x="756000" y="2772000"/>
            <a:ext cx="5832000" cy="252000"/>
          </a:xfrm>
          <a:prstGeom prst="rect">
            <a:avLst/>
          </a:prstGeom>
          <a:noFill/>
          <a:ln/>
        </p:spPr>
        <p:txBody>
          <a:bodyPr wrap="square" lIns="0" tIns="0" rIns="0" bIns="0" rtlCol="0" anchor="ctr"/>
          <a:lstStyle/>
          <a:p>
            <a:pPr indent="0" marL="0">
              <a:buNone/>
            </a:pPr>
            <a:r>
              <a:rPr lang="en-US" sz="1300" dirty="0">
                <a:solidFill>
                  <a:srgbClr val="A8515F"/>
                </a:solidFill>
                <a:latin typeface="Young Serif" pitchFamily="34" charset="0"/>
                <a:ea typeface="Young Serif" pitchFamily="34" charset="-122"/>
                <a:cs typeface="Young Serif" pitchFamily="34" charset="-120"/>
              </a:rPr>
              <a:t>Maison André Goichot, Château du Cray et Domaine Les Guignottes</a:t>
            </a:r>
            <a:endParaRPr lang="en-US" sz="1300" dirty="0"/>
          </a:p>
        </p:txBody>
      </p:sp>
      <p:sp>
        <p:nvSpPr>
          <p:cNvPr id="11" name="Text 9"/>
          <p:cNvSpPr/>
          <p:nvPr/>
        </p:nvSpPr>
        <p:spPr>
          <a:xfrm>
            <a:off x="792000" y="3060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12  </a:t>
            </a:r>
            <a:pPr indent="0" marL="0">
              <a:buNone/>
            </a:pPr>
            <a:r>
              <a:rPr lang="en-US" sz="800" b="1" dirty="0">
                <a:solidFill>
                  <a:srgbClr val="46606E"/>
                </a:solidFill>
                <a:latin typeface="IBM Plex Sans" pitchFamily="34" charset="0"/>
                <a:ea typeface="IBM Plex Sans" pitchFamily="34" charset="-122"/>
                <a:cs typeface="IBM Plex Sans" pitchFamily="34" charset="-120"/>
              </a:rPr>
              <a:t>Maison et Domaine André Goichot  </a:t>
            </a:r>
            <a:pPr indent="0" marL="0">
              <a:buNone/>
            </a:pPr>
            <a:r>
              <a:rPr lang="en-US" sz="700" dirty="0">
                <a:solidFill>
                  <a:srgbClr val="A8515F"/>
                </a:solidFill>
                <a:latin typeface="IBM Plex Sans" pitchFamily="34" charset="0"/>
                <a:ea typeface="IBM Plex Sans" pitchFamily="34" charset="-122"/>
                <a:cs typeface="IBM Plex Sans" pitchFamily="34" charset="-120"/>
              </a:rPr>
              <a:t>Bourgogne   </a:t>
            </a:r>
            <a:pPr indent="0" marL="0">
              <a:buNone/>
            </a:pPr>
            <a:r>
              <a:rPr lang="en-US" sz="800" b="1" dirty="0">
                <a:solidFill>
                  <a:srgbClr val="46606E"/>
                </a:solidFill>
                <a:latin typeface="IBM Plex Sans" pitchFamily="34" charset="0"/>
                <a:ea typeface="IBM Plex Sans" pitchFamily="34" charset="-122"/>
                <a:cs typeface="IBM Plex Sans" pitchFamily="34" charset="-120"/>
              </a:rPr>
              <a:t>p. 25</a:t>
            </a:r>
            <a:endParaRPr lang="en-US" sz="800" dirty="0"/>
          </a:p>
        </p:txBody>
      </p:sp>
      <p:sp>
        <p:nvSpPr>
          <p:cNvPr id="12" name="Text 10"/>
          <p:cNvSpPr/>
          <p:nvPr/>
        </p:nvSpPr>
        <p:spPr>
          <a:xfrm>
            <a:off x="3852000" y="3060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13  </a:t>
            </a:r>
            <a:pPr indent="0" marL="0">
              <a:buNone/>
            </a:pPr>
            <a:r>
              <a:rPr lang="en-US" sz="800" b="1" dirty="0">
                <a:solidFill>
                  <a:srgbClr val="46606E"/>
                </a:solidFill>
                <a:latin typeface="IBM Plex Sans" pitchFamily="34" charset="0"/>
                <a:ea typeface="IBM Plex Sans" pitchFamily="34" charset="-122"/>
                <a:cs typeface="IBM Plex Sans" pitchFamily="34" charset="-120"/>
              </a:rPr>
              <a:t>Château du Cray  </a:t>
            </a:r>
            <a:pPr indent="0" marL="0">
              <a:buNone/>
            </a:pPr>
            <a:r>
              <a:rPr lang="en-US" sz="700" dirty="0">
                <a:solidFill>
                  <a:srgbClr val="A8515F"/>
                </a:solidFill>
                <a:latin typeface="IBM Plex Sans" pitchFamily="34" charset="0"/>
                <a:ea typeface="IBM Plex Sans" pitchFamily="34" charset="-122"/>
                <a:cs typeface="IBM Plex Sans" pitchFamily="34" charset="-120"/>
              </a:rPr>
              <a:t>Bourgogne   </a:t>
            </a:r>
            <a:pPr indent="0" marL="0">
              <a:buNone/>
            </a:pPr>
            <a:r>
              <a:rPr lang="en-US" sz="800" b="1" dirty="0">
                <a:solidFill>
                  <a:srgbClr val="46606E"/>
                </a:solidFill>
                <a:latin typeface="IBM Plex Sans" pitchFamily="34" charset="0"/>
                <a:ea typeface="IBM Plex Sans" pitchFamily="34" charset="-122"/>
                <a:cs typeface="IBM Plex Sans" pitchFamily="34" charset="-120"/>
              </a:rPr>
              <a:t>p. 27</a:t>
            </a:r>
            <a:endParaRPr lang="en-US" sz="800" dirty="0"/>
          </a:p>
        </p:txBody>
      </p:sp>
      <p:sp>
        <p:nvSpPr>
          <p:cNvPr id="13" name="Text 11"/>
          <p:cNvSpPr/>
          <p:nvPr/>
        </p:nvSpPr>
        <p:spPr>
          <a:xfrm>
            <a:off x="792000" y="3312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14  </a:t>
            </a:r>
            <a:pPr indent="0" marL="0">
              <a:buNone/>
            </a:pPr>
            <a:r>
              <a:rPr lang="en-US" sz="800" b="1" dirty="0">
                <a:solidFill>
                  <a:srgbClr val="46606E"/>
                </a:solidFill>
                <a:latin typeface="IBM Plex Sans" pitchFamily="34" charset="0"/>
                <a:ea typeface="IBM Plex Sans" pitchFamily="34" charset="-122"/>
                <a:cs typeface="IBM Plex Sans" pitchFamily="34" charset="-120"/>
              </a:rPr>
              <a:t>Domaine Les Guignottes  </a:t>
            </a:r>
            <a:pPr indent="0" marL="0">
              <a:buNone/>
            </a:pPr>
            <a:r>
              <a:rPr lang="en-US" sz="700" dirty="0">
                <a:solidFill>
                  <a:srgbClr val="A8515F"/>
                </a:solidFill>
                <a:latin typeface="IBM Plex Sans" pitchFamily="34" charset="0"/>
                <a:ea typeface="IBM Plex Sans" pitchFamily="34" charset="-122"/>
                <a:cs typeface="IBM Plex Sans" pitchFamily="34" charset="-120"/>
              </a:rPr>
              <a:t>Bourgogne   </a:t>
            </a:r>
            <a:pPr indent="0" marL="0">
              <a:buNone/>
            </a:pPr>
            <a:r>
              <a:rPr lang="en-US" sz="800" b="1" dirty="0">
                <a:solidFill>
                  <a:srgbClr val="46606E"/>
                </a:solidFill>
                <a:latin typeface="IBM Plex Sans" pitchFamily="34" charset="0"/>
                <a:ea typeface="IBM Plex Sans" pitchFamily="34" charset="-122"/>
                <a:cs typeface="IBM Plex Sans" pitchFamily="34" charset="-120"/>
              </a:rPr>
              <a:t>p. 28</a:t>
            </a:r>
            <a:endParaRPr lang="en-US" sz="800" dirty="0"/>
          </a:p>
        </p:txBody>
      </p:sp>
      <p:sp>
        <p:nvSpPr>
          <p:cNvPr id="14" name="Shape 12"/>
          <p:cNvSpPr/>
          <p:nvPr/>
        </p:nvSpPr>
        <p:spPr>
          <a:xfrm>
            <a:off x="612000" y="3852000"/>
            <a:ext cx="6120000" cy="972000"/>
          </a:xfrm>
          <a:prstGeom prst="roundRect">
            <a:avLst>
              <a:gd name="adj" fmla="val 1129"/>
            </a:avLst>
          </a:prstGeom>
          <a:solidFill>
            <a:srgbClr val="FBF8F1"/>
          </a:solidFill>
          <a:ln w="15240">
            <a:solidFill>
              <a:srgbClr val="A8515F"/>
            </a:solidFill>
            <a:prstDash val="solid"/>
          </a:ln>
        </p:spPr>
      </p:sp>
      <p:sp>
        <p:nvSpPr>
          <p:cNvPr id="15" name="Text 13"/>
          <p:cNvSpPr/>
          <p:nvPr/>
        </p:nvSpPr>
        <p:spPr>
          <a:xfrm>
            <a:off x="756000" y="3924000"/>
            <a:ext cx="5832000" cy="252000"/>
          </a:xfrm>
          <a:prstGeom prst="rect">
            <a:avLst/>
          </a:prstGeom>
          <a:noFill/>
          <a:ln/>
        </p:spPr>
        <p:txBody>
          <a:bodyPr wrap="square" lIns="0" tIns="0" rIns="0" bIns="0" rtlCol="0" anchor="ctr"/>
          <a:lstStyle/>
          <a:p>
            <a:pPr indent="0" marL="0">
              <a:buNone/>
            </a:pPr>
            <a:r>
              <a:rPr lang="en-US" sz="1300" dirty="0">
                <a:solidFill>
                  <a:srgbClr val="A8515F"/>
                </a:solidFill>
                <a:latin typeface="Young Serif" pitchFamily="34" charset="0"/>
                <a:ea typeface="Young Serif" pitchFamily="34" charset="-122"/>
                <a:cs typeface="Young Serif" pitchFamily="34" charset="-120"/>
              </a:rPr>
              <a:t>Les quatre domaines Strasser Radziwill</a:t>
            </a:r>
            <a:endParaRPr lang="en-US" sz="1300" dirty="0"/>
          </a:p>
        </p:txBody>
      </p:sp>
      <p:sp>
        <p:nvSpPr>
          <p:cNvPr id="16" name="Text 14"/>
          <p:cNvSpPr/>
          <p:nvPr/>
        </p:nvSpPr>
        <p:spPr>
          <a:xfrm>
            <a:off x="792000" y="4212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16  </a:t>
            </a:r>
            <a:pPr indent="0" marL="0">
              <a:buNone/>
            </a:pPr>
            <a:r>
              <a:rPr lang="en-US" sz="800" b="1" dirty="0">
                <a:solidFill>
                  <a:srgbClr val="46606E"/>
                </a:solidFill>
                <a:latin typeface="IBM Plex Sans" pitchFamily="34" charset="0"/>
                <a:ea typeface="IBM Plex Sans" pitchFamily="34" charset="-122"/>
                <a:cs typeface="IBM Plex Sans" pitchFamily="34" charset="-120"/>
              </a:rPr>
              <a:t>Domaine Le Prieuré des Papes  </a:t>
            </a:r>
            <a:pPr indent="0" marL="0">
              <a:buNone/>
            </a:pPr>
            <a:r>
              <a:rPr lang="en-US" sz="700" dirty="0">
                <a:solidFill>
                  <a:srgbClr val="A8515F"/>
                </a:solidFill>
                <a:latin typeface="IBM Plex Sans" pitchFamily="34" charset="0"/>
                <a:ea typeface="IBM Plex Sans" pitchFamily="34" charset="-122"/>
                <a:cs typeface="IBM Plex Sans" pitchFamily="34" charset="-120"/>
              </a:rPr>
              <a:t>Rhône   </a:t>
            </a:r>
            <a:pPr indent="0" marL="0">
              <a:buNone/>
            </a:pPr>
            <a:r>
              <a:rPr lang="en-US" sz="800" b="1" dirty="0">
                <a:solidFill>
                  <a:srgbClr val="46606E"/>
                </a:solidFill>
                <a:latin typeface="IBM Plex Sans" pitchFamily="34" charset="0"/>
                <a:ea typeface="IBM Plex Sans" pitchFamily="34" charset="-122"/>
                <a:cs typeface="IBM Plex Sans" pitchFamily="34" charset="-120"/>
              </a:rPr>
              <a:t>p. 31</a:t>
            </a:r>
            <a:endParaRPr lang="en-US" sz="800" dirty="0"/>
          </a:p>
        </p:txBody>
      </p:sp>
      <p:sp>
        <p:nvSpPr>
          <p:cNvPr id="17" name="Text 15"/>
          <p:cNvSpPr/>
          <p:nvPr/>
        </p:nvSpPr>
        <p:spPr>
          <a:xfrm>
            <a:off x="3852000" y="4212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17  </a:t>
            </a:r>
            <a:pPr indent="0" marL="0">
              <a:buNone/>
            </a:pPr>
            <a:r>
              <a:rPr lang="en-US" sz="800" b="1" dirty="0">
                <a:solidFill>
                  <a:srgbClr val="46606E"/>
                </a:solidFill>
                <a:latin typeface="IBM Plex Sans" pitchFamily="34" charset="0"/>
                <a:ea typeface="IBM Plex Sans" pitchFamily="34" charset="-122"/>
                <a:cs typeface="IBM Plex Sans" pitchFamily="34" charset="-120"/>
              </a:rPr>
              <a:t>Domaine de Coyeux  </a:t>
            </a:r>
            <a:pPr indent="0" marL="0">
              <a:buNone/>
            </a:pPr>
            <a:r>
              <a:rPr lang="en-US" sz="700" dirty="0">
                <a:solidFill>
                  <a:srgbClr val="A8515F"/>
                </a:solidFill>
                <a:latin typeface="IBM Plex Sans" pitchFamily="34" charset="0"/>
                <a:ea typeface="IBM Plex Sans" pitchFamily="34" charset="-122"/>
                <a:cs typeface="IBM Plex Sans" pitchFamily="34" charset="-120"/>
              </a:rPr>
              <a:t>Rhône   </a:t>
            </a:r>
            <a:pPr indent="0" marL="0">
              <a:buNone/>
            </a:pPr>
            <a:r>
              <a:rPr lang="en-US" sz="800" b="1" dirty="0">
                <a:solidFill>
                  <a:srgbClr val="46606E"/>
                </a:solidFill>
                <a:latin typeface="IBM Plex Sans" pitchFamily="34" charset="0"/>
                <a:ea typeface="IBM Plex Sans" pitchFamily="34" charset="-122"/>
                <a:cs typeface="IBM Plex Sans" pitchFamily="34" charset="-120"/>
              </a:rPr>
              <a:t>p. 32</a:t>
            </a:r>
            <a:endParaRPr lang="en-US" sz="800" dirty="0"/>
          </a:p>
        </p:txBody>
      </p:sp>
      <p:sp>
        <p:nvSpPr>
          <p:cNvPr id="18" name="Text 16"/>
          <p:cNvSpPr/>
          <p:nvPr/>
        </p:nvSpPr>
        <p:spPr>
          <a:xfrm>
            <a:off x="792000" y="4464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18  </a:t>
            </a:r>
            <a:pPr indent="0" marL="0">
              <a:buNone/>
            </a:pPr>
            <a:r>
              <a:rPr lang="en-US" sz="800" b="1" dirty="0">
                <a:solidFill>
                  <a:srgbClr val="46606E"/>
                </a:solidFill>
                <a:latin typeface="IBM Plex Sans" pitchFamily="34" charset="0"/>
                <a:ea typeface="IBM Plex Sans" pitchFamily="34" charset="-122"/>
                <a:cs typeface="IBM Plex Sans" pitchFamily="34" charset="-120"/>
              </a:rPr>
              <a:t>Domaine du Moulin Blanc  </a:t>
            </a:r>
            <a:pPr indent="0" marL="0">
              <a:buNone/>
            </a:pPr>
            <a:r>
              <a:rPr lang="en-US" sz="700" dirty="0">
                <a:solidFill>
                  <a:srgbClr val="A8515F"/>
                </a:solidFill>
                <a:latin typeface="IBM Plex Sans" pitchFamily="34" charset="0"/>
                <a:ea typeface="IBM Plex Sans" pitchFamily="34" charset="-122"/>
                <a:cs typeface="IBM Plex Sans" pitchFamily="34" charset="-120"/>
              </a:rPr>
              <a:t>Rhône   </a:t>
            </a:r>
            <a:pPr indent="0" marL="0">
              <a:buNone/>
            </a:pPr>
            <a:r>
              <a:rPr lang="en-US" sz="800" b="1" dirty="0">
                <a:solidFill>
                  <a:srgbClr val="46606E"/>
                </a:solidFill>
                <a:latin typeface="IBM Plex Sans" pitchFamily="34" charset="0"/>
                <a:ea typeface="IBM Plex Sans" pitchFamily="34" charset="-122"/>
                <a:cs typeface="IBM Plex Sans" pitchFamily="34" charset="-120"/>
              </a:rPr>
              <a:t>p. 33</a:t>
            </a:r>
            <a:endParaRPr lang="en-US" sz="800" dirty="0"/>
          </a:p>
        </p:txBody>
      </p:sp>
      <p:sp>
        <p:nvSpPr>
          <p:cNvPr id="19" name="Text 17"/>
          <p:cNvSpPr/>
          <p:nvPr/>
        </p:nvSpPr>
        <p:spPr>
          <a:xfrm>
            <a:off x="3852000" y="4464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19  </a:t>
            </a:r>
            <a:pPr indent="0" marL="0">
              <a:buNone/>
            </a:pPr>
            <a:r>
              <a:rPr lang="en-US" sz="800" b="1" dirty="0">
                <a:solidFill>
                  <a:srgbClr val="46606E"/>
                </a:solidFill>
                <a:latin typeface="IBM Plex Sans" pitchFamily="34" charset="0"/>
                <a:ea typeface="IBM Plex Sans" pitchFamily="34" charset="-122"/>
                <a:cs typeface="IBM Plex Sans" pitchFamily="34" charset="-120"/>
              </a:rPr>
              <a:t>Domaine de la Pousterle  </a:t>
            </a:r>
            <a:pPr indent="0" marL="0">
              <a:buNone/>
            </a:pPr>
            <a:r>
              <a:rPr lang="en-US" sz="700" dirty="0">
                <a:solidFill>
                  <a:srgbClr val="A8515F"/>
                </a:solidFill>
                <a:latin typeface="IBM Plex Sans" pitchFamily="34" charset="0"/>
                <a:ea typeface="IBM Plex Sans" pitchFamily="34" charset="-122"/>
                <a:cs typeface="IBM Plex Sans" pitchFamily="34" charset="-120"/>
              </a:rPr>
              <a:t>Rhône   </a:t>
            </a:r>
            <a:pPr indent="0" marL="0">
              <a:buNone/>
            </a:pPr>
            <a:r>
              <a:rPr lang="en-US" sz="800" b="1" dirty="0">
                <a:solidFill>
                  <a:srgbClr val="46606E"/>
                </a:solidFill>
                <a:latin typeface="IBM Plex Sans" pitchFamily="34" charset="0"/>
                <a:ea typeface="IBM Plex Sans" pitchFamily="34" charset="-122"/>
                <a:cs typeface="IBM Plex Sans" pitchFamily="34" charset="-120"/>
              </a:rPr>
              <a:t>p. 34</a:t>
            </a:r>
            <a:endParaRPr lang="en-US" sz="800" dirty="0"/>
          </a:p>
        </p:txBody>
      </p:sp>
      <p:sp>
        <p:nvSpPr>
          <p:cNvPr id="20" name="Shape 18"/>
          <p:cNvSpPr/>
          <p:nvPr/>
        </p:nvSpPr>
        <p:spPr>
          <a:xfrm>
            <a:off x="612000" y="5004000"/>
            <a:ext cx="6120000" cy="720000"/>
          </a:xfrm>
          <a:prstGeom prst="roundRect">
            <a:avLst>
              <a:gd name="adj" fmla="val 1524"/>
            </a:avLst>
          </a:prstGeom>
          <a:solidFill>
            <a:srgbClr val="FBF8F1"/>
          </a:solidFill>
          <a:ln w="15240">
            <a:solidFill>
              <a:srgbClr val="A8515F"/>
            </a:solidFill>
            <a:prstDash val="solid"/>
          </a:ln>
        </p:spPr>
      </p:sp>
      <p:sp>
        <p:nvSpPr>
          <p:cNvPr id="21" name="Text 19"/>
          <p:cNvSpPr/>
          <p:nvPr/>
        </p:nvSpPr>
        <p:spPr>
          <a:xfrm>
            <a:off x="756000" y="5076000"/>
            <a:ext cx="5832000" cy="252000"/>
          </a:xfrm>
          <a:prstGeom prst="rect">
            <a:avLst/>
          </a:prstGeom>
          <a:noFill/>
          <a:ln/>
        </p:spPr>
        <p:txBody>
          <a:bodyPr wrap="square" lIns="0" tIns="0" rIns="0" bIns="0" rtlCol="0" anchor="ctr"/>
          <a:lstStyle/>
          <a:p>
            <a:pPr indent="0" marL="0">
              <a:buNone/>
            </a:pPr>
            <a:r>
              <a:rPr lang="en-US" sz="1300" dirty="0">
                <a:solidFill>
                  <a:srgbClr val="A8515F"/>
                </a:solidFill>
                <a:latin typeface="Young Serif" pitchFamily="34" charset="0"/>
                <a:ea typeface="Young Serif" pitchFamily="34" charset="-122"/>
                <a:cs typeface="Young Serif" pitchFamily="34" charset="-120"/>
              </a:rPr>
              <a:t>Famille d’Exea : les vins et les jus de cépages</a:t>
            </a:r>
            <a:endParaRPr lang="en-US" sz="1300" dirty="0"/>
          </a:p>
        </p:txBody>
      </p:sp>
      <p:sp>
        <p:nvSpPr>
          <p:cNvPr id="22" name="Text 20"/>
          <p:cNvSpPr/>
          <p:nvPr/>
        </p:nvSpPr>
        <p:spPr>
          <a:xfrm>
            <a:off x="792000" y="5364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32  </a:t>
            </a:r>
            <a:pPr indent="0" marL="0">
              <a:buNone/>
            </a:pPr>
            <a:r>
              <a:rPr lang="en-US" sz="800" b="1" dirty="0">
                <a:solidFill>
                  <a:srgbClr val="46606E"/>
                </a:solidFill>
                <a:latin typeface="IBM Plex Sans" pitchFamily="34" charset="0"/>
                <a:ea typeface="IBM Plex Sans" pitchFamily="34" charset="-122"/>
                <a:cs typeface="IBM Plex Sans" pitchFamily="34" charset="-120"/>
              </a:rPr>
              <a:t>Famille d’Exea  </a:t>
            </a:r>
            <a:pPr indent="0" marL="0">
              <a:buNone/>
            </a:pPr>
            <a:r>
              <a:rPr lang="en-US" sz="700" dirty="0">
                <a:solidFill>
                  <a:srgbClr val="A8515F"/>
                </a:solidFill>
                <a:latin typeface="IBM Plex Sans" pitchFamily="34" charset="0"/>
                <a:ea typeface="IBM Plex Sans" pitchFamily="34" charset="-122"/>
                <a:cs typeface="IBM Plex Sans" pitchFamily="34" charset="-120"/>
              </a:rPr>
              <a:t>Languedoc   </a:t>
            </a:r>
            <a:pPr indent="0" marL="0">
              <a:buNone/>
            </a:pPr>
            <a:r>
              <a:rPr lang="en-US" sz="800" b="1" dirty="0">
                <a:solidFill>
                  <a:srgbClr val="46606E"/>
                </a:solidFill>
                <a:latin typeface="IBM Plex Sans" pitchFamily="34" charset="0"/>
                <a:ea typeface="IBM Plex Sans" pitchFamily="34" charset="-122"/>
                <a:cs typeface="IBM Plex Sans" pitchFamily="34" charset="-120"/>
              </a:rPr>
              <a:t>p. 56</a:t>
            </a:r>
            <a:endParaRPr lang="en-US" sz="800" dirty="0"/>
          </a:p>
        </p:txBody>
      </p:sp>
      <p:sp>
        <p:nvSpPr>
          <p:cNvPr id="23" name="Text 21"/>
          <p:cNvSpPr/>
          <p:nvPr/>
        </p:nvSpPr>
        <p:spPr>
          <a:xfrm>
            <a:off x="3852000" y="5364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33  </a:t>
            </a:r>
            <a:pPr indent="0" marL="0">
              <a:buNone/>
            </a:pPr>
            <a:r>
              <a:rPr lang="en-US" sz="800" b="1" dirty="0">
                <a:solidFill>
                  <a:srgbClr val="46606E"/>
                </a:solidFill>
                <a:latin typeface="IBM Plex Sans" pitchFamily="34" charset="0"/>
                <a:ea typeface="IBM Plex Sans" pitchFamily="34" charset="-122"/>
                <a:cs typeface="IBM Plex Sans" pitchFamily="34" charset="-120"/>
              </a:rPr>
              <a:t>Famille d’Exea — Jus de Cépages  </a:t>
            </a:r>
            <a:pPr indent="0" marL="0">
              <a:buNone/>
            </a:pPr>
            <a:r>
              <a:rPr lang="en-US" sz="700" dirty="0">
                <a:solidFill>
                  <a:srgbClr val="A8515F"/>
                </a:solidFill>
                <a:latin typeface="IBM Plex Sans" pitchFamily="34" charset="0"/>
                <a:ea typeface="IBM Plex Sans" pitchFamily="34" charset="-122"/>
                <a:cs typeface="IBM Plex Sans" pitchFamily="34" charset="-120"/>
              </a:rPr>
              <a:t>Languedoc   </a:t>
            </a:r>
            <a:pPr indent="0" marL="0">
              <a:buNone/>
            </a:pPr>
            <a:r>
              <a:rPr lang="en-US" sz="800" b="1" dirty="0">
                <a:solidFill>
                  <a:srgbClr val="46606E"/>
                </a:solidFill>
                <a:latin typeface="IBM Plex Sans" pitchFamily="34" charset="0"/>
                <a:ea typeface="IBM Plex Sans" pitchFamily="34" charset="-122"/>
                <a:cs typeface="IBM Plex Sans" pitchFamily="34" charset="-120"/>
              </a:rPr>
              <a:t>p. 58</a:t>
            </a:r>
            <a:endParaRPr lang="en-US" sz="800" dirty="0"/>
          </a:p>
        </p:txBody>
      </p:sp>
      <p:sp>
        <p:nvSpPr>
          <p:cNvPr id="24" name="Text 22"/>
          <p:cNvSpPr/>
          <p:nvPr/>
        </p:nvSpPr>
        <p:spPr>
          <a:xfrm>
            <a:off x="612000" y="8460000"/>
            <a:ext cx="6120000" cy="288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Les paliers restent ceux de chaque domaine : le panachage permet d’atteindre la quantité, il ne change pas le tarif de la bouteille.</a:t>
            </a:r>
            <a:endParaRPr lang="en-US" sz="860" dirty="0"/>
          </a:p>
        </p:txBody>
      </p:sp>
      <p:sp>
        <p:nvSpPr>
          <p:cNvPr id="25" name="Text 2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a:t>
            </a:r>
            <a:endParaRPr lang="en-US" sz="750" dirty="0"/>
          </a:p>
        </p:txBody>
      </p:sp>
      <p:sp>
        <p:nvSpPr>
          <p:cNvPr id="26" name="Text 2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loir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loir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1 / 10</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Loire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schistes et tuffeau</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7</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68</a:t>
            </a:r>
            <a:endParaRPr lang="en-US" sz="2000" dirty="0"/>
          </a:p>
        </p:txBody>
      </p:sp>
      <p:sp>
        <p:nvSpPr>
          <p:cNvPr id="11" name="Text 7"/>
          <p:cNvSpPr/>
          <p:nvPr/>
        </p:nvSpPr>
        <p:spPr>
          <a:xfrm>
            <a:off x="1836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   </a:t>
            </a:r>
            <a:pPr indent="0" marL="0">
              <a:buNone/>
            </a:pPr>
            <a:r>
              <a:rPr lang="en-US" sz="860" dirty="0">
                <a:solidFill>
                  <a:srgbClr val="FBF8F1"/>
                </a:solidFill>
                <a:latin typeface="IBM Plex Sans" pitchFamily="34" charset="0"/>
                <a:ea typeface="IBM Plex Sans" pitchFamily="34" charset="-122"/>
                <a:cs typeface="IBM Plex Sans" pitchFamily="34" charset="-120"/>
              </a:rPr>
              <a:t>François Reverdy</a:t>
            </a:r>
            <a:pPr indent="0" marL="0">
              <a:buNone/>
            </a:pPr>
            <a:r>
              <a:rPr lang="en-US" sz="860" b="1" dirty="0">
                <a:solidFill>
                  <a:srgbClr val="FBF8F1"/>
                </a:solidFill>
                <a:latin typeface="IBM Plex Sans" pitchFamily="34" charset="0"/>
                <a:ea typeface="IBM Plex Sans" pitchFamily="34" charset="-122"/>
                <a:cs typeface="IBM Plex Sans" pitchFamily="34" charset="-120"/>
              </a:rPr>
              <a:t>   7</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   </a:t>
            </a:r>
            <a:pPr indent="0" marL="0">
              <a:buNone/>
            </a:pPr>
            <a:r>
              <a:rPr lang="en-US" sz="860" dirty="0">
                <a:solidFill>
                  <a:srgbClr val="FBF8F1"/>
                </a:solidFill>
                <a:latin typeface="IBM Plex Sans" pitchFamily="34" charset="0"/>
                <a:ea typeface="IBM Plex Sans" pitchFamily="34" charset="-122"/>
                <a:cs typeface="IBM Plex Sans" pitchFamily="34" charset="-120"/>
              </a:rPr>
              <a:t>Domaine de la Barbinière</a:t>
            </a:r>
            <a:pPr indent="0" marL="0">
              <a:buNone/>
            </a:pPr>
            <a:r>
              <a:rPr lang="en-US" sz="860" b="1" dirty="0">
                <a:solidFill>
                  <a:srgbClr val="FBF8F1"/>
                </a:solidFill>
                <a:latin typeface="IBM Plex Sans" pitchFamily="34" charset="0"/>
                <a:ea typeface="IBM Plex Sans" pitchFamily="34" charset="-122"/>
                <a:cs typeface="IBM Plex Sans" pitchFamily="34" charset="-120"/>
              </a:rPr>
              <a:t>   8</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   </a:t>
            </a:r>
            <a:pPr indent="0" marL="0">
              <a:buNone/>
            </a:pPr>
            <a:r>
              <a:rPr lang="en-US" sz="860" dirty="0">
                <a:solidFill>
                  <a:srgbClr val="FBF8F1"/>
                </a:solidFill>
                <a:latin typeface="IBM Plex Sans" pitchFamily="34" charset="0"/>
                <a:ea typeface="IBM Plex Sans" pitchFamily="34" charset="-122"/>
                <a:cs typeface="IBM Plex Sans" pitchFamily="34" charset="-120"/>
              </a:rPr>
              <a:t>Domaine du Colombier / J.Y Bretaudeau</a:t>
            </a:r>
            <a:pPr indent="0" marL="0">
              <a:buNone/>
            </a:pPr>
            <a:r>
              <a:rPr lang="en-US" sz="860" b="1" dirty="0">
                <a:solidFill>
                  <a:srgbClr val="FBF8F1"/>
                </a:solidFill>
                <a:latin typeface="IBM Plex Sans" pitchFamily="34" charset="0"/>
                <a:ea typeface="IBM Plex Sans" pitchFamily="34" charset="-122"/>
                <a:cs typeface="IBM Plex Sans" pitchFamily="34" charset="-120"/>
              </a:rPr>
              <a:t>   9</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4   </a:t>
            </a:r>
            <a:pPr indent="0" marL="0">
              <a:buNone/>
            </a:pPr>
            <a:r>
              <a:rPr lang="en-US" sz="860" dirty="0">
                <a:solidFill>
                  <a:srgbClr val="FBF8F1"/>
                </a:solidFill>
                <a:latin typeface="IBM Plex Sans" pitchFamily="34" charset="0"/>
                <a:ea typeface="IBM Plex Sans" pitchFamily="34" charset="-122"/>
                <a:cs typeface="IBM Plex Sans" pitchFamily="34" charset="-120"/>
              </a:rPr>
              <a:t>Domaine des Noëls</a:t>
            </a:r>
            <a:pPr indent="0" marL="0">
              <a:buNone/>
            </a:pPr>
            <a:r>
              <a:rPr lang="en-US" sz="860" b="1" dirty="0">
                <a:solidFill>
                  <a:srgbClr val="FBF8F1"/>
                </a:solidFill>
                <a:latin typeface="IBM Plex Sans" pitchFamily="34" charset="0"/>
                <a:ea typeface="IBM Plex Sans" pitchFamily="34" charset="-122"/>
                <a:cs typeface="IBM Plex Sans" pitchFamily="34" charset="-120"/>
              </a:rPr>
              <a:t>   11</a:t>
            </a:r>
            <a:endParaRPr lang="en-US" sz="860" dirty="0"/>
          </a:p>
        </p:txBody>
      </p:sp>
      <p:sp>
        <p:nvSpPr>
          <p:cNvPr id="16" name="Text 12"/>
          <p:cNvSpPr/>
          <p:nvPr/>
        </p:nvSpPr>
        <p:spPr>
          <a:xfrm>
            <a:off x="82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5   </a:t>
            </a:r>
            <a:pPr indent="0" marL="0">
              <a:buNone/>
            </a:pPr>
            <a:r>
              <a:rPr lang="en-US" sz="860" dirty="0">
                <a:solidFill>
                  <a:srgbClr val="FBF8F1"/>
                </a:solidFill>
                <a:latin typeface="IBM Plex Sans" pitchFamily="34" charset="0"/>
                <a:ea typeface="IBM Plex Sans" pitchFamily="34" charset="-122"/>
                <a:cs typeface="IBM Plex Sans" pitchFamily="34" charset="-120"/>
              </a:rPr>
              <a:t>Chai Berteaud Manceau</a:t>
            </a:r>
            <a:pPr indent="0" marL="0">
              <a:buNone/>
            </a:pPr>
            <a:r>
              <a:rPr lang="en-US" sz="860" b="1" dirty="0">
                <a:solidFill>
                  <a:srgbClr val="FBF8F1"/>
                </a:solidFill>
                <a:latin typeface="IBM Plex Sans" pitchFamily="34" charset="0"/>
                <a:ea typeface="IBM Plex Sans" pitchFamily="34" charset="-122"/>
                <a:cs typeface="IBM Plex Sans" pitchFamily="34" charset="-120"/>
              </a:rPr>
              <a:t>   12</a:t>
            </a:r>
            <a:endParaRPr lang="en-US" sz="860" dirty="0"/>
          </a:p>
        </p:txBody>
      </p:sp>
      <p:sp>
        <p:nvSpPr>
          <p:cNvPr id="17" name="Text 13"/>
          <p:cNvSpPr/>
          <p:nvPr/>
        </p:nvSpPr>
        <p:spPr>
          <a:xfrm>
            <a:off x="388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6   </a:t>
            </a:r>
            <a:pPr indent="0" marL="0">
              <a:buNone/>
            </a:pPr>
            <a:r>
              <a:rPr lang="en-US" sz="860" dirty="0">
                <a:solidFill>
                  <a:srgbClr val="FBF8F1"/>
                </a:solidFill>
                <a:latin typeface="IBM Plex Sans" pitchFamily="34" charset="0"/>
                <a:ea typeface="IBM Plex Sans" pitchFamily="34" charset="-122"/>
                <a:cs typeface="IBM Plex Sans" pitchFamily="34" charset="-120"/>
              </a:rPr>
              <a:t>Domaine Jean de Villebois</a:t>
            </a:r>
            <a:pPr indent="0" marL="0">
              <a:buNone/>
            </a:pPr>
            <a:r>
              <a:rPr lang="en-US" sz="860" b="1" dirty="0">
                <a:solidFill>
                  <a:srgbClr val="FBF8F1"/>
                </a:solidFill>
                <a:latin typeface="IBM Plex Sans" pitchFamily="34" charset="0"/>
                <a:ea typeface="IBM Plex Sans" pitchFamily="34" charset="-122"/>
                <a:cs typeface="IBM Plex Sans" pitchFamily="34" charset="-120"/>
              </a:rPr>
              <a:t>   13</a:t>
            </a:r>
            <a:endParaRPr lang="en-US" sz="860" dirty="0"/>
          </a:p>
        </p:txBody>
      </p:sp>
      <p:sp>
        <p:nvSpPr>
          <p:cNvPr id="18" name="Text 14"/>
          <p:cNvSpPr/>
          <p:nvPr/>
        </p:nvSpPr>
        <p:spPr>
          <a:xfrm>
            <a:off x="828000" y="7884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pPr indent="0" marL="0">
              <a:buNone/>
            </a:pPr>
            <a:r>
              <a:rPr lang="en-US" sz="860" dirty="0">
                <a:solidFill>
                  <a:srgbClr val="FBF8F1"/>
                </a:solidFill>
                <a:latin typeface="IBM Plex Sans" pitchFamily="34" charset="0"/>
                <a:ea typeface="IBM Plex Sans" pitchFamily="34" charset="-122"/>
                <a:cs typeface="IBM Plex Sans" pitchFamily="34" charset="-120"/>
              </a:rPr>
              <a:t>Divin No Low</a:t>
            </a:r>
            <a:pPr indent="0" marL="0">
              <a:buNone/>
            </a:pPr>
            <a:r>
              <a:rPr lang="en-US" sz="860" b="1" dirty="0">
                <a:solidFill>
                  <a:srgbClr val="FBF8F1"/>
                </a:solidFill>
                <a:latin typeface="IBM Plex Sans" pitchFamily="34" charset="0"/>
                <a:ea typeface="IBM Plex Sans" pitchFamily="34" charset="-122"/>
                <a:cs typeface="IBM Plex Sans" pitchFamily="34" charset="-120"/>
              </a:rPr>
              <a:t>   15</a:t>
            </a:r>
            <a:endParaRPr lang="en-US" sz="860" dirty="0"/>
          </a:p>
        </p:txBody>
      </p:sp>
      <p:sp>
        <p:nvSpPr>
          <p:cNvPr id="19" name="Text 15"/>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6</a:t>
            </a:r>
            <a:endParaRPr lang="en-US" sz="750" dirty="0"/>
          </a:p>
        </p:txBody>
      </p:sp>
      <p:sp>
        <p:nvSpPr>
          <p:cNvPr id="20" name="Text 16"/>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François Reverdy</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494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94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3" name="Image 1" descr="portrait du vigneron, noir et blanc — François Reverdy">    </p:cNvPr>
          <p:cNvPicPr>
            <a:picLocks noChangeAspect="1"/>
          </p:cNvPicPr>
          <p:nvPr/>
        </p:nvPicPr>
        <p:blipFill>
          <a:blip r:embed="rId2"/>
          <a:srcRect l="2263" r="2470" t="0" b="0"/>
          <a:stretch/>
        </p:blipFill>
        <p:spPr>
          <a:xfrm>
            <a:off x="612000" y="1357200"/>
            <a:ext cx="1440000" cy="1440000"/>
          </a:xfrm>
          <a:prstGeom prst="ellipse">
            <a:avLst/>
          </a:prstGeom>
        </p:spPr>
      </p:pic>
      <p:pic>
        <p:nvPicPr>
          <p:cNvPr id="14" name="Image 2" descr="Une bouteille du domaine François Reverdy">    </p:cNvPr>
          <p:cNvPicPr>
            <a:picLocks noChangeAspect="1"/>
          </p:cNvPicPr>
          <p:nvPr/>
        </p:nvPicPr>
        <p:blipFill>
          <a:blip r:embed="rId3"/>
          <a:stretch>
            <a:fillRect/>
          </a:stretch>
        </p:blipFill>
        <p:spPr>
          <a:xfrm>
            <a:off x="5992033" y="1357200"/>
            <a:ext cx="615934" cy="2232000"/>
          </a:xfrm>
          <a:prstGeom prst="rect">
            <a:avLst/>
          </a:prstGeom>
        </p:spPr>
      </p:pic>
      <p:sp>
        <p:nvSpPr>
          <p:cNvPr id="15" name="Text 10"/>
          <p:cNvSpPr/>
          <p:nvPr/>
        </p:nvSpPr>
        <p:spPr>
          <a:xfrm>
            <a:off x="2232000" y="1357200"/>
            <a:ext cx="3456000" cy="2231900"/>
          </a:xfrm>
          <a:prstGeom prst="rect">
            <a:avLst/>
          </a:prstGeom>
          <a:noFill/>
          <a:ln/>
        </p:spPr>
        <p:txBody>
          <a:bodyPr wrap="square" lIns="0" tIns="0" rIns="0" bIns="0" rtlCol="0" anchor="ctr"/>
          <a:lstStyle/>
          <a:p>
            <a:pPr indent="0" marL="0">
              <a:lnSpc>
                <a:spcPct val="142000"/>
              </a:lnSpc>
              <a:buNone/>
            </a:pPr>
            <a:r>
              <a:rPr lang="en-US" sz="2200" dirty="0">
                <a:solidFill>
                  <a:srgbClr val="67067C"/>
                </a:solidFill>
                <a:latin typeface="Young Serif" pitchFamily="34" charset="0"/>
                <a:ea typeface="Young Serif" pitchFamily="34" charset="-122"/>
                <a:cs typeface="Young Serif" pitchFamily="34" charset="-120"/>
              </a:rPr>
              <a:t>C</a:t>
            </a:r>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réés ex nihilo en 2023, deux vignobles jardins conduits en agriculture biologique : l'un à Sancerre, où François Reverdy est le plus petit vigneron de l'appellation, l'autre à Roiffé entre Saumur et Chinon, en vieilles vignes de Grolleau noir, Cabernet Franc et Chenin blanc. Vendanges à la main et vins éco-conçus, en Anjou, Saumur, Chinon, Quincy et Sancerre.</a:t>
            </a:r>
            <a:endParaRPr lang="en-US" sz="1225"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Jusqu'à 36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48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Schistes Vert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14,75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Saumur</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Tuffeau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Chinon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Franc / Graves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14,75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13,75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Graves Argileuses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Les Villaudes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Grolleau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Grange Jaumain – Chenin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Grange Jaumain – Les Soudannes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Text 11"/>
          <p:cNvSpPr/>
          <p:nvPr/>
        </p:nvSpPr>
        <p:spPr>
          <a:xfrm>
            <a:off x="612000" y="728272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18" name="Image 3" descr="/home/user/philippe1/build/deco/sol-loire.png">    </p:cNvPr>
          <p:cNvPicPr>
            <a:picLocks noChangeAspect="1"/>
          </p:cNvPicPr>
          <p:nvPr/>
        </p:nvPicPr>
        <p:blipFill>
          <a:blip r:embed="rId4"/>
          <a:stretch>
            <a:fillRect/>
          </a:stretch>
        </p:blipFill>
        <p:spPr>
          <a:xfrm>
            <a:off x="612000" y="7430326"/>
            <a:ext cx="6120000" cy="657953"/>
          </a:xfrm>
          <a:prstGeom prst="rect">
            <a:avLst/>
          </a:prstGeom>
        </p:spPr>
      </p:pic>
      <p:sp>
        <p:nvSpPr>
          <p:cNvPr id="19" name="Shape 12"/>
          <p:cNvSpPr/>
          <p:nvPr/>
        </p:nvSpPr>
        <p:spPr>
          <a:xfrm>
            <a:off x="612000" y="8388000"/>
            <a:ext cx="6120000" cy="0"/>
          </a:xfrm>
          <a:prstGeom prst="line">
            <a:avLst/>
          </a:prstGeom>
          <a:noFill/>
          <a:ln w="8890">
            <a:solidFill>
              <a:srgbClr val="46606E"/>
            </a:solidFill>
            <a:prstDash val="solid"/>
          </a:ln>
        </p:spPr>
      </p:sp>
      <p:sp>
        <p:nvSpPr>
          <p:cNvPr id="20" name="Text 13"/>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1" name="Text 14"/>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3"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a:t>
            </a:r>
            <a:endParaRPr lang="en-US" sz="750" dirty="0"/>
          </a:p>
        </p:txBody>
      </p:sp>
      <p:sp>
        <p:nvSpPr>
          <p:cNvPr id="24"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de la Barbinière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46051"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1956162"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956162"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20836" y="1047600"/>
            <a:ext cx="787182"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20836"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5" name="Image 1" descr="vendanges dans les vignes du domaine — Domaine de la Barbinière">    </p:cNvPr>
          <p:cNvPicPr>
            <a:picLocks noChangeAspect="1"/>
          </p:cNvPicPr>
          <p:nvPr/>
        </p:nvPicPr>
        <p:blipFill>
          <a:blip r:embed="rId2"/>
          <a:srcRect l="16680" r="16680" t="0" b="0"/>
          <a:stretch/>
        </p:blipFill>
        <p:spPr>
          <a:xfrm>
            <a:off x="828000" y="1357200"/>
            <a:ext cx="1440000" cy="1440000"/>
          </a:xfrm>
          <a:prstGeom prst="ellipse">
            <a:avLst/>
          </a:prstGeom>
        </p:spPr>
      </p:pic>
      <p:pic>
        <p:nvPicPr>
          <p:cNvPr id="16" name="Image 2" descr="Une bouteille du domaine Domaine de la Barbinière">    </p:cNvPr>
          <p:cNvPicPr>
            <a:picLocks noChangeAspect="1"/>
          </p:cNvPicPr>
          <p:nvPr/>
        </p:nvPicPr>
        <p:blipFill>
          <a:blip r:embed="rId3"/>
          <a:stretch>
            <a:fillRect/>
          </a:stretch>
        </p:blipFill>
        <p:spPr>
          <a:xfrm>
            <a:off x="6229377" y="1357200"/>
            <a:ext cx="573246" cy="2232000"/>
          </a:xfrm>
          <a:prstGeom prst="rect">
            <a:avLst/>
          </a:prstGeom>
        </p:spPr>
      </p:pic>
      <p:sp>
        <p:nvSpPr>
          <p:cNvPr id="17" name="Text 12"/>
          <p:cNvSpPr/>
          <p:nvPr/>
        </p:nvSpPr>
        <p:spPr>
          <a:xfrm>
            <a:off x="2448000" y="1357200"/>
            <a:ext cx="3456000" cy="2231900"/>
          </a:xfrm>
          <a:prstGeom prst="rect">
            <a:avLst/>
          </a:prstGeom>
          <a:noFill/>
          <a:ln/>
        </p:spPr>
        <p:txBody>
          <a:bodyPr wrap="square" lIns="0" tIns="0" rIns="0" bIns="0" rtlCol="0" anchor="ctr"/>
          <a:lstStyle/>
          <a:p>
            <a:pPr indent="0" marL="0">
              <a:lnSpc>
                <a:spcPct val="142000"/>
              </a:lnSpc>
              <a:buNone/>
            </a:pPr>
            <a:r>
              <a:rPr lang="en-US" sz="2350" dirty="0">
                <a:solidFill>
                  <a:srgbClr val="67067C"/>
                </a:solidFill>
                <a:latin typeface="Young Serif" pitchFamily="34" charset="0"/>
                <a:ea typeface="Young Serif" pitchFamily="34" charset="-122"/>
                <a:cs typeface="Young Serif" pitchFamily="34" charset="-120"/>
              </a:rPr>
              <a:t>S</a:t>
            </a:r>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ur les reliefs bocagers du Chantonnais, Vincent et Alban Orion sculptent 30 hectares reflétant la diversité des terroirs chantonnaisiens. Une démarche paysanne faite de travail manuel minutieux et d’attention à la faune et à la flore, qui porte le domaine en agriculture biologique.</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4,43</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Gorinières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7,84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Courbes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7,23</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Amphibol</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Gneiss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5,13</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 Pinot Noir</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Bois Bouquet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6,72</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Méthode Traditionnelle (Extra)</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L’O***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6,28</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 – Pétillant Naturel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Pop’s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3"/>
          <p:cNvSpPr/>
          <p:nvPr/>
        </p:nvSpPr>
        <p:spPr>
          <a:xfrm>
            <a:off x="828000" y="8388000"/>
            <a:ext cx="6120000" cy="0"/>
          </a:xfrm>
          <a:prstGeom prst="line">
            <a:avLst/>
          </a:prstGeom>
          <a:noFill/>
          <a:ln w="8890">
            <a:solidFill>
              <a:srgbClr val="46606E"/>
            </a:solidFill>
            <a:prstDash val="solid"/>
          </a:ln>
        </p:spPr>
      </p:sp>
      <p:sp>
        <p:nvSpPr>
          <p:cNvPr id="20" name="Text 14"/>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1" name="Text 15"/>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16 · 35 · 44 · 49 · 53 · 56 · 85</a:t>
            </a:r>
            <a:endParaRPr lang="en-US" sz="720" dirty="0"/>
          </a:p>
        </p:txBody>
      </p:sp>
      <p:sp>
        <p:nvSpPr>
          <p:cNvPr id="22" name="Text 16"/>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3"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8</a:t>
            </a:r>
            <a:endParaRPr lang="en-US" sz="750" dirty="0"/>
          </a:p>
        </p:txBody>
      </p:sp>
      <p:sp>
        <p:nvSpPr>
          <p:cNvPr id="24"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a:t>
            </a:r>
            <a:pPr indent="0" marL="0">
              <a:lnSpc>
                <a:spcPct val="104000"/>
              </a:lnSpc>
              <a:buNone/>
            </a:pPr>
            <a:r>
              <a:rPr lang="en-US" sz="1700" dirty="0">
                <a:solidFill>
                  <a:srgbClr val="46606E"/>
                </a:solidFill>
                <a:latin typeface="Young Serif" pitchFamily="34" charset="0"/>
                <a:ea typeface="Young Serif" pitchFamily="34" charset="-122"/>
                <a:cs typeface="Young Serif" pitchFamily="34" charset="-120"/>
              </a:rPr>
              <a:t>   Domaine du Colombier / J.Y Bretaudeau</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80548"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9" name="Shape 6"/>
          <p:cNvSpPr/>
          <p:nvPr/>
        </p:nvSpPr>
        <p:spPr>
          <a:xfrm>
            <a:off x="1071748"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717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536422"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53642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14 références</a:t>
            </a:r>
            <a:endParaRPr lang="en-US" sz="720" dirty="0"/>
          </a:p>
        </p:txBody>
      </p:sp>
      <p:pic>
        <p:nvPicPr>
          <p:cNvPr id="13" name="Image 1" descr="le vigneron au chai — Domaine du Colombier / J.Y Bretaudeau">    </p:cNvPr>
          <p:cNvPicPr>
            <a:picLocks noChangeAspect="1"/>
          </p:cNvPicPr>
          <p:nvPr/>
        </p:nvPicPr>
        <p:blipFill>
          <a:blip r:embed="rId2"/>
          <a:srcRect l="29320" r="5437" t="0" b="0"/>
          <a:stretch/>
        </p:blipFill>
        <p:spPr>
          <a:xfrm>
            <a:off x="612000" y="1357200"/>
            <a:ext cx="1440000" cy="1440000"/>
          </a:xfrm>
          <a:prstGeom prst="ellipse">
            <a:avLst/>
          </a:prstGeom>
        </p:spPr>
      </p:pic>
      <p:pic>
        <p:nvPicPr>
          <p:cNvPr id="14" name="Image 2" descr="Une bouteille du domaine Domaine du Colombier / J.Y Bretaudeau">    </p:cNvPr>
          <p:cNvPicPr>
            <a:picLocks noChangeAspect="1"/>
          </p:cNvPicPr>
          <p:nvPr/>
        </p:nvPicPr>
        <p:blipFill>
          <a:blip r:embed="rId3"/>
          <a:stretch>
            <a:fillRect/>
          </a:stretch>
        </p:blipFill>
        <p:spPr>
          <a:xfrm>
            <a:off x="6002705" y="1357200"/>
            <a:ext cx="594590" cy="2232000"/>
          </a:xfrm>
          <a:prstGeom prst="rect">
            <a:avLst/>
          </a:prstGeom>
        </p:spPr>
      </p:pic>
      <p:sp>
        <p:nvSpPr>
          <p:cNvPr id="15" name="Text 10"/>
          <p:cNvSpPr/>
          <p:nvPr/>
        </p:nvSpPr>
        <p:spPr>
          <a:xfrm>
            <a:off x="2232000" y="1357200"/>
            <a:ext cx="3456000" cy="2231900"/>
          </a:xfrm>
          <a:prstGeom prst="rect">
            <a:avLst/>
          </a:prstGeom>
          <a:noFill/>
          <a:ln/>
        </p:spPr>
        <p:txBody>
          <a:bodyPr wrap="square" lIns="0" tIns="0" rIns="0" bIns="0" rtlCol="0" anchor="ctr"/>
          <a:lstStyle/>
          <a:p>
            <a:pPr indent="0" marL="0">
              <a:lnSpc>
                <a:spcPct val="142000"/>
              </a:lnSpc>
              <a:buNone/>
            </a:pPr>
            <a:r>
              <a:rPr lang="en-US" sz="2350" dirty="0">
                <a:solidFill>
                  <a:srgbClr val="67067C"/>
                </a:solidFill>
                <a:latin typeface="Young Serif" pitchFamily="34" charset="0"/>
                <a:ea typeface="Young Serif" pitchFamily="34" charset="-122"/>
                <a:cs typeface="Young Serif" pitchFamily="34" charset="-120"/>
              </a:rPr>
              <a:t>Q</a:t>
            </a:r>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uatre générations de passionnés et adhérent historique des Vignerons Indépendants : Jean-Yves Bretaudeau allie bon sens paysan et précision œnologique. Certifié HVE, le domaine préserve ses paysages ligériens pour des vins friands et expressifs.</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Muscadet Sèvre et Maine sur lie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des deux Colombes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Muscadet Sèvre et Maine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CRU Mouzillon – Tillières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Prestige de Beaulieu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Sauvignon Gris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domaine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Sauvignon Blanc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Vins du Val de Loire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Text 11"/>
          <p:cNvSpPr/>
          <p:nvPr/>
        </p:nvSpPr>
        <p:spPr>
          <a:xfrm>
            <a:off x="612000" y="606724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18" name="Image 3" descr="/home/user/philippe1/build/deco/sol-loire.png">    </p:cNvPr>
          <p:cNvPicPr>
            <a:picLocks noChangeAspect="1"/>
          </p:cNvPicPr>
          <p:nvPr/>
        </p:nvPicPr>
        <p:blipFill>
          <a:blip r:embed="rId4"/>
          <a:stretch>
            <a:fillRect/>
          </a:stretch>
        </p:blipFill>
        <p:spPr>
          <a:xfrm>
            <a:off x="612000" y="6214847"/>
            <a:ext cx="6120000" cy="1148400"/>
          </a:xfrm>
          <a:prstGeom prst="rect">
            <a:avLst/>
          </a:prstGeom>
        </p:spPr>
      </p:pic>
      <p:sp>
        <p:nvSpPr>
          <p:cNvPr id="19" name="Shape 12"/>
          <p:cNvSpPr/>
          <p:nvPr/>
        </p:nvSpPr>
        <p:spPr>
          <a:xfrm>
            <a:off x="612000" y="8388000"/>
            <a:ext cx="6120000" cy="0"/>
          </a:xfrm>
          <a:prstGeom prst="line">
            <a:avLst/>
          </a:prstGeom>
          <a:noFill/>
          <a:ln w="8890">
            <a:solidFill>
              <a:srgbClr val="46606E"/>
            </a:solidFill>
            <a:prstDash val="solid"/>
          </a:ln>
        </p:spPr>
      </p:sp>
      <p:sp>
        <p:nvSpPr>
          <p:cNvPr id="20" name="Text 13"/>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1" name="Text 14"/>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3"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9</a:t>
            </a:r>
            <a:endParaRPr lang="en-US" sz="750" dirty="0"/>
          </a:p>
        </p:txBody>
      </p:sp>
      <p:sp>
        <p:nvSpPr>
          <p:cNvPr id="24"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a:t>
            </a:r>
            <a:pPr indent="0" marL="0">
              <a:lnSpc>
                <a:spcPct val="104000"/>
              </a:lnSpc>
              <a:buNone/>
            </a:pPr>
            <a:r>
              <a:rPr lang="en-US" sz="1550" dirty="0">
                <a:solidFill>
                  <a:srgbClr val="46606E"/>
                </a:solidFill>
                <a:latin typeface="Young Serif" pitchFamily="34" charset="0"/>
                <a:ea typeface="Young Serif" pitchFamily="34" charset="-122"/>
                <a:cs typeface="Young Serif" pitchFamily="34" charset="-120"/>
              </a:rPr>
              <a:t>   Domaine du Colombier / J.Y Bretaudeau</a:t>
            </a:r>
            <a:pPr indent="0" marL="0">
              <a:lnSpc>
                <a:spcPct val="104000"/>
              </a:lnSpc>
              <a:buNone/>
            </a:pP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80548"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9" name="Shape 6"/>
          <p:cNvSpPr/>
          <p:nvPr/>
        </p:nvSpPr>
        <p:spPr>
          <a:xfrm>
            <a:off x="1287748"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877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52422"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5242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14 références</a:t>
            </a:r>
            <a:endParaRPr lang="en-US" sz="72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Cabernet Franc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Rouge au lèvres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perle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828000" y="2926668"/>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BIBS</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5 Litres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10 Litres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Muscadet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Merlot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5" name="Text 10"/>
          <p:cNvSpPr/>
          <p:nvPr/>
        </p:nvSpPr>
        <p:spPr>
          <a:xfrm>
            <a:off x="828000" y="486583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16" name="Image 1" descr="/home/user/philippe1/build/deco/sol-loire.png">    </p:cNvPr>
          <p:cNvPicPr>
            <a:picLocks noChangeAspect="1"/>
          </p:cNvPicPr>
          <p:nvPr/>
        </p:nvPicPr>
        <p:blipFill>
          <a:blip r:embed="rId2"/>
          <a:stretch>
            <a:fillRect/>
          </a:stretch>
        </p:blipFill>
        <p:spPr>
          <a:xfrm>
            <a:off x="828000" y="5013432"/>
            <a:ext cx="6120000" cy="1680802"/>
          </a:xfrm>
          <a:prstGeom prst="rect">
            <a:avLst/>
          </a:prstGeom>
        </p:spPr>
      </p:pic>
      <p:sp>
        <p:nvSpPr>
          <p:cNvPr id="17" name="Shape 11"/>
          <p:cNvSpPr/>
          <p:nvPr/>
        </p:nvSpPr>
        <p:spPr>
          <a:xfrm>
            <a:off x="828000" y="8388000"/>
            <a:ext cx="6120000" cy="0"/>
          </a:xfrm>
          <a:prstGeom prst="line">
            <a:avLst/>
          </a:prstGeom>
          <a:noFill/>
          <a:ln w="8890">
            <a:solidFill>
              <a:srgbClr val="46606E"/>
            </a:solidFill>
            <a:prstDash val="solid"/>
          </a:ln>
        </p:spPr>
      </p:sp>
      <p:sp>
        <p:nvSpPr>
          <p:cNvPr id="18" name="Text 12"/>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19" name="Text 13"/>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0" name="Text 14"/>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1" name="Text 15"/>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10</a:t>
            </a:r>
            <a:endParaRPr lang="en-US" sz="750" dirty="0"/>
          </a:p>
        </p:txBody>
      </p:sp>
      <p:sp>
        <p:nvSpPr>
          <p:cNvPr id="22" name="Text 16"/>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des Noëls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494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94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9 références</a:t>
            </a:r>
            <a:endParaRPr lang="en-US" sz="720" dirty="0"/>
          </a:p>
        </p:txBody>
      </p:sp>
      <p:pic>
        <p:nvPicPr>
          <p:cNvPr id="13" name="Image 1" descr="portrait — Domaine des Noëls">    </p:cNvPr>
          <p:cNvPicPr>
            <a:picLocks noChangeAspect="1"/>
          </p:cNvPicPr>
          <p:nvPr/>
        </p:nvPicPr>
        <p:blipFill>
          <a:blip r:embed="rId2"/>
          <a:srcRect l="0" r="0" t="8302" b="16679"/>
          <a:stretch/>
        </p:blipFill>
        <p:spPr>
          <a:xfrm>
            <a:off x="612000" y="1357200"/>
            <a:ext cx="1440000" cy="1440000"/>
          </a:xfrm>
          <a:prstGeom prst="ellipse">
            <a:avLst/>
          </a:prstGeom>
        </p:spPr>
      </p:pic>
      <p:pic>
        <p:nvPicPr>
          <p:cNvPr id="14" name="Image 2" descr="Une bouteille du domaine Domaine des Noëls">    </p:cNvPr>
          <p:cNvPicPr>
            <a:picLocks noChangeAspect="1"/>
          </p:cNvPicPr>
          <p:nvPr/>
        </p:nvPicPr>
        <p:blipFill>
          <a:blip r:embed="rId3"/>
          <a:stretch>
            <a:fillRect/>
          </a:stretch>
        </p:blipFill>
        <p:spPr>
          <a:xfrm>
            <a:off x="6001180" y="1357200"/>
            <a:ext cx="597639" cy="2232000"/>
          </a:xfrm>
          <a:prstGeom prst="rect">
            <a:avLst/>
          </a:prstGeom>
        </p:spPr>
      </p:pic>
      <p:sp>
        <p:nvSpPr>
          <p:cNvPr id="15" name="Text 10"/>
          <p:cNvSpPr/>
          <p:nvPr/>
        </p:nvSpPr>
        <p:spPr>
          <a:xfrm>
            <a:off x="2232000" y="1357200"/>
            <a:ext cx="3456000" cy="2231900"/>
          </a:xfrm>
          <a:prstGeom prst="rect">
            <a:avLst/>
          </a:prstGeom>
          <a:noFill/>
          <a:ln/>
        </p:spPr>
        <p:txBody>
          <a:bodyPr wrap="square" lIns="0" tIns="0" rIns="0" bIns="0" rtlCol="0" anchor="ctr"/>
          <a:lstStyle/>
          <a:p>
            <a:pPr indent="0" marL="0">
              <a:lnSpc>
                <a:spcPct val="142000"/>
              </a:lnSpc>
              <a:buNone/>
            </a:pPr>
            <a:r>
              <a:rPr lang="en-US" sz="2350" dirty="0">
                <a:solidFill>
                  <a:srgbClr val="67067C"/>
                </a:solidFill>
                <a:latin typeface="Young Serif" pitchFamily="34" charset="0"/>
                <a:ea typeface="Young Serif" pitchFamily="34" charset="-122"/>
                <a:cs typeface="Young Serif" pitchFamily="34" charset="-120"/>
              </a:rPr>
              <a:t>D</a:t>
            </a:r>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epuis 1921 à Faye-d’Anjou, cinq générations se transmettent 24 hectares de coteaux argilo-schisteux remarquablement exposés. Le Chenin donne aussi bien les liquoreux du Coteaux du Layon que des Anjou Blanc et Crémant de Loire d’une minéralité tactile.</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Promenade des Noëls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du Layon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Coteaux du Layon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du Layon Faye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Coteaux du Layon Faye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Crémant de Loire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Prestige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Rosé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Rosé de Loire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Rosé d’Anjou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Rosé d’Anjou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Cabernet d’Anjou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Cabernet d’Anjou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Shape 11"/>
          <p:cNvSpPr/>
          <p:nvPr/>
        </p:nvSpPr>
        <p:spPr>
          <a:xfrm>
            <a:off x="612000" y="8388000"/>
            <a:ext cx="6120000" cy="0"/>
          </a:xfrm>
          <a:prstGeom prst="line">
            <a:avLst/>
          </a:prstGeom>
          <a:noFill/>
          <a:ln w="8890">
            <a:solidFill>
              <a:srgbClr val="46606E"/>
            </a:solidFill>
            <a:prstDash val="solid"/>
          </a:ln>
        </p:spPr>
      </p:sp>
      <p:sp>
        <p:nvSpPr>
          <p:cNvPr id="18" name="Text 12"/>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19" name="Text 13"/>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0" name="Text 14"/>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Doux     pictos de l’Agence SCIO, pas les logos officiels</a:t>
            </a:r>
            <a:endParaRPr lang="en-US" sz="650" dirty="0"/>
          </a:p>
        </p:txBody>
      </p:sp>
      <p:sp>
        <p:nvSpPr>
          <p:cNvPr id="21" name="Text 1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11</a:t>
            </a:r>
            <a:endParaRPr lang="en-US" sz="750" dirty="0"/>
          </a:p>
        </p:txBody>
      </p:sp>
      <p:sp>
        <p:nvSpPr>
          <p:cNvPr id="22" name="Text 1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5</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Chai Berteaud Manceau</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10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3" name="Image 1" descr="les deux fondateurs du chai — Chai Berteaud Manceau">    </p:cNvPr>
          <p:cNvPicPr>
            <a:picLocks noChangeAspect="1"/>
          </p:cNvPicPr>
          <p:nvPr/>
        </p:nvPicPr>
        <p:blipFill>
          <a:blip r:embed="rId2"/>
          <a:srcRect l="0" r="0" t="10078" b="20234"/>
          <a:stretch/>
        </p:blipFill>
        <p:spPr>
          <a:xfrm>
            <a:off x="828000" y="1357200"/>
            <a:ext cx="1440000" cy="1440000"/>
          </a:xfrm>
          <a:prstGeom prst="ellipse">
            <a:avLst/>
          </a:prstGeom>
        </p:spPr>
      </p:pic>
      <p:pic>
        <p:nvPicPr>
          <p:cNvPr id="14" name="Image 2" descr="Une bouteille du domaine Chai Berteaud Manceau">    </p:cNvPr>
          <p:cNvPicPr>
            <a:picLocks noChangeAspect="1"/>
          </p:cNvPicPr>
          <p:nvPr/>
        </p:nvPicPr>
        <p:blipFill>
          <a:blip r:embed="rId3"/>
          <a:stretch>
            <a:fillRect/>
          </a:stretch>
        </p:blipFill>
        <p:spPr>
          <a:xfrm>
            <a:off x="6214131" y="1357200"/>
            <a:ext cx="603738" cy="2232000"/>
          </a:xfrm>
          <a:prstGeom prst="rect">
            <a:avLst/>
          </a:prstGeom>
        </p:spPr>
      </p:pic>
      <p:sp>
        <p:nvSpPr>
          <p:cNvPr id="15" name="Text 10"/>
          <p:cNvSpPr/>
          <p:nvPr/>
        </p:nvSpPr>
        <p:spPr>
          <a:xfrm>
            <a:off x="2448000" y="1357200"/>
            <a:ext cx="3456000" cy="2231900"/>
          </a:xfrm>
          <a:prstGeom prst="rect">
            <a:avLst/>
          </a:prstGeom>
          <a:noFill/>
          <a:ln/>
        </p:spPr>
        <p:txBody>
          <a:bodyPr wrap="square" lIns="0" tIns="0" rIns="0" bIns="0" rtlCol="0" anchor="ctr"/>
          <a:lstStyle/>
          <a:p>
            <a:pPr indent="0" marL="0">
              <a:lnSpc>
                <a:spcPct val="142000"/>
              </a:lnSpc>
              <a:buNone/>
            </a:pPr>
            <a:r>
              <a:rPr lang="en-US" sz="2350" dirty="0">
                <a:solidFill>
                  <a:srgbClr val="67067C"/>
                </a:solidFill>
                <a:latin typeface="Young Serif" pitchFamily="34" charset="0"/>
                <a:ea typeface="Young Serif" pitchFamily="34" charset="-122"/>
                <a:cs typeface="Young Serif" pitchFamily="34" charset="-120"/>
              </a:rPr>
              <a:t>P</a:t>
            </a:r>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remier chai urbain de La Roche-sur-Yon, à Mouilleron-le-Captif, fondé par deux amis d’enfance vendéens diplômés en ingénierie agricole à Angers. Les raisins proviennent de 8 domaines partenaires du Val de Loire. Levures indigènes : des jus digestes et éclatants.</a:t>
            </a:r>
            <a:endParaRPr lang="en-US" sz="13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Courant – Chenin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Source – Melon B.</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Reflet – Gamay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Text 11"/>
          <p:cNvSpPr/>
          <p:nvPr/>
        </p:nvSpPr>
        <p:spPr>
          <a:xfrm>
            <a:off x="828000" y="535912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18" name="Image 3" descr="/home/user/philippe1/build/deco/sol-loire.png">    </p:cNvPr>
          <p:cNvPicPr>
            <a:picLocks noChangeAspect="1"/>
          </p:cNvPicPr>
          <p:nvPr/>
        </p:nvPicPr>
        <p:blipFill>
          <a:blip r:embed="rId4"/>
          <a:stretch>
            <a:fillRect/>
          </a:stretch>
        </p:blipFill>
        <p:spPr>
          <a:xfrm>
            <a:off x="828000" y="5506723"/>
            <a:ext cx="6120000" cy="1540294"/>
          </a:xfrm>
          <a:prstGeom prst="rect">
            <a:avLst/>
          </a:prstGeom>
        </p:spPr>
      </p:pic>
      <p:sp>
        <p:nvSpPr>
          <p:cNvPr id="19" name="Shape 12"/>
          <p:cNvSpPr/>
          <p:nvPr/>
        </p:nvSpPr>
        <p:spPr>
          <a:xfrm>
            <a:off x="828000" y="8388000"/>
            <a:ext cx="6120000" cy="0"/>
          </a:xfrm>
          <a:prstGeom prst="line">
            <a:avLst/>
          </a:prstGeom>
          <a:noFill/>
          <a:ln w="8890">
            <a:solidFill>
              <a:srgbClr val="46606E"/>
            </a:solidFill>
            <a:prstDash val="solid"/>
          </a:ln>
        </p:spPr>
      </p:sp>
      <p:sp>
        <p:nvSpPr>
          <p:cNvPr id="20" name="Text 13"/>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1" name="Text 14"/>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3"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12</a:t>
            </a:r>
            <a:endParaRPr lang="en-US" sz="750" dirty="0"/>
          </a:p>
        </p:txBody>
      </p:sp>
      <p:sp>
        <p:nvSpPr>
          <p:cNvPr id="24"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6</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Jean de Villebois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043390" y="1047600"/>
            <a:ext cx="864357" cy="180000"/>
          </a:xfrm>
          <a:prstGeom prst="roundRect">
            <a:avLst>
              <a:gd name="adj" fmla="val 10160"/>
            </a:avLst>
          </a:prstGeom>
          <a:solidFill>
            <a:srgbClr val="D08C3C"/>
          </a:solidFill>
          <a:ln w="8890">
            <a:solidFill>
              <a:srgbClr val="D08C3C"/>
            </a:solidFill>
            <a:prstDash val="solid"/>
          </a:ln>
        </p:spPr>
      </p:sp>
      <p:sp>
        <p:nvSpPr>
          <p:cNvPr id="10" name="Text 7"/>
          <p:cNvSpPr/>
          <p:nvPr/>
        </p:nvSpPr>
        <p:spPr>
          <a:xfrm>
            <a:off x="2043390"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1" name="Shape 8"/>
          <p:cNvSpPr/>
          <p:nvPr/>
        </p:nvSpPr>
        <p:spPr>
          <a:xfrm>
            <a:off x="2986947"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986947"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16 références</a:t>
            </a:r>
            <a:endParaRPr lang="en-US" sz="720" dirty="0"/>
          </a:p>
        </p:txBody>
      </p:sp>
      <p:pic>
        <p:nvPicPr>
          <p:cNvPr id="13" name="Image 1" descr="dans les vignes — Domaine Jean de Villebois">    </p:cNvPr>
          <p:cNvPicPr>
            <a:picLocks noChangeAspect="1"/>
          </p:cNvPicPr>
          <p:nvPr/>
        </p:nvPicPr>
        <p:blipFill>
          <a:blip r:embed="rId2"/>
          <a:srcRect l="2667" r="30666" t="0" b="0"/>
          <a:stretch/>
        </p:blipFill>
        <p:spPr>
          <a:xfrm>
            <a:off x="612000" y="1357200"/>
            <a:ext cx="1440000" cy="1440000"/>
          </a:xfrm>
          <a:prstGeom prst="ellipse">
            <a:avLst/>
          </a:prstGeom>
        </p:spPr>
      </p:pic>
      <p:pic>
        <p:nvPicPr>
          <p:cNvPr id="14" name="Image 2" descr="Une bouteille du domaine Domaine Jean de Villebois">    </p:cNvPr>
          <p:cNvPicPr>
            <a:picLocks noChangeAspect="1"/>
          </p:cNvPicPr>
          <p:nvPr/>
        </p:nvPicPr>
        <p:blipFill>
          <a:blip r:embed="rId3"/>
          <a:stretch>
            <a:fillRect/>
          </a:stretch>
        </p:blipFill>
        <p:spPr>
          <a:xfrm>
            <a:off x="5993557" y="1357200"/>
            <a:ext cx="612885" cy="2232000"/>
          </a:xfrm>
          <a:prstGeom prst="rect">
            <a:avLst/>
          </a:prstGeom>
        </p:spPr>
      </p:pic>
      <p:sp>
        <p:nvSpPr>
          <p:cNvPr id="15" name="Text 10"/>
          <p:cNvSpPr/>
          <p:nvPr/>
        </p:nvSpPr>
        <p:spPr>
          <a:xfrm>
            <a:off x="2232000" y="1357200"/>
            <a:ext cx="3456000" cy="2231900"/>
          </a:xfrm>
          <a:prstGeom prst="rect">
            <a:avLst/>
          </a:prstGeom>
          <a:noFill/>
          <a:ln/>
        </p:spPr>
        <p:txBody>
          <a:bodyPr wrap="square" lIns="0" tIns="0" rIns="0" bIns="0" rtlCol="0" anchor="ctr"/>
          <a:lstStyle/>
          <a:p>
            <a:pPr indent="0" marL="0">
              <a:lnSpc>
                <a:spcPct val="142000"/>
              </a:lnSpc>
              <a:buNone/>
            </a:pPr>
            <a:r>
              <a:rPr lang="en-US" sz="2350" dirty="0">
                <a:solidFill>
                  <a:srgbClr val="67067C"/>
                </a:solidFill>
                <a:latin typeface="Young Serif" pitchFamily="34" charset="0"/>
                <a:ea typeface="Young Serif" pitchFamily="34" charset="-122"/>
                <a:cs typeface="Young Serif" pitchFamily="34" charset="-120"/>
              </a:rPr>
              <a:t>S</a:t>
            </a:r>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pécialiste du Sauvignon Blanc ligérien, le domaine explore les plus beaux terroirs de Loire (Sancerre, Pouilly-Fumé, Menetou-Salon, Touraine). Techniques modernes et respect de la typicité des sols calcaires et de silex pour des blancs d’une grande pureté.</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Chêne Marchand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Chêne à la Rouline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Silex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Marnes Kimméridgiennes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Text 11"/>
          <p:cNvSpPr/>
          <p:nvPr/>
        </p:nvSpPr>
        <p:spPr>
          <a:xfrm>
            <a:off x="612000" y="568252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18" name="Image 3" descr="/home/user/philippe1/build/deco/sol-loire.png">    </p:cNvPr>
          <p:cNvPicPr>
            <a:picLocks noChangeAspect="1"/>
          </p:cNvPicPr>
          <p:nvPr/>
        </p:nvPicPr>
        <p:blipFill>
          <a:blip r:embed="rId4"/>
          <a:stretch>
            <a:fillRect/>
          </a:stretch>
        </p:blipFill>
        <p:spPr>
          <a:xfrm>
            <a:off x="612000" y="5830126"/>
            <a:ext cx="6120000" cy="1148400"/>
          </a:xfrm>
          <a:prstGeom prst="rect">
            <a:avLst/>
          </a:prstGeom>
        </p:spPr>
      </p:pic>
      <p:sp>
        <p:nvSpPr>
          <p:cNvPr id="19" name="Text 12"/>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pPr indent="0" marL="0">
              <a:buNone/>
            </a:pPr>
            <a:r>
              <a:rPr lang="en-US" sz="740" dirty="0">
                <a:solidFill>
                  <a:srgbClr val="46606E"/>
                </a:solidFill>
                <a:latin typeface="IBM Plex Sans" pitchFamily="34" charset="0"/>
                <a:ea typeface="IBM Plex Sans" pitchFamily="34" charset="-122"/>
                <a:cs typeface="IBM Plex Sans" pitchFamily="34" charset="-120"/>
              </a:rPr>
              <a:t>Domaine Jean de Villebois et Divin No Low — n°7 p. 15</a:t>
            </a:r>
            <a:endParaRPr lang="en-US" sz="740" dirty="0"/>
          </a:p>
        </p:txBody>
      </p:sp>
      <p:sp>
        <p:nvSpPr>
          <p:cNvPr id="20" name="Shape 13"/>
          <p:cNvSpPr/>
          <p:nvPr/>
        </p:nvSpPr>
        <p:spPr>
          <a:xfrm>
            <a:off x="612000" y="8388000"/>
            <a:ext cx="6120000" cy="0"/>
          </a:xfrm>
          <a:prstGeom prst="line">
            <a:avLst/>
          </a:prstGeom>
          <a:noFill/>
          <a:ln w="8890">
            <a:solidFill>
              <a:srgbClr val="46606E"/>
            </a:solidFill>
            <a:prstDash val="solid"/>
          </a:ln>
        </p:spPr>
      </p:sp>
      <p:sp>
        <p:nvSpPr>
          <p:cNvPr id="21" name="Text 14"/>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2" name="Text 15"/>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3"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13</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6</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Jean de Villebois</a:t>
            </a:r>
            <a:pPr indent="0" marL="0">
              <a:lnSpc>
                <a:spcPct val="104000"/>
              </a:lnSpc>
              <a:buNone/>
            </a:pP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47600"/>
            <a:ext cx="864357" cy="180000"/>
          </a:xfrm>
          <a:prstGeom prst="roundRect">
            <a:avLst>
              <a:gd name="adj" fmla="val 10160"/>
            </a:avLst>
          </a:prstGeom>
          <a:solidFill>
            <a:srgbClr val="D08C3C"/>
          </a:solidFill>
          <a:ln w="8890">
            <a:solidFill>
              <a:srgbClr val="D08C3C"/>
            </a:solidFill>
            <a:prstDash val="solid"/>
          </a:ln>
        </p:spPr>
      </p:sp>
      <p:sp>
        <p:nvSpPr>
          <p:cNvPr id="10" name="Text 7"/>
          <p:cNvSpPr/>
          <p:nvPr/>
        </p:nvSpPr>
        <p:spPr>
          <a:xfrm>
            <a:off x="2259390"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1" name="Shape 8"/>
          <p:cNvSpPr/>
          <p:nvPr/>
        </p:nvSpPr>
        <p:spPr>
          <a:xfrm>
            <a:off x="3202947"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3202947"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16 références</a:t>
            </a:r>
            <a:endParaRPr lang="en-US" sz="72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Silex Blancs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Menetou-Salon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Touraine Chenonceaux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 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 Chenin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Louisonne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4" name="Text 10"/>
          <p:cNvSpPr/>
          <p:nvPr/>
        </p:nvSpPr>
        <p:spPr>
          <a:xfrm>
            <a:off x="828000" y="510165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15" name="Image 1" descr="/home/user/philippe1/build/deco/sol-loire.png">    </p:cNvPr>
          <p:cNvPicPr>
            <a:picLocks noChangeAspect="1"/>
          </p:cNvPicPr>
          <p:nvPr/>
        </p:nvPicPr>
        <p:blipFill>
          <a:blip r:embed="rId2"/>
          <a:stretch>
            <a:fillRect/>
          </a:stretch>
        </p:blipFill>
        <p:spPr>
          <a:xfrm>
            <a:off x="828000" y="5249250"/>
            <a:ext cx="6120000" cy="1452068"/>
          </a:xfrm>
          <a:prstGeom prst="rect">
            <a:avLst/>
          </a:prstGeom>
        </p:spPr>
      </p:pic>
      <p:sp>
        <p:nvSpPr>
          <p:cNvPr id="16" name="Text 11"/>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pPr indent="0" marL="0">
              <a:buNone/>
            </a:pPr>
            <a:r>
              <a:rPr lang="en-US" sz="740" dirty="0">
                <a:solidFill>
                  <a:srgbClr val="46606E"/>
                </a:solidFill>
                <a:latin typeface="IBM Plex Sans" pitchFamily="34" charset="0"/>
                <a:ea typeface="IBM Plex Sans" pitchFamily="34" charset="-122"/>
                <a:cs typeface="IBM Plex Sans" pitchFamily="34" charset="-120"/>
              </a:rPr>
              <a:t>Domaine Jean de Villebois et Divin No Low — n°7 p. 15</a:t>
            </a:r>
            <a:endParaRPr lang="en-US" sz="740" dirty="0"/>
          </a:p>
        </p:txBody>
      </p:sp>
      <p:sp>
        <p:nvSpPr>
          <p:cNvPr id="17" name="Shape 12"/>
          <p:cNvSpPr/>
          <p:nvPr/>
        </p:nvSpPr>
        <p:spPr>
          <a:xfrm>
            <a:off x="828000" y="8388000"/>
            <a:ext cx="6120000" cy="0"/>
          </a:xfrm>
          <a:prstGeom prst="line">
            <a:avLst/>
          </a:prstGeom>
          <a:noFill/>
          <a:ln w="8890">
            <a:solidFill>
              <a:srgbClr val="46606E"/>
            </a:solidFill>
            <a:prstDash val="solid"/>
          </a:ln>
        </p:spPr>
      </p:sp>
      <p:sp>
        <p:nvSpPr>
          <p:cNvPr id="18" name="Text 13"/>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19" name="Text 14"/>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0"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1"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14</a:t>
            </a:r>
            <a:endParaRPr lang="en-US" sz="750" dirty="0"/>
          </a:p>
        </p:txBody>
      </p:sp>
      <p:sp>
        <p:nvSpPr>
          <p:cNvPr id="22"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7</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Divin No Low</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043390" y="10476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043390"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1" name="Image 1" descr="vinification en cuverie — Divin No Low">    </p:cNvPr>
          <p:cNvPicPr>
            <a:picLocks noChangeAspect="1"/>
          </p:cNvPicPr>
          <p:nvPr/>
        </p:nvPicPr>
        <p:blipFill>
          <a:blip r:embed="rId2"/>
          <a:srcRect l="16650" r="16700" t="0" b="0"/>
          <a:stretch/>
        </p:blipFill>
        <p:spPr>
          <a:xfrm>
            <a:off x="612000" y="1357200"/>
            <a:ext cx="1440000" cy="1440000"/>
          </a:xfrm>
          <a:prstGeom prst="ellipse">
            <a:avLst/>
          </a:prstGeom>
        </p:spPr>
      </p:pic>
      <p:pic>
        <p:nvPicPr>
          <p:cNvPr id="12" name="Image 2" descr="Une bouteille du domaine Divin No Low">    </p:cNvPr>
          <p:cNvPicPr>
            <a:picLocks noChangeAspect="1"/>
          </p:cNvPicPr>
          <p:nvPr/>
        </p:nvPicPr>
        <p:blipFill>
          <a:blip r:embed="rId3"/>
          <a:stretch>
            <a:fillRect/>
          </a:stretch>
        </p:blipFill>
        <p:spPr>
          <a:xfrm>
            <a:off x="5956967" y="1357200"/>
            <a:ext cx="686066" cy="2232000"/>
          </a:xfrm>
          <a:prstGeom prst="rect">
            <a:avLst/>
          </a:prstGeom>
        </p:spPr>
      </p:pic>
      <p:sp>
        <p:nvSpPr>
          <p:cNvPr id="13" name="Text 8"/>
          <p:cNvSpPr/>
          <p:nvPr/>
        </p:nvSpPr>
        <p:spPr>
          <a:xfrm>
            <a:off x="2232000" y="1357200"/>
            <a:ext cx="3456000" cy="2231900"/>
          </a:xfrm>
          <a:prstGeom prst="rect">
            <a:avLst/>
          </a:prstGeom>
          <a:noFill/>
          <a:ln/>
        </p:spPr>
        <p:txBody>
          <a:bodyPr wrap="square" lIns="0" tIns="0" rIns="0" bIns="0" rtlCol="0" anchor="ctr"/>
          <a:lstStyle/>
          <a:p>
            <a:pPr indent="0" marL="0">
              <a:lnSpc>
                <a:spcPct val="142000"/>
              </a:lnSpc>
              <a:buNone/>
            </a:pPr>
            <a:r>
              <a:rPr lang="en-US" sz="2350" dirty="0">
                <a:solidFill>
                  <a:srgbClr val="67067C"/>
                </a:solidFill>
                <a:latin typeface="Young Serif" pitchFamily="34" charset="0"/>
                <a:ea typeface="Young Serif" pitchFamily="34" charset="-122"/>
                <a:cs typeface="Young Serif" pitchFamily="34" charset="-120"/>
              </a:rPr>
              <a:t>L</a:t>
            </a:r>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e Sauvignon Blanc, le Chenin et le Pinot Noir sont des cépages polyvalents appréciés à tout moment de la journée ou de la nuit. À partir de raisins cultivés près des célèbres châteaux de la Loire, 7 cuvées sans alcool de qualité sont élaborées par des vignerons dévoués.</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Chenin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 Blanc Blush</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5" name="Text 9"/>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pPr indent="0" marL="0">
              <a:buNone/>
            </a:pPr>
            <a:r>
              <a:rPr lang="en-US" sz="740" dirty="0">
                <a:solidFill>
                  <a:srgbClr val="46606E"/>
                </a:solidFill>
                <a:latin typeface="IBM Plex Sans" pitchFamily="34" charset="0"/>
                <a:ea typeface="IBM Plex Sans" pitchFamily="34" charset="-122"/>
                <a:cs typeface="IBM Plex Sans" pitchFamily="34" charset="-120"/>
              </a:rPr>
              <a:t>Domaine Jean de Villebois et Divin No Low — n°6 p. 13</a:t>
            </a:r>
            <a:endParaRPr lang="en-US" sz="740" dirty="0"/>
          </a:p>
        </p:txBody>
      </p:sp>
      <p:sp>
        <p:nvSpPr>
          <p:cNvPr id="16" name="Shape 10"/>
          <p:cNvSpPr/>
          <p:nvPr/>
        </p:nvSpPr>
        <p:spPr>
          <a:xfrm>
            <a:off x="612000" y="8388000"/>
            <a:ext cx="6120000" cy="0"/>
          </a:xfrm>
          <a:prstGeom prst="line">
            <a:avLst/>
          </a:prstGeom>
          <a:noFill/>
          <a:ln w="8890">
            <a:solidFill>
              <a:srgbClr val="46606E"/>
            </a:solidFill>
            <a:prstDash val="solid"/>
          </a:ln>
        </p:spPr>
      </p:sp>
      <p:sp>
        <p:nvSpPr>
          <p:cNvPr id="17" name="Text 11"/>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18" name="Text 12"/>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19" name="Text 13"/>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Sans alcool     pictos de l’Agence SCIO, pas les logos officiels</a:t>
            </a:r>
            <a:endParaRPr lang="en-US" sz="650" dirty="0"/>
          </a:p>
        </p:txBody>
      </p:sp>
      <p:sp>
        <p:nvSpPr>
          <p:cNvPr id="20" name="Text 1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15</a:t>
            </a:r>
            <a:endParaRPr lang="en-US" sz="750" dirty="0"/>
          </a:p>
        </p:txBody>
      </p:sp>
      <p:sp>
        <p:nvSpPr>
          <p:cNvPr id="21" name="Text 1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alsac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alsac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2 / 10</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Alsace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coteaux du Bruderthal</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15</a:t>
            </a:r>
            <a:endParaRPr lang="en-US" sz="2000" dirty="0"/>
          </a:p>
        </p:txBody>
      </p:sp>
      <p:sp>
        <p:nvSpPr>
          <p:cNvPr id="11" name="Text 7"/>
          <p:cNvSpPr/>
          <p:nvPr/>
        </p:nvSpPr>
        <p:spPr>
          <a:xfrm>
            <a:off x="1836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8   </a:t>
            </a:r>
            <a:pPr indent="0" marL="0">
              <a:buNone/>
            </a:pPr>
            <a:r>
              <a:rPr lang="en-US" sz="860" dirty="0">
                <a:solidFill>
                  <a:srgbClr val="FBF8F1"/>
                </a:solidFill>
                <a:latin typeface="IBM Plex Sans" pitchFamily="34" charset="0"/>
                <a:ea typeface="IBM Plex Sans" pitchFamily="34" charset="-122"/>
                <a:cs typeface="IBM Plex Sans" pitchFamily="34" charset="-120"/>
              </a:rPr>
              <a:t>Domaine Boehler</a:t>
            </a:r>
            <a:pPr indent="0" marL="0">
              <a:buNone/>
            </a:pPr>
            <a:r>
              <a:rPr lang="en-US" sz="860" b="1" dirty="0">
                <a:solidFill>
                  <a:srgbClr val="FBF8F1"/>
                </a:solidFill>
                <a:latin typeface="IBM Plex Sans" pitchFamily="34" charset="0"/>
                <a:ea typeface="IBM Plex Sans" pitchFamily="34" charset="-122"/>
                <a:cs typeface="IBM Plex Sans" pitchFamily="34" charset="-120"/>
              </a:rPr>
              <a:t>   17</a:t>
            </a:r>
            <a:endParaRPr lang="en-US" sz="860" dirty="0"/>
          </a:p>
        </p:txBody>
      </p:sp>
      <p:sp>
        <p:nvSpPr>
          <p:cNvPr id="13" name="Text 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16</a:t>
            </a:r>
            <a:endParaRPr lang="en-US" sz="750" dirty="0"/>
          </a:p>
        </p:txBody>
      </p:sp>
      <p:sp>
        <p:nvSpPr>
          <p:cNvPr id="14" name="Text 1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alsac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8</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Boehler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494725"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94725"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3" name="Image 1" descr="logo du domaine — Domaine Boehler">    </p:cNvPr>
          <p:cNvPicPr>
            <a:picLocks noChangeAspect="1"/>
          </p:cNvPicPr>
          <p:nvPr/>
        </p:nvPicPr>
        <p:blipFill>
          <a:blip r:embed="rId2"/>
          <a:stretch>
            <a:fillRect/>
          </a:stretch>
        </p:blipFill>
        <p:spPr>
          <a:xfrm>
            <a:off x="612000" y="1357200"/>
            <a:ext cx="1440000" cy="1440000"/>
          </a:xfrm>
          <a:prstGeom prst="rect">
            <a:avLst/>
          </a:prstGeom>
        </p:spPr>
      </p:pic>
      <p:pic>
        <p:nvPicPr>
          <p:cNvPr id="14" name="Image 2" descr="Une bouteille du domaine Domaine Boehler">    </p:cNvPr>
          <p:cNvPicPr>
            <a:picLocks noChangeAspect="1"/>
          </p:cNvPicPr>
          <p:nvPr/>
        </p:nvPicPr>
        <p:blipFill>
          <a:blip r:embed="rId3"/>
          <a:stretch>
            <a:fillRect/>
          </a:stretch>
        </p:blipFill>
        <p:spPr>
          <a:xfrm>
            <a:off x="6056066" y="1357200"/>
            <a:ext cx="487869" cy="2232000"/>
          </a:xfrm>
          <a:prstGeom prst="rect">
            <a:avLst/>
          </a:prstGeom>
        </p:spPr>
      </p:pic>
      <p:sp>
        <p:nvSpPr>
          <p:cNvPr id="15" name="Text 10"/>
          <p:cNvSpPr/>
          <p:nvPr/>
        </p:nvSpPr>
        <p:spPr>
          <a:xfrm>
            <a:off x="2232000" y="1357200"/>
            <a:ext cx="3456000" cy="2231900"/>
          </a:xfrm>
          <a:prstGeom prst="rect">
            <a:avLst/>
          </a:prstGeom>
          <a:noFill/>
          <a:ln/>
        </p:spPr>
        <p:txBody>
          <a:bodyPr wrap="square" lIns="0" tIns="0" rIns="0" bIns="0" rtlCol="0" anchor="ctr"/>
          <a:lstStyle/>
          <a:p>
            <a:pPr indent="0" marL="0">
              <a:lnSpc>
                <a:spcPct val="142000"/>
              </a:lnSpc>
              <a:buNone/>
            </a:pPr>
            <a:r>
              <a:rPr lang="en-US" sz="2350" dirty="0">
                <a:solidFill>
                  <a:srgbClr val="67067C"/>
                </a:solidFill>
                <a:latin typeface="Young Serif" pitchFamily="34" charset="0"/>
                <a:ea typeface="Young Serif" pitchFamily="34" charset="-122"/>
                <a:cs typeface="Young Serif" pitchFamily="34" charset="-120"/>
              </a:rPr>
              <a:t>B</a:t>
            </a:r>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erceau de tradition vigneronne à Molsheim, le Domaine Boehler aborde une nouvelle ère sous l’impulsion de Julien et Aurélie. Converti à l’agriculture biologique, le tandem explore ses coteaux et le prestigieux Grand Cru Bruderthal pour des vins verticaux, précis et profonds.</a:t>
            </a:r>
            <a:endParaRPr lang="en-US" sz="13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De 60 à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De 120 à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Plus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Molse Rouge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Seiler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Hahnenberg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Molse Blanc (Assemblage)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Thomen (Assemblage)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Text 11"/>
          <p:cNvSpPr/>
          <p:nvPr/>
        </p:nvSpPr>
        <p:spPr>
          <a:xfrm>
            <a:off x="612000" y="612856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ALSACE — COTEAUX DU BRUDERTHAL</a:t>
            </a:r>
            <a:endParaRPr lang="en-US" sz="720" dirty="0"/>
          </a:p>
        </p:txBody>
      </p:sp>
      <p:pic>
        <p:nvPicPr>
          <p:cNvPr id="18" name="Image 3" descr="/home/user/philippe1/build/deco/sol-alsace.png">    </p:cNvPr>
          <p:cNvPicPr>
            <a:picLocks noChangeAspect="1"/>
          </p:cNvPicPr>
          <p:nvPr/>
        </p:nvPicPr>
        <p:blipFill>
          <a:blip r:embed="rId4"/>
          <a:stretch>
            <a:fillRect/>
          </a:stretch>
        </p:blipFill>
        <p:spPr>
          <a:xfrm>
            <a:off x="612000" y="6276164"/>
            <a:ext cx="6120000" cy="1148400"/>
          </a:xfrm>
          <a:prstGeom prst="rect">
            <a:avLst/>
          </a:prstGeom>
        </p:spPr>
      </p:pic>
      <p:sp>
        <p:nvSpPr>
          <p:cNvPr id="19" name="Shape 12"/>
          <p:cNvSpPr/>
          <p:nvPr/>
        </p:nvSpPr>
        <p:spPr>
          <a:xfrm>
            <a:off x="612000" y="8388000"/>
            <a:ext cx="6120000" cy="0"/>
          </a:xfrm>
          <a:prstGeom prst="line">
            <a:avLst/>
          </a:prstGeom>
          <a:noFill/>
          <a:ln w="8890">
            <a:solidFill>
              <a:srgbClr val="46606E"/>
            </a:solidFill>
            <a:prstDash val="solid"/>
          </a:ln>
        </p:spPr>
      </p:sp>
      <p:sp>
        <p:nvSpPr>
          <p:cNvPr id="20" name="Text 13"/>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Conditions de port non précisées par le domaine — nous consulter.</a:t>
            </a:r>
            <a:endParaRPr lang="en-US" sz="720" dirty="0"/>
          </a:p>
        </p:txBody>
      </p:sp>
      <p:sp>
        <p:nvSpPr>
          <p:cNvPr id="21" name="Text 14"/>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22"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Doux     pictos de l’Agence SCIO, pas les logos officiels</a:t>
            </a:r>
            <a:endParaRPr lang="en-US" sz="650" dirty="0"/>
          </a:p>
        </p:txBody>
      </p:sp>
      <p:sp>
        <p:nvSpPr>
          <p:cNvPr id="23"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17</a:t>
            </a:r>
            <a:endParaRPr lang="en-US" sz="750" dirty="0"/>
          </a:p>
        </p:txBody>
      </p:sp>
      <p:sp>
        <p:nvSpPr>
          <p:cNvPr id="24"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alsac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8</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Boehler</a:t>
            </a:r>
            <a:pPr indent="0" marL="0">
              <a:lnSpc>
                <a:spcPct val="104000"/>
              </a:lnSpc>
              <a:buNone/>
            </a:pP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10725"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De 60 à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De 120 à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Plus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Leimen (Sylvaner)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Taubenstein (Pinot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Pfann (Pinot Gris)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Holderhurst (Riesling)</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Hahnenberg (Riesling)</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Bruderthal (Riesling)</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Bruderthal (Gewurztraminer)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Crémant d’Alsace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Brut 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Saint-Georges (Pinot Gris)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Saint-Georges (Gewurztraminer)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4" name="Text 10"/>
          <p:cNvSpPr/>
          <p:nvPr/>
        </p:nvSpPr>
        <p:spPr>
          <a:xfrm>
            <a:off x="828000" y="566303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ALSACE — COTEAUX DU BRUDERTHAL</a:t>
            </a:r>
            <a:endParaRPr lang="en-US" sz="720" dirty="0"/>
          </a:p>
        </p:txBody>
      </p:sp>
      <p:pic>
        <p:nvPicPr>
          <p:cNvPr id="15" name="Image 1" descr="/home/user/philippe1/build/deco/sol-alsace.png">    </p:cNvPr>
          <p:cNvPicPr>
            <a:picLocks noChangeAspect="1"/>
          </p:cNvPicPr>
          <p:nvPr/>
        </p:nvPicPr>
        <p:blipFill>
          <a:blip r:embed="rId2"/>
          <a:stretch>
            <a:fillRect/>
          </a:stretch>
        </p:blipFill>
        <p:spPr>
          <a:xfrm>
            <a:off x="828000" y="5810630"/>
            <a:ext cx="6120000" cy="1357950"/>
          </a:xfrm>
          <a:prstGeom prst="rect">
            <a:avLst/>
          </a:prstGeom>
        </p:spPr>
      </p:pic>
      <p:sp>
        <p:nvSpPr>
          <p:cNvPr id="16" name="Shape 11"/>
          <p:cNvSpPr/>
          <p:nvPr/>
        </p:nvSpPr>
        <p:spPr>
          <a:xfrm>
            <a:off x="828000" y="8388000"/>
            <a:ext cx="6120000" cy="0"/>
          </a:xfrm>
          <a:prstGeom prst="line">
            <a:avLst/>
          </a:prstGeom>
          <a:noFill/>
          <a:ln w="8890">
            <a:solidFill>
              <a:srgbClr val="46606E"/>
            </a:solidFill>
            <a:prstDash val="solid"/>
          </a:ln>
        </p:spPr>
      </p:sp>
      <p:sp>
        <p:nvSpPr>
          <p:cNvPr id="17" name="Text 12"/>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Conditions de port non précisées par le domaine — nous consulter.</a:t>
            </a:r>
            <a:endParaRPr lang="en-US" sz="720" dirty="0"/>
          </a:p>
        </p:txBody>
      </p:sp>
      <p:sp>
        <p:nvSpPr>
          <p:cNvPr id="18" name="Text 13"/>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19" name="Text 14"/>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Doux     pictos de l’Agence SCIO, pas les logos officiels</a:t>
            </a:r>
            <a:endParaRPr lang="en-US" sz="650" dirty="0"/>
          </a:p>
        </p:txBody>
      </p:sp>
      <p:sp>
        <p:nvSpPr>
          <p:cNvPr id="20" name="Text 15"/>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18</a:t>
            </a:r>
            <a:endParaRPr lang="en-US" sz="750" dirty="0"/>
          </a:p>
        </p:txBody>
      </p:sp>
      <p:sp>
        <p:nvSpPr>
          <p:cNvPr id="21" name="Text 16"/>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beaujolais.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beaujolais.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BEAUJOLAIS</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3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Beaujolais</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le Clos des Nugues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8</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9   </a:t>
            </a:r>
            <a:pPr indent="0" marL="0">
              <a:buNone/>
            </a:pPr>
            <a:r>
              <a:rPr lang="en-US" sz="860" dirty="0">
                <a:solidFill>
                  <a:srgbClr val="FBF8F1"/>
                </a:solidFill>
                <a:latin typeface="IBM Plex Sans" pitchFamily="34" charset="0"/>
                <a:ea typeface="IBM Plex Sans" pitchFamily="34" charset="-122"/>
                <a:cs typeface="IBM Plex Sans" pitchFamily="34" charset="-120"/>
              </a:rPr>
              <a:t>Domaine des Nugues</a:t>
            </a:r>
            <a:pPr indent="0" marL="0">
              <a:buNone/>
            </a:pPr>
            <a:r>
              <a:rPr lang="en-US" sz="860" b="1" dirty="0">
                <a:solidFill>
                  <a:srgbClr val="FBF8F1"/>
                </a:solidFill>
                <a:latin typeface="IBM Plex Sans" pitchFamily="34" charset="0"/>
                <a:ea typeface="IBM Plex Sans" pitchFamily="34" charset="-122"/>
                <a:cs typeface="IBM Plex Sans" pitchFamily="34" charset="-120"/>
              </a:rPr>
              <a:t>   20</a:t>
            </a:r>
            <a:endParaRPr lang="en-US" sz="860" dirty="0"/>
          </a:p>
        </p:txBody>
      </p:sp>
      <p:sp>
        <p:nvSpPr>
          <p:cNvPr id="13" name="Text 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19</a:t>
            </a:r>
            <a:endParaRPr lang="en-US" sz="750" dirty="0"/>
          </a:p>
        </p:txBody>
      </p:sp>
      <p:sp>
        <p:nvSpPr>
          <p:cNvPr id="14" name="Text 1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eaujolais.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BEAUJOLAIS</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9</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des Nugues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BEAUJOLAIS</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80548"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9" name="Shape 6"/>
          <p:cNvSpPr/>
          <p:nvPr/>
        </p:nvSpPr>
        <p:spPr>
          <a:xfrm>
            <a:off x="1287748"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877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52422"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52422"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3" name="Image 1" descr="portrait des vignerons — Domaine des Nugues">    </p:cNvPr>
          <p:cNvPicPr>
            <a:picLocks noChangeAspect="1"/>
          </p:cNvPicPr>
          <p:nvPr/>
        </p:nvPicPr>
        <p:blipFill>
          <a:blip r:embed="rId2"/>
          <a:srcRect l="0" r="0" t="10991" b="22342"/>
          <a:stretch/>
        </p:blipFill>
        <p:spPr>
          <a:xfrm>
            <a:off x="828000" y="1357200"/>
            <a:ext cx="1440000" cy="1440000"/>
          </a:xfrm>
          <a:prstGeom prst="ellipse">
            <a:avLst/>
          </a:prstGeom>
        </p:spPr>
      </p:pic>
      <p:pic>
        <p:nvPicPr>
          <p:cNvPr id="14" name="Image 2" descr="Une bouteille du domaine Domaine des Nugues">    </p:cNvPr>
          <p:cNvPicPr>
            <a:picLocks noChangeAspect="1"/>
          </p:cNvPicPr>
          <p:nvPr/>
        </p:nvPicPr>
        <p:blipFill>
          <a:blip r:embed="rId3"/>
          <a:stretch>
            <a:fillRect/>
          </a:stretch>
        </p:blipFill>
        <p:spPr>
          <a:xfrm>
            <a:off x="6226328" y="1357200"/>
            <a:ext cx="579344" cy="2232000"/>
          </a:xfrm>
          <a:prstGeom prst="rect">
            <a:avLst/>
          </a:prstGeom>
        </p:spPr>
      </p:pic>
      <p:sp>
        <p:nvSpPr>
          <p:cNvPr id="15" name="Text 10"/>
          <p:cNvSpPr/>
          <p:nvPr/>
        </p:nvSpPr>
        <p:spPr>
          <a:xfrm>
            <a:off x="2448000" y="1357200"/>
            <a:ext cx="3456000" cy="2231900"/>
          </a:xfrm>
          <a:prstGeom prst="rect">
            <a:avLst/>
          </a:prstGeom>
          <a:noFill/>
          <a:ln/>
        </p:spPr>
        <p:txBody>
          <a:bodyPr wrap="square" lIns="0" tIns="0" rIns="0" bIns="0" rtlCol="0" anchor="ctr"/>
          <a:lstStyle/>
          <a:p>
            <a:pPr indent="0" marL="0">
              <a:lnSpc>
                <a:spcPct val="142000"/>
              </a:lnSpc>
              <a:buNone/>
            </a:pPr>
            <a:r>
              <a:rPr lang="en-US" sz="1800" dirty="0">
                <a:solidFill>
                  <a:srgbClr val="67067C"/>
                </a:solidFill>
                <a:latin typeface="Young Serif" pitchFamily="34" charset="0"/>
                <a:ea typeface="Young Serif" pitchFamily="34" charset="-122"/>
                <a:cs typeface="Young Serif" pitchFamily="34" charset="-120"/>
              </a:rPr>
              <a:t>E</a:t>
            </a:r>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n 1976, mon père, Gérard Gelin, fils et petit-fils de vigneron a acheté « le Clos des Nugues », c’est de là que vient le nom du Domaine. En 2000, je me suis associé avec mes parents afin de poursuivre le développement de l’exploitation. Puis, en 2008, vient le départ en retraite de mon père et l’arrivée de mon épouse Magali. En 2010, reprise totale du Domaine familial. En 2018, certification HVE (Haute Valeur Environnementale) de notre exploitation. Depuis 1976 et au fil des années, nous avons acheté des parcelles à proximité du Domaine.</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Fleurie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8,65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19,55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Beaujolais-Villages sans soufre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Coups de Folies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Mâcon-Villages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 Chardonnay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Text 11"/>
          <p:cNvSpPr/>
          <p:nvPr/>
        </p:nvSpPr>
        <p:spPr>
          <a:xfrm>
            <a:off x="828000" y="728272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BEAUJOLAIS — LE CLOS DES NUGUES</a:t>
            </a:r>
            <a:endParaRPr lang="en-US" sz="720" dirty="0"/>
          </a:p>
        </p:txBody>
      </p:sp>
      <p:pic>
        <p:nvPicPr>
          <p:cNvPr id="18" name="Image 3" descr="/home/user/philippe1/build/deco/sol-beaujolais.png">    </p:cNvPr>
          <p:cNvPicPr>
            <a:picLocks noChangeAspect="1"/>
          </p:cNvPicPr>
          <p:nvPr/>
        </p:nvPicPr>
        <p:blipFill>
          <a:blip r:embed="rId4"/>
          <a:stretch>
            <a:fillRect/>
          </a:stretch>
        </p:blipFill>
        <p:spPr>
          <a:xfrm>
            <a:off x="828000" y="7430326"/>
            <a:ext cx="6120000" cy="657953"/>
          </a:xfrm>
          <a:prstGeom prst="rect">
            <a:avLst/>
          </a:prstGeom>
        </p:spPr>
      </p:pic>
      <p:sp>
        <p:nvSpPr>
          <p:cNvPr id="19" name="Shape 12"/>
          <p:cNvSpPr/>
          <p:nvPr/>
        </p:nvSpPr>
        <p:spPr>
          <a:xfrm>
            <a:off x="828000" y="8388000"/>
            <a:ext cx="6120000" cy="0"/>
          </a:xfrm>
          <a:prstGeom prst="line">
            <a:avLst/>
          </a:prstGeom>
          <a:noFill/>
          <a:ln w="8890">
            <a:solidFill>
              <a:srgbClr val="46606E"/>
            </a:solidFill>
            <a:prstDash val="solid"/>
          </a:ln>
        </p:spPr>
      </p:sp>
      <p:sp>
        <p:nvSpPr>
          <p:cNvPr id="20" name="Text 13"/>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1" name="Text 14"/>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3"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20</a:t>
            </a:r>
            <a:endParaRPr lang="en-US" sz="750" dirty="0"/>
          </a:p>
        </p:txBody>
      </p:sp>
      <p:sp>
        <p:nvSpPr>
          <p:cNvPr id="24"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bourgog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bourgogn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4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Bourgogne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climats et terrasses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57</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10   </a:t>
            </a:r>
            <a:pPr indent="0" marL="0">
              <a:buNone/>
            </a:pPr>
            <a:r>
              <a:rPr lang="en-US" sz="860" dirty="0">
                <a:solidFill>
                  <a:srgbClr val="FBF8F1"/>
                </a:solidFill>
                <a:latin typeface="IBM Plex Sans" pitchFamily="34" charset="0"/>
                <a:ea typeface="IBM Plex Sans" pitchFamily="34" charset="-122"/>
                <a:cs typeface="IBM Plex Sans" pitchFamily="34" charset="-120"/>
              </a:rPr>
              <a:t>Domaine Sébastien Magnien</a:t>
            </a:r>
            <a:pPr indent="0" marL="0">
              <a:buNone/>
            </a:pPr>
            <a:r>
              <a:rPr lang="en-US" sz="860" b="1" dirty="0">
                <a:solidFill>
                  <a:srgbClr val="FBF8F1"/>
                </a:solidFill>
                <a:latin typeface="IBM Plex Sans" pitchFamily="34" charset="0"/>
                <a:ea typeface="IBM Plex Sans" pitchFamily="34" charset="-122"/>
                <a:cs typeface="IBM Plex Sans" pitchFamily="34" charset="-120"/>
              </a:rPr>
              <a:t>   22</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11   </a:t>
            </a:r>
            <a:pPr indent="0" marL="0">
              <a:buNone/>
            </a:pPr>
            <a:r>
              <a:rPr lang="en-US" sz="860" dirty="0">
                <a:solidFill>
                  <a:srgbClr val="FBF8F1"/>
                </a:solidFill>
                <a:latin typeface="IBM Plex Sans" pitchFamily="34" charset="0"/>
                <a:ea typeface="IBM Plex Sans" pitchFamily="34" charset="-122"/>
                <a:cs typeface="IBM Plex Sans" pitchFamily="34" charset="-120"/>
              </a:rPr>
              <a:t>Domaine Nadine Ferrand</a:t>
            </a:r>
            <a:pPr indent="0" marL="0">
              <a:buNone/>
            </a:pPr>
            <a:r>
              <a:rPr lang="en-US" sz="860" b="1" dirty="0">
                <a:solidFill>
                  <a:srgbClr val="FBF8F1"/>
                </a:solidFill>
                <a:latin typeface="IBM Plex Sans" pitchFamily="34" charset="0"/>
                <a:ea typeface="IBM Plex Sans" pitchFamily="34" charset="-122"/>
                <a:cs typeface="IBM Plex Sans" pitchFamily="34" charset="-120"/>
              </a:rPr>
              <a:t>   24</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12   </a:t>
            </a:r>
            <a:pPr indent="0" marL="0">
              <a:buNone/>
            </a:pPr>
            <a:r>
              <a:rPr lang="en-US" sz="860" dirty="0">
                <a:solidFill>
                  <a:srgbClr val="FBF8F1"/>
                </a:solidFill>
                <a:latin typeface="IBM Plex Sans" pitchFamily="34" charset="0"/>
                <a:ea typeface="IBM Plex Sans" pitchFamily="34" charset="-122"/>
                <a:cs typeface="IBM Plex Sans" pitchFamily="34" charset="-120"/>
              </a:rPr>
              <a:t>Maison et Domaine André Goichot</a:t>
            </a:r>
            <a:pPr indent="0" marL="0">
              <a:buNone/>
            </a:pPr>
            <a:r>
              <a:rPr lang="en-US" sz="860" b="1" dirty="0">
                <a:solidFill>
                  <a:srgbClr val="FBF8F1"/>
                </a:solidFill>
                <a:latin typeface="IBM Plex Sans" pitchFamily="34" charset="0"/>
                <a:ea typeface="IBM Plex Sans" pitchFamily="34" charset="-122"/>
                <a:cs typeface="IBM Plex Sans" pitchFamily="34" charset="-120"/>
              </a:rPr>
              <a:t>   25</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13   </a:t>
            </a:r>
            <a:pPr indent="0" marL="0">
              <a:buNone/>
            </a:pPr>
            <a:r>
              <a:rPr lang="en-US" sz="860" dirty="0">
                <a:solidFill>
                  <a:srgbClr val="FBF8F1"/>
                </a:solidFill>
                <a:latin typeface="IBM Plex Sans" pitchFamily="34" charset="0"/>
                <a:ea typeface="IBM Plex Sans" pitchFamily="34" charset="-122"/>
                <a:cs typeface="IBM Plex Sans" pitchFamily="34" charset="-120"/>
              </a:rPr>
              <a:t>Château du Cray</a:t>
            </a:r>
            <a:pPr indent="0" marL="0">
              <a:buNone/>
            </a:pPr>
            <a:r>
              <a:rPr lang="en-US" sz="860" b="1" dirty="0">
                <a:solidFill>
                  <a:srgbClr val="FBF8F1"/>
                </a:solidFill>
                <a:latin typeface="IBM Plex Sans" pitchFamily="34" charset="0"/>
                <a:ea typeface="IBM Plex Sans" pitchFamily="34" charset="-122"/>
                <a:cs typeface="IBM Plex Sans" pitchFamily="34" charset="-120"/>
              </a:rPr>
              <a:t>   27</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14   </a:t>
            </a:r>
            <a:pPr indent="0" marL="0">
              <a:buNone/>
            </a:pPr>
            <a:r>
              <a:rPr lang="en-US" sz="860" dirty="0">
                <a:solidFill>
                  <a:srgbClr val="FBF8F1"/>
                </a:solidFill>
                <a:latin typeface="IBM Plex Sans" pitchFamily="34" charset="0"/>
                <a:ea typeface="IBM Plex Sans" pitchFamily="34" charset="-122"/>
                <a:cs typeface="IBM Plex Sans" pitchFamily="34" charset="-120"/>
              </a:rPr>
              <a:t>Domaine Les Guignottes</a:t>
            </a:r>
            <a:pPr indent="0" marL="0">
              <a:buNone/>
            </a:pPr>
            <a:r>
              <a:rPr lang="en-US" sz="860" b="1" dirty="0">
                <a:solidFill>
                  <a:srgbClr val="FBF8F1"/>
                </a:solidFill>
                <a:latin typeface="IBM Plex Sans" pitchFamily="34" charset="0"/>
                <a:ea typeface="IBM Plex Sans" pitchFamily="34" charset="-122"/>
                <a:cs typeface="IBM Plex Sans" pitchFamily="34" charset="-120"/>
              </a:rPr>
              <a:t>   28</a:t>
            </a:r>
            <a:endParaRPr lang="en-US" sz="860" dirty="0"/>
          </a:p>
        </p:txBody>
      </p:sp>
      <p:sp>
        <p:nvSpPr>
          <p:cNvPr id="17" name="Text 13"/>
          <p:cNvSpPr/>
          <p:nvPr/>
        </p:nvSpPr>
        <p:spPr>
          <a:xfrm>
            <a:off x="367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15   </a:t>
            </a:r>
            <a:pPr indent="0" marL="0">
              <a:buNone/>
            </a:pPr>
            <a:r>
              <a:rPr lang="en-US" sz="860" dirty="0">
                <a:solidFill>
                  <a:srgbClr val="FBF8F1"/>
                </a:solidFill>
                <a:latin typeface="IBM Plex Sans" pitchFamily="34" charset="0"/>
                <a:ea typeface="IBM Plex Sans" pitchFamily="34" charset="-122"/>
                <a:cs typeface="IBM Plex Sans" pitchFamily="34" charset="-120"/>
              </a:rPr>
              <a:t>Domaine des Verchères</a:t>
            </a:r>
            <a:pPr indent="0" marL="0">
              <a:buNone/>
            </a:pPr>
            <a:r>
              <a:rPr lang="en-US" sz="860" b="1" dirty="0">
                <a:solidFill>
                  <a:srgbClr val="FBF8F1"/>
                </a:solidFill>
                <a:latin typeface="IBM Plex Sans" pitchFamily="34" charset="0"/>
                <a:ea typeface="IBM Plex Sans" pitchFamily="34" charset="-122"/>
                <a:cs typeface="IBM Plex Sans" pitchFamily="34" charset="-120"/>
              </a:rPr>
              <a:t>   29</a:t>
            </a:r>
            <a:endParaRPr lang="en-US" sz="860" dirty="0"/>
          </a:p>
        </p:txBody>
      </p:sp>
      <p:sp>
        <p:nvSpPr>
          <p:cNvPr id="18" name="Text 1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21</a:t>
            </a:r>
            <a:endParaRPr lang="en-US" sz="750" dirty="0"/>
          </a:p>
        </p:txBody>
      </p:sp>
      <p:sp>
        <p:nvSpPr>
          <p:cNvPr id="19" name="Text 1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10</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Sébastien Magnien</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86766"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86766"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AOP</a:t>
            </a:r>
            <a:endParaRPr lang="en-US" sz="720" dirty="0"/>
          </a:p>
        </p:txBody>
      </p:sp>
      <p:sp>
        <p:nvSpPr>
          <p:cNvPr id="9" name="Shape 6"/>
          <p:cNvSpPr/>
          <p:nvPr/>
        </p:nvSpPr>
        <p:spPr>
          <a:xfrm>
            <a:off x="1293966" y="10476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93966"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2004077"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2004077"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68750" y="1047600"/>
            <a:ext cx="787182"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68750"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5" name="Image 1" descr="portrait au chai, recadré au-dessus du verre — Domaine Sébastien Magnien">    </p:cNvPr>
          <p:cNvPicPr>
            <a:picLocks noChangeAspect="1"/>
          </p:cNvPicPr>
          <p:nvPr/>
        </p:nvPicPr>
        <p:blipFill>
          <a:blip r:embed="rId2"/>
          <a:stretch>
            <a:fillRect/>
          </a:stretch>
        </p:blipFill>
        <p:spPr>
          <a:xfrm>
            <a:off x="828000" y="1357200"/>
            <a:ext cx="1440000" cy="1440000"/>
          </a:xfrm>
          <a:prstGeom prst="rect">
            <a:avLst/>
          </a:prstGeom>
        </p:spPr>
      </p:pic>
      <p:pic>
        <p:nvPicPr>
          <p:cNvPr id="16" name="Image 2" descr="Une bouteille du domaine Domaine Sébastien Magnien">    </p:cNvPr>
          <p:cNvPicPr>
            <a:picLocks noChangeAspect="1"/>
          </p:cNvPicPr>
          <p:nvPr/>
        </p:nvPicPr>
        <p:blipFill>
          <a:blip r:embed="rId3"/>
          <a:stretch>
            <a:fillRect/>
          </a:stretch>
        </p:blipFill>
        <p:spPr>
          <a:xfrm>
            <a:off x="6223279" y="1357200"/>
            <a:ext cx="585443" cy="2232000"/>
          </a:xfrm>
          <a:prstGeom prst="rect">
            <a:avLst/>
          </a:prstGeom>
        </p:spPr>
      </p:pic>
      <p:sp>
        <p:nvSpPr>
          <p:cNvPr id="17" name="Text 12"/>
          <p:cNvSpPr/>
          <p:nvPr/>
        </p:nvSpPr>
        <p:spPr>
          <a:xfrm>
            <a:off x="2448000" y="1357200"/>
            <a:ext cx="3456000" cy="2231900"/>
          </a:xfrm>
          <a:prstGeom prst="rect">
            <a:avLst/>
          </a:prstGeom>
          <a:noFill/>
          <a:ln/>
        </p:spPr>
        <p:txBody>
          <a:bodyPr wrap="square" lIns="0" tIns="0" rIns="0" bIns="0" rtlCol="0" anchor="ctr"/>
          <a:lstStyle/>
          <a:p>
            <a:pPr indent="0" marL="0">
              <a:lnSpc>
                <a:spcPct val="142000"/>
              </a:lnSpc>
              <a:buNone/>
            </a:pPr>
            <a:r>
              <a:rPr lang="en-US" sz="2350" dirty="0">
                <a:solidFill>
                  <a:srgbClr val="67067C"/>
                </a:solidFill>
                <a:latin typeface="Young Serif" pitchFamily="34" charset="0"/>
                <a:ea typeface="Young Serif" pitchFamily="34" charset="-122"/>
                <a:cs typeface="Young Serif" pitchFamily="34" charset="-120"/>
              </a:rPr>
              <a:t>I</a:t>
            </a:r>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nstallé à Meursault depuis 2004, Sébastien Magnien conduit 12 hectares sur les terroirs d’élite de la Côte de Beaune et des Hautes-Côtes (Pommard, Volnay, Puligny, Saint-Romain). Vendanges manuelles et élevages en fûts de chêne signent des Pinots et Chardonnays d’élégance et de tension.</a:t>
            </a:r>
            <a:endParaRPr lang="en-US" sz="13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 Aligoté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Hautes-Côtes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Sous le Château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Charrons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Text 13"/>
          <p:cNvSpPr/>
          <p:nvPr/>
        </p:nvSpPr>
        <p:spPr>
          <a:xfrm>
            <a:off x="828000" y="606724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0" name="Image 3" descr="/home/user/philippe1/build/deco/sol-bourgogne.png">    </p:cNvPr>
          <p:cNvPicPr>
            <a:picLocks noChangeAspect="1"/>
          </p:cNvPicPr>
          <p:nvPr/>
        </p:nvPicPr>
        <p:blipFill>
          <a:blip r:embed="rId4"/>
          <a:stretch>
            <a:fillRect/>
          </a:stretch>
        </p:blipFill>
        <p:spPr>
          <a:xfrm>
            <a:off x="828000" y="6214847"/>
            <a:ext cx="6120000" cy="1148400"/>
          </a:xfrm>
          <a:prstGeom prst="rect">
            <a:avLst/>
          </a:prstGeom>
        </p:spPr>
      </p:pic>
      <p:sp>
        <p:nvSpPr>
          <p:cNvPr id="21" name="Shape 14"/>
          <p:cNvSpPr/>
          <p:nvPr/>
        </p:nvSpPr>
        <p:spPr>
          <a:xfrm>
            <a:off x="828000" y="8388000"/>
            <a:ext cx="6120000" cy="0"/>
          </a:xfrm>
          <a:prstGeom prst="line">
            <a:avLst/>
          </a:prstGeom>
          <a:noFill/>
          <a:ln w="8890">
            <a:solidFill>
              <a:srgbClr val="46606E"/>
            </a:solidFill>
            <a:prstDash val="solid"/>
          </a:ln>
        </p:spPr>
      </p:sp>
      <p:sp>
        <p:nvSpPr>
          <p:cNvPr id="22" name="Text 15"/>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3" name="Text 16"/>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5"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22</a:t>
            </a:r>
            <a:endParaRPr lang="en-US" sz="750" dirty="0"/>
          </a:p>
        </p:txBody>
      </p:sp>
      <p:sp>
        <p:nvSpPr>
          <p:cNvPr id="26"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10</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Sébastien Magnien</a:t>
            </a:r>
            <a:pPr indent="0" marL="0">
              <a:lnSpc>
                <a:spcPct val="104000"/>
              </a:lnSpc>
              <a:buNone/>
            </a:pP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86766"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86766"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AOP</a:t>
            </a:r>
            <a:endParaRPr lang="en-US" sz="720" dirty="0"/>
          </a:p>
        </p:txBody>
      </p:sp>
      <p:sp>
        <p:nvSpPr>
          <p:cNvPr id="9" name="Shape 6"/>
          <p:cNvSpPr/>
          <p:nvPr/>
        </p:nvSpPr>
        <p:spPr>
          <a:xfrm>
            <a:off x="1077966" y="10476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077966"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1788077"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788077"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252750" y="1047600"/>
            <a:ext cx="787182"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252750"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2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Meix Chavaux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37,00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Beaune 1er Cru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Puligny-Montrachet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Folatières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11,75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12,75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Clos de la Perrière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Bons Feuvres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Perrières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Petits Noizons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Aigrots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6" name="Text 12"/>
          <p:cNvSpPr/>
          <p:nvPr/>
        </p:nvSpPr>
        <p:spPr>
          <a:xfrm>
            <a:off x="612000" y="56017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7" name="Image 1" descr="/home/user/philippe1/build/deco/sol-bourgogne.png">    </p:cNvPr>
          <p:cNvPicPr>
            <a:picLocks noChangeAspect="1"/>
          </p:cNvPicPr>
          <p:nvPr/>
        </p:nvPicPr>
        <p:blipFill>
          <a:blip r:embed="rId2"/>
          <a:stretch>
            <a:fillRect/>
          </a:stretch>
        </p:blipFill>
        <p:spPr>
          <a:xfrm>
            <a:off x="612000" y="5749313"/>
            <a:ext cx="6120000" cy="1394740"/>
          </a:xfrm>
          <a:prstGeom prst="rect">
            <a:avLst/>
          </a:prstGeom>
        </p:spPr>
      </p:pic>
      <p:sp>
        <p:nvSpPr>
          <p:cNvPr id="18" name="Shape 13"/>
          <p:cNvSpPr/>
          <p:nvPr/>
        </p:nvSpPr>
        <p:spPr>
          <a:xfrm>
            <a:off x="612000" y="8388000"/>
            <a:ext cx="6120000" cy="0"/>
          </a:xfrm>
          <a:prstGeom prst="line">
            <a:avLst/>
          </a:prstGeom>
          <a:noFill/>
          <a:ln w="8890">
            <a:solidFill>
              <a:srgbClr val="46606E"/>
            </a:solidFill>
            <a:prstDash val="solid"/>
          </a:ln>
        </p:spPr>
      </p:sp>
      <p:sp>
        <p:nvSpPr>
          <p:cNvPr id="19" name="Text 14"/>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0" name="Text 15"/>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1"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2"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23</a:t>
            </a:r>
            <a:endParaRPr lang="en-US" sz="750" dirty="0"/>
          </a:p>
        </p:txBody>
      </p:sp>
      <p:sp>
        <p:nvSpPr>
          <p:cNvPr id="23"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11</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Nadine Ferrand</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86766"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86766"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AOP</a:t>
            </a:r>
            <a:endParaRPr lang="en-US" sz="720" dirty="0"/>
          </a:p>
        </p:txBody>
      </p:sp>
      <p:sp>
        <p:nvSpPr>
          <p:cNvPr id="9" name="Shape 6"/>
          <p:cNvSpPr/>
          <p:nvPr/>
        </p:nvSpPr>
        <p:spPr>
          <a:xfrm>
            <a:off x="1293966" y="10476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93966"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2004077"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2004077"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68750" y="10476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68750"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5" name="Image 1" descr="les vigneronnes au chai, noir et blanc — Domaine Nadine Ferrand">    </p:cNvPr>
          <p:cNvPicPr>
            <a:picLocks noChangeAspect="1"/>
          </p:cNvPicPr>
          <p:nvPr/>
        </p:nvPicPr>
        <p:blipFill>
          <a:blip r:embed="rId2"/>
          <a:srcRect l="26875" r="16875" t="0" b="0"/>
          <a:stretch/>
        </p:blipFill>
        <p:spPr>
          <a:xfrm>
            <a:off x="828000" y="1357200"/>
            <a:ext cx="1440000" cy="1440000"/>
          </a:xfrm>
          <a:prstGeom prst="ellipse">
            <a:avLst/>
          </a:prstGeom>
        </p:spPr>
      </p:pic>
      <p:pic>
        <p:nvPicPr>
          <p:cNvPr id="16" name="Image 2" descr="Une bouteille du domaine Domaine Nadine Ferrand">    </p:cNvPr>
          <p:cNvPicPr>
            <a:picLocks noChangeAspect="1"/>
          </p:cNvPicPr>
          <p:nvPr/>
        </p:nvPicPr>
        <p:blipFill>
          <a:blip r:embed="rId3"/>
          <a:stretch>
            <a:fillRect/>
          </a:stretch>
        </p:blipFill>
        <p:spPr>
          <a:xfrm>
            <a:off x="6221754" y="1357200"/>
            <a:ext cx="588492" cy="2232000"/>
          </a:xfrm>
          <a:prstGeom prst="rect">
            <a:avLst/>
          </a:prstGeom>
        </p:spPr>
      </p:pic>
      <p:sp>
        <p:nvSpPr>
          <p:cNvPr id="17" name="Text 12"/>
          <p:cNvSpPr/>
          <p:nvPr/>
        </p:nvSpPr>
        <p:spPr>
          <a:xfrm>
            <a:off x="2448000" y="1357200"/>
            <a:ext cx="3456000" cy="2231900"/>
          </a:xfrm>
          <a:prstGeom prst="rect">
            <a:avLst/>
          </a:prstGeom>
          <a:noFill/>
          <a:ln/>
        </p:spPr>
        <p:txBody>
          <a:bodyPr wrap="square" lIns="0" tIns="0" rIns="0" bIns="0" rtlCol="0" anchor="ctr"/>
          <a:lstStyle/>
          <a:p>
            <a:pPr indent="0" marL="0">
              <a:lnSpc>
                <a:spcPct val="142000"/>
              </a:lnSpc>
              <a:buNone/>
            </a:pPr>
            <a:r>
              <a:rPr lang="en-US" sz="2000" dirty="0">
                <a:solidFill>
                  <a:srgbClr val="67067C"/>
                </a:solidFill>
                <a:latin typeface="Young Serif" pitchFamily="34" charset="0"/>
                <a:ea typeface="Young Serif" pitchFamily="34" charset="-122"/>
                <a:cs typeface="Young Serif" pitchFamily="34" charset="-120"/>
              </a:rPr>
              <a:t>D</a:t>
            </a:r>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epuis des générations, la tradition familiale vigneronne est perpétuée au cœur de l'appellation Pouilly Fuissé. Rejoint par une nouvelle génération en 2012, le domaine a mis en place une stratégie d'exportation ambitieuse qui a propulsé ses vins vers une renommée mondiale. En 2018, l'inauguration d'un caveau de dégustation modernisé a ouvert les portes du domaine à une clientèle internationale, offrant une expérience unique et mémorable.</a:t>
            </a:r>
            <a:endParaRPr lang="en-US" sz="11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Pouilly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Lise-Marie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Viré-Clessé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 Solutré-Pouilly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 Charnay-lès-Mâcon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Signature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Text 13"/>
          <p:cNvSpPr/>
          <p:nvPr/>
        </p:nvSpPr>
        <p:spPr>
          <a:xfrm>
            <a:off x="828000" y="6836688"/>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0" name="Image 3" descr="/home/user/philippe1/build/deco/sol-bourgogne.png">    </p:cNvPr>
          <p:cNvPicPr>
            <a:picLocks noChangeAspect="1"/>
          </p:cNvPicPr>
          <p:nvPr/>
        </p:nvPicPr>
        <p:blipFill>
          <a:blip r:embed="rId4"/>
          <a:stretch>
            <a:fillRect/>
          </a:stretch>
        </p:blipFill>
        <p:spPr>
          <a:xfrm>
            <a:off x="828000" y="6984288"/>
            <a:ext cx="6120000" cy="1103991"/>
          </a:xfrm>
          <a:prstGeom prst="rect">
            <a:avLst/>
          </a:prstGeom>
        </p:spPr>
      </p:pic>
      <p:sp>
        <p:nvSpPr>
          <p:cNvPr id="21" name="Shape 14"/>
          <p:cNvSpPr/>
          <p:nvPr/>
        </p:nvSpPr>
        <p:spPr>
          <a:xfrm>
            <a:off x="828000" y="8388000"/>
            <a:ext cx="6120000" cy="0"/>
          </a:xfrm>
          <a:prstGeom prst="line">
            <a:avLst/>
          </a:prstGeom>
          <a:noFill/>
          <a:ln w="8890">
            <a:solidFill>
              <a:srgbClr val="46606E"/>
            </a:solidFill>
            <a:prstDash val="solid"/>
          </a:ln>
        </p:spPr>
      </p:sp>
      <p:sp>
        <p:nvSpPr>
          <p:cNvPr id="22" name="Text 15"/>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3" name="Text 16"/>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4"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pictos de l’Agence SCIO, pas les logos officiels</a:t>
            </a:r>
            <a:endParaRPr lang="en-US" sz="650" dirty="0"/>
          </a:p>
        </p:txBody>
      </p:sp>
      <p:sp>
        <p:nvSpPr>
          <p:cNvPr id="25"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24</a:t>
            </a:r>
            <a:endParaRPr lang="en-US" sz="750" dirty="0"/>
          </a:p>
        </p:txBody>
      </p:sp>
      <p:sp>
        <p:nvSpPr>
          <p:cNvPr id="26"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pPr indent="0" marL="0">
              <a:lnSpc>
                <a:spcPct val="104000"/>
              </a:lnSpc>
              <a:buNone/>
            </a:pPr>
            <a:r>
              <a:rPr lang="en-US" sz="1950" dirty="0">
                <a:solidFill>
                  <a:srgbClr val="46606E"/>
                </a:solidFill>
                <a:latin typeface="Young Serif" pitchFamily="34" charset="0"/>
                <a:ea typeface="Young Serif" pitchFamily="34" charset="-122"/>
                <a:cs typeface="Young Serif" pitchFamily="34" charset="-120"/>
              </a:rPr>
              <a:t>   Maison et Domaine André Goichot</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630911" cy="180000"/>
          </a:xfrm>
          <a:prstGeom prst="roundRect">
            <a:avLst>
              <a:gd name="adj" fmla="val 10160"/>
            </a:avLst>
          </a:prstGeom>
          <a:solidFill>
            <a:srgbClr val="67067C"/>
          </a:solidFill>
          <a:ln w="8890">
            <a:solidFill>
              <a:srgbClr val="67067C"/>
            </a:solidFill>
            <a:prstDash val="solid"/>
          </a:ln>
        </p:spPr>
      </p:sp>
      <p:sp>
        <p:nvSpPr>
          <p:cNvPr id="8" name="Text 5"/>
          <p:cNvSpPr/>
          <p:nvPr/>
        </p:nvSpPr>
        <p:spPr>
          <a:xfrm>
            <a:off x="612000"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9" name="Shape 6"/>
          <p:cNvSpPr/>
          <p:nvPr/>
        </p:nvSpPr>
        <p:spPr>
          <a:xfrm>
            <a:off x="132211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32211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753500"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53500"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pic>
        <p:nvPicPr>
          <p:cNvPr id="13" name="Image 1" descr="deux portraits de la maison, côte à côte — Maison et Domaine André Goichot">    </p:cNvPr>
          <p:cNvPicPr>
            <a:picLocks noChangeAspect="1"/>
          </p:cNvPicPr>
          <p:nvPr/>
        </p:nvPicPr>
        <p:blipFill>
          <a:blip r:embed="rId2"/>
          <a:stretch>
            <a:fillRect/>
          </a:stretch>
        </p:blipFill>
        <p:spPr>
          <a:xfrm>
            <a:off x="612000" y="1357200"/>
            <a:ext cx="1440000" cy="1440000"/>
          </a:xfrm>
          <a:prstGeom prst="rect">
            <a:avLst/>
          </a:prstGeom>
        </p:spPr>
      </p:pic>
      <p:pic>
        <p:nvPicPr>
          <p:cNvPr id="14" name="Image 2" descr="Une bouteille du domaine Maison et Domaine André Goichot">    </p:cNvPr>
          <p:cNvPicPr>
            <a:picLocks noChangeAspect="1"/>
          </p:cNvPicPr>
          <p:nvPr/>
        </p:nvPicPr>
        <p:blipFill>
          <a:blip r:embed="rId3"/>
          <a:stretch>
            <a:fillRect/>
          </a:stretch>
        </p:blipFill>
        <p:spPr>
          <a:xfrm>
            <a:off x="6019475" y="1357200"/>
            <a:ext cx="561049" cy="2232000"/>
          </a:xfrm>
          <a:prstGeom prst="rect">
            <a:avLst/>
          </a:prstGeom>
        </p:spPr>
      </p:pic>
      <p:sp>
        <p:nvSpPr>
          <p:cNvPr id="15" name="Text 10"/>
          <p:cNvSpPr/>
          <p:nvPr/>
        </p:nvSpPr>
        <p:spPr>
          <a:xfrm>
            <a:off x="2232000" y="1357200"/>
            <a:ext cx="3456000" cy="2231900"/>
          </a:xfrm>
          <a:prstGeom prst="rect">
            <a:avLst/>
          </a:prstGeom>
          <a:noFill/>
          <a:ln/>
        </p:spPr>
        <p:txBody>
          <a:bodyPr wrap="square" lIns="0" tIns="0" rIns="0" bIns="0" rtlCol="0" anchor="ctr"/>
          <a:lstStyle/>
          <a:p>
            <a:pPr indent="0" marL="0">
              <a:lnSpc>
                <a:spcPct val="142000"/>
              </a:lnSpc>
              <a:buNone/>
            </a:pPr>
            <a:r>
              <a:rPr lang="en-US" sz="2350" dirty="0">
                <a:solidFill>
                  <a:srgbClr val="67067C"/>
                </a:solidFill>
                <a:latin typeface="Young Serif" pitchFamily="34" charset="0"/>
                <a:ea typeface="Young Serif" pitchFamily="34" charset="-122"/>
                <a:cs typeface="Young Serif" pitchFamily="34" charset="-120"/>
              </a:rPr>
              <a:t>F</a:t>
            </a:r>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leuron familial et indépendant fondé en 1947, la Maison André Goichot porte l’exigence des grands climats de Bourgogne. Sélections parcellaires méticuleuses et cuverie d’élevage de pointe inaugurée en 2020.</a:t>
            </a:r>
            <a:endParaRPr lang="en-US" sz="13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Mâcon-Lugny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Genièvres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Clos Reyssier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Saint-Bris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Petit Chablis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Chablis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Bourguignons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Text 11"/>
          <p:cNvSpPr/>
          <p:nvPr/>
        </p:nvSpPr>
        <p:spPr>
          <a:xfrm>
            <a:off x="612000" y="620193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8" name="Image 3" descr="/home/user/philippe1/build/deco/sol-bourgogne.png">    </p:cNvPr>
          <p:cNvPicPr>
            <a:picLocks noChangeAspect="1"/>
          </p:cNvPicPr>
          <p:nvPr/>
        </p:nvPicPr>
        <p:blipFill>
          <a:blip r:embed="rId4"/>
          <a:stretch>
            <a:fillRect/>
          </a:stretch>
        </p:blipFill>
        <p:spPr>
          <a:xfrm>
            <a:off x="612000" y="6349536"/>
            <a:ext cx="6120000" cy="1148400"/>
          </a:xfrm>
          <a:prstGeom prst="rect">
            <a:avLst/>
          </a:prstGeom>
        </p:spPr>
      </p:pic>
      <p:sp>
        <p:nvSpPr>
          <p:cNvPr id="19" name="Text 12"/>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pPr indent="0" marL="0">
              <a:buNone/>
            </a:pP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27 · n°14 p. 28</a:t>
            </a:r>
            <a:endParaRPr lang="en-US" sz="740" dirty="0"/>
          </a:p>
        </p:txBody>
      </p:sp>
      <p:sp>
        <p:nvSpPr>
          <p:cNvPr id="20" name="Shape 13"/>
          <p:cNvSpPr/>
          <p:nvPr/>
        </p:nvSpPr>
        <p:spPr>
          <a:xfrm>
            <a:off x="612000" y="8388000"/>
            <a:ext cx="6120000" cy="0"/>
          </a:xfrm>
          <a:prstGeom prst="line">
            <a:avLst/>
          </a:prstGeom>
          <a:noFill/>
          <a:ln w="8890">
            <a:solidFill>
              <a:srgbClr val="46606E"/>
            </a:solidFill>
            <a:prstDash val="solid"/>
          </a:ln>
        </p:spPr>
      </p:sp>
      <p:sp>
        <p:nvSpPr>
          <p:cNvPr id="21" name="Text 14"/>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22" name="Text 15"/>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25</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pPr indent="0" marL="0">
              <a:lnSpc>
                <a:spcPct val="104000"/>
              </a:lnSpc>
              <a:buNone/>
            </a:pPr>
            <a:r>
              <a:rPr lang="en-US" sz="1750" dirty="0">
                <a:solidFill>
                  <a:srgbClr val="46606E"/>
                </a:solidFill>
                <a:latin typeface="Young Serif" pitchFamily="34" charset="0"/>
                <a:ea typeface="Young Serif" pitchFamily="34" charset="-122"/>
                <a:cs typeface="Young Serif" pitchFamily="34" charset="-120"/>
              </a:rPr>
              <a:t>   Maison et Domaine André Goichot</a:t>
            </a:r>
            <a:pPr indent="0" marL="0">
              <a:lnSpc>
                <a:spcPct val="104000"/>
              </a:lnSpc>
              <a:buNone/>
            </a:pP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630911" cy="180000"/>
          </a:xfrm>
          <a:prstGeom prst="roundRect">
            <a:avLst>
              <a:gd name="adj" fmla="val 10160"/>
            </a:avLst>
          </a:prstGeom>
          <a:solidFill>
            <a:srgbClr val="67067C"/>
          </a:solidFill>
          <a:ln w="8890">
            <a:solidFill>
              <a:srgbClr val="67067C"/>
            </a:solidFill>
            <a:prstDash val="solid"/>
          </a:ln>
        </p:spPr>
      </p:sp>
      <p:sp>
        <p:nvSpPr>
          <p:cNvPr id="8" name="Text 5"/>
          <p:cNvSpPr/>
          <p:nvPr/>
        </p:nvSpPr>
        <p:spPr>
          <a:xfrm>
            <a:off x="828000"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9" name="Shape 6"/>
          <p:cNvSpPr/>
          <p:nvPr/>
        </p:nvSpPr>
        <p:spPr>
          <a:xfrm>
            <a:off x="153811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53811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969500"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969500"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Givry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Champ La Dame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Givry 1er Cru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Mercurey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Monthélie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Chassagne-Montrachet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Aloxe-Corton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Auxey-Duresses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Gevrey-Chambertin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42,90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Fixin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Clos Vougeot Grand Cru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138,00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137,70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Meursault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Vireuils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Chablis 1er Cru *</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 Hautes-Côtes de Beaune *</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Rully *</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Corton Grand Cru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Maréchaudes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4" name="Text 10"/>
          <p:cNvSpPr/>
          <p:nvPr/>
        </p:nvSpPr>
        <p:spPr>
          <a:xfrm>
            <a:off x="828000" y="625968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5" name="Image 1" descr="/home/user/philippe1/build/deco/sol-bourgogne.png">    </p:cNvPr>
          <p:cNvPicPr>
            <a:picLocks noChangeAspect="1"/>
          </p:cNvPicPr>
          <p:nvPr/>
        </p:nvPicPr>
        <p:blipFill>
          <a:blip r:embed="rId2"/>
          <a:stretch>
            <a:fillRect/>
          </a:stretch>
        </p:blipFill>
        <p:spPr>
          <a:xfrm>
            <a:off x="828000" y="6407282"/>
            <a:ext cx="6120000" cy="1148400"/>
          </a:xfrm>
          <a:prstGeom prst="rect">
            <a:avLst/>
          </a:prstGeom>
        </p:spPr>
      </p:pic>
      <p:sp>
        <p:nvSpPr>
          <p:cNvPr id="16" name="Text 11"/>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pPr indent="0" marL="0">
              <a:buNone/>
            </a:pP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27 · n°14 p. 28</a:t>
            </a:r>
            <a:endParaRPr lang="en-US" sz="740" dirty="0"/>
          </a:p>
        </p:txBody>
      </p:sp>
      <p:sp>
        <p:nvSpPr>
          <p:cNvPr id="17" name="Shape 12"/>
          <p:cNvSpPr/>
          <p:nvPr/>
        </p:nvSpPr>
        <p:spPr>
          <a:xfrm>
            <a:off x="828000" y="8388000"/>
            <a:ext cx="6120000" cy="0"/>
          </a:xfrm>
          <a:prstGeom prst="line">
            <a:avLst/>
          </a:prstGeom>
          <a:noFill/>
          <a:ln w="8890">
            <a:solidFill>
              <a:srgbClr val="46606E"/>
            </a:solidFill>
            <a:prstDash val="solid"/>
          </a:ln>
        </p:spPr>
      </p:sp>
      <p:sp>
        <p:nvSpPr>
          <p:cNvPr id="18" name="Text 13"/>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19" name="Text 14"/>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0"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1"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26</a:t>
            </a:r>
            <a:endParaRPr lang="en-US" sz="750" dirty="0"/>
          </a:p>
        </p:txBody>
      </p:sp>
      <p:sp>
        <p:nvSpPr>
          <p:cNvPr id="22"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13</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Château du Cray</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043390" y="10476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043390"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1" name="Image 1" descr="le vignoble du Château du Cray (bannière de sa page) — Château du Cray">    </p:cNvPr>
          <p:cNvPicPr>
            <a:picLocks noChangeAspect="1"/>
          </p:cNvPicPr>
          <p:nvPr/>
        </p:nvPicPr>
        <p:blipFill>
          <a:blip r:embed="rId2"/>
          <a:srcRect l="20619" r="20708" t="0" b="0"/>
          <a:stretch/>
        </p:blipFill>
        <p:spPr>
          <a:xfrm>
            <a:off x="612000" y="1357200"/>
            <a:ext cx="1440000" cy="1440000"/>
          </a:xfrm>
          <a:prstGeom prst="ellipse">
            <a:avLst/>
          </a:prstGeom>
        </p:spPr>
      </p:pic>
      <p:pic>
        <p:nvPicPr>
          <p:cNvPr id="12" name="Image 2" descr="Une bouteille du domaine Château du Cray">    </p:cNvPr>
          <p:cNvPicPr>
            <a:picLocks noChangeAspect="1"/>
          </p:cNvPicPr>
          <p:nvPr/>
        </p:nvPicPr>
        <p:blipFill>
          <a:blip r:embed="rId3"/>
          <a:stretch>
            <a:fillRect/>
          </a:stretch>
        </p:blipFill>
        <p:spPr>
          <a:xfrm>
            <a:off x="6000831" y="1357200"/>
            <a:ext cx="598337" cy="2232000"/>
          </a:xfrm>
          <a:prstGeom prst="rect">
            <a:avLst/>
          </a:prstGeom>
        </p:spPr>
      </p:pic>
      <p:sp>
        <p:nvSpPr>
          <p:cNvPr id="13" name="Text 8"/>
          <p:cNvSpPr/>
          <p:nvPr/>
        </p:nvSpPr>
        <p:spPr>
          <a:xfrm>
            <a:off x="2232000" y="1357200"/>
            <a:ext cx="3456000" cy="2231900"/>
          </a:xfrm>
          <a:prstGeom prst="rect">
            <a:avLst/>
          </a:prstGeom>
          <a:noFill/>
          <a:ln/>
        </p:spPr>
        <p:txBody>
          <a:bodyPr wrap="square" lIns="0" tIns="0" rIns="0" bIns="0" rtlCol="0" anchor="ctr"/>
          <a:lstStyle/>
          <a:p>
            <a:pPr indent="0" marL="0">
              <a:lnSpc>
                <a:spcPct val="142000"/>
              </a:lnSpc>
              <a:buNone/>
            </a:pPr>
            <a:r>
              <a:rPr lang="en-US" sz="2000" dirty="0">
                <a:solidFill>
                  <a:srgbClr val="67067C"/>
                </a:solidFill>
                <a:latin typeface="Young Serif" pitchFamily="34" charset="0"/>
                <a:ea typeface="Young Serif" pitchFamily="34" charset="-122"/>
                <a:cs typeface="Young Serif" pitchFamily="34" charset="-120"/>
              </a:rPr>
              <a:t>D</a:t>
            </a:r>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epuis 2016, la famille Goichot est aux commandes de ce charmant domaine, précieuse propriété de la famille Perret du Cray depuis 1798. Situé au nord de Buxy, en Saône-et-Loire, le Château du Cray s’étend sur un domaine viticole de 22 hectares. Les vignes s’étendent autour du château, au milieu du coteau et bénéficient d’une exposition privilégiée Est-Sud-Est. Le domaine bénéficie d’un MONOPOLE : Le Cornevent</a:t>
            </a:r>
            <a:endParaRPr lang="en-US" sz="11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Cornevent MONOPOLE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5" name="Text 9"/>
          <p:cNvSpPr/>
          <p:nvPr/>
        </p:nvSpPr>
        <p:spPr>
          <a:xfrm>
            <a:off x="612000" y="504390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6" name="Image 3" descr="/home/user/philippe1/build/deco/sol-bourgogne.png">    </p:cNvPr>
          <p:cNvPicPr>
            <a:picLocks noChangeAspect="1"/>
          </p:cNvPicPr>
          <p:nvPr/>
        </p:nvPicPr>
        <p:blipFill>
          <a:blip r:embed="rId4"/>
          <a:stretch>
            <a:fillRect/>
          </a:stretch>
        </p:blipFill>
        <p:spPr>
          <a:xfrm>
            <a:off x="612000" y="5191505"/>
            <a:ext cx="6120000" cy="1486716"/>
          </a:xfrm>
          <a:prstGeom prst="rect">
            <a:avLst/>
          </a:prstGeom>
        </p:spPr>
      </p:pic>
      <p:sp>
        <p:nvSpPr>
          <p:cNvPr id="17" name="Text 10"/>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pPr indent="0" marL="0">
              <a:buNone/>
            </a:pP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25 · n°14 p. 28</a:t>
            </a:r>
            <a:endParaRPr lang="en-US" sz="740" dirty="0"/>
          </a:p>
        </p:txBody>
      </p:sp>
      <p:sp>
        <p:nvSpPr>
          <p:cNvPr id="18" name="Shape 11"/>
          <p:cNvSpPr/>
          <p:nvPr/>
        </p:nvSpPr>
        <p:spPr>
          <a:xfrm>
            <a:off x="612000" y="8388000"/>
            <a:ext cx="6120000" cy="0"/>
          </a:xfrm>
          <a:prstGeom prst="line">
            <a:avLst/>
          </a:prstGeom>
          <a:noFill/>
          <a:ln w="8890">
            <a:solidFill>
              <a:srgbClr val="46606E"/>
            </a:solidFill>
            <a:prstDash val="solid"/>
          </a:ln>
        </p:spPr>
      </p:sp>
      <p:sp>
        <p:nvSpPr>
          <p:cNvPr id="19" name="Text 12"/>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20" name="Text 13"/>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1" name="Text 14"/>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2" name="Text 1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27</a:t>
            </a:r>
            <a:endParaRPr lang="en-US" sz="750" dirty="0"/>
          </a:p>
        </p:txBody>
      </p:sp>
      <p:sp>
        <p:nvSpPr>
          <p:cNvPr id="23" name="Text 1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14</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Les Guignottes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476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59390"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1" name="Image 1" descr="nom du domaine sur ses vignes — Domaine Les Guignottes">    </p:cNvPr>
          <p:cNvPicPr>
            <a:picLocks noChangeAspect="1"/>
          </p:cNvPicPr>
          <p:nvPr/>
        </p:nvPicPr>
        <p:blipFill>
          <a:blip r:embed="rId2"/>
          <a:stretch>
            <a:fillRect/>
          </a:stretch>
        </p:blipFill>
        <p:spPr>
          <a:xfrm>
            <a:off x="828000" y="1357200"/>
            <a:ext cx="1440000" cy="1440000"/>
          </a:xfrm>
          <a:prstGeom prst="rect">
            <a:avLst/>
          </a:prstGeom>
        </p:spPr>
      </p:pic>
      <p:pic>
        <p:nvPicPr>
          <p:cNvPr id="12" name="Image 2" descr="Une bouteille du domaine Domaine Les Guignottes">    </p:cNvPr>
          <p:cNvPicPr>
            <a:picLocks noChangeAspect="1"/>
          </p:cNvPicPr>
          <p:nvPr/>
        </p:nvPicPr>
        <p:blipFill>
          <a:blip r:embed="rId3"/>
          <a:stretch>
            <a:fillRect/>
          </a:stretch>
        </p:blipFill>
        <p:spPr>
          <a:xfrm>
            <a:off x="6230902" y="1357200"/>
            <a:ext cx="570197" cy="2232000"/>
          </a:xfrm>
          <a:prstGeom prst="rect">
            <a:avLst/>
          </a:prstGeom>
        </p:spPr>
      </p:pic>
      <p:sp>
        <p:nvSpPr>
          <p:cNvPr id="13" name="Text 8"/>
          <p:cNvSpPr/>
          <p:nvPr/>
        </p:nvSpPr>
        <p:spPr>
          <a:xfrm>
            <a:off x="2448000" y="1357200"/>
            <a:ext cx="3456000" cy="2231900"/>
          </a:xfrm>
          <a:prstGeom prst="rect">
            <a:avLst/>
          </a:prstGeom>
          <a:noFill/>
          <a:ln/>
        </p:spPr>
        <p:txBody>
          <a:bodyPr wrap="square" lIns="0" tIns="0" rIns="0" bIns="0" rtlCol="0" anchor="ctr"/>
          <a:lstStyle/>
          <a:p>
            <a:pPr indent="0" marL="0">
              <a:lnSpc>
                <a:spcPct val="142000"/>
              </a:lnSpc>
              <a:buNone/>
            </a:pPr>
            <a:r>
              <a:rPr lang="en-US" sz="2000" dirty="0">
                <a:solidFill>
                  <a:srgbClr val="67067C"/>
                </a:solidFill>
                <a:latin typeface="Young Serif" pitchFamily="34" charset="0"/>
                <a:ea typeface="Young Serif" pitchFamily="34" charset="-122"/>
                <a:cs typeface="Young Serif" pitchFamily="34" charset="-120"/>
              </a:rPr>
              <a:t>D</a:t>
            </a:r>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epuis 2015, la famille Goichot est fière de diriger la distribution exclusive du Domaine Les Guignottes, une propriété de 10 hectares à Saint-Valérien en Côte Châlonnaise. Avec une palette de cépage incluant l’Aligoté, Le Pinot Noir et le Chardonnay, les vins du domaine reflètent avec élégance leur terroir d’origine. En harmonie avec les tendances actuelles, ils mettent en valeur la minéralité et la légèreté, une expérience qui célèbre la tradition et la qualité de la Côte Châlonnaise.</a:t>
            </a:r>
            <a:endParaRPr lang="en-US" sz="11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Maranges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Saugeot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Santenay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Vaux Dessus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5" name="Text 9"/>
          <p:cNvSpPr/>
          <p:nvPr/>
        </p:nvSpPr>
        <p:spPr>
          <a:xfrm>
            <a:off x="828000" y="568639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6" name="Image 3" descr="/home/user/philippe1/build/deco/sol-bourgogne.png">    </p:cNvPr>
          <p:cNvPicPr>
            <a:picLocks noChangeAspect="1"/>
          </p:cNvPicPr>
          <p:nvPr/>
        </p:nvPicPr>
        <p:blipFill>
          <a:blip r:embed="rId4"/>
          <a:stretch>
            <a:fillRect/>
          </a:stretch>
        </p:blipFill>
        <p:spPr>
          <a:xfrm>
            <a:off x="828000" y="5833996"/>
            <a:ext cx="6120000" cy="1148400"/>
          </a:xfrm>
          <a:prstGeom prst="rect">
            <a:avLst/>
          </a:prstGeom>
        </p:spPr>
      </p:pic>
      <p:sp>
        <p:nvSpPr>
          <p:cNvPr id="17" name="Text 10"/>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pPr indent="0" marL="0">
              <a:buNone/>
            </a:pP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25 · n°13 p. 27</a:t>
            </a:r>
            <a:endParaRPr lang="en-US" sz="740" dirty="0"/>
          </a:p>
        </p:txBody>
      </p:sp>
      <p:sp>
        <p:nvSpPr>
          <p:cNvPr id="18" name="Shape 11"/>
          <p:cNvSpPr/>
          <p:nvPr/>
        </p:nvSpPr>
        <p:spPr>
          <a:xfrm>
            <a:off x="828000" y="8388000"/>
            <a:ext cx="6120000" cy="0"/>
          </a:xfrm>
          <a:prstGeom prst="line">
            <a:avLst/>
          </a:prstGeom>
          <a:noFill/>
          <a:ln w="8890">
            <a:solidFill>
              <a:srgbClr val="46606E"/>
            </a:solidFill>
            <a:prstDash val="solid"/>
          </a:ln>
        </p:spPr>
      </p:sp>
      <p:sp>
        <p:nvSpPr>
          <p:cNvPr id="19" name="Text 12"/>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Prix de la bouteille H.T. Franco de port.</a:t>
            </a:r>
            <a:endParaRPr lang="en-US" sz="720" dirty="0"/>
          </a:p>
        </p:txBody>
      </p:sp>
      <p:sp>
        <p:nvSpPr>
          <p:cNvPr id="20" name="Text 13"/>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1" name="Text 14"/>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2" name="Text 15"/>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28</a:t>
            </a:r>
            <a:endParaRPr lang="en-US" sz="750" dirty="0"/>
          </a:p>
        </p:txBody>
      </p:sp>
      <p:sp>
        <p:nvSpPr>
          <p:cNvPr id="23" name="Text 16"/>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15</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des Verchères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80548"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9" name="Shape 6"/>
          <p:cNvSpPr/>
          <p:nvPr/>
        </p:nvSpPr>
        <p:spPr>
          <a:xfrm>
            <a:off x="1071748"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717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536422"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536422"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3" name="Image 1" descr="portrait du vigneron — Domaine des Verchères">    </p:cNvPr>
          <p:cNvPicPr>
            <a:picLocks noChangeAspect="1"/>
          </p:cNvPicPr>
          <p:nvPr/>
        </p:nvPicPr>
        <p:blipFill>
          <a:blip r:embed="rId2"/>
          <a:srcRect l="6000" r="6040" t="0" b="0"/>
          <a:stretch/>
        </p:blipFill>
        <p:spPr>
          <a:xfrm>
            <a:off x="612000" y="1357200"/>
            <a:ext cx="1440000" cy="1440000"/>
          </a:xfrm>
          <a:prstGeom prst="ellipse">
            <a:avLst/>
          </a:prstGeom>
        </p:spPr>
      </p:pic>
      <p:pic>
        <p:nvPicPr>
          <p:cNvPr id="14" name="Image 2" descr="Une bouteille du domaine Domaine des Verchères">    </p:cNvPr>
          <p:cNvPicPr>
            <a:picLocks noChangeAspect="1"/>
          </p:cNvPicPr>
          <p:nvPr/>
        </p:nvPicPr>
        <p:blipFill>
          <a:blip r:embed="rId3"/>
          <a:stretch>
            <a:fillRect/>
          </a:stretch>
        </p:blipFill>
        <p:spPr>
          <a:xfrm>
            <a:off x="6024049" y="1357200"/>
            <a:ext cx="551902" cy="2232000"/>
          </a:xfrm>
          <a:prstGeom prst="rect">
            <a:avLst/>
          </a:prstGeom>
        </p:spPr>
      </p:pic>
      <p:sp>
        <p:nvSpPr>
          <p:cNvPr id="15" name="Text 10"/>
          <p:cNvSpPr/>
          <p:nvPr/>
        </p:nvSpPr>
        <p:spPr>
          <a:xfrm>
            <a:off x="2232000" y="1357200"/>
            <a:ext cx="3456000" cy="2231900"/>
          </a:xfrm>
          <a:prstGeom prst="rect">
            <a:avLst/>
          </a:prstGeom>
          <a:noFill/>
          <a:ln/>
        </p:spPr>
        <p:txBody>
          <a:bodyPr wrap="square" lIns="0" tIns="0" rIns="0" bIns="0" rtlCol="0" anchor="ctr"/>
          <a:lstStyle/>
          <a:p>
            <a:pPr indent="0" marL="0">
              <a:lnSpc>
                <a:spcPct val="142000"/>
              </a:lnSpc>
              <a:buNone/>
            </a:pPr>
            <a:r>
              <a:rPr lang="en-US" sz="2350" dirty="0">
                <a:solidFill>
                  <a:srgbClr val="67067C"/>
                </a:solidFill>
                <a:latin typeface="Young Serif" pitchFamily="34" charset="0"/>
                <a:ea typeface="Young Serif" pitchFamily="34" charset="-122"/>
                <a:cs typeface="Young Serif" pitchFamily="34" charset="-120"/>
              </a:rPr>
              <a:t>P</a:t>
            </a:r>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ropriété familiale transmise depuis sept générations, établie à Mancey au cœur du Mâconnais. Certifié HVE, le domaine limite rigoureusement ses intrants pour préserver la vie des sols et alimente sa cave en énergie solaire, pour des vins purs, gourmands et équilibrés.</a:t>
            </a:r>
            <a:endParaRPr lang="en-US" sz="13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Mâcon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Text 11"/>
          <p:cNvSpPr/>
          <p:nvPr/>
        </p:nvSpPr>
        <p:spPr>
          <a:xfrm>
            <a:off x="612000" y="574384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8" name="Image 3" descr="/home/user/philippe1/build/deco/sol-bourgogne.png">    </p:cNvPr>
          <p:cNvPicPr>
            <a:picLocks noChangeAspect="1"/>
          </p:cNvPicPr>
          <p:nvPr/>
        </p:nvPicPr>
        <p:blipFill>
          <a:blip r:embed="rId4"/>
          <a:stretch>
            <a:fillRect/>
          </a:stretch>
        </p:blipFill>
        <p:spPr>
          <a:xfrm>
            <a:off x="612000" y="5891443"/>
            <a:ext cx="6120000" cy="1309461"/>
          </a:xfrm>
          <a:prstGeom prst="rect">
            <a:avLst/>
          </a:prstGeom>
        </p:spPr>
      </p:pic>
      <p:sp>
        <p:nvSpPr>
          <p:cNvPr id="19" name="Shape 12"/>
          <p:cNvSpPr/>
          <p:nvPr/>
        </p:nvSpPr>
        <p:spPr>
          <a:xfrm>
            <a:off x="612000" y="8388000"/>
            <a:ext cx="6120000" cy="0"/>
          </a:xfrm>
          <a:prstGeom prst="line">
            <a:avLst/>
          </a:prstGeom>
          <a:noFill/>
          <a:ln w="8890">
            <a:solidFill>
              <a:srgbClr val="46606E"/>
            </a:solidFill>
            <a:prstDash val="solid"/>
          </a:ln>
        </p:spPr>
      </p:sp>
      <p:sp>
        <p:nvSpPr>
          <p:cNvPr id="20" name="Text 13"/>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départ chai.</a:t>
            </a:r>
            <a:endParaRPr lang="en-US" sz="720" dirty="0"/>
          </a:p>
        </p:txBody>
      </p:sp>
      <p:sp>
        <p:nvSpPr>
          <p:cNvPr id="21" name="Text 14"/>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3"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29</a:t>
            </a:r>
            <a:endParaRPr lang="en-US" sz="750" dirty="0"/>
          </a:p>
        </p:txBody>
      </p:sp>
      <p:sp>
        <p:nvSpPr>
          <p:cNvPr id="24"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rho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rhon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5 / 10</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Rhône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sables, grès et Trias</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27</a:t>
            </a:r>
            <a:endParaRPr lang="en-US" sz="2000" dirty="0"/>
          </a:p>
        </p:txBody>
      </p:sp>
      <p:sp>
        <p:nvSpPr>
          <p:cNvPr id="11" name="Text 7"/>
          <p:cNvSpPr/>
          <p:nvPr/>
        </p:nvSpPr>
        <p:spPr>
          <a:xfrm>
            <a:off x="1836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16   </a:t>
            </a:r>
            <a:pPr indent="0" marL="0">
              <a:buNone/>
            </a:pPr>
            <a:r>
              <a:rPr lang="en-US" sz="860" dirty="0">
                <a:solidFill>
                  <a:srgbClr val="FBF8F1"/>
                </a:solidFill>
                <a:latin typeface="IBM Plex Sans" pitchFamily="34" charset="0"/>
                <a:ea typeface="IBM Plex Sans" pitchFamily="34" charset="-122"/>
                <a:cs typeface="IBM Plex Sans" pitchFamily="34" charset="-120"/>
              </a:rPr>
              <a:t>Domaine Le Prieuré des Papes</a:t>
            </a:r>
            <a:pPr indent="0" marL="0">
              <a:buNone/>
            </a:pPr>
            <a:r>
              <a:rPr lang="en-US" sz="860" b="1" dirty="0">
                <a:solidFill>
                  <a:srgbClr val="FBF8F1"/>
                </a:solidFill>
                <a:latin typeface="IBM Plex Sans" pitchFamily="34" charset="0"/>
                <a:ea typeface="IBM Plex Sans" pitchFamily="34" charset="-122"/>
                <a:cs typeface="IBM Plex Sans" pitchFamily="34" charset="-120"/>
              </a:rPr>
              <a:t>   31</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17   </a:t>
            </a:r>
            <a:pPr indent="0" marL="0">
              <a:buNone/>
            </a:pPr>
            <a:r>
              <a:rPr lang="en-US" sz="860" dirty="0">
                <a:solidFill>
                  <a:srgbClr val="FBF8F1"/>
                </a:solidFill>
                <a:latin typeface="IBM Plex Sans" pitchFamily="34" charset="0"/>
                <a:ea typeface="IBM Plex Sans" pitchFamily="34" charset="-122"/>
                <a:cs typeface="IBM Plex Sans" pitchFamily="34" charset="-120"/>
              </a:rPr>
              <a:t>Domaine de Coyeux</a:t>
            </a:r>
            <a:pPr indent="0" marL="0">
              <a:buNone/>
            </a:pPr>
            <a:r>
              <a:rPr lang="en-US" sz="860" b="1" dirty="0">
                <a:solidFill>
                  <a:srgbClr val="FBF8F1"/>
                </a:solidFill>
                <a:latin typeface="IBM Plex Sans" pitchFamily="34" charset="0"/>
                <a:ea typeface="IBM Plex Sans" pitchFamily="34" charset="-122"/>
                <a:cs typeface="IBM Plex Sans" pitchFamily="34" charset="-120"/>
              </a:rPr>
              <a:t>   32</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18   </a:t>
            </a:r>
            <a:pPr indent="0" marL="0">
              <a:buNone/>
            </a:pPr>
            <a:r>
              <a:rPr lang="en-US" sz="860" dirty="0">
                <a:solidFill>
                  <a:srgbClr val="FBF8F1"/>
                </a:solidFill>
                <a:latin typeface="IBM Plex Sans" pitchFamily="34" charset="0"/>
                <a:ea typeface="IBM Plex Sans" pitchFamily="34" charset="-122"/>
                <a:cs typeface="IBM Plex Sans" pitchFamily="34" charset="-120"/>
              </a:rPr>
              <a:t>Domaine du Moulin Blanc</a:t>
            </a:r>
            <a:pPr indent="0" marL="0">
              <a:buNone/>
            </a:pPr>
            <a:r>
              <a:rPr lang="en-US" sz="860" b="1" dirty="0">
                <a:solidFill>
                  <a:srgbClr val="FBF8F1"/>
                </a:solidFill>
                <a:latin typeface="IBM Plex Sans" pitchFamily="34" charset="0"/>
                <a:ea typeface="IBM Plex Sans" pitchFamily="34" charset="-122"/>
                <a:cs typeface="IBM Plex Sans" pitchFamily="34" charset="-120"/>
              </a:rPr>
              <a:t>   33</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19   </a:t>
            </a:r>
            <a:pPr indent="0" marL="0">
              <a:buNone/>
            </a:pPr>
            <a:r>
              <a:rPr lang="en-US" sz="860" dirty="0">
                <a:solidFill>
                  <a:srgbClr val="FBF8F1"/>
                </a:solidFill>
                <a:latin typeface="IBM Plex Sans" pitchFamily="34" charset="0"/>
                <a:ea typeface="IBM Plex Sans" pitchFamily="34" charset="-122"/>
                <a:cs typeface="IBM Plex Sans" pitchFamily="34" charset="-120"/>
              </a:rPr>
              <a:t>Domaine de la Pousterle</a:t>
            </a:r>
            <a:pPr indent="0" marL="0">
              <a:buNone/>
            </a:pPr>
            <a:r>
              <a:rPr lang="en-US" sz="860" b="1" dirty="0">
                <a:solidFill>
                  <a:srgbClr val="FBF8F1"/>
                </a:solidFill>
                <a:latin typeface="IBM Plex Sans" pitchFamily="34" charset="0"/>
                <a:ea typeface="IBM Plex Sans" pitchFamily="34" charset="-122"/>
                <a:cs typeface="IBM Plex Sans" pitchFamily="34" charset="-120"/>
              </a:rPr>
              <a:t>   34</a:t>
            </a:r>
            <a:endParaRPr lang="en-US" sz="860" dirty="0"/>
          </a:p>
        </p:txBody>
      </p:sp>
      <p:sp>
        <p:nvSpPr>
          <p:cNvPr id="16" name="Text 12"/>
          <p:cNvSpPr/>
          <p:nvPr/>
        </p:nvSpPr>
        <p:spPr>
          <a:xfrm>
            <a:off x="82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20   </a:t>
            </a:r>
            <a:pPr indent="0" marL="0">
              <a:buNone/>
            </a:pPr>
            <a:r>
              <a:rPr lang="en-US" sz="860" dirty="0">
                <a:solidFill>
                  <a:srgbClr val="FBF8F1"/>
                </a:solidFill>
                <a:latin typeface="IBM Plex Sans" pitchFamily="34" charset="0"/>
                <a:ea typeface="IBM Plex Sans" pitchFamily="34" charset="-122"/>
                <a:cs typeface="IBM Plex Sans" pitchFamily="34" charset="-120"/>
              </a:rPr>
              <a:t>Domaine des Pasquiers</a:t>
            </a:r>
            <a:pPr indent="0" marL="0">
              <a:buNone/>
            </a:pPr>
            <a:r>
              <a:rPr lang="en-US" sz="860" b="1" dirty="0">
                <a:solidFill>
                  <a:srgbClr val="FBF8F1"/>
                </a:solidFill>
                <a:latin typeface="IBM Plex Sans" pitchFamily="34" charset="0"/>
                <a:ea typeface="IBM Plex Sans" pitchFamily="34" charset="-122"/>
                <a:cs typeface="IBM Plex Sans" pitchFamily="34" charset="-120"/>
              </a:rPr>
              <a:t>   35</a:t>
            </a:r>
            <a:endParaRPr lang="en-US" sz="860" dirty="0"/>
          </a:p>
        </p:txBody>
      </p:sp>
      <p:sp>
        <p:nvSpPr>
          <p:cNvPr id="17" name="Text 13"/>
          <p:cNvSpPr/>
          <p:nvPr/>
        </p:nvSpPr>
        <p:spPr>
          <a:xfrm>
            <a:off x="388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21   </a:t>
            </a:r>
            <a:pPr indent="0" marL="0">
              <a:buNone/>
            </a:pPr>
            <a:r>
              <a:rPr lang="en-US" sz="860" dirty="0">
                <a:solidFill>
                  <a:srgbClr val="FBF8F1"/>
                </a:solidFill>
                <a:latin typeface="IBM Plex Sans" pitchFamily="34" charset="0"/>
                <a:ea typeface="IBM Plex Sans" pitchFamily="34" charset="-122"/>
                <a:cs typeface="IBM Plex Sans" pitchFamily="34" charset="-120"/>
              </a:rPr>
              <a:t>Domaine Trichon</a:t>
            </a:r>
            <a:pPr indent="0" marL="0">
              <a:buNone/>
            </a:pPr>
            <a:r>
              <a:rPr lang="en-US" sz="860" b="1" dirty="0">
                <a:solidFill>
                  <a:srgbClr val="FBF8F1"/>
                </a:solidFill>
                <a:latin typeface="IBM Plex Sans" pitchFamily="34" charset="0"/>
                <a:ea typeface="IBM Plex Sans" pitchFamily="34" charset="-122"/>
                <a:cs typeface="IBM Plex Sans" pitchFamily="34" charset="-120"/>
              </a:rPr>
              <a:t>   36</a:t>
            </a:r>
            <a:endParaRPr lang="en-US" sz="860" dirty="0"/>
          </a:p>
        </p:txBody>
      </p:sp>
      <p:sp>
        <p:nvSpPr>
          <p:cNvPr id="18" name="Text 14"/>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30</a:t>
            </a:r>
            <a:endParaRPr lang="en-US" sz="750" dirty="0"/>
          </a:p>
        </p:txBody>
      </p:sp>
      <p:sp>
        <p:nvSpPr>
          <p:cNvPr id="19" name="Text 15"/>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16</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Le Prieuré des Papes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461441"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61441"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3" name="Image 1" descr="logo du domaine — Domaine Le Prieuré des Papes">    </p:cNvPr>
          <p:cNvPicPr>
            <a:picLocks noChangeAspect="1"/>
          </p:cNvPicPr>
          <p:nvPr/>
        </p:nvPicPr>
        <p:blipFill>
          <a:blip r:embed="rId2"/>
          <a:stretch>
            <a:fillRect/>
          </a:stretch>
        </p:blipFill>
        <p:spPr>
          <a:xfrm>
            <a:off x="612000" y="1357200"/>
            <a:ext cx="1440000" cy="1440000"/>
          </a:xfrm>
          <a:prstGeom prst="rect">
            <a:avLst/>
          </a:prstGeom>
        </p:spPr>
      </p:pic>
      <p:pic>
        <p:nvPicPr>
          <p:cNvPr id="14" name="Image 2" descr="Une bouteille du domaine Domaine Le Prieuré des Papes">    </p:cNvPr>
          <p:cNvPicPr>
            <a:picLocks noChangeAspect="1"/>
          </p:cNvPicPr>
          <p:nvPr/>
        </p:nvPicPr>
        <p:blipFill>
          <a:blip r:embed="rId3"/>
          <a:stretch>
            <a:fillRect/>
          </a:stretch>
        </p:blipFill>
        <p:spPr>
          <a:xfrm>
            <a:off x="6011852" y="1357200"/>
            <a:ext cx="576295" cy="2232000"/>
          </a:xfrm>
          <a:prstGeom prst="rect">
            <a:avLst/>
          </a:prstGeom>
        </p:spPr>
      </p:pic>
      <p:sp>
        <p:nvSpPr>
          <p:cNvPr id="15" name="Text 10"/>
          <p:cNvSpPr/>
          <p:nvPr/>
        </p:nvSpPr>
        <p:spPr>
          <a:xfrm>
            <a:off x="2232000" y="1357200"/>
            <a:ext cx="3456000" cy="2352600"/>
          </a:xfrm>
          <a:prstGeom prst="rect">
            <a:avLst/>
          </a:prstGeom>
          <a:noFill/>
          <a:ln/>
        </p:spPr>
        <p:txBody>
          <a:bodyPr wrap="square" lIns="0" tIns="0" rIns="0" bIns="0" rtlCol="0" anchor="ctr"/>
          <a:lstStyle/>
          <a:p>
            <a:pPr indent="0" marL="0">
              <a:lnSpc>
                <a:spcPct val="130000"/>
              </a:lnSpc>
              <a:buNone/>
            </a:pPr>
            <a:r>
              <a:rPr lang="en-US" sz="1250" dirty="0">
                <a:solidFill>
                  <a:srgbClr val="67067C"/>
                </a:solidFill>
                <a:latin typeface="Young Serif" pitchFamily="34" charset="0"/>
                <a:ea typeface="Young Serif" pitchFamily="34" charset="-122"/>
                <a:cs typeface="Young Serif" pitchFamily="34" charset="-120"/>
              </a:rPr>
              <a:t>A</a:t>
            </a:r>
            <a:pPr indent="0" marL="0">
              <a:lnSpc>
                <a:spcPct val="130000"/>
              </a:lnSpc>
              <a:buNone/>
            </a:pPr>
            <a:r>
              <a:rPr lang="en-US" sz="950" dirty="0">
                <a:solidFill>
                  <a:srgbClr val="46606E"/>
                </a:solidFill>
                <a:latin typeface="Spectral" pitchFamily="34" charset="0"/>
                <a:ea typeface="Spectral" pitchFamily="34" charset="-122"/>
                <a:cs typeface="Spectral" pitchFamily="34" charset="-120"/>
              </a:rPr>
              <a:t>u nord de l’appellation Châteauneuf-du-Pape, dans le quartier de Cabrières, le domaine du Prieuré des Papes compte 12 hectares de vignes étendues sur des sols de sable. S’ajoutent à cela, 8 hectares répartis entre Côtes du Rhône sur le terroir du Grès. Le nom de domaine a été choisi en référence au bâtiment emblématique du village de Châteauneuf du Pape situé au pied du Château et ancienne résidence papale. La majorité de nos vins sont des vins rouges avec une dominance de grenache. Nous produisons un Châteauneuf du Pape blanc confidentiel sur une parcelle de moins d’un hectare. Notre vignoble, certifié Agriculture Biologique, bénéficie d’un environnement doux et préservé offrant aux vins une chair déliée et de grand raffinement.</a:t>
            </a:r>
            <a:endParaRPr lang="en-US" sz="9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12000" y="38718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Prieuré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Text 11"/>
          <p:cNvSpPr/>
          <p:nvPr/>
        </p:nvSpPr>
        <p:spPr>
          <a:xfrm>
            <a:off x="612000" y="541850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18" name="Image 3" descr="/home/user/philippe1/build/deco/sol-rhone.png">    </p:cNvPr>
          <p:cNvPicPr>
            <a:picLocks noChangeAspect="1"/>
          </p:cNvPicPr>
          <p:nvPr/>
        </p:nvPicPr>
        <p:blipFill>
          <a:blip r:embed="rId4"/>
          <a:stretch>
            <a:fillRect/>
          </a:stretch>
        </p:blipFill>
        <p:spPr>
          <a:xfrm>
            <a:off x="612000" y="5566105"/>
            <a:ext cx="6120000" cy="1261955"/>
          </a:xfrm>
          <a:prstGeom prst="rect">
            <a:avLst/>
          </a:prstGeom>
        </p:spPr>
      </p:pic>
      <p:sp>
        <p:nvSpPr>
          <p:cNvPr id="19" name="Text 12"/>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pPr indent="0" marL="0">
              <a:buNone/>
            </a:pPr>
            <a:r>
              <a:rPr lang="en-US" sz="740" dirty="0">
                <a:solidFill>
                  <a:srgbClr val="46606E"/>
                </a:solidFill>
                <a:latin typeface="IBM Plex Sans" pitchFamily="34" charset="0"/>
                <a:ea typeface="IBM Plex Sans" pitchFamily="34" charset="-122"/>
                <a:cs typeface="IBM Plex Sans" pitchFamily="34" charset="-120"/>
              </a:rPr>
              <a:t>Les quatre domaines Strasser Radziwill — n°17 p. 32 · n°18 p. 33 · n°19 p. 34</a:t>
            </a:r>
            <a:endParaRPr lang="en-US" sz="740" dirty="0"/>
          </a:p>
        </p:txBody>
      </p:sp>
      <p:sp>
        <p:nvSpPr>
          <p:cNvPr id="20" name="Shape 13"/>
          <p:cNvSpPr/>
          <p:nvPr/>
        </p:nvSpPr>
        <p:spPr>
          <a:xfrm>
            <a:off x="612000" y="8388000"/>
            <a:ext cx="6120000" cy="0"/>
          </a:xfrm>
          <a:prstGeom prst="line">
            <a:avLst/>
          </a:prstGeom>
          <a:noFill/>
          <a:ln w="8890">
            <a:solidFill>
              <a:srgbClr val="46606E"/>
            </a:solidFill>
            <a:prstDash val="solid"/>
          </a:ln>
        </p:spPr>
      </p:sp>
      <p:sp>
        <p:nvSpPr>
          <p:cNvPr id="21" name="Text 14"/>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2" name="Text 15"/>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31</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17</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de Coyeux</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677441"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677441"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3" name="Image 1" descr="le domaine — Domaine de Coyeux">    </p:cNvPr>
          <p:cNvPicPr>
            <a:picLocks noChangeAspect="1"/>
          </p:cNvPicPr>
          <p:nvPr/>
        </p:nvPicPr>
        <p:blipFill>
          <a:blip r:embed="rId2"/>
          <a:srcRect l="2570" r="2693" t="0" b="0"/>
          <a:stretch/>
        </p:blipFill>
        <p:spPr>
          <a:xfrm>
            <a:off x="828000" y="1357200"/>
            <a:ext cx="1440000" cy="1440000"/>
          </a:xfrm>
          <a:prstGeom prst="ellipse">
            <a:avLst/>
          </a:prstGeom>
        </p:spPr>
      </p:pic>
      <p:pic>
        <p:nvPicPr>
          <p:cNvPr id="14" name="Image 2" descr="Une bouteille du domaine Domaine de Coyeux">    </p:cNvPr>
          <p:cNvPicPr>
            <a:picLocks noChangeAspect="1"/>
          </p:cNvPicPr>
          <p:nvPr/>
        </p:nvPicPr>
        <p:blipFill>
          <a:blip r:embed="rId3"/>
          <a:stretch>
            <a:fillRect/>
          </a:stretch>
        </p:blipFill>
        <p:spPr>
          <a:xfrm>
            <a:off x="6217180" y="1357200"/>
            <a:ext cx="597639" cy="2232000"/>
          </a:xfrm>
          <a:prstGeom prst="rect">
            <a:avLst/>
          </a:prstGeom>
        </p:spPr>
      </p:pic>
      <p:sp>
        <p:nvSpPr>
          <p:cNvPr id="15" name="Text 10"/>
          <p:cNvSpPr/>
          <p:nvPr/>
        </p:nvSpPr>
        <p:spPr>
          <a:xfrm>
            <a:off x="2448000" y="1357200"/>
            <a:ext cx="3456000" cy="2714550"/>
          </a:xfrm>
          <a:prstGeom prst="rect">
            <a:avLst/>
          </a:prstGeom>
          <a:noFill/>
          <a:ln/>
        </p:spPr>
        <p:txBody>
          <a:bodyPr wrap="square" lIns="0" tIns="0" rIns="0" bIns="0" rtlCol="0" anchor="ctr"/>
          <a:lstStyle/>
          <a:p>
            <a:pPr indent="0" marL="0">
              <a:lnSpc>
                <a:spcPct val="136000"/>
              </a:lnSpc>
              <a:buNone/>
            </a:pPr>
            <a:r>
              <a:rPr lang="en-US" sz="1250" dirty="0">
                <a:solidFill>
                  <a:srgbClr val="67067C"/>
                </a:solidFill>
                <a:latin typeface="Young Serif" pitchFamily="34" charset="0"/>
                <a:ea typeface="Young Serif" pitchFamily="34" charset="-122"/>
                <a:cs typeface="Young Serif" pitchFamily="34" charset="-120"/>
              </a:rPr>
              <a:t>P</a:t>
            </a:r>
            <a:pPr indent="0" marL="0">
              <a:lnSpc>
                <a:spcPct val="136000"/>
              </a:lnSpc>
              <a:buNone/>
            </a:pPr>
            <a:r>
              <a:rPr lang="en-US" sz="950" dirty="0">
                <a:solidFill>
                  <a:srgbClr val="46606E"/>
                </a:solidFill>
                <a:latin typeface="Spectral" pitchFamily="34" charset="0"/>
                <a:ea typeface="Spectral" pitchFamily="34" charset="-122"/>
                <a:cs typeface="Spectral" pitchFamily="34" charset="-120"/>
              </a:rPr>
              <a:t>ropriété du groupe Maisons &amp; Vignobles Strasser-Radziwill depuis 2022, le Domaine de Coyeux niché au pied des Dentelles de Montmirail s’étend sur 120 hectares d’un seul tenant, au sein de l’aire de l’appellation viticole Beaumes-de-Venise. Dans ce superbe environnement naturel, le domaine est constitué de bois, de garrigue et de vignes. Le vignoble du Domaine de Coyeux s’étend sur la formation géologique du Trias, un sol très ancien qui confère aux vins une qualité exceptionnelle. Les premières vignes du domaine de Coyeux datent des années 1950. Aujourd’hui, les vins sont issus d’un vignoble âgé de 40 à 70 ans et de parcelles plus récentes. Le domaine bénéficie de l’abri naturel de la colline. Son exposition au sud favorise un ensoleillement idéal. À 300 mètres d’altitude, la température est plus fraîche et participe à l’élégance des vins de Coyeux.</a:t>
            </a:r>
            <a:endParaRPr lang="en-US" sz="9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28000" y="423375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198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Gigondas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Coyeux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Jumelles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banquettes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Première Fleur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Solera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Vintage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Text 11"/>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pPr indent="0" marL="0">
              <a:buNone/>
            </a:pP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31 · n°18 p. 33 · n°19 p. 34</a:t>
            </a:r>
            <a:endParaRPr lang="en-US" sz="740" dirty="0"/>
          </a:p>
        </p:txBody>
      </p:sp>
      <p:sp>
        <p:nvSpPr>
          <p:cNvPr id="18" name="Shape 12"/>
          <p:cNvSpPr/>
          <p:nvPr/>
        </p:nvSpPr>
        <p:spPr>
          <a:xfrm>
            <a:off x="828000" y="8388000"/>
            <a:ext cx="6120000" cy="0"/>
          </a:xfrm>
          <a:prstGeom prst="line">
            <a:avLst/>
          </a:prstGeom>
          <a:noFill/>
          <a:ln w="8890">
            <a:solidFill>
              <a:srgbClr val="46606E"/>
            </a:solidFill>
            <a:prstDash val="solid"/>
          </a:ln>
        </p:spPr>
      </p:sp>
      <p:sp>
        <p:nvSpPr>
          <p:cNvPr id="19" name="Text 13"/>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0" name="Text 14"/>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1"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2"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32</a:t>
            </a:r>
            <a:endParaRPr lang="en-US" sz="750" dirty="0"/>
          </a:p>
        </p:txBody>
      </p:sp>
      <p:sp>
        <p:nvSpPr>
          <p:cNvPr id="23"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18</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du Moulin Blanc</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461441"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61441"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3" name="Image 1" descr="le couple, recadré au-dessus du verre — Domaine du Moulin Blanc">    </p:cNvPr>
          <p:cNvPicPr>
            <a:picLocks noChangeAspect="1"/>
          </p:cNvPicPr>
          <p:nvPr/>
        </p:nvPicPr>
        <p:blipFill>
          <a:blip r:embed="rId2"/>
          <a:stretch>
            <a:fillRect/>
          </a:stretch>
        </p:blipFill>
        <p:spPr>
          <a:xfrm>
            <a:off x="612000" y="1357200"/>
            <a:ext cx="1440000" cy="1440000"/>
          </a:xfrm>
          <a:prstGeom prst="rect">
            <a:avLst/>
          </a:prstGeom>
        </p:spPr>
      </p:pic>
      <p:sp>
        <p:nvSpPr>
          <p:cNvPr id="14" name="Shape 10"/>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15" name="Text 11"/>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6" name="Text 12"/>
          <p:cNvSpPr/>
          <p:nvPr/>
        </p:nvSpPr>
        <p:spPr>
          <a:xfrm>
            <a:off x="2232000" y="1357200"/>
            <a:ext cx="3456000" cy="2231900"/>
          </a:xfrm>
          <a:prstGeom prst="rect">
            <a:avLst/>
          </a:prstGeom>
          <a:noFill/>
          <a:ln/>
        </p:spPr>
        <p:txBody>
          <a:bodyPr wrap="square" lIns="0" tIns="0" rIns="0" bIns="0" rtlCol="0" anchor="ctr"/>
          <a:lstStyle/>
          <a:p>
            <a:pPr indent="0" marL="0">
              <a:lnSpc>
                <a:spcPct val="142000"/>
              </a:lnSpc>
              <a:buNone/>
            </a:pPr>
            <a:r>
              <a:rPr lang="en-US" sz="1750" dirty="0">
                <a:solidFill>
                  <a:srgbClr val="67067C"/>
                </a:solidFill>
                <a:latin typeface="Young Serif" pitchFamily="34" charset="0"/>
                <a:ea typeface="Young Serif" pitchFamily="34" charset="-122"/>
                <a:cs typeface="Young Serif" pitchFamily="34" charset="-120"/>
              </a:rPr>
              <a:t>S</a:t>
            </a:r>
            <a:pPr indent="0" marL="0">
              <a:lnSpc>
                <a:spcPct val="142000"/>
              </a:lnSpc>
              <a:buNone/>
            </a:pPr>
            <a:r>
              <a:rPr lang="en-US" sz="975" dirty="0">
                <a:solidFill>
                  <a:srgbClr val="46606E"/>
                </a:solidFill>
                <a:latin typeface="Spectral" pitchFamily="34" charset="0"/>
                <a:ea typeface="Spectral" pitchFamily="34" charset="-122"/>
                <a:cs typeface="Spectral" pitchFamily="34" charset="-120"/>
              </a:rPr>
              <a:t>itué au cœur d’un terroir d’exception, le Domaine du Moulin Blanc incarne l’authenticité et le savoir-faire viticole transmis de génération en génération. Alliant tradition et modernité, le domaine cultive ses vignes avec passion et rigueur pour produire des vins reflétant toute la richesse de leurs origines. Le vignoble s’étend sur un sol généreux, bénéficiant d’un climat idéal, propice à l’expression de cépages nobles et typiques. Chaque cuvée est élaborée avec soin, dans le respect de l’environnement et du cycle naturel de la vigne, pour offrir des vins équilibrés, élégants et sincères.</a:t>
            </a:r>
            <a:endParaRPr lang="en-US" sz="975"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198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Tavel</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Text 13"/>
          <p:cNvSpPr/>
          <p:nvPr/>
        </p:nvSpPr>
        <p:spPr>
          <a:xfrm>
            <a:off x="612000" y="497827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19" name="Image 2" descr="/home/user/philippe1/build/deco/sol-rhone.png">    </p:cNvPr>
          <p:cNvPicPr>
            <a:picLocks noChangeAspect="1"/>
          </p:cNvPicPr>
          <p:nvPr/>
        </p:nvPicPr>
        <p:blipFill>
          <a:blip r:embed="rId3"/>
          <a:stretch>
            <a:fillRect/>
          </a:stretch>
        </p:blipFill>
        <p:spPr>
          <a:xfrm>
            <a:off x="612000" y="5125871"/>
            <a:ext cx="6120000" cy="1526096"/>
          </a:xfrm>
          <a:prstGeom prst="rect">
            <a:avLst/>
          </a:prstGeom>
        </p:spPr>
      </p:pic>
      <p:sp>
        <p:nvSpPr>
          <p:cNvPr id="20" name="Text 14"/>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pPr indent="0" marL="0">
              <a:buNone/>
            </a:pP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31 · n°17 p. 32 · n°19 p. 34</a:t>
            </a:r>
            <a:endParaRPr lang="en-US" sz="740" dirty="0"/>
          </a:p>
        </p:txBody>
      </p:sp>
      <p:sp>
        <p:nvSpPr>
          <p:cNvPr id="21" name="Shape 15"/>
          <p:cNvSpPr/>
          <p:nvPr/>
        </p:nvSpPr>
        <p:spPr>
          <a:xfrm>
            <a:off x="612000" y="8388000"/>
            <a:ext cx="6120000" cy="0"/>
          </a:xfrm>
          <a:prstGeom prst="line">
            <a:avLst/>
          </a:prstGeom>
          <a:noFill/>
          <a:ln w="8890">
            <a:solidFill>
              <a:srgbClr val="46606E"/>
            </a:solidFill>
            <a:prstDash val="solid"/>
          </a:ln>
        </p:spPr>
      </p:sp>
      <p:sp>
        <p:nvSpPr>
          <p:cNvPr id="22" name="Text 16"/>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3" name="Text 17"/>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5"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33</a:t>
            </a:r>
            <a:endParaRPr lang="en-US" sz="750" dirty="0"/>
          </a:p>
        </p:txBody>
      </p:sp>
      <p:sp>
        <p:nvSpPr>
          <p:cNvPr id="26"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19</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de la Pousterle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677441"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677441"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3" name="Image 1" descr="vendanges dans les vignes — Domaine de la Pousterle">    </p:cNvPr>
          <p:cNvPicPr>
            <a:picLocks noChangeAspect="1"/>
          </p:cNvPicPr>
          <p:nvPr/>
        </p:nvPicPr>
        <p:blipFill>
          <a:blip r:embed="rId2"/>
          <a:srcRect l="0" r="10156" t="0" b="0"/>
          <a:stretch/>
        </p:blipFill>
        <p:spPr>
          <a:xfrm>
            <a:off x="828000" y="1357200"/>
            <a:ext cx="1440000" cy="1440000"/>
          </a:xfrm>
          <a:prstGeom prst="ellipse">
            <a:avLst/>
          </a:prstGeom>
        </p:spPr>
      </p:pic>
      <p:pic>
        <p:nvPicPr>
          <p:cNvPr id="14" name="Image 2" descr="Une bouteille du domaine Domaine de la Pousterle">    </p:cNvPr>
          <p:cNvPicPr>
            <a:picLocks noChangeAspect="1"/>
          </p:cNvPicPr>
          <p:nvPr/>
        </p:nvPicPr>
        <p:blipFill>
          <a:blip r:embed="rId3"/>
          <a:stretch>
            <a:fillRect/>
          </a:stretch>
        </p:blipFill>
        <p:spPr>
          <a:xfrm>
            <a:off x="6223279" y="1357200"/>
            <a:ext cx="585443" cy="2232000"/>
          </a:xfrm>
          <a:prstGeom prst="rect">
            <a:avLst/>
          </a:prstGeom>
        </p:spPr>
      </p:pic>
      <p:sp>
        <p:nvSpPr>
          <p:cNvPr id="15" name="Text 10"/>
          <p:cNvSpPr/>
          <p:nvPr/>
        </p:nvSpPr>
        <p:spPr>
          <a:xfrm>
            <a:off x="2448000" y="1357200"/>
            <a:ext cx="3456000" cy="2231900"/>
          </a:xfrm>
          <a:prstGeom prst="rect">
            <a:avLst/>
          </a:prstGeom>
          <a:noFill/>
          <a:ln/>
        </p:spPr>
        <p:txBody>
          <a:bodyPr wrap="square" lIns="0" tIns="0" rIns="0" bIns="0" rtlCol="0" anchor="ctr"/>
          <a:lstStyle/>
          <a:p>
            <a:pPr indent="0" marL="0">
              <a:lnSpc>
                <a:spcPct val="142000"/>
              </a:lnSpc>
              <a:buNone/>
            </a:pPr>
            <a:r>
              <a:rPr lang="en-US" sz="1800" dirty="0">
                <a:solidFill>
                  <a:srgbClr val="67067C"/>
                </a:solidFill>
                <a:latin typeface="Young Serif" pitchFamily="34" charset="0"/>
                <a:ea typeface="Young Serif" pitchFamily="34" charset="-122"/>
                <a:cs typeface="Young Serif" pitchFamily="34" charset="-120"/>
              </a:rPr>
              <a:t>S</a:t>
            </a:r>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itué au cœur de la vallée du Rhône le Domaine de la Pousterle est un domaine viticole familial qui incarne l’authenticité et la diversité de cette région emblématique. Entouré de collines baignées de soleil et bercé par le mistral, le vignoble bénéficie de conditions idéales pour l’élaboration de vins généreux, expressifs et empreints de caractère. Le domaine cultive avec soins des cépages typiques de la région en alliant traditions viticoles et pratiques respectueuses de l’environnement. Chaque cuvée reflète l’identité du terroir et le savoir faire transmis au fil des générations.</a:t>
            </a:r>
            <a:endParaRPr lang="en-US" sz="1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198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France-Syrah</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Text 11"/>
          <p:cNvSpPr/>
          <p:nvPr/>
        </p:nvSpPr>
        <p:spPr>
          <a:xfrm>
            <a:off x="828000" y="612856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18" name="Image 3" descr="/home/user/philippe1/build/deco/sol-rhone.png">    </p:cNvPr>
          <p:cNvPicPr>
            <a:picLocks noChangeAspect="1"/>
          </p:cNvPicPr>
          <p:nvPr/>
        </p:nvPicPr>
        <p:blipFill>
          <a:blip r:embed="rId4"/>
          <a:stretch>
            <a:fillRect/>
          </a:stretch>
        </p:blipFill>
        <p:spPr>
          <a:xfrm>
            <a:off x="828000" y="6276164"/>
            <a:ext cx="6120000" cy="1148400"/>
          </a:xfrm>
          <a:prstGeom prst="rect">
            <a:avLst/>
          </a:prstGeom>
        </p:spPr>
      </p:pic>
      <p:sp>
        <p:nvSpPr>
          <p:cNvPr id="19" name="Text 12"/>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pPr indent="0" marL="0">
              <a:buNone/>
            </a:pP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31 · n°17 p. 32 · n°18 p. 33</a:t>
            </a:r>
            <a:endParaRPr lang="en-US" sz="740" dirty="0"/>
          </a:p>
        </p:txBody>
      </p:sp>
      <p:sp>
        <p:nvSpPr>
          <p:cNvPr id="20" name="Shape 13"/>
          <p:cNvSpPr/>
          <p:nvPr/>
        </p:nvSpPr>
        <p:spPr>
          <a:xfrm>
            <a:off x="828000" y="8388000"/>
            <a:ext cx="6120000" cy="0"/>
          </a:xfrm>
          <a:prstGeom prst="line">
            <a:avLst/>
          </a:prstGeom>
          <a:noFill/>
          <a:ln w="8890">
            <a:solidFill>
              <a:srgbClr val="46606E"/>
            </a:solidFill>
            <a:prstDash val="solid"/>
          </a:ln>
        </p:spPr>
      </p:sp>
      <p:sp>
        <p:nvSpPr>
          <p:cNvPr id="21" name="Text 14"/>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2" name="Text 15"/>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34</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20</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des Pasquiers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494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94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3" name="Image 1" descr="portrait de la famille — Domaine des Pasquiers">    </p:cNvPr>
          <p:cNvPicPr>
            <a:picLocks noChangeAspect="1"/>
          </p:cNvPicPr>
          <p:nvPr/>
        </p:nvPicPr>
        <p:blipFill>
          <a:blip r:embed="rId2"/>
          <a:srcRect l="12500" r="12500" t="0" b="0"/>
          <a:stretch/>
        </p:blipFill>
        <p:spPr>
          <a:xfrm>
            <a:off x="612000" y="1357200"/>
            <a:ext cx="1440000" cy="1440000"/>
          </a:xfrm>
          <a:prstGeom prst="ellipse">
            <a:avLst/>
          </a:prstGeom>
        </p:spPr>
      </p:pic>
      <p:pic>
        <p:nvPicPr>
          <p:cNvPr id="14" name="Image 2" descr="Une bouteille du domaine Domaine des Pasquiers">    </p:cNvPr>
          <p:cNvPicPr>
            <a:picLocks noChangeAspect="1"/>
          </p:cNvPicPr>
          <p:nvPr/>
        </p:nvPicPr>
        <p:blipFill>
          <a:blip r:embed="rId3"/>
          <a:stretch>
            <a:fillRect/>
          </a:stretch>
        </p:blipFill>
        <p:spPr>
          <a:xfrm>
            <a:off x="6001180" y="1357200"/>
            <a:ext cx="597639" cy="2232000"/>
          </a:xfrm>
          <a:prstGeom prst="rect">
            <a:avLst/>
          </a:prstGeom>
        </p:spPr>
      </p:pic>
      <p:sp>
        <p:nvSpPr>
          <p:cNvPr id="15" name="Text 10"/>
          <p:cNvSpPr/>
          <p:nvPr/>
        </p:nvSpPr>
        <p:spPr>
          <a:xfrm>
            <a:off x="2232000" y="1357200"/>
            <a:ext cx="3456000" cy="2231900"/>
          </a:xfrm>
          <a:prstGeom prst="rect">
            <a:avLst/>
          </a:prstGeom>
          <a:noFill/>
          <a:ln/>
        </p:spPr>
        <p:txBody>
          <a:bodyPr wrap="square" lIns="0" tIns="0" rIns="0" bIns="0" rtlCol="0" anchor="ctr"/>
          <a:lstStyle/>
          <a:p>
            <a:pPr indent="0" marL="0">
              <a:lnSpc>
                <a:spcPct val="142000"/>
              </a:lnSpc>
              <a:buNone/>
            </a:pPr>
            <a:r>
              <a:rPr lang="en-US" sz="2300" dirty="0">
                <a:solidFill>
                  <a:srgbClr val="67067C"/>
                </a:solidFill>
                <a:latin typeface="Young Serif" pitchFamily="34" charset="0"/>
                <a:ea typeface="Young Serif" pitchFamily="34" charset="-122"/>
                <a:cs typeface="Young Serif" pitchFamily="34" charset="-120"/>
              </a:rPr>
              <a:t>D</a:t>
            </a:r>
            <a:pPr indent="0" marL="0">
              <a:lnSpc>
                <a:spcPct val="142000"/>
              </a:lnSpc>
              <a:buNone/>
            </a:pPr>
            <a:r>
              <a:rPr lang="en-US" sz="1275" dirty="0">
                <a:solidFill>
                  <a:srgbClr val="46606E"/>
                </a:solidFill>
                <a:latin typeface="Spectral" pitchFamily="34" charset="0"/>
                <a:ea typeface="Spectral" pitchFamily="34" charset="-122"/>
                <a:cs typeface="Spectral" pitchFamily="34" charset="-120"/>
              </a:rPr>
              <a:t>epuis 1935, le Domaine des Pasquiers, un lieu viticole de 87 hectares, est niché au cœur de plusieurs appellations prestigieuses de Provence. La propriété tisse l'histoire de la vigne depuis quatre générations avec passion, s'orientant vers une viticulture biologique pour promouvoir la durabilité et le respect de la terre.</a:t>
            </a:r>
            <a:endParaRPr lang="en-US" sz="1275"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Pays de Vaucluse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CDR villages Plan de Dieu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Gigondas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Text 11"/>
          <p:cNvSpPr/>
          <p:nvPr/>
        </p:nvSpPr>
        <p:spPr>
          <a:xfrm>
            <a:off x="612000" y="569026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18" name="Image 3" descr="/home/user/philippe1/build/deco/sol-rhone.png">    </p:cNvPr>
          <p:cNvPicPr>
            <a:picLocks noChangeAspect="1"/>
          </p:cNvPicPr>
          <p:nvPr/>
        </p:nvPicPr>
        <p:blipFill>
          <a:blip r:embed="rId4"/>
          <a:stretch>
            <a:fillRect/>
          </a:stretch>
        </p:blipFill>
        <p:spPr>
          <a:xfrm>
            <a:off x="612000" y="5837865"/>
            <a:ext cx="6120000" cy="1341608"/>
          </a:xfrm>
          <a:prstGeom prst="rect">
            <a:avLst/>
          </a:prstGeom>
        </p:spPr>
      </p:pic>
      <p:sp>
        <p:nvSpPr>
          <p:cNvPr id="19" name="Shape 12"/>
          <p:cNvSpPr/>
          <p:nvPr/>
        </p:nvSpPr>
        <p:spPr>
          <a:xfrm>
            <a:off x="612000" y="8388000"/>
            <a:ext cx="6120000" cy="0"/>
          </a:xfrm>
          <a:prstGeom prst="line">
            <a:avLst/>
          </a:prstGeom>
          <a:noFill/>
          <a:ln w="8890">
            <a:solidFill>
              <a:srgbClr val="46606E"/>
            </a:solidFill>
            <a:prstDash val="solid"/>
          </a:ln>
        </p:spPr>
      </p:sp>
      <p:sp>
        <p:nvSpPr>
          <p:cNvPr id="20" name="Text 13"/>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1" name="Text 14"/>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3"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35</a:t>
            </a:r>
            <a:endParaRPr lang="en-US" sz="750" dirty="0"/>
          </a:p>
        </p:txBody>
      </p:sp>
      <p:sp>
        <p:nvSpPr>
          <p:cNvPr id="24"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21</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Trichon</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10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3" name="Image 1" descr="les deux vignerons, recadrés sur leurs visages — Domaine Trichon">    </p:cNvPr>
          <p:cNvPicPr>
            <a:picLocks noChangeAspect="1"/>
          </p:cNvPicPr>
          <p:nvPr/>
        </p:nvPicPr>
        <p:blipFill>
          <a:blip r:embed="rId2"/>
          <a:stretch>
            <a:fillRect/>
          </a:stretch>
        </p:blipFill>
        <p:spPr>
          <a:xfrm>
            <a:off x="828000" y="1357200"/>
            <a:ext cx="1440000" cy="1440000"/>
          </a:xfrm>
          <a:prstGeom prst="rect">
            <a:avLst/>
          </a:prstGeom>
        </p:spPr>
      </p:pic>
      <p:pic>
        <p:nvPicPr>
          <p:cNvPr id="14" name="Image 2" descr="Une bouteille du domaine Domaine Trichon">    </p:cNvPr>
          <p:cNvPicPr>
            <a:picLocks noChangeAspect="1"/>
          </p:cNvPicPr>
          <p:nvPr/>
        </p:nvPicPr>
        <p:blipFill>
          <a:blip r:embed="rId3"/>
          <a:stretch>
            <a:fillRect/>
          </a:stretch>
        </p:blipFill>
        <p:spPr>
          <a:xfrm>
            <a:off x="6199083" y="1357200"/>
            <a:ext cx="633834" cy="2232000"/>
          </a:xfrm>
          <a:prstGeom prst="rect">
            <a:avLst/>
          </a:prstGeom>
        </p:spPr>
      </p:pic>
      <p:sp>
        <p:nvSpPr>
          <p:cNvPr id="15" name="Text 10"/>
          <p:cNvSpPr/>
          <p:nvPr/>
        </p:nvSpPr>
        <p:spPr>
          <a:xfrm>
            <a:off x="2448000" y="1357200"/>
            <a:ext cx="3456000" cy="2231900"/>
          </a:xfrm>
          <a:prstGeom prst="rect">
            <a:avLst/>
          </a:prstGeom>
          <a:noFill/>
          <a:ln/>
        </p:spPr>
        <p:txBody>
          <a:bodyPr wrap="square" lIns="0" tIns="0" rIns="0" bIns="0" rtlCol="0" anchor="ctr"/>
          <a:lstStyle/>
          <a:p>
            <a:pPr indent="0" marL="0">
              <a:lnSpc>
                <a:spcPct val="142000"/>
              </a:lnSpc>
              <a:buNone/>
            </a:pPr>
            <a:r>
              <a:rPr lang="en-US" sz="2100" dirty="0">
                <a:solidFill>
                  <a:srgbClr val="67067C"/>
                </a:solidFill>
                <a:latin typeface="Young Serif" pitchFamily="34" charset="0"/>
                <a:ea typeface="Young Serif" pitchFamily="34" charset="-122"/>
                <a:cs typeface="Young Serif" pitchFamily="34" charset="-120"/>
              </a:rPr>
              <a:t>L</a:t>
            </a:r>
            <a:pPr indent="0" marL="0">
              <a:lnSpc>
                <a:spcPct val="142000"/>
              </a:lnSpc>
              <a:buNone/>
            </a:pPr>
            <a:r>
              <a:rPr lang="en-US" sz="1175" dirty="0">
                <a:solidFill>
                  <a:srgbClr val="46606E"/>
                </a:solidFill>
                <a:latin typeface="Spectral" pitchFamily="34" charset="0"/>
                <a:ea typeface="Spectral" pitchFamily="34" charset="-122"/>
                <a:cs typeface="Spectral" pitchFamily="34" charset="-120"/>
              </a:rPr>
              <a:t>es Vignobles Trichon-Bernard réunissent deux terroirs certifiés en agriculture biologique. Les Côtes du Rhône méridionales donnent le Grenache, la Syrah, le Mourvèdre, la Clairette, le Muscat et le Viognier ; le Bugey donne le Chardonnay, l’Altesse, le Gamay, le Pinot Noir et la Mondeuse. Claire et Stéphane allient leurs savoir-faire à la vigne et dans la création des cuvées.</a:t>
            </a:r>
            <a:endParaRPr lang="en-US" sz="1175"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4,67</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9,12</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8,68</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8,93</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Text 11"/>
          <p:cNvSpPr/>
          <p:nvPr/>
        </p:nvSpPr>
        <p:spPr>
          <a:xfrm>
            <a:off x="828000" y="535912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18" name="Image 3" descr="/home/user/philippe1/build/deco/sol-rhone.png">    </p:cNvPr>
          <p:cNvPicPr>
            <a:picLocks noChangeAspect="1"/>
          </p:cNvPicPr>
          <p:nvPr/>
        </p:nvPicPr>
        <p:blipFill>
          <a:blip r:embed="rId4"/>
          <a:stretch>
            <a:fillRect/>
          </a:stretch>
        </p:blipFill>
        <p:spPr>
          <a:xfrm>
            <a:off x="828000" y="5506723"/>
            <a:ext cx="6120000" cy="1540294"/>
          </a:xfrm>
          <a:prstGeom prst="rect">
            <a:avLst/>
          </a:prstGeom>
        </p:spPr>
      </p:pic>
      <p:sp>
        <p:nvSpPr>
          <p:cNvPr id="19" name="Shape 12"/>
          <p:cNvSpPr/>
          <p:nvPr/>
        </p:nvSpPr>
        <p:spPr>
          <a:xfrm>
            <a:off x="828000" y="8388000"/>
            <a:ext cx="6120000" cy="0"/>
          </a:xfrm>
          <a:prstGeom prst="line">
            <a:avLst/>
          </a:prstGeom>
          <a:noFill/>
          <a:ln w="8890">
            <a:solidFill>
              <a:srgbClr val="46606E"/>
            </a:solidFill>
            <a:prstDash val="solid"/>
          </a:ln>
        </p:spPr>
      </p:sp>
      <p:sp>
        <p:nvSpPr>
          <p:cNvPr id="20" name="Text 13"/>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départ cave.</a:t>
            </a:r>
            <a:endParaRPr lang="en-US" sz="720" dirty="0"/>
          </a:p>
        </p:txBody>
      </p:sp>
      <p:sp>
        <p:nvSpPr>
          <p:cNvPr id="21" name="Text 14"/>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3"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36</a:t>
            </a:r>
            <a:endParaRPr lang="en-US" sz="750" dirty="0"/>
          </a:p>
        </p:txBody>
      </p:sp>
      <p:sp>
        <p:nvSpPr>
          <p:cNvPr id="24"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sud-ouest.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sud-ouest.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6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Sud-Ouest</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sables fauves et fossiles marins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3</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40</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22   </a:t>
            </a:r>
            <a:pPr indent="0" marL="0">
              <a:buNone/>
            </a:pPr>
            <a:r>
              <a:rPr lang="en-US" sz="860" dirty="0">
                <a:solidFill>
                  <a:srgbClr val="FBF8F1"/>
                </a:solidFill>
                <a:latin typeface="IBM Plex Sans" pitchFamily="34" charset="0"/>
                <a:ea typeface="IBM Plex Sans" pitchFamily="34" charset="-122"/>
                <a:cs typeface="IBM Plex Sans" pitchFamily="34" charset="-120"/>
              </a:rPr>
              <a:t>Domaine Stratéus</a:t>
            </a:r>
            <a:pPr indent="0" marL="0">
              <a:buNone/>
            </a:pPr>
            <a:r>
              <a:rPr lang="en-US" sz="860" b="1" dirty="0">
                <a:solidFill>
                  <a:srgbClr val="FBF8F1"/>
                </a:solidFill>
                <a:latin typeface="IBM Plex Sans" pitchFamily="34" charset="0"/>
                <a:ea typeface="IBM Plex Sans" pitchFamily="34" charset="-122"/>
                <a:cs typeface="IBM Plex Sans" pitchFamily="34" charset="-120"/>
              </a:rPr>
              <a:t>   38</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23   </a:t>
            </a:r>
            <a:pPr indent="0" marL="0">
              <a:buNone/>
            </a:pPr>
            <a:r>
              <a:rPr lang="en-US" sz="860" dirty="0">
                <a:solidFill>
                  <a:srgbClr val="FBF8F1"/>
                </a:solidFill>
                <a:latin typeface="IBM Plex Sans" pitchFamily="34" charset="0"/>
                <a:ea typeface="IBM Plex Sans" pitchFamily="34" charset="-122"/>
                <a:cs typeface="IBM Plex Sans" pitchFamily="34" charset="-120"/>
              </a:rPr>
              <a:t>Domaine Haut Marin</a:t>
            </a:r>
            <a:pPr indent="0" marL="0">
              <a:buNone/>
            </a:pPr>
            <a:r>
              <a:rPr lang="en-US" sz="860" b="1" dirty="0">
                <a:solidFill>
                  <a:srgbClr val="FBF8F1"/>
                </a:solidFill>
                <a:latin typeface="IBM Plex Sans" pitchFamily="34" charset="0"/>
                <a:ea typeface="IBM Plex Sans" pitchFamily="34" charset="-122"/>
                <a:cs typeface="IBM Plex Sans" pitchFamily="34" charset="-120"/>
              </a:rPr>
              <a:t>   39</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24   </a:t>
            </a:r>
            <a:pPr indent="0" marL="0">
              <a:buNone/>
            </a:pPr>
            <a:r>
              <a:rPr lang="en-US" sz="860" dirty="0">
                <a:solidFill>
                  <a:srgbClr val="FBF8F1"/>
                </a:solidFill>
                <a:latin typeface="IBM Plex Sans" pitchFamily="34" charset="0"/>
                <a:ea typeface="IBM Plex Sans" pitchFamily="34" charset="-122"/>
                <a:cs typeface="IBM Plex Sans" pitchFamily="34" charset="-120"/>
              </a:rPr>
              <a:t>Fabien Castaing</a:t>
            </a:r>
            <a:pPr indent="0" marL="0">
              <a:buNone/>
            </a:pPr>
            <a:r>
              <a:rPr lang="en-US" sz="860" b="1" dirty="0">
                <a:solidFill>
                  <a:srgbClr val="FBF8F1"/>
                </a:solidFill>
                <a:latin typeface="IBM Plex Sans" pitchFamily="34" charset="0"/>
                <a:ea typeface="IBM Plex Sans" pitchFamily="34" charset="-122"/>
                <a:cs typeface="IBM Plex Sans" pitchFamily="34" charset="-120"/>
              </a:rPr>
              <a:t>   41</a:t>
            </a:r>
            <a:endParaRPr lang="en-US" sz="860" dirty="0"/>
          </a:p>
        </p:txBody>
      </p:sp>
      <p:sp>
        <p:nvSpPr>
          <p:cNvPr id="15" name="Text 1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37</a:t>
            </a:r>
            <a:endParaRPr lang="en-US" sz="750" dirty="0"/>
          </a:p>
        </p:txBody>
      </p:sp>
      <p:sp>
        <p:nvSpPr>
          <p:cNvPr id="16" name="Text 1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22</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Stratéus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46051"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1956162"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956162"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20836" y="10476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20836"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5" name="Image 1" descr="logo du domaine — Domaine Stratéus">    </p:cNvPr>
          <p:cNvPicPr>
            <a:picLocks noChangeAspect="1"/>
          </p:cNvPicPr>
          <p:nvPr/>
        </p:nvPicPr>
        <p:blipFill>
          <a:blip r:embed="rId2"/>
          <a:stretch>
            <a:fillRect/>
          </a:stretch>
        </p:blipFill>
        <p:spPr>
          <a:xfrm>
            <a:off x="828000" y="1357200"/>
            <a:ext cx="1440000" cy="1440000"/>
          </a:xfrm>
          <a:prstGeom prst="rect">
            <a:avLst/>
          </a:prstGeom>
        </p:spPr>
      </p:pic>
      <p:pic>
        <p:nvPicPr>
          <p:cNvPr id="16" name="Image 2" descr="Une bouteille du domaine Domaine Stratéus">    </p:cNvPr>
          <p:cNvPicPr>
            <a:picLocks noChangeAspect="1"/>
          </p:cNvPicPr>
          <p:nvPr/>
        </p:nvPicPr>
        <p:blipFill>
          <a:blip r:embed="rId3"/>
          <a:stretch>
            <a:fillRect/>
          </a:stretch>
        </p:blipFill>
        <p:spPr>
          <a:xfrm>
            <a:off x="6272066" y="1357200"/>
            <a:ext cx="487869" cy="2232000"/>
          </a:xfrm>
          <a:prstGeom prst="rect">
            <a:avLst/>
          </a:prstGeom>
        </p:spPr>
      </p:pic>
      <p:sp>
        <p:nvSpPr>
          <p:cNvPr id="17" name="Text 12"/>
          <p:cNvSpPr/>
          <p:nvPr/>
        </p:nvSpPr>
        <p:spPr>
          <a:xfrm>
            <a:off x="2448000" y="1357200"/>
            <a:ext cx="3456000" cy="2231900"/>
          </a:xfrm>
          <a:prstGeom prst="rect">
            <a:avLst/>
          </a:prstGeom>
          <a:noFill/>
          <a:ln/>
        </p:spPr>
        <p:txBody>
          <a:bodyPr wrap="square" lIns="0" tIns="0" rIns="0" bIns="0" rtlCol="0" anchor="ctr"/>
          <a:lstStyle/>
          <a:p>
            <a:pPr indent="0" marL="0">
              <a:lnSpc>
                <a:spcPct val="142000"/>
              </a:lnSpc>
              <a:buNone/>
            </a:pPr>
            <a:r>
              <a:rPr lang="en-US" sz="2350" dirty="0">
                <a:solidFill>
                  <a:srgbClr val="67067C"/>
                </a:solidFill>
                <a:latin typeface="Young Serif" pitchFamily="34" charset="0"/>
                <a:ea typeface="Young Serif" pitchFamily="34" charset="-122"/>
                <a:cs typeface="Young Serif" pitchFamily="34" charset="-120"/>
              </a:rPr>
              <a:t>N</a:t>
            </a:r>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é de la transmission d’une vigne de 80 ans en Madiran par son grand-père, le projet de Simon cultive la rareté : produire peu pour produire sain. Environ six hectares en Madiran et Pacherenc-du-Vic-Bilh, en symbiose avec un élevage de bœufs Angus sur la ferme.</a:t>
            </a:r>
            <a:endParaRPr lang="en-US" sz="13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Pacherenc du Vic-Bilh Sec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Néolitik</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Text 13"/>
          <p:cNvSpPr/>
          <p:nvPr/>
        </p:nvSpPr>
        <p:spPr>
          <a:xfrm>
            <a:off x="828000" y="651328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0" name="Image 3" descr="/home/user/philippe1/build/deco/sol-sud-ouest.png">    </p:cNvPr>
          <p:cNvPicPr>
            <a:picLocks noChangeAspect="1"/>
          </p:cNvPicPr>
          <p:nvPr/>
        </p:nvPicPr>
        <p:blipFill>
          <a:blip r:embed="rId4"/>
          <a:stretch>
            <a:fillRect/>
          </a:stretch>
        </p:blipFill>
        <p:spPr>
          <a:xfrm>
            <a:off x="828000" y="6660885"/>
            <a:ext cx="6120000" cy="1148400"/>
          </a:xfrm>
          <a:prstGeom prst="rect">
            <a:avLst/>
          </a:prstGeom>
        </p:spPr>
      </p:pic>
      <p:sp>
        <p:nvSpPr>
          <p:cNvPr id="21" name="Shape 14"/>
          <p:cNvSpPr/>
          <p:nvPr/>
        </p:nvSpPr>
        <p:spPr>
          <a:xfrm>
            <a:off x="828000" y="8388000"/>
            <a:ext cx="6120000" cy="0"/>
          </a:xfrm>
          <a:prstGeom prst="line">
            <a:avLst/>
          </a:prstGeom>
          <a:noFill/>
          <a:ln w="8890">
            <a:solidFill>
              <a:srgbClr val="46606E"/>
            </a:solidFill>
            <a:prstDash val="solid"/>
          </a:ln>
        </p:spPr>
      </p:sp>
      <p:sp>
        <p:nvSpPr>
          <p:cNvPr id="22" name="Text 15"/>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23" name="Text 16"/>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pictos de l’Agence SCIO, pas les logos officiels</a:t>
            </a:r>
            <a:endParaRPr lang="en-US" sz="650" dirty="0"/>
          </a:p>
        </p:txBody>
      </p:sp>
      <p:sp>
        <p:nvSpPr>
          <p:cNvPr id="25"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38</a:t>
            </a:r>
            <a:endParaRPr lang="en-US" sz="750" dirty="0"/>
          </a:p>
        </p:txBody>
      </p:sp>
      <p:sp>
        <p:nvSpPr>
          <p:cNvPr id="26"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Haut Marin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63997"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63997"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IGP</a:t>
            </a:r>
            <a:endParaRPr lang="en-US" sz="720" dirty="0"/>
          </a:p>
        </p:txBody>
      </p:sp>
      <p:sp>
        <p:nvSpPr>
          <p:cNvPr id="9" name="Shape 6"/>
          <p:cNvSpPr/>
          <p:nvPr/>
        </p:nvSpPr>
        <p:spPr>
          <a:xfrm>
            <a:off x="1055197" y="1047600"/>
            <a:ext cx="380548" cy="180000"/>
          </a:xfrm>
          <a:prstGeom prst="roundRect">
            <a:avLst>
              <a:gd name="adj" fmla="val 10160"/>
            </a:avLst>
          </a:prstGeom>
          <a:solidFill>
            <a:srgbClr val="F2EADA"/>
          </a:solidFill>
          <a:ln w="8890">
            <a:solidFill>
              <a:srgbClr val="3C5B47"/>
            </a:solidFill>
            <a:prstDash val="solid"/>
          </a:ln>
        </p:spPr>
      </p:sp>
      <p:sp>
        <p:nvSpPr>
          <p:cNvPr id="10" name="Text 7"/>
          <p:cNvSpPr/>
          <p:nvPr/>
        </p:nvSpPr>
        <p:spPr>
          <a:xfrm>
            <a:off x="1055197"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1" name="Shape 8"/>
          <p:cNvSpPr/>
          <p:nvPr/>
        </p:nvSpPr>
        <p:spPr>
          <a:xfrm>
            <a:off x="1514946"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514946"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2979619" y="1047600"/>
            <a:ext cx="864357" cy="180000"/>
          </a:xfrm>
          <a:prstGeom prst="roundRect">
            <a:avLst>
              <a:gd name="adj" fmla="val 10160"/>
            </a:avLst>
          </a:prstGeom>
          <a:solidFill>
            <a:srgbClr val="D08C3C"/>
          </a:solidFill>
          <a:ln w="8890">
            <a:solidFill>
              <a:srgbClr val="D08C3C"/>
            </a:solidFill>
            <a:prstDash val="solid"/>
          </a:ln>
        </p:spPr>
      </p:sp>
      <p:sp>
        <p:nvSpPr>
          <p:cNvPr id="14" name="Text 11"/>
          <p:cNvSpPr/>
          <p:nvPr/>
        </p:nvSpPr>
        <p:spPr>
          <a:xfrm>
            <a:off x="2979619"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5" name="Shape 12"/>
          <p:cNvSpPr/>
          <p:nvPr/>
        </p:nvSpPr>
        <p:spPr>
          <a:xfrm>
            <a:off x="3923176" y="1047600"/>
            <a:ext cx="787182" cy="180000"/>
          </a:xfrm>
          <a:prstGeom prst="roundRect">
            <a:avLst>
              <a:gd name="adj" fmla="val 10160"/>
            </a:avLst>
          </a:prstGeom>
          <a:solidFill>
            <a:srgbClr val="F2EADA"/>
          </a:solidFill>
          <a:ln w="8890">
            <a:solidFill>
              <a:srgbClr val="46606E"/>
            </a:solidFill>
            <a:prstDash val="solid"/>
          </a:ln>
        </p:spPr>
      </p:sp>
      <p:sp>
        <p:nvSpPr>
          <p:cNvPr id="16" name="Text 13"/>
          <p:cNvSpPr/>
          <p:nvPr/>
        </p:nvSpPr>
        <p:spPr>
          <a:xfrm>
            <a:off x="3923176"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7" name="Image 1" descr="logo du domaine — Domaine Haut Marin">    </p:cNvPr>
          <p:cNvPicPr>
            <a:picLocks noChangeAspect="1"/>
          </p:cNvPicPr>
          <p:nvPr/>
        </p:nvPicPr>
        <p:blipFill>
          <a:blip r:embed="rId2"/>
          <a:stretch>
            <a:fillRect/>
          </a:stretch>
        </p:blipFill>
        <p:spPr>
          <a:xfrm>
            <a:off x="612000" y="1357200"/>
            <a:ext cx="1440000" cy="1440000"/>
          </a:xfrm>
          <a:prstGeom prst="rect">
            <a:avLst/>
          </a:prstGeom>
        </p:spPr>
      </p:pic>
      <p:pic>
        <p:nvPicPr>
          <p:cNvPr id="18" name="Image 2" descr="Une bouteille du domaine Domaine Haut Marin">    </p:cNvPr>
          <p:cNvPicPr>
            <a:picLocks noChangeAspect="1"/>
          </p:cNvPicPr>
          <p:nvPr/>
        </p:nvPicPr>
        <p:blipFill>
          <a:blip r:embed="rId3"/>
          <a:stretch>
            <a:fillRect/>
          </a:stretch>
        </p:blipFill>
        <p:spPr>
          <a:xfrm>
            <a:off x="6028623" y="1357200"/>
            <a:ext cx="542754" cy="2232000"/>
          </a:xfrm>
          <a:prstGeom prst="rect">
            <a:avLst/>
          </a:prstGeom>
        </p:spPr>
      </p:pic>
      <p:sp>
        <p:nvSpPr>
          <p:cNvPr id="19" name="Text 14"/>
          <p:cNvSpPr/>
          <p:nvPr/>
        </p:nvSpPr>
        <p:spPr>
          <a:xfrm>
            <a:off x="2232000" y="1357200"/>
            <a:ext cx="3456000" cy="2231900"/>
          </a:xfrm>
          <a:prstGeom prst="rect">
            <a:avLst/>
          </a:prstGeom>
          <a:noFill/>
          <a:ln/>
        </p:spPr>
        <p:txBody>
          <a:bodyPr wrap="square" lIns="0" tIns="0" rIns="0" bIns="0" rtlCol="0" anchor="ctr"/>
          <a:lstStyle/>
          <a:p>
            <a:pPr indent="0" marL="0">
              <a:lnSpc>
                <a:spcPct val="142000"/>
              </a:lnSpc>
              <a:buNone/>
            </a:pPr>
            <a:r>
              <a:rPr lang="en-US" sz="2350" dirty="0">
                <a:solidFill>
                  <a:srgbClr val="67067C"/>
                </a:solidFill>
                <a:latin typeface="Young Serif" pitchFamily="34" charset="0"/>
                <a:ea typeface="Young Serif" pitchFamily="34" charset="-122"/>
                <a:cs typeface="Young Serif" pitchFamily="34" charset="-120"/>
              </a:rPr>
              <a:t>E</a:t>
            </a:r>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n plein cœur de la Gascogne à Gondrin, les familles Jegerlehner et Prataviera subliment sables fauves et sous-sols argilo-calcaires riches en fossiles marins. Cette fraîcheur insuffle aux cépages gascons éclat aromatique et vivacité saline. IGP Côtes de Gascogne et Bas-Armagnacs.</a:t>
            </a:r>
            <a:endParaRPr lang="en-US" sz="13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407194">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72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N°1 Littorine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2,68</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2,28</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N°2 Amande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2,38</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N°6 Fossiles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2,91</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Denise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3,74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3,63</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3,18</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N°7 Venus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3,08</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N°8 Grand Pavois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3,98</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3,87</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N°3 Gulf Stream</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2,91</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N°4 Triton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2,91</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Philippe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3,31</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3,22</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5"/>
          <p:cNvSpPr/>
          <p:nvPr/>
        </p:nvSpPr>
        <p:spPr>
          <a:xfrm>
            <a:off x="612000" y="8388000"/>
            <a:ext cx="6120000" cy="0"/>
          </a:xfrm>
          <a:prstGeom prst="line">
            <a:avLst/>
          </a:prstGeom>
          <a:noFill/>
          <a:ln w="8890">
            <a:solidFill>
              <a:srgbClr val="46606E"/>
            </a:solidFill>
            <a:prstDash val="solid"/>
          </a:ln>
        </p:spPr>
      </p:sp>
      <p:sp>
        <p:nvSpPr>
          <p:cNvPr id="22" name="Text 16"/>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3" name="Text 17"/>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4"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5"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39</a:t>
            </a:r>
            <a:endParaRPr lang="en-US" sz="750" dirty="0"/>
          </a:p>
        </p:txBody>
      </p:sp>
      <p:sp>
        <p:nvSpPr>
          <p:cNvPr id="26"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Haut Marin</a:t>
            </a:r>
            <a:pPr indent="0" marL="0">
              <a:lnSpc>
                <a:spcPct val="104000"/>
              </a:lnSpc>
              <a:buNone/>
            </a:pP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63997"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63997"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IGP</a:t>
            </a:r>
            <a:endParaRPr lang="en-US" sz="720" dirty="0"/>
          </a:p>
        </p:txBody>
      </p:sp>
      <p:sp>
        <p:nvSpPr>
          <p:cNvPr id="9" name="Shape 6"/>
          <p:cNvSpPr/>
          <p:nvPr/>
        </p:nvSpPr>
        <p:spPr>
          <a:xfrm>
            <a:off x="1271197" y="1047600"/>
            <a:ext cx="380548" cy="180000"/>
          </a:xfrm>
          <a:prstGeom prst="roundRect">
            <a:avLst>
              <a:gd name="adj" fmla="val 10160"/>
            </a:avLst>
          </a:prstGeom>
          <a:solidFill>
            <a:srgbClr val="F2EADA"/>
          </a:solidFill>
          <a:ln w="8890">
            <a:solidFill>
              <a:srgbClr val="3C5B47"/>
            </a:solidFill>
            <a:prstDash val="solid"/>
          </a:ln>
        </p:spPr>
      </p:sp>
      <p:sp>
        <p:nvSpPr>
          <p:cNvPr id="10" name="Text 7"/>
          <p:cNvSpPr/>
          <p:nvPr/>
        </p:nvSpPr>
        <p:spPr>
          <a:xfrm>
            <a:off x="1271197"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1" name="Shape 8"/>
          <p:cNvSpPr/>
          <p:nvPr/>
        </p:nvSpPr>
        <p:spPr>
          <a:xfrm>
            <a:off x="1730946"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730946"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195619" y="1047600"/>
            <a:ext cx="864357" cy="180000"/>
          </a:xfrm>
          <a:prstGeom prst="roundRect">
            <a:avLst>
              <a:gd name="adj" fmla="val 10160"/>
            </a:avLst>
          </a:prstGeom>
          <a:solidFill>
            <a:srgbClr val="D08C3C"/>
          </a:solidFill>
          <a:ln w="8890">
            <a:solidFill>
              <a:srgbClr val="D08C3C"/>
            </a:solidFill>
            <a:prstDash val="solid"/>
          </a:ln>
        </p:spPr>
      </p:sp>
      <p:sp>
        <p:nvSpPr>
          <p:cNvPr id="14" name="Text 11"/>
          <p:cNvSpPr/>
          <p:nvPr/>
        </p:nvSpPr>
        <p:spPr>
          <a:xfrm>
            <a:off x="3195619"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5" name="Shape 12"/>
          <p:cNvSpPr/>
          <p:nvPr/>
        </p:nvSpPr>
        <p:spPr>
          <a:xfrm>
            <a:off x="4139176" y="1047600"/>
            <a:ext cx="787182" cy="180000"/>
          </a:xfrm>
          <a:prstGeom prst="roundRect">
            <a:avLst>
              <a:gd name="adj" fmla="val 10160"/>
            </a:avLst>
          </a:prstGeom>
          <a:solidFill>
            <a:srgbClr val="F2EADA"/>
          </a:solidFill>
          <a:ln w="8890">
            <a:solidFill>
              <a:srgbClr val="46606E"/>
            </a:solidFill>
            <a:prstDash val="solid"/>
          </a:ln>
        </p:spPr>
      </p:sp>
      <p:sp>
        <p:nvSpPr>
          <p:cNvPr id="16" name="Text 13"/>
          <p:cNvSpPr/>
          <p:nvPr/>
        </p:nvSpPr>
        <p:spPr>
          <a:xfrm>
            <a:off x="4139176"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624000"/>
                <a:gridCol w="624000"/>
                <a:gridCol w="624000"/>
              </a:tblGrid>
              <a:tr h="407194">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72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81" name="Table 1"/>
          <p:cNvGraphicFramePr>
            <a:graphicFrameLocks noGrp="1"/>
          </p:cNvGraphicFramePr>
          <p:nvPr>
            <p:extLst>
              <p:ext uri="{D42A27DB-BD31-4B8C-83A1-F6EECF244321}">
                <p14:modId xmlns:p14="http://schemas.microsoft.com/office/powerpoint/2010/main" val="1579011935"/>
              </p:ext>
            </p:extLst>
          </p:nvPr>
        </p:nvGraphicFramePr>
        <p:xfrm>
          <a:off x="828000" y="2695835"/>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 ARMAGNAC</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Blanche Armagnac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Réserve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V.S.O.P.</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X.O.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30,00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Hors d'Age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2000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1990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49,00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121" name="Table 2"/>
          <p:cNvGraphicFramePr>
            <a:graphicFrameLocks noGrp="1"/>
          </p:cNvGraphicFramePr>
          <p:nvPr>
            <p:extLst>
              <p:ext uri="{D42A27DB-BD31-4B8C-83A1-F6EECF244321}">
                <p14:modId xmlns:p14="http://schemas.microsoft.com/office/powerpoint/2010/main" val="1579011935"/>
              </p:ext>
            </p:extLst>
          </p:nvPr>
        </p:nvGraphicFramePr>
        <p:xfrm>
          <a:off x="828000" y="5799423"/>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BIB · BAG-IN-BOX</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Amande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3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Gulf Stream</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Triton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10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4"/>
          <p:cNvSpPr/>
          <p:nvPr/>
        </p:nvSpPr>
        <p:spPr>
          <a:xfrm>
            <a:off x="828000" y="8388000"/>
            <a:ext cx="6120000" cy="0"/>
          </a:xfrm>
          <a:prstGeom prst="line">
            <a:avLst/>
          </a:prstGeom>
          <a:noFill/>
          <a:ln w="8890">
            <a:solidFill>
              <a:srgbClr val="46606E"/>
            </a:solidFill>
            <a:prstDash val="solid"/>
          </a:ln>
        </p:spPr>
      </p:sp>
      <p:sp>
        <p:nvSpPr>
          <p:cNvPr id="21" name="Text 15"/>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2" name="Text 16"/>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3"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4"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40</a:t>
            </a:r>
            <a:endParaRPr lang="en-US" sz="750" dirty="0"/>
          </a:p>
        </p:txBody>
      </p:sp>
      <p:sp>
        <p:nvSpPr>
          <p:cNvPr id="25"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24</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Fabien Castaing</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380548" cy="180000"/>
          </a:xfrm>
          <a:prstGeom prst="roundRect">
            <a:avLst>
              <a:gd name="adj" fmla="val 10160"/>
            </a:avLst>
          </a:prstGeom>
          <a:solidFill>
            <a:srgbClr val="F2EADA"/>
          </a:solidFill>
          <a:ln w="8890">
            <a:solidFill>
              <a:srgbClr val="3C5B47"/>
            </a:solidFill>
            <a:prstDash val="solid"/>
          </a:ln>
        </p:spPr>
      </p:sp>
      <p:sp>
        <p:nvSpPr>
          <p:cNvPr id="10" name="Text 7"/>
          <p:cNvSpPr/>
          <p:nvPr/>
        </p:nvSpPr>
        <p:spPr>
          <a:xfrm>
            <a:off x="1030051"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1" name="Shape 8"/>
          <p:cNvSpPr/>
          <p:nvPr/>
        </p:nvSpPr>
        <p:spPr>
          <a:xfrm>
            <a:off x="1489800"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489800"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2954473" y="1047600"/>
            <a:ext cx="864357" cy="180000"/>
          </a:xfrm>
          <a:prstGeom prst="roundRect">
            <a:avLst>
              <a:gd name="adj" fmla="val 10160"/>
            </a:avLst>
          </a:prstGeom>
          <a:solidFill>
            <a:srgbClr val="D08C3C"/>
          </a:solidFill>
          <a:ln w="8890">
            <a:solidFill>
              <a:srgbClr val="D08C3C"/>
            </a:solidFill>
            <a:prstDash val="solid"/>
          </a:ln>
        </p:spPr>
      </p:sp>
      <p:sp>
        <p:nvSpPr>
          <p:cNvPr id="14" name="Text 11"/>
          <p:cNvSpPr/>
          <p:nvPr/>
        </p:nvSpPr>
        <p:spPr>
          <a:xfrm>
            <a:off x="2954473"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5" name="Shape 12"/>
          <p:cNvSpPr/>
          <p:nvPr/>
        </p:nvSpPr>
        <p:spPr>
          <a:xfrm>
            <a:off x="3898030" y="1047600"/>
            <a:ext cx="787182" cy="180000"/>
          </a:xfrm>
          <a:prstGeom prst="roundRect">
            <a:avLst>
              <a:gd name="adj" fmla="val 10160"/>
            </a:avLst>
          </a:prstGeom>
          <a:solidFill>
            <a:srgbClr val="F2EADA"/>
          </a:solidFill>
          <a:ln w="8890">
            <a:solidFill>
              <a:srgbClr val="46606E"/>
            </a:solidFill>
            <a:prstDash val="solid"/>
          </a:ln>
        </p:spPr>
      </p:sp>
      <p:sp>
        <p:nvSpPr>
          <p:cNvPr id="16" name="Text 13"/>
          <p:cNvSpPr/>
          <p:nvPr/>
        </p:nvSpPr>
        <p:spPr>
          <a:xfrm>
            <a:off x="3898030"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7" name="Image 1" descr="portrait du vigneron dans ses vignes — Fabien Castaing">    </p:cNvPr>
          <p:cNvPicPr>
            <a:picLocks noChangeAspect="1"/>
          </p:cNvPicPr>
          <p:nvPr/>
        </p:nvPicPr>
        <p:blipFill>
          <a:blip r:embed="rId2"/>
          <a:srcRect l="0" r="0" t="8320" b="16680"/>
          <a:stretch/>
        </p:blipFill>
        <p:spPr>
          <a:xfrm>
            <a:off x="612000" y="1357200"/>
            <a:ext cx="1440000" cy="1440000"/>
          </a:xfrm>
          <a:prstGeom prst="ellipse">
            <a:avLst/>
          </a:prstGeom>
        </p:spPr>
      </p:pic>
      <p:pic>
        <p:nvPicPr>
          <p:cNvPr id="18" name="Image 2" descr="Une bouteille du domaine Fabien Castaing">    </p:cNvPr>
          <p:cNvPicPr>
            <a:picLocks noChangeAspect="1"/>
          </p:cNvPicPr>
          <p:nvPr/>
        </p:nvPicPr>
        <p:blipFill>
          <a:blip r:embed="rId3"/>
          <a:stretch>
            <a:fillRect/>
          </a:stretch>
        </p:blipFill>
        <p:spPr>
          <a:xfrm>
            <a:off x="6023794" y="1357200"/>
            <a:ext cx="552412" cy="2232000"/>
          </a:xfrm>
          <a:prstGeom prst="rect">
            <a:avLst/>
          </a:prstGeom>
        </p:spPr>
      </p:pic>
      <p:sp>
        <p:nvSpPr>
          <p:cNvPr id="19" name="Text 14"/>
          <p:cNvSpPr/>
          <p:nvPr/>
        </p:nvSpPr>
        <p:spPr>
          <a:xfrm>
            <a:off x="2232000" y="1357200"/>
            <a:ext cx="3456000" cy="2231900"/>
          </a:xfrm>
          <a:prstGeom prst="rect">
            <a:avLst/>
          </a:prstGeom>
          <a:noFill/>
          <a:ln/>
        </p:spPr>
        <p:txBody>
          <a:bodyPr wrap="square" lIns="0" tIns="0" rIns="0" bIns="0" rtlCol="0" anchor="ctr"/>
          <a:lstStyle/>
          <a:p>
            <a:pPr indent="0" marL="0">
              <a:lnSpc>
                <a:spcPct val="142000"/>
              </a:lnSpc>
              <a:buNone/>
            </a:pPr>
            <a:r>
              <a:rPr lang="en-US" sz="2000" dirty="0">
                <a:solidFill>
                  <a:srgbClr val="67067C"/>
                </a:solidFill>
                <a:latin typeface="Young Serif" pitchFamily="34" charset="0"/>
                <a:ea typeface="Young Serif" pitchFamily="34" charset="-122"/>
                <a:cs typeface="Young Serif" pitchFamily="34" charset="-120"/>
              </a:rPr>
              <a:t>L</a:t>
            </a:r>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e Domaine de Moulin-Pouzy, ancré en Dordogne, est l'héritage historique des Castaing depuis 1898, résultant d'un art viticole transmis avec flamme. Fabien Castaing, digne représentant de la 5ème génération, s'engage avec ferveur à perpétuer les traditions et les valeurs familiales : une passion profonde pour le terroir, un profond respect de l'environnement et un savoir-faire vigneron authentique.</a:t>
            </a:r>
            <a:endParaRPr lang="en-US" sz="11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Monbazillac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Bergerac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Text 15"/>
          <p:cNvSpPr/>
          <p:nvPr/>
        </p:nvSpPr>
        <p:spPr>
          <a:xfrm>
            <a:off x="612000" y="606724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2" name="Image 3" descr="/home/user/philippe1/build/deco/sol-sud-ouest.png">    </p:cNvPr>
          <p:cNvPicPr>
            <a:picLocks noChangeAspect="1"/>
          </p:cNvPicPr>
          <p:nvPr/>
        </p:nvPicPr>
        <p:blipFill>
          <a:blip r:embed="rId4"/>
          <a:stretch>
            <a:fillRect/>
          </a:stretch>
        </p:blipFill>
        <p:spPr>
          <a:xfrm>
            <a:off x="612000" y="6214847"/>
            <a:ext cx="6120000" cy="1148400"/>
          </a:xfrm>
          <a:prstGeom prst="rect">
            <a:avLst/>
          </a:prstGeom>
        </p:spPr>
      </p:pic>
      <p:sp>
        <p:nvSpPr>
          <p:cNvPr id="23" name="Shape 16"/>
          <p:cNvSpPr/>
          <p:nvPr/>
        </p:nvSpPr>
        <p:spPr>
          <a:xfrm>
            <a:off x="612000" y="8388000"/>
            <a:ext cx="6120000" cy="0"/>
          </a:xfrm>
          <a:prstGeom prst="line">
            <a:avLst/>
          </a:prstGeom>
          <a:noFill/>
          <a:ln w="8890">
            <a:solidFill>
              <a:srgbClr val="46606E"/>
            </a:solidFill>
            <a:prstDash val="solid"/>
          </a:ln>
        </p:spPr>
      </p:sp>
      <p:sp>
        <p:nvSpPr>
          <p:cNvPr id="24" name="Text 17"/>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5" name="Text 18"/>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9"/>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 Bière     pictos de l’Agence SCIO, pas les logos officiels</a:t>
            </a:r>
            <a:endParaRPr lang="en-US" sz="650" dirty="0"/>
          </a:p>
        </p:txBody>
      </p:sp>
      <p:sp>
        <p:nvSpPr>
          <p:cNvPr id="27"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41</a:t>
            </a:r>
            <a:endParaRPr lang="en-US" sz="750" dirty="0"/>
          </a:p>
        </p:txBody>
      </p:sp>
      <p:sp>
        <p:nvSpPr>
          <p:cNvPr id="28"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24</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Fabien Castaing</a:t>
            </a:r>
            <a:pPr indent="0" marL="0">
              <a:lnSpc>
                <a:spcPct val="104000"/>
              </a:lnSpc>
              <a:buNone/>
            </a:pP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380548" cy="180000"/>
          </a:xfrm>
          <a:prstGeom prst="roundRect">
            <a:avLst>
              <a:gd name="adj" fmla="val 10160"/>
            </a:avLst>
          </a:prstGeom>
          <a:solidFill>
            <a:srgbClr val="F2EADA"/>
          </a:solidFill>
          <a:ln w="8890">
            <a:solidFill>
              <a:srgbClr val="3C5B47"/>
            </a:solidFill>
            <a:prstDash val="solid"/>
          </a:ln>
        </p:spPr>
      </p:sp>
      <p:sp>
        <p:nvSpPr>
          <p:cNvPr id="10" name="Text 7"/>
          <p:cNvSpPr/>
          <p:nvPr/>
        </p:nvSpPr>
        <p:spPr>
          <a:xfrm>
            <a:off x="1246051"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1" name="Shape 8"/>
          <p:cNvSpPr/>
          <p:nvPr/>
        </p:nvSpPr>
        <p:spPr>
          <a:xfrm>
            <a:off x="1705800"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705800"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170473" y="1047600"/>
            <a:ext cx="864357" cy="180000"/>
          </a:xfrm>
          <a:prstGeom prst="roundRect">
            <a:avLst>
              <a:gd name="adj" fmla="val 10160"/>
            </a:avLst>
          </a:prstGeom>
          <a:solidFill>
            <a:srgbClr val="D08C3C"/>
          </a:solidFill>
          <a:ln w="8890">
            <a:solidFill>
              <a:srgbClr val="D08C3C"/>
            </a:solidFill>
            <a:prstDash val="solid"/>
          </a:ln>
        </p:spPr>
      </p:sp>
      <p:sp>
        <p:nvSpPr>
          <p:cNvPr id="14" name="Text 11"/>
          <p:cNvSpPr/>
          <p:nvPr/>
        </p:nvSpPr>
        <p:spPr>
          <a:xfrm>
            <a:off x="3170473"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5" name="Shape 12"/>
          <p:cNvSpPr/>
          <p:nvPr/>
        </p:nvSpPr>
        <p:spPr>
          <a:xfrm>
            <a:off x="4114030" y="1047600"/>
            <a:ext cx="787182" cy="180000"/>
          </a:xfrm>
          <a:prstGeom prst="roundRect">
            <a:avLst>
              <a:gd name="adj" fmla="val 10160"/>
            </a:avLst>
          </a:prstGeom>
          <a:solidFill>
            <a:srgbClr val="F2EADA"/>
          </a:solidFill>
          <a:ln w="8890">
            <a:solidFill>
              <a:srgbClr val="46606E"/>
            </a:solidFill>
            <a:prstDash val="solid"/>
          </a:ln>
        </p:spPr>
      </p:sp>
      <p:sp>
        <p:nvSpPr>
          <p:cNvPr id="16" name="Text 13"/>
          <p:cNvSpPr/>
          <p:nvPr/>
        </p:nvSpPr>
        <p:spPr>
          <a:xfrm>
            <a:off x="4114030"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Pécharmant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Hauts des Olivoux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Cahors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Fronton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Blanc de Blancs 100% Chardonnay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Fines Bulles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85" name="Table 1"/>
          <p:cNvGraphicFramePr>
            <a:graphicFrameLocks noGrp="1"/>
          </p:cNvGraphicFramePr>
          <p:nvPr>
            <p:extLst>
              <p:ext uri="{D42A27DB-BD31-4B8C-83A1-F6EECF244321}">
                <p14:modId xmlns:p14="http://schemas.microsoft.com/office/powerpoint/2010/main" val="1579011935"/>
              </p:ext>
            </p:extLst>
          </p:nvPr>
        </p:nvGraphicFramePr>
        <p:xfrm>
          <a:off x="828000" y="3696109"/>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 BIÈRES</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D08C3C"/>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La Barbe Blanche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08C3C"/>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La Barbe Blonde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08C3C"/>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La Barbe Ambrée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Text 14"/>
          <p:cNvSpPr/>
          <p:nvPr/>
        </p:nvSpPr>
        <p:spPr>
          <a:xfrm>
            <a:off x="828000" y="524281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0" name="Image 1" descr="/home/user/philippe1/build/deco/sol-sud-ouest.png">    </p:cNvPr>
          <p:cNvPicPr>
            <a:picLocks noChangeAspect="1"/>
          </p:cNvPicPr>
          <p:nvPr/>
        </p:nvPicPr>
        <p:blipFill>
          <a:blip r:embed="rId2"/>
          <a:stretch>
            <a:fillRect/>
          </a:stretch>
        </p:blipFill>
        <p:spPr>
          <a:xfrm>
            <a:off x="828000" y="5390414"/>
            <a:ext cx="6120000" cy="1610079"/>
          </a:xfrm>
          <a:prstGeom prst="rect">
            <a:avLst/>
          </a:prstGeom>
        </p:spPr>
      </p:pic>
      <p:sp>
        <p:nvSpPr>
          <p:cNvPr id="21" name="Shape 15"/>
          <p:cNvSpPr/>
          <p:nvPr/>
        </p:nvSpPr>
        <p:spPr>
          <a:xfrm>
            <a:off x="828000" y="8388000"/>
            <a:ext cx="6120000" cy="0"/>
          </a:xfrm>
          <a:prstGeom prst="line">
            <a:avLst/>
          </a:prstGeom>
          <a:noFill/>
          <a:ln w="8890">
            <a:solidFill>
              <a:srgbClr val="46606E"/>
            </a:solidFill>
            <a:prstDash val="solid"/>
          </a:ln>
        </p:spPr>
      </p:sp>
      <p:sp>
        <p:nvSpPr>
          <p:cNvPr id="22" name="Text 16"/>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3" name="Text 17"/>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 Bière     pictos de l’Agence SCIO, pas les logos officiels</a:t>
            </a:r>
            <a:endParaRPr lang="en-US" sz="650" dirty="0"/>
          </a:p>
        </p:txBody>
      </p:sp>
      <p:sp>
        <p:nvSpPr>
          <p:cNvPr id="25"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42</a:t>
            </a:r>
            <a:endParaRPr lang="en-US" sz="750" dirty="0"/>
          </a:p>
        </p:txBody>
      </p:sp>
      <p:sp>
        <p:nvSpPr>
          <p:cNvPr id="26"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bordeaux.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bordeaux.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7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Bordeaux</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graves et argilo-calcaire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59</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25   </a:t>
            </a:r>
            <a:pPr indent="0" marL="0">
              <a:buNone/>
            </a:pPr>
            <a:r>
              <a:rPr lang="en-US" sz="860" dirty="0">
                <a:solidFill>
                  <a:srgbClr val="FBF8F1"/>
                </a:solidFill>
                <a:latin typeface="IBM Plex Sans" pitchFamily="34" charset="0"/>
                <a:ea typeface="IBM Plex Sans" pitchFamily="34" charset="-122"/>
                <a:cs typeface="IBM Plex Sans" pitchFamily="34" charset="-120"/>
              </a:rPr>
              <a:t>La Passion des Terroirs</a:t>
            </a:r>
            <a:pPr indent="0" marL="0">
              <a:buNone/>
            </a:pPr>
            <a:r>
              <a:rPr lang="en-US" sz="860" b="1" dirty="0">
                <a:solidFill>
                  <a:srgbClr val="FBF8F1"/>
                </a:solidFill>
                <a:latin typeface="IBM Plex Sans" pitchFamily="34" charset="0"/>
                <a:ea typeface="IBM Plex Sans" pitchFamily="34" charset="-122"/>
                <a:cs typeface="IBM Plex Sans" pitchFamily="34" charset="-120"/>
              </a:rPr>
              <a:t>   44</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pPr indent="0" marL="0">
              <a:buNone/>
            </a:pPr>
            <a:r>
              <a:rPr lang="en-US" sz="860" dirty="0">
                <a:solidFill>
                  <a:srgbClr val="FBF8F1"/>
                </a:solidFill>
                <a:latin typeface="IBM Plex Sans" pitchFamily="34" charset="0"/>
                <a:ea typeface="IBM Plex Sans" pitchFamily="34" charset="-122"/>
                <a:cs typeface="IBM Plex Sans" pitchFamily="34" charset="-120"/>
              </a:rPr>
              <a:t>Château la Gorce</a:t>
            </a:r>
            <a:pPr indent="0" marL="0">
              <a:buNone/>
            </a:pPr>
            <a:r>
              <a:rPr lang="en-US" sz="860" b="1" dirty="0">
                <a:solidFill>
                  <a:srgbClr val="FBF8F1"/>
                </a:solidFill>
                <a:latin typeface="IBM Plex Sans" pitchFamily="34" charset="0"/>
                <a:ea typeface="IBM Plex Sans" pitchFamily="34" charset="-122"/>
                <a:cs typeface="IBM Plex Sans" pitchFamily="34" charset="-120"/>
              </a:rPr>
              <a:t>   47</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27   </a:t>
            </a:r>
            <a:pPr indent="0" marL="0">
              <a:buNone/>
            </a:pPr>
            <a:r>
              <a:rPr lang="en-US" sz="860" dirty="0">
                <a:solidFill>
                  <a:srgbClr val="FBF8F1"/>
                </a:solidFill>
                <a:latin typeface="IBM Plex Sans" pitchFamily="34" charset="0"/>
                <a:ea typeface="IBM Plex Sans" pitchFamily="34" charset="-122"/>
                <a:cs typeface="IBM Plex Sans" pitchFamily="34" charset="-120"/>
              </a:rPr>
              <a:t>Château Falfas</a:t>
            </a:r>
            <a:pPr indent="0" marL="0">
              <a:buNone/>
            </a:pPr>
            <a:r>
              <a:rPr lang="en-US" sz="860" b="1" dirty="0">
                <a:solidFill>
                  <a:srgbClr val="FBF8F1"/>
                </a:solidFill>
                <a:latin typeface="IBM Plex Sans" pitchFamily="34" charset="0"/>
                <a:ea typeface="IBM Plex Sans" pitchFamily="34" charset="-122"/>
                <a:cs typeface="IBM Plex Sans" pitchFamily="34" charset="-120"/>
              </a:rPr>
              <a:t>   49</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28   </a:t>
            </a:r>
            <a:pPr indent="0" marL="0">
              <a:buNone/>
            </a:pPr>
            <a:r>
              <a:rPr lang="en-US" sz="860" dirty="0">
                <a:solidFill>
                  <a:srgbClr val="FBF8F1"/>
                </a:solidFill>
                <a:latin typeface="IBM Plex Sans" pitchFamily="34" charset="0"/>
                <a:ea typeface="IBM Plex Sans" pitchFamily="34" charset="-122"/>
                <a:cs typeface="IBM Plex Sans" pitchFamily="34" charset="-120"/>
              </a:rPr>
              <a:t>Château Pré la Lande</a:t>
            </a:r>
            <a:pPr indent="0" marL="0">
              <a:buNone/>
            </a:pPr>
            <a:r>
              <a:rPr lang="en-US" sz="860" b="1" dirty="0">
                <a:solidFill>
                  <a:srgbClr val="FBF8F1"/>
                </a:solidFill>
                <a:latin typeface="IBM Plex Sans" pitchFamily="34" charset="0"/>
                <a:ea typeface="IBM Plex Sans" pitchFamily="34" charset="-122"/>
                <a:cs typeface="IBM Plex Sans" pitchFamily="34" charset="-120"/>
              </a:rPr>
              <a:t>   50</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29   </a:t>
            </a:r>
            <a:pPr indent="0" marL="0">
              <a:buNone/>
            </a:pPr>
            <a:r>
              <a:rPr lang="en-US" sz="860" dirty="0">
                <a:solidFill>
                  <a:srgbClr val="FBF8F1"/>
                </a:solidFill>
                <a:latin typeface="IBM Plex Sans" pitchFamily="34" charset="0"/>
                <a:ea typeface="IBM Plex Sans" pitchFamily="34" charset="-122"/>
                <a:cs typeface="IBM Plex Sans" pitchFamily="34" charset="-120"/>
              </a:rPr>
              <a:t>Château Balac</a:t>
            </a:r>
            <a:pPr indent="0" marL="0">
              <a:buNone/>
            </a:pPr>
            <a:r>
              <a:rPr lang="en-US" sz="860" b="1" dirty="0">
                <a:solidFill>
                  <a:srgbClr val="FBF8F1"/>
                </a:solidFill>
                <a:latin typeface="IBM Plex Sans" pitchFamily="34" charset="0"/>
                <a:ea typeface="IBM Plex Sans" pitchFamily="34" charset="-122"/>
                <a:cs typeface="IBM Plex Sans" pitchFamily="34" charset="-120"/>
              </a:rPr>
              <a:t>   51</a:t>
            </a:r>
            <a:endParaRPr lang="en-US" sz="860" dirty="0"/>
          </a:p>
        </p:txBody>
      </p:sp>
      <p:sp>
        <p:nvSpPr>
          <p:cNvPr id="17" name="Text 13"/>
          <p:cNvSpPr/>
          <p:nvPr/>
        </p:nvSpPr>
        <p:spPr>
          <a:xfrm>
            <a:off x="367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30   </a:t>
            </a:r>
            <a:pPr indent="0" marL="0">
              <a:buNone/>
            </a:pPr>
            <a:r>
              <a:rPr lang="en-US" sz="860" dirty="0">
                <a:solidFill>
                  <a:srgbClr val="FBF8F1"/>
                </a:solidFill>
                <a:latin typeface="IBM Plex Sans" pitchFamily="34" charset="0"/>
                <a:ea typeface="IBM Plex Sans" pitchFamily="34" charset="-122"/>
                <a:cs typeface="IBM Plex Sans" pitchFamily="34" charset="-120"/>
              </a:rPr>
              <a:t>Château l’Escarderie</a:t>
            </a:r>
            <a:pPr indent="0" marL="0">
              <a:buNone/>
            </a:pPr>
            <a:r>
              <a:rPr lang="en-US" sz="860" b="1" dirty="0">
                <a:solidFill>
                  <a:srgbClr val="FBF8F1"/>
                </a:solidFill>
                <a:latin typeface="IBM Plex Sans" pitchFamily="34" charset="0"/>
                <a:ea typeface="IBM Plex Sans" pitchFamily="34" charset="-122"/>
                <a:cs typeface="IBM Plex Sans" pitchFamily="34" charset="-120"/>
              </a:rPr>
              <a:t>   52</a:t>
            </a:r>
            <a:endParaRPr lang="en-US" sz="860" dirty="0"/>
          </a:p>
        </p:txBody>
      </p:sp>
      <p:sp>
        <p:nvSpPr>
          <p:cNvPr id="18" name="Text 1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43</a:t>
            </a:r>
            <a:endParaRPr lang="en-US" sz="750" dirty="0"/>
          </a:p>
        </p:txBody>
      </p:sp>
      <p:sp>
        <p:nvSpPr>
          <p:cNvPr id="19" name="Text 1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La Passion des Terroirs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864357" cy="180000"/>
          </a:xfrm>
          <a:prstGeom prst="roundRect">
            <a:avLst>
              <a:gd name="adj" fmla="val 10160"/>
            </a:avLst>
          </a:prstGeom>
          <a:solidFill>
            <a:srgbClr val="D08C3C"/>
          </a:solidFill>
          <a:ln w="8890">
            <a:solidFill>
              <a:srgbClr val="D08C3C"/>
            </a:solidFill>
            <a:prstDash val="solid"/>
          </a:ln>
        </p:spPr>
      </p:sp>
      <p:sp>
        <p:nvSpPr>
          <p:cNvPr id="12" name="Text 9"/>
          <p:cNvSpPr/>
          <p:nvPr/>
        </p:nvSpPr>
        <p:spPr>
          <a:xfrm>
            <a:off x="2710725"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3" name="Shape 10"/>
          <p:cNvSpPr/>
          <p:nvPr/>
        </p:nvSpPr>
        <p:spPr>
          <a:xfrm>
            <a:off x="3654282" y="1047600"/>
            <a:ext cx="787182"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65428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pic>
        <p:nvPicPr>
          <p:cNvPr id="15" name="Image 1" descr="portrait de famille d'époque — La Passion des Terroirs">    </p:cNvPr>
          <p:cNvPicPr>
            <a:picLocks noChangeAspect="1"/>
          </p:cNvPicPr>
          <p:nvPr/>
        </p:nvPicPr>
        <p:blipFill>
          <a:blip r:embed="rId2"/>
          <a:srcRect l="0" r="0" t="12247" b="24677"/>
          <a:stretch/>
        </p:blipFill>
        <p:spPr>
          <a:xfrm>
            <a:off x="828000" y="1357200"/>
            <a:ext cx="1440000" cy="1440000"/>
          </a:xfrm>
          <a:prstGeom prst="ellipse">
            <a:avLst/>
          </a:prstGeom>
        </p:spPr>
      </p:pic>
      <p:pic>
        <p:nvPicPr>
          <p:cNvPr id="16" name="Image 2" descr="Une bouteille du domaine La Passion des Terroirs">    </p:cNvPr>
          <p:cNvPicPr>
            <a:picLocks noChangeAspect="1"/>
          </p:cNvPicPr>
          <p:nvPr/>
        </p:nvPicPr>
        <p:blipFill>
          <a:blip r:embed="rId3"/>
          <a:stretch>
            <a:fillRect/>
          </a:stretch>
        </p:blipFill>
        <p:spPr>
          <a:xfrm>
            <a:off x="6243098" y="1357200"/>
            <a:ext cx="545803" cy="2232000"/>
          </a:xfrm>
          <a:prstGeom prst="rect">
            <a:avLst/>
          </a:prstGeom>
        </p:spPr>
      </p:pic>
      <p:sp>
        <p:nvSpPr>
          <p:cNvPr id="17" name="Text 12"/>
          <p:cNvSpPr/>
          <p:nvPr/>
        </p:nvSpPr>
        <p:spPr>
          <a:xfrm>
            <a:off x="2448000" y="1357200"/>
            <a:ext cx="3456000" cy="2231900"/>
          </a:xfrm>
          <a:prstGeom prst="rect">
            <a:avLst/>
          </a:prstGeom>
          <a:noFill/>
          <a:ln/>
        </p:spPr>
        <p:txBody>
          <a:bodyPr wrap="square" lIns="0" tIns="0" rIns="0" bIns="0" rtlCol="0" anchor="ctr"/>
          <a:lstStyle/>
          <a:p>
            <a:pPr indent="0" marL="0">
              <a:lnSpc>
                <a:spcPct val="142000"/>
              </a:lnSpc>
              <a:buNone/>
            </a:pPr>
            <a:r>
              <a:rPr lang="en-US" sz="2200" dirty="0">
                <a:solidFill>
                  <a:srgbClr val="67067C"/>
                </a:solidFill>
                <a:latin typeface="Young Serif" pitchFamily="34" charset="0"/>
                <a:ea typeface="Young Serif" pitchFamily="34" charset="-122"/>
                <a:cs typeface="Young Serif" pitchFamily="34" charset="-120"/>
              </a:rPr>
              <a:t>U</a:t>
            </a:r>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ne recherche constante de l’excellence et de la meilleure expression des Terroirs. Depuis 3 générations, la famille Lurton est un des principaux propriétaires de Châteaux de la région de Bordeaux. Personnalité, respect de la terre, exigence, indépendance ; l’essentiel du caractère de la famille Lucien Lurton, distributrice des vins de toutes les appellations bordelaises.</a:t>
            </a:r>
            <a:endParaRPr lang="en-US" sz="1225"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Petit Valoux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Sauternes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Du Mayne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Petite Echoppe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L'Etoile de Villegeorge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Esprit de Doyac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Text 13"/>
          <p:cNvSpPr/>
          <p:nvPr/>
        </p:nvSpPr>
        <p:spPr>
          <a:xfrm>
            <a:off x="828000" y="6451968"/>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0" name="Image 3" descr="/home/user/philippe1/build/deco/sol-bordeaux.png">    </p:cNvPr>
          <p:cNvPicPr>
            <a:picLocks noChangeAspect="1"/>
          </p:cNvPicPr>
          <p:nvPr/>
        </p:nvPicPr>
        <p:blipFill>
          <a:blip r:embed="rId4"/>
          <a:stretch>
            <a:fillRect/>
          </a:stretch>
        </p:blipFill>
        <p:spPr>
          <a:xfrm>
            <a:off x="828000" y="6599568"/>
            <a:ext cx="6120000" cy="1148400"/>
          </a:xfrm>
          <a:prstGeom prst="rect">
            <a:avLst/>
          </a:prstGeom>
        </p:spPr>
      </p:pic>
      <p:sp>
        <p:nvSpPr>
          <p:cNvPr id="21" name="Shape 14"/>
          <p:cNvSpPr/>
          <p:nvPr/>
        </p:nvSpPr>
        <p:spPr>
          <a:xfrm>
            <a:off x="828000" y="8388000"/>
            <a:ext cx="6120000" cy="0"/>
          </a:xfrm>
          <a:prstGeom prst="line">
            <a:avLst/>
          </a:prstGeom>
          <a:noFill/>
          <a:ln w="8890">
            <a:solidFill>
              <a:srgbClr val="46606E"/>
            </a:solidFill>
            <a:prstDash val="solid"/>
          </a:ln>
        </p:spPr>
      </p:sp>
      <p:sp>
        <p:nvSpPr>
          <p:cNvPr id="22" name="Text 15"/>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Demander le tarif et offre.</a:t>
            </a:r>
            <a:endParaRPr lang="en-US" sz="720" dirty="0"/>
          </a:p>
        </p:txBody>
      </p:sp>
      <p:sp>
        <p:nvSpPr>
          <p:cNvPr id="23" name="Text 16"/>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4"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5"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44</a:t>
            </a:r>
            <a:endParaRPr lang="en-US" sz="750" dirty="0"/>
          </a:p>
        </p:txBody>
      </p:sp>
      <p:sp>
        <p:nvSpPr>
          <p:cNvPr id="26"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La Passion des Terroirs</a:t>
            </a:r>
            <a:pPr indent="0" marL="0">
              <a:lnSpc>
                <a:spcPct val="104000"/>
              </a:lnSpc>
              <a:buNone/>
            </a:pP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494725" y="1047600"/>
            <a:ext cx="864357" cy="180000"/>
          </a:xfrm>
          <a:prstGeom prst="roundRect">
            <a:avLst>
              <a:gd name="adj" fmla="val 10160"/>
            </a:avLst>
          </a:prstGeom>
          <a:solidFill>
            <a:srgbClr val="D08C3C"/>
          </a:solidFill>
          <a:ln w="8890">
            <a:solidFill>
              <a:srgbClr val="D08C3C"/>
            </a:solidFill>
            <a:prstDash val="solid"/>
          </a:ln>
        </p:spPr>
      </p:sp>
      <p:sp>
        <p:nvSpPr>
          <p:cNvPr id="12" name="Text 9"/>
          <p:cNvSpPr/>
          <p:nvPr/>
        </p:nvSpPr>
        <p:spPr>
          <a:xfrm>
            <a:off x="2494725"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3" name="Shape 10"/>
          <p:cNvSpPr/>
          <p:nvPr/>
        </p:nvSpPr>
        <p:spPr>
          <a:xfrm>
            <a:off x="3438282" y="1047600"/>
            <a:ext cx="787182"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3828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12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25,15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Listrac-Médoc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N°2 De Fourcas Dupré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Ceres de Haut-Bages Libéral</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Hauts de Pez</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Charme de Cos Labory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Petite Tour de Bessan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Tour de Bessan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Plantes de Durfort-Vivens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Plateau de Durfort-Vivens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Text 12"/>
          <p:cNvSpPr/>
          <p:nvPr/>
        </p:nvSpPr>
        <p:spPr>
          <a:xfrm>
            <a:off x="612000" y="67558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17" name="Image 1" descr="/home/user/philippe1/build/deco/sol-bordeaux.png">    </p:cNvPr>
          <p:cNvPicPr>
            <a:picLocks noChangeAspect="1"/>
          </p:cNvPicPr>
          <p:nvPr/>
        </p:nvPicPr>
        <p:blipFill>
          <a:blip r:embed="rId2"/>
          <a:stretch>
            <a:fillRect/>
          </a:stretch>
        </p:blipFill>
        <p:spPr>
          <a:xfrm>
            <a:off x="612000" y="6903475"/>
            <a:ext cx="6120000" cy="1148400"/>
          </a:xfrm>
          <a:prstGeom prst="rect">
            <a:avLst/>
          </a:prstGeom>
        </p:spPr>
      </p:pic>
      <p:sp>
        <p:nvSpPr>
          <p:cNvPr id="18" name="Shape 13"/>
          <p:cNvSpPr/>
          <p:nvPr/>
        </p:nvSpPr>
        <p:spPr>
          <a:xfrm>
            <a:off x="612000" y="8388000"/>
            <a:ext cx="6120000" cy="0"/>
          </a:xfrm>
          <a:prstGeom prst="line">
            <a:avLst/>
          </a:prstGeom>
          <a:noFill/>
          <a:ln w="8890">
            <a:solidFill>
              <a:srgbClr val="46606E"/>
            </a:solidFill>
            <a:prstDash val="solid"/>
          </a:ln>
        </p:spPr>
      </p:sp>
      <p:sp>
        <p:nvSpPr>
          <p:cNvPr id="19" name="Text 14"/>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Demander le tarif et offre.</a:t>
            </a:r>
            <a:endParaRPr lang="en-US" sz="720" dirty="0"/>
          </a:p>
        </p:txBody>
      </p:sp>
      <p:sp>
        <p:nvSpPr>
          <p:cNvPr id="20" name="Text 15"/>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1"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2"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45</a:t>
            </a:r>
            <a:endParaRPr lang="en-US" sz="750" dirty="0"/>
          </a:p>
        </p:txBody>
      </p:sp>
      <p:sp>
        <p:nvSpPr>
          <p:cNvPr id="23"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La Passion des Terroirs</a:t>
            </a:r>
            <a:pPr indent="0" marL="0">
              <a:lnSpc>
                <a:spcPct val="104000"/>
              </a:lnSpc>
              <a:buNone/>
            </a:pP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864357" cy="180000"/>
          </a:xfrm>
          <a:prstGeom prst="roundRect">
            <a:avLst>
              <a:gd name="adj" fmla="val 10160"/>
            </a:avLst>
          </a:prstGeom>
          <a:solidFill>
            <a:srgbClr val="D08C3C"/>
          </a:solidFill>
          <a:ln w="8890">
            <a:solidFill>
              <a:srgbClr val="D08C3C"/>
            </a:solidFill>
            <a:prstDash val="solid"/>
          </a:ln>
        </p:spPr>
      </p:sp>
      <p:sp>
        <p:nvSpPr>
          <p:cNvPr id="12" name="Text 9"/>
          <p:cNvSpPr/>
          <p:nvPr/>
        </p:nvSpPr>
        <p:spPr>
          <a:xfrm>
            <a:off x="2710725"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3" name="Shape 10"/>
          <p:cNvSpPr/>
          <p:nvPr/>
        </p:nvSpPr>
        <p:spPr>
          <a:xfrm>
            <a:off x="3654282" y="1047600"/>
            <a:ext cx="787182"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65428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44,50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Moulis-en-Médoc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L'Oratoire de Chasse-Spleen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Eléonore du Château Teynac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les Ormes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2017</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Pauillac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Fleur de Haut-Bages Libéral</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Graves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Graves de Bouscaut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Valoux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Saint-Georges-Saint-Emilion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Macquin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Saint-Emilion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du Cauze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Lalande-de-Pomerol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Croix Saint-André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Pomerol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Feytit-Guillot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6" name="Text 12"/>
          <p:cNvSpPr/>
          <p:nvPr/>
        </p:nvSpPr>
        <p:spPr>
          <a:xfrm>
            <a:off x="828000" y="637115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17" name="Image 1" descr="/home/user/philippe1/build/deco/sol-bordeaux.png">    </p:cNvPr>
          <p:cNvPicPr>
            <a:picLocks noChangeAspect="1"/>
          </p:cNvPicPr>
          <p:nvPr/>
        </p:nvPicPr>
        <p:blipFill>
          <a:blip r:embed="rId2"/>
          <a:stretch>
            <a:fillRect/>
          </a:stretch>
        </p:blipFill>
        <p:spPr>
          <a:xfrm>
            <a:off x="828000" y="6518754"/>
            <a:ext cx="6120000" cy="1148400"/>
          </a:xfrm>
          <a:prstGeom prst="rect">
            <a:avLst/>
          </a:prstGeom>
        </p:spPr>
      </p:pic>
      <p:sp>
        <p:nvSpPr>
          <p:cNvPr id="18" name="Shape 13"/>
          <p:cNvSpPr/>
          <p:nvPr/>
        </p:nvSpPr>
        <p:spPr>
          <a:xfrm>
            <a:off x="828000" y="8388000"/>
            <a:ext cx="6120000" cy="0"/>
          </a:xfrm>
          <a:prstGeom prst="line">
            <a:avLst/>
          </a:prstGeom>
          <a:noFill/>
          <a:ln w="8890">
            <a:solidFill>
              <a:srgbClr val="46606E"/>
            </a:solidFill>
            <a:prstDash val="solid"/>
          </a:ln>
        </p:spPr>
      </p:sp>
      <p:sp>
        <p:nvSpPr>
          <p:cNvPr id="19" name="Text 14"/>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Demander le tarif et offre.</a:t>
            </a:r>
            <a:endParaRPr lang="en-US" sz="720" dirty="0"/>
          </a:p>
        </p:txBody>
      </p:sp>
      <p:sp>
        <p:nvSpPr>
          <p:cNvPr id="20" name="Text 15"/>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1" name="Text 16"/>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2"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46</a:t>
            </a:r>
            <a:endParaRPr lang="en-US" sz="750" dirty="0"/>
          </a:p>
        </p:txBody>
      </p:sp>
      <p:sp>
        <p:nvSpPr>
          <p:cNvPr id="23"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26</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Château la Gorce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494725"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94725"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11 références</a:t>
            </a:r>
            <a:endParaRPr lang="en-US" sz="720" dirty="0"/>
          </a:p>
        </p:txBody>
      </p:sp>
      <p:pic>
        <p:nvPicPr>
          <p:cNvPr id="13" name="Image 1" descr="portrait des vignerons — Château la Gorce">    </p:cNvPr>
          <p:cNvPicPr>
            <a:picLocks noChangeAspect="1"/>
          </p:cNvPicPr>
          <p:nvPr/>
        </p:nvPicPr>
        <p:blipFill>
          <a:blip r:embed="rId2"/>
          <a:srcRect l="0" r="0" t="11067" b="22266"/>
          <a:stretch/>
        </p:blipFill>
        <p:spPr>
          <a:xfrm>
            <a:off x="612000" y="1357200"/>
            <a:ext cx="1440000" cy="1440000"/>
          </a:xfrm>
          <a:prstGeom prst="ellipse">
            <a:avLst/>
          </a:prstGeom>
        </p:spPr>
      </p:pic>
      <p:pic>
        <p:nvPicPr>
          <p:cNvPr id="14" name="Image 2" descr="Une bouteille du domaine Château la Gorce">    </p:cNvPr>
          <p:cNvPicPr>
            <a:picLocks noChangeAspect="1"/>
          </p:cNvPicPr>
          <p:nvPr/>
        </p:nvPicPr>
        <p:blipFill>
          <a:blip r:embed="rId3"/>
          <a:stretch>
            <a:fillRect/>
          </a:stretch>
        </p:blipFill>
        <p:spPr>
          <a:xfrm>
            <a:off x="6024049" y="1357200"/>
            <a:ext cx="551902" cy="2232000"/>
          </a:xfrm>
          <a:prstGeom prst="rect">
            <a:avLst/>
          </a:prstGeom>
        </p:spPr>
      </p:pic>
      <p:sp>
        <p:nvSpPr>
          <p:cNvPr id="15" name="Text 10"/>
          <p:cNvSpPr/>
          <p:nvPr/>
        </p:nvSpPr>
        <p:spPr>
          <a:xfrm>
            <a:off x="2232000" y="1357200"/>
            <a:ext cx="3456000" cy="2231900"/>
          </a:xfrm>
          <a:prstGeom prst="rect">
            <a:avLst/>
          </a:prstGeom>
          <a:noFill/>
          <a:ln/>
        </p:spPr>
        <p:txBody>
          <a:bodyPr wrap="square" lIns="0" tIns="0" rIns="0" bIns="0" rtlCol="0" anchor="ctr"/>
          <a:lstStyle/>
          <a:p>
            <a:pPr indent="0" marL="0">
              <a:lnSpc>
                <a:spcPct val="142000"/>
              </a:lnSpc>
              <a:buNone/>
            </a:pPr>
            <a:r>
              <a:rPr lang="en-US" sz="1700" dirty="0">
                <a:solidFill>
                  <a:srgbClr val="67067C"/>
                </a:solidFill>
                <a:latin typeface="Young Serif" pitchFamily="34" charset="0"/>
                <a:ea typeface="Young Serif" pitchFamily="34" charset="-122"/>
                <a:cs typeface="Young Serif" pitchFamily="34" charset="-120"/>
              </a:rPr>
              <a:t>E</a:t>
            </a:r>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n activité depuis 1822, reconnu cru bourgeois dans le classement de 1932, le domaine a été repris en 2018 par Emmanuel et Mana Martin qui initièrent immédiatement la conversion de l’intégralité des quarante-huit hectares vers l’agriculture biologique, désormais achevée sur toutes les cuvées depuis le millésime 2022.</a:t>
            </a:r>
            <a:endParaRPr lang="en-US" sz="13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90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 Série limitée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Préface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Text 11"/>
          <p:cNvSpPr/>
          <p:nvPr/>
        </p:nvSpPr>
        <p:spPr>
          <a:xfrm>
            <a:off x="612000" y="612856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18" name="Image 3" descr="/home/user/philippe1/build/deco/sol-bordeaux.png">    </p:cNvPr>
          <p:cNvPicPr>
            <a:picLocks noChangeAspect="1"/>
          </p:cNvPicPr>
          <p:nvPr/>
        </p:nvPicPr>
        <p:blipFill>
          <a:blip r:embed="rId4"/>
          <a:stretch>
            <a:fillRect/>
          </a:stretch>
        </p:blipFill>
        <p:spPr>
          <a:xfrm>
            <a:off x="612000" y="6276164"/>
            <a:ext cx="6120000" cy="1148400"/>
          </a:xfrm>
          <a:prstGeom prst="rect">
            <a:avLst/>
          </a:prstGeom>
        </p:spPr>
      </p:pic>
      <p:sp>
        <p:nvSpPr>
          <p:cNvPr id="19" name="Shape 12"/>
          <p:cNvSpPr/>
          <p:nvPr/>
        </p:nvSpPr>
        <p:spPr>
          <a:xfrm>
            <a:off x="612000" y="8388000"/>
            <a:ext cx="6120000" cy="0"/>
          </a:xfrm>
          <a:prstGeom prst="line">
            <a:avLst/>
          </a:prstGeom>
          <a:noFill/>
          <a:ln w="8890">
            <a:solidFill>
              <a:srgbClr val="46606E"/>
            </a:solidFill>
            <a:prstDash val="solid"/>
          </a:ln>
        </p:spPr>
      </p:sp>
      <p:sp>
        <p:nvSpPr>
          <p:cNvPr id="20" name="Text 13"/>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21" name="Text 14"/>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Rosé    ● Rouge     pictos de l’Agence SCIO, pas les logos officiels</a:t>
            </a:r>
            <a:endParaRPr lang="en-US" sz="650" dirty="0"/>
          </a:p>
        </p:txBody>
      </p:sp>
      <p:sp>
        <p:nvSpPr>
          <p:cNvPr id="23"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47</a:t>
            </a:r>
            <a:endParaRPr lang="en-US" sz="750" dirty="0"/>
          </a:p>
        </p:txBody>
      </p:sp>
      <p:sp>
        <p:nvSpPr>
          <p:cNvPr id="24"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26</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Château la Gorce</a:t>
            </a:r>
            <a:pPr indent="0" marL="0">
              <a:lnSpc>
                <a:spcPct val="104000"/>
              </a:lnSpc>
              <a:buNone/>
            </a:pP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10725"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11 références</a:t>
            </a:r>
            <a:endParaRPr lang="en-US" sz="72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90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Prétexte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Rouge Intense – sans sulfites ajoutés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L'An 022 – élevé en amphore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9,75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Rosé DADA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Bonne Résolution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Canteloup</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4" name="Text 10"/>
          <p:cNvSpPr/>
          <p:nvPr/>
        </p:nvSpPr>
        <p:spPr>
          <a:xfrm>
            <a:off x="828000" y="412414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15" name="Image 1" descr="/home/user/philippe1/build/deco/sol-bordeaux.png">    </p:cNvPr>
          <p:cNvPicPr>
            <a:picLocks noChangeAspect="1"/>
          </p:cNvPicPr>
          <p:nvPr/>
        </p:nvPicPr>
        <p:blipFill>
          <a:blip r:embed="rId2"/>
          <a:stretch>
            <a:fillRect/>
          </a:stretch>
        </p:blipFill>
        <p:spPr>
          <a:xfrm>
            <a:off x="828000" y="4271747"/>
            <a:ext cx="6120000" cy="2281279"/>
          </a:xfrm>
          <a:prstGeom prst="rect">
            <a:avLst/>
          </a:prstGeom>
        </p:spPr>
      </p:pic>
      <p:sp>
        <p:nvSpPr>
          <p:cNvPr id="16" name="Shape 11"/>
          <p:cNvSpPr/>
          <p:nvPr/>
        </p:nvSpPr>
        <p:spPr>
          <a:xfrm>
            <a:off x="828000" y="8388000"/>
            <a:ext cx="6120000" cy="0"/>
          </a:xfrm>
          <a:prstGeom prst="line">
            <a:avLst/>
          </a:prstGeom>
          <a:noFill/>
          <a:ln w="8890">
            <a:solidFill>
              <a:srgbClr val="46606E"/>
            </a:solidFill>
            <a:prstDash val="solid"/>
          </a:ln>
        </p:spPr>
      </p:sp>
      <p:sp>
        <p:nvSpPr>
          <p:cNvPr id="17" name="Text 12"/>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18" name="Text 13"/>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19" name="Text 14"/>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Rosé    ● Rouge     pictos de l’Agence SCIO, pas les logos officiels</a:t>
            </a:r>
            <a:endParaRPr lang="en-US" sz="650" dirty="0"/>
          </a:p>
        </p:txBody>
      </p:sp>
      <p:sp>
        <p:nvSpPr>
          <p:cNvPr id="20" name="Text 15"/>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48</a:t>
            </a:r>
            <a:endParaRPr lang="en-US" sz="750" dirty="0"/>
          </a:p>
        </p:txBody>
      </p:sp>
      <p:sp>
        <p:nvSpPr>
          <p:cNvPr id="21" name="Text 16"/>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27</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Château Falfas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568457" cy="180000"/>
          </a:xfrm>
          <a:prstGeom prst="roundRect">
            <a:avLst>
              <a:gd name="adj" fmla="val 10160"/>
            </a:avLst>
          </a:prstGeom>
          <a:solidFill>
            <a:srgbClr val="F2EADA"/>
          </a:solidFill>
          <a:ln w="8890">
            <a:solidFill>
              <a:srgbClr val="3C5B47"/>
            </a:solidFill>
            <a:prstDash val="solid"/>
          </a:ln>
        </p:spPr>
      </p:sp>
      <p:sp>
        <p:nvSpPr>
          <p:cNvPr id="10" name="Text 7"/>
          <p:cNvSpPr/>
          <p:nvPr/>
        </p:nvSpPr>
        <p:spPr>
          <a:xfrm>
            <a:off x="1030051" y="1047600"/>
            <a:ext cx="568457"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Biodyvin</a:t>
            </a:r>
            <a:endParaRPr lang="en-US" sz="720" dirty="0"/>
          </a:p>
        </p:txBody>
      </p:sp>
      <p:sp>
        <p:nvSpPr>
          <p:cNvPr id="11" name="Shape 8"/>
          <p:cNvSpPr/>
          <p:nvPr/>
        </p:nvSpPr>
        <p:spPr>
          <a:xfrm>
            <a:off x="1677709"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677709"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142382" y="10476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142382"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5" name="Image 1" descr="logo du château — Château Falfas">    </p:cNvPr>
          <p:cNvPicPr>
            <a:picLocks noChangeAspect="1"/>
          </p:cNvPicPr>
          <p:nvPr/>
        </p:nvPicPr>
        <p:blipFill>
          <a:blip r:embed="rId2"/>
          <a:stretch>
            <a:fillRect/>
          </a:stretch>
        </p:blipFill>
        <p:spPr>
          <a:xfrm>
            <a:off x="612000" y="1357200"/>
            <a:ext cx="1440000" cy="1440000"/>
          </a:xfrm>
          <a:prstGeom prst="rect">
            <a:avLst/>
          </a:prstGeom>
        </p:spPr>
      </p:pic>
      <p:pic>
        <p:nvPicPr>
          <p:cNvPr id="16" name="Image 2" descr="Une bouteille du domaine Château Falfas">    </p:cNvPr>
          <p:cNvPicPr>
            <a:picLocks noChangeAspect="1"/>
          </p:cNvPicPr>
          <p:nvPr/>
        </p:nvPicPr>
        <p:blipFill>
          <a:blip r:embed="rId3"/>
          <a:stretch>
            <a:fillRect/>
          </a:stretch>
        </p:blipFill>
        <p:spPr>
          <a:xfrm>
            <a:off x="6028623" y="1357200"/>
            <a:ext cx="542754" cy="2232000"/>
          </a:xfrm>
          <a:prstGeom prst="rect">
            <a:avLst/>
          </a:prstGeom>
        </p:spPr>
      </p:pic>
      <p:sp>
        <p:nvSpPr>
          <p:cNvPr id="17" name="Text 12"/>
          <p:cNvSpPr/>
          <p:nvPr/>
        </p:nvSpPr>
        <p:spPr>
          <a:xfrm>
            <a:off x="2232000" y="1357200"/>
            <a:ext cx="3456000" cy="2231900"/>
          </a:xfrm>
          <a:prstGeom prst="rect">
            <a:avLst/>
          </a:prstGeom>
          <a:noFill/>
          <a:ln/>
        </p:spPr>
        <p:txBody>
          <a:bodyPr wrap="square" lIns="0" tIns="0" rIns="0" bIns="0" rtlCol="0" anchor="ctr"/>
          <a:lstStyle/>
          <a:p>
            <a:pPr indent="0" marL="0">
              <a:lnSpc>
                <a:spcPct val="142000"/>
              </a:lnSpc>
              <a:buNone/>
            </a:pPr>
            <a:r>
              <a:rPr lang="en-US" sz="2350" dirty="0">
                <a:solidFill>
                  <a:srgbClr val="67067C"/>
                </a:solidFill>
                <a:latin typeface="Young Serif" pitchFamily="34" charset="0"/>
                <a:ea typeface="Young Serif" pitchFamily="34" charset="-122"/>
                <a:cs typeface="Young Serif" pitchFamily="34" charset="-120"/>
              </a:rPr>
              <a:t>S</a:t>
            </a:r>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entinelle édifiée en 1612 sur les coteaux argilo-calcaires de Bayon, Falfas est une référence pionnière de la biodynamie bordelaise, membre fondateur de Biodyvin sous la houlette de John et Véronique Cochran. Vingt hectares vendangés à la main pour des Côtes de Bourg racés et de longue garde.</a:t>
            </a:r>
            <a:endParaRPr lang="en-US" sz="13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Demoiselles de Falfas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Falfas Le Chevalier (Vieilles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Text 13"/>
          <p:cNvSpPr/>
          <p:nvPr/>
        </p:nvSpPr>
        <p:spPr>
          <a:xfrm>
            <a:off x="612000" y="529780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0" name="Image 3" descr="/home/user/philippe1/build/deco/sol-bordeaux.png">    </p:cNvPr>
          <p:cNvPicPr>
            <a:picLocks noChangeAspect="1"/>
          </p:cNvPicPr>
          <p:nvPr/>
        </p:nvPicPr>
        <p:blipFill>
          <a:blip r:embed="rId4"/>
          <a:stretch>
            <a:fillRect/>
          </a:stretch>
        </p:blipFill>
        <p:spPr>
          <a:xfrm>
            <a:off x="612000" y="5445405"/>
            <a:ext cx="6120000" cy="1577084"/>
          </a:xfrm>
          <a:prstGeom prst="rect">
            <a:avLst/>
          </a:prstGeom>
        </p:spPr>
      </p:pic>
      <p:sp>
        <p:nvSpPr>
          <p:cNvPr id="21" name="Shape 14"/>
          <p:cNvSpPr/>
          <p:nvPr/>
        </p:nvSpPr>
        <p:spPr>
          <a:xfrm>
            <a:off x="612000" y="8388000"/>
            <a:ext cx="6120000" cy="0"/>
          </a:xfrm>
          <a:prstGeom prst="line">
            <a:avLst/>
          </a:prstGeom>
          <a:noFill/>
          <a:ln w="8890">
            <a:solidFill>
              <a:srgbClr val="46606E"/>
            </a:solidFill>
            <a:prstDash val="solid"/>
          </a:ln>
        </p:spPr>
      </p:sp>
      <p:sp>
        <p:nvSpPr>
          <p:cNvPr id="22" name="Text 15"/>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3" name="Text 16"/>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7"/>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5"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49</a:t>
            </a:r>
            <a:endParaRPr lang="en-US" sz="750" dirty="0"/>
          </a:p>
        </p:txBody>
      </p:sp>
      <p:sp>
        <p:nvSpPr>
          <p:cNvPr id="26"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28</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Château Pré la Lande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569006" cy="180000"/>
          </a:xfrm>
          <a:prstGeom prst="roundRect">
            <a:avLst>
              <a:gd name="adj" fmla="val 10160"/>
            </a:avLst>
          </a:prstGeom>
          <a:solidFill>
            <a:srgbClr val="F2EADA"/>
          </a:solidFill>
          <a:ln w="8890">
            <a:solidFill>
              <a:srgbClr val="3C5B47"/>
            </a:solidFill>
            <a:prstDash val="solid"/>
          </a:ln>
        </p:spPr>
      </p:sp>
      <p:sp>
        <p:nvSpPr>
          <p:cNvPr id="10" name="Text 7"/>
          <p:cNvSpPr/>
          <p:nvPr/>
        </p:nvSpPr>
        <p:spPr>
          <a:xfrm>
            <a:off x="1246051" y="1047600"/>
            <a:ext cx="569006"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Demeter</a:t>
            </a:r>
            <a:endParaRPr lang="en-US" sz="720" dirty="0"/>
          </a:p>
        </p:txBody>
      </p:sp>
      <p:sp>
        <p:nvSpPr>
          <p:cNvPr id="11" name="Shape 8"/>
          <p:cNvSpPr/>
          <p:nvPr/>
        </p:nvSpPr>
        <p:spPr>
          <a:xfrm>
            <a:off x="1894257"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894257"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358931" y="10476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358931"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5" name="Image 1" descr="vendanges au domaine — Château Pré la Lande">    </p:cNvPr>
          <p:cNvPicPr>
            <a:picLocks noChangeAspect="1"/>
          </p:cNvPicPr>
          <p:nvPr/>
        </p:nvPicPr>
        <p:blipFill>
          <a:blip r:embed="rId2"/>
          <a:srcRect l="10000" r="10000" t="0" b="0"/>
          <a:stretch/>
        </p:blipFill>
        <p:spPr>
          <a:xfrm>
            <a:off x="828000" y="1357200"/>
            <a:ext cx="1440000" cy="1440000"/>
          </a:xfrm>
          <a:prstGeom prst="ellipse">
            <a:avLst/>
          </a:prstGeom>
        </p:spPr>
      </p:pic>
      <p:pic>
        <p:nvPicPr>
          <p:cNvPr id="16" name="Image 2" descr="Une bouteille du domaine Château Pré la Lande">    </p:cNvPr>
          <p:cNvPicPr>
            <a:picLocks noChangeAspect="1"/>
          </p:cNvPicPr>
          <p:nvPr/>
        </p:nvPicPr>
        <p:blipFill>
          <a:blip r:embed="rId3"/>
          <a:stretch>
            <a:fillRect/>
          </a:stretch>
        </p:blipFill>
        <p:spPr>
          <a:xfrm>
            <a:off x="6238525" y="1357200"/>
            <a:ext cx="554951" cy="2232000"/>
          </a:xfrm>
          <a:prstGeom prst="rect">
            <a:avLst/>
          </a:prstGeom>
        </p:spPr>
      </p:pic>
      <p:sp>
        <p:nvSpPr>
          <p:cNvPr id="17" name="Text 12"/>
          <p:cNvSpPr/>
          <p:nvPr/>
        </p:nvSpPr>
        <p:spPr>
          <a:xfrm>
            <a:off x="2448000" y="1357200"/>
            <a:ext cx="3456000" cy="2231900"/>
          </a:xfrm>
          <a:prstGeom prst="rect">
            <a:avLst/>
          </a:prstGeom>
          <a:noFill/>
          <a:ln/>
        </p:spPr>
        <p:txBody>
          <a:bodyPr wrap="square" lIns="0" tIns="0" rIns="0" bIns="0" rtlCol="0" anchor="ctr"/>
          <a:lstStyle/>
          <a:p>
            <a:pPr indent="0" marL="0">
              <a:lnSpc>
                <a:spcPct val="142000"/>
              </a:lnSpc>
              <a:buNone/>
            </a:pPr>
            <a:r>
              <a:rPr lang="en-US" sz="2350" dirty="0">
                <a:solidFill>
                  <a:srgbClr val="67067C"/>
                </a:solidFill>
                <a:latin typeface="Young Serif" pitchFamily="34" charset="0"/>
                <a:ea typeface="Young Serif" pitchFamily="34" charset="-122"/>
                <a:cs typeface="Young Serif" pitchFamily="34" charset="-120"/>
              </a:rPr>
              <a:t>P</a:t>
            </a:r>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erchée à 120 mètres au-dessus de la vallée de la Dordogne, cette propriété de 1860 conduit une biodynamie certifiée Demeter d’une remarquable précision. Vinifications douces, sulfites au strict minimum, élevages en barriques et amphores : des vins vivants, d’une grande vibration minérale.</a:t>
            </a:r>
            <a:endParaRPr lang="en-US" sz="13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Diane / Le Vin Cœur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TerraCotta / L'An Fort des Haltères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des Fontenelles / Y'a Rien qui Presse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Text 13"/>
          <p:cNvSpPr/>
          <p:nvPr/>
        </p:nvSpPr>
        <p:spPr>
          <a:xfrm>
            <a:off x="828000" y="529780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0" name="Image 3" descr="/home/user/philippe1/build/deco/sol-bordeaux.png">    </p:cNvPr>
          <p:cNvPicPr>
            <a:picLocks noChangeAspect="1"/>
          </p:cNvPicPr>
          <p:nvPr/>
        </p:nvPicPr>
        <p:blipFill>
          <a:blip r:embed="rId4"/>
          <a:stretch>
            <a:fillRect/>
          </a:stretch>
        </p:blipFill>
        <p:spPr>
          <a:xfrm>
            <a:off x="828000" y="5445405"/>
            <a:ext cx="6120000" cy="1577084"/>
          </a:xfrm>
          <a:prstGeom prst="rect">
            <a:avLst/>
          </a:prstGeom>
        </p:spPr>
      </p:pic>
      <p:sp>
        <p:nvSpPr>
          <p:cNvPr id="21" name="Shape 14"/>
          <p:cNvSpPr/>
          <p:nvPr/>
        </p:nvSpPr>
        <p:spPr>
          <a:xfrm>
            <a:off x="828000" y="8388000"/>
            <a:ext cx="6120000" cy="0"/>
          </a:xfrm>
          <a:prstGeom prst="line">
            <a:avLst/>
          </a:prstGeom>
          <a:noFill/>
          <a:ln w="8890">
            <a:solidFill>
              <a:srgbClr val="46606E"/>
            </a:solidFill>
            <a:prstDash val="solid"/>
          </a:ln>
        </p:spPr>
      </p:sp>
      <p:sp>
        <p:nvSpPr>
          <p:cNvPr id="22" name="Text 15"/>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départ chai.</a:t>
            </a:r>
            <a:endParaRPr lang="en-US" sz="720" dirty="0"/>
          </a:p>
        </p:txBody>
      </p:sp>
      <p:sp>
        <p:nvSpPr>
          <p:cNvPr id="23" name="Text 16"/>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5"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50</a:t>
            </a:r>
            <a:endParaRPr lang="en-US" sz="750" dirty="0"/>
          </a:p>
        </p:txBody>
      </p:sp>
      <p:sp>
        <p:nvSpPr>
          <p:cNvPr id="26"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29</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Château Balac</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494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94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3" name="Image 1" descr="portrait des vignerons — Château Balac">    </p:cNvPr>
          <p:cNvPicPr>
            <a:picLocks noChangeAspect="1"/>
          </p:cNvPicPr>
          <p:nvPr/>
        </p:nvPicPr>
        <p:blipFill>
          <a:blip r:embed="rId2"/>
          <a:srcRect l="16591" r="16705" t="0" b="0"/>
          <a:stretch/>
        </p:blipFill>
        <p:spPr>
          <a:xfrm>
            <a:off x="612000" y="1357200"/>
            <a:ext cx="1440000" cy="1440000"/>
          </a:xfrm>
          <a:prstGeom prst="ellipse">
            <a:avLst/>
          </a:prstGeom>
        </p:spPr>
      </p:pic>
      <p:pic>
        <p:nvPicPr>
          <p:cNvPr id="14" name="Image 2" descr="Une bouteille du domaine Château Balac">    </p:cNvPr>
          <p:cNvPicPr>
            <a:picLocks noChangeAspect="1"/>
          </p:cNvPicPr>
          <p:nvPr/>
        </p:nvPicPr>
        <p:blipFill>
          <a:blip r:embed="rId3"/>
          <a:stretch>
            <a:fillRect/>
          </a:stretch>
        </p:blipFill>
        <p:spPr>
          <a:xfrm>
            <a:off x="6030148" y="1357200"/>
            <a:ext cx="539705" cy="2232000"/>
          </a:xfrm>
          <a:prstGeom prst="rect">
            <a:avLst/>
          </a:prstGeom>
        </p:spPr>
      </p:pic>
      <p:sp>
        <p:nvSpPr>
          <p:cNvPr id="15" name="Text 10"/>
          <p:cNvSpPr/>
          <p:nvPr/>
        </p:nvSpPr>
        <p:spPr>
          <a:xfrm>
            <a:off x="2232000" y="1357200"/>
            <a:ext cx="3456000" cy="2231900"/>
          </a:xfrm>
          <a:prstGeom prst="rect">
            <a:avLst/>
          </a:prstGeom>
          <a:noFill/>
          <a:ln/>
        </p:spPr>
        <p:txBody>
          <a:bodyPr wrap="square" lIns="0" tIns="0" rIns="0" bIns="0" rtlCol="0" anchor="ctr"/>
          <a:lstStyle/>
          <a:p>
            <a:pPr indent="0" marL="0">
              <a:lnSpc>
                <a:spcPct val="142000"/>
              </a:lnSpc>
              <a:buNone/>
            </a:pPr>
            <a:r>
              <a:rPr lang="en-US" sz="2350" dirty="0">
                <a:solidFill>
                  <a:srgbClr val="67067C"/>
                </a:solidFill>
                <a:latin typeface="Young Serif" pitchFamily="34" charset="0"/>
                <a:ea typeface="Young Serif" pitchFamily="34" charset="-122"/>
                <a:cs typeface="Young Serif" pitchFamily="34" charset="-120"/>
              </a:rPr>
              <a:t>A</a:t>
            </a:r>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u cœur d’une forêt de deux cents hectares, la famille Touchais veille depuis 1964 sur dix hectares de vignes à Saint-Laurent-Médoc. Classé Cru Bourgeois Supérieur et certifié bio, Balac cultive autour de sa chartreuse du XVIIIe siècle des vins de caractère et d’élégance.</a:t>
            </a:r>
            <a:endParaRPr lang="en-US" sz="13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Inopine (100 % Merlot)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Balac Sans Sulfites (100 % Merlot)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Syrah de Balac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Text 11"/>
          <p:cNvSpPr/>
          <p:nvPr/>
        </p:nvSpPr>
        <p:spPr>
          <a:xfrm>
            <a:off x="612000" y="535912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18" name="Image 3" descr="/home/user/philippe1/build/deco/sol-bordeaux.png">    </p:cNvPr>
          <p:cNvPicPr>
            <a:picLocks noChangeAspect="1"/>
          </p:cNvPicPr>
          <p:nvPr/>
        </p:nvPicPr>
        <p:blipFill>
          <a:blip r:embed="rId4"/>
          <a:stretch>
            <a:fillRect/>
          </a:stretch>
        </p:blipFill>
        <p:spPr>
          <a:xfrm>
            <a:off x="612000" y="5506723"/>
            <a:ext cx="6120000" cy="1540294"/>
          </a:xfrm>
          <a:prstGeom prst="rect">
            <a:avLst/>
          </a:prstGeom>
        </p:spPr>
      </p:pic>
      <p:sp>
        <p:nvSpPr>
          <p:cNvPr id="19" name="Shape 12"/>
          <p:cNvSpPr/>
          <p:nvPr/>
        </p:nvSpPr>
        <p:spPr>
          <a:xfrm>
            <a:off x="612000" y="8388000"/>
            <a:ext cx="6120000" cy="0"/>
          </a:xfrm>
          <a:prstGeom prst="line">
            <a:avLst/>
          </a:prstGeom>
          <a:noFill/>
          <a:ln w="8890">
            <a:solidFill>
              <a:srgbClr val="46606E"/>
            </a:solidFill>
            <a:prstDash val="solid"/>
          </a:ln>
        </p:spPr>
      </p:sp>
      <p:sp>
        <p:nvSpPr>
          <p:cNvPr id="20" name="Text 13"/>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1" name="Text 14"/>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3"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51</a:t>
            </a:r>
            <a:endParaRPr lang="en-US" sz="750" dirty="0"/>
          </a:p>
        </p:txBody>
      </p:sp>
      <p:sp>
        <p:nvSpPr>
          <p:cNvPr id="24"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30</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Château l’Escarderie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10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3" name="Image 1" descr="les deux vignerons, deux portraits côte à côte — Château l’Escarderie">    </p:cNvPr>
          <p:cNvPicPr>
            <a:picLocks noChangeAspect="1"/>
          </p:cNvPicPr>
          <p:nvPr/>
        </p:nvPicPr>
        <p:blipFill>
          <a:blip r:embed="rId2"/>
          <a:stretch>
            <a:fillRect/>
          </a:stretch>
        </p:blipFill>
        <p:spPr>
          <a:xfrm>
            <a:off x="828000" y="1357200"/>
            <a:ext cx="1440000" cy="1440000"/>
          </a:xfrm>
          <a:prstGeom prst="rect">
            <a:avLst/>
          </a:prstGeom>
        </p:spPr>
      </p:pic>
      <p:pic>
        <p:nvPicPr>
          <p:cNvPr id="14" name="Image 2" descr="Une bouteille du domaine Château l’Escarderie">    </p:cNvPr>
          <p:cNvPicPr>
            <a:picLocks noChangeAspect="1"/>
          </p:cNvPicPr>
          <p:nvPr/>
        </p:nvPicPr>
        <p:blipFill>
          <a:blip r:embed="rId3"/>
          <a:stretch>
            <a:fillRect/>
          </a:stretch>
        </p:blipFill>
        <p:spPr>
          <a:xfrm>
            <a:off x="6243098" y="1357200"/>
            <a:ext cx="545803" cy="2232000"/>
          </a:xfrm>
          <a:prstGeom prst="rect">
            <a:avLst/>
          </a:prstGeom>
        </p:spPr>
      </p:pic>
      <p:sp>
        <p:nvSpPr>
          <p:cNvPr id="15" name="Text 10"/>
          <p:cNvSpPr/>
          <p:nvPr/>
        </p:nvSpPr>
        <p:spPr>
          <a:xfrm>
            <a:off x="2448000" y="1357200"/>
            <a:ext cx="3456000" cy="2231900"/>
          </a:xfrm>
          <a:prstGeom prst="rect">
            <a:avLst/>
          </a:prstGeom>
          <a:noFill/>
          <a:ln/>
        </p:spPr>
        <p:txBody>
          <a:bodyPr wrap="square" lIns="0" tIns="0" rIns="0" bIns="0" rtlCol="0" anchor="ctr"/>
          <a:lstStyle/>
          <a:p>
            <a:pPr indent="0" marL="0">
              <a:lnSpc>
                <a:spcPct val="142000"/>
              </a:lnSpc>
              <a:buNone/>
            </a:pPr>
            <a:r>
              <a:rPr lang="en-US" sz="2350" dirty="0">
                <a:solidFill>
                  <a:srgbClr val="67067C"/>
                </a:solidFill>
                <a:latin typeface="Young Serif" pitchFamily="34" charset="0"/>
                <a:ea typeface="Young Serif" pitchFamily="34" charset="-122"/>
                <a:cs typeface="Young Serif" pitchFamily="34" charset="-120"/>
              </a:rPr>
              <a:t>J</a:t>
            </a:r>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oyau intimiste à Saint-Germain-de-la-Rivière, en AOP Fronsac, qui renaît sous la conduite de Mélanie et Thomas. Vendanges manuelles, fermentations spontanées, sulfites mesurés et élevage sur-mesure (barriques, béton, amphores) pour des Merlots et Cabernets Francs veloutés et floraux.</a:t>
            </a:r>
            <a:endParaRPr lang="en-US" sz="13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Amphora de Château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Bordeaux Clairet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Clair de Lune de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6,77</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Pétillant de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6,77</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Confiance de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Demoiselle de Saint-Germain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Text 11"/>
          <p:cNvSpPr/>
          <p:nvPr/>
        </p:nvSpPr>
        <p:spPr>
          <a:xfrm>
            <a:off x="828000" y="722140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18" name="Image 3" descr="/home/user/philippe1/build/deco/sol-bordeaux.png">    </p:cNvPr>
          <p:cNvPicPr>
            <a:picLocks noChangeAspect="1"/>
          </p:cNvPicPr>
          <p:nvPr/>
        </p:nvPicPr>
        <p:blipFill>
          <a:blip r:embed="rId4"/>
          <a:stretch>
            <a:fillRect/>
          </a:stretch>
        </p:blipFill>
        <p:spPr>
          <a:xfrm>
            <a:off x="828000" y="7369009"/>
            <a:ext cx="6120000" cy="719270"/>
          </a:xfrm>
          <a:prstGeom prst="rect">
            <a:avLst/>
          </a:prstGeom>
        </p:spPr>
      </p:pic>
      <p:sp>
        <p:nvSpPr>
          <p:cNvPr id="19" name="Shape 12"/>
          <p:cNvSpPr/>
          <p:nvPr/>
        </p:nvSpPr>
        <p:spPr>
          <a:xfrm>
            <a:off x="828000" y="8388000"/>
            <a:ext cx="6120000" cy="0"/>
          </a:xfrm>
          <a:prstGeom prst="line">
            <a:avLst/>
          </a:prstGeom>
          <a:noFill/>
          <a:ln w="8890">
            <a:solidFill>
              <a:srgbClr val="46606E"/>
            </a:solidFill>
            <a:prstDash val="solid"/>
          </a:ln>
        </p:spPr>
      </p:sp>
      <p:sp>
        <p:nvSpPr>
          <p:cNvPr id="20" name="Text 13"/>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départ, franco à partir de 180 bouteilles.</a:t>
            </a:r>
            <a:endParaRPr lang="en-US" sz="720" dirty="0"/>
          </a:p>
        </p:txBody>
      </p:sp>
      <p:sp>
        <p:nvSpPr>
          <p:cNvPr id="21" name="Text 14"/>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Rosé    ● Rouge     pictos de l’Agence SCIO, pas les logos officiels</a:t>
            </a:r>
            <a:endParaRPr lang="en-US" sz="650" dirty="0"/>
          </a:p>
        </p:txBody>
      </p:sp>
      <p:sp>
        <p:nvSpPr>
          <p:cNvPr id="23"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52</a:t>
            </a:r>
            <a:endParaRPr lang="en-US" sz="750" dirty="0"/>
          </a:p>
        </p:txBody>
      </p:sp>
      <p:sp>
        <p:nvSpPr>
          <p:cNvPr id="24"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provenc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provenc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8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Provence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la Provence Verte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8</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31   </a:t>
            </a:r>
            <a:pPr indent="0" marL="0">
              <a:buNone/>
            </a:pPr>
            <a:r>
              <a:rPr lang="en-US" sz="860" dirty="0">
                <a:solidFill>
                  <a:srgbClr val="FBF8F1"/>
                </a:solidFill>
                <a:latin typeface="IBM Plex Sans" pitchFamily="34" charset="0"/>
                <a:ea typeface="IBM Plex Sans" pitchFamily="34" charset="-122"/>
                <a:cs typeface="IBM Plex Sans" pitchFamily="34" charset="-120"/>
              </a:rPr>
              <a:t>Bastide de Blacailloux</a:t>
            </a:r>
            <a:pPr indent="0" marL="0">
              <a:buNone/>
            </a:pPr>
            <a:r>
              <a:rPr lang="en-US" sz="860" b="1" dirty="0">
                <a:solidFill>
                  <a:srgbClr val="FBF8F1"/>
                </a:solidFill>
                <a:latin typeface="IBM Plex Sans" pitchFamily="34" charset="0"/>
                <a:ea typeface="IBM Plex Sans" pitchFamily="34" charset="-122"/>
                <a:cs typeface="IBM Plex Sans" pitchFamily="34" charset="-120"/>
              </a:rPr>
              <a:t>   54</a:t>
            </a:r>
            <a:endParaRPr lang="en-US" sz="860" dirty="0"/>
          </a:p>
        </p:txBody>
      </p:sp>
      <p:sp>
        <p:nvSpPr>
          <p:cNvPr id="13" name="Text 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53</a:t>
            </a:r>
            <a:endParaRPr lang="en-US" sz="750" dirty="0"/>
          </a:p>
        </p:txBody>
      </p:sp>
      <p:sp>
        <p:nvSpPr>
          <p:cNvPr id="14" name="Text 1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provenc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31</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Bastide de Blacailloux</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PROVENCE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10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3" name="Image 1" descr="borie en pierre sèche du domaine — Bastide de Blacailloux">    </p:cNvPr>
          <p:cNvPicPr>
            <a:picLocks noChangeAspect="1"/>
          </p:cNvPicPr>
          <p:nvPr/>
        </p:nvPicPr>
        <p:blipFill>
          <a:blip r:embed="rId2"/>
          <a:srcRect l="16602" r="16640" t="0" b="0"/>
          <a:stretch/>
        </p:blipFill>
        <p:spPr>
          <a:xfrm>
            <a:off x="828000" y="1357200"/>
            <a:ext cx="1440000" cy="1440000"/>
          </a:xfrm>
          <a:prstGeom prst="ellipse">
            <a:avLst/>
          </a:prstGeom>
        </p:spPr>
      </p:pic>
      <p:pic>
        <p:nvPicPr>
          <p:cNvPr id="14" name="Image 2" descr="Une bouteille du domaine Bastide de Blacailloux">    </p:cNvPr>
          <p:cNvPicPr>
            <a:picLocks noChangeAspect="1"/>
          </p:cNvPicPr>
          <p:nvPr/>
        </p:nvPicPr>
        <p:blipFill>
          <a:blip r:embed="rId3"/>
          <a:stretch>
            <a:fillRect/>
          </a:stretch>
        </p:blipFill>
        <p:spPr>
          <a:xfrm>
            <a:off x="6267492" y="1357200"/>
            <a:ext cx="497016" cy="2232000"/>
          </a:xfrm>
          <a:prstGeom prst="rect">
            <a:avLst/>
          </a:prstGeom>
        </p:spPr>
      </p:pic>
      <p:sp>
        <p:nvSpPr>
          <p:cNvPr id="15" name="Text 10"/>
          <p:cNvSpPr/>
          <p:nvPr/>
        </p:nvSpPr>
        <p:spPr>
          <a:xfrm>
            <a:off x="2448000" y="1357200"/>
            <a:ext cx="3456000" cy="2231900"/>
          </a:xfrm>
          <a:prstGeom prst="rect">
            <a:avLst/>
          </a:prstGeom>
          <a:noFill/>
          <a:ln/>
        </p:spPr>
        <p:txBody>
          <a:bodyPr wrap="square" lIns="0" tIns="0" rIns="0" bIns="0" rtlCol="0" anchor="ctr"/>
          <a:lstStyle/>
          <a:p>
            <a:pPr indent="0" marL="0">
              <a:lnSpc>
                <a:spcPct val="142000"/>
              </a:lnSpc>
              <a:buNone/>
            </a:pPr>
            <a:r>
              <a:rPr lang="en-US" sz="2350" dirty="0">
                <a:solidFill>
                  <a:srgbClr val="67067C"/>
                </a:solidFill>
                <a:latin typeface="Young Serif" pitchFamily="34" charset="0"/>
                <a:ea typeface="Young Serif" pitchFamily="34" charset="-122"/>
                <a:cs typeface="Young Serif" pitchFamily="34" charset="-120"/>
              </a:rPr>
              <a:t>É</a:t>
            </a:r>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crin préservé à Tourves, Blacailloux incarne la Provence Verte depuis plus d’un siècle, conduit par la quatrième génération de la famille Chamoin. Chai bioclimatique à toit végétalisé et énergie photovoltaïque. Cuvées AOP Coteaux Varois et IGP Var, fraîches et aériennes.</a:t>
            </a:r>
            <a:endParaRPr lang="en-US" sz="13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5,15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5,35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109" name="Table 1"/>
          <p:cNvGraphicFramePr>
            <a:graphicFrameLocks noGrp="1"/>
          </p:cNvGraphicFramePr>
          <p:nvPr>
            <p:extLst>
              <p:ext uri="{D42A27DB-BD31-4B8C-83A1-F6EECF244321}">
                <p14:modId xmlns:p14="http://schemas.microsoft.com/office/powerpoint/2010/main" val="1579011935"/>
              </p:ext>
            </p:extLst>
          </p:nvPr>
        </p:nvGraphicFramePr>
        <p:xfrm>
          <a:off x="828000" y="6916005"/>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BIB · BAG-IN-BOX</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Var</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BLACAILLOUX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Shape 11"/>
          <p:cNvSpPr/>
          <p:nvPr/>
        </p:nvSpPr>
        <p:spPr>
          <a:xfrm>
            <a:off x="828000" y="8388000"/>
            <a:ext cx="6120000" cy="0"/>
          </a:xfrm>
          <a:prstGeom prst="line">
            <a:avLst/>
          </a:prstGeom>
          <a:noFill/>
          <a:ln w="8890">
            <a:solidFill>
              <a:srgbClr val="46606E"/>
            </a:solidFill>
            <a:prstDash val="solid"/>
          </a:ln>
        </p:spPr>
      </p:sp>
      <p:sp>
        <p:nvSpPr>
          <p:cNvPr id="19" name="Text 12"/>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20" name="Text 13"/>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1" name="Text 14"/>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2" name="Text 15"/>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54</a:t>
            </a:r>
            <a:endParaRPr lang="en-US" sz="750" dirty="0"/>
          </a:p>
        </p:txBody>
      </p:sp>
      <p:sp>
        <p:nvSpPr>
          <p:cNvPr id="23" name="Text 16"/>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languedoc.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languedoc.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9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Languedoc</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terrasses et garrigue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57</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32   </a:t>
            </a:r>
            <a:pPr indent="0" marL="0">
              <a:buNone/>
            </a:pPr>
            <a:r>
              <a:rPr lang="en-US" sz="860" dirty="0">
                <a:solidFill>
                  <a:srgbClr val="FBF8F1"/>
                </a:solidFill>
                <a:latin typeface="IBM Plex Sans" pitchFamily="34" charset="0"/>
                <a:ea typeface="IBM Plex Sans" pitchFamily="34" charset="-122"/>
                <a:cs typeface="IBM Plex Sans" pitchFamily="34" charset="-120"/>
              </a:rPr>
              <a:t>Famille d’Exea</a:t>
            </a:r>
            <a:pPr indent="0" marL="0">
              <a:buNone/>
            </a:pPr>
            <a:r>
              <a:rPr lang="en-US" sz="860" b="1" dirty="0">
                <a:solidFill>
                  <a:srgbClr val="FBF8F1"/>
                </a:solidFill>
                <a:latin typeface="IBM Plex Sans" pitchFamily="34" charset="0"/>
                <a:ea typeface="IBM Plex Sans" pitchFamily="34" charset="-122"/>
                <a:cs typeface="IBM Plex Sans" pitchFamily="34" charset="-120"/>
              </a:rPr>
              <a:t>   56</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33   </a:t>
            </a:r>
            <a:pPr indent="0" marL="0">
              <a:buNone/>
            </a:pPr>
            <a:r>
              <a:rPr lang="en-US" sz="860" dirty="0">
                <a:solidFill>
                  <a:srgbClr val="FBF8F1"/>
                </a:solidFill>
                <a:latin typeface="IBM Plex Sans" pitchFamily="34" charset="0"/>
                <a:ea typeface="IBM Plex Sans" pitchFamily="34" charset="-122"/>
                <a:cs typeface="IBM Plex Sans" pitchFamily="34" charset="-120"/>
              </a:rPr>
              <a:t>Famille d’Exea — Jus de Cépages</a:t>
            </a:r>
            <a:pPr indent="0" marL="0">
              <a:buNone/>
            </a:pPr>
            <a:r>
              <a:rPr lang="en-US" sz="860" b="1" dirty="0">
                <a:solidFill>
                  <a:srgbClr val="FBF8F1"/>
                </a:solidFill>
                <a:latin typeface="IBM Plex Sans" pitchFamily="34" charset="0"/>
                <a:ea typeface="IBM Plex Sans" pitchFamily="34" charset="-122"/>
                <a:cs typeface="IBM Plex Sans" pitchFamily="34" charset="-120"/>
              </a:rPr>
              <a:t>   58</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34   </a:t>
            </a:r>
            <a:pPr indent="0" marL="0">
              <a:buNone/>
            </a:pPr>
            <a:r>
              <a:rPr lang="en-US" sz="860" dirty="0">
                <a:solidFill>
                  <a:srgbClr val="FBF8F1"/>
                </a:solidFill>
                <a:latin typeface="IBM Plex Sans" pitchFamily="34" charset="0"/>
                <a:ea typeface="IBM Plex Sans" pitchFamily="34" charset="-122"/>
                <a:cs typeface="IBM Plex Sans" pitchFamily="34" charset="-120"/>
              </a:rPr>
              <a:t>Château de Gragnos</a:t>
            </a:r>
            <a:pPr indent="0" marL="0">
              <a:buNone/>
            </a:pPr>
            <a:r>
              <a:rPr lang="en-US" sz="860" b="1" dirty="0">
                <a:solidFill>
                  <a:srgbClr val="FBF8F1"/>
                </a:solidFill>
                <a:latin typeface="IBM Plex Sans" pitchFamily="34" charset="0"/>
                <a:ea typeface="IBM Plex Sans" pitchFamily="34" charset="-122"/>
                <a:cs typeface="IBM Plex Sans" pitchFamily="34" charset="-120"/>
              </a:rPr>
              <a:t>   59</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35   </a:t>
            </a:r>
            <a:pPr indent="0" marL="0">
              <a:buNone/>
            </a:pPr>
            <a:r>
              <a:rPr lang="en-US" sz="860" dirty="0">
                <a:solidFill>
                  <a:srgbClr val="FBF8F1"/>
                </a:solidFill>
                <a:latin typeface="IBM Plex Sans" pitchFamily="34" charset="0"/>
                <a:ea typeface="IBM Plex Sans" pitchFamily="34" charset="-122"/>
                <a:cs typeface="IBM Plex Sans" pitchFamily="34" charset="-120"/>
              </a:rPr>
              <a:t>Domaine Les Lys</a:t>
            </a:r>
            <a:pPr indent="0" marL="0">
              <a:buNone/>
            </a:pPr>
            <a:r>
              <a:rPr lang="en-US" sz="860" b="1" dirty="0">
                <a:solidFill>
                  <a:srgbClr val="FBF8F1"/>
                </a:solidFill>
                <a:latin typeface="IBM Plex Sans" pitchFamily="34" charset="0"/>
                <a:ea typeface="IBM Plex Sans" pitchFamily="34" charset="-122"/>
                <a:cs typeface="IBM Plex Sans" pitchFamily="34" charset="-120"/>
              </a:rPr>
              <a:t>   60</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36   </a:t>
            </a:r>
            <a:pPr indent="0" marL="0">
              <a:buNone/>
            </a:pPr>
            <a:r>
              <a:rPr lang="en-US" sz="860" dirty="0">
                <a:solidFill>
                  <a:srgbClr val="FBF8F1"/>
                </a:solidFill>
                <a:latin typeface="IBM Plex Sans" pitchFamily="34" charset="0"/>
                <a:ea typeface="IBM Plex Sans" pitchFamily="34" charset="-122"/>
                <a:cs typeface="IBM Plex Sans" pitchFamily="34" charset="-120"/>
              </a:rPr>
              <a:t>Prieuré Sainte-Marie d’Albas</a:t>
            </a:r>
            <a:pPr indent="0" marL="0">
              <a:buNone/>
            </a:pPr>
            <a:r>
              <a:rPr lang="en-US" sz="860" b="1" dirty="0">
                <a:solidFill>
                  <a:srgbClr val="FBF8F1"/>
                </a:solidFill>
                <a:latin typeface="IBM Plex Sans" pitchFamily="34" charset="0"/>
                <a:ea typeface="IBM Plex Sans" pitchFamily="34" charset="-122"/>
                <a:cs typeface="IBM Plex Sans" pitchFamily="34" charset="-120"/>
              </a:rPr>
              <a:t>   61</a:t>
            </a:r>
            <a:endParaRPr lang="en-US" sz="860" dirty="0"/>
          </a:p>
        </p:txBody>
      </p:sp>
      <p:sp>
        <p:nvSpPr>
          <p:cNvPr id="17" name="Text 1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55</a:t>
            </a:r>
            <a:endParaRPr lang="en-US" sz="750" dirty="0"/>
          </a:p>
        </p:txBody>
      </p:sp>
      <p:sp>
        <p:nvSpPr>
          <p:cNvPr id="18" name="Text 1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Famille d’Exea</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677441"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677441"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3" name="Image 1" descr="logo de la maison — Famille d’Exea">    </p:cNvPr>
          <p:cNvPicPr>
            <a:picLocks noChangeAspect="1"/>
          </p:cNvPicPr>
          <p:nvPr/>
        </p:nvPicPr>
        <p:blipFill>
          <a:blip r:embed="rId2"/>
          <a:stretch>
            <a:fillRect/>
          </a:stretch>
        </p:blipFill>
        <p:spPr>
          <a:xfrm>
            <a:off x="828000" y="1357200"/>
            <a:ext cx="1440000" cy="1440000"/>
          </a:xfrm>
          <a:prstGeom prst="rect">
            <a:avLst/>
          </a:prstGeom>
        </p:spPr>
      </p:pic>
      <p:pic>
        <p:nvPicPr>
          <p:cNvPr id="14" name="Image 2" descr="Une bouteille du domaine Famille d’Exea">    </p:cNvPr>
          <p:cNvPicPr>
            <a:picLocks noChangeAspect="1"/>
          </p:cNvPicPr>
          <p:nvPr/>
        </p:nvPicPr>
        <p:blipFill>
          <a:blip r:embed="rId3"/>
          <a:stretch>
            <a:fillRect/>
          </a:stretch>
        </p:blipFill>
        <p:spPr>
          <a:xfrm>
            <a:off x="6223279" y="1357200"/>
            <a:ext cx="585443" cy="2232000"/>
          </a:xfrm>
          <a:prstGeom prst="rect">
            <a:avLst/>
          </a:prstGeom>
        </p:spPr>
      </p:pic>
      <p:sp>
        <p:nvSpPr>
          <p:cNvPr id="15" name="Text 10"/>
          <p:cNvSpPr/>
          <p:nvPr/>
        </p:nvSpPr>
        <p:spPr>
          <a:xfrm>
            <a:off x="2448000" y="1357200"/>
            <a:ext cx="3456000" cy="2231900"/>
          </a:xfrm>
          <a:prstGeom prst="rect">
            <a:avLst/>
          </a:prstGeom>
          <a:noFill/>
          <a:ln/>
        </p:spPr>
        <p:txBody>
          <a:bodyPr wrap="square" lIns="0" tIns="0" rIns="0" bIns="0" rtlCol="0" anchor="ctr"/>
          <a:lstStyle/>
          <a:p>
            <a:pPr indent="0" marL="0">
              <a:lnSpc>
                <a:spcPct val="142000"/>
              </a:lnSpc>
              <a:buNone/>
            </a:pPr>
            <a:r>
              <a:rPr lang="en-US" sz="2350" dirty="0">
                <a:solidFill>
                  <a:srgbClr val="67067C"/>
                </a:solidFill>
                <a:latin typeface="Young Serif" pitchFamily="34" charset="0"/>
                <a:ea typeface="Young Serif" pitchFamily="34" charset="-122"/>
                <a:cs typeface="Young Serif" pitchFamily="34" charset="-120"/>
              </a:rPr>
              <a:t>D</a:t>
            </a:r>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epuis plusieurs générations, la famille d’Exea façonne sur les terroirs solaires du Languedoc des vins biologiques vibrants et sincères, alliant pureté du fruit et convivialité.</a:t>
            </a:r>
            <a:endParaRPr lang="en-US" sz="13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144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3,43</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2,71</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3,43</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2,71</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3,43</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2,71</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4,08</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4,08</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BLANC SÉRAME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7,78</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6,13</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ROSE SÉRAME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7,78</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6,13</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ROUGE SÉRAME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7,78</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6,13</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Text 11"/>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pPr indent="0" marL="0">
              <a:buNone/>
            </a:pP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58</a:t>
            </a:r>
            <a:endParaRPr lang="en-US" sz="740" dirty="0"/>
          </a:p>
        </p:txBody>
      </p:sp>
      <p:sp>
        <p:nvSpPr>
          <p:cNvPr id="18" name="Shape 12"/>
          <p:cNvSpPr/>
          <p:nvPr/>
        </p:nvSpPr>
        <p:spPr>
          <a:xfrm>
            <a:off x="828000" y="8388000"/>
            <a:ext cx="6120000" cy="0"/>
          </a:xfrm>
          <a:prstGeom prst="line">
            <a:avLst/>
          </a:prstGeom>
          <a:noFill/>
          <a:ln w="8890">
            <a:solidFill>
              <a:srgbClr val="46606E"/>
            </a:solidFill>
            <a:prstDash val="solid"/>
          </a:ln>
        </p:spPr>
      </p:sp>
      <p:sp>
        <p:nvSpPr>
          <p:cNvPr id="19" name="Text 13"/>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Franco de port à partir de 72 bouteilles</a:t>
            </a:r>
            <a:endParaRPr lang="en-US" sz="720" dirty="0"/>
          </a:p>
        </p:txBody>
      </p:sp>
      <p:sp>
        <p:nvSpPr>
          <p:cNvPr id="20" name="Text 14"/>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1"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2"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56</a:t>
            </a:r>
            <a:endParaRPr lang="en-US" sz="750" dirty="0"/>
          </a:p>
        </p:txBody>
      </p:sp>
      <p:sp>
        <p:nvSpPr>
          <p:cNvPr id="23"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Famille d’Exea</a:t>
            </a:r>
            <a:pPr indent="0" marL="0">
              <a:lnSpc>
                <a:spcPct val="104000"/>
              </a:lnSpc>
              <a:buNone/>
            </a:pP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461441"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61441"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612000" y="1357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144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LULLULA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9,57</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CARDUELIS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OENA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CHANT DE LUNE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7,78</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6,13</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CHANT LIBRE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9,57</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CHANT DE LUMIÈRE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MUSCARIS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SOUVIGNIER GRIS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 9,5°</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GRENACHE GRIS 9,5°</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115" name="Table 1"/>
          <p:cNvGraphicFramePr>
            <a:graphicFrameLocks noGrp="1"/>
          </p:cNvGraphicFramePr>
          <p:nvPr>
            <p:extLst>
              <p:ext uri="{D42A27DB-BD31-4B8C-83A1-F6EECF244321}">
                <p14:modId xmlns:p14="http://schemas.microsoft.com/office/powerpoint/2010/main" val="1579011935"/>
              </p:ext>
            </p:extLst>
          </p:nvPr>
        </p:nvGraphicFramePr>
        <p:xfrm>
          <a:off x="612000" y="568103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BIB · BAG-IN-BOX</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50 BIB demi pal</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100 BIB 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5" name="Text 10"/>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pPr indent="0" marL="0">
              <a:buNone/>
            </a:pP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58</a:t>
            </a:r>
            <a:endParaRPr lang="en-US" sz="740" dirty="0"/>
          </a:p>
        </p:txBody>
      </p:sp>
      <p:sp>
        <p:nvSpPr>
          <p:cNvPr id="16" name="Shape 11"/>
          <p:cNvSpPr/>
          <p:nvPr/>
        </p:nvSpPr>
        <p:spPr>
          <a:xfrm>
            <a:off x="612000" y="8388000"/>
            <a:ext cx="6120000" cy="0"/>
          </a:xfrm>
          <a:prstGeom prst="line">
            <a:avLst/>
          </a:prstGeom>
          <a:noFill/>
          <a:ln w="8890">
            <a:solidFill>
              <a:srgbClr val="46606E"/>
            </a:solidFill>
            <a:prstDash val="solid"/>
          </a:ln>
        </p:spPr>
      </p:sp>
      <p:sp>
        <p:nvSpPr>
          <p:cNvPr id="17" name="Text 12"/>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Franco de port à partir de 72 bouteilles</a:t>
            </a:r>
            <a:endParaRPr lang="en-US" sz="720" dirty="0"/>
          </a:p>
        </p:txBody>
      </p:sp>
      <p:sp>
        <p:nvSpPr>
          <p:cNvPr id="18" name="Text 13"/>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19" name="Text 14"/>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0" name="Text 1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57</a:t>
            </a:r>
            <a:endParaRPr lang="en-US" sz="750" dirty="0"/>
          </a:p>
        </p:txBody>
      </p:sp>
      <p:sp>
        <p:nvSpPr>
          <p:cNvPr id="21" name="Text 1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33</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Famille d’Exea — Jus de Cépages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677441"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677441"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3" name="Image 1" descr="brebis dans les vignes — Famille d’Exea — Jus de Cépages">    </p:cNvPr>
          <p:cNvPicPr>
            <a:picLocks noChangeAspect="1"/>
          </p:cNvPicPr>
          <p:nvPr/>
        </p:nvPicPr>
        <p:blipFill>
          <a:blip r:embed="rId2"/>
          <a:srcRect l="11667" r="21666" t="0" b="0"/>
          <a:stretch/>
        </p:blipFill>
        <p:spPr>
          <a:xfrm>
            <a:off x="828000" y="1357200"/>
            <a:ext cx="1440000" cy="1440000"/>
          </a:xfrm>
          <a:prstGeom prst="ellipse">
            <a:avLst/>
          </a:prstGeom>
        </p:spPr>
      </p:pic>
      <p:pic>
        <p:nvPicPr>
          <p:cNvPr id="14" name="Image 2" descr="Une bouteille du domaine Famille d’Exea — Jus de Cépages">    </p:cNvPr>
          <p:cNvPicPr>
            <a:picLocks noChangeAspect="1"/>
          </p:cNvPicPr>
          <p:nvPr/>
        </p:nvPicPr>
        <p:blipFill>
          <a:blip r:embed="rId3"/>
          <a:stretch>
            <a:fillRect/>
          </a:stretch>
        </p:blipFill>
        <p:spPr>
          <a:xfrm>
            <a:off x="6113508" y="1357200"/>
            <a:ext cx="804984" cy="2232000"/>
          </a:xfrm>
          <a:prstGeom prst="rect">
            <a:avLst/>
          </a:prstGeom>
        </p:spPr>
      </p:pic>
      <p:sp>
        <p:nvSpPr>
          <p:cNvPr id="15" name="Text 10"/>
          <p:cNvSpPr/>
          <p:nvPr/>
        </p:nvSpPr>
        <p:spPr>
          <a:xfrm>
            <a:off x="2448000" y="1357200"/>
            <a:ext cx="3456000" cy="2231900"/>
          </a:xfrm>
          <a:prstGeom prst="rect">
            <a:avLst/>
          </a:prstGeom>
          <a:noFill/>
          <a:ln/>
        </p:spPr>
        <p:txBody>
          <a:bodyPr wrap="square" lIns="0" tIns="0" rIns="0" bIns="0" rtlCol="0" anchor="ctr"/>
          <a:lstStyle/>
          <a:p>
            <a:pPr indent="0" marL="0">
              <a:lnSpc>
                <a:spcPct val="142000"/>
              </a:lnSpc>
              <a:buNone/>
            </a:pPr>
            <a:r>
              <a:rPr lang="en-US" sz="2200" dirty="0">
                <a:solidFill>
                  <a:srgbClr val="67067C"/>
                </a:solidFill>
                <a:latin typeface="Young Serif" pitchFamily="34" charset="0"/>
                <a:ea typeface="Young Serif" pitchFamily="34" charset="-122"/>
                <a:cs typeface="Young Serif" pitchFamily="34" charset="-120"/>
              </a:rPr>
              <a:t>I</a:t>
            </a:r>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ssu des plus belles vignes du domaine, ces pur jus sont une expression authentique du terroir. Élaborés sans filtration ni additif, ils préservent la pureté des arômes du cépage, offrant une expérience de dégustation fruitée, fraîche et élégante. Parfait pour les amateurs de boissons saines et raffinées, ils se dégustent à tout moment de la journée.</a:t>
            </a:r>
            <a:endParaRPr lang="en-US" sz="1225"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144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CARIGNAN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117" name="Table 1"/>
          <p:cNvGraphicFramePr>
            <a:graphicFrameLocks noGrp="1"/>
          </p:cNvGraphicFramePr>
          <p:nvPr>
            <p:extLst>
              <p:ext uri="{D42A27DB-BD31-4B8C-83A1-F6EECF244321}">
                <p14:modId xmlns:p14="http://schemas.microsoft.com/office/powerpoint/2010/main" val="1579011935"/>
              </p:ext>
            </p:extLst>
          </p:nvPr>
        </p:nvGraphicFramePr>
        <p:xfrm>
          <a:off x="828000" y="6085247"/>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144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Text 11"/>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pPr indent="0" marL="0">
              <a:buNone/>
            </a:pP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n°32 p. 56</a:t>
            </a:r>
            <a:endParaRPr lang="en-US" sz="740" dirty="0"/>
          </a:p>
        </p:txBody>
      </p:sp>
      <p:sp>
        <p:nvSpPr>
          <p:cNvPr id="19" name="Shape 12"/>
          <p:cNvSpPr/>
          <p:nvPr/>
        </p:nvSpPr>
        <p:spPr>
          <a:xfrm>
            <a:off x="828000" y="8388000"/>
            <a:ext cx="6120000" cy="0"/>
          </a:xfrm>
          <a:prstGeom prst="line">
            <a:avLst/>
          </a:prstGeom>
          <a:noFill/>
          <a:ln w="8890">
            <a:solidFill>
              <a:srgbClr val="46606E"/>
            </a:solidFill>
            <a:prstDash val="solid"/>
          </a:ln>
        </p:spPr>
      </p:sp>
      <p:sp>
        <p:nvSpPr>
          <p:cNvPr id="20" name="Text 13"/>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Franco de port à partir de 72 bouteilles</a:t>
            </a:r>
            <a:endParaRPr lang="en-US" sz="720" dirty="0"/>
          </a:p>
        </p:txBody>
      </p:sp>
      <p:sp>
        <p:nvSpPr>
          <p:cNvPr id="21" name="Text 14"/>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2"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Jus de cépages     pictos de l’Agence SCIO, pas les logos officiels</a:t>
            </a:r>
            <a:endParaRPr lang="en-US" sz="650" dirty="0"/>
          </a:p>
        </p:txBody>
      </p:sp>
      <p:sp>
        <p:nvSpPr>
          <p:cNvPr id="23"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58</a:t>
            </a:r>
            <a:endParaRPr lang="en-US" sz="750" dirty="0"/>
          </a:p>
        </p:txBody>
      </p:sp>
      <p:sp>
        <p:nvSpPr>
          <p:cNvPr id="24"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34</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Château de Gragnos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494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94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3" name="Image 1" descr="grappes à la vigne — Château de Gragnos">    </p:cNvPr>
          <p:cNvPicPr>
            <a:picLocks noChangeAspect="1"/>
          </p:cNvPicPr>
          <p:nvPr/>
        </p:nvPicPr>
        <p:blipFill>
          <a:blip r:embed="rId2"/>
          <a:srcRect l="0" r="0" t="11094" b="22239"/>
          <a:stretch/>
        </p:blipFill>
        <p:spPr>
          <a:xfrm>
            <a:off x="612000" y="1357200"/>
            <a:ext cx="1440000" cy="1440000"/>
          </a:xfrm>
          <a:prstGeom prst="ellipse">
            <a:avLst/>
          </a:prstGeom>
        </p:spPr>
      </p:pic>
      <p:pic>
        <p:nvPicPr>
          <p:cNvPr id="14" name="Image 2" descr="Une bouteille du domaine Château de Gragnos">    </p:cNvPr>
          <p:cNvPicPr>
            <a:picLocks noChangeAspect="1"/>
          </p:cNvPicPr>
          <p:nvPr/>
        </p:nvPicPr>
        <p:blipFill>
          <a:blip r:embed="rId3"/>
          <a:stretch>
            <a:fillRect/>
          </a:stretch>
        </p:blipFill>
        <p:spPr>
          <a:xfrm>
            <a:off x="6008803" y="1357200"/>
            <a:ext cx="582393" cy="2232000"/>
          </a:xfrm>
          <a:prstGeom prst="rect">
            <a:avLst/>
          </a:prstGeom>
        </p:spPr>
      </p:pic>
      <p:sp>
        <p:nvSpPr>
          <p:cNvPr id="15" name="Text 10"/>
          <p:cNvSpPr/>
          <p:nvPr/>
        </p:nvSpPr>
        <p:spPr>
          <a:xfrm>
            <a:off x="2232000" y="1357200"/>
            <a:ext cx="3456000" cy="2231900"/>
          </a:xfrm>
          <a:prstGeom prst="rect">
            <a:avLst/>
          </a:prstGeom>
          <a:noFill/>
          <a:ln/>
        </p:spPr>
        <p:txBody>
          <a:bodyPr wrap="square" lIns="0" tIns="0" rIns="0" bIns="0" rtlCol="0" anchor="ctr"/>
          <a:lstStyle/>
          <a:p>
            <a:pPr indent="0" marL="0">
              <a:lnSpc>
                <a:spcPct val="142000"/>
              </a:lnSpc>
              <a:buNone/>
            </a:pPr>
            <a:r>
              <a:rPr lang="en-US" sz="2350" dirty="0">
                <a:solidFill>
                  <a:srgbClr val="67067C"/>
                </a:solidFill>
                <a:latin typeface="Young Serif" pitchFamily="34" charset="0"/>
                <a:ea typeface="Young Serif" pitchFamily="34" charset="-122"/>
                <a:cs typeface="Young Serif" pitchFamily="34" charset="-120"/>
              </a:rPr>
              <a:t>A</a:t>
            </a:r>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lain, Patricia et leurs fils révèlent l’âme de Gragnos par un soin méticuleux apporté à chaque pied de vigne. Engagé dans une conversion biologique, le domaine privilégie un accompagnement doux du végétal pour laisser rayonner l’identité du terroir sans le contraindre.</a:t>
            </a:r>
            <a:endParaRPr lang="en-US" sz="13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Henri</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Léon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Cosmos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Lou Daro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Grain de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BDM</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Syrah 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Dolmen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Text 11"/>
          <p:cNvSpPr/>
          <p:nvPr/>
        </p:nvSpPr>
        <p:spPr>
          <a:xfrm>
            <a:off x="612000" y="722140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18" name="Image 3" descr="/home/user/philippe1/build/deco/sol-languedoc.png">    </p:cNvPr>
          <p:cNvPicPr>
            <a:picLocks noChangeAspect="1"/>
          </p:cNvPicPr>
          <p:nvPr/>
        </p:nvPicPr>
        <p:blipFill>
          <a:blip r:embed="rId4"/>
          <a:stretch>
            <a:fillRect/>
          </a:stretch>
        </p:blipFill>
        <p:spPr>
          <a:xfrm>
            <a:off x="612000" y="7369009"/>
            <a:ext cx="6120000" cy="719270"/>
          </a:xfrm>
          <a:prstGeom prst="rect">
            <a:avLst/>
          </a:prstGeom>
        </p:spPr>
      </p:pic>
      <p:sp>
        <p:nvSpPr>
          <p:cNvPr id="19" name="Shape 12"/>
          <p:cNvSpPr/>
          <p:nvPr/>
        </p:nvSpPr>
        <p:spPr>
          <a:xfrm>
            <a:off x="612000" y="8388000"/>
            <a:ext cx="6120000" cy="0"/>
          </a:xfrm>
          <a:prstGeom prst="line">
            <a:avLst/>
          </a:prstGeom>
          <a:noFill/>
          <a:ln w="8890">
            <a:solidFill>
              <a:srgbClr val="46606E"/>
            </a:solidFill>
            <a:prstDash val="solid"/>
          </a:ln>
        </p:spPr>
      </p:sp>
      <p:sp>
        <p:nvSpPr>
          <p:cNvPr id="20" name="Text 13"/>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 à partir de 180 bouteilles.</a:t>
            </a:r>
            <a:endParaRPr lang="en-US" sz="720" dirty="0"/>
          </a:p>
        </p:txBody>
      </p:sp>
      <p:sp>
        <p:nvSpPr>
          <p:cNvPr id="21" name="Text 14"/>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3"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59</a:t>
            </a:r>
            <a:endParaRPr lang="en-US" sz="750" dirty="0"/>
          </a:p>
        </p:txBody>
      </p:sp>
      <p:sp>
        <p:nvSpPr>
          <p:cNvPr id="24"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35</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Domaine Les Lys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10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3" name="Image 1" descr="logo du domaine — Domaine Les Lys">    </p:cNvPr>
          <p:cNvPicPr>
            <a:picLocks noChangeAspect="1"/>
          </p:cNvPicPr>
          <p:nvPr/>
        </p:nvPicPr>
        <p:blipFill>
          <a:blip r:embed="rId2"/>
          <a:stretch>
            <a:fillRect/>
          </a:stretch>
        </p:blipFill>
        <p:spPr>
          <a:xfrm>
            <a:off x="828000" y="1357200"/>
            <a:ext cx="1440000" cy="1440000"/>
          </a:xfrm>
          <a:prstGeom prst="rect">
            <a:avLst/>
          </a:prstGeom>
        </p:spPr>
      </p:pic>
      <p:pic>
        <p:nvPicPr>
          <p:cNvPr id="14" name="Image 2" descr="Une bouteille du domaine Domaine Les Lys">    </p:cNvPr>
          <p:cNvPicPr>
            <a:picLocks noChangeAspect="1"/>
          </p:cNvPicPr>
          <p:nvPr/>
        </p:nvPicPr>
        <p:blipFill>
          <a:blip r:embed="rId3"/>
          <a:stretch>
            <a:fillRect/>
          </a:stretch>
        </p:blipFill>
        <p:spPr>
          <a:xfrm>
            <a:off x="6224803" y="1357200"/>
            <a:ext cx="582393" cy="2232000"/>
          </a:xfrm>
          <a:prstGeom prst="rect">
            <a:avLst/>
          </a:prstGeom>
        </p:spPr>
      </p:pic>
      <p:sp>
        <p:nvSpPr>
          <p:cNvPr id="15" name="Text 10"/>
          <p:cNvSpPr/>
          <p:nvPr/>
        </p:nvSpPr>
        <p:spPr>
          <a:xfrm>
            <a:off x="2448000" y="1357200"/>
            <a:ext cx="3456000" cy="2231900"/>
          </a:xfrm>
          <a:prstGeom prst="rect">
            <a:avLst/>
          </a:prstGeom>
          <a:noFill/>
          <a:ln/>
        </p:spPr>
        <p:txBody>
          <a:bodyPr wrap="square" lIns="0" tIns="0" rIns="0" bIns="0" rtlCol="0" anchor="ctr"/>
          <a:lstStyle/>
          <a:p>
            <a:pPr indent="0" marL="0">
              <a:lnSpc>
                <a:spcPct val="142000"/>
              </a:lnSpc>
              <a:buNone/>
            </a:pPr>
            <a:r>
              <a:rPr lang="en-US" sz="2350" dirty="0">
                <a:solidFill>
                  <a:srgbClr val="67067C"/>
                </a:solidFill>
                <a:latin typeface="Young Serif" pitchFamily="34" charset="0"/>
                <a:ea typeface="Young Serif" pitchFamily="34" charset="-122"/>
                <a:cs typeface="Young Serif" pitchFamily="34" charset="-120"/>
              </a:rPr>
              <a:t>S</a:t>
            </a:r>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itué entre vignes et garrigues, le domaine près d'Uzès, face aux Cévennes, produit des vins d'une fraîcheur minérale incomparable. En respectant la biodiversité, ces parcelles sont reconnues par les appellations AOP Duché d’Uzès et IGP Cévennes.</a:t>
            </a:r>
            <a:endParaRPr lang="en-US" sz="13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Aillargues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 Anastasie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Petite Syrah</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Duché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Librotte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Caillasses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Soif</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Text 11"/>
          <p:cNvSpPr/>
          <p:nvPr/>
        </p:nvSpPr>
        <p:spPr>
          <a:xfrm>
            <a:off x="828000" y="6836688"/>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18" name="Image 3" descr="/home/user/philippe1/build/deco/sol-languedoc.png">    </p:cNvPr>
          <p:cNvPicPr>
            <a:picLocks noChangeAspect="1"/>
          </p:cNvPicPr>
          <p:nvPr/>
        </p:nvPicPr>
        <p:blipFill>
          <a:blip r:embed="rId4"/>
          <a:stretch>
            <a:fillRect/>
          </a:stretch>
        </p:blipFill>
        <p:spPr>
          <a:xfrm>
            <a:off x="828000" y="6984288"/>
            <a:ext cx="6120000" cy="1103991"/>
          </a:xfrm>
          <a:prstGeom prst="rect">
            <a:avLst/>
          </a:prstGeom>
        </p:spPr>
      </p:pic>
      <p:sp>
        <p:nvSpPr>
          <p:cNvPr id="19" name="Shape 12"/>
          <p:cNvSpPr/>
          <p:nvPr/>
        </p:nvSpPr>
        <p:spPr>
          <a:xfrm>
            <a:off x="828000" y="8388000"/>
            <a:ext cx="6120000" cy="0"/>
          </a:xfrm>
          <a:prstGeom prst="line">
            <a:avLst/>
          </a:prstGeom>
          <a:noFill/>
          <a:ln w="8890">
            <a:solidFill>
              <a:srgbClr val="46606E"/>
            </a:solidFill>
            <a:prstDash val="solid"/>
          </a:ln>
        </p:spPr>
      </p:sp>
      <p:sp>
        <p:nvSpPr>
          <p:cNvPr id="20" name="Text 13"/>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1" name="Text 14"/>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3"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60</a:t>
            </a:r>
            <a:endParaRPr lang="en-US" sz="750" dirty="0"/>
          </a:p>
        </p:txBody>
      </p:sp>
      <p:sp>
        <p:nvSpPr>
          <p:cNvPr id="24"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36</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Prieuré Sainte-Marie d’Albas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385474"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9" name="Shape 6"/>
          <p:cNvSpPr/>
          <p:nvPr/>
        </p:nvSpPr>
        <p:spPr>
          <a:xfrm>
            <a:off x="2076674" y="1047600"/>
            <a:ext cx="787182"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076674"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1" name="Image 1" descr="les deux vignerons et leur rosé, noir et blanc — Prieuré Sainte-Marie d’Albas">    </p:cNvPr>
          <p:cNvPicPr>
            <a:picLocks noChangeAspect="1"/>
          </p:cNvPicPr>
          <p:nvPr/>
        </p:nvPicPr>
        <p:blipFill>
          <a:blip r:embed="rId2"/>
          <a:srcRect l="0" r="0" t="0" b="0"/>
          <a:stretch/>
        </p:blipFill>
        <p:spPr>
          <a:xfrm>
            <a:off x="612000" y="1357200"/>
            <a:ext cx="1440000" cy="1440000"/>
          </a:xfrm>
          <a:prstGeom prst="ellipse">
            <a:avLst/>
          </a:prstGeom>
        </p:spPr>
      </p:pic>
      <p:pic>
        <p:nvPicPr>
          <p:cNvPr id="12" name="Image 2" descr="Une bouteille du domaine Prieuré Sainte-Marie d’Albas">    </p:cNvPr>
          <p:cNvPicPr>
            <a:picLocks noChangeAspect="1"/>
          </p:cNvPicPr>
          <p:nvPr/>
        </p:nvPicPr>
        <p:blipFill>
          <a:blip r:embed="rId3"/>
          <a:stretch>
            <a:fillRect/>
          </a:stretch>
        </p:blipFill>
        <p:spPr>
          <a:xfrm>
            <a:off x="6056066" y="1357200"/>
            <a:ext cx="487869" cy="2232000"/>
          </a:xfrm>
          <a:prstGeom prst="rect">
            <a:avLst/>
          </a:prstGeom>
        </p:spPr>
      </p:pic>
      <p:sp>
        <p:nvSpPr>
          <p:cNvPr id="13" name="Text 8"/>
          <p:cNvSpPr/>
          <p:nvPr/>
        </p:nvSpPr>
        <p:spPr>
          <a:xfrm>
            <a:off x="2232000" y="1357200"/>
            <a:ext cx="3456000" cy="2231900"/>
          </a:xfrm>
          <a:prstGeom prst="rect">
            <a:avLst/>
          </a:prstGeom>
          <a:noFill/>
          <a:ln/>
        </p:spPr>
        <p:txBody>
          <a:bodyPr wrap="square" lIns="0" tIns="0" rIns="0" bIns="0" rtlCol="0" anchor="ctr"/>
          <a:lstStyle/>
          <a:p>
            <a:pPr indent="0" marL="0">
              <a:lnSpc>
                <a:spcPct val="142000"/>
              </a:lnSpc>
              <a:buNone/>
            </a:pPr>
            <a:r>
              <a:rPr lang="en-US" sz="2200" dirty="0">
                <a:solidFill>
                  <a:srgbClr val="67067C"/>
                </a:solidFill>
                <a:latin typeface="Young Serif" pitchFamily="34" charset="0"/>
                <a:ea typeface="Young Serif" pitchFamily="34" charset="-122"/>
                <a:cs typeface="Young Serif" pitchFamily="34" charset="-120"/>
              </a:rPr>
              <a:t>A</a:t>
            </a:r>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u pied de la Montagne d’Alaric, au cœur des Corbières, Laurence et Vincent Licciardi-Pirot cultivent des vignes plantées en terrasses et balayées par le vent du Cers. Les vins sont élevés dans une ancienne cave de village à demi enterrée : des rouges chaleureux du Midi, des blancs et des rosés tout en fraîcheur. AOP Corbières et IGP Pays d’Oc.</a:t>
            </a:r>
            <a:endParaRPr lang="en-US" sz="1225"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Magnum 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Tempo – élevé en fûts de chêne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Magnum 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5" name="Text 9"/>
          <p:cNvSpPr/>
          <p:nvPr/>
        </p:nvSpPr>
        <p:spPr>
          <a:xfrm>
            <a:off x="612000" y="606724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16" name="Image 3" descr="/home/user/philippe1/build/deco/sol-languedoc.png">    </p:cNvPr>
          <p:cNvPicPr>
            <a:picLocks noChangeAspect="1"/>
          </p:cNvPicPr>
          <p:nvPr/>
        </p:nvPicPr>
        <p:blipFill>
          <a:blip r:embed="rId4"/>
          <a:stretch>
            <a:fillRect/>
          </a:stretch>
        </p:blipFill>
        <p:spPr>
          <a:xfrm>
            <a:off x="612000" y="6214847"/>
            <a:ext cx="6120000" cy="1148400"/>
          </a:xfrm>
          <a:prstGeom prst="rect">
            <a:avLst/>
          </a:prstGeom>
        </p:spPr>
      </p:pic>
      <p:sp>
        <p:nvSpPr>
          <p:cNvPr id="17" name="Shape 10"/>
          <p:cNvSpPr/>
          <p:nvPr/>
        </p:nvSpPr>
        <p:spPr>
          <a:xfrm>
            <a:off x="612000" y="8388000"/>
            <a:ext cx="6120000" cy="0"/>
          </a:xfrm>
          <a:prstGeom prst="line">
            <a:avLst/>
          </a:prstGeom>
          <a:noFill/>
          <a:ln w="8890">
            <a:solidFill>
              <a:srgbClr val="46606E"/>
            </a:solidFill>
            <a:prstDash val="solid"/>
          </a:ln>
        </p:spPr>
      </p:sp>
      <p:sp>
        <p:nvSpPr>
          <p:cNvPr id="18" name="Text 11"/>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départ cave.</a:t>
            </a:r>
            <a:endParaRPr lang="en-US" sz="720" dirty="0"/>
          </a:p>
        </p:txBody>
      </p:sp>
      <p:sp>
        <p:nvSpPr>
          <p:cNvPr id="19" name="Text 12"/>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0" name="Text 13"/>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1" name="Text 1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61</a:t>
            </a:r>
            <a:endParaRPr lang="en-US" sz="750" dirty="0"/>
          </a:p>
        </p:txBody>
      </p:sp>
      <p:sp>
        <p:nvSpPr>
          <p:cNvPr id="22" name="Text 1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36</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Prieuré Sainte-Marie d’Albas</a:t>
            </a:r>
            <a:pPr indent="0" marL="0">
              <a:lnSpc>
                <a:spcPct val="104000"/>
              </a:lnSpc>
              <a:buNone/>
            </a:pP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385474"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9" name="Shape 6"/>
          <p:cNvSpPr/>
          <p:nvPr/>
        </p:nvSpPr>
        <p:spPr>
          <a:xfrm>
            <a:off x="2292674" y="1047600"/>
            <a:ext cx="787182"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92674"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Magnum 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Sonate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Potion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Arlequin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Pinot 100 % – vinification égrappée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Blanc Albas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Corbières Rouge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BIB 3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2" name="Text 8"/>
          <p:cNvSpPr/>
          <p:nvPr/>
        </p:nvSpPr>
        <p:spPr>
          <a:xfrm>
            <a:off x="828000" y="483227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13" name="Image 1" descr="/home/user/philippe1/build/deco/sol-languedoc.png">    </p:cNvPr>
          <p:cNvPicPr>
            <a:picLocks noChangeAspect="1"/>
          </p:cNvPicPr>
          <p:nvPr/>
        </p:nvPicPr>
        <p:blipFill>
          <a:blip r:embed="rId2"/>
          <a:stretch>
            <a:fillRect/>
          </a:stretch>
        </p:blipFill>
        <p:spPr>
          <a:xfrm>
            <a:off x="828000" y="4979871"/>
            <a:ext cx="6120000" cy="1856405"/>
          </a:xfrm>
          <a:prstGeom prst="rect">
            <a:avLst/>
          </a:prstGeom>
        </p:spPr>
      </p:pic>
      <p:sp>
        <p:nvSpPr>
          <p:cNvPr id="14" name="Shape 9"/>
          <p:cNvSpPr/>
          <p:nvPr/>
        </p:nvSpPr>
        <p:spPr>
          <a:xfrm>
            <a:off x="828000" y="8388000"/>
            <a:ext cx="6120000" cy="0"/>
          </a:xfrm>
          <a:prstGeom prst="line">
            <a:avLst/>
          </a:prstGeom>
          <a:noFill/>
          <a:ln w="8890">
            <a:solidFill>
              <a:srgbClr val="46606E"/>
            </a:solidFill>
            <a:prstDash val="solid"/>
          </a:ln>
        </p:spPr>
      </p:sp>
      <p:sp>
        <p:nvSpPr>
          <p:cNvPr id="15" name="Text 10"/>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départ cave.</a:t>
            </a:r>
            <a:endParaRPr lang="en-US" sz="720" dirty="0"/>
          </a:p>
        </p:txBody>
      </p:sp>
      <p:sp>
        <p:nvSpPr>
          <p:cNvPr id="16" name="Text 11"/>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17" name="Text 12"/>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18" name="Text 1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62</a:t>
            </a:r>
            <a:endParaRPr lang="en-US" sz="750" dirty="0"/>
          </a:p>
        </p:txBody>
      </p:sp>
      <p:sp>
        <p:nvSpPr>
          <p:cNvPr id="19" name="Text 1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champag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champagn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46606E"/>
                </a:solidFill>
                <a:latin typeface="IBM Plex Sans" pitchFamily="34" charset="0"/>
                <a:ea typeface="IBM Plex Sans" pitchFamily="34" charset="-122"/>
                <a:cs typeface="IBM Plex Sans" pitchFamily="34" charset="-120"/>
              </a:rPr>
              <a:t>10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46606E"/>
                </a:solidFill>
                <a:latin typeface="Young Serif" pitchFamily="34" charset="0"/>
                <a:ea typeface="Young Serif" pitchFamily="34" charset="-122"/>
                <a:cs typeface="Young Serif" pitchFamily="34" charset="-120"/>
              </a:rPr>
              <a:t>Champagne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46606E"/>
                </a:solidFill>
                <a:latin typeface="Spectral" pitchFamily="34" charset="0"/>
                <a:ea typeface="Spectral" pitchFamily="34" charset="-122"/>
                <a:cs typeface="Spectral" pitchFamily="34" charset="-120"/>
              </a:rPr>
              <a:t>la craie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46606E"/>
                </a:solidFill>
                <a:latin typeface="Young Serif" pitchFamily="34" charset="0"/>
                <a:ea typeface="Young Serif" pitchFamily="34" charset="-122"/>
                <a:cs typeface="Young Serif" pitchFamily="34" charset="-120"/>
              </a:rPr>
              <a:t>4</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46606E"/>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46606E"/>
                </a:solidFill>
                <a:latin typeface="Young Serif" pitchFamily="34" charset="0"/>
                <a:ea typeface="Young Serif" pitchFamily="34" charset="-122"/>
                <a:cs typeface="Young Serif" pitchFamily="34" charset="-120"/>
              </a:rPr>
              <a:t>26</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46606E"/>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37   </a:t>
            </a:r>
            <a:pPr indent="0" marL="0">
              <a:buNone/>
            </a:pPr>
            <a:r>
              <a:rPr lang="en-US" sz="860" dirty="0">
                <a:solidFill>
                  <a:srgbClr val="46606E"/>
                </a:solidFill>
                <a:latin typeface="IBM Plex Sans" pitchFamily="34" charset="0"/>
                <a:ea typeface="IBM Plex Sans" pitchFamily="34" charset="-122"/>
                <a:cs typeface="IBM Plex Sans" pitchFamily="34" charset="-120"/>
              </a:rPr>
              <a:t>Champagne Dekeyne</a:t>
            </a:r>
            <a:pPr indent="0" marL="0">
              <a:buNone/>
            </a:pPr>
            <a:r>
              <a:rPr lang="en-US" sz="860" b="1" dirty="0">
                <a:solidFill>
                  <a:srgbClr val="46606E"/>
                </a:solidFill>
                <a:latin typeface="IBM Plex Sans" pitchFamily="34" charset="0"/>
                <a:ea typeface="IBM Plex Sans" pitchFamily="34" charset="-122"/>
                <a:cs typeface="IBM Plex Sans" pitchFamily="34" charset="-120"/>
              </a:rPr>
              <a:t>   64</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38   </a:t>
            </a:r>
            <a:pPr indent="0" marL="0">
              <a:buNone/>
            </a:pPr>
            <a:r>
              <a:rPr lang="en-US" sz="860" dirty="0">
                <a:solidFill>
                  <a:srgbClr val="46606E"/>
                </a:solidFill>
                <a:latin typeface="IBM Plex Sans" pitchFamily="34" charset="0"/>
                <a:ea typeface="IBM Plex Sans" pitchFamily="34" charset="-122"/>
                <a:cs typeface="IBM Plex Sans" pitchFamily="34" charset="-120"/>
              </a:rPr>
              <a:t>Champagne Denis Frézier</a:t>
            </a:r>
            <a:pPr indent="0" marL="0">
              <a:buNone/>
            </a:pPr>
            <a:r>
              <a:rPr lang="en-US" sz="860" b="1" dirty="0">
                <a:solidFill>
                  <a:srgbClr val="46606E"/>
                </a:solidFill>
                <a:latin typeface="IBM Plex Sans" pitchFamily="34" charset="0"/>
                <a:ea typeface="IBM Plex Sans" pitchFamily="34" charset="-122"/>
                <a:cs typeface="IBM Plex Sans" pitchFamily="34" charset="-120"/>
              </a:rPr>
              <a:t>   65</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39   </a:t>
            </a:r>
            <a:pPr indent="0" marL="0">
              <a:buNone/>
            </a:pPr>
            <a:r>
              <a:rPr lang="en-US" sz="860" dirty="0">
                <a:solidFill>
                  <a:srgbClr val="46606E"/>
                </a:solidFill>
                <a:latin typeface="IBM Plex Sans" pitchFamily="34" charset="0"/>
                <a:ea typeface="IBM Plex Sans" pitchFamily="34" charset="-122"/>
                <a:cs typeface="IBM Plex Sans" pitchFamily="34" charset="-120"/>
              </a:rPr>
              <a:t>Champagne Solemme</a:t>
            </a:r>
            <a:pPr indent="0" marL="0">
              <a:buNone/>
            </a:pPr>
            <a:r>
              <a:rPr lang="en-US" sz="860" b="1" dirty="0">
                <a:solidFill>
                  <a:srgbClr val="46606E"/>
                </a:solidFill>
                <a:latin typeface="IBM Plex Sans" pitchFamily="34" charset="0"/>
                <a:ea typeface="IBM Plex Sans" pitchFamily="34" charset="-122"/>
                <a:cs typeface="IBM Plex Sans" pitchFamily="34" charset="-120"/>
              </a:rPr>
              <a:t>   66</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40   </a:t>
            </a:r>
            <a:pPr indent="0" marL="0">
              <a:buNone/>
            </a:pPr>
            <a:r>
              <a:rPr lang="en-US" sz="860" dirty="0">
                <a:solidFill>
                  <a:srgbClr val="46606E"/>
                </a:solidFill>
                <a:latin typeface="IBM Plex Sans" pitchFamily="34" charset="0"/>
                <a:ea typeface="IBM Plex Sans" pitchFamily="34" charset="-122"/>
                <a:cs typeface="IBM Plex Sans" pitchFamily="34" charset="-120"/>
              </a:rPr>
              <a:t>Vazart-Coquart &amp; Fils</a:t>
            </a:r>
            <a:pPr indent="0" marL="0">
              <a:buNone/>
            </a:pPr>
            <a:r>
              <a:rPr lang="en-US" sz="860" b="1" dirty="0">
                <a:solidFill>
                  <a:srgbClr val="46606E"/>
                </a:solidFill>
                <a:latin typeface="IBM Plex Sans" pitchFamily="34" charset="0"/>
                <a:ea typeface="IBM Plex Sans" pitchFamily="34" charset="-122"/>
                <a:cs typeface="IBM Plex Sans" pitchFamily="34" charset="-120"/>
              </a:rPr>
              <a:t>   67</a:t>
            </a:r>
            <a:endParaRPr lang="en-US" sz="860" dirty="0"/>
          </a:p>
        </p:txBody>
      </p:sp>
      <p:sp>
        <p:nvSpPr>
          <p:cNvPr id="16" name="Text 1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63</a:t>
            </a:r>
            <a:endParaRPr lang="en-US" sz="750" dirty="0"/>
          </a:p>
        </p:txBody>
      </p:sp>
      <p:sp>
        <p:nvSpPr>
          <p:cNvPr id="17" name="Text 1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37</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Champagne Dekeyne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46051"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1956162"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956162"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20836" y="10476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20836"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5" name="Image 1" descr="les deux frères dans les vignes — Champagne Dekeyne">    </p:cNvPr>
          <p:cNvPicPr>
            <a:picLocks noChangeAspect="1"/>
          </p:cNvPicPr>
          <p:nvPr/>
        </p:nvPicPr>
        <p:blipFill>
          <a:blip r:embed="rId2"/>
          <a:stretch>
            <a:fillRect/>
          </a:stretch>
        </p:blipFill>
        <p:spPr>
          <a:xfrm>
            <a:off x="828000" y="1357200"/>
            <a:ext cx="1440000" cy="1440000"/>
          </a:xfrm>
          <a:prstGeom prst="rect">
            <a:avLst/>
          </a:prstGeom>
        </p:spPr>
      </p:pic>
      <p:pic>
        <p:nvPicPr>
          <p:cNvPr id="16" name="Image 2" descr="Une bouteille du domaine Champagne Dekeyne">    </p:cNvPr>
          <p:cNvPicPr>
            <a:picLocks noChangeAspect="1"/>
          </p:cNvPicPr>
          <p:nvPr/>
        </p:nvPicPr>
        <p:blipFill>
          <a:blip r:embed="rId3"/>
          <a:stretch>
            <a:fillRect/>
          </a:stretch>
        </p:blipFill>
        <p:spPr>
          <a:xfrm>
            <a:off x="6221754" y="1357200"/>
            <a:ext cx="588492" cy="2232000"/>
          </a:xfrm>
          <a:prstGeom prst="rect">
            <a:avLst/>
          </a:prstGeom>
        </p:spPr>
      </p:pic>
      <p:sp>
        <p:nvSpPr>
          <p:cNvPr id="17" name="Text 12"/>
          <p:cNvSpPr/>
          <p:nvPr/>
        </p:nvSpPr>
        <p:spPr>
          <a:xfrm>
            <a:off x="2448000" y="1357200"/>
            <a:ext cx="3456000" cy="2231900"/>
          </a:xfrm>
          <a:prstGeom prst="rect">
            <a:avLst/>
          </a:prstGeom>
          <a:noFill/>
          <a:ln/>
        </p:spPr>
        <p:txBody>
          <a:bodyPr wrap="square" lIns="0" tIns="0" rIns="0" bIns="0" rtlCol="0" anchor="ctr"/>
          <a:lstStyle/>
          <a:p>
            <a:pPr indent="0" marL="0">
              <a:lnSpc>
                <a:spcPct val="142000"/>
              </a:lnSpc>
              <a:buNone/>
            </a:pPr>
            <a:r>
              <a:rPr lang="en-US" sz="2350" dirty="0">
                <a:solidFill>
                  <a:srgbClr val="67067C"/>
                </a:solidFill>
                <a:latin typeface="Young Serif" pitchFamily="34" charset="0"/>
                <a:ea typeface="Young Serif" pitchFamily="34" charset="-122"/>
                <a:cs typeface="Young Serif" pitchFamily="34" charset="-120"/>
              </a:rPr>
              <a:t>F</a:t>
            </a:r>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idèle à la ferme de La Voglonière depuis 1919, la famille Dekeyne cultive une relation intime avec la terre champenoise. Engagé en conversion biologique, ce domaine de quatre générations élabore des champagnes d’artisan à la vibrante énergie de sol.</a:t>
            </a:r>
            <a:endParaRPr lang="en-US" sz="13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48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Chardonnay Vignes de 1962</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26,48</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25,41</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Voglonniers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19,96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Ratafia Champenois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Vieux Ratafia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27,07</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Text 13"/>
          <p:cNvSpPr/>
          <p:nvPr/>
        </p:nvSpPr>
        <p:spPr>
          <a:xfrm>
            <a:off x="828000" y="568252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0" name="Image 3" descr="/home/user/philippe1/build/deco/sol-champagne.png">    </p:cNvPr>
          <p:cNvPicPr>
            <a:picLocks noChangeAspect="1"/>
          </p:cNvPicPr>
          <p:nvPr/>
        </p:nvPicPr>
        <p:blipFill>
          <a:blip r:embed="rId4"/>
          <a:stretch>
            <a:fillRect/>
          </a:stretch>
        </p:blipFill>
        <p:spPr>
          <a:xfrm>
            <a:off x="828000" y="5830126"/>
            <a:ext cx="6120000" cy="1346252"/>
          </a:xfrm>
          <a:prstGeom prst="rect">
            <a:avLst/>
          </a:prstGeom>
        </p:spPr>
      </p:pic>
      <p:sp>
        <p:nvSpPr>
          <p:cNvPr id="21" name="Shape 14"/>
          <p:cNvSpPr/>
          <p:nvPr/>
        </p:nvSpPr>
        <p:spPr>
          <a:xfrm>
            <a:off x="828000" y="8388000"/>
            <a:ext cx="6120000" cy="0"/>
          </a:xfrm>
          <a:prstGeom prst="line">
            <a:avLst/>
          </a:prstGeom>
          <a:noFill/>
          <a:ln w="8890">
            <a:solidFill>
              <a:srgbClr val="46606E"/>
            </a:solidFill>
            <a:prstDash val="solid"/>
          </a:ln>
        </p:spPr>
      </p:sp>
      <p:sp>
        <p:nvSpPr>
          <p:cNvPr id="22" name="Text 15"/>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 à partir de 48 bouteilles.</a:t>
            </a:r>
            <a:endParaRPr lang="en-US" sz="720" dirty="0"/>
          </a:p>
        </p:txBody>
      </p:sp>
      <p:sp>
        <p:nvSpPr>
          <p:cNvPr id="23" name="Text 16"/>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4"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5"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64</a:t>
            </a:r>
            <a:endParaRPr lang="en-US" sz="750" dirty="0"/>
          </a:p>
        </p:txBody>
      </p:sp>
      <p:sp>
        <p:nvSpPr>
          <p:cNvPr id="26"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38</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Champagne Denis Frézier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380548" cy="180000"/>
          </a:xfrm>
          <a:prstGeom prst="roundRect">
            <a:avLst>
              <a:gd name="adj" fmla="val 10160"/>
            </a:avLst>
          </a:prstGeom>
          <a:solidFill>
            <a:srgbClr val="F2EADA"/>
          </a:solidFill>
          <a:ln w="8890">
            <a:solidFill>
              <a:srgbClr val="3C5B47"/>
            </a:solidFill>
            <a:prstDash val="solid"/>
          </a:ln>
        </p:spPr>
      </p:sp>
      <p:sp>
        <p:nvSpPr>
          <p:cNvPr id="10" name="Text 7"/>
          <p:cNvSpPr/>
          <p:nvPr/>
        </p:nvSpPr>
        <p:spPr>
          <a:xfrm>
            <a:off x="1030051"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1" name="Shape 8"/>
          <p:cNvSpPr/>
          <p:nvPr/>
        </p:nvSpPr>
        <p:spPr>
          <a:xfrm>
            <a:off x="1489800" y="1047600"/>
            <a:ext cx="630911" cy="180000"/>
          </a:xfrm>
          <a:prstGeom prst="roundRect">
            <a:avLst>
              <a:gd name="adj" fmla="val 10160"/>
            </a:avLst>
          </a:prstGeom>
          <a:solidFill>
            <a:srgbClr val="67067C"/>
          </a:solidFill>
          <a:ln w="8890">
            <a:solidFill>
              <a:srgbClr val="67067C"/>
            </a:solidFill>
            <a:prstDash val="solid"/>
          </a:ln>
        </p:spPr>
      </p:sp>
      <p:sp>
        <p:nvSpPr>
          <p:cNvPr id="12" name="Text 9"/>
          <p:cNvSpPr/>
          <p:nvPr/>
        </p:nvSpPr>
        <p:spPr>
          <a:xfrm>
            <a:off x="1489800"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3" name="Shape 10"/>
          <p:cNvSpPr/>
          <p:nvPr/>
        </p:nvSpPr>
        <p:spPr>
          <a:xfrm>
            <a:off x="2199910" y="1047600"/>
            <a:ext cx="1385474" cy="180000"/>
          </a:xfrm>
          <a:prstGeom prst="roundRect">
            <a:avLst>
              <a:gd name="adj" fmla="val 10160"/>
            </a:avLst>
          </a:prstGeom>
          <a:solidFill>
            <a:srgbClr val="F2EADA"/>
          </a:solidFill>
          <a:ln w="8890">
            <a:solidFill>
              <a:srgbClr val="A8515F"/>
            </a:solidFill>
            <a:prstDash val="solid"/>
          </a:ln>
        </p:spPr>
      </p:sp>
      <p:sp>
        <p:nvSpPr>
          <p:cNvPr id="14" name="Text 11"/>
          <p:cNvSpPr/>
          <p:nvPr/>
        </p:nvSpPr>
        <p:spPr>
          <a:xfrm>
            <a:off x="2199910"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5" name="Shape 12"/>
          <p:cNvSpPr/>
          <p:nvPr/>
        </p:nvSpPr>
        <p:spPr>
          <a:xfrm>
            <a:off x="3664584" y="1047600"/>
            <a:ext cx="787182" cy="180000"/>
          </a:xfrm>
          <a:prstGeom prst="roundRect">
            <a:avLst>
              <a:gd name="adj" fmla="val 10160"/>
            </a:avLst>
          </a:prstGeom>
          <a:solidFill>
            <a:srgbClr val="F2EADA"/>
          </a:solidFill>
          <a:ln w="8890">
            <a:solidFill>
              <a:srgbClr val="46606E"/>
            </a:solidFill>
            <a:prstDash val="solid"/>
          </a:ln>
        </p:spPr>
      </p:sp>
      <p:sp>
        <p:nvSpPr>
          <p:cNvPr id="16" name="Text 13"/>
          <p:cNvSpPr/>
          <p:nvPr/>
        </p:nvSpPr>
        <p:spPr>
          <a:xfrm>
            <a:off x="3664584"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7" name="Image 1" descr="le village dans ses vignes — Champagne Denis Frézier">    </p:cNvPr>
          <p:cNvPicPr>
            <a:picLocks noChangeAspect="1"/>
          </p:cNvPicPr>
          <p:nvPr/>
        </p:nvPicPr>
        <p:blipFill>
          <a:blip r:embed="rId2"/>
          <a:srcRect l="12500" r="12500" t="0" b="0"/>
          <a:stretch/>
        </p:blipFill>
        <p:spPr>
          <a:xfrm>
            <a:off x="612000" y="1357200"/>
            <a:ext cx="1440000" cy="1440000"/>
          </a:xfrm>
          <a:prstGeom prst="ellipse">
            <a:avLst/>
          </a:prstGeom>
        </p:spPr>
      </p:pic>
      <p:pic>
        <p:nvPicPr>
          <p:cNvPr id="18" name="Image 2" descr="Une bouteille du domaine Champagne Denis Frézier">    </p:cNvPr>
          <p:cNvPicPr>
            <a:picLocks noChangeAspect="1"/>
          </p:cNvPicPr>
          <p:nvPr/>
        </p:nvPicPr>
        <p:blipFill>
          <a:blip r:embed="rId3"/>
          <a:stretch>
            <a:fillRect/>
          </a:stretch>
        </p:blipFill>
        <p:spPr>
          <a:xfrm>
            <a:off x="6002705" y="1357200"/>
            <a:ext cx="594590" cy="2232000"/>
          </a:xfrm>
          <a:prstGeom prst="rect">
            <a:avLst/>
          </a:prstGeom>
        </p:spPr>
      </p:pic>
      <p:sp>
        <p:nvSpPr>
          <p:cNvPr id="19" name="Text 14"/>
          <p:cNvSpPr/>
          <p:nvPr/>
        </p:nvSpPr>
        <p:spPr>
          <a:xfrm>
            <a:off x="2232000" y="1357200"/>
            <a:ext cx="3456000" cy="2231900"/>
          </a:xfrm>
          <a:prstGeom prst="rect">
            <a:avLst/>
          </a:prstGeom>
          <a:noFill/>
          <a:ln/>
        </p:spPr>
        <p:txBody>
          <a:bodyPr wrap="square" lIns="0" tIns="0" rIns="0" bIns="0" rtlCol="0" anchor="ctr"/>
          <a:lstStyle/>
          <a:p>
            <a:pPr indent="0" marL="0">
              <a:lnSpc>
                <a:spcPct val="142000"/>
              </a:lnSpc>
              <a:buNone/>
            </a:pPr>
            <a:r>
              <a:rPr lang="en-US" sz="2350" dirty="0">
                <a:solidFill>
                  <a:srgbClr val="67067C"/>
                </a:solidFill>
                <a:latin typeface="Young Serif" pitchFamily="34" charset="0"/>
                <a:ea typeface="Young Serif" pitchFamily="34" charset="-122"/>
                <a:cs typeface="Young Serif" pitchFamily="34" charset="-120"/>
              </a:rPr>
              <a:t>E</a:t>
            </a:r>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nracinée depuis 7 générations à Monthelon, entre Côte des Blancs et Vallée de la Marne, la Maison Denis Frézier conjugue mémoire et durabilité. Certifiée HVE et VDC, engagée en conversion biologique, elle sculpte les cuvées Trois Crus, Terroir Noir et Terroir Blanc.</a:t>
            </a:r>
            <a:endParaRPr lang="en-US" sz="13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Grand Cru Exception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2016</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24,09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23,62</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23,17</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17,54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16,87</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17,54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16,87</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Meunier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17,54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16,87</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Esprit Rose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16,87</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16,54</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16,23</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15,76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15,16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37,5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9,37</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9,19</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9,02</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Trois Crus Extra-Dry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15,76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15,16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Trois Crus Demi-Sec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15,76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15,45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15,16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131" name="Table 1"/>
          <p:cNvGraphicFramePr>
            <a:graphicFrameLocks noGrp="1"/>
          </p:cNvGraphicFramePr>
          <p:nvPr>
            <p:extLst>
              <p:ext uri="{D42A27DB-BD31-4B8C-83A1-F6EECF244321}">
                <p14:modId xmlns:p14="http://schemas.microsoft.com/office/powerpoint/2010/main" val="1579011935"/>
              </p:ext>
            </p:extLst>
          </p:nvPr>
        </p:nvGraphicFramePr>
        <p:xfrm>
          <a:off x="612000" y="7685447"/>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RATAFIA · RATAFIA</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Vieux Ratafia Champenois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14,16</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13,88</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13,62</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2" name="Shape 15"/>
          <p:cNvSpPr/>
          <p:nvPr/>
        </p:nvSpPr>
        <p:spPr>
          <a:xfrm>
            <a:off x="612000" y="8388000"/>
            <a:ext cx="6120000" cy="0"/>
          </a:xfrm>
          <a:prstGeom prst="line">
            <a:avLst/>
          </a:prstGeom>
          <a:noFill/>
          <a:ln w="8890">
            <a:solidFill>
              <a:srgbClr val="46606E"/>
            </a:solidFill>
            <a:prstDash val="solid"/>
          </a:ln>
        </p:spPr>
      </p:sp>
      <p:sp>
        <p:nvSpPr>
          <p:cNvPr id="23" name="Text 16"/>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24" name="Text 17"/>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65</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39</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Champagne Solemme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10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3" name="Image 1" descr="logo de la maison — Champagne Solemme">    </p:cNvPr>
          <p:cNvPicPr>
            <a:picLocks noChangeAspect="1"/>
          </p:cNvPicPr>
          <p:nvPr/>
        </p:nvPicPr>
        <p:blipFill>
          <a:blip r:embed="rId2"/>
          <a:stretch>
            <a:fillRect/>
          </a:stretch>
        </p:blipFill>
        <p:spPr>
          <a:xfrm>
            <a:off x="828000" y="1357200"/>
            <a:ext cx="1440000" cy="1440000"/>
          </a:xfrm>
          <a:prstGeom prst="rect">
            <a:avLst/>
          </a:prstGeom>
        </p:spPr>
      </p:pic>
      <p:pic>
        <p:nvPicPr>
          <p:cNvPr id="14" name="Image 2" descr="Une bouteille du domaine Champagne Solemme">    </p:cNvPr>
          <p:cNvPicPr>
            <a:picLocks noChangeAspect="1"/>
          </p:cNvPicPr>
          <p:nvPr/>
        </p:nvPicPr>
        <p:blipFill>
          <a:blip r:embed="rId3"/>
          <a:stretch>
            <a:fillRect/>
          </a:stretch>
        </p:blipFill>
        <p:spPr>
          <a:xfrm>
            <a:off x="6218705" y="1357200"/>
            <a:ext cx="594590" cy="2232000"/>
          </a:xfrm>
          <a:prstGeom prst="rect">
            <a:avLst/>
          </a:prstGeom>
        </p:spPr>
      </p:pic>
      <p:sp>
        <p:nvSpPr>
          <p:cNvPr id="15" name="Text 10"/>
          <p:cNvSpPr/>
          <p:nvPr/>
        </p:nvSpPr>
        <p:spPr>
          <a:xfrm>
            <a:off x="2448000" y="1357200"/>
            <a:ext cx="3456000" cy="2231900"/>
          </a:xfrm>
          <a:prstGeom prst="rect">
            <a:avLst/>
          </a:prstGeom>
          <a:noFill/>
          <a:ln/>
        </p:spPr>
        <p:txBody>
          <a:bodyPr wrap="square" lIns="0" tIns="0" rIns="0" bIns="0" rtlCol="0" anchor="ctr"/>
          <a:lstStyle/>
          <a:p>
            <a:pPr indent="0" marL="0">
              <a:lnSpc>
                <a:spcPct val="142000"/>
              </a:lnSpc>
              <a:buNone/>
            </a:pPr>
            <a:r>
              <a:rPr lang="en-US" sz="2350" dirty="0">
                <a:solidFill>
                  <a:srgbClr val="67067C"/>
                </a:solidFill>
                <a:latin typeface="Young Serif" pitchFamily="34" charset="0"/>
                <a:ea typeface="Young Serif" pitchFamily="34" charset="-122"/>
                <a:cs typeface="Young Serif" pitchFamily="34" charset="-120"/>
              </a:rPr>
              <a:t>À</a:t>
            </a:r>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Villers-aux-Nœuds, sur les terroirs Premier Cru de la Montagne de Reims, Olivier Langlais conduit 6 hectares en biodynamie. En cave, vinifications douces, sans chaptalisation, sans filtration et sans dosage : une Champagne d’émotion, minérale et d’une lumineuse franchise de terroir.</a:t>
            </a:r>
            <a:endParaRPr lang="en-US" sz="13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BSA</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Plénitude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Esprit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Nature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32,00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30,50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Ambre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32,60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31,85</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Text 11"/>
          <p:cNvSpPr/>
          <p:nvPr/>
        </p:nvSpPr>
        <p:spPr>
          <a:xfrm>
            <a:off x="828000" y="651328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18" name="Image 3" descr="/home/user/philippe1/build/deco/sol-champagne.png">    </p:cNvPr>
          <p:cNvPicPr>
            <a:picLocks noChangeAspect="1"/>
          </p:cNvPicPr>
          <p:nvPr/>
        </p:nvPicPr>
        <p:blipFill>
          <a:blip r:embed="rId4"/>
          <a:stretch>
            <a:fillRect/>
          </a:stretch>
        </p:blipFill>
        <p:spPr>
          <a:xfrm>
            <a:off x="828000" y="6660885"/>
            <a:ext cx="6120000" cy="1148400"/>
          </a:xfrm>
          <a:prstGeom prst="rect">
            <a:avLst/>
          </a:prstGeom>
        </p:spPr>
      </p:pic>
      <p:sp>
        <p:nvSpPr>
          <p:cNvPr id="19" name="Shape 12"/>
          <p:cNvSpPr/>
          <p:nvPr/>
        </p:nvSpPr>
        <p:spPr>
          <a:xfrm>
            <a:off x="828000" y="8388000"/>
            <a:ext cx="6120000" cy="0"/>
          </a:xfrm>
          <a:prstGeom prst="line">
            <a:avLst/>
          </a:prstGeom>
          <a:noFill/>
          <a:ln w="8890">
            <a:solidFill>
              <a:srgbClr val="46606E"/>
            </a:solidFill>
            <a:prstDash val="solid"/>
          </a:ln>
        </p:spPr>
      </p:sp>
      <p:sp>
        <p:nvSpPr>
          <p:cNvPr id="20" name="Text 13"/>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21" name="Text 14"/>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3"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66</a:t>
            </a:r>
            <a:endParaRPr lang="en-US" sz="750" dirty="0"/>
          </a:p>
        </p:txBody>
      </p:sp>
      <p:sp>
        <p:nvSpPr>
          <p:cNvPr id="24"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40</a:t>
            </a:r>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   Vazart-Coquart &amp; Fils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80548"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9" name="Shape 6"/>
          <p:cNvSpPr/>
          <p:nvPr/>
        </p:nvSpPr>
        <p:spPr>
          <a:xfrm>
            <a:off x="1071748"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717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536422"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536422"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3" name="Image 1" descr="la maison de champagne — Vazart-Coquart &amp; Fils">    </p:cNvPr>
          <p:cNvPicPr>
            <a:picLocks noChangeAspect="1"/>
          </p:cNvPicPr>
          <p:nvPr/>
        </p:nvPicPr>
        <p:blipFill>
          <a:blip r:embed="rId2"/>
          <a:srcRect l="25260" r="25261" t="0" b="0"/>
          <a:stretch/>
        </p:blipFill>
        <p:spPr>
          <a:xfrm>
            <a:off x="612000" y="1357200"/>
            <a:ext cx="1440000" cy="1440000"/>
          </a:xfrm>
          <a:prstGeom prst="ellipse">
            <a:avLst/>
          </a:prstGeom>
        </p:spPr>
      </p:pic>
      <p:pic>
        <p:nvPicPr>
          <p:cNvPr id="14" name="Image 2" descr="Une bouteille du domaine Vazart-Coquart &amp; Fils">    </p:cNvPr>
          <p:cNvPicPr>
            <a:picLocks noChangeAspect="1"/>
          </p:cNvPicPr>
          <p:nvPr/>
        </p:nvPicPr>
        <p:blipFill>
          <a:blip r:embed="rId3"/>
          <a:stretch>
            <a:fillRect/>
          </a:stretch>
        </p:blipFill>
        <p:spPr>
          <a:xfrm>
            <a:off x="5913248" y="1357200"/>
            <a:ext cx="773503" cy="2232000"/>
          </a:xfrm>
          <a:prstGeom prst="rect">
            <a:avLst/>
          </a:prstGeom>
        </p:spPr>
      </p:pic>
      <p:sp>
        <p:nvSpPr>
          <p:cNvPr id="15" name="Text 10"/>
          <p:cNvSpPr/>
          <p:nvPr/>
        </p:nvSpPr>
        <p:spPr>
          <a:xfrm>
            <a:off x="2232000" y="1357200"/>
            <a:ext cx="3456000" cy="2231900"/>
          </a:xfrm>
          <a:prstGeom prst="rect">
            <a:avLst/>
          </a:prstGeom>
          <a:noFill/>
          <a:ln/>
        </p:spPr>
        <p:txBody>
          <a:bodyPr wrap="square" lIns="0" tIns="0" rIns="0" bIns="0" rtlCol="0" anchor="ctr"/>
          <a:lstStyle/>
          <a:p>
            <a:pPr indent="0" marL="0">
              <a:lnSpc>
                <a:spcPct val="142000"/>
              </a:lnSpc>
              <a:buNone/>
            </a:pPr>
            <a:r>
              <a:rPr lang="en-US" sz="2350" dirty="0">
                <a:solidFill>
                  <a:srgbClr val="67067C"/>
                </a:solidFill>
                <a:latin typeface="Young Serif" pitchFamily="34" charset="0"/>
                <a:ea typeface="Young Serif" pitchFamily="34" charset="-122"/>
                <a:cs typeface="Young Serif" pitchFamily="34" charset="-120"/>
              </a:rPr>
              <a:t>M</a:t>
            </a:r>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aison de référence à Chouilly, Grand Cru de la Côte des Blancs, Vazart-Coquart célèbre le Chardonnay depuis 1954. Jean-Pierre et Caroline veillent sur trente parcelles (11 ha) où la craie révèle toute la finesse du cépage. Troisième domaine certifié HVE de France.</a:t>
            </a:r>
            <a:endParaRPr lang="en-US" sz="13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48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96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Camille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Base 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Brut Réserve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Base 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20,30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Extra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Base 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25,00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24,80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24,50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Special Club</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2017</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41,10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46,40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46,20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Parcellaire AD 191</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2016</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49,10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48,90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48,60</a:t>
                      </a:r>
                      <a:pPr algn="r" indent="0" marL="0">
                        <a:buNone/>
                      </a:pP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Text 11"/>
          <p:cNvSpPr/>
          <p:nvPr/>
        </p:nvSpPr>
        <p:spPr>
          <a:xfrm>
            <a:off x="612000" y="651328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18" name="Image 3" descr="/home/user/philippe1/build/deco/sol-champagne.png">    </p:cNvPr>
          <p:cNvPicPr>
            <a:picLocks noChangeAspect="1"/>
          </p:cNvPicPr>
          <p:nvPr/>
        </p:nvPicPr>
        <p:blipFill>
          <a:blip r:embed="rId4"/>
          <a:stretch>
            <a:fillRect/>
          </a:stretch>
        </p:blipFill>
        <p:spPr>
          <a:xfrm>
            <a:off x="612000" y="6660885"/>
            <a:ext cx="6120000" cy="1148400"/>
          </a:xfrm>
          <a:prstGeom prst="rect">
            <a:avLst/>
          </a:prstGeom>
        </p:spPr>
      </p:pic>
      <p:sp>
        <p:nvSpPr>
          <p:cNvPr id="19" name="Shape 12"/>
          <p:cNvSpPr/>
          <p:nvPr/>
        </p:nvSpPr>
        <p:spPr>
          <a:xfrm>
            <a:off x="612000" y="8388000"/>
            <a:ext cx="6120000" cy="0"/>
          </a:xfrm>
          <a:prstGeom prst="line">
            <a:avLst/>
          </a:prstGeom>
          <a:noFill/>
          <a:ln w="8890">
            <a:solidFill>
              <a:srgbClr val="46606E"/>
            </a:solidFill>
            <a:prstDash val="solid"/>
          </a:ln>
        </p:spPr>
      </p:sp>
      <p:sp>
        <p:nvSpPr>
          <p:cNvPr id="20" name="Text 13"/>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21" name="Text 14"/>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pPr algn="r" indent="0" marL="0">
              <a:buNone/>
            </a:pP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3"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67</a:t>
            </a:r>
            <a:endParaRPr lang="en-US" sz="750" dirty="0"/>
          </a:p>
        </p:txBody>
      </p:sp>
      <p:sp>
        <p:nvSpPr>
          <p:cNvPr id="24"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Index des vins</a:t>
            </a:r>
            <a:endParaRPr lang="en-US" sz="2400" dirty="0"/>
          </a:p>
        </p:txBody>
      </p:sp>
      <p:sp>
        <p:nvSpPr>
          <p:cNvPr id="3" name="Text 1"/>
          <p:cNvSpPr/>
          <p:nvPr/>
        </p:nvSpPr>
        <p:spPr>
          <a:xfrm>
            <a:off x="828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TYPE, DE A À Z</a:t>
            </a:r>
            <a:endParaRPr lang="en-US" sz="800" dirty="0"/>
          </a:p>
        </p:txBody>
      </p:sp>
      <p:sp>
        <p:nvSpPr>
          <p:cNvPr id="4" name="Text 2"/>
          <p:cNvSpPr/>
          <p:nvPr/>
        </p:nvSpPr>
        <p:spPr>
          <a:xfrm>
            <a:off x="828000" y="1368000"/>
            <a:ext cx="6120000" cy="180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Le numéro en violet est celui du domaine, le dernier chiffre est la page.</a:t>
            </a:r>
            <a:endParaRPr lang="en-US" sz="860" dirty="0"/>
          </a:p>
        </p:txBody>
      </p:sp>
      <p:sp>
        <p:nvSpPr>
          <p:cNvPr id="5" name="Text 3"/>
          <p:cNvSpPr/>
          <p:nvPr/>
        </p:nvSpPr>
        <p:spPr>
          <a:xfrm>
            <a:off x="828000" y="162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BULLES</a:t>
            </a:r>
            <a:endParaRPr lang="en-US" sz="800" dirty="0"/>
          </a:p>
        </p:txBody>
      </p:sp>
      <p:sp>
        <p:nvSpPr>
          <p:cNvPr id="6" name="Text 4"/>
          <p:cNvSpPr/>
          <p:nvPr/>
        </p:nvSpPr>
        <p:spPr>
          <a:xfrm>
            <a:off x="82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Ambre de Solemme</a:t>
            </a:r>
            <a:pPr indent="0" marL="0">
              <a:buNone/>
            </a:pPr>
            <a:r>
              <a:rPr lang="en-US" sz="690" b="1" dirty="0">
                <a:solidFill>
                  <a:srgbClr val="67067C"/>
                </a:solidFill>
                <a:latin typeface="IBM Plex Sans" pitchFamily="34" charset="0"/>
                <a:ea typeface="IBM Plex Sans" pitchFamily="34" charset="-122"/>
                <a:cs typeface="IBM Plex Sans" pitchFamily="34" charset="-120"/>
              </a:rPr>
              <a:t>  39</a:t>
            </a:r>
            <a:pPr indent="0" marL="0">
              <a:buNone/>
            </a:pP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7" name="Text 5"/>
          <p:cNvSpPr/>
          <p:nvPr/>
        </p:nvSpPr>
        <p:spPr>
          <a:xfrm>
            <a:off x="82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Nature</a:t>
            </a:r>
            <a:pPr indent="0" marL="0">
              <a:buNone/>
            </a:pPr>
            <a:r>
              <a:rPr lang="en-US" sz="690" b="1" dirty="0">
                <a:solidFill>
                  <a:srgbClr val="67067C"/>
                </a:solidFill>
                <a:latin typeface="IBM Plex Sans" pitchFamily="34" charset="0"/>
                <a:ea typeface="IBM Plex Sans" pitchFamily="34" charset="-122"/>
                <a:cs typeface="IBM Plex Sans" pitchFamily="34" charset="-120"/>
              </a:rPr>
              <a:t>  8</a:t>
            </a:r>
            <a:pPr indent="0" marL="0">
              <a:buNone/>
            </a:pP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8" name="Text 6"/>
          <p:cNvSpPr/>
          <p:nvPr/>
        </p:nvSpPr>
        <p:spPr>
          <a:xfrm>
            <a:off x="82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Réserve</a:t>
            </a:r>
            <a:pPr indent="0" marL="0">
              <a:buNone/>
            </a:pPr>
            <a:r>
              <a:rPr lang="en-US" sz="690" b="1" dirty="0">
                <a:solidFill>
                  <a:srgbClr val="67067C"/>
                </a:solidFill>
                <a:latin typeface="IBM Plex Sans" pitchFamily="34" charset="0"/>
                <a:ea typeface="IBM Plex Sans" pitchFamily="34" charset="-122"/>
                <a:cs typeface="IBM Plex Sans" pitchFamily="34" charset="-120"/>
              </a:rPr>
              <a:t>  40</a:t>
            </a:r>
            <a:pPr indent="0" marL="0">
              <a:buNone/>
            </a:pPr>
            <a:r>
              <a:rPr lang="en-US" sz="690" dirty="0">
                <a:solidFill>
                  <a:srgbClr val="46606E"/>
                </a:solidFill>
                <a:latin typeface="IBM Plex Sans" pitchFamily="34" charset="0"/>
                <a:ea typeface="IBM Plex Sans" pitchFamily="34" charset="-122"/>
                <a:cs typeface="IBM Plex Sans" pitchFamily="34" charset="-120"/>
              </a:rPr>
              <a:t>  67</a:t>
            </a:r>
            <a:endParaRPr lang="en-US" sz="690" dirty="0"/>
          </a:p>
        </p:txBody>
      </p:sp>
      <p:sp>
        <p:nvSpPr>
          <p:cNvPr id="9" name="Text 7"/>
          <p:cNvSpPr/>
          <p:nvPr/>
        </p:nvSpPr>
        <p:spPr>
          <a:xfrm>
            <a:off x="82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 Vignes de 1962</a:t>
            </a:r>
            <a:pPr indent="0" marL="0">
              <a:buNone/>
            </a:pPr>
            <a:r>
              <a:rPr lang="en-US" sz="690" b="1" dirty="0">
                <a:solidFill>
                  <a:srgbClr val="67067C"/>
                </a:solidFill>
                <a:latin typeface="IBM Plex Sans" pitchFamily="34" charset="0"/>
                <a:ea typeface="IBM Plex Sans" pitchFamily="34" charset="-122"/>
                <a:cs typeface="IBM Plex Sans" pitchFamily="34" charset="-120"/>
              </a:rPr>
              <a:t>  37</a:t>
            </a:r>
            <a:pPr indent="0" marL="0">
              <a:buNone/>
            </a:pPr>
            <a:r>
              <a:rPr lang="en-US" sz="690" dirty="0">
                <a:solidFill>
                  <a:srgbClr val="46606E"/>
                </a:solidFill>
                <a:latin typeface="IBM Plex Sans" pitchFamily="34" charset="0"/>
                <a:ea typeface="IBM Plex Sans" pitchFamily="34" charset="-122"/>
                <a:cs typeface="IBM Plex Sans" pitchFamily="34" charset="-120"/>
              </a:rPr>
              <a:t>  64</a:t>
            </a:r>
            <a:endParaRPr lang="en-US" sz="690" dirty="0"/>
          </a:p>
        </p:txBody>
      </p:sp>
      <p:sp>
        <p:nvSpPr>
          <p:cNvPr id="10" name="Text 8"/>
          <p:cNvSpPr/>
          <p:nvPr/>
        </p:nvSpPr>
        <p:spPr>
          <a:xfrm>
            <a:off x="82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Crémant de Loire</a:t>
            </a:r>
            <a:pPr indent="0" marL="0">
              <a:buNone/>
            </a:pPr>
            <a:r>
              <a:rPr lang="en-US" sz="690" b="1" dirty="0">
                <a:solidFill>
                  <a:srgbClr val="67067C"/>
                </a:solidFill>
                <a:latin typeface="IBM Plex Sans" pitchFamily="34" charset="0"/>
                <a:ea typeface="IBM Plex Sans" pitchFamily="34" charset="-122"/>
                <a:cs typeface="IBM Plex Sans" pitchFamily="34" charset="-120"/>
              </a:rPr>
              <a:t>  4</a:t>
            </a:r>
            <a:pPr indent="0" marL="0">
              <a:buNone/>
            </a:pP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1" name="Text 9"/>
          <p:cNvSpPr/>
          <p:nvPr/>
        </p:nvSpPr>
        <p:spPr>
          <a:xfrm>
            <a:off x="82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Camille</a:t>
            </a:r>
            <a:pPr indent="0" marL="0">
              <a:buNone/>
            </a:pPr>
            <a:r>
              <a:rPr lang="en-US" sz="690" b="1" dirty="0">
                <a:solidFill>
                  <a:srgbClr val="67067C"/>
                </a:solidFill>
                <a:latin typeface="IBM Plex Sans" pitchFamily="34" charset="0"/>
                <a:ea typeface="IBM Plex Sans" pitchFamily="34" charset="-122"/>
                <a:cs typeface="IBM Plex Sans" pitchFamily="34" charset="-120"/>
              </a:rPr>
              <a:t>  40</a:t>
            </a:r>
            <a:pPr indent="0" marL="0">
              <a:buNone/>
            </a:pPr>
            <a:r>
              <a:rPr lang="en-US" sz="690" dirty="0">
                <a:solidFill>
                  <a:srgbClr val="46606E"/>
                </a:solidFill>
                <a:latin typeface="IBM Plex Sans" pitchFamily="34" charset="0"/>
                <a:ea typeface="IBM Plex Sans" pitchFamily="34" charset="-122"/>
                <a:cs typeface="IBM Plex Sans" pitchFamily="34" charset="-120"/>
              </a:rPr>
              <a:t>  67</a:t>
            </a:r>
            <a:endParaRPr lang="en-US" sz="690" dirty="0"/>
          </a:p>
        </p:txBody>
      </p:sp>
      <p:sp>
        <p:nvSpPr>
          <p:cNvPr id="12" name="Text 10"/>
          <p:cNvSpPr/>
          <p:nvPr/>
        </p:nvSpPr>
        <p:spPr>
          <a:xfrm>
            <a:off x="82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Prestige</a:t>
            </a:r>
            <a:pPr indent="0" marL="0">
              <a:buNone/>
            </a:pPr>
            <a:r>
              <a:rPr lang="en-US" sz="690" b="1" dirty="0">
                <a:solidFill>
                  <a:srgbClr val="67067C"/>
                </a:solidFill>
                <a:latin typeface="IBM Plex Sans" pitchFamily="34" charset="0"/>
                <a:ea typeface="IBM Plex Sans" pitchFamily="34" charset="-122"/>
                <a:cs typeface="IBM Plex Sans" pitchFamily="34" charset="-120"/>
              </a:rPr>
              <a:t>  4</a:t>
            </a:r>
            <a:pPr indent="0" marL="0">
              <a:buNone/>
            </a:pP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3" name="Text 11"/>
          <p:cNvSpPr/>
          <p:nvPr/>
        </p:nvSpPr>
        <p:spPr>
          <a:xfrm>
            <a:off x="82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Solemme</a:t>
            </a:r>
            <a:pPr indent="0" marL="0">
              <a:buNone/>
            </a:pPr>
            <a:r>
              <a:rPr lang="en-US" sz="690" b="1" dirty="0">
                <a:solidFill>
                  <a:srgbClr val="67067C"/>
                </a:solidFill>
                <a:latin typeface="IBM Plex Sans" pitchFamily="34" charset="0"/>
                <a:ea typeface="IBM Plex Sans" pitchFamily="34" charset="-122"/>
                <a:cs typeface="IBM Plex Sans" pitchFamily="34" charset="-120"/>
              </a:rPr>
              <a:t>  39</a:t>
            </a:r>
            <a:pPr indent="0" marL="0">
              <a:buNone/>
            </a:pP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14" name="Text 12"/>
          <p:cNvSpPr/>
          <p:nvPr/>
        </p:nvSpPr>
        <p:spPr>
          <a:xfrm>
            <a:off x="82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Rose</a:t>
            </a:r>
            <a:pPr indent="0" marL="0">
              <a:buNone/>
            </a:pPr>
            <a:r>
              <a:rPr lang="en-US" sz="690" b="1" dirty="0">
                <a:solidFill>
                  <a:srgbClr val="67067C"/>
                </a:solidFill>
                <a:latin typeface="IBM Plex Sans" pitchFamily="34" charset="0"/>
                <a:ea typeface="IBM Plex Sans" pitchFamily="34" charset="-122"/>
                <a:cs typeface="IBM Plex Sans" pitchFamily="34" charset="-120"/>
              </a:rPr>
              <a:t>  38</a:t>
            </a:r>
            <a:pPr indent="0" marL="0">
              <a:buNone/>
            </a:pP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15" name="Text 13"/>
          <p:cNvSpPr/>
          <p:nvPr/>
        </p:nvSpPr>
        <p:spPr>
          <a:xfrm>
            <a:off x="82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Extra Brut</a:t>
            </a:r>
            <a:pPr indent="0" marL="0">
              <a:buNone/>
            </a:pPr>
            <a:r>
              <a:rPr lang="en-US" sz="690" b="1" dirty="0">
                <a:solidFill>
                  <a:srgbClr val="67067C"/>
                </a:solidFill>
                <a:latin typeface="IBM Plex Sans" pitchFamily="34" charset="0"/>
                <a:ea typeface="IBM Plex Sans" pitchFamily="34" charset="-122"/>
                <a:cs typeface="IBM Plex Sans" pitchFamily="34" charset="-120"/>
              </a:rPr>
              <a:t>  40</a:t>
            </a:r>
            <a:pPr indent="0" marL="0">
              <a:buNone/>
            </a:pPr>
            <a:r>
              <a:rPr lang="en-US" sz="690" dirty="0">
                <a:solidFill>
                  <a:srgbClr val="46606E"/>
                </a:solidFill>
                <a:latin typeface="IBM Plex Sans" pitchFamily="34" charset="0"/>
                <a:ea typeface="IBM Plex Sans" pitchFamily="34" charset="-122"/>
                <a:cs typeface="IBM Plex Sans" pitchFamily="34" charset="-120"/>
              </a:rPr>
              <a:t>  67</a:t>
            </a:r>
            <a:endParaRPr lang="en-US" sz="690" dirty="0"/>
          </a:p>
        </p:txBody>
      </p:sp>
      <p:sp>
        <p:nvSpPr>
          <p:cNvPr id="16" name="Text 14"/>
          <p:cNvSpPr/>
          <p:nvPr/>
        </p:nvSpPr>
        <p:spPr>
          <a:xfrm>
            <a:off x="82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Grand Cru Exception</a:t>
            </a:r>
            <a:pPr indent="0" marL="0">
              <a:buNone/>
            </a:pPr>
            <a:r>
              <a:rPr lang="en-US" sz="690" b="1" dirty="0">
                <a:solidFill>
                  <a:srgbClr val="67067C"/>
                </a:solidFill>
                <a:latin typeface="IBM Plex Sans" pitchFamily="34" charset="0"/>
                <a:ea typeface="IBM Plex Sans" pitchFamily="34" charset="-122"/>
                <a:cs typeface="IBM Plex Sans" pitchFamily="34" charset="-120"/>
              </a:rPr>
              <a:t>  38</a:t>
            </a:r>
            <a:pPr indent="0" marL="0">
              <a:buNone/>
            </a:pP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17" name="Text 15"/>
          <p:cNvSpPr/>
          <p:nvPr/>
        </p:nvSpPr>
        <p:spPr>
          <a:xfrm>
            <a:off x="82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 Brut</a:t>
            </a:r>
            <a:pPr indent="0" marL="0">
              <a:buNone/>
            </a:pPr>
            <a:r>
              <a:rPr lang="en-US" sz="690" b="1" dirty="0">
                <a:solidFill>
                  <a:srgbClr val="67067C"/>
                </a:solidFill>
                <a:latin typeface="IBM Plex Sans" pitchFamily="34" charset="0"/>
                <a:ea typeface="IBM Plex Sans" pitchFamily="34" charset="-122"/>
                <a:cs typeface="IBM Plex Sans" pitchFamily="34" charset="-120"/>
              </a:rPr>
              <a:t>  2</a:t>
            </a:r>
            <a:pPr indent="0" marL="0">
              <a:buNone/>
            </a:pP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8" name="Text 16"/>
          <p:cNvSpPr/>
          <p:nvPr/>
        </p:nvSpPr>
        <p:spPr>
          <a:xfrm>
            <a:off x="82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perle</a:t>
            </a:r>
            <a:pPr indent="0" marL="0">
              <a:buNone/>
            </a:pPr>
            <a:r>
              <a:rPr lang="en-US" sz="690" b="1" dirty="0">
                <a:solidFill>
                  <a:srgbClr val="67067C"/>
                </a:solidFill>
                <a:latin typeface="IBM Plex Sans" pitchFamily="34" charset="0"/>
                <a:ea typeface="IBM Plex Sans" pitchFamily="34" charset="-122"/>
                <a:cs typeface="IBM Plex Sans" pitchFamily="34" charset="-120"/>
              </a:rPr>
              <a:t>  3</a:t>
            </a:r>
            <a:pPr indent="0" marL="0">
              <a:buNone/>
            </a:pP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9" name="Text 17"/>
          <p:cNvSpPr/>
          <p:nvPr/>
        </p:nvSpPr>
        <p:spPr>
          <a:xfrm>
            <a:off x="82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20" name="Text 18"/>
          <p:cNvSpPr/>
          <p:nvPr/>
        </p:nvSpPr>
        <p:spPr>
          <a:xfrm>
            <a:off x="82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21" name="Text 19"/>
          <p:cNvSpPr/>
          <p:nvPr/>
        </p:nvSpPr>
        <p:spPr>
          <a:xfrm>
            <a:off x="82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a:t>
            </a:r>
            <a:pPr indent="0" marL="0">
              <a:buNone/>
            </a:pPr>
            <a:r>
              <a:rPr lang="en-US" sz="690" b="1" dirty="0">
                <a:solidFill>
                  <a:srgbClr val="67067C"/>
                </a:solidFill>
                <a:latin typeface="IBM Plex Sans" pitchFamily="34" charset="0"/>
                <a:ea typeface="IBM Plex Sans" pitchFamily="34" charset="-122"/>
                <a:cs typeface="IBM Plex Sans" pitchFamily="34" charset="-120"/>
              </a:rPr>
              <a:t>  37</a:t>
            </a:r>
            <a:pPr indent="0" marL="0">
              <a:buNone/>
            </a:pPr>
            <a:r>
              <a:rPr lang="en-US" sz="690" dirty="0">
                <a:solidFill>
                  <a:srgbClr val="46606E"/>
                </a:solidFill>
                <a:latin typeface="IBM Plex Sans" pitchFamily="34" charset="0"/>
                <a:ea typeface="IBM Plex Sans" pitchFamily="34" charset="-122"/>
                <a:cs typeface="IBM Plex Sans" pitchFamily="34" charset="-120"/>
              </a:rPr>
              <a:t>  64</a:t>
            </a:r>
            <a:endParaRPr lang="en-US" sz="690" dirty="0"/>
          </a:p>
        </p:txBody>
      </p:sp>
      <p:sp>
        <p:nvSpPr>
          <p:cNvPr id="22" name="Text 20"/>
          <p:cNvSpPr/>
          <p:nvPr/>
        </p:nvSpPr>
        <p:spPr>
          <a:xfrm>
            <a:off x="82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de Solemme</a:t>
            </a:r>
            <a:pPr indent="0" marL="0">
              <a:buNone/>
            </a:pPr>
            <a:r>
              <a:rPr lang="en-US" sz="690" b="1" dirty="0">
                <a:solidFill>
                  <a:srgbClr val="67067C"/>
                </a:solidFill>
                <a:latin typeface="IBM Plex Sans" pitchFamily="34" charset="0"/>
                <a:ea typeface="IBM Plex Sans" pitchFamily="34" charset="-122"/>
                <a:cs typeface="IBM Plex Sans" pitchFamily="34" charset="-120"/>
              </a:rPr>
              <a:t>  39</a:t>
            </a:r>
            <a:pPr indent="0" marL="0">
              <a:buNone/>
            </a:pP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23" name="Text 21"/>
          <p:cNvSpPr/>
          <p:nvPr/>
        </p:nvSpPr>
        <p:spPr>
          <a:xfrm>
            <a:off x="82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Parcellaire AD 191</a:t>
            </a:r>
            <a:pPr indent="0" marL="0">
              <a:buNone/>
            </a:pPr>
            <a:r>
              <a:rPr lang="en-US" sz="690" b="1" dirty="0">
                <a:solidFill>
                  <a:srgbClr val="67067C"/>
                </a:solidFill>
                <a:latin typeface="IBM Plex Sans" pitchFamily="34" charset="0"/>
                <a:ea typeface="IBM Plex Sans" pitchFamily="34" charset="-122"/>
                <a:cs typeface="IBM Plex Sans" pitchFamily="34" charset="-120"/>
              </a:rPr>
              <a:t>  40</a:t>
            </a:r>
            <a:pPr indent="0" marL="0">
              <a:buNone/>
            </a:pPr>
            <a:r>
              <a:rPr lang="en-US" sz="690" dirty="0">
                <a:solidFill>
                  <a:srgbClr val="46606E"/>
                </a:solidFill>
                <a:latin typeface="IBM Plex Sans" pitchFamily="34" charset="0"/>
                <a:ea typeface="IBM Plex Sans" pitchFamily="34" charset="-122"/>
                <a:cs typeface="IBM Plex Sans" pitchFamily="34" charset="-120"/>
              </a:rPr>
              <a:t>  67</a:t>
            </a:r>
            <a:endParaRPr lang="en-US" sz="690" dirty="0"/>
          </a:p>
        </p:txBody>
      </p:sp>
      <p:sp>
        <p:nvSpPr>
          <p:cNvPr id="24" name="Text 22"/>
          <p:cNvSpPr/>
          <p:nvPr/>
        </p:nvSpPr>
        <p:spPr>
          <a:xfrm>
            <a:off x="82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Pétillant de l'Escarderie</a:t>
            </a:r>
            <a:pPr indent="0" marL="0">
              <a:buNone/>
            </a:pPr>
            <a:r>
              <a:rPr lang="en-US" sz="690" b="1" dirty="0">
                <a:solidFill>
                  <a:srgbClr val="67067C"/>
                </a:solidFill>
                <a:latin typeface="IBM Plex Sans" pitchFamily="34" charset="0"/>
                <a:ea typeface="IBM Plex Sans" pitchFamily="34" charset="-122"/>
                <a:cs typeface="IBM Plex Sans" pitchFamily="34" charset="-120"/>
              </a:rPr>
              <a:t>  30</a:t>
            </a:r>
            <a:pPr indent="0" marL="0">
              <a:buNone/>
            </a:pP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25" name="Text 23"/>
          <p:cNvSpPr/>
          <p:nvPr/>
        </p:nvSpPr>
        <p:spPr>
          <a:xfrm>
            <a:off x="82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Plénitude de Solemme</a:t>
            </a:r>
            <a:pPr indent="0" marL="0">
              <a:buNone/>
            </a:pPr>
            <a:r>
              <a:rPr lang="en-US" sz="690" b="1" dirty="0">
                <a:solidFill>
                  <a:srgbClr val="67067C"/>
                </a:solidFill>
                <a:latin typeface="IBM Plex Sans" pitchFamily="34" charset="0"/>
                <a:ea typeface="IBM Plex Sans" pitchFamily="34" charset="-122"/>
                <a:cs typeface="IBM Plex Sans" pitchFamily="34" charset="-120"/>
              </a:rPr>
              <a:t>  39</a:t>
            </a:r>
            <a:pPr indent="0" marL="0">
              <a:buNone/>
            </a:pP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26" name="Text 24"/>
          <p:cNvSpPr/>
          <p:nvPr/>
        </p:nvSpPr>
        <p:spPr>
          <a:xfrm>
            <a:off x="82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de Solemme</a:t>
            </a:r>
            <a:pPr indent="0" marL="0">
              <a:buNone/>
            </a:pPr>
            <a:r>
              <a:rPr lang="en-US" sz="690" b="1" dirty="0">
                <a:solidFill>
                  <a:srgbClr val="67067C"/>
                </a:solidFill>
                <a:latin typeface="IBM Plex Sans" pitchFamily="34" charset="0"/>
                <a:ea typeface="IBM Plex Sans" pitchFamily="34" charset="-122"/>
                <a:cs typeface="IBM Plex Sans" pitchFamily="34" charset="-120"/>
              </a:rPr>
              <a:t>  39</a:t>
            </a:r>
            <a:pPr indent="0" marL="0">
              <a:buNone/>
            </a:pP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27" name="Text 25"/>
          <p:cNvSpPr/>
          <p:nvPr/>
        </p:nvSpPr>
        <p:spPr>
          <a:xfrm>
            <a:off x="82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Special Club</a:t>
            </a:r>
            <a:pPr indent="0" marL="0">
              <a:buNone/>
            </a:pPr>
            <a:r>
              <a:rPr lang="en-US" sz="690" b="1" dirty="0">
                <a:solidFill>
                  <a:srgbClr val="67067C"/>
                </a:solidFill>
                <a:latin typeface="IBM Plex Sans" pitchFamily="34" charset="0"/>
                <a:ea typeface="IBM Plex Sans" pitchFamily="34" charset="-122"/>
                <a:cs typeface="IBM Plex Sans" pitchFamily="34" charset="-120"/>
              </a:rPr>
              <a:t>  40</a:t>
            </a:r>
            <a:pPr indent="0" marL="0">
              <a:buNone/>
            </a:pPr>
            <a:r>
              <a:rPr lang="en-US" sz="690" dirty="0">
                <a:solidFill>
                  <a:srgbClr val="46606E"/>
                </a:solidFill>
                <a:latin typeface="IBM Plex Sans" pitchFamily="34" charset="0"/>
                <a:ea typeface="IBM Plex Sans" pitchFamily="34" charset="-122"/>
                <a:cs typeface="IBM Plex Sans" pitchFamily="34" charset="-120"/>
              </a:rPr>
              <a:t>  67</a:t>
            </a:r>
            <a:endParaRPr lang="en-US" sz="690" dirty="0"/>
          </a:p>
        </p:txBody>
      </p:sp>
      <p:sp>
        <p:nvSpPr>
          <p:cNvPr id="28" name="Text 26"/>
          <p:cNvSpPr/>
          <p:nvPr/>
        </p:nvSpPr>
        <p:spPr>
          <a:xfrm>
            <a:off x="82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TC</a:t>
            </a:r>
            <a:pPr indent="0" marL="0">
              <a:buNone/>
            </a:pPr>
            <a:r>
              <a:rPr lang="en-US" sz="690" b="1" dirty="0">
                <a:solidFill>
                  <a:srgbClr val="67067C"/>
                </a:solidFill>
                <a:latin typeface="IBM Plex Sans" pitchFamily="34" charset="0"/>
                <a:ea typeface="IBM Plex Sans" pitchFamily="34" charset="-122"/>
                <a:cs typeface="IBM Plex Sans" pitchFamily="34" charset="-120"/>
              </a:rPr>
              <a:t>  40</a:t>
            </a:r>
            <a:pPr indent="0" marL="0">
              <a:buNone/>
            </a:pPr>
            <a:r>
              <a:rPr lang="en-US" sz="690" dirty="0">
                <a:solidFill>
                  <a:srgbClr val="46606E"/>
                </a:solidFill>
                <a:latin typeface="IBM Plex Sans" pitchFamily="34" charset="0"/>
                <a:ea typeface="IBM Plex Sans" pitchFamily="34" charset="-122"/>
                <a:cs typeface="IBM Plex Sans" pitchFamily="34" charset="-120"/>
              </a:rPr>
              <a:t>  67</a:t>
            </a:r>
            <a:endParaRPr lang="en-US" sz="690" dirty="0"/>
          </a:p>
        </p:txBody>
      </p:sp>
      <p:sp>
        <p:nvSpPr>
          <p:cNvPr id="29" name="Text 27"/>
          <p:cNvSpPr/>
          <p:nvPr/>
        </p:nvSpPr>
        <p:spPr>
          <a:xfrm>
            <a:off x="82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de Solemme</a:t>
            </a:r>
            <a:pPr indent="0" marL="0">
              <a:buNone/>
            </a:pPr>
            <a:r>
              <a:rPr lang="en-US" sz="690" b="1" dirty="0">
                <a:solidFill>
                  <a:srgbClr val="67067C"/>
                </a:solidFill>
                <a:latin typeface="IBM Plex Sans" pitchFamily="34" charset="0"/>
                <a:ea typeface="IBM Plex Sans" pitchFamily="34" charset="-122"/>
                <a:cs typeface="IBM Plex Sans" pitchFamily="34" charset="-120"/>
              </a:rPr>
              <a:t>  39</a:t>
            </a:r>
            <a:pPr indent="0" marL="0">
              <a:buNone/>
            </a:pP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30" name="Text 28"/>
          <p:cNvSpPr/>
          <p:nvPr/>
        </p:nvSpPr>
        <p:spPr>
          <a:xfrm>
            <a:off x="82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Blanc</a:t>
            </a:r>
            <a:pPr indent="0" marL="0">
              <a:buNone/>
            </a:pPr>
            <a:r>
              <a:rPr lang="en-US" sz="690" b="1" dirty="0">
                <a:solidFill>
                  <a:srgbClr val="67067C"/>
                </a:solidFill>
                <a:latin typeface="IBM Plex Sans" pitchFamily="34" charset="0"/>
                <a:ea typeface="IBM Plex Sans" pitchFamily="34" charset="-122"/>
                <a:cs typeface="IBM Plex Sans" pitchFamily="34" charset="-120"/>
              </a:rPr>
              <a:t>  38</a:t>
            </a:r>
            <a:pPr indent="0" marL="0">
              <a:buNone/>
            </a:pP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31" name="Text 29"/>
          <p:cNvSpPr/>
          <p:nvPr/>
        </p:nvSpPr>
        <p:spPr>
          <a:xfrm>
            <a:off x="82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Meunier</a:t>
            </a:r>
            <a:pPr indent="0" marL="0">
              <a:buNone/>
            </a:pPr>
            <a:r>
              <a:rPr lang="en-US" sz="690" b="1" dirty="0">
                <a:solidFill>
                  <a:srgbClr val="67067C"/>
                </a:solidFill>
                <a:latin typeface="IBM Plex Sans" pitchFamily="34" charset="0"/>
                <a:ea typeface="IBM Plex Sans" pitchFamily="34" charset="-122"/>
                <a:cs typeface="IBM Plex Sans" pitchFamily="34" charset="-120"/>
              </a:rPr>
              <a:t>  38</a:t>
            </a:r>
            <a:pPr indent="0" marL="0">
              <a:buNone/>
            </a:pP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32" name="Text 30"/>
          <p:cNvSpPr/>
          <p:nvPr/>
        </p:nvSpPr>
        <p:spPr>
          <a:xfrm>
            <a:off x="82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Noir</a:t>
            </a:r>
            <a:pPr indent="0" marL="0">
              <a:buNone/>
            </a:pPr>
            <a:r>
              <a:rPr lang="en-US" sz="690" b="1" dirty="0">
                <a:solidFill>
                  <a:srgbClr val="67067C"/>
                </a:solidFill>
                <a:latin typeface="IBM Plex Sans" pitchFamily="34" charset="0"/>
                <a:ea typeface="IBM Plex Sans" pitchFamily="34" charset="-122"/>
                <a:cs typeface="IBM Plex Sans" pitchFamily="34" charset="-120"/>
              </a:rPr>
              <a:t>  38</a:t>
            </a:r>
            <a:pPr indent="0" marL="0">
              <a:buNone/>
            </a:pP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33" name="Text 31"/>
          <p:cNvSpPr/>
          <p:nvPr/>
        </p:nvSpPr>
        <p:spPr>
          <a:xfrm>
            <a:off x="82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38</a:t>
            </a:r>
            <a:pPr indent="0" marL="0">
              <a:buNone/>
            </a:pP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34" name="Text 32"/>
          <p:cNvSpPr/>
          <p:nvPr/>
        </p:nvSpPr>
        <p:spPr>
          <a:xfrm>
            <a:off x="82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37,5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38</a:t>
            </a:r>
            <a:pPr indent="0" marL="0">
              <a:buNone/>
            </a:pP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35" name="Text 33"/>
          <p:cNvSpPr/>
          <p:nvPr/>
        </p:nvSpPr>
        <p:spPr>
          <a:xfrm>
            <a:off x="82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Demi-Sec</a:t>
            </a:r>
            <a:pPr indent="0" marL="0">
              <a:buNone/>
            </a:pPr>
            <a:r>
              <a:rPr lang="en-US" sz="690" b="1" dirty="0">
                <a:solidFill>
                  <a:srgbClr val="67067C"/>
                </a:solidFill>
                <a:latin typeface="IBM Plex Sans" pitchFamily="34" charset="0"/>
                <a:ea typeface="IBM Plex Sans" pitchFamily="34" charset="-122"/>
                <a:cs typeface="IBM Plex Sans" pitchFamily="34" charset="-120"/>
              </a:rPr>
              <a:t>  38</a:t>
            </a:r>
            <a:pPr indent="0" marL="0">
              <a:buNone/>
            </a:pP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36" name="Text 34"/>
          <p:cNvSpPr/>
          <p:nvPr/>
        </p:nvSpPr>
        <p:spPr>
          <a:xfrm>
            <a:off x="82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Extra-Dry</a:t>
            </a:r>
            <a:pPr indent="0" marL="0">
              <a:buNone/>
            </a:pPr>
            <a:r>
              <a:rPr lang="en-US" sz="690" b="1" dirty="0">
                <a:solidFill>
                  <a:srgbClr val="67067C"/>
                </a:solidFill>
                <a:latin typeface="IBM Plex Sans" pitchFamily="34" charset="0"/>
                <a:ea typeface="IBM Plex Sans" pitchFamily="34" charset="-122"/>
                <a:cs typeface="IBM Plex Sans" pitchFamily="34" charset="-120"/>
              </a:rPr>
              <a:t>  38</a:t>
            </a:r>
            <a:pPr indent="0" marL="0">
              <a:buNone/>
            </a:pP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37" name="Text 35"/>
          <p:cNvSpPr/>
          <p:nvPr/>
        </p:nvSpPr>
        <p:spPr>
          <a:xfrm>
            <a:off x="82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Voglonniers</a:t>
            </a:r>
            <a:pPr indent="0" marL="0">
              <a:buNone/>
            </a:pPr>
            <a:r>
              <a:rPr lang="en-US" sz="690" b="1" dirty="0">
                <a:solidFill>
                  <a:srgbClr val="67067C"/>
                </a:solidFill>
                <a:latin typeface="IBM Plex Sans" pitchFamily="34" charset="0"/>
                <a:ea typeface="IBM Plex Sans" pitchFamily="34" charset="-122"/>
                <a:cs typeface="IBM Plex Sans" pitchFamily="34" charset="-120"/>
              </a:rPr>
              <a:t>  37</a:t>
            </a:r>
            <a:pPr indent="0" marL="0">
              <a:buNone/>
            </a:pPr>
            <a:r>
              <a:rPr lang="en-US" sz="690" dirty="0">
                <a:solidFill>
                  <a:srgbClr val="46606E"/>
                </a:solidFill>
                <a:latin typeface="IBM Plex Sans" pitchFamily="34" charset="0"/>
                <a:ea typeface="IBM Plex Sans" pitchFamily="34" charset="-122"/>
                <a:cs typeface="IBM Plex Sans" pitchFamily="34" charset="-120"/>
              </a:rPr>
              <a:t>  64</a:t>
            </a:r>
            <a:endParaRPr lang="en-US" sz="690" dirty="0"/>
          </a:p>
        </p:txBody>
      </p:sp>
      <p:sp>
        <p:nvSpPr>
          <p:cNvPr id="38" name="Text 36"/>
          <p:cNvSpPr/>
          <p:nvPr/>
        </p:nvSpPr>
        <p:spPr>
          <a:xfrm>
            <a:off x="828000" y="577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BLANC</a:t>
            </a:r>
            <a:endParaRPr lang="en-US" sz="800" dirty="0"/>
          </a:p>
        </p:txBody>
      </p:sp>
      <p:sp>
        <p:nvSpPr>
          <p:cNvPr id="39" name="Text 37"/>
          <p:cNvSpPr/>
          <p:nvPr/>
        </p:nvSpPr>
        <p:spPr>
          <a:xfrm>
            <a:off x="82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24</a:t>
            </a:r>
            <a:pPr indent="0" marL="0">
              <a:buNone/>
            </a:pP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40" name="Text 38"/>
          <p:cNvSpPr/>
          <p:nvPr/>
        </p:nvSpPr>
        <p:spPr>
          <a:xfrm>
            <a:off x="82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Aillargues</a:t>
            </a:r>
            <a:pPr indent="0" marL="0">
              <a:buNone/>
            </a:pPr>
            <a:r>
              <a:rPr lang="en-US" sz="690" b="1" dirty="0">
                <a:solidFill>
                  <a:srgbClr val="67067C"/>
                </a:solidFill>
                <a:latin typeface="IBM Plex Sans" pitchFamily="34" charset="0"/>
                <a:ea typeface="IBM Plex Sans" pitchFamily="34" charset="-122"/>
                <a:cs typeface="IBM Plex Sans" pitchFamily="34" charset="-120"/>
              </a:rPr>
              <a:t>  35</a:t>
            </a:r>
            <a:pPr indent="0" marL="0">
              <a:buNone/>
            </a:pPr>
            <a:r>
              <a:rPr lang="en-US" sz="690" dirty="0">
                <a:solidFill>
                  <a:srgbClr val="46606E"/>
                </a:solidFill>
                <a:latin typeface="IBM Plex Sans" pitchFamily="34" charset="0"/>
                <a:ea typeface="IBM Plex Sans" pitchFamily="34" charset="-122"/>
                <a:cs typeface="IBM Plex Sans" pitchFamily="34" charset="-120"/>
              </a:rPr>
              <a:t>  60</a:t>
            </a:r>
            <a:endParaRPr lang="en-US" sz="690" dirty="0"/>
          </a:p>
        </p:txBody>
      </p:sp>
      <p:sp>
        <p:nvSpPr>
          <p:cNvPr id="41" name="Text 39"/>
          <p:cNvSpPr/>
          <p:nvPr/>
        </p:nvSpPr>
        <p:spPr>
          <a:xfrm>
            <a:off x="82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pPr indent="0" marL="0">
              <a:buNone/>
            </a:pPr>
            <a:r>
              <a:rPr lang="en-US" sz="690" b="1" dirty="0">
                <a:solidFill>
                  <a:srgbClr val="67067C"/>
                </a:solidFill>
                <a:latin typeface="IBM Plex Sans" pitchFamily="34" charset="0"/>
                <a:ea typeface="IBM Plex Sans" pitchFamily="34" charset="-122"/>
                <a:cs typeface="IBM Plex Sans" pitchFamily="34" charset="-120"/>
              </a:rPr>
              <a:t>  9</a:t>
            </a:r>
            <a:pPr indent="0" marL="0">
              <a:buNone/>
            </a:pP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42" name="Text 40"/>
          <p:cNvSpPr/>
          <p:nvPr/>
        </p:nvSpPr>
        <p:spPr>
          <a:xfrm>
            <a:off x="82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Chardonnay</a:t>
            </a:r>
            <a:pPr indent="0" marL="0">
              <a:buNone/>
            </a:pPr>
            <a:r>
              <a:rPr lang="en-US" sz="690" b="1" dirty="0">
                <a:solidFill>
                  <a:srgbClr val="67067C"/>
                </a:solidFill>
                <a:latin typeface="IBM Plex Sans" pitchFamily="34" charset="0"/>
                <a:ea typeface="IBM Plex Sans" pitchFamily="34" charset="-122"/>
                <a:cs typeface="IBM Plex Sans" pitchFamily="34" charset="-120"/>
              </a:rPr>
              <a:t>  9</a:t>
            </a:r>
            <a:pPr indent="0" marL="0">
              <a:buNone/>
            </a:pP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43" name="Text 41"/>
          <p:cNvSpPr/>
          <p:nvPr/>
        </p:nvSpPr>
        <p:spPr>
          <a:xfrm>
            <a:off x="82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20</a:t>
            </a:r>
            <a:pPr indent="0" marL="0">
              <a:buNone/>
            </a:pP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44" name="Text 42"/>
          <p:cNvSpPr/>
          <p:nvPr/>
        </p:nvSpPr>
        <p:spPr>
          <a:xfrm>
            <a:off x="2868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45" name="Text 43"/>
          <p:cNvSpPr/>
          <p:nvPr/>
        </p:nvSpPr>
        <p:spPr>
          <a:xfrm>
            <a:off x="286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 1er Cru</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46" name="Text 44"/>
          <p:cNvSpPr/>
          <p:nvPr/>
        </p:nvSpPr>
        <p:spPr>
          <a:xfrm>
            <a:off x="286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a:t>
            </a:r>
            <a:pPr indent="0" marL="0">
              <a:buNone/>
            </a:pPr>
            <a:r>
              <a:rPr lang="en-US" sz="690" b="1" dirty="0">
                <a:solidFill>
                  <a:srgbClr val="67067C"/>
                </a:solidFill>
                <a:latin typeface="IBM Plex Sans" pitchFamily="34" charset="0"/>
                <a:ea typeface="IBM Plex Sans" pitchFamily="34" charset="-122"/>
                <a:cs typeface="IBM Plex Sans" pitchFamily="34" charset="-120"/>
              </a:rPr>
              <a:t>  11</a:t>
            </a:r>
            <a:pPr indent="0" marL="0">
              <a:buNone/>
            </a:pP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7" name="Text 45"/>
          <p:cNvSpPr/>
          <p:nvPr/>
        </p:nvSpPr>
        <p:spPr>
          <a:xfrm>
            <a:off x="286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 Solutré-Pouilly</a:t>
            </a:r>
            <a:pPr indent="0" marL="0">
              <a:buNone/>
            </a:pPr>
            <a:r>
              <a:rPr lang="en-US" sz="690" b="1" dirty="0">
                <a:solidFill>
                  <a:srgbClr val="67067C"/>
                </a:solidFill>
                <a:latin typeface="IBM Plex Sans" pitchFamily="34" charset="0"/>
                <a:ea typeface="IBM Plex Sans" pitchFamily="34" charset="-122"/>
                <a:cs typeface="IBM Plex Sans" pitchFamily="34" charset="-120"/>
              </a:rPr>
              <a:t>  11</a:t>
            </a:r>
            <a:pPr indent="0" marL="0">
              <a:buNone/>
            </a:pP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8" name="Text 46"/>
          <p:cNvSpPr/>
          <p:nvPr/>
        </p:nvSpPr>
        <p:spPr>
          <a:xfrm>
            <a:off x="286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Mâcon-Villages</a:t>
            </a:r>
            <a:pPr indent="0" marL="0">
              <a:buNone/>
            </a:pPr>
            <a:r>
              <a:rPr lang="en-US" sz="690" b="1" dirty="0">
                <a:solidFill>
                  <a:srgbClr val="67067C"/>
                </a:solidFill>
                <a:latin typeface="IBM Plex Sans" pitchFamily="34" charset="0"/>
                <a:ea typeface="IBM Plex Sans" pitchFamily="34" charset="-122"/>
                <a:cs typeface="IBM Plex Sans" pitchFamily="34" charset="-120"/>
              </a:rPr>
              <a:t>  9</a:t>
            </a:r>
            <a:pPr indent="0" marL="0">
              <a:buNone/>
            </a:pP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49" name="Text 47"/>
          <p:cNvSpPr/>
          <p:nvPr/>
        </p:nvSpPr>
        <p:spPr>
          <a:xfrm>
            <a:off x="286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Menetou-Salon</a:t>
            </a:r>
            <a:pPr indent="0" marL="0">
              <a:buNone/>
            </a:pPr>
            <a:r>
              <a:rPr lang="en-US" sz="690" b="1" dirty="0">
                <a:solidFill>
                  <a:srgbClr val="67067C"/>
                </a:solidFill>
                <a:latin typeface="IBM Plex Sans" pitchFamily="34" charset="0"/>
                <a:ea typeface="IBM Plex Sans" pitchFamily="34" charset="-122"/>
                <a:cs typeface="IBM Plex Sans" pitchFamily="34" charset="-120"/>
              </a:rPr>
              <a:t>  6</a:t>
            </a:r>
            <a:pPr indent="0" marL="0">
              <a:buNone/>
            </a:pP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0" name="Text 48"/>
          <p:cNvSpPr/>
          <p:nvPr/>
        </p:nvSpPr>
        <p:spPr>
          <a:xfrm>
            <a:off x="286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Muscadet</a:t>
            </a:r>
            <a:pPr indent="0" marL="0">
              <a:buNone/>
            </a:pPr>
            <a:r>
              <a:rPr lang="en-US" sz="690" b="1" dirty="0">
                <a:solidFill>
                  <a:srgbClr val="67067C"/>
                </a:solidFill>
                <a:latin typeface="IBM Plex Sans" pitchFamily="34" charset="0"/>
                <a:ea typeface="IBM Plex Sans" pitchFamily="34" charset="-122"/>
                <a:cs typeface="IBM Plex Sans" pitchFamily="34" charset="-120"/>
              </a:rPr>
              <a:t>  3</a:t>
            </a:r>
            <a:pPr indent="0" marL="0">
              <a:buNone/>
            </a:pP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1" name="Text 49"/>
          <p:cNvSpPr/>
          <p:nvPr/>
        </p:nvSpPr>
        <p:spPr>
          <a:xfrm>
            <a:off x="286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Pacherenc du Vic-Bilh Sec</a:t>
            </a:r>
            <a:pPr indent="0" marL="0">
              <a:buNone/>
            </a:pPr>
            <a:r>
              <a:rPr lang="en-US" sz="690" b="1" dirty="0">
                <a:solidFill>
                  <a:srgbClr val="67067C"/>
                </a:solidFill>
                <a:latin typeface="IBM Plex Sans" pitchFamily="34" charset="0"/>
                <a:ea typeface="IBM Plex Sans" pitchFamily="34" charset="-122"/>
                <a:cs typeface="IBM Plex Sans" pitchFamily="34" charset="-120"/>
              </a:rPr>
              <a:t>  22</a:t>
            </a:r>
            <a:pPr indent="0" marL="0">
              <a:buNone/>
            </a:pP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52" name="Text 50"/>
          <p:cNvSpPr/>
          <p:nvPr/>
        </p:nvSpPr>
        <p:spPr>
          <a:xfrm>
            <a:off x="286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Petit Chablis</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53" name="Text 51"/>
          <p:cNvSpPr/>
          <p:nvPr/>
        </p:nvSpPr>
        <p:spPr>
          <a:xfrm>
            <a:off x="286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Pouilly-Fumé</a:t>
            </a:r>
            <a:pPr indent="0" marL="0">
              <a:buNone/>
            </a:pPr>
            <a:r>
              <a:rPr lang="en-US" sz="690" b="1" dirty="0">
                <a:solidFill>
                  <a:srgbClr val="67067C"/>
                </a:solidFill>
                <a:latin typeface="IBM Plex Sans" pitchFamily="34" charset="0"/>
                <a:ea typeface="IBM Plex Sans" pitchFamily="34" charset="-122"/>
                <a:cs typeface="IBM Plex Sans" pitchFamily="34" charset="-120"/>
              </a:rPr>
              <a:t>  6</a:t>
            </a:r>
            <a:pPr indent="0" marL="0">
              <a:buNone/>
            </a:pP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4" name="Text 52"/>
          <p:cNvSpPr/>
          <p:nvPr/>
        </p:nvSpPr>
        <p:spPr>
          <a:xfrm>
            <a:off x="286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Quincy</a:t>
            </a:r>
            <a:pPr indent="0" marL="0">
              <a:buNone/>
            </a:pPr>
            <a:r>
              <a:rPr lang="en-US" sz="690" b="1" dirty="0">
                <a:solidFill>
                  <a:srgbClr val="67067C"/>
                </a:solidFill>
                <a:latin typeface="IBM Plex Sans" pitchFamily="34" charset="0"/>
                <a:ea typeface="IBM Plex Sans" pitchFamily="34" charset="-122"/>
                <a:cs typeface="IBM Plex Sans" pitchFamily="34" charset="-120"/>
              </a:rPr>
              <a:t>  6</a:t>
            </a:r>
            <a:pPr indent="0" marL="0">
              <a:buNone/>
            </a:pP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5" name="Text 53"/>
          <p:cNvSpPr/>
          <p:nvPr/>
        </p:nvSpPr>
        <p:spPr>
          <a:xfrm>
            <a:off x="286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Saint-Bris</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56" name="Text 54"/>
          <p:cNvSpPr/>
          <p:nvPr/>
        </p:nvSpPr>
        <p:spPr>
          <a:xfrm>
            <a:off x="286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pPr indent="0" marL="0">
              <a:buNone/>
            </a:pPr>
            <a:r>
              <a:rPr lang="en-US" sz="690" b="1" dirty="0">
                <a:solidFill>
                  <a:srgbClr val="67067C"/>
                </a:solidFill>
                <a:latin typeface="IBM Plex Sans" pitchFamily="34" charset="0"/>
                <a:ea typeface="IBM Plex Sans" pitchFamily="34" charset="-122"/>
                <a:cs typeface="IBM Plex Sans" pitchFamily="34" charset="-120"/>
              </a:rPr>
              <a:t>  11</a:t>
            </a:r>
            <a:pPr indent="0" marL="0">
              <a:buNone/>
            </a:pP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57" name="Text 55"/>
          <p:cNvSpPr/>
          <p:nvPr/>
        </p:nvSpPr>
        <p:spPr>
          <a:xfrm>
            <a:off x="286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58" name="Text 56"/>
          <p:cNvSpPr/>
          <p:nvPr/>
        </p:nvSpPr>
        <p:spPr>
          <a:xfrm>
            <a:off x="286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2024/2025</a:t>
            </a:r>
            <a:pPr indent="0" marL="0">
              <a:buNone/>
            </a:pPr>
            <a:r>
              <a:rPr lang="en-US" sz="690" b="1" dirty="0">
                <a:solidFill>
                  <a:srgbClr val="67067C"/>
                </a:solidFill>
                <a:latin typeface="IBM Plex Sans" pitchFamily="34" charset="0"/>
                <a:ea typeface="IBM Plex Sans" pitchFamily="34" charset="-122"/>
                <a:cs typeface="IBM Plex Sans" pitchFamily="34" charset="-120"/>
              </a:rPr>
              <a:t>  6</a:t>
            </a:r>
            <a:pPr indent="0" marL="0">
              <a:buNone/>
            </a:pP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9" name="Text 57"/>
          <p:cNvSpPr/>
          <p:nvPr/>
        </p:nvSpPr>
        <p:spPr>
          <a:xfrm>
            <a:off x="286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Touraine Chenonceaux</a:t>
            </a:r>
            <a:pPr indent="0" marL="0">
              <a:buNone/>
            </a:pPr>
            <a:r>
              <a:rPr lang="en-US" sz="690" b="1" dirty="0">
                <a:solidFill>
                  <a:srgbClr val="67067C"/>
                </a:solidFill>
                <a:latin typeface="IBM Plex Sans" pitchFamily="34" charset="0"/>
                <a:ea typeface="IBM Plex Sans" pitchFamily="34" charset="-122"/>
                <a:cs typeface="IBM Plex Sans" pitchFamily="34" charset="-120"/>
              </a:rPr>
              <a:t>  6</a:t>
            </a:r>
            <a:pPr indent="0" marL="0">
              <a:buNone/>
            </a:pP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60" name="Text 58"/>
          <p:cNvSpPr/>
          <p:nvPr/>
        </p:nvSpPr>
        <p:spPr>
          <a:xfrm>
            <a:off x="286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Viré-Clessé</a:t>
            </a:r>
            <a:pPr indent="0" marL="0">
              <a:buNone/>
            </a:pPr>
            <a:r>
              <a:rPr lang="en-US" sz="690" b="1" dirty="0">
                <a:solidFill>
                  <a:srgbClr val="67067C"/>
                </a:solidFill>
                <a:latin typeface="IBM Plex Sans" pitchFamily="34" charset="0"/>
                <a:ea typeface="IBM Plex Sans" pitchFamily="34" charset="-122"/>
                <a:cs typeface="IBM Plex Sans" pitchFamily="34" charset="-120"/>
              </a:rPr>
              <a:t>  11</a:t>
            </a:r>
            <a:pPr indent="0" marL="0">
              <a:buNone/>
            </a:pP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1" name="Text 59"/>
          <p:cNvSpPr/>
          <p:nvPr/>
        </p:nvSpPr>
        <p:spPr>
          <a:xfrm>
            <a:off x="286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Beaune 1er Cru</a:t>
            </a:r>
            <a:pPr indent="0" marL="0">
              <a:buNone/>
            </a:pPr>
            <a:r>
              <a:rPr lang="en-US" sz="690" b="1" dirty="0">
                <a:solidFill>
                  <a:srgbClr val="67067C"/>
                </a:solidFill>
                <a:latin typeface="IBM Plex Sans" pitchFamily="34" charset="0"/>
                <a:ea typeface="IBM Plex Sans" pitchFamily="34" charset="-122"/>
                <a:cs typeface="IBM Plex Sans" pitchFamily="34" charset="-120"/>
              </a:rPr>
              <a:t>  10</a:t>
            </a:r>
            <a:pPr indent="0" marL="0">
              <a:buNone/>
            </a:pP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62" name="Text 60"/>
          <p:cNvSpPr/>
          <p:nvPr/>
        </p:nvSpPr>
        <p:spPr>
          <a:xfrm>
            <a:off x="286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Albas</a:t>
            </a:r>
            <a:pPr indent="0" marL="0">
              <a:buNone/>
            </a:pPr>
            <a:r>
              <a:rPr lang="en-US" sz="690" b="1" dirty="0">
                <a:solidFill>
                  <a:srgbClr val="67067C"/>
                </a:solidFill>
                <a:latin typeface="IBM Plex Sans" pitchFamily="34" charset="0"/>
                <a:ea typeface="IBM Plex Sans" pitchFamily="34" charset="-122"/>
                <a:cs typeface="IBM Plex Sans" pitchFamily="34" charset="-120"/>
              </a:rPr>
              <a:t>  36</a:t>
            </a:r>
            <a:pPr indent="0" marL="0">
              <a:buNone/>
            </a:pP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63" name="Text 61"/>
          <p:cNvSpPr/>
          <p:nvPr/>
        </p:nvSpPr>
        <p:spPr>
          <a:xfrm>
            <a:off x="286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SÉRAME</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64" name="Text 62"/>
          <p:cNvSpPr/>
          <p:nvPr/>
        </p:nvSpPr>
        <p:spPr>
          <a:xfrm>
            <a:off x="286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pPr indent="0" marL="0">
              <a:buNone/>
            </a:pPr>
            <a:r>
              <a:rPr lang="en-US" sz="690" b="1" dirty="0">
                <a:solidFill>
                  <a:srgbClr val="67067C"/>
                </a:solidFill>
                <a:latin typeface="IBM Plex Sans" pitchFamily="34" charset="0"/>
                <a:ea typeface="IBM Plex Sans" pitchFamily="34" charset="-122"/>
                <a:cs typeface="IBM Plex Sans" pitchFamily="34" charset="-120"/>
              </a:rPr>
              <a:t>  10</a:t>
            </a:r>
            <a:pPr indent="0" marL="0">
              <a:buNone/>
            </a:pP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65" name="Text 63"/>
          <p:cNvSpPr/>
          <p:nvPr/>
        </p:nvSpPr>
        <p:spPr>
          <a:xfrm>
            <a:off x="286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pPr indent="0" marL="0">
              <a:buNone/>
            </a:pPr>
            <a:r>
              <a:rPr lang="en-US" sz="690" b="1" dirty="0">
                <a:solidFill>
                  <a:srgbClr val="67067C"/>
                </a:solidFill>
                <a:latin typeface="IBM Plex Sans" pitchFamily="34" charset="0"/>
                <a:ea typeface="IBM Plex Sans" pitchFamily="34" charset="-122"/>
                <a:cs typeface="IBM Plex Sans" pitchFamily="34" charset="-120"/>
              </a:rPr>
              <a:t>  13</a:t>
            </a:r>
            <a:pPr indent="0" marL="0">
              <a:buNone/>
            </a:pP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66" name="Text 64"/>
          <p:cNvSpPr/>
          <p:nvPr/>
        </p:nvSpPr>
        <p:spPr>
          <a:xfrm>
            <a:off x="286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pPr indent="0" marL="0">
              <a:buNone/>
            </a:pPr>
            <a:r>
              <a:rPr lang="en-US" sz="690" b="1" dirty="0">
                <a:solidFill>
                  <a:srgbClr val="67067C"/>
                </a:solidFill>
                <a:latin typeface="IBM Plex Sans" pitchFamily="34" charset="0"/>
                <a:ea typeface="IBM Plex Sans" pitchFamily="34" charset="-122"/>
                <a:cs typeface="IBM Plex Sans" pitchFamily="34" charset="-120"/>
              </a:rPr>
              <a:t>  14</a:t>
            </a:r>
            <a:pPr indent="0" marL="0">
              <a:buNone/>
            </a:pPr>
            <a:r>
              <a:rPr lang="en-US" sz="690" dirty="0">
                <a:solidFill>
                  <a:srgbClr val="46606E"/>
                </a:solidFill>
                <a:latin typeface="IBM Plex Sans" pitchFamily="34" charset="0"/>
                <a:ea typeface="IBM Plex Sans" pitchFamily="34" charset="-122"/>
                <a:cs typeface="IBM Plex Sans" pitchFamily="34" charset="-120"/>
              </a:rPr>
              <a:t>  28</a:t>
            </a:r>
            <a:endParaRPr lang="en-US" sz="690" dirty="0"/>
          </a:p>
        </p:txBody>
      </p:sp>
      <p:sp>
        <p:nvSpPr>
          <p:cNvPr id="67" name="Text 65"/>
          <p:cNvSpPr/>
          <p:nvPr/>
        </p:nvSpPr>
        <p:spPr>
          <a:xfrm>
            <a:off x="286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pPr indent="0" marL="0">
              <a:buNone/>
            </a:pPr>
            <a:r>
              <a:rPr lang="en-US" sz="690" b="1" dirty="0">
                <a:solidFill>
                  <a:srgbClr val="67067C"/>
                </a:solidFill>
                <a:latin typeface="IBM Plex Sans" pitchFamily="34" charset="0"/>
                <a:ea typeface="IBM Plex Sans" pitchFamily="34" charset="-122"/>
                <a:cs typeface="IBM Plex Sans" pitchFamily="34" charset="-120"/>
              </a:rPr>
              <a:t>  13</a:t>
            </a:r>
            <a:pPr indent="0" marL="0">
              <a:buNone/>
            </a:pP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68" name="Text 66"/>
          <p:cNvSpPr/>
          <p:nvPr/>
        </p:nvSpPr>
        <p:spPr>
          <a:xfrm>
            <a:off x="286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pPr indent="0" marL="0">
              <a:buNone/>
            </a:pPr>
            <a:r>
              <a:rPr lang="en-US" sz="690" b="1" dirty="0">
                <a:solidFill>
                  <a:srgbClr val="67067C"/>
                </a:solidFill>
                <a:latin typeface="IBM Plex Sans" pitchFamily="34" charset="0"/>
                <a:ea typeface="IBM Plex Sans" pitchFamily="34" charset="-122"/>
                <a:cs typeface="IBM Plex Sans" pitchFamily="34" charset="-120"/>
              </a:rPr>
              <a:t>  14</a:t>
            </a:r>
            <a:pPr indent="0" marL="0">
              <a:buNone/>
            </a:pPr>
            <a:r>
              <a:rPr lang="en-US" sz="690" dirty="0">
                <a:solidFill>
                  <a:srgbClr val="46606E"/>
                </a:solidFill>
                <a:latin typeface="IBM Plex Sans" pitchFamily="34" charset="0"/>
                <a:ea typeface="IBM Plex Sans" pitchFamily="34" charset="-122"/>
                <a:cs typeface="IBM Plex Sans" pitchFamily="34" charset="-120"/>
              </a:rPr>
              <a:t>  28</a:t>
            </a:r>
            <a:endParaRPr lang="en-US" sz="690" dirty="0"/>
          </a:p>
        </p:txBody>
      </p:sp>
      <p:sp>
        <p:nvSpPr>
          <p:cNvPr id="69" name="Text 67"/>
          <p:cNvSpPr/>
          <p:nvPr/>
        </p:nvSpPr>
        <p:spPr>
          <a:xfrm>
            <a:off x="286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(Gewurztraminer)</a:t>
            </a:r>
            <a:pPr indent="0" marL="0">
              <a:buNone/>
            </a:pPr>
            <a:r>
              <a:rPr lang="en-US" sz="690" b="1" dirty="0">
                <a:solidFill>
                  <a:srgbClr val="67067C"/>
                </a:solidFill>
                <a:latin typeface="IBM Plex Sans" pitchFamily="34" charset="0"/>
                <a:ea typeface="IBM Plex Sans" pitchFamily="34" charset="-122"/>
                <a:cs typeface="IBM Plex Sans" pitchFamily="34" charset="-120"/>
              </a:rPr>
              <a:t>  8</a:t>
            </a:r>
            <a:pPr indent="0" marL="0">
              <a:buNone/>
            </a:pP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70" name="Text 68"/>
          <p:cNvSpPr/>
          <p:nvPr/>
        </p:nvSpPr>
        <p:spPr>
          <a:xfrm>
            <a:off x="286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(Riesling)</a:t>
            </a:r>
            <a:pPr indent="0" marL="0">
              <a:buNone/>
            </a:pPr>
            <a:r>
              <a:rPr lang="en-US" sz="690" b="1" dirty="0">
                <a:solidFill>
                  <a:srgbClr val="67067C"/>
                </a:solidFill>
                <a:latin typeface="IBM Plex Sans" pitchFamily="34" charset="0"/>
                <a:ea typeface="IBM Plex Sans" pitchFamily="34" charset="-122"/>
                <a:cs typeface="IBM Plex Sans" pitchFamily="34" charset="-120"/>
              </a:rPr>
              <a:t>  8</a:t>
            </a:r>
            <a:pPr indent="0" marL="0">
              <a:buNone/>
            </a:pP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71" name="Text 69"/>
          <p:cNvSpPr/>
          <p:nvPr/>
        </p:nvSpPr>
        <p:spPr>
          <a:xfrm>
            <a:off x="286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CARDUELIS</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72" name="Text 70"/>
          <p:cNvSpPr/>
          <p:nvPr/>
        </p:nvSpPr>
        <p:spPr>
          <a:xfrm>
            <a:off x="286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a:t>
            </a:r>
            <a:pPr indent="0" marL="0">
              <a:buNone/>
            </a:pPr>
            <a:r>
              <a:rPr lang="en-US" sz="690" b="1" dirty="0">
                <a:solidFill>
                  <a:srgbClr val="67067C"/>
                </a:solidFill>
                <a:latin typeface="IBM Plex Sans" pitchFamily="34" charset="0"/>
                <a:ea typeface="IBM Plex Sans" pitchFamily="34" charset="-122"/>
                <a:cs typeface="IBM Plex Sans" pitchFamily="34" charset="-120"/>
              </a:rPr>
              <a:t>  10</a:t>
            </a:r>
            <a:pPr indent="0" marL="0">
              <a:buNone/>
            </a:pP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73" name="Text 71"/>
          <p:cNvSpPr/>
          <p:nvPr/>
        </p:nvSpPr>
        <p:spPr>
          <a:xfrm>
            <a:off x="286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74" name="Text 72"/>
          <p:cNvSpPr/>
          <p:nvPr/>
        </p:nvSpPr>
        <p:spPr>
          <a:xfrm>
            <a:off x="286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à la Rouline</a:t>
            </a:r>
            <a:pPr indent="0" marL="0">
              <a:buNone/>
            </a:pPr>
            <a:r>
              <a:rPr lang="en-US" sz="690" b="1" dirty="0">
                <a:solidFill>
                  <a:srgbClr val="67067C"/>
                </a:solidFill>
                <a:latin typeface="IBM Plex Sans" pitchFamily="34" charset="0"/>
                <a:ea typeface="IBM Plex Sans" pitchFamily="34" charset="-122"/>
                <a:cs typeface="IBM Plex Sans" pitchFamily="34" charset="-120"/>
              </a:rPr>
              <a:t>  6</a:t>
            </a:r>
            <a:pPr indent="0" marL="0">
              <a:buNone/>
            </a:pP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5" name="Text 73"/>
          <p:cNvSpPr/>
          <p:nvPr/>
        </p:nvSpPr>
        <p:spPr>
          <a:xfrm>
            <a:off x="286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Marchand</a:t>
            </a:r>
            <a:pPr indent="0" marL="0">
              <a:buNone/>
            </a:pPr>
            <a:r>
              <a:rPr lang="en-US" sz="690" b="1" dirty="0">
                <a:solidFill>
                  <a:srgbClr val="67067C"/>
                </a:solidFill>
                <a:latin typeface="IBM Plex Sans" pitchFamily="34" charset="0"/>
                <a:ea typeface="IBM Plex Sans" pitchFamily="34" charset="-122"/>
                <a:cs typeface="IBM Plex Sans" pitchFamily="34" charset="-120"/>
              </a:rPr>
              <a:t>  6</a:t>
            </a:r>
            <a:pPr indent="0" marL="0">
              <a:buNone/>
            </a:pP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6" name="Text 74"/>
          <p:cNvSpPr/>
          <p:nvPr/>
        </p:nvSpPr>
        <p:spPr>
          <a:xfrm>
            <a:off x="286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Reyssier</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77" name="Text 75"/>
          <p:cNvSpPr/>
          <p:nvPr/>
        </p:nvSpPr>
        <p:spPr>
          <a:xfrm>
            <a:off x="2868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18</a:t>
            </a:r>
            <a:pPr indent="0" marL="0">
              <a:buNone/>
            </a:pP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78" name="Text 76"/>
          <p:cNvSpPr/>
          <p:nvPr/>
        </p:nvSpPr>
        <p:spPr>
          <a:xfrm>
            <a:off x="286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Courant – Chenin</a:t>
            </a:r>
            <a:pPr indent="0" marL="0">
              <a:buNone/>
            </a:pPr>
            <a:r>
              <a:rPr lang="en-US" sz="690" b="1" dirty="0">
                <a:solidFill>
                  <a:srgbClr val="67067C"/>
                </a:solidFill>
                <a:latin typeface="IBM Plex Sans" pitchFamily="34" charset="0"/>
                <a:ea typeface="IBM Plex Sans" pitchFamily="34" charset="-122"/>
                <a:cs typeface="IBM Plex Sans" pitchFamily="34" charset="-120"/>
              </a:rPr>
              <a:t>  5</a:t>
            </a:r>
            <a:pPr indent="0" marL="0">
              <a:buNone/>
            </a:pP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79" name="Text 77"/>
          <p:cNvSpPr/>
          <p:nvPr/>
        </p:nvSpPr>
        <p:spPr>
          <a:xfrm>
            <a:off x="286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CRU Mouzillon – Tillières</a:t>
            </a:r>
            <a:pPr indent="0" marL="0">
              <a:buNone/>
            </a:pPr>
            <a:r>
              <a:rPr lang="en-US" sz="690" b="1" dirty="0">
                <a:solidFill>
                  <a:srgbClr val="67067C"/>
                </a:solidFill>
                <a:latin typeface="IBM Plex Sans" pitchFamily="34" charset="0"/>
                <a:ea typeface="IBM Plex Sans" pitchFamily="34" charset="-122"/>
                <a:cs typeface="IBM Plex Sans" pitchFamily="34" charset="-120"/>
              </a:rPr>
              <a:t>  3</a:t>
            </a:r>
            <a:pPr indent="0" marL="0">
              <a:buNone/>
            </a:pP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0" name="Text 78"/>
          <p:cNvSpPr/>
          <p:nvPr/>
        </p:nvSpPr>
        <p:spPr>
          <a:xfrm>
            <a:off x="286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Denise</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81" name="Text 79"/>
          <p:cNvSpPr/>
          <p:nvPr/>
        </p:nvSpPr>
        <p:spPr>
          <a:xfrm>
            <a:off x="286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deux Colombes</a:t>
            </a:r>
            <a:pPr indent="0" marL="0">
              <a:buNone/>
            </a:pPr>
            <a:r>
              <a:rPr lang="en-US" sz="690" b="1" dirty="0">
                <a:solidFill>
                  <a:srgbClr val="67067C"/>
                </a:solidFill>
                <a:latin typeface="IBM Plex Sans" pitchFamily="34" charset="0"/>
                <a:ea typeface="IBM Plex Sans" pitchFamily="34" charset="-122"/>
                <a:cs typeface="IBM Plex Sans" pitchFamily="34" charset="-120"/>
              </a:rPr>
              <a:t>  3</a:t>
            </a:r>
            <a:pPr indent="0" marL="0">
              <a:buNone/>
            </a:pP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2" name="Text 80"/>
          <p:cNvSpPr/>
          <p:nvPr/>
        </p:nvSpPr>
        <p:spPr>
          <a:xfrm>
            <a:off x="286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domaine</a:t>
            </a:r>
            <a:pPr indent="0" marL="0">
              <a:buNone/>
            </a:pPr>
            <a:r>
              <a:rPr lang="en-US" sz="690" b="1" dirty="0">
                <a:solidFill>
                  <a:srgbClr val="67067C"/>
                </a:solidFill>
                <a:latin typeface="IBM Plex Sans" pitchFamily="34" charset="0"/>
                <a:ea typeface="IBM Plex Sans" pitchFamily="34" charset="-122"/>
                <a:cs typeface="IBM Plex Sans" pitchFamily="34" charset="-120"/>
              </a:rPr>
              <a:t>  3</a:t>
            </a:r>
            <a:pPr indent="0" marL="0">
              <a:buNone/>
            </a:pP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3" name="Text 81"/>
          <p:cNvSpPr/>
          <p:nvPr/>
        </p:nvSpPr>
        <p:spPr>
          <a:xfrm>
            <a:off x="4908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Fines Bulles</a:t>
            </a:r>
            <a:pPr indent="0" marL="0">
              <a:buNone/>
            </a:pPr>
            <a:r>
              <a:rPr lang="en-US" sz="690" b="1" dirty="0">
                <a:solidFill>
                  <a:srgbClr val="67067C"/>
                </a:solidFill>
                <a:latin typeface="IBM Plex Sans" pitchFamily="34" charset="0"/>
                <a:ea typeface="IBM Plex Sans" pitchFamily="34" charset="-122"/>
                <a:cs typeface="IBM Plex Sans" pitchFamily="34" charset="-120"/>
              </a:rPr>
              <a:t>  24</a:t>
            </a:r>
            <a:pPr indent="0" marL="0">
              <a:buNone/>
            </a:pP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84" name="Text 82"/>
          <p:cNvSpPr/>
          <p:nvPr/>
        </p:nvSpPr>
        <p:spPr>
          <a:xfrm>
            <a:off x="490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Graves Argileuses</a:t>
            </a:r>
            <a:pPr indent="0" marL="0">
              <a:buNone/>
            </a:pPr>
            <a:r>
              <a:rPr lang="en-US" sz="690" b="1" dirty="0">
                <a:solidFill>
                  <a:srgbClr val="67067C"/>
                </a:solidFill>
                <a:latin typeface="IBM Plex Sans" pitchFamily="34" charset="0"/>
                <a:ea typeface="IBM Plex Sans" pitchFamily="34" charset="-122"/>
                <a:cs typeface="IBM Plex Sans" pitchFamily="34" charset="-120"/>
              </a:rPr>
              <a:t>  1</a:t>
            </a:r>
            <a:pPr indent="0" marL="0">
              <a:buNone/>
            </a:pP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5" name="Text 83"/>
          <p:cNvSpPr/>
          <p:nvPr/>
        </p:nvSpPr>
        <p:spPr>
          <a:xfrm>
            <a:off x="490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Les Villaudes</a:t>
            </a:r>
            <a:pPr indent="0" marL="0">
              <a:buNone/>
            </a:pPr>
            <a:r>
              <a:rPr lang="en-US" sz="690" b="1" dirty="0">
                <a:solidFill>
                  <a:srgbClr val="67067C"/>
                </a:solidFill>
                <a:latin typeface="IBM Plex Sans" pitchFamily="34" charset="0"/>
                <a:ea typeface="IBM Plex Sans" pitchFamily="34" charset="-122"/>
                <a:cs typeface="IBM Plex Sans" pitchFamily="34" charset="-120"/>
              </a:rPr>
              <a:t>  1</a:t>
            </a:r>
            <a:pPr indent="0" marL="0">
              <a:buNone/>
            </a:pP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6" name="Text 84"/>
          <p:cNvSpPr/>
          <p:nvPr/>
        </p:nvSpPr>
        <p:spPr>
          <a:xfrm>
            <a:off x="490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Schistes Vert</a:t>
            </a:r>
            <a:pPr indent="0" marL="0">
              <a:buNone/>
            </a:pPr>
            <a:r>
              <a:rPr lang="en-US" sz="690" b="1" dirty="0">
                <a:solidFill>
                  <a:srgbClr val="67067C"/>
                </a:solidFill>
                <a:latin typeface="IBM Plex Sans" pitchFamily="34" charset="0"/>
                <a:ea typeface="IBM Plex Sans" pitchFamily="34" charset="-122"/>
                <a:cs typeface="IBM Plex Sans" pitchFamily="34" charset="-120"/>
              </a:rPr>
              <a:t>  1</a:t>
            </a:r>
            <a:pPr indent="0" marL="0">
              <a:buNone/>
            </a:pP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7" name="Text 85"/>
          <p:cNvSpPr/>
          <p:nvPr/>
        </p:nvSpPr>
        <p:spPr>
          <a:xfrm>
            <a:off x="490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Tuffeau</a:t>
            </a:r>
            <a:pPr indent="0" marL="0">
              <a:buNone/>
            </a:pPr>
            <a:r>
              <a:rPr lang="en-US" sz="690" b="1" dirty="0">
                <a:solidFill>
                  <a:srgbClr val="67067C"/>
                </a:solidFill>
                <a:latin typeface="IBM Plex Sans" pitchFamily="34" charset="0"/>
                <a:ea typeface="IBM Plex Sans" pitchFamily="34" charset="-122"/>
                <a:cs typeface="IBM Plex Sans" pitchFamily="34" charset="-120"/>
              </a:rPr>
              <a:t>  1</a:t>
            </a:r>
            <a:pPr indent="0" marL="0">
              <a:buNone/>
            </a:pP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8" name="Text 86"/>
          <p:cNvSpPr/>
          <p:nvPr/>
        </p:nvSpPr>
        <p:spPr>
          <a:xfrm>
            <a:off x="490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Grain de Blanc</a:t>
            </a:r>
            <a:pPr indent="0" marL="0">
              <a:buNone/>
            </a:pPr>
            <a:r>
              <a:rPr lang="en-US" sz="690" b="1" dirty="0">
                <a:solidFill>
                  <a:srgbClr val="67067C"/>
                </a:solidFill>
                <a:latin typeface="IBM Plex Sans" pitchFamily="34" charset="0"/>
                <a:ea typeface="IBM Plex Sans" pitchFamily="34" charset="-122"/>
                <a:cs typeface="IBM Plex Sans" pitchFamily="34" charset="-120"/>
              </a:rPr>
              <a:t>  34</a:t>
            </a:r>
            <a:pPr indent="0" marL="0">
              <a:buNone/>
            </a:pP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89" name="Text 87"/>
          <p:cNvSpPr/>
          <p:nvPr/>
        </p:nvSpPr>
        <p:spPr>
          <a:xfrm>
            <a:off x="490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(Riesling)</a:t>
            </a:r>
            <a:pPr indent="0" marL="0">
              <a:buNone/>
            </a:pPr>
            <a:r>
              <a:rPr lang="en-US" sz="690" b="1" dirty="0">
                <a:solidFill>
                  <a:srgbClr val="67067C"/>
                </a:solidFill>
                <a:latin typeface="IBM Plex Sans" pitchFamily="34" charset="0"/>
                <a:ea typeface="IBM Plex Sans" pitchFamily="34" charset="-122"/>
                <a:cs typeface="IBM Plex Sans" pitchFamily="34" charset="-120"/>
              </a:rPr>
              <a:t>  8</a:t>
            </a:r>
            <a:pPr indent="0" marL="0">
              <a:buNone/>
            </a:pP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90" name="Text 88"/>
          <p:cNvSpPr/>
          <p:nvPr/>
        </p:nvSpPr>
        <p:spPr>
          <a:xfrm>
            <a:off x="490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Hautes-Côtes</a:t>
            </a:r>
            <a:pPr indent="0" marL="0">
              <a:buNone/>
            </a:pPr>
            <a:r>
              <a:rPr lang="en-US" sz="690" b="1" dirty="0">
                <a:solidFill>
                  <a:srgbClr val="67067C"/>
                </a:solidFill>
                <a:latin typeface="IBM Plex Sans" pitchFamily="34" charset="0"/>
                <a:ea typeface="IBM Plex Sans" pitchFamily="34" charset="-122"/>
                <a:cs typeface="IBM Plex Sans" pitchFamily="34" charset="-120"/>
              </a:rPr>
              <a:t>  10</a:t>
            </a:r>
            <a:pPr indent="0" marL="0">
              <a:buNone/>
            </a:pP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91" name="Text 89"/>
          <p:cNvSpPr/>
          <p:nvPr/>
        </p:nvSpPr>
        <p:spPr>
          <a:xfrm>
            <a:off x="490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Holderhurst (Riesling)</a:t>
            </a:r>
            <a:pPr indent="0" marL="0">
              <a:buNone/>
            </a:pPr>
            <a:r>
              <a:rPr lang="en-US" sz="690" b="1" dirty="0">
                <a:solidFill>
                  <a:srgbClr val="67067C"/>
                </a:solidFill>
                <a:latin typeface="IBM Plex Sans" pitchFamily="34" charset="0"/>
                <a:ea typeface="IBM Plex Sans" pitchFamily="34" charset="-122"/>
                <a:cs typeface="IBM Plex Sans" pitchFamily="34" charset="-120"/>
              </a:rPr>
              <a:t>  8</a:t>
            </a:r>
            <a:pPr indent="0" marL="0">
              <a:buNone/>
            </a:pP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92" name="Text 90"/>
          <p:cNvSpPr/>
          <p:nvPr/>
        </p:nvSpPr>
        <p:spPr>
          <a:xfrm>
            <a:off x="490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Chardonnay</a:t>
            </a:r>
            <a:pPr indent="0" marL="0">
              <a:buNone/>
            </a:pPr>
            <a:r>
              <a:rPr lang="en-US" sz="690" b="1" dirty="0">
                <a:solidFill>
                  <a:srgbClr val="67067C"/>
                </a:solidFill>
                <a:latin typeface="IBM Plex Sans" pitchFamily="34" charset="0"/>
                <a:ea typeface="IBM Plex Sans" pitchFamily="34" charset="-122"/>
                <a:cs typeface="IBM Plex Sans" pitchFamily="34" charset="-120"/>
              </a:rPr>
              <a:t>  3</a:t>
            </a:r>
            <a:pPr indent="0" marL="0">
              <a:buNone/>
            </a:pP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3" name="Text 91"/>
          <p:cNvSpPr/>
          <p:nvPr/>
        </p:nvSpPr>
        <p:spPr>
          <a:xfrm>
            <a:off x="490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Sauvignon</a:t>
            </a:r>
            <a:pPr indent="0" marL="0">
              <a:buNone/>
            </a:pPr>
            <a:r>
              <a:rPr lang="en-US" sz="690" b="1" dirty="0">
                <a:solidFill>
                  <a:srgbClr val="67067C"/>
                </a:solidFill>
                <a:latin typeface="IBM Plex Sans" pitchFamily="34" charset="0"/>
                <a:ea typeface="IBM Plex Sans" pitchFamily="34" charset="-122"/>
                <a:cs typeface="IBM Plex Sans" pitchFamily="34" charset="-120"/>
              </a:rPr>
              <a:t>  3</a:t>
            </a:r>
            <a:pPr indent="0" marL="0">
              <a:buNone/>
            </a:pP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4" name="Text 92"/>
          <p:cNvSpPr/>
          <p:nvPr/>
        </p:nvSpPr>
        <p:spPr>
          <a:xfrm>
            <a:off x="490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Chenin</a:t>
            </a:r>
            <a:pPr indent="0" marL="0">
              <a:buNone/>
            </a:pPr>
            <a:r>
              <a:rPr lang="en-US" sz="690" b="1" dirty="0">
                <a:solidFill>
                  <a:srgbClr val="67067C"/>
                </a:solidFill>
                <a:latin typeface="IBM Plex Sans" pitchFamily="34" charset="0"/>
                <a:ea typeface="IBM Plex Sans" pitchFamily="34" charset="-122"/>
                <a:cs typeface="IBM Plex Sans" pitchFamily="34" charset="-120"/>
              </a:rPr>
              <a:t>  6</a:t>
            </a:r>
            <a:pPr indent="0" marL="0">
              <a:buNone/>
            </a:pP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5" name="Text 93"/>
          <p:cNvSpPr/>
          <p:nvPr/>
        </p:nvSpPr>
        <p:spPr>
          <a:xfrm>
            <a:off x="490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Sauvignon</a:t>
            </a:r>
            <a:pPr indent="0" marL="0">
              <a:buNone/>
            </a:pPr>
            <a:r>
              <a:rPr lang="en-US" sz="690" b="1" dirty="0">
                <a:solidFill>
                  <a:srgbClr val="67067C"/>
                </a:solidFill>
                <a:latin typeface="IBM Plex Sans" pitchFamily="34" charset="0"/>
                <a:ea typeface="IBM Plex Sans" pitchFamily="34" charset="-122"/>
                <a:cs typeface="IBM Plex Sans" pitchFamily="34" charset="-120"/>
              </a:rPr>
              <a:t>  6</a:t>
            </a:r>
            <a:pPr indent="0" marL="0">
              <a:buNone/>
            </a:pP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6" name="Text 94"/>
          <p:cNvSpPr/>
          <p:nvPr/>
        </p:nvSpPr>
        <p:spPr>
          <a:xfrm>
            <a:off x="490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97" name="Text 95"/>
          <p:cNvSpPr/>
          <p:nvPr/>
        </p:nvSpPr>
        <p:spPr>
          <a:xfrm>
            <a:off x="490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31</a:t>
            </a:r>
            <a:pPr indent="0" marL="0">
              <a:buNone/>
            </a:pP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98" name="Text 96"/>
          <p:cNvSpPr/>
          <p:nvPr/>
        </p:nvSpPr>
        <p:spPr>
          <a:xfrm>
            <a:off x="490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pPr indent="0" marL="0">
              <a:buNone/>
            </a:pPr>
            <a:r>
              <a:rPr lang="en-US" sz="690" b="1" dirty="0">
                <a:solidFill>
                  <a:srgbClr val="67067C"/>
                </a:solidFill>
                <a:latin typeface="IBM Plex Sans" pitchFamily="34" charset="0"/>
                <a:ea typeface="IBM Plex Sans" pitchFamily="34" charset="-122"/>
                <a:cs typeface="IBM Plex Sans" pitchFamily="34" charset="-120"/>
              </a:rPr>
              <a:t>  31</a:t>
            </a:r>
            <a:pPr indent="0" marL="0">
              <a:buNone/>
            </a:pP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99" name="Text 97"/>
          <p:cNvSpPr/>
          <p:nvPr/>
        </p:nvSpPr>
        <p:spPr>
          <a:xfrm>
            <a:off x="490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Chenin Blanc</a:t>
            </a:r>
            <a:pPr indent="0" marL="0">
              <a:buNone/>
            </a:pPr>
            <a:r>
              <a:rPr lang="en-US" sz="690" b="1" dirty="0">
                <a:solidFill>
                  <a:srgbClr val="67067C"/>
                </a:solidFill>
                <a:latin typeface="IBM Plex Sans" pitchFamily="34" charset="0"/>
                <a:ea typeface="IBM Plex Sans" pitchFamily="34" charset="-122"/>
                <a:cs typeface="IBM Plex Sans" pitchFamily="34" charset="-120"/>
              </a:rPr>
              <a:t>  1</a:t>
            </a:r>
            <a:pPr indent="0" marL="0">
              <a:buNone/>
            </a:pP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00" name="Text 98"/>
          <p:cNvSpPr/>
          <p:nvPr/>
        </p:nvSpPr>
        <p:spPr>
          <a:xfrm>
            <a:off x="490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MUSCARIS</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01" name="Text 99"/>
          <p:cNvSpPr/>
          <p:nvPr/>
        </p:nvSpPr>
        <p:spPr>
          <a:xfrm>
            <a:off x="490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Prestige de Beaulieu</a:t>
            </a:r>
            <a:pPr indent="0" marL="0">
              <a:buNone/>
            </a:pPr>
            <a:r>
              <a:rPr lang="en-US" sz="690" b="1" dirty="0">
                <a:solidFill>
                  <a:srgbClr val="67067C"/>
                </a:solidFill>
                <a:latin typeface="IBM Plex Sans" pitchFamily="34" charset="0"/>
                <a:ea typeface="IBM Plex Sans" pitchFamily="34" charset="-122"/>
                <a:cs typeface="IBM Plex Sans" pitchFamily="34" charset="-120"/>
              </a:rPr>
              <a:t>  3</a:t>
            </a:r>
            <a:pPr indent="0" marL="0">
              <a:buNone/>
            </a:pP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02" name="Text 100"/>
          <p:cNvSpPr/>
          <p:nvPr/>
        </p:nvSpPr>
        <p:spPr>
          <a:xfrm>
            <a:off x="490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Leimen (Sylvaner)</a:t>
            </a:r>
            <a:pPr indent="0" marL="0">
              <a:buNone/>
            </a:pPr>
            <a:r>
              <a:rPr lang="en-US" sz="690" b="1" dirty="0">
                <a:solidFill>
                  <a:srgbClr val="67067C"/>
                </a:solidFill>
                <a:latin typeface="IBM Plex Sans" pitchFamily="34" charset="0"/>
                <a:ea typeface="IBM Plex Sans" pitchFamily="34" charset="-122"/>
                <a:cs typeface="IBM Plex Sans" pitchFamily="34" charset="-120"/>
              </a:rPr>
              <a:t>  8</a:t>
            </a:r>
            <a:pPr indent="0" marL="0">
              <a:buNone/>
            </a:pP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103" name="Text 101"/>
          <p:cNvSpPr/>
          <p:nvPr/>
        </p:nvSpPr>
        <p:spPr>
          <a:xfrm>
            <a:off x="490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Amphibol</a:t>
            </a:r>
            <a:pPr indent="0" marL="0">
              <a:buNone/>
            </a:pPr>
            <a:r>
              <a:rPr lang="en-US" sz="690" b="1" dirty="0">
                <a:solidFill>
                  <a:srgbClr val="67067C"/>
                </a:solidFill>
                <a:latin typeface="IBM Plex Sans" pitchFamily="34" charset="0"/>
                <a:ea typeface="IBM Plex Sans" pitchFamily="34" charset="-122"/>
                <a:cs typeface="IBM Plex Sans" pitchFamily="34" charset="-120"/>
              </a:rPr>
              <a:t>  2</a:t>
            </a:r>
            <a:pPr indent="0" marL="0">
              <a:buNone/>
            </a:pP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04" name="Text 102"/>
          <p:cNvSpPr/>
          <p:nvPr/>
        </p:nvSpPr>
        <p:spPr>
          <a:xfrm>
            <a:off x="490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Folatières</a:t>
            </a:r>
            <a:pPr indent="0" marL="0">
              <a:buNone/>
            </a:pPr>
            <a:r>
              <a:rPr lang="en-US" sz="690" b="1" dirty="0">
                <a:solidFill>
                  <a:srgbClr val="67067C"/>
                </a:solidFill>
                <a:latin typeface="IBM Plex Sans" pitchFamily="34" charset="0"/>
                <a:ea typeface="IBM Plex Sans" pitchFamily="34" charset="-122"/>
                <a:cs typeface="IBM Plex Sans" pitchFamily="34" charset="-120"/>
              </a:rPr>
              <a:t>  10</a:t>
            </a:r>
            <a:pPr indent="0" marL="0">
              <a:buNone/>
            </a:pP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05" name="Text 103"/>
          <p:cNvSpPr/>
          <p:nvPr/>
        </p:nvSpPr>
        <p:spPr>
          <a:xfrm>
            <a:off x="490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Genièvres</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106" name="Text 104"/>
          <p:cNvSpPr/>
          <p:nvPr/>
        </p:nvSpPr>
        <p:spPr>
          <a:xfrm>
            <a:off x="490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Gorinières</a:t>
            </a:r>
            <a:pPr indent="0" marL="0">
              <a:buNone/>
            </a:pPr>
            <a:r>
              <a:rPr lang="en-US" sz="690" b="1" dirty="0">
                <a:solidFill>
                  <a:srgbClr val="67067C"/>
                </a:solidFill>
                <a:latin typeface="IBM Plex Sans" pitchFamily="34" charset="0"/>
                <a:ea typeface="IBM Plex Sans" pitchFamily="34" charset="-122"/>
                <a:cs typeface="IBM Plex Sans" pitchFamily="34" charset="-120"/>
              </a:rPr>
              <a:t>  2</a:t>
            </a:r>
            <a:pPr indent="0" marL="0">
              <a:buNone/>
            </a:pP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07" name="Text 105"/>
          <p:cNvSpPr/>
          <p:nvPr/>
        </p:nvSpPr>
        <p:spPr>
          <a:xfrm>
            <a:off x="490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Grands Charrons</a:t>
            </a:r>
            <a:pPr indent="0" marL="0">
              <a:buNone/>
            </a:pPr>
            <a:r>
              <a:rPr lang="en-US" sz="690" b="1" dirty="0">
                <a:solidFill>
                  <a:srgbClr val="67067C"/>
                </a:solidFill>
                <a:latin typeface="IBM Plex Sans" pitchFamily="34" charset="0"/>
                <a:ea typeface="IBM Plex Sans" pitchFamily="34" charset="-122"/>
                <a:cs typeface="IBM Plex Sans" pitchFamily="34" charset="-120"/>
              </a:rPr>
              <a:t>  10</a:t>
            </a:r>
            <a:pPr indent="0" marL="0">
              <a:buNone/>
            </a:pP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08" name="Text 106"/>
          <p:cNvSpPr/>
          <p:nvPr/>
        </p:nvSpPr>
        <p:spPr>
          <a:xfrm>
            <a:off x="490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Meix Chavaux</a:t>
            </a:r>
            <a:pPr indent="0" marL="0">
              <a:buNone/>
            </a:pPr>
            <a:r>
              <a:rPr lang="en-US" sz="690" b="1" dirty="0">
                <a:solidFill>
                  <a:srgbClr val="67067C"/>
                </a:solidFill>
                <a:latin typeface="IBM Plex Sans" pitchFamily="34" charset="0"/>
                <a:ea typeface="IBM Plex Sans" pitchFamily="34" charset="-122"/>
                <a:cs typeface="IBM Plex Sans" pitchFamily="34" charset="-120"/>
              </a:rPr>
              <a:t>  10</a:t>
            </a:r>
            <a:pPr indent="0" marL="0">
              <a:buNone/>
            </a:pP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09" name="Text 107"/>
          <p:cNvSpPr/>
          <p:nvPr/>
        </p:nvSpPr>
        <p:spPr>
          <a:xfrm>
            <a:off x="490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pPr indent="0" marL="0">
              <a:buNone/>
            </a:pPr>
            <a:r>
              <a:rPr lang="en-US" sz="690" b="1" dirty="0">
                <a:solidFill>
                  <a:srgbClr val="67067C"/>
                </a:solidFill>
                <a:latin typeface="IBM Plex Sans" pitchFamily="34" charset="0"/>
                <a:ea typeface="IBM Plex Sans" pitchFamily="34" charset="-122"/>
                <a:cs typeface="IBM Plex Sans" pitchFamily="34" charset="-120"/>
              </a:rPr>
              <a:t>  2</a:t>
            </a:r>
            <a:pPr indent="0" marL="0">
              <a:buNone/>
            </a:pP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10" name="Text 108"/>
          <p:cNvSpPr/>
          <p:nvPr/>
        </p:nvSpPr>
        <p:spPr>
          <a:xfrm>
            <a:off x="490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Blancs</a:t>
            </a:r>
            <a:pPr indent="0" marL="0">
              <a:buNone/>
            </a:pPr>
            <a:r>
              <a:rPr lang="en-US" sz="690" b="1" dirty="0">
                <a:solidFill>
                  <a:srgbClr val="67067C"/>
                </a:solidFill>
                <a:latin typeface="IBM Plex Sans" pitchFamily="34" charset="0"/>
                <a:ea typeface="IBM Plex Sans" pitchFamily="34" charset="-122"/>
                <a:cs typeface="IBM Plex Sans" pitchFamily="34" charset="-120"/>
              </a:rPr>
              <a:t>  6</a:t>
            </a:r>
            <a:pPr indent="0" marL="0">
              <a:buNone/>
            </a:pP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11" name="Text 109"/>
          <p:cNvSpPr/>
          <p:nvPr/>
        </p:nvSpPr>
        <p:spPr>
          <a:xfrm>
            <a:off x="490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Vireuils</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112" name="Text 110"/>
          <p:cNvSpPr/>
          <p:nvPr/>
        </p:nvSpPr>
        <p:spPr>
          <a:xfrm>
            <a:off x="490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Lise-Marie</a:t>
            </a:r>
            <a:pPr indent="0" marL="0">
              <a:buNone/>
            </a:pPr>
            <a:r>
              <a:rPr lang="en-US" sz="690" b="1" dirty="0">
                <a:solidFill>
                  <a:srgbClr val="67067C"/>
                </a:solidFill>
                <a:latin typeface="IBM Plex Sans" pitchFamily="34" charset="0"/>
                <a:ea typeface="IBM Plex Sans" pitchFamily="34" charset="-122"/>
                <a:cs typeface="IBM Plex Sans" pitchFamily="34" charset="-120"/>
              </a:rPr>
              <a:t>  11</a:t>
            </a:r>
            <a:pPr indent="0" marL="0">
              <a:buNone/>
            </a:pP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113" name="Text 111"/>
          <p:cNvSpPr/>
          <p:nvPr/>
        </p:nvSpPr>
        <p:spPr>
          <a:xfrm>
            <a:off x="490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Chardonnay</a:t>
            </a:r>
            <a:pPr indent="0" marL="0">
              <a:buNone/>
            </a:pPr>
            <a:r>
              <a:rPr lang="en-US" sz="690" b="1" dirty="0">
                <a:solidFill>
                  <a:srgbClr val="67067C"/>
                </a:solidFill>
                <a:latin typeface="IBM Plex Sans" pitchFamily="34" charset="0"/>
                <a:ea typeface="IBM Plex Sans" pitchFamily="34" charset="-122"/>
                <a:cs typeface="IBM Plex Sans" pitchFamily="34" charset="-120"/>
              </a:rPr>
              <a:t>  15</a:t>
            </a:r>
            <a:pPr indent="0" marL="0">
              <a:buNone/>
            </a:pP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4" name="Text 112"/>
          <p:cNvSpPr/>
          <p:nvPr/>
        </p:nvSpPr>
        <p:spPr>
          <a:xfrm>
            <a:off x="490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15</a:t>
            </a:r>
            <a:pPr indent="0" marL="0">
              <a:buNone/>
            </a:pP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5" name="Text 113"/>
          <p:cNvSpPr/>
          <p:nvPr/>
        </p:nvSpPr>
        <p:spPr>
          <a:xfrm>
            <a:off x="490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Marnes Kimméridgiennes</a:t>
            </a:r>
            <a:pPr indent="0" marL="0">
              <a:buNone/>
            </a:pPr>
            <a:r>
              <a:rPr lang="en-US" sz="690" b="1" dirty="0">
                <a:solidFill>
                  <a:srgbClr val="67067C"/>
                </a:solidFill>
                <a:latin typeface="IBM Plex Sans" pitchFamily="34" charset="0"/>
                <a:ea typeface="IBM Plex Sans" pitchFamily="34" charset="-122"/>
                <a:cs typeface="IBM Plex Sans" pitchFamily="34" charset="-120"/>
              </a:rPr>
              <a:t>  6</a:t>
            </a:r>
            <a:pPr indent="0" marL="0">
              <a:buNone/>
            </a:pP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16" name="Text 114"/>
          <p:cNvSpPr/>
          <p:nvPr/>
        </p:nvSpPr>
        <p:spPr>
          <a:xfrm>
            <a:off x="4908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Blanc (Assemblage)</a:t>
            </a:r>
            <a:pPr indent="0" marL="0">
              <a:buNone/>
            </a:pPr>
            <a:r>
              <a:rPr lang="en-US" sz="690" b="1" dirty="0">
                <a:solidFill>
                  <a:srgbClr val="67067C"/>
                </a:solidFill>
                <a:latin typeface="IBM Plex Sans" pitchFamily="34" charset="0"/>
                <a:ea typeface="IBM Plex Sans" pitchFamily="34" charset="-122"/>
                <a:cs typeface="IBM Plex Sans" pitchFamily="34" charset="-120"/>
              </a:rPr>
              <a:t>  8</a:t>
            </a:r>
            <a:pPr indent="0" marL="0">
              <a:buNone/>
            </a:pP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117" name="Text 115"/>
          <p:cNvSpPr/>
          <p:nvPr/>
        </p:nvSpPr>
        <p:spPr>
          <a:xfrm>
            <a:off x="490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 Littorine</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8" name="Text 116"/>
          <p:cNvSpPr/>
          <p:nvPr/>
        </p:nvSpPr>
        <p:spPr>
          <a:xfrm>
            <a:off x="490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Amande</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9" name="Text 117"/>
          <p:cNvSpPr/>
          <p:nvPr/>
        </p:nvSpPr>
        <p:spPr>
          <a:xfrm>
            <a:off x="490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N°6 Fossiles</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20" name="Text 118"/>
          <p:cNvSpPr/>
          <p:nvPr/>
        </p:nvSpPr>
        <p:spPr>
          <a:xfrm>
            <a:off x="490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OENA</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21" name="Text 119"/>
          <p:cNvSpPr/>
          <p:nvPr/>
        </p:nvSpPr>
        <p:spPr>
          <a:xfrm>
            <a:off x="490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22" name="Text 1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68</a:t>
            </a:r>
            <a:endParaRPr lang="en-US" sz="750" dirty="0"/>
          </a:p>
        </p:txBody>
      </p:sp>
      <p:sp>
        <p:nvSpPr>
          <p:cNvPr id="123" name="Text 1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Valoux</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3" name="Text 1"/>
          <p:cNvSpPr/>
          <p:nvPr/>
        </p:nvSpPr>
        <p:spPr>
          <a:xfrm>
            <a:off x="61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Pfann (Pinot Gris)</a:t>
            </a:r>
            <a:pPr indent="0" marL="0">
              <a:buNone/>
            </a:pPr>
            <a:r>
              <a:rPr lang="en-US" sz="690" b="1" dirty="0">
                <a:solidFill>
                  <a:srgbClr val="67067C"/>
                </a:solidFill>
                <a:latin typeface="IBM Plex Sans" pitchFamily="34" charset="0"/>
                <a:ea typeface="IBM Plex Sans" pitchFamily="34" charset="-122"/>
                <a:cs typeface="IBM Plex Sans" pitchFamily="34" charset="-120"/>
              </a:rPr>
              <a:t>  8</a:t>
            </a:r>
            <a:pPr indent="0" marL="0">
              <a:buNone/>
            </a:pP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4" name="Text 2"/>
          <p:cNvSpPr/>
          <p:nvPr/>
        </p:nvSpPr>
        <p:spPr>
          <a:xfrm>
            <a:off x="61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Pouilly</a:t>
            </a:r>
            <a:pPr indent="0" marL="0">
              <a:buNone/>
            </a:pPr>
            <a:r>
              <a:rPr lang="en-US" sz="690" b="1" dirty="0">
                <a:solidFill>
                  <a:srgbClr val="67067C"/>
                </a:solidFill>
                <a:latin typeface="IBM Plex Sans" pitchFamily="34" charset="0"/>
                <a:ea typeface="IBM Plex Sans" pitchFamily="34" charset="-122"/>
                <a:cs typeface="IBM Plex Sans" pitchFamily="34" charset="-120"/>
              </a:rPr>
              <a:t>  11</a:t>
            </a:r>
            <a:pPr indent="0" marL="0">
              <a:buNone/>
            </a:pP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5" name="Text 3"/>
          <p:cNvSpPr/>
          <p:nvPr/>
        </p:nvSpPr>
        <p:spPr>
          <a:xfrm>
            <a:off x="61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 Fleur</a:t>
            </a:r>
            <a:pPr indent="0" marL="0">
              <a:buNone/>
            </a:pPr>
            <a:r>
              <a:rPr lang="en-US" sz="690" b="1" dirty="0">
                <a:solidFill>
                  <a:srgbClr val="67067C"/>
                </a:solidFill>
                <a:latin typeface="IBM Plex Sans" pitchFamily="34" charset="0"/>
                <a:ea typeface="IBM Plex Sans" pitchFamily="34" charset="-122"/>
                <a:cs typeface="IBM Plex Sans" pitchFamily="34" charset="-120"/>
              </a:rPr>
              <a:t>  17</a:t>
            </a:r>
            <a:pPr indent="0" marL="0">
              <a:buNone/>
            </a:pP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6" name="Text 4"/>
          <p:cNvSpPr/>
          <p:nvPr/>
        </p:nvSpPr>
        <p:spPr>
          <a:xfrm>
            <a:off x="61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Promenade des Noëls</a:t>
            </a:r>
            <a:pPr indent="0" marL="0">
              <a:buNone/>
            </a:pPr>
            <a:r>
              <a:rPr lang="en-US" sz="690" b="1" dirty="0">
                <a:solidFill>
                  <a:srgbClr val="67067C"/>
                </a:solidFill>
                <a:latin typeface="IBM Plex Sans" pitchFamily="34" charset="0"/>
                <a:ea typeface="IBM Plex Sans" pitchFamily="34" charset="-122"/>
                <a:cs typeface="IBM Plex Sans" pitchFamily="34" charset="-120"/>
              </a:rPr>
              <a:t>  4</a:t>
            </a:r>
            <a:pPr indent="0" marL="0">
              <a:buNone/>
            </a:pP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 name="Text 5"/>
          <p:cNvSpPr/>
          <p:nvPr/>
        </p:nvSpPr>
        <p:spPr>
          <a:xfrm>
            <a:off x="61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Anastasie</a:t>
            </a:r>
            <a:pPr indent="0" marL="0">
              <a:buNone/>
            </a:pPr>
            <a:r>
              <a:rPr lang="en-US" sz="690" b="1" dirty="0">
                <a:solidFill>
                  <a:srgbClr val="67067C"/>
                </a:solidFill>
                <a:latin typeface="IBM Plex Sans" pitchFamily="34" charset="0"/>
                <a:ea typeface="IBM Plex Sans" pitchFamily="34" charset="-122"/>
                <a:cs typeface="IBM Plex Sans" pitchFamily="34" charset="-120"/>
              </a:rPr>
              <a:t>  35</a:t>
            </a:r>
            <a:pPr indent="0" marL="0">
              <a:buNone/>
            </a:pPr>
            <a:r>
              <a:rPr lang="en-US" sz="690" dirty="0">
                <a:solidFill>
                  <a:srgbClr val="46606E"/>
                </a:solidFill>
                <a:latin typeface="IBM Plex Sans" pitchFamily="34" charset="0"/>
                <a:ea typeface="IBM Plex Sans" pitchFamily="34" charset="-122"/>
                <a:cs typeface="IBM Plex Sans" pitchFamily="34" charset="-120"/>
              </a:rPr>
              <a:t>  60</a:t>
            </a:r>
            <a:endParaRPr lang="en-US" sz="690" dirty="0"/>
          </a:p>
        </p:txBody>
      </p:sp>
      <p:sp>
        <p:nvSpPr>
          <p:cNvPr id="8" name="Text 6"/>
          <p:cNvSpPr/>
          <p:nvPr/>
        </p:nvSpPr>
        <p:spPr>
          <a:xfrm>
            <a:off x="61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31</a:t>
            </a:r>
            <a:pPr indent="0" marL="0">
              <a:buNone/>
            </a:pP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9" name="Text 7"/>
          <p:cNvSpPr/>
          <p:nvPr/>
        </p:nvSpPr>
        <p:spPr>
          <a:xfrm>
            <a:off x="61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pPr indent="0" marL="0">
              <a:buNone/>
            </a:pPr>
            <a:r>
              <a:rPr lang="en-US" sz="690" b="1" dirty="0">
                <a:solidFill>
                  <a:srgbClr val="67067C"/>
                </a:solidFill>
                <a:latin typeface="IBM Plex Sans" pitchFamily="34" charset="0"/>
                <a:ea typeface="IBM Plex Sans" pitchFamily="34" charset="-122"/>
                <a:cs typeface="IBM Plex Sans" pitchFamily="34" charset="-120"/>
              </a:rPr>
              <a:t>  4</a:t>
            </a:r>
            <a:pPr indent="0" marL="0">
              <a:buNone/>
            </a:pP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0" name="Text 8"/>
          <p:cNvSpPr/>
          <p:nvPr/>
        </p:nvSpPr>
        <p:spPr>
          <a:xfrm>
            <a:off x="61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9,5°</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1" name="Text 9"/>
          <p:cNvSpPr/>
          <p:nvPr/>
        </p:nvSpPr>
        <p:spPr>
          <a:xfrm>
            <a:off x="61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Signature</a:t>
            </a:r>
            <a:pPr indent="0" marL="0">
              <a:buNone/>
            </a:pPr>
            <a:r>
              <a:rPr lang="en-US" sz="690" b="1" dirty="0">
                <a:solidFill>
                  <a:srgbClr val="67067C"/>
                </a:solidFill>
                <a:latin typeface="IBM Plex Sans" pitchFamily="34" charset="0"/>
                <a:ea typeface="IBM Plex Sans" pitchFamily="34" charset="-122"/>
                <a:cs typeface="IBM Plex Sans" pitchFamily="34" charset="-120"/>
              </a:rPr>
              <a:t>  11</a:t>
            </a:r>
            <a:pPr indent="0" marL="0">
              <a:buNone/>
            </a:pP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12" name="Text 10"/>
          <p:cNvSpPr/>
          <p:nvPr/>
        </p:nvSpPr>
        <p:spPr>
          <a:xfrm>
            <a:off x="61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Silex</a:t>
            </a:r>
            <a:pPr indent="0" marL="0">
              <a:buNone/>
            </a:pPr>
            <a:r>
              <a:rPr lang="en-US" sz="690" b="1" dirty="0">
                <a:solidFill>
                  <a:srgbClr val="67067C"/>
                </a:solidFill>
                <a:latin typeface="IBM Plex Sans" pitchFamily="34" charset="0"/>
                <a:ea typeface="IBM Plex Sans" pitchFamily="34" charset="-122"/>
                <a:cs typeface="IBM Plex Sans" pitchFamily="34" charset="-120"/>
              </a:rPr>
              <a:t>  6</a:t>
            </a:r>
            <a:pPr indent="0" marL="0">
              <a:buNone/>
            </a:pP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3" name="Text 11"/>
          <p:cNvSpPr/>
          <p:nvPr/>
        </p:nvSpPr>
        <p:spPr>
          <a:xfrm>
            <a:off x="61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Solera</a:t>
            </a:r>
            <a:pPr indent="0" marL="0">
              <a:buNone/>
            </a:pPr>
            <a:r>
              <a:rPr lang="en-US" sz="690" b="1" dirty="0">
                <a:solidFill>
                  <a:srgbClr val="67067C"/>
                </a:solidFill>
                <a:latin typeface="IBM Plex Sans" pitchFamily="34" charset="0"/>
                <a:ea typeface="IBM Plex Sans" pitchFamily="34" charset="-122"/>
                <a:cs typeface="IBM Plex Sans" pitchFamily="34" charset="-120"/>
              </a:rPr>
              <a:t>  17</a:t>
            </a:r>
            <a:pPr indent="0" marL="0">
              <a:buNone/>
            </a:pP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4" name="Text 12"/>
          <p:cNvSpPr/>
          <p:nvPr/>
        </p:nvSpPr>
        <p:spPr>
          <a:xfrm>
            <a:off x="61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Source – Melon B.</a:t>
            </a:r>
            <a:pPr indent="0" marL="0">
              <a:buNone/>
            </a:pPr>
            <a:r>
              <a:rPr lang="en-US" sz="690" b="1" dirty="0">
                <a:solidFill>
                  <a:srgbClr val="67067C"/>
                </a:solidFill>
                <a:latin typeface="IBM Plex Sans" pitchFamily="34" charset="0"/>
                <a:ea typeface="IBM Plex Sans" pitchFamily="34" charset="-122"/>
                <a:cs typeface="IBM Plex Sans" pitchFamily="34" charset="-120"/>
              </a:rPr>
              <a:t>  5</a:t>
            </a:r>
            <a:pPr indent="0" marL="0">
              <a:buNone/>
            </a:pP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15" name="Text 13"/>
          <p:cNvSpPr/>
          <p:nvPr/>
        </p:nvSpPr>
        <p:spPr>
          <a:xfrm>
            <a:off x="61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Sous le Château</a:t>
            </a:r>
            <a:pPr indent="0" marL="0">
              <a:buNone/>
            </a:pPr>
            <a:r>
              <a:rPr lang="en-US" sz="690" b="1" dirty="0">
                <a:solidFill>
                  <a:srgbClr val="67067C"/>
                </a:solidFill>
                <a:latin typeface="IBM Plex Sans" pitchFamily="34" charset="0"/>
                <a:ea typeface="IBM Plex Sans" pitchFamily="34" charset="-122"/>
                <a:cs typeface="IBM Plex Sans" pitchFamily="34" charset="-120"/>
              </a:rPr>
              <a:t>  10</a:t>
            </a:r>
            <a:pPr indent="0" marL="0">
              <a:buNone/>
            </a:pP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6" name="Text 14"/>
          <p:cNvSpPr/>
          <p:nvPr/>
        </p:nvSpPr>
        <p:spPr>
          <a:xfrm>
            <a:off x="61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Taubenstein (Pinot Blanc)</a:t>
            </a:r>
            <a:pPr indent="0" marL="0">
              <a:buNone/>
            </a:pPr>
            <a:r>
              <a:rPr lang="en-US" sz="690" b="1" dirty="0">
                <a:solidFill>
                  <a:srgbClr val="67067C"/>
                </a:solidFill>
                <a:latin typeface="IBM Plex Sans" pitchFamily="34" charset="0"/>
                <a:ea typeface="IBM Plex Sans" pitchFamily="34" charset="-122"/>
                <a:cs typeface="IBM Plex Sans" pitchFamily="34" charset="-120"/>
              </a:rPr>
              <a:t>  8</a:t>
            </a:r>
            <a:pPr indent="0" marL="0">
              <a:buNone/>
            </a:pP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17" name="Text 15"/>
          <p:cNvSpPr/>
          <p:nvPr/>
        </p:nvSpPr>
        <p:spPr>
          <a:xfrm>
            <a:off x="61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19</a:t>
            </a:r>
            <a:pPr indent="0" marL="0">
              <a:buNone/>
            </a:pP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8" name="Text 16"/>
          <p:cNvSpPr/>
          <p:nvPr/>
        </p:nvSpPr>
        <p:spPr>
          <a:xfrm>
            <a:off x="61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Thomen (Assemblage)</a:t>
            </a:r>
            <a:pPr indent="0" marL="0">
              <a:buNone/>
            </a:pPr>
            <a:r>
              <a:rPr lang="en-US" sz="690" b="1" dirty="0">
                <a:solidFill>
                  <a:srgbClr val="67067C"/>
                </a:solidFill>
                <a:latin typeface="IBM Plex Sans" pitchFamily="34" charset="0"/>
                <a:ea typeface="IBM Plex Sans" pitchFamily="34" charset="-122"/>
                <a:cs typeface="IBM Plex Sans" pitchFamily="34" charset="-120"/>
              </a:rPr>
              <a:t>  8</a:t>
            </a:r>
            <a:pPr indent="0" marL="0">
              <a:buNone/>
            </a:pP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19" name="Text 17"/>
          <p:cNvSpPr/>
          <p:nvPr/>
        </p:nvSpPr>
        <p:spPr>
          <a:xfrm>
            <a:off x="61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21</a:t>
            </a:r>
            <a:pPr indent="0" marL="0">
              <a:buNone/>
            </a:pP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20" name="Text 18"/>
          <p:cNvSpPr/>
          <p:nvPr/>
        </p:nvSpPr>
        <p:spPr>
          <a:xfrm>
            <a:off x="61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16</a:t>
            </a:r>
            <a:pPr indent="0" marL="0">
              <a:buNone/>
            </a:pP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21" name="Text 19"/>
          <p:cNvSpPr/>
          <p:nvPr/>
        </p:nvSpPr>
        <p:spPr>
          <a:xfrm>
            <a:off x="61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a:t>
            </a:r>
            <a:pPr indent="0" marL="0">
              <a:buNone/>
            </a:pPr>
            <a:r>
              <a:rPr lang="en-US" sz="690" b="1" dirty="0">
                <a:solidFill>
                  <a:srgbClr val="67067C"/>
                </a:solidFill>
                <a:latin typeface="IBM Plex Sans" pitchFamily="34" charset="0"/>
                <a:ea typeface="IBM Plex Sans" pitchFamily="34" charset="-122"/>
                <a:cs typeface="IBM Plex Sans" pitchFamily="34" charset="-120"/>
              </a:rPr>
              <a:t>  19</a:t>
            </a:r>
            <a:pPr indent="0" marL="0">
              <a:buNone/>
            </a:pP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22" name="Text 20"/>
          <p:cNvSpPr/>
          <p:nvPr/>
        </p:nvSpPr>
        <p:spPr>
          <a:xfrm>
            <a:off x="61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Vins du Val de Loire</a:t>
            </a:r>
            <a:pPr indent="0" marL="0">
              <a:buNone/>
            </a:pPr>
            <a:r>
              <a:rPr lang="en-US" sz="690" b="1" dirty="0">
                <a:solidFill>
                  <a:srgbClr val="67067C"/>
                </a:solidFill>
                <a:latin typeface="IBM Plex Sans" pitchFamily="34" charset="0"/>
                <a:ea typeface="IBM Plex Sans" pitchFamily="34" charset="-122"/>
                <a:cs typeface="IBM Plex Sans" pitchFamily="34" charset="-120"/>
              </a:rPr>
              <a:t>  3</a:t>
            </a:r>
            <a:pPr indent="0" marL="0">
              <a:buNone/>
            </a:pP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23" name="Text 21"/>
          <p:cNvSpPr/>
          <p:nvPr/>
        </p:nvSpPr>
        <p:spPr>
          <a:xfrm>
            <a:off x="61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Vintage</a:t>
            </a:r>
            <a:pPr indent="0" marL="0">
              <a:buNone/>
            </a:pPr>
            <a:r>
              <a:rPr lang="en-US" sz="690" b="1" dirty="0">
                <a:solidFill>
                  <a:srgbClr val="67067C"/>
                </a:solidFill>
                <a:latin typeface="IBM Plex Sans" pitchFamily="34" charset="0"/>
                <a:ea typeface="IBM Plex Sans" pitchFamily="34" charset="-122"/>
                <a:cs typeface="IBM Plex Sans" pitchFamily="34" charset="-120"/>
              </a:rPr>
              <a:t>  17</a:t>
            </a:r>
            <a:pPr indent="0" marL="0">
              <a:buNone/>
            </a:pP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24" name="Text 22"/>
          <p:cNvSpPr/>
          <p:nvPr/>
        </p:nvSpPr>
        <p:spPr>
          <a:xfrm>
            <a:off x="612000" y="331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ROSÉ</a:t>
            </a:r>
            <a:endParaRPr lang="en-US" sz="800" dirty="0"/>
          </a:p>
        </p:txBody>
      </p:sp>
      <p:sp>
        <p:nvSpPr>
          <p:cNvPr id="25" name="Text 23"/>
          <p:cNvSpPr/>
          <p:nvPr/>
        </p:nvSpPr>
        <p:spPr>
          <a:xfrm>
            <a:off x="61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24</a:t>
            </a:r>
            <a:pPr indent="0" marL="0">
              <a:buNone/>
            </a:pP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26" name="Text 24"/>
          <p:cNvSpPr/>
          <p:nvPr/>
        </p:nvSpPr>
        <p:spPr>
          <a:xfrm>
            <a:off x="61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Amande</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27" name="Text 25"/>
          <p:cNvSpPr/>
          <p:nvPr/>
        </p:nvSpPr>
        <p:spPr>
          <a:xfrm>
            <a:off x="61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Arlequin</a:t>
            </a:r>
            <a:pPr indent="0" marL="0">
              <a:buNone/>
            </a:pPr>
            <a:r>
              <a:rPr lang="en-US" sz="690" b="1" dirty="0">
                <a:solidFill>
                  <a:srgbClr val="67067C"/>
                </a:solidFill>
                <a:latin typeface="IBM Plex Sans" pitchFamily="34" charset="0"/>
                <a:ea typeface="IBM Plex Sans" pitchFamily="34" charset="-122"/>
                <a:cs typeface="IBM Plex Sans" pitchFamily="34" charset="-120"/>
              </a:rPr>
              <a:t>  36</a:t>
            </a:r>
            <a:pPr indent="0" marL="0">
              <a:buNone/>
            </a:pP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28" name="Text 26"/>
          <p:cNvSpPr/>
          <p:nvPr/>
        </p:nvSpPr>
        <p:spPr>
          <a:xfrm>
            <a:off x="61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BLACAILLOUX</a:t>
            </a:r>
            <a:pPr indent="0" marL="0">
              <a:buNone/>
            </a:pPr>
            <a:r>
              <a:rPr lang="en-US" sz="690" b="1" dirty="0">
                <a:solidFill>
                  <a:srgbClr val="67067C"/>
                </a:solidFill>
                <a:latin typeface="IBM Plex Sans" pitchFamily="34" charset="0"/>
                <a:ea typeface="IBM Plex Sans" pitchFamily="34" charset="-122"/>
                <a:cs typeface="IBM Plex Sans" pitchFamily="34" charset="-120"/>
              </a:rPr>
              <a:t>  31</a:t>
            </a:r>
            <a:pPr indent="0" marL="0">
              <a:buNone/>
            </a:pP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29" name="Text 27"/>
          <p:cNvSpPr/>
          <p:nvPr/>
        </p:nvSpPr>
        <p:spPr>
          <a:xfrm>
            <a:off x="61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Franc</a:t>
            </a:r>
            <a:pPr indent="0" marL="0">
              <a:buNone/>
            </a:pPr>
            <a:r>
              <a:rPr lang="en-US" sz="690" b="1" dirty="0">
                <a:solidFill>
                  <a:srgbClr val="67067C"/>
                </a:solidFill>
                <a:latin typeface="IBM Plex Sans" pitchFamily="34" charset="0"/>
                <a:ea typeface="IBM Plex Sans" pitchFamily="34" charset="-122"/>
                <a:cs typeface="IBM Plex Sans" pitchFamily="34" charset="-120"/>
              </a:rPr>
              <a:t>  3</a:t>
            </a:r>
            <a:pPr indent="0" marL="0">
              <a:buNone/>
            </a:pP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30" name="Text 28"/>
          <p:cNvSpPr/>
          <p:nvPr/>
        </p:nvSpPr>
        <p:spPr>
          <a:xfrm>
            <a:off x="61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Clair de Lune de l'Escarderie</a:t>
            </a:r>
            <a:pPr indent="0" marL="0">
              <a:buNone/>
            </a:pPr>
            <a:r>
              <a:rPr lang="en-US" sz="690" b="1" dirty="0">
                <a:solidFill>
                  <a:srgbClr val="67067C"/>
                </a:solidFill>
                <a:latin typeface="IBM Plex Sans" pitchFamily="34" charset="0"/>
                <a:ea typeface="IBM Plex Sans" pitchFamily="34" charset="-122"/>
                <a:cs typeface="IBM Plex Sans" pitchFamily="34" charset="-120"/>
              </a:rPr>
              <a:t>  30</a:t>
            </a:r>
            <a:pPr indent="0" marL="0">
              <a:buNone/>
            </a:pP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31" name="Text 29"/>
          <p:cNvSpPr/>
          <p:nvPr/>
        </p:nvSpPr>
        <p:spPr>
          <a:xfrm>
            <a:off x="61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Cosmos</a:t>
            </a:r>
            <a:pPr indent="0" marL="0">
              <a:buNone/>
            </a:pPr>
            <a:r>
              <a:rPr lang="en-US" sz="690" b="1" dirty="0">
                <a:solidFill>
                  <a:srgbClr val="67067C"/>
                </a:solidFill>
                <a:latin typeface="IBM Plex Sans" pitchFamily="34" charset="0"/>
                <a:ea typeface="IBM Plex Sans" pitchFamily="34" charset="-122"/>
                <a:cs typeface="IBM Plex Sans" pitchFamily="34" charset="-120"/>
              </a:rPr>
              <a:t>  34</a:t>
            </a:r>
            <a:pPr indent="0" marL="0">
              <a:buNone/>
            </a:pP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32" name="Text 30"/>
          <p:cNvSpPr/>
          <p:nvPr/>
        </p:nvSpPr>
        <p:spPr>
          <a:xfrm>
            <a:off x="61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GRENACHE GRIS 9,5°</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33" name="Text 31"/>
          <p:cNvSpPr/>
          <p:nvPr/>
        </p:nvSpPr>
        <p:spPr>
          <a:xfrm>
            <a:off x="61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Gulf Stream</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34" name="Text 32"/>
          <p:cNvSpPr/>
          <p:nvPr/>
        </p:nvSpPr>
        <p:spPr>
          <a:xfrm>
            <a:off x="61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pPr indent="0" marL="0">
              <a:buNone/>
            </a:pPr>
            <a:r>
              <a:rPr lang="en-US" sz="690" b="1" dirty="0">
                <a:solidFill>
                  <a:srgbClr val="67067C"/>
                </a:solidFill>
                <a:latin typeface="IBM Plex Sans" pitchFamily="34" charset="0"/>
                <a:ea typeface="IBM Plex Sans" pitchFamily="34" charset="-122"/>
                <a:cs typeface="IBM Plex Sans" pitchFamily="34" charset="-120"/>
              </a:rPr>
              <a:t>  3</a:t>
            </a:r>
            <a:pPr indent="0" marL="0">
              <a:buNone/>
            </a:pP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35" name="Text 33"/>
          <p:cNvSpPr/>
          <p:nvPr/>
        </p:nvSpPr>
        <p:spPr>
          <a:xfrm>
            <a:off x="61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31</a:t>
            </a:r>
            <a:pPr indent="0" marL="0">
              <a:buNone/>
            </a:pP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36" name="Text 34"/>
          <p:cNvSpPr/>
          <p:nvPr/>
        </p:nvSpPr>
        <p:spPr>
          <a:xfrm>
            <a:off x="61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pPr indent="0" marL="0">
              <a:buNone/>
            </a:pPr>
            <a:r>
              <a:rPr lang="en-US" sz="690" b="1" dirty="0">
                <a:solidFill>
                  <a:srgbClr val="67067C"/>
                </a:solidFill>
                <a:latin typeface="IBM Plex Sans" pitchFamily="34" charset="0"/>
                <a:ea typeface="IBM Plex Sans" pitchFamily="34" charset="-122"/>
                <a:cs typeface="IBM Plex Sans" pitchFamily="34" charset="-120"/>
              </a:rPr>
              <a:t>  31</a:t>
            </a:r>
            <a:pPr indent="0" marL="0">
              <a:buNone/>
            </a:pP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37" name="Text 35"/>
          <p:cNvSpPr/>
          <p:nvPr/>
        </p:nvSpPr>
        <p:spPr>
          <a:xfrm>
            <a:off x="61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SOUVIGNIER GRIS</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38" name="Text 36"/>
          <p:cNvSpPr/>
          <p:nvPr/>
        </p:nvSpPr>
        <p:spPr>
          <a:xfrm>
            <a:off x="61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pPr indent="0" marL="0">
              <a:buNone/>
            </a:pPr>
            <a:r>
              <a:rPr lang="en-US" sz="690" b="1" dirty="0">
                <a:solidFill>
                  <a:srgbClr val="67067C"/>
                </a:solidFill>
                <a:latin typeface="IBM Plex Sans" pitchFamily="34" charset="0"/>
                <a:ea typeface="IBM Plex Sans" pitchFamily="34" charset="-122"/>
                <a:cs typeface="IBM Plex Sans" pitchFamily="34" charset="-120"/>
              </a:rPr>
              <a:t>  2</a:t>
            </a:r>
            <a:pPr indent="0" marL="0">
              <a:buNone/>
            </a:pP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39" name="Text 37"/>
          <p:cNvSpPr/>
          <p:nvPr/>
        </p:nvSpPr>
        <p:spPr>
          <a:xfrm>
            <a:off x="61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N°3 Gulf Stream</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40" name="Text 38"/>
          <p:cNvSpPr/>
          <p:nvPr/>
        </p:nvSpPr>
        <p:spPr>
          <a:xfrm>
            <a:off x="61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41" name="Text 39"/>
          <p:cNvSpPr/>
          <p:nvPr/>
        </p:nvSpPr>
        <p:spPr>
          <a:xfrm>
            <a:off x="61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Pop’s</a:t>
            </a:r>
            <a:pPr indent="0" marL="0">
              <a:buNone/>
            </a:pPr>
            <a:r>
              <a:rPr lang="en-US" sz="690" b="1" dirty="0">
                <a:solidFill>
                  <a:srgbClr val="67067C"/>
                </a:solidFill>
                <a:latin typeface="IBM Plex Sans" pitchFamily="34" charset="0"/>
                <a:ea typeface="IBM Plex Sans" pitchFamily="34" charset="-122"/>
                <a:cs typeface="IBM Plex Sans" pitchFamily="34" charset="-120"/>
              </a:rPr>
              <a:t>  2</a:t>
            </a:r>
            <a:pPr indent="0" marL="0">
              <a:buNone/>
            </a:pP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42" name="Text 40"/>
          <p:cNvSpPr/>
          <p:nvPr/>
        </p:nvSpPr>
        <p:spPr>
          <a:xfrm>
            <a:off x="61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d’Anjou</a:t>
            </a:r>
            <a:pPr indent="0" marL="0">
              <a:buNone/>
            </a:pPr>
            <a:r>
              <a:rPr lang="en-US" sz="690" b="1" dirty="0">
                <a:solidFill>
                  <a:srgbClr val="67067C"/>
                </a:solidFill>
                <a:latin typeface="IBM Plex Sans" pitchFamily="34" charset="0"/>
                <a:ea typeface="IBM Plex Sans" pitchFamily="34" charset="-122"/>
                <a:cs typeface="IBM Plex Sans" pitchFamily="34" charset="-120"/>
              </a:rPr>
              <a:t>  4</a:t>
            </a:r>
            <a:pPr indent="0" marL="0">
              <a:buNone/>
            </a:pP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3" name="Text 41"/>
          <p:cNvSpPr/>
          <p:nvPr/>
        </p:nvSpPr>
        <p:spPr>
          <a:xfrm>
            <a:off x="61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DADA</a:t>
            </a:r>
            <a:pPr indent="0" marL="0">
              <a:buNone/>
            </a:pPr>
            <a:r>
              <a:rPr lang="en-US" sz="690" b="1" dirty="0">
                <a:solidFill>
                  <a:srgbClr val="67067C"/>
                </a:solidFill>
                <a:latin typeface="IBM Plex Sans" pitchFamily="34" charset="0"/>
                <a:ea typeface="IBM Plex Sans" pitchFamily="34" charset="-122"/>
                <a:cs typeface="IBM Plex Sans" pitchFamily="34" charset="-120"/>
              </a:rPr>
              <a:t>  26</a:t>
            </a:r>
            <a:pPr indent="0" marL="0">
              <a:buNone/>
            </a:pP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44" name="Text 42"/>
          <p:cNvSpPr/>
          <p:nvPr/>
        </p:nvSpPr>
        <p:spPr>
          <a:xfrm>
            <a:off x="61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de Loire</a:t>
            </a:r>
            <a:pPr indent="0" marL="0">
              <a:buNone/>
            </a:pPr>
            <a:r>
              <a:rPr lang="en-US" sz="690" b="1" dirty="0">
                <a:solidFill>
                  <a:srgbClr val="67067C"/>
                </a:solidFill>
                <a:latin typeface="IBM Plex Sans" pitchFamily="34" charset="0"/>
                <a:ea typeface="IBM Plex Sans" pitchFamily="34" charset="-122"/>
                <a:cs typeface="IBM Plex Sans" pitchFamily="34" charset="-120"/>
              </a:rPr>
              <a:t>  4</a:t>
            </a:r>
            <a:pPr indent="0" marL="0">
              <a:buNone/>
            </a:pP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5" name="Text 43"/>
          <p:cNvSpPr/>
          <p:nvPr/>
        </p:nvSpPr>
        <p:spPr>
          <a:xfrm>
            <a:off x="61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SÉRAME</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46" name="Text 44"/>
          <p:cNvSpPr/>
          <p:nvPr/>
        </p:nvSpPr>
        <p:spPr>
          <a:xfrm>
            <a:off x="61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31</a:t>
            </a:r>
            <a:pPr indent="0" marL="0">
              <a:buNone/>
            </a:pP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47" name="Text 45"/>
          <p:cNvSpPr/>
          <p:nvPr/>
        </p:nvSpPr>
        <p:spPr>
          <a:xfrm>
            <a:off x="265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Tavel</a:t>
            </a:r>
            <a:pPr indent="0" marL="0">
              <a:buNone/>
            </a:pPr>
            <a:r>
              <a:rPr lang="en-US" sz="690" b="1" dirty="0">
                <a:solidFill>
                  <a:srgbClr val="67067C"/>
                </a:solidFill>
                <a:latin typeface="IBM Plex Sans" pitchFamily="34" charset="0"/>
                <a:ea typeface="IBM Plex Sans" pitchFamily="34" charset="-122"/>
                <a:cs typeface="IBM Plex Sans" pitchFamily="34" charset="-120"/>
              </a:rPr>
              <a:t>  18</a:t>
            </a:r>
            <a:pPr indent="0" marL="0">
              <a:buNone/>
            </a:pP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48" name="Text 46"/>
          <p:cNvSpPr/>
          <p:nvPr/>
        </p:nvSpPr>
        <p:spPr>
          <a:xfrm>
            <a:off x="265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19</a:t>
            </a:r>
            <a:pPr indent="0" marL="0">
              <a:buNone/>
            </a:pP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49" name="Text 47"/>
          <p:cNvSpPr/>
          <p:nvPr/>
        </p:nvSpPr>
        <p:spPr>
          <a:xfrm>
            <a:off x="265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pPr indent="0" marL="0">
              <a:buNone/>
            </a:pPr>
            <a:r>
              <a:rPr lang="en-US" sz="690" b="1" dirty="0">
                <a:solidFill>
                  <a:srgbClr val="67067C"/>
                </a:solidFill>
                <a:latin typeface="IBM Plex Sans" pitchFamily="34" charset="0"/>
                <a:ea typeface="IBM Plex Sans" pitchFamily="34" charset="-122"/>
                <a:cs typeface="IBM Plex Sans" pitchFamily="34" charset="-120"/>
              </a:rPr>
              <a:t>  22</a:t>
            </a:r>
            <a:pPr indent="0" marL="0">
              <a:buNone/>
            </a:pP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50" name="Text 48"/>
          <p:cNvSpPr/>
          <p:nvPr/>
        </p:nvSpPr>
        <p:spPr>
          <a:xfrm>
            <a:off x="265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2023</a:t>
            </a:r>
            <a:pPr indent="0" marL="0">
              <a:buNone/>
            </a:pPr>
            <a:r>
              <a:rPr lang="en-US" sz="690" b="1" dirty="0">
                <a:solidFill>
                  <a:srgbClr val="67067C"/>
                </a:solidFill>
                <a:latin typeface="IBM Plex Sans" pitchFamily="34" charset="0"/>
                <a:ea typeface="IBM Plex Sans" pitchFamily="34" charset="-122"/>
                <a:cs typeface="IBM Plex Sans" pitchFamily="34" charset="-120"/>
              </a:rPr>
              <a:t>  6</a:t>
            </a:r>
            <a:pPr indent="0" marL="0">
              <a:buNone/>
            </a:pP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1" name="Text 49"/>
          <p:cNvSpPr/>
          <p:nvPr/>
        </p:nvSpPr>
        <p:spPr>
          <a:xfrm>
            <a:off x="2652000" y="104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ROUGE</a:t>
            </a:r>
            <a:endParaRPr lang="en-US" sz="800" dirty="0"/>
          </a:p>
        </p:txBody>
      </p:sp>
      <p:sp>
        <p:nvSpPr>
          <p:cNvPr id="52" name="Text 50"/>
          <p:cNvSpPr/>
          <p:nvPr/>
        </p:nvSpPr>
        <p:spPr>
          <a:xfrm>
            <a:off x="265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36</a:t>
            </a:r>
            <a:pPr indent="0" marL="0">
              <a:buNone/>
            </a:pP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53" name="Text 51"/>
          <p:cNvSpPr/>
          <p:nvPr/>
        </p:nvSpPr>
        <p:spPr>
          <a:xfrm>
            <a:off x="265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Magnum 1,5 L</a:t>
            </a:r>
            <a:pPr indent="0" marL="0">
              <a:buNone/>
            </a:pPr>
            <a:r>
              <a:rPr lang="en-US" sz="690" b="1" dirty="0">
                <a:solidFill>
                  <a:srgbClr val="67067C"/>
                </a:solidFill>
                <a:latin typeface="IBM Plex Sans" pitchFamily="34" charset="0"/>
                <a:ea typeface="IBM Plex Sans" pitchFamily="34" charset="-122"/>
                <a:cs typeface="IBM Plex Sans" pitchFamily="34" charset="-120"/>
              </a:rPr>
              <a:t>  36</a:t>
            </a:r>
            <a:pPr indent="0" marL="0">
              <a:buNone/>
            </a:pP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54" name="Text 52"/>
          <p:cNvSpPr/>
          <p:nvPr/>
        </p:nvSpPr>
        <p:spPr>
          <a:xfrm>
            <a:off x="265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24</a:t>
            </a:r>
            <a:pPr indent="0" marL="0">
              <a:buNone/>
            </a:pP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55" name="Text 53"/>
          <p:cNvSpPr/>
          <p:nvPr/>
        </p:nvSpPr>
        <p:spPr>
          <a:xfrm>
            <a:off x="265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Amphora de Château l'Escarderie</a:t>
            </a:r>
            <a:pPr indent="0" marL="0">
              <a:buNone/>
            </a:pPr>
            <a:r>
              <a:rPr lang="en-US" sz="690" b="1" dirty="0">
                <a:solidFill>
                  <a:srgbClr val="67067C"/>
                </a:solidFill>
                <a:latin typeface="IBM Plex Sans" pitchFamily="34" charset="0"/>
                <a:ea typeface="IBM Plex Sans" pitchFamily="34" charset="-122"/>
                <a:cs typeface="IBM Plex Sans" pitchFamily="34" charset="-120"/>
              </a:rPr>
              <a:t>  30</a:t>
            </a:r>
            <a:pPr indent="0" marL="0">
              <a:buNone/>
            </a:pP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56" name="Text 54"/>
          <p:cNvSpPr/>
          <p:nvPr/>
        </p:nvSpPr>
        <p:spPr>
          <a:xfrm>
            <a:off x="265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Aloxe-Corton</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57" name="Text 55"/>
          <p:cNvSpPr/>
          <p:nvPr/>
        </p:nvSpPr>
        <p:spPr>
          <a:xfrm>
            <a:off x="265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Auxey-Duresses</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58" name="Text 56"/>
          <p:cNvSpPr/>
          <p:nvPr/>
        </p:nvSpPr>
        <p:spPr>
          <a:xfrm>
            <a:off x="265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pPr indent="0" marL="0">
              <a:buNone/>
            </a:pPr>
            <a:r>
              <a:rPr lang="en-US" sz="690" b="1" dirty="0">
                <a:solidFill>
                  <a:srgbClr val="67067C"/>
                </a:solidFill>
                <a:latin typeface="IBM Plex Sans" pitchFamily="34" charset="0"/>
                <a:ea typeface="IBM Plex Sans" pitchFamily="34" charset="-122"/>
                <a:cs typeface="IBM Plex Sans" pitchFamily="34" charset="-120"/>
              </a:rPr>
              <a:t>  9</a:t>
            </a:r>
            <a:pPr indent="0" marL="0">
              <a:buNone/>
            </a:pP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59" name="Text 57"/>
          <p:cNvSpPr/>
          <p:nvPr/>
        </p:nvSpPr>
        <p:spPr>
          <a:xfrm>
            <a:off x="265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Bergerac</a:t>
            </a:r>
            <a:pPr indent="0" marL="0">
              <a:buNone/>
            </a:pPr>
            <a:r>
              <a:rPr lang="en-US" sz="690" b="1" dirty="0">
                <a:solidFill>
                  <a:srgbClr val="67067C"/>
                </a:solidFill>
                <a:latin typeface="IBM Plex Sans" pitchFamily="34" charset="0"/>
                <a:ea typeface="IBM Plex Sans" pitchFamily="34" charset="-122"/>
                <a:cs typeface="IBM Plex Sans" pitchFamily="34" charset="-120"/>
              </a:rPr>
              <a:t>  24</a:t>
            </a:r>
            <a:pPr indent="0" marL="0">
              <a:buNone/>
            </a:pP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60" name="Text 58"/>
          <p:cNvSpPr/>
          <p:nvPr/>
        </p:nvSpPr>
        <p:spPr>
          <a:xfrm>
            <a:off x="265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Hautes-Côtes de Beaune</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61" name="Text 59"/>
          <p:cNvSpPr/>
          <p:nvPr/>
        </p:nvSpPr>
        <p:spPr>
          <a:xfrm>
            <a:off x="265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Cahors</a:t>
            </a:r>
            <a:pPr indent="0" marL="0">
              <a:buNone/>
            </a:pPr>
            <a:r>
              <a:rPr lang="en-US" sz="690" b="1" dirty="0">
                <a:solidFill>
                  <a:srgbClr val="67067C"/>
                </a:solidFill>
                <a:latin typeface="IBM Plex Sans" pitchFamily="34" charset="0"/>
                <a:ea typeface="IBM Plex Sans" pitchFamily="34" charset="-122"/>
                <a:cs typeface="IBM Plex Sans" pitchFamily="34" charset="-120"/>
              </a:rPr>
              <a:t>  24</a:t>
            </a:r>
            <a:pPr indent="0" marL="0">
              <a:buNone/>
            </a:pP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62" name="Text 60"/>
          <p:cNvSpPr/>
          <p:nvPr/>
        </p:nvSpPr>
        <p:spPr>
          <a:xfrm>
            <a:off x="265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Plan de Dieu</a:t>
            </a:r>
            <a:pPr indent="0" marL="0">
              <a:buNone/>
            </a:pPr>
            <a:r>
              <a:rPr lang="en-US" sz="690" b="1" dirty="0">
                <a:solidFill>
                  <a:srgbClr val="67067C"/>
                </a:solidFill>
                <a:latin typeface="IBM Plex Sans" pitchFamily="34" charset="0"/>
                <a:ea typeface="IBM Plex Sans" pitchFamily="34" charset="-122"/>
                <a:cs typeface="IBM Plex Sans" pitchFamily="34" charset="-120"/>
              </a:rPr>
              <a:t>  20</a:t>
            </a:r>
            <a:pPr indent="0" marL="0">
              <a:buNone/>
            </a:pP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63" name="Text 61"/>
          <p:cNvSpPr/>
          <p:nvPr/>
        </p:nvSpPr>
        <p:spPr>
          <a:xfrm>
            <a:off x="265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20</a:t>
            </a:r>
            <a:pPr indent="0" marL="0">
              <a:buNone/>
            </a:pP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64" name="Text 62"/>
          <p:cNvSpPr/>
          <p:nvPr/>
        </p:nvSpPr>
        <p:spPr>
          <a:xfrm>
            <a:off x="265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Chassagne-Montrachet</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65" name="Text 63"/>
          <p:cNvSpPr/>
          <p:nvPr/>
        </p:nvSpPr>
        <p:spPr>
          <a:xfrm>
            <a:off x="265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Clos Vougeot Grand Cru</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66" name="Text 64"/>
          <p:cNvSpPr/>
          <p:nvPr/>
        </p:nvSpPr>
        <p:spPr>
          <a:xfrm>
            <a:off x="265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Coteaux Bourguignons</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67" name="Text 65"/>
          <p:cNvSpPr/>
          <p:nvPr/>
        </p:nvSpPr>
        <p:spPr>
          <a:xfrm>
            <a:off x="265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Côtes du Rhône</a:t>
            </a:r>
            <a:pPr indent="0" marL="0">
              <a:buNone/>
            </a:pPr>
            <a:r>
              <a:rPr lang="en-US" sz="690" b="1" dirty="0">
                <a:solidFill>
                  <a:srgbClr val="67067C"/>
                </a:solidFill>
                <a:latin typeface="IBM Plex Sans" pitchFamily="34" charset="0"/>
                <a:ea typeface="IBM Plex Sans" pitchFamily="34" charset="-122"/>
                <a:cs typeface="IBM Plex Sans" pitchFamily="34" charset="-120"/>
              </a:rPr>
              <a:t>  20</a:t>
            </a:r>
            <a:pPr indent="0" marL="0">
              <a:buNone/>
            </a:pP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68" name="Text 66"/>
          <p:cNvSpPr/>
          <p:nvPr/>
        </p:nvSpPr>
        <p:spPr>
          <a:xfrm>
            <a:off x="265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Fixin</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69" name="Text 67"/>
          <p:cNvSpPr/>
          <p:nvPr/>
        </p:nvSpPr>
        <p:spPr>
          <a:xfrm>
            <a:off x="265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Fleurie</a:t>
            </a:r>
            <a:pPr indent="0" marL="0">
              <a:buNone/>
            </a:pPr>
            <a:r>
              <a:rPr lang="en-US" sz="690" b="1" dirty="0">
                <a:solidFill>
                  <a:srgbClr val="67067C"/>
                </a:solidFill>
                <a:latin typeface="IBM Plex Sans" pitchFamily="34" charset="0"/>
                <a:ea typeface="IBM Plex Sans" pitchFamily="34" charset="-122"/>
                <a:cs typeface="IBM Plex Sans" pitchFamily="34" charset="-120"/>
              </a:rPr>
              <a:t>  9</a:t>
            </a:r>
            <a:pPr indent="0" marL="0">
              <a:buNone/>
            </a:pP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70" name="Text 68"/>
          <p:cNvSpPr/>
          <p:nvPr/>
        </p:nvSpPr>
        <p:spPr>
          <a:xfrm>
            <a:off x="265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Fronton</a:t>
            </a:r>
            <a:pPr indent="0" marL="0">
              <a:buNone/>
            </a:pPr>
            <a:r>
              <a:rPr lang="en-US" sz="690" b="1" dirty="0">
                <a:solidFill>
                  <a:srgbClr val="67067C"/>
                </a:solidFill>
                <a:latin typeface="IBM Plex Sans" pitchFamily="34" charset="0"/>
                <a:ea typeface="IBM Plex Sans" pitchFamily="34" charset="-122"/>
                <a:cs typeface="IBM Plex Sans" pitchFamily="34" charset="-120"/>
              </a:rPr>
              <a:t>  24</a:t>
            </a:r>
            <a:pPr indent="0" marL="0">
              <a:buNone/>
            </a:pP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71" name="Text 69"/>
          <p:cNvSpPr/>
          <p:nvPr/>
        </p:nvSpPr>
        <p:spPr>
          <a:xfrm>
            <a:off x="265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Gevrey-Chambertin</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72" name="Text 70"/>
          <p:cNvSpPr/>
          <p:nvPr/>
        </p:nvSpPr>
        <p:spPr>
          <a:xfrm>
            <a:off x="265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Gigondas</a:t>
            </a:r>
            <a:pPr indent="0" marL="0">
              <a:buNone/>
            </a:pPr>
            <a:r>
              <a:rPr lang="en-US" sz="690" b="1" dirty="0">
                <a:solidFill>
                  <a:srgbClr val="67067C"/>
                </a:solidFill>
                <a:latin typeface="IBM Plex Sans" pitchFamily="34" charset="0"/>
                <a:ea typeface="IBM Plex Sans" pitchFamily="34" charset="-122"/>
                <a:cs typeface="IBM Plex Sans" pitchFamily="34" charset="-120"/>
              </a:rPr>
              <a:t>  20</a:t>
            </a:r>
            <a:pPr indent="0" marL="0">
              <a:buNone/>
            </a:pP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73" name="Text 71"/>
          <p:cNvSpPr/>
          <p:nvPr/>
        </p:nvSpPr>
        <p:spPr>
          <a:xfrm>
            <a:off x="265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Givry 1er Cru</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74" name="Text 72"/>
          <p:cNvSpPr/>
          <p:nvPr/>
        </p:nvSpPr>
        <p:spPr>
          <a:xfrm>
            <a:off x="265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pPr indent="0" marL="0">
              <a:buNone/>
            </a:pPr>
            <a:r>
              <a:rPr lang="en-US" sz="690" b="1" dirty="0">
                <a:solidFill>
                  <a:srgbClr val="67067C"/>
                </a:solidFill>
                <a:latin typeface="IBM Plex Sans" pitchFamily="34" charset="0"/>
                <a:ea typeface="IBM Plex Sans" pitchFamily="34" charset="-122"/>
                <a:cs typeface="IBM Plex Sans" pitchFamily="34" charset="-120"/>
              </a:rPr>
              <a:t>  22</a:t>
            </a:r>
            <a:pPr indent="0" marL="0">
              <a:buNone/>
            </a:pP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75" name="Text 73"/>
          <p:cNvSpPr/>
          <p:nvPr/>
        </p:nvSpPr>
        <p:spPr>
          <a:xfrm>
            <a:off x="265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pPr indent="0" marL="0">
              <a:buNone/>
            </a:pPr>
            <a:r>
              <a:rPr lang="en-US" sz="690" b="1" dirty="0">
                <a:solidFill>
                  <a:srgbClr val="67067C"/>
                </a:solidFill>
                <a:latin typeface="IBM Plex Sans" pitchFamily="34" charset="0"/>
                <a:ea typeface="IBM Plex Sans" pitchFamily="34" charset="-122"/>
                <a:cs typeface="IBM Plex Sans" pitchFamily="34" charset="-120"/>
              </a:rPr>
              <a:t>  22</a:t>
            </a:r>
            <a:pPr indent="0" marL="0">
              <a:buNone/>
            </a:pP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76" name="Text 74"/>
          <p:cNvSpPr/>
          <p:nvPr/>
        </p:nvSpPr>
        <p:spPr>
          <a:xfrm>
            <a:off x="265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pPr indent="0" marL="0">
              <a:buNone/>
            </a:pPr>
            <a:r>
              <a:rPr lang="en-US" sz="690" b="1" dirty="0">
                <a:solidFill>
                  <a:srgbClr val="67067C"/>
                </a:solidFill>
                <a:latin typeface="IBM Plex Sans" pitchFamily="34" charset="0"/>
                <a:ea typeface="IBM Plex Sans" pitchFamily="34" charset="-122"/>
                <a:cs typeface="IBM Plex Sans" pitchFamily="34" charset="-120"/>
              </a:rPr>
              <a:t>  26</a:t>
            </a:r>
            <a:pPr indent="0" marL="0">
              <a:buNone/>
            </a:pP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77" name="Text 75"/>
          <p:cNvSpPr/>
          <p:nvPr/>
        </p:nvSpPr>
        <p:spPr>
          <a:xfrm>
            <a:off x="265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pPr indent="0" marL="0">
              <a:buNone/>
            </a:pPr>
            <a:r>
              <a:rPr lang="en-US" sz="690" b="1" dirty="0">
                <a:solidFill>
                  <a:srgbClr val="67067C"/>
                </a:solidFill>
                <a:latin typeface="IBM Plex Sans" pitchFamily="34" charset="0"/>
                <a:ea typeface="IBM Plex Sans" pitchFamily="34" charset="-122"/>
                <a:cs typeface="IBM Plex Sans" pitchFamily="34" charset="-120"/>
              </a:rPr>
              <a:t>  26</a:t>
            </a:r>
            <a:pPr indent="0" marL="0">
              <a:buNone/>
            </a:pP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78" name="Text 76"/>
          <p:cNvSpPr/>
          <p:nvPr/>
        </p:nvSpPr>
        <p:spPr>
          <a:xfrm>
            <a:off x="265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pPr indent="0" marL="0">
              <a:buNone/>
            </a:pPr>
            <a:r>
              <a:rPr lang="en-US" sz="690" b="1" dirty="0">
                <a:solidFill>
                  <a:srgbClr val="67067C"/>
                </a:solidFill>
                <a:latin typeface="IBM Plex Sans" pitchFamily="34" charset="0"/>
                <a:ea typeface="IBM Plex Sans" pitchFamily="34" charset="-122"/>
                <a:cs typeface="IBM Plex Sans" pitchFamily="34" charset="-120"/>
              </a:rPr>
              <a:t>  26</a:t>
            </a:r>
            <a:pPr indent="0" marL="0">
              <a:buNone/>
            </a:pP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79" name="Text 77"/>
          <p:cNvSpPr/>
          <p:nvPr/>
        </p:nvSpPr>
        <p:spPr>
          <a:xfrm>
            <a:off x="265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pPr indent="0" marL="0">
              <a:buNone/>
            </a:pPr>
            <a:r>
              <a:rPr lang="en-US" sz="690" b="1" dirty="0">
                <a:solidFill>
                  <a:srgbClr val="67067C"/>
                </a:solidFill>
                <a:latin typeface="IBM Plex Sans" pitchFamily="34" charset="0"/>
                <a:ea typeface="IBM Plex Sans" pitchFamily="34" charset="-122"/>
                <a:cs typeface="IBM Plex Sans" pitchFamily="34" charset="-120"/>
              </a:rPr>
              <a:t>  26</a:t>
            </a:r>
            <a:pPr indent="0" marL="0">
              <a:buNone/>
            </a:pP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80" name="Text 78"/>
          <p:cNvSpPr/>
          <p:nvPr/>
        </p:nvSpPr>
        <p:spPr>
          <a:xfrm>
            <a:off x="265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Mercurey</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81" name="Text 79"/>
          <p:cNvSpPr/>
          <p:nvPr/>
        </p:nvSpPr>
        <p:spPr>
          <a:xfrm>
            <a:off x="265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Monthélie</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82" name="Text 80"/>
          <p:cNvSpPr/>
          <p:nvPr/>
        </p:nvSpPr>
        <p:spPr>
          <a:xfrm>
            <a:off x="265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pPr indent="0" marL="0">
              <a:buNone/>
            </a:pPr>
            <a:r>
              <a:rPr lang="en-US" sz="690" b="1" dirty="0">
                <a:solidFill>
                  <a:srgbClr val="67067C"/>
                </a:solidFill>
                <a:latin typeface="IBM Plex Sans" pitchFamily="34" charset="0"/>
                <a:ea typeface="IBM Plex Sans" pitchFamily="34" charset="-122"/>
                <a:cs typeface="IBM Plex Sans" pitchFamily="34" charset="-120"/>
              </a:rPr>
              <a:t>  9</a:t>
            </a:r>
            <a:pPr indent="0" marL="0">
              <a:buNone/>
            </a:pP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83" name="Text 81"/>
          <p:cNvSpPr/>
          <p:nvPr/>
        </p:nvSpPr>
        <p:spPr>
          <a:xfrm>
            <a:off x="265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pPr indent="0" marL="0">
              <a:buNone/>
            </a:pPr>
            <a:r>
              <a:rPr lang="en-US" sz="690" b="1" dirty="0">
                <a:solidFill>
                  <a:srgbClr val="67067C"/>
                </a:solidFill>
                <a:latin typeface="IBM Plex Sans" pitchFamily="34" charset="0"/>
                <a:ea typeface="IBM Plex Sans" pitchFamily="34" charset="-122"/>
                <a:cs typeface="IBM Plex Sans" pitchFamily="34" charset="-120"/>
              </a:rPr>
              <a:t>  9</a:t>
            </a:r>
            <a:pPr indent="0" marL="0">
              <a:buNone/>
            </a:pP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84" name="Text 82"/>
          <p:cNvSpPr/>
          <p:nvPr/>
        </p:nvSpPr>
        <p:spPr>
          <a:xfrm>
            <a:off x="265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Rully</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85" name="Text 83"/>
          <p:cNvSpPr/>
          <p:nvPr/>
        </p:nvSpPr>
        <p:spPr>
          <a:xfrm>
            <a:off x="265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Saint-Romain</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86" name="Text 84"/>
          <p:cNvSpPr/>
          <p:nvPr/>
        </p:nvSpPr>
        <p:spPr>
          <a:xfrm>
            <a:off x="265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2022</a:t>
            </a:r>
            <a:pPr indent="0" marL="0">
              <a:buNone/>
            </a:pPr>
            <a:r>
              <a:rPr lang="en-US" sz="690" b="1" dirty="0">
                <a:solidFill>
                  <a:srgbClr val="67067C"/>
                </a:solidFill>
                <a:latin typeface="IBM Plex Sans" pitchFamily="34" charset="0"/>
                <a:ea typeface="IBM Plex Sans" pitchFamily="34" charset="-122"/>
                <a:cs typeface="IBM Plex Sans" pitchFamily="34" charset="-120"/>
              </a:rPr>
              <a:t>  6</a:t>
            </a:r>
            <a:pPr indent="0" marL="0">
              <a:buNone/>
            </a:pP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87" name="Text 85"/>
          <p:cNvSpPr/>
          <p:nvPr/>
        </p:nvSpPr>
        <p:spPr>
          <a:xfrm>
            <a:off x="265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Balac Sans Sulfites (100 % Merlot)</a:t>
            </a:r>
            <a:pPr indent="0" marL="0">
              <a:buNone/>
            </a:pPr>
            <a:r>
              <a:rPr lang="en-US" sz="690" b="1" dirty="0">
                <a:solidFill>
                  <a:srgbClr val="67067C"/>
                </a:solidFill>
                <a:latin typeface="IBM Plex Sans" pitchFamily="34" charset="0"/>
                <a:ea typeface="IBM Plex Sans" pitchFamily="34" charset="-122"/>
                <a:cs typeface="IBM Plex Sans" pitchFamily="34" charset="-120"/>
              </a:rPr>
              <a:t>  29</a:t>
            </a:r>
            <a:pPr indent="0" marL="0">
              <a:buNone/>
            </a:pPr>
            <a:r>
              <a:rPr lang="en-US" sz="690" dirty="0">
                <a:solidFill>
                  <a:srgbClr val="46606E"/>
                </a:solidFill>
                <a:latin typeface="IBM Plex Sans" pitchFamily="34" charset="0"/>
                <a:ea typeface="IBM Plex Sans" pitchFamily="34" charset="-122"/>
                <a:cs typeface="IBM Plex Sans" pitchFamily="34" charset="-120"/>
              </a:rPr>
              <a:t>  51</a:t>
            </a:r>
            <a:endParaRPr lang="en-US" sz="690" dirty="0"/>
          </a:p>
        </p:txBody>
      </p:sp>
      <p:sp>
        <p:nvSpPr>
          <p:cNvPr id="88" name="Text 86"/>
          <p:cNvSpPr/>
          <p:nvPr/>
        </p:nvSpPr>
        <p:spPr>
          <a:xfrm>
            <a:off x="265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BDM</a:t>
            </a:r>
            <a:pPr indent="0" marL="0">
              <a:buNone/>
            </a:pPr>
            <a:r>
              <a:rPr lang="en-US" sz="690" b="1" dirty="0">
                <a:solidFill>
                  <a:srgbClr val="67067C"/>
                </a:solidFill>
                <a:latin typeface="IBM Plex Sans" pitchFamily="34" charset="0"/>
                <a:ea typeface="IBM Plex Sans" pitchFamily="34" charset="-122"/>
                <a:cs typeface="IBM Plex Sans" pitchFamily="34" charset="-120"/>
              </a:rPr>
              <a:t>  34</a:t>
            </a:r>
            <a:pPr indent="0" marL="0">
              <a:buNone/>
            </a:pP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89" name="Text 87"/>
          <p:cNvSpPr/>
          <p:nvPr/>
        </p:nvSpPr>
        <p:spPr>
          <a:xfrm>
            <a:off x="265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a:t>
            </a:r>
            <a:pPr indent="0" marL="0">
              <a:buNone/>
            </a:pPr>
            <a:r>
              <a:rPr lang="en-US" sz="690" b="1" dirty="0">
                <a:solidFill>
                  <a:srgbClr val="67067C"/>
                </a:solidFill>
                <a:latin typeface="IBM Plex Sans" pitchFamily="34" charset="0"/>
                <a:ea typeface="IBM Plex Sans" pitchFamily="34" charset="-122"/>
                <a:cs typeface="IBM Plex Sans" pitchFamily="34" charset="-120"/>
              </a:rPr>
              <a:t>  15</a:t>
            </a:r>
            <a:pPr indent="0" marL="0">
              <a:buNone/>
            </a:pP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90" name="Text 88"/>
          <p:cNvSpPr/>
          <p:nvPr/>
        </p:nvSpPr>
        <p:spPr>
          <a:xfrm>
            <a:off x="265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Pinot Noir</a:t>
            </a:r>
            <a:pPr indent="0" marL="0">
              <a:buNone/>
            </a:pPr>
            <a:r>
              <a:rPr lang="en-US" sz="690" b="1" dirty="0">
                <a:solidFill>
                  <a:srgbClr val="67067C"/>
                </a:solidFill>
                <a:latin typeface="IBM Plex Sans" pitchFamily="34" charset="0"/>
                <a:ea typeface="IBM Plex Sans" pitchFamily="34" charset="-122"/>
                <a:cs typeface="IBM Plex Sans" pitchFamily="34" charset="-120"/>
              </a:rPr>
              <a:t>  14</a:t>
            </a:r>
            <a:pPr indent="0" marL="0">
              <a:buNone/>
            </a:pPr>
            <a:r>
              <a:rPr lang="en-US" sz="690" dirty="0">
                <a:solidFill>
                  <a:srgbClr val="46606E"/>
                </a:solidFill>
                <a:latin typeface="IBM Plex Sans" pitchFamily="34" charset="0"/>
                <a:ea typeface="IBM Plex Sans" pitchFamily="34" charset="-122"/>
                <a:cs typeface="IBM Plex Sans" pitchFamily="34" charset="-120"/>
              </a:rPr>
              <a:t>  28</a:t>
            </a:r>
            <a:endParaRPr lang="en-US" sz="690" dirty="0"/>
          </a:p>
        </p:txBody>
      </p:sp>
      <p:sp>
        <p:nvSpPr>
          <p:cNvPr id="91" name="Text 89"/>
          <p:cNvSpPr/>
          <p:nvPr/>
        </p:nvSpPr>
        <p:spPr>
          <a:xfrm>
            <a:off x="265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Caillasses</a:t>
            </a:r>
            <a:pPr indent="0" marL="0">
              <a:buNone/>
            </a:pPr>
            <a:r>
              <a:rPr lang="en-US" sz="690" b="1" dirty="0">
                <a:solidFill>
                  <a:srgbClr val="67067C"/>
                </a:solidFill>
                <a:latin typeface="IBM Plex Sans" pitchFamily="34" charset="0"/>
                <a:ea typeface="IBM Plex Sans" pitchFamily="34" charset="-122"/>
                <a:cs typeface="IBM Plex Sans" pitchFamily="34" charset="-120"/>
              </a:rPr>
              <a:t>  35</a:t>
            </a:r>
            <a:pPr indent="0" marL="0">
              <a:buNone/>
            </a:pPr>
            <a:r>
              <a:rPr lang="en-US" sz="690" dirty="0">
                <a:solidFill>
                  <a:srgbClr val="46606E"/>
                </a:solidFill>
                <a:latin typeface="IBM Plex Sans" pitchFamily="34" charset="0"/>
                <a:ea typeface="IBM Plex Sans" pitchFamily="34" charset="-122"/>
                <a:cs typeface="IBM Plex Sans" pitchFamily="34" charset="-120"/>
              </a:rPr>
              <a:t>  60</a:t>
            </a:r>
            <a:endParaRPr lang="en-US" sz="690" dirty="0"/>
          </a:p>
        </p:txBody>
      </p:sp>
      <p:sp>
        <p:nvSpPr>
          <p:cNvPr id="92" name="Text 90"/>
          <p:cNvSpPr/>
          <p:nvPr/>
        </p:nvSpPr>
        <p:spPr>
          <a:xfrm>
            <a:off x="469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Ceres de Haut-Bages Libéral</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93" name="Text 91"/>
          <p:cNvSpPr/>
          <p:nvPr/>
        </p:nvSpPr>
        <p:spPr>
          <a:xfrm>
            <a:off x="469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Champ La Dame</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94" name="Text 92"/>
          <p:cNvSpPr/>
          <p:nvPr/>
        </p:nvSpPr>
        <p:spPr>
          <a:xfrm>
            <a:off x="469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LUMIÈRE</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95" name="Text 93"/>
          <p:cNvSpPr/>
          <p:nvPr/>
        </p:nvSpPr>
        <p:spPr>
          <a:xfrm>
            <a:off x="469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LUNE</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96" name="Text 94"/>
          <p:cNvSpPr/>
          <p:nvPr/>
        </p:nvSpPr>
        <p:spPr>
          <a:xfrm>
            <a:off x="469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LIBRE</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97" name="Text 95"/>
          <p:cNvSpPr/>
          <p:nvPr/>
        </p:nvSpPr>
        <p:spPr>
          <a:xfrm>
            <a:off x="469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Charme de Cos Labory</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98" name="Text 96"/>
          <p:cNvSpPr/>
          <p:nvPr/>
        </p:nvSpPr>
        <p:spPr>
          <a:xfrm>
            <a:off x="469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Canteloup</a:t>
            </a:r>
            <a:pPr indent="0" marL="0">
              <a:buNone/>
            </a:pPr>
            <a:r>
              <a:rPr lang="en-US" sz="690" b="1" dirty="0">
                <a:solidFill>
                  <a:srgbClr val="67067C"/>
                </a:solidFill>
                <a:latin typeface="IBM Plex Sans" pitchFamily="34" charset="0"/>
                <a:ea typeface="IBM Plex Sans" pitchFamily="34" charset="-122"/>
                <a:cs typeface="IBM Plex Sans" pitchFamily="34" charset="-120"/>
              </a:rPr>
              <a:t>  26</a:t>
            </a:r>
            <a:pPr indent="0" marL="0">
              <a:buNone/>
            </a:pP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99" name="Text 97"/>
          <p:cNvSpPr/>
          <p:nvPr/>
        </p:nvSpPr>
        <p:spPr>
          <a:xfrm>
            <a:off x="469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0" name="Text 98"/>
          <p:cNvSpPr/>
          <p:nvPr/>
        </p:nvSpPr>
        <p:spPr>
          <a:xfrm>
            <a:off x="469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150 cl</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1" name="Text 99"/>
          <p:cNvSpPr/>
          <p:nvPr/>
        </p:nvSpPr>
        <p:spPr>
          <a:xfrm>
            <a:off x="469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2" name="Text 100"/>
          <p:cNvSpPr/>
          <p:nvPr/>
        </p:nvSpPr>
        <p:spPr>
          <a:xfrm>
            <a:off x="469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3" name="Text 101"/>
          <p:cNvSpPr/>
          <p:nvPr/>
        </p:nvSpPr>
        <p:spPr>
          <a:xfrm>
            <a:off x="469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Cauze</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4" name="Text 102"/>
          <p:cNvSpPr/>
          <p:nvPr/>
        </p:nvSpPr>
        <p:spPr>
          <a:xfrm>
            <a:off x="469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a:t>
            </a:r>
            <a:pPr indent="0" marL="0">
              <a:buNone/>
            </a:pPr>
            <a:r>
              <a:rPr lang="en-US" sz="690" b="1" dirty="0">
                <a:solidFill>
                  <a:srgbClr val="67067C"/>
                </a:solidFill>
                <a:latin typeface="IBM Plex Sans" pitchFamily="34" charset="0"/>
                <a:ea typeface="IBM Plex Sans" pitchFamily="34" charset="-122"/>
                <a:cs typeface="IBM Plex Sans" pitchFamily="34" charset="-120"/>
              </a:rPr>
              <a:t>  27</a:t>
            </a:r>
            <a:pPr indent="0" marL="0">
              <a:buNone/>
            </a:pPr>
            <a:r>
              <a:rPr lang="en-US" sz="690" dirty="0">
                <a:solidFill>
                  <a:srgbClr val="46606E"/>
                </a:solidFill>
                <a:latin typeface="IBM Plex Sans" pitchFamily="34" charset="0"/>
                <a:ea typeface="IBM Plex Sans" pitchFamily="34" charset="-122"/>
                <a:cs typeface="IBM Plex Sans" pitchFamily="34" charset="-120"/>
              </a:rPr>
              <a:t>  49</a:t>
            </a:r>
            <a:endParaRPr lang="en-US" sz="690" dirty="0"/>
          </a:p>
        </p:txBody>
      </p:sp>
      <p:sp>
        <p:nvSpPr>
          <p:cNvPr id="105" name="Text 103"/>
          <p:cNvSpPr/>
          <p:nvPr/>
        </p:nvSpPr>
        <p:spPr>
          <a:xfrm>
            <a:off x="469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Le Chevalier (Vieilles Vignes)</a:t>
            </a:r>
            <a:pPr indent="0" marL="0">
              <a:buNone/>
            </a:pPr>
            <a:r>
              <a:rPr lang="en-US" sz="690" b="1" dirty="0">
                <a:solidFill>
                  <a:srgbClr val="67067C"/>
                </a:solidFill>
                <a:latin typeface="IBM Plex Sans" pitchFamily="34" charset="0"/>
                <a:ea typeface="IBM Plex Sans" pitchFamily="34" charset="-122"/>
                <a:cs typeface="IBM Plex Sans" pitchFamily="34" charset="-120"/>
              </a:rPr>
              <a:t>  27</a:t>
            </a:r>
            <a:pPr indent="0" marL="0">
              <a:buNone/>
            </a:pPr>
            <a:r>
              <a:rPr lang="en-US" sz="690" dirty="0">
                <a:solidFill>
                  <a:srgbClr val="46606E"/>
                </a:solidFill>
                <a:latin typeface="IBM Plex Sans" pitchFamily="34" charset="0"/>
                <a:ea typeface="IBM Plex Sans" pitchFamily="34" charset="-122"/>
                <a:cs typeface="IBM Plex Sans" pitchFamily="34" charset="-120"/>
              </a:rPr>
              <a:t>  49</a:t>
            </a:r>
            <a:endParaRPr lang="en-US" sz="690" dirty="0"/>
          </a:p>
        </p:txBody>
      </p:sp>
      <p:sp>
        <p:nvSpPr>
          <p:cNvPr id="106" name="Text 104"/>
          <p:cNvSpPr/>
          <p:nvPr/>
        </p:nvSpPr>
        <p:spPr>
          <a:xfrm>
            <a:off x="469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Feytit-Guillot</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7" name="Text 105"/>
          <p:cNvSpPr/>
          <p:nvPr/>
        </p:nvSpPr>
        <p:spPr>
          <a:xfrm>
            <a:off x="469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l'Escarderie</a:t>
            </a:r>
            <a:pPr indent="0" marL="0">
              <a:buNone/>
            </a:pPr>
            <a:r>
              <a:rPr lang="en-US" sz="690" b="1" dirty="0">
                <a:solidFill>
                  <a:srgbClr val="67067C"/>
                </a:solidFill>
                <a:latin typeface="IBM Plex Sans" pitchFamily="34" charset="0"/>
                <a:ea typeface="IBM Plex Sans" pitchFamily="34" charset="-122"/>
                <a:cs typeface="IBM Plex Sans" pitchFamily="34" charset="-120"/>
              </a:rPr>
              <a:t>  30</a:t>
            </a:r>
            <a:pPr indent="0" marL="0">
              <a:buNone/>
            </a:pP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108" name="Text 106"/>
          <p:cNvSpPr/>
          <p:nvPr/>
        </p:nvSpPr>
        <p:spPr>
          <a:xfrm>
            <a:off x="469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Croix Saint-André</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9" name="Text 107"/>
          <p:cNvSpPr/>
          <p:nvPr/>
        </p:nvSpPr>
        <p:spPr>
          <a:xfrm>
            <a:off x="469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Tour de Bessan</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10" name="Text 108"/>
          <p:cNvSpPr/>
          <p:nvPr/>
        </p:nvSpPr>
        <p:spPr>
          <a:xfrm>
            <a:off x="469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11" name="Text 109"/>
          <p:cNvSpPr/>
          <p:nvPr/>
        </p:nvSpPr>
        <p:spPr>
          <a:xfrm>
            <a:off x="469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 Ormes</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12" name="Text 110"/>
          <p:cNvSpPr/>
          <p:nvPr/>
        </p:nvSpPr>
        <p:spPr>
          <a:xfrm>
            <a:off x="469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Macquin</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13" name="Text 111"/>
          <p:cNvSpPr/>
          <p:nvPr/>
        </p:nvSpPr>
        <p:spPr>
          <a:xfrm>
            <a:off x="469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Valoux</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14" name="Text 112"/>
          <p:cNvSpPr/>
          <p:nvPr/>
        </p:nvSpPr>
        <p:spPr>
          <a:xfrm>
            <a:off x="469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36</a:t>
            </a:r>
            <a:pPr indent="0" marL="0">
              <a:buNone/>
            </a:pP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115" name="Text 113"/>
          <p:cNvSpPr/>
          <p:nvPr/>
        </p:nvSpPr>
        <p:spPr>
          <a:xfrm>
            <a:off x="469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Magnum 1,5 L</a:t>
            </a:r>
            <a:pPr indent="0" marL="0">
              <a:buNone/>
            </a:pPr>
            <a:r>
              <a:rPr lang="en-US" sz="690" b="1" dirty="0">
                <a:solidFill>
                  <a:srgbClr val="67067C"/>
                </a:solidFill>
                <a:latin typeface="IBM Plex Sans" pitchFamily="34" charset="0"/>
                <a:ea typeface="IBM Plex Sans" pitchFamily="34" charset="-122"/>
                <a:cs typeface="IBM Plex Sans" pitchFamily="34" charset="-120"/>
              </a:rPr>
              <a:t>  36</a:t>
            </a:r>
            <a:pPr indent="0" marL="0">
              <a:buNone/>
            </a:pP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116" name="Text 114"/>
          <p:cNvSpPr/>
          <p:nvPr/>
        </p:nvSpPr>
        <p:spPr>
          <a:xfrm>
            <a:off x="469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la Perrière</a:t>
            </a:r>
            <a:pPr indent="0" marL="0">
              <a:buNone/>
            </a:pPr>
            <a:r>
              <a:rPr lang="en-US" sz="690" b="1" dirty="0">
                <a:solidFill>
                  <a:srgbClr val="67067C"/>
                </a:solidFill>
                <a:latin typeface="IBM Plex Sans" pitchFamily="34" charset="0"/>
                <a:ea typeface="IBM Plex Sans" pitchFamily="34" charset="-122"/>
                <a:cs typeface="IBM Plex Sans" pitchFamily="34" charset="-120"/>
              </a:rPr>
              <a:t>  10</a:t>
            </a:r>
            <a:pPr indent="0" marL="0">
              <a:buNone/>
            </a:pP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17" name="Text 115"/>
          <p:cNvSpPr/>
          <p:nvPr/>
        </p:nvSpPr>
        <p:spPr>
          <a:xfrm>
            <a:off x="469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Corbières Rouge</a:t>
            </a:r>
            <a:pPr indent="0" marL="0">
              <a:buNone/>
            </a:pPr>
            <a:r>
              <a:rPr lang="en-US" sz="690" b="1" dirty="0">
                <a:solidFill>
                  <a:srgbClr val="67067C"/>
                </a:solidFill>
                <a:latin typeface="IBM Plex Sans" pitchFamily="34" charset="0"/>
                <a:ea typeface="IBM Plex Sans" pitchFamily="34" charset="-122"/>
                <a:cs typeface="IBM Plex Sans" pitchFamily="34" charset="-120"/>
              </a:rPr>
              <a:t>  36</a:t>
            </a:r>
            <a:pPr indent="0" marL="0">
              <a:buNone/>
            </a:pP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118" name="Text 116"/>
          <p:cNvSpPr/>
          <p:nvPr/>
        </p:nvSpPr>
        <p:spPr>
          <a:xfrm>
            <a:off x="469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18</a:t>
            </a:r>
            <a:pPr indent="0" marL="0">
              <a:buNone/>
            </a:pP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119" name="Text 117"/>
          <p:cNvSpPr/>
          <p:nvPr/>
        </p:nvSpPr>
        <p:spPr>
          <a:xfrm>
            <a:off x="469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a:t>
            </a:r>
            <a:pPr indent="0" marL="0">
              <a:buNone/>
            </a:pPr>
            <a:r>
              <a:rPr lang="en-US" sz="690" b="1" dirty="0">
                <a:solidFill>
                  <a:srgbClr val="67067C"/>
                </a:solidFill>
                <a:latin typeface="IBM Plex Sans" pitchFamily="34" charset="0"/>
                <a:ea typeface="IBM Plex Sans" pitchFamily="34" charset="-122"/>
                <a:cs typeface="IBM Plex Sans" pitchFamily="34" charset="-120"/>
              </a:rPr>
              <a:t>  21</a:t>
            </a:r>
            <a:pPr indent="0" marL="0">
              <a:buNone/>
            </a:pP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20" name="Text 118"/>
          <p:cNvSpPr/>
          <p:nvPr/>
        </p:nvSpPr>
        <p:spPr>
          <a:xfrm>
            <a:off x="469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Coyeux</a:t>
            </a:r>
            <a:pPr indent="0" marL="0">
              <a:buNone/>
            </a:pPr>
            <a:r>
              <a:rPr lang="en-US" sz="690" b="1" dirty="0">
                <a:solidFill>
                  <a:srgbClr val="67067C"/>
                </a:solidFill>
                <a:latin typeface="IBM Plex Sans" pitchFamily="34" charset="0"/>
                <a:ea typeface="IBM Plex Sans" pitchFamily="34" charset="-122"/>
                <a:cs typeface="IBM Plex Sans" pitchFamily="34" charset="-120"/>
              </a:rPr>
              <a:t>  17</a:t>
            </a:r>
            <a:pPr indent="0" marL="0">
              <a:buNone/>
            </a:pP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21" name="Text 119"/>
          <p:cNvSpPr/>
          <p:nvPr/>
        </p:nvSpPr>
        <p:spPr>
          <a:xfrm>
            <a:off x="469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Fontenelles / Y'a Rien qui Presse</a:t>
            </a:r>
            <a:pPr indent="0" marL="0">
              <a:buNone/>
            </a:pPr>
            <a:r>
              <a:rPr lang="en-US" sz="690" b="1" dirty="0">
                <a:solidFill>
                  <a:srgbClr val="67067C"/>
                </a:solidFill>
                <a:latin typeface="IBM Plex Sans" pitchFamily="34" charset="0"/>
                <a:ea typeface="IBM Plex Sans" pitchFamily="34" charset="-122"/>
                <a:cs typeface="IBM Plex Sans" pitchFamily="34" charset="-120"/>
              </a:rPr>
              <a:t>  28</a:t>
            </a:r>
            <a:pPr indent="0" marL="0">
              <a:buNone/>
            </a:pP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122" name="Text 120"/>
          <p:cNvSpPr/>
          <p:nvPr/>
        </p:nvSpPr>
        <p:spPr>
          <a:xfrm>
            <a:off x="469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Diane / Le Vin Cœur</a:t>
            </a:r>
            <a:pPr indent="0" marL="0">
              <a:buNone/>
            </a:pPr>
            <a:r>
              <a:rPr lang="en-US" sz="690" b="1" dirty="0">
                <a:solidFill>
                  <a:srgbClr val="67067C"/>
                </a:solidFill>
                <a:latin typeface="IBM Plex Sans" pitchFamily="34" charset="0"/>
                <a:ea typeface="IBM Plex Sans" pitchFamily="34" charset="-122"/>
                <a:cs typeface="IBM Plex Sans" pitchFamily="34" charset="-120"/>
              </a:rPr>
              <a:t>  28</a:t>
            </a:r>
            <a:pPr indent="0" marL="0">
              <a:buNone/>
            </a:pP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123" name="Text 121"/>
          <p:cNvSpPr/>
          <p:nvPr/>
        </p:nvSpPr>
        <p:spPr>
          <a:xfrm>
            <a:off x="469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Philippe</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24" name="Text 122"/>
          <p:cNvSpPr/>
          <p:nvPr/>
        </p:nvSpPr>
        <p:spPr>
          <a:xfrm>
            <a:off x="469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TerraCotta / L'An Fort des Haltères</a:t>
            </a:r>
            <a:pPr indent="0" marL="0">
              <a:buNone/>
            </a:pPr>
            <a:r>
              <a:rPr lang="en-US" sz="690" b="1" dirty="0">
                <a:solidFill>
                  <a:srgbClr val="67067C"/>
                </a:solidFill>
                <a:latin typeface="IBM Plex Sans" pitchFamily="34" charset="0"/>
                <a:ea typeface="IBM Plex Sans" pitchFamily="34" charset="-122"/>
                <a:cs typeface="IBM Plex Sans" pitchFamily="34" charset="-120"/>
              </a:rPr>
              <a:t>  28</a:t>
            </a:r>
            <a:pPr indent="0" marL="0">
              <a:buNone/>
            </a:pP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125" name="Text 123"/>
          <p:cNvSpPr/>
          <p:nvPr/>
        </p:nvSpPr>
        <p:spPr>
          <a:xfrm>
            <a:off x="469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Dolmen</a:t>
            </a:r>
            <a:pPr indent="0" marL="0">
              <a:buNone/>
            </a:pPr>
            <a:r>
              <a:rPr lang="en-US" sz="690" b="1" dirty="0">
                <a:solidFill>
                  <a:srgbClr val="67067C"/>
                </a:solidFill>
                <a:latin typeface="IBM Plex Sans" pitchFamily="34" charset="0"/>
                <a:ea typeface="IBM Plex Sans" pitchFamily="34" charset="-122"/>
                <a:cs typeface="IBM Plex Sans" pitchFamily="34" charset="-120"/>
              </a:rPr>
              <a:t>  34</a:t>
            </a:r>
            <a:pPr indent="0" marL="0">
              <a:buNone/>
            </a:pP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126" name="Text 124"/>
          <p:cNvSpPr/>
          <p:nvPr/>
        </p:nvSpPr>
        <p:spPr>
          <a:xfrm>
            <a:off x="469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Duché</a:t>
            </a:r>
            <a:pPr indent="0" marL="0">
              <a:buNone/>
            </a:pPr>
            <a:r>
              <a:rPr lang="en-US" sz="690" b="1" dirty="0">
                <a:solidFill>
                  <a:srgbClr val="67067C"/>
                </a:solidFill>
                <a:latin typeface="IBM Plex Sans" pitchFamily="34" charset="0"/>
                <a:ea typeface="IBM Plex Sans" pitchFamily="34" charset="-122"/>
                <a:cs typeface="IBM Plex Sans" pitchFamily="34" charset="-120"/>
              </a:rPr>
              <a:t>  35</a:t>
            </a:r>
            <a:pPr indent="0" marL="0">
              <a:buNone/>
            </a:pPr>
            <a:r>
              <a:rPr lang="en-US" sz="690" dirty="0">
                <a:solidFill>
                  <a:srgbClr val="46606E"/>
                </a:solidFill>
                <a:latin typeface="IBM Plex Sans" pitchFamily="34" charset="0"/>
                <a:ea typeface="IBM Plex Sans" pitchFamily="34" charset="-122"/>
                <a:cs typeface="IBM Plex Sans" pitchFamily="34" charset="-120"/>
              </a:rPr>
              <a:t>  60</a:t>
            </a:r>
            <a:endParaRPr lang="en-US" sz="690" dirty="0"/>
          </a:p>
        </p:txBody>
      </p:sp>
      <p:sp>
        <p:nvSpPr>
          <p:cNvPr id="127" name="Text 125"/>
          <p:cNvSpPr/>
          <p:nvPr/>
        </p:nvSpPr>
        <p:spPr>
          <a:xfrm>
            <a:off x="469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Eléonore du Château Teynac</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28" name="Text 126"/>
          <p:cNvSpPr/>
          <p:nvPr/>
        </p:nvSpPr>
        <p:spPr>
          <a:xfrm>
            <a:off x="469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Doyac</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29" name="Text 127"/>
          <p:cNvSpPr/>
          <p:nvPr/>
        </p:nvSpPr>
        <p:spPr>
          <a:xfrm>
            <a:off x="469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Franc / Graves</a:t>
            </a:r>
            <a:pPr indent="0" marL="0">
              <a:buNone/>
            </a:pPr>
            <a:r>
              <a:rPr lang="en-US" sz="690" b="1" dirty="0">
                <a:solidFill>
                  <a:srgbClr val="67067C"/>
                </a:solidFill>
                <a:latin typeface="IBM Plex Sans" pitchFamily="34" charset="0"/>
                <a:ea typeface="IBM Plex Sans" pitchFamily="34" charset="-122"/>
                <a:cs typeface="IBM Plex Sans" pitchFamily="34" charset="-120"/>
              </a:rPr>
              <a:t>  1</a:t>
            </a:r>
            <a:pPr indent="0" marL="0">
              <a:buNone/>
            </a:pP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30" name="Text 128"/>
          <p:cNvSpPr/>
          <p:nvPr/>
        </p:nvSpPr>
        <p:spPr>
          <a:xfrm>
            <a:off x="469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Grolleau Noir</a:t>
            </a:r>
            <a:pPr indent="0" marL="0">
              <a:buNone/>
            </a:pPr>
            <a:r>
              <a:rPr lang="en-US" sz="690" b="1" dirty="0">
                <a:solidFill>
                  <a:srgbClr val="67067C"/>
                </a:solidFill>
                <a:latin typeface="IBM Plex Sans" pitchFamily="34" charset="0"/>
                <a:ea typeface="IBM Plex Sans" pitchFamily="34" charset="-122"/>
                <a:cs typeface="IBM Plex Sans" pitchFamily="34" charset="-120"/>
              </a:rPr>
              <a:t>  1</a:t>
            </a:r>
            <a:pPr indent="0" marL="0">
              <a:buNone/>
            </a:pP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31" name="Text 129"/>
          <p:cNvSpPr/>
          <p:nvPr/>
        </p:nvSpPr>
        <p:spPr>
          <a:xfrm>
            <a:off x="469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Graves de Bouscaut</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32" name="Text 130"/>
          <p:cNvSpPr/>
          <p:nvPr/>
        </p:nvSpPr>
        <p:spPr>
          <a:xfrm>
            <a:off x="469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(Pinot Noir)</a:t>
            </a:r>
            <a:pPr indent="0" marL="0">
              <a:buNone/>
            </a:pPr>
            <a:r>
              <a:rPr lang="en-US" sz="690" b="1" dirty="0">
                <a:solidFill>
                  <a:srgbClr val="67067C"/>
                </a:solidFill>
                <a:latin typeface="IBM Plex Sans" pitchFamily="34" charset="0"/>
                <a:ea typeface="IBM Plex Sans" pitchFamily="34" charset="-122"/>
                <a:cs typeface="IBM Plex Sans" pitchFamily="34" charset="-120"/>
              </a:rPr>
              <a:t>  8</a:t>
            </a:r>
            <a:pPr indent="0" marL="0">
              <a:buNone/>
            </a:pP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133" name="Text 131"/>
          <p:cNvSpPr/>
          <p:nvPr/>
        </p:nvSpPr>
        <p:spPr>
          <a:xfrm>
            <a:off x="469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Henri</a:t>
            </a:r>
            <a:pPr indent="0" marL="0">
              <a:buNone/>
            </a:pPr>
            <a:r>
              <a:rPr lang="en-US" sz="690" b="1" dirty="0">
                <a:solidFill>
                  <a:srgbClr val="67067C"/>
                </a:solidFill>
                <a:latin typeface="IBM Plex Sans" pitchFamily="34" charset="0"/>
                <a:ea typeface="IBM Plex Sans" pitchFamily="34" charset="-122"/>
                <a:cs typeface="IBM Plex Sans" pitchFamily="34" charset="-120"/>
              </a:rPr>
              <a:t>  34</a:t>
            </a:r>
            <a:pPr indent="0" marL="0">
              <a:buNone/>
            </a:pP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134" name="Text 132"/>
          <p:cNvSpPr/>
          <p:nvPr/>
        </p:nvSpPr>
        <p:spPr>
          <a:xfrm>
            <a:off x="469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pPr indent="0" marL="0">
              <a:buNone/>
            </a:pPr>
            <a:r>
              <a:rPr lang="en-US" sz="690" b="1" dirty="0">
                <a:solidFill>
                  <a:srgbClr val="67067C"/>
                </a:solidFill>
                <a:latin typeface="IBM Plex Sans" pitchFamily="34" charset="0"/>
                <a:ea typeface="IBM Plex Sans" pitchFamily="34" charset="-122"/>
                <a:cs typeface="IBM Plex Sans" pitchFamily="34" charset="-120"/>
              </a:rPr>
              <a:t>  3</a:t>
            </a:r>
            <a:pPr indent="0" marL="0">
              <a:buNone/>
            </a:pP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35" name="Text 133"/>
          <p:cNvSpPr/>
          <p:nvPr/>
        </p:nvSpPr>
        <p:spPr>
          <a:xfrm>
            <a:off x="469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Méditerranée</a:t>
            </a:r>
            <a:pPr indent="0" marL="0">
              <a:buNone/>
            </a:pPr>
            <a:r>
              <a:rPr lang="en-US" sz="690" b="1" dirty="0">
                <a:solidFill>
                  <a:srgbClr val="67067C"/>
                </a:solidFill>
                <a:latin typeface="IBM Plex Sans" pitchFamily="34" charset="0"/>
                <a:ea typeface="IBM Plex Sans" pitchFamily="34" charset="-122"/>
                <a:cs typeface="IBM Plex Sans" pitchFamily="34" charset="-120"/>
              </a:rPr>
              <a:t>  17</a:t>
            </a:r>
            <a:pPr indent="0" marL="0">
              <a:buNone/>
            </a:pP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36" name="Text 134"/>
          <p:cNvSpPr/>
          <p:nvPr/>
        </p:nvSpPr>
        <p:spPr>
          <a:xfrm>
            <a:off x="469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Merlot</a:t>
            </a:r>
            <a:pPr indent="0" marL="0">
              <a:buNone/>
            </a:pPr>
            <a:r>
              <a:rPr lang="en-US" sz="690" b="1" dirty="0">
                <a:solidFill>
                  <a:srgbClr val="67067C"/>
                </a:solidFill>
                <a:latin typeface="IBM Plex Sans" pitchFamily="34" charset="0"/>
                <a:ea typeface="IBM Plex Sans" pitchFamily="34" charset="-122"/>
                <a:cs typeface="IBM Plex Sans" pitchFamily="34" charset="-120"/>
              </a:rPr>
              <a:t>  3</a:t>
            </a:r>
            <a:pPr indent="0" marL="0">
              <a:buNone/>
            </a:pP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37" name="Text 13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69</a:t>
            </a:r>
            <a:endParaRPr lang="en-US" sz="750" dirty="0"/>
          </a:p>
        </p:txBody>
      </p:sp>
      <p:sp>
        <p:nvSpPr>
          <p:cNvPr id="138" name="Text 13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Inopine (100 % Merlot)</a:t>
            </a:r>
            <a:pPr indent="0" marL="0">
              <a:buNone/>
            </a:pPr>
            <a:r>
              <a:rPr lang="en-US" sz="690" b="1" dirty="0">
                <a:solidFill>
                  <a:srgbClr val="67067C"/>
                </a:solidFill>
                <a:latin typeface="IBM Plex Sans" pitchFamily="34" charset="0"/>
                <a:ea typeface="IBM Plex Sans" pitchFamily="34" charset="-122"/>
                <a:cs typeface="IBM Plex Sans" pitchFamily="34" charset="-120"/>
              </a:rPr>
              <a:t>  29</a:t>
            </a:r>
            <a:pPr indent="0" marL="0">
              <a:buNone/>
            </a:pPr>
            <a:r>
              <a:rPr lang="en-US" sz="690" dirty="0">
                <a:solidFill>
                  <a:srgbClr val="46606E"/>
                </a:solidFill>
                <a:latin typeface="IBM Plex Sans" pitchFamily="34" charset="0"/>
                <a:ea typeface="IBM Plex Sans" pitchFamily="34" charset="-122"/>
                <a:cs typeface="IBM Plex Sans" pitchFamily="34" charset="-120"/>
              </a:rPr>
              <a:t>  51</a:t>
            </a:r>
            <a:endParaRPr lang="en-US" sz="690" dirty="0"/>
          </a:p>
        </p:txBody>
      </p:sp>
      <p:sp>
        <p:nvSpPr>
          <p:cNvPr id="3" name="Text 1"/>
          <p:cNvSpPr/>
          <p:nvPr/>
        </p:nvSpPr>
        <p:spPr>
          <a:xfrm>
            <a:off x="82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4" name="Text 2"/>
          <p:cNvSpPr/>
          <p:nvPr/>
        </p:nvSpPr>
        <p:spPr>
          <a:xfrm>
            <a:off x="82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31</a:t>
            </a:r>
            <a:pPr indent="0" marL="0">
              <a:buNone/>
            </a:pP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5" name="Text 3"/>
          <p:cNvSpPr/>
          <p:nvPr/>
        </p:nvSpPr>
        <p:spPr>
          <a:xfrm>
            <a:off x="82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L'An 022 – élevé en amphore</a:t>
            </a:r>
            <a:pPr indent="0" marL="0">
              <a:buNone/>
            </a:pPr>
            <a:r>
              <a:rPr lang="en-US" sz="690" b="1" dirty="0">
                <a:solidFill>
                  <a:srgbClr val="67067C"/>
                </a:solidFill>
                <a:latin typeface="IBM Plex Sans" pitchFamily="34" charset="0"/>
                <a:ea typeface="IBM Plex Sans" pitchFamily="34" charset="-122"/>
                <a:cs typeface="IBM Plex Sans" pitchFamily="34" charset="-120"/>
              </a:rPr>
              <a:t>  26</a:t>
            </a:r>
            <a:pPr indent="0" marL="0">
              <a:buNone/>
            </a:pP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6" name="Text 4"/>
          <p:cNvSpPr/>
          <p:nvPr/>
        </p:nvSpPr>
        <p:spPr>
          <a:xfrm>
            <a:off x="82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L'Etoile de Villegeorge</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7" name="Text 5"/>
          <p:cNvSpPr/>
          <p:nvPr/>
        </p:nvSpPr>
        <p:spPr>
          <a:xfrm>
            <a:off x="82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L'Oratoire de Chasse-Spleen</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8" name="Text 6"/>
          <p:cNvSpPr/>
          <p:nvPr/>
        </p:nvSpPr>
        <p:spPr>
          <a:xfrm>
            <a:off x="82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Bonne Résolution</a:t>
            </a:r>
            <a:pPr indent="0" marL="0">
              <a:buNone/>
            </a:pPr>
            <a:r>
              <a:rPr lang="en-US" sz="690" b="1" dirty="0">
                <a:solidFill>
                  <a:srgbClr val="67067C"/>
                </a:solidFill>
                <a:latin typeface="IBM Plex Sans" pitchFamily="34" charset="0"/>
                <a:ea typeface="IBM Plex Sans" pitchFamily="34" charset="-122"/>
                <a:cs typeface="IBM Plex Sans" pitchFamily="34" charset="-120"/>
              </a:rPr>
              <a:t>  26</a:t>
            </a:r>
            <a:pPr indent="0" marL="0">
              <a:buNone/>
            </a:pP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9" name="Text 7"/>
          <p:cNvSpPr/>
          <p:nvPr/>
        </p:nvSpPr>
        <p:spPr>
          <a:xfrm>
            <a:off x="82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Confiance de l'Escarderie</a:t>
            </a:r>
            <a:pPr indent="0" marL="0">
              <a:buNone/>
            </a:pPr>
            <a:r>
              <a:rPr lang="en-US" sz="690" b="1" dirty="0">
                <a:solidFill>
                  <a:srgbClr val="67067C"/>
                </a:solidFill>
                <a:latin typeface="IBM Plex Sans" pitchFamily="34" charset="0"/>
                <a:ea typeface="IBM Plex Sans" pitchFamily="34" charset="-122"/>
                <a:cs typeface="IBM Plex Sans" pitchFamily="34" charset="-120"/>
              </a:rPr>
              <a:t>  30</a:t>
            </a:r>
            <a:pPr indent="0" marL="0">
              <a:buNone/>
            </a:pP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10" name="Text 8"/>
          <p:cNvSpPr/>
          <p:nvPr/>
        </p:nvSpPr>
        <p:spPr>
          <a:xfrm>
            <a:off x="82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Demoiselle de Saint-Germain</a:t>
            </a:r>
            <a:pPr indent="0" marL="0">
              <a:buNone/>
            </a:pPr>
            <a:r>
              <a:rPr lang="en-US" sz="690" b="1" dirty="0">
                <a:solidFill>
                  <a:srgbClr val="67067C"/>
                </a:solidFill>
                <a:latin typeface="IBM Plex Sans" pitchFamily="34" charset="0"/>
                <a:ea typeface="IBM Plex Sans" pitchFamily="34" charset="-122"/>
                <a:cs typeface="IBM Plex Sans" pitchFamily="34" charset="-120"/>
              </a:rPr>
              <a:t>  30</a:t>
            </a:r>
            <a:pPr indent="0" marL="0">
              <a:buNone/>
            </a:pP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11" name="Text 9"/>
          <p:cNvSpPr/>
          <p:nvPr/>
        </p:nvSpPr>
        <p:spPr>
          <a:xfrm>
            <a:off x="82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Fleur de Haut-Bages Libéral</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2" name="Text 10"/>
          <p:cNvSpPr/>
          <p:nvPr/>
        </p:nvSpPr>
        <p:spPr>
          <a:xfrm>
            <a:off x="82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Les Soudannes</a:t>
            </a:r>
            <a:pPr indent="0" marL="0">
              <a:buNone/>
            </a:pPr>
            <a:r>
              <a:rPr lang="en-US" sz="690" b="1" dirty="0">
                <a:solidFill>
                  <a:srgbClr val="67067C"/>
                </a:solidFill>
                <a:latin typeface="IBM Plex Sans" pitchFamily="34" charset="0"/>
                <a:ea typeface="IBM Plex Sans" pitchFamily="34" charset="-122"/>
                <a:cs typeface="IBM Plex Sans" pitchFamily="34" charset="-120"/>
              </a:rPr>
              <a:t>  1</a:t>
            </a:r>
            <a:pPr indent="0" marL="0">
              <a:buNone/>
            </a:pP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3" name="Text 11"/>
          <p:cNvSpPr/>
          <p:nvPr/>
        </p:nvSpPr>
        <p:spPr>
          <a:xfrm>
            <a:off x="82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Louisonne</a:t>
            </a:r>
            <a:pPr indent="0" marL="0">
              <a:buNone/>
            </a:pPr>
            <a:r>
              <a:rPr lang="en-US" sz="690" b="1" dirty="0">
                <a:solidFill>
                  <a:srgbClr val="67067C"/>
                </a:solidFill>
                <a:latin typeface="IBM Plex Sans" pitchFamily="34" charset="0"/>
                <a:ea typeface="IBM Plex Sans" pitchFamily="34" charset="-122"/>
                <a:cs typeface="IBM Plex Sans" pitchFamily="34" charset="-120"/>
              </a:rPr>
              <a:t>  6</a:t>
            </a:r>
            <a:pPr indent="0" marL="0">
              <a:buNone/>
            </a:pP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4" name="Text 12"/>
          <p:cNvSpPr/>
          <p:nvPr/>
        </p:nvSpPr>
        <p:spPr>
          <a:xfrm>
            <a:off x="82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Echoppe</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5" name="Text 13"/>
          <p:cNvSpPr/>
          <p:nvPr/>
        </p:nvSpPr>
        <p:spPr>
          <a:xfrm>
            <a:off x="82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Syrah</a:t>
            </a:r>
            <a:pPr indent="0" marL="0">
              <a:buNone/>
            </a:pPr>
            <a:r>
              <a:rPr lang="en-US" sz="690" b="1" dirty="0">
                <a:solidFill>
                  <a:srgbClr val="67067C"/>
                </a:solidFill>
                <a:latin typeface="IBM Plex Sans" pitchFamily="34" charset="0"/>
                <a:ea typeface="IBM Plex Sans" pitchFamily="34" charset="-122"/>
                <a:cs typeface="IBM Plex Sans" pitchFamily="34" charset="-120"/>
              </a:rPr>
              <a:t>  35</a:t>
            </a:r>
            <a:pPr indent="0" marL="0">
              <a:buNone/>
            </a:pPr>
            <a:r>
              <a:rPr lang="en-US" sz="690" dirty="0">
                <a:solidFill>
                  <a:srgbClr val="46606E"/>
                </a:solidFill>
                <a:latin typeface="IBM Plex Sans" pitchFamily="34" charset="0"/>
                <a:ea typeface="IBM Plex Sans" pitchFamily="34" charset="-122"/>
                <a:cs typeface="IBM Plex Sans" pitchFamily="34" charset="-120"/>
              </a:rPr>
              <a:t>  60</a:t>
            </a:r>
            <a:endParaRPr lang="en-US" sz="690" dirty="0"/>
          </a:p>
        </p:txBody>
      </p:sp>
      <p:sp>
        <p:nvSpPr>
          <p:cNvPr id="16" name="Text 14"/>
          <p:cNvSpPr/>
          <p:nvPr/>
        </p:nvSpPr>
        <p:spPr>
          <a:xfrm>
            <a:off x="82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Tour de Bessan</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7" name="Text 15"/>
          <p:cNvSpPr/>
          <p:nvPr/>
        </p:nvSpPr>
        <p:spPr>
          <a:xfrm>
            <a:off x="82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Potion</a:t>
            </a:r>
            <a:pPr indent="0" marL="0">
              <a:buNone/>
            </a:pPr>
            <a:r>
              <a:rPr lang="en-US" sz="690" b="1" dirty="0">
                <a:solidFill>
                  <a:srgbClr val="67067C"/>
                </a:solidFill>
                <a:latin typeface="IBM Plex Sans" pitchFamily="34" charset="0"/>
                <a:ea typeface="IBM Plex Sans" pitchFamily="34" charset="-122"/>
                <a:cs typeface="IBM Plex Sans" pitchFamily="34" charset="-120"/>
              </a:rPr>
              <a:t>  36</a:t>
            </a:r>
            <a:pPr indent="0" marL="0">
              <a:buNone/>
            </a:pP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18" name="Text 16"/>
          <p:cNvSpPr/>
          <p:nvPr/>
        </p:nvSpPr>
        <p:spPr>
          <a:xfrm>
            <a:off x="82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Soif</a:t>
            </a:r>
            <a:pPr indent="0" marL="0">
              <a:buNone/>
            </a:pPr>
            <a:r>
              <a:rPr lang="en-US" sz="690" b="1" dirty="0">
                <a:solidFill>
                  <a:srgbClr val="67067C"/>
                </a:solidFill>
                <a:latin typeface="IBM Plex Sans" pitchFamily="34" charset="0"/>
                <a:ea typeface="IBM Plex Sans" pitchFamily="34" charset="-122"/>
                <a:cs typeface="IBM Plex Sans" pitchFamily="34" charset="-120"/>
              </a:rPr>
              <a:t>  35</a:t>
            </a:r>
            <a:pPr indent="0" marL="0">
              <a:buNone/>
            </a:pPr>
            <a:r>
              <a:rPr lang="en-US" sz="690" dirty="0">
                <a:solidFill>
                  <a:srgbClr val="46606E"/>
                </a:solidFill>
                <a:latin typeface="IBM Plex Sans" pitchFamily="34" charset="0"/>
                <a:ea typeface="IBM Plex Sans" pitchFamily="34" charset="-122"/>
                <a:cs typeface="IBM Plex Sans" pitchFamily="34" charset="-120"/>
              </a:rPr>
              <a:t>  60</a:t>
            </a:r>
            <a:endParaRPr lang="en-US" sz="690" dirty="0"/>
          </a:p>
        </p:txBody>
      </p:sp>
      <p:sp>
        <p:nvSpPr>
          <p:cNvPr id="19" name="Text 17"/>
          <p:cNvSpPr/>
          <p:nvPr/>
        </p:nvSpPr>
        <p:spPr>
          <a:xfrm>
            <a:off x="82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Bois Bouquet</a:t>
            </a:r>
            <a:pPr indent="0" marL="0">
              <a:buNone/>
            </a:pPr>
            <a:r>
              <a:rPr lang="en-US" sz="690" b="1" dirty="0">
                <a:solidFill>
                  <a:srgbClr val="67067C"/>
                </a:solidFill>
                <a:latin typeface="IBM Plex Sans" pitchFamily="34" charset="0"/>
                <a:ea typeface="IBM Plex Sans" pitchFamily="34" charset="-122"/>
                <a:cs typeface="IBM Plex Sans" pitchFamily="34" charset="-120"/>
              </a:rPr>
              <a:t>  2</a:t>
            </a:r>
            <a:pPr indent="0" marL="0">
              <a:buNone/>
            </a:pP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20" name="Text 18"/>
          <p:cNvSpPr/>
          <p:nvPr/>
        </p:nvSpPr>
        <p:spPr>
          <a:xfrm>
            <a:off x="82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Cornevent MONOPOLE</a:t>
            </a:r>
            <a:pPr indent="0" marL="0">
              <a:buNone/>
            </a:pPr>
            <a:r>
              <a:rPr lang="en-US" sz="690" b="1" dirty="0">
                <a:solidFill>
                  <a:srgbClr val="67067C"/>
                </a:solidFill>
                <a:latin typeface="IBM Plex Sans" pitchFamily="34" charset="0"/>
                <a:ea typeface="IBM Plex Sans" pitchFamily="34" charset="-122"/>
                <a:cs typeface="IBM Plex Sans" pitchFamily="34" charset="-120"/>
              </a:rPr>
              <a:t>  13</a:t>
            </a:r>
            <a:pPr indent="0" marL="0">
              <a:buNone/>
            </a:pP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1" name="Text 19"/>
          <p:cNvSpPr/>
          <p:nvPr/>
        </p:nvSpPr>
        <p:spPr>
          <a:xfrm>
            <a:off x="82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22" name="Text 20"/>
          <p:cNvSpPr/>
          <p:nvPr/>
        </p:nvSpPr>
        <p:spPr>
          <a:xfrm>
            <a:off x="82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150 cl</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23" name="Text 21"/>
          <p:cNvSpPr/>
          <p:nvPr/>
        </p:nvSpPr>
        <p:spPr>
          <a:xfrm>
            <a:off x="82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Plateau de Durfort-Vivens</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24" name="Text 22"/>
          <p:cNvSpPr/>
          <p:nvPr/>
        </p:nvSpPr>
        <p:spPr>
          <a:xfrm>
            <a:off x="82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Prieuré</a:t>
            </a:r>
            <a:pPr indent="0" marL="0">
              <a:buNone/>
            </a:pPr>
            <a:r>
              <a:rPr lang="en-US" sz="690" b="1" dirty="0">
                <a:solidFill>
                  <a:srgbClr val="67067C"/>
                </a:solidFill>
                <a:latin typeface="IBM Plex Sans" pitchFamily="34" charset="0"/>
                <a:ea typeface="IBM Plex Sans" pitchFamily="34" charset="-122"/>
                <a:cs typeface="IBM Plex Sans" pitchFamily="34" charset="-120"/>
              </a:rPr>
              <a:t>  16</a:t>
            </a:r>
            <a:pPr indent="0" marL="0">
              <a:buNone/>
            </a:pP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25" name="Text 23"/>
          <p:cNvSpPr/>
          <p:nvPr/>
        </p:nvSpPr>
        <p:spPr>
          <a:xfrm>
            <a:off x="82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Saugeot</a:t>
            </a:r>
            <a:pPr indent="0" marL="0">
              <a:buNone/>
            </a:pPr>
            <a:r>
              <a:rPr lang="en-US" sz="690" b="1" dirty="0">
                <a:solidFill>
                  <a:srgbClr val="67067C"/>
                </a:solidFill>
                <a:latin typeface="IBM Plex Sans" pitchFamily="34" charset="0"/>
                <a:ea typeface="IBM Plex Sans" pitchFamily="34" charset="-122"/>
                <a:cs typeface="IBM Plex Sans" pitchFamily="34" charset="-120"/>
              </a:rPr>
              <a:t>  14</a:t>
            </a:r>
            <a:pPr indent="0" marL="0">
              <a:buNone/>
            </a:pPr>
            <a:r>
              <a:rPr lang="en-US" sz="690" dirty="0">
                <a:solidFill>
                  <a:srgbClr val="46606E"/>
                </a:solidFill>
                <a:latin typeface="IBM Plex Sans" pitchFamily="34" charset="0"/>
                <a:ea typeface="IBM Plex Sans" pitchFamily="34" charset="-122"/>
                <a:cs typeface="IBM Plex Sans" pitchFamily="34" charset="-120"/>
              </a:rPr>
              <a:t>  28</a:t>
            </a:r>
            <a:endParaRPr lang="en-US" sz="690" dirty="0"/>
          </a:p>
        </p:txBody>
      </p:sp>
      <p:sp>
        <p:nvSpPr>
          <p:cNvPr id="26" name="Text 24"/>
          <p:cNvSpPr/>
          <p:nvPr/>
        </p:nvSpPr>
        <p:spPr>
          <a:xfrm>
            <a:off x="82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Léon</a:t>
            </a:r>
            <a:pPr indent="0" marL="0">
              <a:buNone/>
            </a:pPr>
            <a:r>
              <a:rPr lang="en-US" sz="690" b="1" dirty="0">
                <a:solidFill>
                  <a:srgbClr val="67067C"/>
                </a:solidFill>
                <a:latin typeface="IBM Plex Sans" pitchFamily="34" charset="0"/>
                <a:ea typeface="IBM Plex Sans" pitchFamily="34" charset="-122"/>
                <a:cs typeface="IBM Plex Sans" pitchFamily="34" charset="-120"/>
              </a:rPr>
              <a:t>  34</a:t>
            </a:r>
            <a:pPr indent="0" marL="0">
              <a:buNone/>
            </a:pP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27" name="Text 25"/>
          <p:cNvSpPr/>
          <p:nvPr/>
        </p:nvSpPr>
        <p:spPr>
          <a:xfrm>
            <a:off x="82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a:t>
            </a:r>
            <a:pPr indent="0" marL="0">
              <a:buNone/>
            </a:pPr>
            <a:r>
              <a:rPr lang="en-US" sz="690" b="1" dirty="0">
                <a:solidFill>
                  <a:srgbClr val="67067C"/>
                </a:solidFill>
                <a:latin typeface="IBM Plex Sans" pitchFamily="34" charset="0"/>
                <a:ea typeface="IBM Plex Sans" pitchFamily="34" charset="-122"/>
                <a:cs typeface="IBM Plex Sans" pitchFamily="34" charset="-120"/>
              </a:rPr>
              <a:t>  10</a:t>
            </a:r>
            <a:pPr indent="0" marL="0">
              <a:buNone/>
            </a:pP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28" name="Text 26"/>
          <p:cNvSpPr/>
          <p:nvPr/>
        </p:nvSpPr>
        <p:spPr>
          <a:xfrm>
            <a:off x="82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banquettes</a:t>
            </a:r>
            <a:pPr indent="0" marL="0">
              <a:buNone/>
            </a:pPr>
            <a:r>
              <a:rPr lang="en-US" sz="690" b="1" dirty="0">
                <a:solidFill>
                  <a:srgbClr val="67067C"/>
                </a:solidFill>
                <a:latin typeface="IBM Plex Sans" pitchFamily="34" charset="0"/>
                <a:ea typeface="IBM Plex Sans" pitchFamily="34" charset="-122"/>
                <a:cs typeface="IBM Plex Sans" pitchFamily="34" charset="-120"/>
              </a:rPr>
              <a:t>  17</a:t>
            </a:r>
            <a:pPr indent="0" marL="0">
              <a:buNone/>
            </a:pP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29" name="Text 27"/>
          <p:cNvSpPr/>
          <p:nvPr/>
        </p:nvSpPr>
        <p:spPr>
          <a:xfrm>
            <a:off x="82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Bons Feuvres</a:t>
            </a:r>
            <a:pPr indent="0" marL="0">
              <a:buNone/>
            </a:pPr>
            <a:r>
              <a:rPr lang="en-US" sz="690" b="1" dirty="0">
                <a:solidFill>
                  <a:srgbClr val="67067C"/>
                </a:solidFill>
                <a:latin typeface="IBM Plex Sans" pitchFamily="34" charset="0"/>
                <a:ea typeface="IBM Plex Sans" pitchFamily="34" charset="-122"/>
                <a:cs typeface="IBM Plex Sans" pitchFamily="34" charset="-120"/>
              </a:rPr>
              <a:t>  10</a:t>
            </a:r>
            <a:pPr indent="0" marL="0">
              <a:buNone/>
            </a:pP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30" name="Text 28"/>
          <p:cNvSpPr/>
          <p:nvPr/>
        </p:nvSpPr>
        <p:spPr>
          <a:xfrm>
            <a:off x="82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Coups de Folies</a:t>
            </a:r>
            <a:pPr indent="0" marL="0">
              <a:buNone/>
            </a:pPr>
            <a:r>
              <a:rPr lang="en-US" sz="690" b="1" dirty="0">
                <a:solidFill>
                  <a:srgbClr val="67067C"/>
                </a:solidFill>
                <a:latin typeface="IBM Plex Sans" pitchFamily="34" charset="0"/>
                <a:ea typeface="IBM Plex Sans" pitchFamily="34" charset="-122"/>
                <a:cs typeface="IBM Plex Sans" pitchFamily="34" charset="-120"/>
              </a:rPr>
              <a:t>  9</a:t>
            </a:r>
            <a:pPr indent="0" marL="0">
              <a:buNone/>
            </a:pP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31" name="Text 29"/>
          <p:cNvSpPr/>
          <p:nvPr/>
        </p:nvSpPr>
        <p:spPr>
          <a:xfrm>
            <a:off x="82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Courbes</a:t>
            </a:r>
            <a:pPr indent="0" marL="0">
              <a:buNone/>
            </a:pPr>
            <a:r>
              <a:rPr lang="en-US" sz="690" b="1" dirty="0">
                <a:solidFill>
                  <a:srgbClr val="67067C"/>
                </a:solidFill>
                <a:latin typeface="IBM Plex Sans" pitchFamily="34" charset="0"/>
                <a:ea typeface="IBM Plex Sans" pitchFamily="34" charset="-122"/>
                <a:cs typeface="IBM Plex Sans" pitchFamily="34" charset="-120"/>
              </a:rPr>
              <a:t>  2</a:t>
            </a:r>
            <a:pPr indent="0" marL="0">
              <a:buNone/>
            </a:pP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32" name="Text 30"/>
          <p:cNvSpPr/>
          <p:nvPr/>
        </p:nvSpPr>
        <p:spPr>
          <a:xfrm>
            <a:off x="82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Demoiselles de Falfas</a:t>
            </a:r>
            <a:pPr indent="0" marL="0">
              <a:buNone/>
            </a:pPr>
            <a:r>
              <a:rPr lang="en-US" sz="690" b="1" dirty="0">
                <a:solidFill>
                  <a:srgbClr val="67067C"/>
                </a:solidFill>
                <a:latin typeface="IBM Plex Sans" pitchFamily="34" charset="0"/>
                <a:ea typeface="IBM Plex Sans" pitchFamily="34" charset="-122"/>
                <a:cs typeface="IBM Plex Sans" pitchFamily="34" charset="-120"/>
              </a:rPr>
              <a:t>  27</a:t>
            </a:r>
            <a:pPr indent="0" marL="0">
              <a:buNone/>
            </a:pPr>
            <a:r>
              <a:rPr lang="en-US" sz="690" dirty="0">
                <a:solidFill>
                  <a:srgbClr val="46606E"/>
                </a:solidFill>
                <a:latin typeface="IBM Plex Sans" pitchFamily="34" charset="0"/>
                <a:ea typeface="IBM Plex Sans" pitchFamily="34" charset="-122"/>
                <a:cs typeface="IBM Plex Sans" pitchFamily="34" charset="-120"/>
              </a:rPr>
              <a:t>  49</a:t>
            </a:r>
            <a:endParaRPr lang="en-US" sz="690" dirty="0"/>
          </a:p>
        </p:txBody>
      </p:sp>
      <p:sp>
        <p:nvSpPr>
          <p:cNvPr id="33" name="Text 31"/>
          <p:cNvSpPr/>
          <p:nvPr/>
        </p:nvSpPr>
        <p:spPr>
          <a:xfrm>
            <a:off x="82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Gneiss</a:t>
            </a:r>
            <a:pPr indent="0" marL="0">
              <a:buNone/>
            </a:pPr>
            <a:r>
              <a:rPr lang="en-US" sz="690" b="1" dirty="0">
                <a:solidFill>
                  <a:srgbClr val="67067C"/>
                </a:solidFill>
                <a:latin typeface="IBM Plex Sans" pitchFamily="34" charset="0"/>
                <a:ea typeface="IBM Plex Sans" pitchFamily="34" charset="-122"/>
                <a:cs typeface="IBM Plex Sans" pitchFamily="34" charset="-120"/>
              </a:rPr>
              <a:t>  2</a:t>
            </a:r>
            <a:pPr indent="0" marL="0">
              <a:buNone/>
            </a:pP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34" name="Text 32"/>
          <p:cNvSpPr/>
          <p:nvPr/>
        </p:nvSpPr>
        <p:spPr>
          <a:xfrm>
            <a:off x="82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 Pez</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35" name="Text 33"/>
          <p:cNvSpPr/>
          <p:nvPr/>
        </p:nvSpPr>
        <p:spPr>
          <a:xfrm>
            <a:off x="82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des Olivoux</a:t>
            </a:r>
            <a:pPr indent="0" marL="0">
              <a:buNone/>
            </a:pPr>
            <a:r>
              <a:rPr lang="en-US" sz="690" b="1" dirty="0">
                <a:solidFill>
                  <a:srgbClr val="67067C"/>
                </a:solidFill>
                <a:latin typeface="IBM Plex Sans" pitchFamily="34" charset="0"/>
                <a:ea typeface="IBM Plex Sans" pitchFamily="34" charset="-122"/>
                <a:cs typeface="IBM Plex Sans" pitchFamily="34" charset="-120"/>
              </a:rPr>
              <a:t>  24</a:t>
            </a:r>
            <a:pPr indent="0" marL="0">
              <a:buNone/>
            </a:pP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36" name="Text 34"/>
          <p:cNvSpPr/>
          <p:nvPr/>
        </p:nvSpPr>
        <p:spPr>
          <a:xfrm>
            <a:off x="82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Jumelles</a:t>
            </a:r>
            <a:pPr indent="0" marL="0">
              <a:buNone/>
            </a:pPr>
            <a:r>
              <a:rPr lang="en-US" sz="690" b="1" dirty="0">
                <a:solidFill>
                  <a:srgbClr val="67067C"/>
                </a:solidFill>
                <a:latin typeface="IBM Plex Sans" pitchFamily="34" charset="0"/>
                <a:ea typeface="IBM Plex Sans" pitchFamily="34" charset="-122"/>
                <a:cs typeface="IBM Plex Sans" pitchFamily="34" charset="-120"/>
              </a:rPr>
              <a:t>  17</a:t>
            </a:r>
            <a:pPr indent="0" marL="0">
              <a:buNone/>
            </a:pP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37" name="Text 35"/>
          <p:cNvSpPr/>
          <p:nvPr/>
        </p:nvSpPr>
        <p:spPr>
          <a:xfrm>
            <a:off x="82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Maréchaudes</a:t>
            </a:r>
            <a:pPr indent="0" marL="0">
              <a:buNone/>
            </a:pPr>
            <a:r>
              <a:rPr lang="en-US" sz="690" b="1" dirty="0">
                <a:solidFill>
                  <a:srgbClr val="67067C"/>
                </a:solidFill>
                <a:latin typeface="IBM Plex Sans" pitchFamily="34" charset="0"/>
                <a:ea typeface="IBM Plex Sans" pitchFamily="34" charset="-122"/>
                <a:cs typeface="IBM Plex Sans" pitchFamily="34" charset="-120"/>
              </a:rPr>
              <a:t>  12</a:t>
            </a:r>
            <a:pPr indent="0" marL="0">
              <a:buNone/>
            </a:pP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38" name="Text 36"/>
          <p:cNvSpPr/>
          <p:nvPr/>
        </p:nvSpPr>
        <p:spPr>
          <a:xfrm>
            <a:off x="82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Perrières</a:t>
            </a:r>
            <a:pPr indent="0" marL="0">
              <a:buNone/>
            </a:pPr>
            <a:r>
              <a:rPr lang="en-US" sz="690" b="1" dirty="0">
                <a:solidFill>
                  <a:srgbClr val="67067C"/>
                </a:solidFill>
                <a:latin typeface="IBM Plex Sans" pitchFamily="34" charset="0"/>
                <a:ea typeface="IBM Plex Sans" pitchFamily="34" charset="-122"/>
                <a:cs typeface="IBM Plex Sans" pitchFamily="34" charset="-120"/>
              </a:rPr>
              <a:t>  10</a:t>
            </a:r>
            <a:pPr indent="0" marL="0">
              <a:buNone/>
            </a:pP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39" name="Text 37"/>
          <p:cNvSpPr/>
          <p:nvPr/>
        </p:nvSpPr>
        <p:spPr>
          <a:xfrm>
            <a:off x="82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Petits Noizons</a:t>
            </a:r>
            <a:pPr indent="0" marL="0">
              <a:buNone/>
            </a:pPr>
            <a:r>
              <a:rPr lang="en-US" sz="690" b="1" dirty="0">
                <a:solidFill>
                  <a:srgbClr val="67067C"/>
                </a:solidFill>
                <a:latin typeface="IBM Plex Sans" pitchFamily="34" charset="0"/>
                <a:ea typeface="IBM Plex Sans" pitchFamily="34" charset="-122"/>
                <a:cs typeface="IBM Plex Sans" pitchFamily="34" charset="-120"/>
              </a:rPr>
              <a:t>  10</a:t>
            </a:r>
            <a:pPr indent="0" marL="0">
              <a:buNone/>
            </a:pP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40" name="Text 38"/>
          <p:cNvSpPr/>
          <p:nvPr/>
        </p:nvSpPr>
        <p:spPr>
          <a:xfrm>
            <a:off x="82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Plantes de Durfort-Vivens</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41" name="Text 39"/>
          <p:cNvSpPr/>
          <p:nvPr/>
        </p:nvSpPr>
        <p:spPr>
          <a:xfrm>
            <a:off x="82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2023</a:t>
            </a:r>
            <a:pPr indent="0" marL="0">
              <a:buNone/>
            </a:pPr>
            <a:r>
              <a:rPr lang="en-US" sz="690" b="1" dirty="0">
                <a:solidFill>
                  <a:srgbClr val="67067C"/>
                </a:solidFill>
                <a:latin typeface="IBM Plex Sans" pitchFamily="34" charset="0"/>
                <a:ea typeface="IBM Plex Sans" pitchFamily="34" charset="-122"/>
                <a:cs typeface="IBM Plex Sans" pitchFamily="34" charset="-120"/>
              </a:rPr>
              <a:t>  2</a:t>
            </a:r>
            <a:pPr indent="0" marL="0">
              <a:buNone/>
            </a:pP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42" name="Text 40"/>
          <p:cNvSpPr/>
          <p:nvPr/>
        </p:nvSpPr>
        <p:spPr>
          <a:xfrm>
            <a:off x="82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Vaux Dessus</a:t>
            </a:r>
            <a:pPr indent="0" marL="0">
              <a:buNone/>
            </a:pPr>
            <a:r>
              <a:rPr lang="en-US" sz="690" b="1" dirty="0">
                <a:solidFill>
                  <a:srgbClr val="67067C"/>
                </a:solidFill>
                <a:latin typeface="IBM Plex Sans" pitchFamily="34" charset="0"/>
                <a:ea typeface="IBM Plex Sans" pitchFamily="34" charset="-122"/>
                <a:cs typeface="IBM Plex Sans" pitchFamily="34" charset="-120"/>
              </a:rPr>
              <a:t>  14</a:t>
            </a:r>
            <a:pPr indent="0" marL="0">
              <a:buNone/>
            </a:pPr>
            <a:r>
              <a:rPr lang="en-US" sz="690" dirty="0">
                <a:solidFill>
                  <a:srgbClr val="46606E"/>
                </a:solidFill>
                <a:latin typeface="IBM Plex Sans" pitchFamily="34" charset="0"/>
                <a:ea typeface="IBM Plex Sans" pitchFamily="34" charset="-122"/>
                <a:cs typeface="IBM Plex Sans" pitchFamily="34" charset="-120"/>
              </a:rPr>
              <a:t>  28</a:t>
            </a:r>
            <a:endParaRPr lang="en-US" sz="690" dirty="0"/>
          </a:p>
        </p:txBody>
      </p:sp>
      <p:sp>
        <p:nvSpPr>
          <p:cNvPr id="43" name="Text 41"/>
          <p:cNvSpPr/>
          <p:nvPr/>
        </p:nvSpPr>
        <p:spPr>
          <a:xfrm>
            <a:off x="286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Librotte</a:t>
            </a:r>
            <a:pPr indent="0" marL="0">
              <a:buNone/>
            </a:pPr>
            <a:r>
              <a:rPr lang="en-US" sz="690" b="1" dirty="0">
                <a:solidFill>
                  <a:srgbClr val="67067C"/>
                </a:solidFill>
                <a:latin typeface="IBM Plex Sans" pitchFamily="34" charset="0"/>
                <a:ea typeface="IBM Plex Sans" pitchFamily="34" charset="-122"/>
                <a:cs typeface="IBM Plex Sans" pitchFamily="34" charset="-120"/>
              </a:rPr>
              <a:t>  35</a:t>
            </a:r>
            <a:pPr indent="0" marL="0">
              <a:buNone/>
            </a:pPr>
            <a:r>
              <a:rPr lang="en-US" sz="690" dirty="0">
                <a:solidFill>
                  <a:srgbClr val="46606E"/>
                </a:solidFill>
                <a:latin typeface="IBM Plex Sans" pitchFamily="34" charset="0"/>
                <a:ea typeface="IBM Plex Sans" pitchFamily="34" charset="-122"/>
                <a:cs typeface="IBM Plex Sans" pitchFamily="34" charset="-120"/>
              </a:rPr>
              <a:t>  60</a:t>
            </a:r>
            <a:endParaRPr lang="en-US" sz="690" dirty="0"/>
          </a:p>
        </p:txBody>
      </p:sp>
      <p:sp>
        <p:nvSpPr>
          <p:cNvPr id="44" name="Text 42"/>
          <p:cNvSpPr/>
          <p:nvPr/>
        </p:nvSpPr>
        <p:spPr>
          <a:xfrm>
            <a:off x="286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Lou Daro</a:t>
            </a:r>
            <a:pPr indent="0" marL="0">
              <a:buNone/>
            </a:pPr>
            <a:r>
              <a:rPr lang="en-US" sz="690" b="1" dirty="0">
                <a:solidFill>
                  <a:srgbClr val="67067C"/>
                </a:solidFill>
                <a:latin typeface="IBM Plex Sans" pitchFamily="34" charset="0"/>
                <a:ea typeface="IBM Plex Sans" pitchFamily="34" charset="-122"/>
                <a:cs typeface="IBM Plex Sans" pitchFamily="34" charset="-120"/>
              </a:rPr>
              <a:t>  34</a:t>
            </a:r>
            <a:pPr indent="0" marL="0">
              <a:buNone/>
            </a:pP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45" name="Text 43"/>
          <p:cNvSpPr/>
          <p:nvPr/>
        </p:nvSpPr>
        <p:spPr>
          <a:xfrm>
            <a:off x="286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LULLULA</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46" name="Text 44"/>
          <p:cNvSpPr/>
          <p:nvPr/>
        </p:nvSpPr>
        <p:spPr>
          <a:xfrm>
            <a:off x="286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15</a:t>
            </a:r>
            <a:pPr indent="0" marL="0">
              <a:buNone/>
            </a:pP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47" name="Text 45"/>
          <p:cNvSpPr/>
          <p:nvPr/>
        </p:nvSpPr>
        <p:spPr>
          <a:xfrm>
            <a:off x="286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Rouge (Pinot Noir)</a:t>
            </a:r>
            <a:pPr indent="0" marL="0">
              <a:buNone/>
            </a:pPr>
            <a:r>
              <a:rPr lang="en-US" sz="690" b="1" dirty="0">
                <a:solidFill>
                  <a:srgbClr val="67067C"/>
                </a:solidFill>
                <a:latin typeface="IBM Plex Sans" pitchFamily="34" charset="0"/>
                <a:ea typeface="IBM Plex Sans" pitchFamily="34" charset="-122"/>
                <a:cs typeface="IBM Plex Sans" pitchFamily="34" charset="-120"/>
              </a:rPr>
              <a:t>  8</a:t>
            </a:r>
            <a:pPr indent="0" marL="0">
              <a:buNone/>
            </a:pP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48" name="Text 46"/>
          <p:cNvSpPr/>
          <p:nvPr/>
        </p:nvSpPr>
        <p:spPr>
          <a:xfrm>
            <a:off x="286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De Fourcas Dupré</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49" name="Text 47"/>
          <p:cNvSpPr/>
          <p:nvPr/>
        </p:nvSpPr>
        <p:spPr>
          <a:xfrm>
            <a:off x="286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N°4 Triton</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50" name="Text 48"/>
          <p:cNvSpPr/>
          <p:nvPr/>
        </p:nvSpPr>
        <p:spPr>
          <a:xfrm>
            <a:off x="286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Néolitik</a:t>
            </a:r>
            <a:pPr indent="0" marL="0">
              <a:buNone/>
            </a:pPr>
            <a:r>
              <a:rPr lang="en-US" sz="690" b="1" dirty="0">
                <a:solidFill>
                  <a:srgbClr val="67067C"/>
                </a:solidFill>
                <a:latin typeface="IBM Plex Sans" pitchFamily="34" charset="0"/>
                <a:ea typeface="IBM Plex Sans" pitchFamily="34" charset="-122"/>
                <a:cs typeface="IBM Plex Sans" pitchFamily="34" charset="-120"/>
              </a:rPr>
              <a:t>  22</a:t>
            </a:r>
            <a:pPr indent="0" marL="0">
              <a:buNone/>
            </a:pP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51" name="Text 49"/>
          <p:cNvSpPr/>
          <p:nvPr/>
        </p:nvSpPr>
        <p:spPr>
          <a:xfrm>
            <a:off x="286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30</a:t>
            </a:r>
            <a:pPr indent="0" marL="0">
              <a:buNone/>
            </a:pP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52" name="Text 50"/>
          <p:cNvSpPr/>
          <p:nvPr/>
        </p:nvSpPr>
        <p:spPr>
          <a:xfrm>
            <a:off x="286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30</a:t>
            </a:r>
            <a:pPr indent="0" marL="0">
              <a:buNone/>
            </a:pP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53" name="Text 51"/>
          <p:cNvSpPr/>
          <p:nvPr/>
        </p:nvSpPr>
        <p:spPr>
          <a:xfrm>
            <a:off x="286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54" name="Text 52"/>
          <p:cNvSpPr/>
          <p:nvPr/>
        </p:nvSpPr>
        <p:spPr>
          <a:xfrm>
            <a:off x="286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100 % – vinification égrappée</a:t>
            </a:r>
            <a:pPr indent="0" marL="0">
              <a:buNone/>
            </a:pPr>
            <a:r>
              <a:rPr lang="en-US" sz="690" b="1" dirty="0">
                <a:solidFill>
                  <a:srgbClr val="67067C"/>
                </a:solidFill>
                <a:latin typeface="IBM Plex Sans" pitchFamily="34" charset="0"/>
                <a:ea typeface="IBM Plex Sans" pitchFamily="34" charset="-122"/>
                <a:cs typeface="IBM Plex Sans" pitchFamily="34" charset="-120"/>
              </a:rPr>
              <a:t>  36</a:t>
            </a:r>
            <a:pPr indent="0" marL="0">
              <a:buNone/>
            </a:pP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55" name="Text 53"/>
          <p:cNvSpPr/>
          <p:nvPr/>
        </p:nvSpPr>
        <p:spPr>
          <a:xfrm>
            <a:off x="286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Noir</a:t>
            </a:r>
            <a:pPr indent="0" marL="0">
              <a:buNone/>
            </a:pPr>
            <a:r>
              <a:rPr lang="en-US" sz="690" b="1" dirty="0">
                <a:solidFill>
                  <a:srgbClr val="67067C"/>
                </a:solidFill>
                <a:latin typeface="IBM Plex Sans" pitchFamily="34" charset="0"/>
                <a:ea typeface="IBM Plex Sans" pitchFamily="34" charset="-122"/>
                <a:cs typeface="IBM Plex Sans" pitchFamily="34" charset="-120"/>
              </a:rPr>
              <a:t>  10</a:t>
            </a:r>
            <a:pPr indent="0" marL="0">
              <a:buNone/>
            </a:pP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56" name="Text 54"/>
          <p:cNvSpPr/>
          <p:nvPr/>
        </p:nvSpPr>
        <p:spPr>
          <a:xfrm>
            <a:off x="286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Préface</a:t>
            </a:r>
            <a:pPr indent="0" marL="0">
              <a:buNone/>
            </a:pPr>
            <a:r>
              <a:rPr lang="en-US" sz="690" b="1" dirty="0">
                <a:solidFill>
                  <a:srgbClr val="67067C"/>
                </a:solidFill>
                <a:latin typeface="IBM Plex Sans" pitchFamily="34" charset="0"/>
                <a:ea typeface="IBM Plex Sans" pitchFamily="34" charset="-122"/>
                <a:cs typeface="IBM Plex Sans" pitchFamily="34" charset="-120"/>
              </a:rPr>
              <a:t>  26</a:t>
            </a:r>
            <a:pPr indent="0" marL="0">
              <a:buNone/>
            </a:pP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57" name="Text 55"/>
          <p:cNvSpPr/>
          <p:nvPr/>
        </p:nvSpPr>
        <p:spPr>
          <a:xfrm>
            <a:off x="286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Prétexte</a:t>
            </a:r>
            <a:pPr indent="0" marL="0">
              <a:buNone/>
            </a:pPr>
            <a:r>
              <a:rPr lang="en-US" sz="690" b="1" dirty="0">
                <a:solidFill>
                  <a:srgbClr val="67067C"/>
                </a:solidFill>
                <a:latin typeface="IBM Plex Sans" pitchFamily="34" charset="0"/>
                <a:ea typeface="IBM Plex Sans" pitchFamily="34" charset="-122"/>
                <a:cs typeface="IBM Plex Sans" pitchFamily="34" charset="-120"/>
              </a:rPr>
              <a:t>  26</a:t>
            </a:r>
            <a:pPr indent="0" marL="0">
              <a:buNone/>
            </a:pP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58" name="Text 56"/>
          <p:cNvSpPr/>
          <p:nvPr/>
        </p:nvSpPr>
        <p:spPr>
          <a:xfrm>
            <a:off x="286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Reflet – Gamay</a:t>
            </a:r>
            <a:pPr indent="0" marL="0">
              <a:buNone/>
            </a:pPr>
            <a:r>
              <a:rPr lang="en-US" sz="690" b="1" dirty="0">
                <a:solidFill>
                  <a:srgbClr val="67067C"/>
                </a:solidFill>
                <a:latin typeface="IBM Plex Sans" pitchFamily="34" charset="0"/>
                <a:ea typeface="IBM Plex Sans" pitchFamily="34" charset="-122"/>
                <a:cs typeface="IBM Plex Sans" pitchFamily="34" charset="-120"/>
              </a:rPr>
              <a:t>  5</a:t>
            </a:r>
            <a:pPr indent="0" marL="0">
              <a:buNone/>
            </a:pP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59" name="Text 57"/>
          <p:cNvSpPr/>
          <p:nvPr/>
        </p:nvSpPr>
        <p:spPr>
          <a:xfrm>
            <a:off x="286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au lèvres</a:t>
            </a:r>
            <a:pPr indent="0" marL="0">
              <a:buNone/>
            </a:pPr>
            <a:r>
              <a:rPr lang="en-US" sz="690" b="1" dirty="0">
                <a:solidFill>
                  <a:srgbClr val="67067C"/>
                </a:solidFill>
                <a:latin typeface="IBM Plex Sans" pitchFamily="34" charset="0"/>
                <a:ea typeface="IBM Plex Sans" pitchFamily="34" charset="-122"/>
                <a:cs typeface="IBM Plex Sans" pitchFamily="34" charset="-120"/>
              </a:rPr>
              <a:t>  3</a:t>
            </a:r>
            <a:pPr indent="0" marL="0">
              <a:buNone/>
            </a:pP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60" name="Text 58"/>
          <p:cNvSpPr/>
          <p:nvPr/>
        </p:nvSpPr>
        <p:spPr>
          <a:xfrm>
            <a:off x="286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Intense – sans sulfites ajoutés</a:t>
            </a:r>
            <a:pPr indent="0" marL="0">
              <a:buNone/>
            </a:pPr>
            <a:r>
              <a:rPr lang="en-US" sz="690" b="1" dirty="0">
                <a:solidFill>
                  <a:srgbClr val="67067C"/>
                </a:solidFill>
                <a:latin typeface="IBM Plex Sans" pitchFamily="34" charset="0"/>
                <a:ea typeface="IBM Plex Sans" pitchFamily="34" charset="-122"/>
                <a:cs typeface="IBM Plex Sans" pitchFamily="34" charset="-120"/>
              </a:rPr>
              <a:t>  26</a:t>
            </a:r>
            <a:pPr indent="0" marL="0">
              <a:buNone/>
            </a:pP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61" name="Text 59"/>
          <p:cNvSpPr/>
          <p:nvPr/>
        </p:nvSpPr>
        <p:spPr>
          <a:xfrm>
            <a:off x="286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SÉRAME</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62" name="Text 60"/>
          <p:cNvSpPr/>
          <p:nvPr/>
        </p:nvSpPr>
        <p:spPr>
          <a:xfrm>
            <a:off x="286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Seiler (Pinot Noir)</a:t>
            </a:r>
            <a:pPr indent="0" marL="0">
              <a:buNone/>
            </a:pPr>
            <a:r>
              <a:rPr lang="en-US" sz="690" b="1" dirty="0">
                <a:solidFill>
                  <a:srgbClr val="67067C"/>
                </a:solidFill>
                <a:latin typeface="IBM Plex Sans" pitchFamily="34" charset="0"/>
                <a:ea typeface="IBM Plex Sans" pitchFamily="34" charset="-122"/>
                <a:cs typeface="IBM Plex Sans" pitchFamily="34" charset="-120"/>
              </a:rPr>
              <a:t>  8</a:t>
            </a:r>
            <a:pPr indent="0" marL="0">
              <a:buNone/>
            </a:pP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63" name="Text 61"/>
          <p:cNvSpPr/>
          <p:nvPr/>
        </p:nvSpPr>
        <p:spPr>
          <a:xfrm>
            <a:off x="286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Sonate</a:t>
            </a:r>
            <a:pPr indent="0" marL="0">
              <a:buNone/>
            </a:pPr>
            <a:r>
              <a:rPr lang="en-US" sz="690" b="1" dirty="0">
                <a:solidFill>
                  <a:srgbClr val="67067C"/>
                </a:solidFill>
                <a:latin typeface="IBM Plex Sans" pitchFamily="34" charset="0"/>
                <a:ea typeface="IBM Plex Sans" pitchFamily="34" charset="-122"/>
                <a:cs typeface="IBM Plex Sans" pitchFamily="34" charset="-120"/>
              </a:rPr>
              <a:t>  36</a:t>
            </a:r>
            <a:pPr indent="0" marL="0">
              <a:buNone/>
            </a:pP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64" name="Text 62"/>
          <p:cNvSpPr/>
          <p:nvPr/>
        </p:nvSpPr>
        <p:spPr>
          <a:xfrm>
            <a:off x="286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de Balac</a:t>
            </a:r>
            <a:pPr indent="0" marL="0">
              <a:buNone/>
            </a:pPr>
            <a:r>
              <a:rPr lang="en-US" sz="690" b="1" dirty="0">
                <a:solidFill>
                  <a:srgbClr val="67067C"/>
                </a:solidFill>
                <a:latin typeface="IBM Plex Sans" pitchFamily="34" charset="0"/>
                <a:ea typeface="IBM Plex Sans" pitchFamily="34" charset="-122"/>
                <a:cs typeface="IBM Plex Sans" pitchFamily="34" charset="-120"/>
              </a:rPr>
              <a:t>  29</a:t>
            </a:r>
            <a:pPr indent="0" marL="0">
              <a:buNone/>
            </a:pPr>
            <a:r>
              <a:rPr lang="en-US" sz="690" dirty="0">
                <a:solidFill>
                  <a:srgbClr val="46606E"/>
                </a:solidFill>
                <a:latin typeface="IBM Plex Sans" pitchFamily="34" charset="0"/>
                <a:ea typeface="IBM Plex Sans" pitchFamily="34" charset="-122"/>
                <a:cs typeface="IBM Plex Sans" pitchFamily="34" charset="-120"/>
              </a:rPr>
              <a:t>  51</a:t>
            </a:r>
            <a:endParaRPr lang="en-US" sz="690" dirty="0"/>
          </a:p>
        </p:txBody>
      </p:sp>
      <p:sp>
        <p:nvSpPr>
          <p:cNvPr id="65" name="Text 63"/>
          <p:cNvSpPr/>
          <p:nvPr/>
        </p:nvSpPr>
        <p:spPr>
          <a:xfrm>
            <a:off x="286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Nature</a:t>
            </a:r>
            <a:pPr indent="0" marL="0">
              <a:buNone/>
            </a:pPr>
            <a:r>
              <a:rPr lang="en-US" sz="690" b="1" dirty="0">
                <a:solidFill>
                  <a:srgbClr val="67067C"/>
                </a:solidFill>
                <a:latin typeface="IBM Plex Sans" pitchFamily="34" charset="0"/>
                <a:ea typeface="IBM Plex Sans" pitchFamily="34" charset="-122"/>
                <a:cs typeface="IBM Plex Sans" pitchFamily="34" charset="-120"/>
              </a:rPr>
              <a:t>  34</a:t>
            </a:r>
            <a:pPr indent="0" marL="0">
              <a:buNone/>
            </a:pP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66" name="Text 64"/>
          <p:cNvSpPr/>
          <p:nvPr/>
        </p:nvSpPr>
        <p:spPr>
          <a:xfrm>
            <a:off x="286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Tempo – élevé en fûts de chêne</a:t>
            </a:r>
            <a:pPr indent="0" marL="0">
              <a:buNone/>
            </a:pPr>
            <a:r>
              <a:rPr lang="en-US" sz="690" b="1" dirty="0">
                <a:solidFill>
                  <a:srgbClr val="67067C"/>
                </a:solidFill>
                <a:latin typeface="IBM Plex Sans" pitchFamily="34" charset="0"/>
                <a:ea typeface="IBM Plex Sans" pitchFamily="34" charset="-122"/>
                <a:cs typeface="IBM Plex Sans" pitchFamily="34" charset="-120"/>
              </a:rPr>
              <a:t>  36</a:t>
            </a:r>
            <a:pPr indent="0" marL="0">
              <a:buNone/>
            </a:pP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67" name="Text 65"/>
          <p:cNvSpPr/>
          <p:nvPr/>
        </p:nvSpPr>
        <p:spPr>
          <a:xfrm>
            <a:off x="286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36</a:t>
            </a:r>
            <a:pPr indent="0" marL="0">
              <a:buNone/>
            </a:pP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68" name="Text 66"/>
          <p:cNvSpPr/>
          <p:nvPr/>
        </p:nvSpPr>
        <p:spPr>
          <a:xfrm>
            <a:off x="286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Magnum 1,5 L</a:t>
            </a:r>
            <a:pPr indent="0" marL="0">
              <a:buNone/>
            </a:pPr>
            <a:r>
              <a:rPr lang="en-US" sz="690" b="1" dirty="0">
                <a:solidFill>
                  <a:srgbClr val="67067C"/>
                </a:solidFill>
                <a:latin typeface="IBM Plex Sans" pitchFamily="34" charset="0"/>
                <a:ea typeface="IBM Plex Sans" pitchFamily="34" charset="-122"/>
                <a:cs typeface="IBM Plex Sans" pitchFamily="34" charset="-120"/>
              </a:rPr>
              <a:t>  36</a:t>
            </a:r>
            <a:pPr indent="0" marL="0">
              <a:buNone/>
            </a:pP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69" name="Text 67"/>
          <p:cNvSpPr/>
          <p:nvPr/>
        </p:nvSpPr>
        <p:spPr>
          <a:xfrm>
            <a:off x="286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19</a:t>
            </a:r>
            <a:pPr indent="0" marL="0">
              <a:buNone/>
            </a:pP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70" name="Text 68"/>
          <p:cNvSpPr/>
          <p:nvPr/>
        </p:nvSpPr>
        <p:spPr>
          <a:xfrm>
            <a:off x="286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Triton</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71" name="Text 69"/>
          <p:cNvSpPr/>
          <p:nvPr/>
        </p:nvSpPr>
        <p:spPr>
          <a:xfrm>
            <a:off x="286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21</a:t>
            </a:r>
            <a:pPr indent="0" marL="0">
              <a:buNone/>
            </a:pP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72" name="Text 70"/>
          <p:cNvSpPr/>
          <p:nvPr/>
        </p:nvSpPr>
        <p:spPr>
          <a:xfrm>
            <a:off x="286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a:t>
            </a:r>
            <a:pPr indent="0" marL="0">
              <a:buNone/>
            </a:pPr>
            <a:r>
              <a:rPr lang="en-US" sz="690" b="1" dirty="0">
                <a:solidFill>
                  <a:srgbClr val="67067C"/>
                </a:solidFill>
                <a:latin typeface="IBM Plex Sans" pitchFamily="34" charset="0"/>
                <a:ea typeface="IBM Plex Sans" pitchFamily="34" charset="-122"/>
                <a:cs typeface="IBM Plex Sans" pitchFamily="34" charset="-120"/>
              </a:rPr>
              <a:t>  10</a:t>
            </a:r>
            <a:pPr indent="0" marL="0">
              <a:buNone/>
            </a:pP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73" name="Text 71"/>
          <p:cNvSpPr/>
          <p:nvPr/>
        </p:nvSpPr>
        <p:spPr>
          <a:xfrm>
            <a:off x="286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16</a:t>
            </a:r>
            <a:pPr indent="0" marL="0">
              <a:buNone/>
            </a:pP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74" name="Text 72"/>
          <p:cNvSpPr/>
          <p:nvPr/>
        </p:nvSpPr>
        <p:spPr>
          <a:xfrm>
            <a:off x="286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2024/2025</a:t>
            </a:r>
            <a:pPr indent="0" marL="0">
              <a:buNone/>
            </a:pPr>
            <a:r>
              <a:rPr lang="en-US" sz="690" b="1" dirty="0">
                <a:solidFill>
                  <a:srgbClr val="67067C"/>
                </a:solidFill>
                <a:latin typeface="IBM Plex Sans" pitchFamily="34" charset="0"/>
                <a:ea typeface="IBM Plex Sans" pitchFamily="34" charset="-122"/>
                <a:cs typeface="IBM Plex Sans" pitchFamily="34" charset="-120"/>
              </a:rPr>
              <a:t>  6</a:t>
            </a:r>
            <a:pPr indent="0" marL="0">
              <a:buNone/>
            </a:pP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5" name="Text 73"/>
          <p:cNvSpPr/>
          <p:nvPr/>
        </p:nvSpPr>
        <p:spPr>
          <a:xfrm>
            <a:off x="286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France-Syrah</a:t>
            </a:r>
            <a:pPr indent="0" marL="0">
              <a:buNone/>
            </a:pPr>
            <a:r>
              <a:rPr lang="en-US" sz="690" b="1" dirty="0">
                <a:solidFill>
                  <a:srgbClr val="67067C"/>
                </a:solidFill>
                <a:latin typeface="IBM Plex Sans" pitchFamily="34" charset="0"/>
                <a:ea typeface="IBM Plex Sans" pitchFamily="34" charset="-122"/>
                <a:cs typeface="IBM Plex Sans" pitchFamily="34" charset="-120"/>
              </a:rPr>
              <a:t>  19</a:t>
            </a:r>
            <a:pPr indent="0" marL="0">
              <a:buNone/>
            </a:pP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76" name="Text 74"/>
          <p:cNvSpPr/>
          <p:nvPr/>
        </p:nvSpPr>
        <p:spPr>
          <a:xfrm>
            <a:off x="286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Pays de Vaucluse</a:t>
            </a:r>
            <a:pPr indent="0" marL="0">
              <a:buNone/>
            </a:pPr>
            <a:r>
              <a:rPr lang="en-US" sz="690" b="1" dirty="0">
                <a:solidFill>
                  <a:srgbClr val="67067C"/>
                </a:solidFill>
                <a:latin typeface="IBM Plex Sans" pitchFamily="34" charset="0"/>
                <a:ea typeface="IBM Plex Sans" pitchFamily="34" charset="-122"/>
                <a:cs typeface="IBM Plex Sans" pitchFamily="34" charset="-120"/>
              </a:rPr>
              <a:t>  20</a:t>
            </a:r>
            <a:pPr indent="0" marL="0">
              <a:buNone/>
            </a:pP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77" name="Text 75"/>
          <p:cNvSpPr/>
          <p:nvPr/>
        </p:nvSpPr>
        <p:spPr>
          <a:xfrm>
            <a:off x="2868000" y="482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DOUX</a:t>
            </a:r>
            <a:endParaRPr lang="en-US" sz="800" dirty="0"/>
          </a:p>
        </p:txBody>
      </p:sp>
      <p:sp>
        <p:nvSpPr>
          <p:cNvPr id="78" name="Text 76"/>
          <p:cNvSpPr/>
          <p:nvPr/>
        </p:nvSpPr>
        <p:spPr>
          <a:xfrm>
            <a:off x="286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pPr indent="0" marL="0">
              <a:buNone/>
            </a:pPr>
            <a:r>
              <a:rPr lang="en-US" sz="690" b="1" dirty="0">
                <a:solidFill>
                  <a:srgbClr val="67067C"/>
                </a:solidFill>
                <a:latin typeface="IBM Plex Sans" pitchFamily="34" charset="0"/>
                <a:ea typeface="IBM Plex Sans" pitchFamily="34" charset="-122"/>
                <a:cs typeface="IBM Plex Sans" pitchFamily="34" charset="-120"/>
              </a:rPr>
              <a:t>  24</a:t>
            </a:r>
            <a:pPr indent="0" marL="0">
              <a:buNone/>
            </a:pP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79" name="Text 77"/>
          <p:cNvSpPr/>
          <p:nvPr/>
        </p:nvSpPr>
        <p:spPr>
          <a:xfrm>
            <a:off x="286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Monbazillac</a:t>
            </a:r>
            <a:pPr indent="0" marL="0">
              <a:buNone/>
            </a:pPr>
            <a:r>
              <a:rPr lang="en-US" sz="690" b="1" dirty="0">
                <a:solidFill>
                  <a:srgbClr val="67067C"/>
                </a:solidFill>
                <a:latin typeface="IBM Plex Sans" pitchFamily="34" charset="0"/>
                <a:ea typeface="IBM Plex Sans" pitchFamily="34" charset="-122"/>
                <a:cs typeface="IBM Plex Sans" pitchFamily="34" charset="-120"/>
              </a:rPr>
              <a:t>  24</a:t>
            </a:r>
            <a:pPr indent="0" marL="0">
              <a:buNone/>
            </a:pP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80" name="Text 78"/>
          <p:cNvSpPr/>
          <p:nvPr/>
        </p:nvSpPr>
        <p:spPr>
          <a:xfrm>
            <a:off x="286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d’Anjou</a:t>
            </a:r>
            <a:pPr indent="0" marL="0">
              <a:buNone/>
            </a:pPr>
            <a:r>
              <a:rPr lang="en-US" sz="690" b="1" dirty="0">
                <a:solidFill>
                  <a:srgbClr val="67067C"/>
                </a:solidFill>
                <a:latin typeface="IBM Plex Sans" pitchFamily="34" charset="0"/>
                <a:ea typeface="IBM Plex Sans" pitchFamily="34" charset="-122"/>
                <a:cs typeface="IBM Plex Sans" pitchFamily="34" charset="-120"/>
              </a:rPr>
              <a:t>  4</a:t>
            </a:r>
            <a:pPr indent="0" marL="0">
              <a:buNone/>
            </a:pP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1" name="Text 79"/>
          <p:cNvSpPr/>
          <p:nvPr/>
        </p:nvSpPr>
        <p:spPr>
          <a:xfrm>
            <a:off x="286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Mayne</a:t>
            </a:r>
            <a:pPr indent="0" marL="0">
              <a:buNone/>
            </a:pPr>
            <a:r>
              <a:rPr lang="en-US" sz="690" b="1" dirty="0">
                <a:solidFill>
                  <a:srgbClr val="67067C"/>
                </a:solidFill>
                <a:latin typeface="IBM Plex Sans" pitchFamily="34" charset="0"/>
                <a:ea typeface="IBM Plex Sans" pitchFamily="34" charset="-122"/>
                <a:cs typeface="IBM Plex Sans" pitchFamily="34" charset="-120"/>
              </a:rPr>
              <a:t>  25</a:t>
            </a:r>
            <a:pPr indent="0" marL="0">
              <a:buNone/>
            </a:pP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82" name="Text 80"/>
          <p:cNvSpPr/>
          <p:nvPr/>
        </p:nvSpPr>
        <p:spPr>
          <a:xfrm>
            <a:off x="286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a:t>
            </a:r>
            <a:pPr indent="0" marL="0">
              <a:buNone/>
            </a:pPr>
            <a:r>
              <a:rPr lang="en-US" sz="690" b="1" dirty="0">
                <a:solidFill>
                  <a:srgbClr val="67067C"/>
                </a:solidFill>
                <a:latin typeface="IBM Plex Sans" pitchFamily="34" charset="0"/>
                <a:ea typeface="IBM Plex Sans" pitchFamily="34" charset="-122"/>
                <a:cs typeface="IBM Plex Sans" pitchFamily="34" charset="-120"/>
              </a:rPr>
              <a:t>  4</a:t>
            </a:r>
            <a:pPr indent="0" marL="0">
              <a:buNone/>
            </a:pP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3" name="Text 81"/>
          <p:cNvSpPr/>
          <p:nvPr/>
        </p:nvSpPr>
        <p:spPr>
          <a:xfrm>
            <a:off x="286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 Faye</a:t>
            </a:r>
            <a:pPr indent="0" marL="0">
              <a:buNone/>
            </a:pPr>
            <a:r>
              <a:rPr lang="en-US" sz="690" b="1" dirty="0">
                <a:solidFill>
                  <a:srgbClr val="67067C"/>
                </a:solidFill>
                <a:latin typeface="IBM Plex Sans" pitchFamily="34" charset="0"/>
                <a:ea typeface="IBM Plex Sans" pitchFamily="34" charset="-122"/>
                <a:cs typeface="IBM Plex Sans" pitchFamily="34" charset="-120"/>
              </a:rPr>
              <a:t>  4</a:t>
            </a:r>
            <a:pPr indent="0" marL="0">
              <a:buNone/>
            </a:pP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4" name="Text 82"/>
          <p:cNvSpPr/>
          <p:nvPr/>
        </p:nvSpPr>
        <p:spPr>
          <a:xfrm>
            <a:off x="490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N°7 Venus</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85" name="Text 83"/>
          <p:cNvSpPr/>
          <p:nvPr/>
        </p:nvSpPr>
        <p:spPr>
          <a:xfrm>
            <a:off x="490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N°8 Grand Pavois</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86" name="Text 84"/>
          <p:cNvSpPr/>
          <p:nvPr/>
        </p:nvSpPr>
        <p:spPr>
          <a:xfrm>
            <a:off x="490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(Gewurztraminer)</a:t>
            </a:r>
            <a:pPr indent="0" marL="0">
              <a:buNone/>
            </a:pPr>
            <a:r>
              <a:rPr lang="en-US" sz="690" b="1" dirty="0">
                <a:solidFill>
                  <a:srgbClr val="67067C"/>
                </a:solidFill>
                <a:latin typeface="IBM Plex Sans" pitchFamily="34" charset="0"/>
                <a:ea typeface="IBM Plex Sans" pitchFamily="34" charset="-122"/>
                <a:cs typeface="IBM Plex Sans" pitchFamily="34" charset="-120"/>
              </a:rPr>
              <a:t>  8</a:t>
            </a:r>
            <a:pPr indent="0" marL="0">
              <a:buNone/>
            </a:pP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87" name="Text 85"/>
          <p:cNvSpPr/>
          <p:nvPr/>
        </p:nvSpPr>
        <p:spPr>
          <a:xfrm>
            <a:off x="490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(Pinot Gris)</a:t>
            </a:r>
            <a:pPr indent="0" marL="0">
              <a:buNone/>
            </a:pPr>
            <a:r>
              <a:rPr lang="en-US" sz="690" b="1" dirty="0">
                <a:solidFill>
                  <a:srgbClr val="67067C"/>
                </a:solidFill>
                <a:latin typeface="IBM Plex Sans" pitchFamily="34" charset="0"/>
                <a:ea typeface="IBM Plex Sans" pitchFamily="34" charset="-122"/>
                <a:cs typeface="IBM Plex Sans" pitchFamily="34" charset="-120"/>
              </a:rPr>
              <a:t>  8</a:t>
            </a:r>
            <a:pPr indent="0" marL="0">
              <a:buNone/>
            </a:pP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88" name="Text 86"/>
          <p:cNvSpPr/>
          <p:nvPr/>
        </p:nvSpPr>
        <p:spPr>
          <a:xfrm>
            <a:off x="490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pPr indent="0" marL="0">
              <a:buNone/>
            </a:pPr>
            <a:r>
              <a:rPr lang="en-US" sz="690" b="1" dirty="0">
                <a:solidFill>
                  <a:srgbClr val="67067C"/>
                </a:solidFill>
                <a:latin typeface="IBM Plex Sans" pitchFamily="34" charset="0"/>
                <a:ea typeface="IBM Plex Sans" pitchFamily="34" charset="-122"/>
                <a:cs typeface="IBM Plex Sans" pitchFamily="34" charset="-120"/>
              </a:rPr>
              <a:t>  22</a:t>
            </a:r>
            <a:pPr indent="0" marL="0">
              <a:buNone/>
            </a:pP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89" name="Text 87"/>
          <p:cNvSpPr/>
          <p:nvPr/>
        </p:nvSpPr>
        <p:spPr>
          <a:xfrm>
            <a:off x="4908000" y="117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SANS ALCOOL</a:t>
            </a:r>
            <a:endParaRPr lang="en-US" sz="800" dirty="0"/>
          </a:p>
        </p:txBody>
      </p:sp>
      <p:sp>
        <p:nvSpPr>
          <p:cNvPr id="90" name="Text 88"/>
          <p:cNvSpPr/>
          <p:nvPr/>
        </p:nvSpPr>
        <p:spPr>
          <a:xfrm>
            <a:off x="490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Chenin Blanc</a:t>
            </a:r>
            <a:pPr indent="0" marL="0">
              <a:buNone/>
            </a:pPr>
            <a:r>
              <a:rPr lang="en-US" sz="690" b="1" dirty="0">
                <a:solidFill>
                  <a:srgbClr val="67067C"/>
                </a:solidFill>
                <a:latin typeface="IBM Plex Sans" pitchFamily="34" charset="0"/>
                <a:ea typeface="IBM Plex Sans" pitchFamily="34" charset="-122"/>
                <a:cs typeface="IBM Plex Sans" pitchFamily="34" charset="-120"/>
              </a:rPr>
              <a:t>  7</a:t>
            </a:r>
            <a:pPr indent="0" marL="0">
              <a:buNone/>
            </a:pP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1" name="Text 89"/>
          <p:cNvSpPr/>
          <p:nvPr/>
        </p:nvSpPr>
        <p:spPr>
          <a:xfrm>
            <a:off x="490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a:t>
            </a:r>
            <a:pPr indent="0" marL="0">
              <a:buNone/>
            </a:pPr>
            <a:r>
              <a:rPr lang="en-US" sz="690" b="1" dirty="0">
                <a:solidFill>
                  <a:srgbClr val="67067C"/>
                </a:solidFill>
                <a:latin typeface="IBM Plex Sans" pitchFamily="34" charset="0"/>
                <a:ea typeface="IBM Plex Sans" pitchFamily="34" charset="-122"/>
                <a:cs typeface="IBM Plex Sans" pitchFamily="34" charset="-120"/>
              </a:rPr>
              <a:t>  7</a:t>
            </a:r>
            <a:pPr indent="0" marL="0">
              <a:buNone/>
            </a:pP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2" name="Text 90"/>
          <p:cNvSpPr/>
          <p:nvPr/>
        </p:nvSpPr>
        <p:spPr>
          <a:xfrm>
            <a:off x="490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pPr indent="0" marL="0">
              <a:buNone/>
            </a:pPr>
            <a:r>
              <a:rPr lang="en-US" sz="690" b="1" dirty="0">
                <a:solidFill>
                  <a:srgbClr val="67067C"/>
                </a:solidFill>
                <a:latin typeface="IBM Plex Sans" pitchFamily="34" charset="0"/>
                <a:ea typeface="IBM Plex Sans" pitchFamily="34" charset="-122"/>
                <a:cs typeface="IBM Plex Sans" pitchFamily="34" charset="-120"/>
              </a:rPr>
              <a:t>  7</a:t>
            </a:r>
            <a:pPr indent="0" marL="0">
              <a:buNone/>
            </a:pP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3" name="Text 91"/>
          <p:cNvSpPr/>
          <p:nvPr/>
        </p:nvSpPr>
        <p:spPr>
          <a:xfrm>
            <a:off x="490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Blanc Blush</a:t>
            </a:r>
            <a:pPr indent="0" marL="0">
              <a:buNone/>
            </a:pPr>
            <a:r>
              <a:rPr lang="en-US" sz="690" b="1" dirty="0">
                <a:solidFill>
                  <a:srgbClr val="67067C"/>
                </a:solidFill>
                <a:latin typeface="IBM Plex Sans" pitchFamily="34" charset="0"/>
                <a:ea typeface="IBM Plex Sans" pitchFamily="34" charset="-122"/>
                <a:cs typeface="IBM Plex Sans" pitchFamily="34" charset="-120"/>
              </a:rPr>
              <a:t>  7</a:t>
            </a:r>
            <a:pPr indent="0" marL="0">
              <a:buNone/>
            </a:pP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4" name="Text 92"/>
          <p:cNvSpPr/>
          <p:nvPr/>
        </p:nvSpPr>
        <p:spPr>
          <a:xfrm>
            <a:off x="490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a:t>
            </a:r>
            <a:pPr indent="0" marL="0">
              <a:buNone/>
            </a:pPr>
            <a:r>
              <a:rPr lang="en-US" sz="690" b="1" dirty="0">
                <a:solidFill>
                  <a:srgbClr val="67067C"/>
                </a:solidFill>
                <a:latin typeface="IBM Plex Sans" pitchFamily="34" charset="0"/>
                <a:ea typeface="IBM Plex Sans" pitchFamily="34" charset="-122"/>
                <a:cs typeface="IBM Plex Sans" pitchFamily="34" charset="-120"/>
              </a:rPr>
              <a:t>  7</a:t>
            </a:r>
            <a:pPr indent="0" marL="0">
              <a:buNone/>
            </a:pP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5" name="Text 93"/>
          <p:cNvSpPr/>
          <p:nvPr/>
        </p:nvSpPr>
        <p:spPr>
          <a:xfrm>
            <a:off x="490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pPr indent="0" marL="0">
              <a:buNone/>
            </a:pPr>
            <a:r>
              <a:rPr lang="en-US" sz="690" b="1" dirty="0">
                <a:solidFill>
                  <a:srgbClr val="67067C"/>
                </a:solidFill>
                <a:latin typeface="IBM Plex Sans" pitchFamily="34" charset="0"/>
                <a:ea typeface="IBM Plex Sans" pitchFamily="34" charset="-122"/>
                <a:cs typeface="IBM Plex Sans" pitchFamily="34" charset="-120"/>
              </a:rPr>
              <a:t>  7</a:t>
            </a:r>
            <a:pPr indent="0" marL="0">
              <a:buNone/>
            </a:pP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6" name="Text 94"/>
          <p:cNvSpPr/>
          <p:nvPr/>
        </p:nvSpPr>
        <p:spPr>
          <a:xfrm>
            <a:off x="490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pPr indent="0" marL="0">
              <a:buNone/>
            </a:pPr>
            <a:r>
              <a:rPr lang="en-US" sz="690" b="1" dirty="0">
                <a:solidFill>
                  <a:srgbClr val="67067C"/>
                </a:solidFill>
                <a:latin typeface="IBM Plex Sans" pitchFamily="34" charset="0"/>
                <a:ea typeface="IBM Plex Sans" pitchFamily="34" charset="-122"/>
                <a:cs typeface="IBM Plex Sans" pitchFamily="34" charset="-120"/>
              </a:rPr>
              <a:t>  7</a:t>
            </a:r>
            <a:pPr indent="0" marL="0">
              <a:buNone/>
            </a:pP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7" name="Text 95"/>
          <p:cNvSpPr/>
          <p:nvPr/>
        </p:nvSpPr>
        <p:spPr>
          <a:xfrm>
            <a:off x="490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pétillant</a:t>
            </a:r>
            <a:pPr indent="0" marL="0">
              <a:buNone/>
            </a:pPr>
            <a:r>
              <a:rPr lang="en-US" sz="690" b="1" dirty="0">
                <a:solidFill>
                  <a:srgbClr val="67067C"/>
                </a:solidFill>
                <a:latin typeface="IBM Plex Sans" pitchFamily="34" charset="0"/>
                <a:ea typeface="IBM Plex Sans" pitchFamily="34" charset="-122"/>
                <a:cs typeface="IBM Plex Sans" pitchFamily="34" charset="-120"/>
              </a:rPr>
              <a:t>  7</a:t>
            </a:r>
            <a:pPr indent="0" marL="0">
              <a:buNone/>
            </a:pP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8" name="Text 96"/>
          <p:cNvSpPr/>
          <p:nvPr/>
        </p:nvSpPr>
        <p:spPr>
          <a:xfrm>
            <a:off x="4908000" y="230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JUS DE CÉPAGES</a:t>
            </a:r>
            <a:endParaRPr lang="en-US" sz="800" dirty="0"/>
          </a:p>
        </p:txBody>
      </p:sp>
      <p:sp>
        <p:nvSpPr>
          <p:cNvPr id="99" name="Text 97"/>
          <p:cNvSpPr/>
          <p:nvPr/>
        </p:nvSpPr>
        <p:spPr>
          <a:xfrm>
            <a:off x="490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50 cl</a:t>
            </a:r>
            <a:pPr indent="0" marL="0">
              <a:buNone/>
            </a:pPr>
            <a:r>
              <a:rPr lang="en-US" sz="690" b="1" dirty="0">
                <a:solidFill>
                  <a:srgbClr val="67067C"/>
                </a:solidFill>
                <a:latin typeface="IBM Plex Sans" pitchFamily="34" charset="0"/>
                <a:ea typeface="IBM Plex Sans" pitchFamily="34" charset="-122"/>
                <a:cs typeface="IBM Plex Sans" pitchFamily="34" charset="-120"/>
              </a:rPr>
              <a:t>  33</a:t>
            </a:r>
            <a:pPr indent="0" marL="0">
              <a:buNone/>
            </a:pP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00" name="Text 98"/>
          <p:cNvSpPr/>
          <p:nvPr/>
        </p:nvSpPr>
        <p:spPr>
          <a:xfrm>
            <a:off x="490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25 cl</a:t>
            </a:r>
            <a:pPr indent="0" marL="0">
              <a:buNone/>
            </a:pPr>
            <a:r>
              <a:rPr lang="en-US" sz="690" b="1" dirty="0">
                <a:solidFill>
                  <a:srgbClr val="67067C"/>
                </a:solidFill>
                <a:latin typeface="IBM Plex Sans" pitchFamily="34" charset="0"/>
                <a:ea typeface="IBM Plex Sans" pitchFamily="34" charset="-122"/>
                <a:cs typeface="IBM Plex Sans" pitchFamily="34" charset="-120"/>
              </a:rPr>
              <a:t>  33</a:t>
            </a:r>
            <a:pPr indent="0" marL="0">
              <a:buNone/>
            </a:pP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01" name="Text 99"/>
          <p:cNvSpPr/>
          <p:nvPr/>
        </p:nvSpPr>
        <p:spPr>
          <a:xfrm>
            <a:off x="490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CARIGNAN</a:t>
            </a:r>
            <a:pPr indent="0" marL="0">
              <a:buNone/>
            </a:pPr>
            <a:r>
              <a:rPr lang="en-US" sz="690" b="1" dirty="0">
                <a:solidFill>
                  <a:srgbClr val="67067C"/>
                </a:solidFill>
                <a:latin typeface="IBM Plex Sans" pitchFamily="34" charset="0"/>
                <a:ea typeface="IBM Plex Sans" pitchFamily="34" charset="-122"/>
                <a:cs typeface="IBM Plex Sans" pitchFamily="34" charset="-120"/>
              </a:rPr>
              <a:t>  33</a:t>
            </a:r>
            <a:pPr indent="0" marL="0">
              <a:buNone/>
            </a:pP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02" name="Text 100"/>
          <p:cNvSpPr/>
          <p:nvPr/>
        </p:nvSpPr>
        <p:spPr>
          <a:xfrm>
            <a:off x="490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50 cl</a:t>
            </a:r>
            <a:pPr indent="0" marL="0">
              <a:buNone/>
            </a:pPr>
            <a:r>
              <a:rPr lang="en-US" sz="690" b="1" dirty="0">
                <a:solidFill>
                  <a:srgbClr val="67067C"/>
                </a:solidFill>
                <a:latin typeface="IBM Plex Sans" pitchFamily="34" charset="0"/>
                <a:ea typeface="IBM Plex Sans" pitchFamily="34" charset="-122"/>
                <a:cs typeface="IBM Plex Sans" pitchFamily="34" charset="-120"/>
              </a:rPr>
              <a:t>  33</a:t>
            </a:r>
            <a:pPr indent="0" marL="0">
              <a:buNone/>
            </a:pP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03" name="Text 101"/>
          <p:cNvSpPr/>
          <p:nvPr/>
        </p:nvSpPr>
        <p:spPr>
          <a:xfrm>
            <a:off x="490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25 cl</a:t>
            </a:r>
            <a:pPr indent="0" marL="0">
              <a:buNone/>
            </a:pPr>
            <a:r>
              <a:rPr lang="en-US" sz="690" b="1" dirty="0">
                <a:solidFill>
                  <a:srgbClr val="67067C"/>
                </a:solidFill>
                <a:latin typeface="IBM Plex Sans" pitchFamily="34" charset="0"/>
                <a:ea typeface="IBM Plex Sans" pitchFamily="34" charset="-122"/>
                <a:cs typeface="IBM Plex Sans" pitchFamily="34" charset="-120"/>
              </a:rPr>
              <a:t>  33</a:t>
            </a:r>
            <a:pPr indent="0" marL="0">
              <a:buNone/>
            </a:pP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04" name="Text 102"/>
          <p:cNvSpPr/>
          <p:nvPr/>
        </p:nvSpPr>
        <p:spPr>
          <a:xfrm>
            <a:off x="490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50 cl</a:t>
            </a:r>
            <a:pPr indent="0" marL="0">
              <a:buNone/>
            </a:pPr>
            <a:r>
              <a:rPr lang="en-US" sz="690" b="1" dirty="0">
                <a:solidFill>
                  <a:srgbClr val="67067C"/>
                </a:solidFill>
                <a:latin typeface="IBM Plex Sans" pitchFamily="34" charset="0"/>
                <a:ea typeface="IBM Plex Sans" pitchFamily="34" charset="-122"/>
                <a:cs typeface="IBM Plex Sans" pitchFamily="34" charset="-120"/>
              </a:rPr>
              <a:t>  33</a:t>
            </a:r>
            <a:pPr indent="0" marL="0">
              <a:buNone/>
            </a:pP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05" name="Text 103"/>
          <p:cNvSpPr/>
          <p:nvPr/>
        </p:nvSpPr>
        <p:spPr>
          <a:xfrm>
            <a:off x="490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25 cl</a:t>
            </a:r>
            <a:pPr indent="0" marL="0">
              <a:buNone/>
            </a:pPr>
            <a:r>
              <a:rPr lang="en-US" sz="690" b="1" dirty="0">
                <a:solidFill>
                  <a:srgbClr val="67067C"/>
                </a:solidFill>
                <a:latin typeface="IBM Plex Sans" pitchFamily="34" charset="0"/>
                <a:ea typeface="IBM Plex Sans" pitchFamily="34" charset="-122"/>
                <a:cs typeface="IBM Plex Sans" pitchFamily="34" charset="-120"/>
              </a:rPr>
              <a:t>  33</a:t>
            </a:r>
            <a:pPr indent="0" marL="0">
              <a:buNone/>
            </a:pP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06" name="Text 104"/>
          <p:cNvSpPr/>
          <p:nvPr/>
        </p:nvSpPr>
        <p:spPr>
          <a:xfrm>
            <a:off x="490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SAUVIGNON</a:t>
            </a:r>
            <a:pPr indent="0" marL="0">
              <a:buNone/>
            </a:pPr>
            <a:r>
              <a:rPr lang="en-US" sz="690" b="1" dirty="0">
                <a:solidFill>
                  <a:srgbClr val="67067C"/>
                </a:solidFill>
                <a:latin typeface="IBM Plex Sans" pitchFamily="34" charset="0"/>
                <a:ea typeface="IBM Plex Sans" pitchFamily="34" charset="-122"/>
                <a:cs typeface="IBM Plex Sans" pitchFamily="34" charset="-120"/>
              </a:rPr>
              <a:t>  33</a:t>
            </a:r>
            <a:pPr indent="0" marL="0">
              <a:buNone/>
            </a:pP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07" name="Text 105"/>
          <p:cNvSpPr/>
          <p:nvPr/>
        </p:nvSpPr>
        <p:spPr>
          <a:xfrm>
            <a:off x="4908000" y="343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BIÈRE</a:t>
            </a:r>
            <a:endParaRPr lang="en-US" sz="800" dirty="0"/>
          </a:p>
        </p:txBody>
      </p:sp>
      <p:sp>
        <p:nvSpPr>
          <p:cNvPr id="108" name="Text 106"/>
          <p:cNvSpPr/>
          <p:nvPr/>
        </p:nvSpPr>
        <p:spPr>
          <a:xfrm>
            <a:off x="490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Ambrée</a:t>
            </a:r>
            <a:pPr indent="0" marL="0">
              <a:buNone/>
            </a:pPr>
            <a:r>
              <a:rPr lang="en-US" sz="690" b="1" dirty="0">
                <a:solidFill>
                  <a:srgbClr val="67067C"/>
                </a:solidFill>
                <a:latin typeface="IBM Plex Sans" pitchFamily="34" charset="0"/>
                <a:ea typeface="IBM Plex Sans" pitchFamily="34" charset="-122"/>
                <a:cs typeface="IBM Plex Sans" pitchFamily="34" charset="-120"/>
              </a:rPr>
              <a:t>  24</a:t>
            </a:r>
            <a:pPr indent="0" marL="0">
              <a:buNone/>
            </a:pP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09" name="Text 107"/>
          <p:cNvSpPr/>
          <p:nvPr/>
        </p:nvSpPr>
        <p:spPr>
          <a:xfrm>
            <a:off x="490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Blanche</a:t>
            </a:r>
            <a:pPr indent="0" marL="0">
              <a:buNone/>
            </a:pPr>
            <a:r>
              <a:rPr lang="en-US" sz="690" b="1" dirty="0">
                <a:solidFill>
                  <a:srgbClr val="67067C"/>
                </a:solidFill>
                <a:latin typeface="IBM Plex Sans" pitchFamily="34" charset="0"/>
                <a:ea typeface="IBM Plex Sans" pitchFamily="34" charset="-122"/>
                <a:cs typeface="IBM Plex Sans" pitchFamily="34" charset="-120"/>
              </a:rPr>
              <a:t>  24</a:t>
            </a:r>
            <a:pPr indent="0" marL="0">
              <a:buNone/>
            </a:pP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10" name="Text 108"/>
          <p:cNvSpPr/>
          <p:nvPr/>
        </p:nvSpPr>
        <p:spPr>
          <a:xfrm>
            <a:off x="490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Blonde</a:t>
            </a:r>
            <a:pPr indent="0" marL="0">
              <a:buNone/>
            </a:pPr>
            <a:r>
              <a:rPr lang="en-US" sz="690" b="1" dirty="0">
                <a:solidFill>
                  <a:srgbClr val="67067C"/>
                </a:solidFill>
                <a:latin typeface="IBM Plex Sans" pitchFamily="34" charset="0"/>
                <a:ea typeface="IBM Plex Sans" pitchFamily="34" charset="-122"/>
                <a:cs typeface="IBM Plex Sans" pitchFamily="34" charset="-120"/>
              </a:rPr>
              <a:t>  24</a:t>
            </a:r>
            <a:pPr indent="0" marL="0">
              <a:buNone/>
            </a:pP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11" name="Text 109"/>
          <p:cNvSpPr/>
          <p:nvPr/>
        </p:nvSpPr>
        <p:spPr>
          <a:xfrm>
            <a:off x="4908000" y="394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SPIRITUEUX</a:t>
            </a:r>
            <a:endParaRPr lang="en-US" sz="800" dirty="0"/>
          </a:p>
        </p:txBody>
      </p:sp>
      <p:sp>
        <p:nvSpPr>
          <p:cNvPr id="112" name="Text 110"/>
          <p:cNvSpPr/>
          <p:nvPr/>
        </p:nvSpPr>
        <p:spPr>
          <a:xfrm>
            <a:off x="490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Blanche Armagnac</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3" name="Text 111"/>
          <p:cNvSpPr/>
          <p:nvPr/>
        </p:nvSpPr>
        <p:spPr>
          <a:xfrm>
            <a:off x="490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Hors d'Age</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4" name="Text 112"/>
          <p:cNvSpPr/>
          <p:nvPr/>
        </p:nvSpPr>
        <p:spPr>
          <a:xfrm>
            <a:off x="490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Vieux Ratafia Champenois</a:t>
            </a:r>
            <a:pPr indent="0" marL="0">
              <a:buNone/>
            </a:pPr>
            <a:r>
              <a:rPr lang="en-US" sz="690" b="1" dirty="0">
                <a:solidFill>
                  <a:srgbClr val="67067C"/>
                </a:solidFill>
                <a:latin typeface="IBM Plex Sans" pitchFamily="34" charset="0"/>
                <a:ea typeface="IBM Plex Sans" pitchFamily="34" charset="-122"/>
                <a:cs typeface="IBM Plex Sans" pitchFamily="34" charset="-120"/>
              </a:rPr>
              <a:t>  38</a:t>
            </a:r>
            <a:pPr indent="0" marL="0">
              <a:buNone/>
            </a:pP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115" name="Text 113"/>
          <p:cNvSpPr/>
          <p:nvPr/>
        </p:nvSpPr>
        <p:spPr>
          <a:xfrm>
            <a:off x="490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6" name="Text 114"/>
          <p:cNvSpPr/>
          <p:nvPr/>
        </p:nvSpPr>
        <p:spPr>
          <a:xfrm>
            <a:off x="490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7" name="Text 115"/>
          <p:cNvSpPr/>
          <p:nvPr/>
        </p:nvSpPr>
        <p:spPr>
          <a:xfrm>
            <a:off x="490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Réserve</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8" name="Text 116"/>
          <p:cNvSpPr/>
          <p:nvPr/>
        </p:nvSpPr>
        <p:spPr>
          <a:xfrm>
            <a:off x="490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V.S.O.P.</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9" name="Text 117"/>
          <p:cNvSpPr/>
          <p:nvPr/>
        </p:nvSpPr>
        <p:spPr>
          <a:xfrm>
            <a:off x="490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Vieux Ratafia</a:t>
            </a:r>
            <a:pPr indent="0" marL="0">
              <a:buNone/>
            </a:pPr>
            <a:r>
              <a:rPr lang="en-US" sz="690" b="1" dirty="0">
                <a:solidFill>
                  <a:srgbClr val="67067C"/>
                </a:solidFill>
                <a:latin typeface="IBM Plex Sans" pitchFamily="34" charset="0"/>
                <a:ea typeface="IBM Plex Sans" pitchFamily="34" charset="-122"/>
                <a:cs typeface="IBM Plex Sans" pitchFamily="34" charset="-120"/>
              </a:rPr>
              <a:t>  37</a:t>
            </a:r>
            <a:pPr indent="0" marL="0">
              <a:buNone/>
            </a:pPr>
            <a:r>
              <a:rPr lang="en-US" sz="690" dirty="0">
                <a:solidFill>
                  <a:srgbClr val="46606E"/>
                </a:solidFill>
                <a:latin typeface="IBM Plex Sans" pitchFamily="34" charset="0"/>
                <a:ea typeface="IBM Plex Sans" pitchFamily="34" charset="-122"/>
                <a:cs typeface="IBM Plex Sans" pitchFamily="34" charset="-120"/>
              </a:rPr>
              <a:t>  64</a:t>
            </a:r>
            <a:endParaRPr lang="en-US" sz="690" dirty="0"/>
          </a:p>
        </p:txBody>
      </p:sp>
      <p:sp>
        <p:nvSpPr>
          <p:cNvPr id="120" name="Text 118"/>
          <p:cNvSpPr/>
          <p:nvPr/>
        </p:nvSpPr>
        <p:spPr>
          <a:xfrm>
            <a:off x="490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X.O.</a:t>
            </a:r>
            <a:pPr indent="0" marL="0">
              <a:buNone/>
            </a:pPr>
            <a:r>
              <a:rPr lang="en-US" sz="690" b="1" dirty="0">
                <a:solidFill>
                  <a:srgbClr val="67067C"/>
                </a:solidFill>
                <a:latin typeface="IBM Plex Sans" pitchFamily="34" charset="0"/>
                <a:ea typeface="IBM Plex Sans" pitchFamily="34" charset="-122"/>
                <a:cs typeface="IBM Plex Sans" pitchFamily="34" charset="-120"/>
              </a:rPr>
              <a:t>  23</a:t>
            </a:r>
            <a:pPr indent="0" marL="0">
              <a:buNone/>
            </a:pP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21" name="Text 119"/>
          <p:cNvSpPr/>
          <p:nvPr/>
        </p:nvSpPr>
        <p:spPr>
          <a:xfrm>
            <a:off x="4908000" y="520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AUTRE</a:t>
            </a:r>
            <a:endParaRPr lang="en-US" sz="800" dirty="0"/>
          </a:p>
        </p:txBody>
      </p:sp>
      <p:sp>
        <p:nvSpPr>
          <p:cNvPr id="122" name="Text 120"/>
          <p:cNvSpPr/>
          <p:nvPr/>
        </p:nvSpPr>
        <p:spPr>
          <a:xfrm>
            <a:off x="490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23" name="Text 121"/>
          <p:cNvSpPr/>
          <p:nvPr/>
        </p:nvSpPr>
        <p:spPr>
          <a:xfrm>
            <a:off x="490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24" name="Text 122"/>
          <p:cNvSpPr/>
          <p:nvPr/>
        </p:nvSpPr>
        <p:spPr>
          <a:xfrm>
            <a:off x="490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pPr indent="0" marL="0">
              <a:buNone/>
            </a:pPr>
            <a:r>
              <a:rPr lang="en-US" sz="690" b="1" dirty="0">
                <a:solidFill>
                  <a:srgbClr val="67067C"/>
                </a:solidFill>
                <a:latin typeface="IBM Plex Sans" pitchFamily="34" charset="0"/>
                <a:ea typeface="IBM Plex Sans" pitchFamily="34" charset="-122"/>
                <a:cs typeface="IBM Plex Sans" pitchFamily="34" charset="-120"/>
              </a:rPr>
              <a:t>  32</a:t>
            </a:r>
            <a:pPr indent="0" marL="0">
              <a:buNone/>
            </a:pP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25" name="Text 12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70</a:t>
            </a:r>
            <a:endParaRPr lang="en-US" sz="750" dirty="0"/>
          </a:p>
        </p:txBody>
      </p:sp>
      <p:sp>
        <p:nvSpPr>
          <p:cNvPr id="126" name="Text 12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produits à part</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CE QUI N'EST PAS UNE BOUTEILLE DE 75 CL</a:t>
            </a:r>
            <a:endParaRPr lang="en-US" sz="800" dirty="0"/>
          </a:p>
        </p:txBody>
      </p:sp>
      <p:sp>
        <p:nvSpPr>
          <p:cNvPr id="4" name="Text 2"/>
          <p:cNvSpPr/>
          <p:nvPr/>
        </p:nvSpPr>
        <p:spPr>
          <a:xfrm>
            <a:off x="612000" y="129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Bag-in-box   (14)</a:t>
            </a:r>
            <a:endParaRPr lang="en-US" sz="1200" dirty="0"/>
          </a:p>
        </p:txBody>
      </p:sp>
      <p:sp>
        <p:nvSpPr>
          <p:cNvPr id="5" name="Shape 3"/>
          <p:cNvSpPr/>
          <p:nvPr/>
        </p:nvSpPr>
        <p:spPr>
          <a:xfrm>
            <a:off x="612000" y="1512000"/>
            <a:ext cx="6120000" cy="0"/>
          </a:xfrm>
          <a:prstGeom prst="line">
            <a:avLst/>
          </a:prstGeom>
          <a:noFill/>
          <a:ln w="10160">
            <a:solidFill>
              <a:srgbClr val="67067C"/>
            </a:solidFill>
            <a:prstDash val="solid"/>
          </a:ln>
        </p:spPr>
      </p:sp>
      <p:sp>
        <p:nvSpPr>
          <p:cNvPr id="6" name="Text 4"/>
          <p:cNvSpPr/>
          <p:nvPr/>
        </p:nvSpPr>
        <p:spPr>
          <a:xfrm>
            <a:off x="612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pPr indent="0" marL="0">
              <a:buNone/>
            </a:pPr>
            <a:r>
              <a:rPr lang="en-US" sz="740" b="1" dirty="0">
                <a:solidFill>
                  <a:srgbClr val="46606E"/>
                </a:solidFill>
                <a:latin typeface="IBM Plex Sans" pitchFamily="34" charset="0"/>
                <a:ea typeface="IBM Plex Sans" pitchFamily="34" charset="-122"/>
                <a:cs typeface="IBM Plex Sans" pitchFamily="34" charset="-120"/>
              </a:rPr>
              <a:t>AOP Muscadet  </a:t>
            </a:r>
            <a:pPr indent="0" marL="0">
              <a:buNone/>
            </a:pPr>
            <a:r>
              <a:rPr lang="en-US" sz="680" dirty="0">
                <a:solidFill>
                  <a:srgbClr val="46606E"/>
                </a:solidFill>
                <a:latin typeface="IBM Plex Sans" pitchFamily="34" charset="0"/>
                <a:ea typeface="IBM Plex Sans" pitchFamily="34" charset="-122"/>
                <a:cs typeface="IBM Plex Sans" pitchFamily="34" charset="-120"/>
              </a:rPr>
              <a:t>Domaine du Colombier / J.Y Bretaudeau  </a:t>
            </a:r>
            <a:pPr indent="0" marL="0">
              <a:buNone/>
            </a:pPr>
            <a:r>
              <a:rPr lang="en-US" sz="680" dirty="0">
                <a:solidFill>
                  <a:srgbClr val="A8515F"/>
                </a:solidFill>
                <a:latin typeface="IBM Plex Sans" pitchFamily="34" charset="0"/>
                <a:ea typeface="IBM Plex Sans" pitchFamily="34" charset="-122"/>
                <a:cs typeface="IBM Plex Sans" pitchFamily="34" charset="-120"/>
              </a:rPr>
              <a:t>5 Litres · 10 Litres   p. 9</a:t>
            </a:r>
            <a:endParaRPr lang="en-US" sz="740" dirty="0"/>
          </a:p>
        </p:txBody>
      </p:sp>
      <p:sp>
        <p:nvSpPr>
          <p:cNvPr id="7" name="Text 5"/>
          <p:cNvSpPr/>
          <p:nvPr/>
        </p:nvSpPr>
        <p:spPr>
          <a:xfrm>
            <a:off x="612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pPr indent="0" marL="0">
              <a:buNone/>
            </a:pPr>
            <a:r>
              <a:rPr lang="en-US" sz="740" b="1" dirty="0">
                <a:solidFill>
                  <a:srgbClr val="46606E"/>
                </a:solidFill>
                <a:latin typeface="IBM Plex Sans" pitchFamily="34" charset="0"/>
                <a:ea typeface="IBM Plex Sans" pitchFamily="34" charset="-122"/>
                <a:cs typeface="IBM Plex Sans" pitchFamily="34" charset="-120"/>
              </a:rPr>
              <a:t>IGP Sauvignon  </a:t>
            </a:r>
            <a:pPr indent="0" marL="0">
              <a:buNone/>
            </a:pPr>
            <a:r>
              <a:rPr lang="en-US" sz="680" dirty="0">
                <a:solidFill>
                  <a:srgbClr val="46606E"/>
                </a:solidFill>
                <a:latin typeface="IBM Plex Sans" pitchFamily="34" charset="0"/>
                <a:ea typeface="IBM Plex Sans" pitchFamily="34" charset="-122"/>
                <a:cs typeface="IBM Plex Sans" pitchFamily="34" charset="-120"/>
              </a:rPr>
              <a:t>Domaine du Colombier / J.Y Bretaudeau  </a:t>
            </a:r>
            <a:pPr indent="0" marL="0">
              <a:buNone/>
            </a:pPr>
            <a:r>
              <a:rPr lang="en-US" sz="680" dirty="0">
                <a:solidFill>
                  <a:srgbClr val="A8515F"/>
                </a:solidFill>
                <a:latin typeface="IBM Plex Sans" pitchFamily="34" charset="0"/>
                <a:ea typeface="IBM Plex Sans" pitchFamily="34" charset="-122"/>
                <a:cs typeface="IBM Plex Sans" pitchFamily="34" charset="-120"/>
              </a:rPr>
              <a:t>5 Litres · 10 Litres   p. 9</a:t>
            </a:r>
            <a:endParaRPr lang="en-US" sz="740" dirty="0"/>
          </a:p>
        </p:txBody>
      </p:sp>
      <p:sp>
        <p:nvSpPr>
          <p:cNvPr id="8" name="Text 6"/>
          <p:cNvSpPr/>
          <p:nvPr/>
        </p:nvSpPr>
        <p:spPr>
          <a:xfrm>
            <a:off x="612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pPr indent="0" marL="0">
              <a:buNone/>
            </a:pPr>
            <a:r>
              <a:rPr lang="en-US" sz="740" b="1" dirty="0">
                <a:solidFill>
                  <a:srgbClr val="46606E"/>
                </a:solidFill>
                <a:latin typeface="IBM Plex Sans" pitchFamily="34" charset="0"/>
                <a:ea typeface="IBM Plex Sans" pitchFamily="34" charset="-122"/>
                <a:cs typeface="IBM Plex Sans" pitchFamily="34" charset="-120"/>
              </a:rPr>
              <a:t>IGP Chardonnay  </a:t>
            </a:r>
            <a:pPr indent="0" marL="0">
              <a:buNone/>
            </a:pPr>
            <a:r>
              <a:rPr lang="en-US" sz="680" dirty="0">
                <a:solidFill>
                  <a:srgbClr val="46606E"/>
                </a:solidFill>
                <a:latin typeface="IBM Plex Sans" pitchFamily="34" charset="0"/>
                <a:ea typeface="IBM Plex Sans" pitchFamily="34" charset="-122"/>
                <a:cs typeface="IBM Plex Sans" pitchFamily="34" charset="-120"/>
              </a:rPr>
              <a:t>Domaine du Colombier / J.Y Bretaudeau  </a:t>
            </a:r>
            <a:pPr indent="0" marL="0">
              <a:buNone/>
            </a:pPr>
            <a:r>
              <a:rPr lang="en-US" sz="680" dirty="0">
                <a:solidFill>
                  <a:srgbClr val="A8515F"/>
                </a:solidFill>
                <a:latin typeface="IBM Plex Sans" pitchFamily="34" charset="0"/>
                <a:ea typeface="IBM Plex Sans" pitchFamily="34" charset="-122"/>
                <a:cs typeface="IBM Plex Sans" pitchFamily="34" charset="-120"/>
              </a:rPr>
              <a:t>5 Litres · 10 Litres   p. 9</a:t>
            </a:r>
            <a:endParaRPr lang="en-US" sz="740" dirty="0"/>
          </a:p>
        </p:txBody>
      </p:sp>
      <p:sp>
        <p:nvSpPr>
          <p:cNvPr id="9" name="Text 7"/>
          <p:cNvSpPr/>
          <p:nvPr/>
        </p:nvSpPr>
        <p:spPr>
          <a:xfrm>
            <a:off x="612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pPr indent="0" marL="0">
              <a:buNone/>
            </a:pPr>
            <a:r>
              <a:rPr lang="en-US" sz="740" b="1" dirty="0">
                <a:solidFill>
                  <a:srgbClr val="46606E"/>
                </a:solidFill>
                <a:latin typeface="IBM Plex Sans" pitchFamily="34" charset="0"/>
                <a:ea typeface="IBM Plex Sans" pitchFamily="34" charset="-122"/>
                <a:cs typeface="IBM Plex Sans" pitchFamily="34" charset="-120"/>
              </a:rPr>
              <a:t>IGP Merlot  </a:t>
            </a:r>
            <a:pPr indent="0" marL="0">
              <a:buNone/>
            </a:pPr>
            <a:r>
              <a:rPr lang="en-US" sz="680" dirty="0">
                <a:solidFill>
                  <a:srgbClr val="46606E"/>
                </a:solidFill>
                <a:latin typeface="IBM Plex Sans" pitchFamily="34" charset="0"/>
                <a:ea typeface="IBM Plex Sans" pitchFamily="34" charset="-122"/>
                <a:cs typeface="IBM Plex Sans" pitchFamily="34" charset="-120"/>
              </a:rPr>
              <a:t>Domaine du Colombier / J.Y Bretaudeau  </a:t>
            </a:r>
            <a:pPr indent="0" marL="0">
              <a:buNone/>
            </a:pPr>
            <a:r>
              <a:rPr lang="en-US" sz="680" dirty="0">
                <a:solidFill>
                  <a:srgbClr val="A8515F"/>
                </a:solidFill>
                <a:latin typeface="IBM Plex Sans" pitchFamily="34" charset="0"/>
                <a:ea typeface="IBM Plex Sans" pitchFamily="34" charset="-122"/>
                <a:cs typeface="IBM Plex Sans" pitchFamily="34" charset="-120"/>
              </a:rPr>
              <a:t>5 Litres · 10 Litres   p. 9</a:t>
            </a:r>
            <a:endParaRPr lang="en-US" sz="740" dirty="0"/>
          </a:p>
        </p:txBody>
      </p:sp>
      <p:sp>
        <p:nvSpPr>
          <p:cNvPr id="10" name="Text 8"/>
          <p:cNvSpPr/>
          <p:nvPr/>
        </p:nvSpPr>
        <p:spPr>
          <a:xfrm>
            <a:off x="612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pPr indent="0" marL="0">
              <a:buNone/>
            </a:pPr>
            <a:r>
              <a:rPr lang="en-US" sz="740" b="1" dirty="0">
                <a:solidFill>
                  <a:srgbClr val="46606E"/>
                </a:solidFill>
                <a:latin typeface="IBM Plex Sans" pitchFamily="34" charset="0"/>
                <a:ea typeface="IBM Plex Sans" pitchFamily="34" charset="-122"/>
                <a:cs typeface="IBM Plex Sans" pitchFamily="34" charset="-120"/>
              </a:rPr>
              <a:t>IGP Cabernet  </a:t>
            </a:r>
            <a:pPr indent="0" marL="0">
              <a:buNone/>
            </a:pPr>
            <a:r>
              <a:rPr lang="en-US" sz="680" dirty="0">
                <a:solidFill>
                  <a:srgbClr val="46606E"/>
                </a:solidFill>
                <a:latin typeface="IBM Plex Sans" pitchFamily="34" charset="0"/>
                <a:ea typeface="IBM Plex Sans" pitchFamily="34" charset="-122"/>
                <a:cs typeface="IBM Plex Sans" pitchFamily="34" charset="-120"/>
              </a:rPr>
              <a:t>Domaine du Colombier / J.Y Bretaudeau  </a:t>
            </a:r>
            <a:pPr indent="0" marL="0">
              <a:buNone/>
            </a:pPr>
            <a:r>
              <a:rPr lang="en-US" sz="680" dirty="0">
                <a:solidFill>
                  <a:srgbClr val="A8515F"/>
                </a:solidFill>
                <a:latin typeface="IBM Plex Sans" pitchFamily="34" charset="0"/>
                <a:ea typeface="IBM Plex Sans" pitchFamily="34" charset="-122"/>
                <a:cs typeface="IBM Plex Sans" pitchFamily="34" charset="-120"/>
              </a:rPr>
              <a:t>5 Litres · 10 Litres   p. 9</a:t>
            </a:r>
            <a:endParaRPr lang="en-US" sz="740" dirty="0"/>
          </a:p>
        </p:txBody>
      </p:sp>
      <p:sp>
        <p:nvSpPr>
          <p:cNvPr id="11" name="Text 9"/>
          <p:cNvSpPr/>
          <p:nvPr/>
        </p:nvSpPr>
        <p:spPr>
          <a:xfrm>
            <a:off x="612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pPr indent="0" marL="0">
              <a:buNone/>
            </a:pPr>
            <a:r>
              <a:rPr lang="en-US" sz="740" b="1" dirty="0">
                <a:solidFill>
                  <a:srgbClr val="46606E"/>
                </a:solidFill>
                <a:latin typeface="IBM Plex Sans" pitchFamily="34" charset="0"/>
                <a:ea typeface="IBM Plex Sans" pitchFamily="34" charset="-122"/>
                <a:cs typeface="IBM Plex Sans" pitchFamily="34" charset="-120"/>
              </a:rPr>
              <a:t>IGP Cabernet  </a:t>
            </a:r>
            <a:pPr indent="0" marL="0">
              <a:buNone/>
            </a:pPr>
            <a:r>
              <a:rPr lang="en-US" sz="680" dirty="0">
                <a:solidFill>
                  <a:srgbClr val="46606E"/>
                </a:solidFill>
                <a:latin typeface="IBM Plex Sans" pitchFamily="34" charset="0"/>
                <a:ea typeface="IBM Plex Sans" pitchFamily="34" charset="-122"/>
                <a:cs typeface="IBM Plex Sans" pitchFamily="34" charset="-120"/>
              </a:rPr>
              <a:t>Domaine du Colombier / J.Y Bretaudeau  </a:t>
            </a:r>
            <a:pPr indent="0" marL="0">
              <a:buNone/>
            </a:pPr>
            <a:r>
              <a:rPr lang="en-US" sz="680" dirty="0">
                <a:solidFill>
                  <a:srgbClr val="A8515F"/>
                </a:solidFill>
                <a:latin typeface="IBM Plex Sans" pitchFamily="34" charset="0"/>
                <a:ea typeface="IBM Plex Sans" pitchFamily="34" charset="-122"/>
                <a:cs typeface="IBM Plex Sans" pitchFamily="34" charset="-120"/>
              </a:rPr>
              <a:t>5 Litres · 10 Litres   p. 9</a:t>
            </a:r>
            <a:endParaRPr lang="en-US" sz="740" dirty="0"/>
          </a:p>
        </p:txBody>
      </p:sp>
      <p:sp>
        <p:nvSpPr>
          <p:cNvPr id="12" name="Text 10"/>
          <p:cNvSpPr/>
          <p:nvPr/>
        </p:nvSpPr>
        <p:spPr>
          <a:xfrm>
            <a:off x="612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pPr indent="0" marL="0">
              <a:buNone/>
            </a:pPr>
            <a:r>
              <a:rPr lang="en-US" sz="740" b="1" dirty="0">
                <a:solidFill>
                  <a:srgbClr val="46606E"/>
                </a:solidFill>
                <a:latin typeface="IBM Plex Sans" pitchFamily="34" charset="0"/>
                <a:ea typeface="IBM Plex Sans" pitchFamily="34" charset="-122"/>
                <a:cs typeface="IBM Plex Sans" pitchFamily="34" charset="-120"/>
              </a:rPr>
              <a:t>Amande  </a:t>
            </a:r>
            <a:pPr indent="0" marL="0">
              <a:buNone/>
            </a:pPr>
            <a:r>
              <a:rPr lang="en-US" sz="680" dirty="0">
                <a:solidFill>
                  <a:srgbClr val="46606E"/>
                </a:solidFill>
                <a:latin typeface="IBM Plex Sans" pitchFamily="34" charset="0"/>
                <a:ea typeface="IBM Plex Sans" pitchFamily="34" charset="-122"/>
                <a:cs typeface="IBM Plex Sans" pitchFamily="34" charset="-120"/>
              </a:rPr>
              <a:t>Domaine Haut Marin  </a:t>
            </a:r>
            <a:pPr indent="0" marL="0">
              <a:buNone/>
            </a:pPr>
            <a:r>
              <a:rPr lang="en-US" sz="680" dirty="0">
                <a:solidFill>
                  <a:srgbClr val="A8515F"/>
                </a:solidFill>
                <a:latin typeface="IBM Plex Sans" pitchFamily="34" charset="0"/>
                <a:ea typeface="IBM Plex Sans" pitchFamily="34" charset="-122"/>
                <a:cs typeface="IBM Plex Sans" pitchFamily="34" charset="-120"/>
              </a:rPr>
              <a:t>3 L   p. 39</a:t>
            </a:r>
            <a:endParaRPr lang="en-US" sz="740" dirty="0"/>
          </a:p>
        </p:txBody>
      </p:sp>
      <p:sp>
        <p:nvSpPr>
          <p:cNvPr id="13" name="Text 11"/>
          <p:cNvSpPr/>
          <p:nvPr/>
        </p:nvSpPr>
        <p:spPr>
          <a:xfrm>
            <a:off x="3672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pPr indent="0" marL="0">
              <a:buNone/>
            </a:pPr>
            <a:r>
              <a:rPr lang="en-US" sz="740" b="1" dirty="0">
                <a:solidFill>
                  <a:srgbClr val="46606E"/>
                </a:solidFill>
                <a:latin typeface="IBM Plex Sans" pitchFamily="34" charset="0"/>
                <a:ea typeface="IBM Plex Sans" pitchFamily="34" charset="-122"/>
                <a:cs typeface="IBM Plex Sans" pitchFamily="34" charset="-120"/>
              </a:rPr>
              <a:t>Gulf Stream  </a:t>
            </a:r>
            <a:pPr indent="0" marL="0">
              <a:buNone/>
            </a:pPr>
            <a:r>
              <a:rPr lang="en-US" sz="680" dirty="0">
                <a:solidFill>
                  <a:srgbClr val="46606E"/>
                </a:solidFill>
                <a:latin typeface="IBM Plex Sans" pitchFamily="34" charset="0"/>
                <a:ea typeface="IBM Plex Sans" pitchFamily="34" charset="-122"/>
                <a:cs typeface="IBM Plex Sans" pitchFamily="34" charset="-120"/>
              </a:rPr>
              <a:t>Domaine Haut Marin  </a:t>
            </a:r>
            <a:pPr indent="0" marL="0">
              <a:buNone/>
            </a:pPr>
            <a:r>
              <a:rPr lang="en-US" sz="680" dirty="0">
                <a:solidFill>
                  <a:srgbClr val="A8515F"/>
                </a:solidFill>
                <a:latin typeface="IBM Plex Sans" pitchFamily="34" charset="0"/>
                <a:ea typeface="IBM Plex Sans" pitchFamily="34" charset="-122"/>
                <a:cs typeface="IBM Plex Sans" pitchFamily="34" charset="-120"/>
              </a:rPr>
              <a:t>5 L   p. 39</a:t>
            </a:r>
            <a:endParaRPr lang="en-US" sz="740" dirty="0"/>
          </a:p>
        </p:txBody>
      </p:sp>
      <p:sp>
        <p:nvSpPr>
          <p:cNvPr id="14" name="Text 12"/>
          <p:cNvSpPr/>
          <p:nvPr/>
        </p:nvSpPr>
        <p:spPr>
          <a:xfrm>
            <a:off x="3672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pPr indent="0" marL="0">
              <a:buNone/>
            </a:pPr>
            <a:r>
              <a:rPr lang="en-US" sz="740" b="1" dirty="0">
                <a:solidFill>
                  <a:srgbClr val="46606E"/>
                </a:solidFill>
                <a:latin typeface="IBM Plex Sans" pitchFamily="34" charset="0"/>
                <a:ea typeface="IBM Plex Sans" pitchFamily="34" charset="-122"/>
                <a:cs typeface="IBM Plex Sans" pitchFamily="34" charset="-120"/>
              </a:rPr>
              <a:t>Triton  </a:t>
            </a:r>
            <a:pPr indent="0" marL="0">
              <a:buNone/>
            </a:pPr>
            <a:r>
              <a:rPr lang="en-US" sz="680" dirty="0">
                <a:solidFill>
                  <a:srgbClr val="46606E"/>
                </a:solidFill>
                <a:latin typeface="IBM Plex Sans" pitchFamily="34" charset="0"/>
                <a:ea typeface="IBM Plex Sans" pitchFamily="34" charset="-122"/>
                <a:cs typeface="IBM Plex Sans" pitchFamily="34" charset="-120"/>
              </a:rPr>
              <a:t>Domaine Haut Marin  </a:t>
            </a:r>
            <a:pPr indent="0" marL="0">
              <a:buNone/>
            </a:pPr>
            <a:r>
              <a:rPr lang="en-US" sz="680" dirty="0">
                <a:solidFill>
                  <a:srgbClr val="A8515F"/>
                </a:solidFill>
                <a:latin typeface="IBM Plex Sans" pitchFamily="34" charset="0"/>
                <a:ea typeface="IBM Plex Sans" pitchFamily="34" charset="-122"/>
                <a:cs typeface="IBM Plex Sans" pitchFamily="34" charset="-120"/>
              </a:rPr>
              <a:t>10 L   p. 39</a:t>
            </a:r>
            <a:endParaRPr lang="en-US" sz="740" dirty="0"/>
          </a:p>
        </p:txBody>
      </p:sp>
      <p:sp>
        <p:nvSpPr>
          <p:cNvPr id="15" name="Text 13"/>
          <p:cNvSpPr/>
          <p:nvPr/>
        </p:nvSpPr>
        <p:spPr>
          <a:xfrm>
            <a:off x="3672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31  </a:t>
            </a:r>
            <a:pPr indent="0" marL="0">
              <a:buNone/>
            </a:pPr>
            <a:r>
              <a:rPr lang="en-US" sz="740" b="1" dirty="0">
                <a:solidFill>
                  <a:srgbClr val="46606E"/>
                </a:solidFill>
                <a:latin typeface="IBM Plex Sans" pitchFamily="34" charset="0"/>
                <a:ea typeface="IBM Plex Sans" pitchFamily="34" charset="-122"/>
                <a:cs typeface="IBM Plex Sans" pitchFamily="34" charset="-120"/>
              </a:rPr>
              <a:t>BLACAILLOUX  </a:t>
            </a:r>
            <a:pPr indent="0" marL="0">
              <a:buNone/>
            </a:pPr>
            <a:r>
              <a:rPr lang="en-US" sz="680" dirty="0">
                <a:solidFill>
                  <a:srgbClr val="46606E"/>
                </a:solidFill>
                <a:latin typeface="IBM Plex Sans" pitchFamily="34" charset="0"/>
                <a:ea typeface="IBM Plex Sans" pitchFamily="34" charset="-122"/>
                <a:cs typeface="IBM Plex Sans" pitchFamily="34" charset="-120"/>
              </a:rPr>
              <a:t>Bastide de Blacailloux  </a:t>
            </a:r>
            <a:pPr indent="0" marL="0">
              <a:buNone/>
            </a:pPr>
            <a:r>
              <a:rPr lang="en-US" sz="680" dirty="0">
                <a:solidFill>
                  <a:srgbClr val="A8515F"/>
                </a:solidFill>
                <a:latin typeface="IBM Plex Sans" pitchFamily="34" charset="0"/>
                <a:ea typeface="IBM Plex Sans" pitchFamily="34" charset="-122"/>
                <a:cs typeface="IBM Plex Sans" pitchFamily="34" charset="-120"/>
              </a:rPr>
              <a:t>5 L   p. 54</a:t>
            </a:r>
            <a:endParaRPr lang="en-US" sz="740" dirty="0"/>
          </a:p>
        </p:txBody>
      </p:sp>
      <p:sp>
        <p:nvSpPr>
          <p:cNvPr id="16" name="Text 14"/>
          <p:cNvSpPr/>
          <p:nvPr/>
        </p:nvSpPr>
        <p:spPr>
          <a:xfrm>
            <a:off x="3672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pPr indent="0" marL="0">
              <a:buNone/>
            </a:pPr>
            <a:r>
              <a:rPr lang="en-US" sz="740" b="1" dirty="0">
                <a:solidFill>
                  <a:srgbClr val="46606E"/>
                </a:solidFill>
                <a:latin typeface="IBM Plex Sans" pitchFamily="34" charset="0"/>
                <a:ea typeface="IBM Plex Sans" pitchFamily="34" charset="-122"/>
                <a:cs typeface="IBM Plex Sans" pitchFamily="34" charset="-120"/>
              </a:rPr>
              <a:t>Pergola D'Exea  </a:t>
            </a:r>
            <a:pPr indent="0" marL="0">
              <a:buNone/>
            </a:pPr>
            <a:r>
              <a:rPr lang="en-US" sz="680" dirty="0">
                <a:solidFill>
                  <a:srgbClr val="46606E"/>
                </a:solidFill>
                <a:latin typeface="IBM Plex Sans" pitchFamily="34" charset="0"/>
                <a:ea typeface="IBM Plex Sans" pitchFamily="34" charset="-122"/>
                <a:cs typeface="IBM Plex Sans" pitchFamily="34" charset="-120"/>
              </a:rPr>
              <a:t>Famille d’Exea  </a:t>
            </a:r>
            <a:pPr indent="0" marL="0">
              <a:buNone/>
            </a:pPr>
            <a:r>
              <a:rPr lang="en-US" sz="680" dirty="0">
                <a:solidFill>
                  <a:srgbClr val="A8515F"/>
                </a:solidFill>
                <a:latin typeface="IBM Plex Sans" pitchFamily="34" charset="0"/>
                <a:ea typeface="IBM Plex Sans" pitchFamily="34" charset="-122"/>
                <a:cs typeface="IBM Plex Sans" pitchFamily="34" charset="-120"/>
              </a:rPr>
              <a:t>5 L   p. 56</a:t>
            </a:r>
            <a:endParaRPr lang="en-US" sz="740" dirty="0"/>
          </a:p>
        </p:txBody>
      </p:sp>
      <p:sp>
        <p:nvSpPr>
          <p:cNvPr id="17" name="Text 15"/>
          <p:cNvSpPr/>
          <p:nvPr/>
        </p:nvSpPr>
        <p:spPr>
          <a:xfrm>
            <a:off x="3672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pPr indent="0" marL="0">
              <a:buNone/>
            </a:pPr>
            <a:r>
              <a:rPr lang="en-US" sz="740" b="1" dirty="0">
                <a:solidFill>
                  <a:srgbClr val="46606E"/>
                </a:solidFill>
                <a:latin typeface="IBM Plex Sans" pitchFamily="34" charset="0"/>
                <a:ea typeface="IBM Plex Sans" pitchFamily="34" charset="-122"/>
                <a:cs typeface="IBM Plex Sans" pitchFamily="34" charset="-120"/>
              </a:rPr>
              <a:t>Pergola D'Exea  </a:t>
            </a:r>
            <a:pPr indent="0" marL="0">
              <a:buNone/>
            </a:pPr>
            <a:r>
              <a:rPr lang="en-US" sz="680" dirty="0">
                <a:solidFill>
                  <a:srgbClr val="46606E"/>
                </a:solidFill>
                <a:latin typeface="IBM Plex Sans" pitchFamily="34" charset="0"/>
                <a:ea typeface="IBM Plex Sans" pitchFamily="34" charset="-122"/>
                <a:cs typeface="IBM Plex Sans" pitchFamily="34" charset="-120"/>
              </a:rPr>
              <a:t>Famille d’Exea  </a:t>
            </a:r>
            <a:pPr indent="0" marL="0">
              <a:buNone/>
            </a:pPr>
            <a:r>
              <a:rPr lang="en-US" sz="680" dirty="0">
                <a:solidFill>
                  <a:srgbClr val="A8515F"/>
                </a:solidFill>
                <a:latin typeface="IBM Plex Sans" pitchFamily="34" charset="0"/>
                <a:ea typeface="IBM Plex Sans" pitchFamily="34" charset="-122"/>
                <a:cs typeface="IBM Plex Sans" pitchFamily="34" charset="-120"/>
              </a:rPr>
              <a:t>5 L   p. 56</a:t>
            </a:r>
            <a:endParaRPr lang="en-US" sz="740" dirty="0"/>
          </a:p>
        </p:txBody>
      </p:sp>
      <p:sp>
        <p:nvSpPr>
          <p:cNvPr id="18" name="Text 16"/>
          <p:cNvSpPr/>
          <p:nvPr/>
        </p:nvSpPr>
        <p:spPr>
          <a:xfrm>
            <a:off x="3672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pPr indent="0" marL="0">
              <a:buNone/>
            </a:pPr>
            <a:r>
              <a:rPr lang="en-US" sz="740" b="1" dirty="0">
                <a:solidFill>
                  <a:srgbClr val="46606E"/>
                </a:solidFill>
                <a:latin typeface="IBM Plex Sans" pitchFamily="34" charset="0"/>
                <a:ea typeface="IBM Plex Sans" pitchFamily="34" charset="-122"/>
                <a:cs typeface="IBM Plex Sans" pitchFamily="34" charset="-120"/>
              </a:rPr>
              <a:t>Pergola D'Exea  </a:t>
            </a:r>
            <a:pPr indent="0" marL="0">
              <a:buNone/>
            </a:pPr>
            <a:r>
              <a:rPr lang="en-US" sz="680" dirty="0">
                <a:solidFill>
                  <a:srgbClr val="46606E"/>
                </a:solidFill>
                <a:latin typeface="IBM Plex Sans" pitchFamily="34" charset="0"/>
                <a:ea typeface="IBM Plex Sans" pitchFamily="34" charset="-122"/>
                <a:cs typeface="IBM Plex Sans" pitchFamily="34" charset="-120"/>
              </a:rPr>
              <a:t>Famille d’Exea  </a:t>
            </a:r>
            <a:pPr indent="0" marL="0">
              <a:buNone/>
            </a:pPr>
            <a:r>
              <a:rPr lang="en-US" sz="680" dirty="0">
                <a:solidFill>
                  <a:srgbClr val="A8515F"/>
                </a:solidFill>
                <a:latin typeface="IBM Plex Sans" pitchFamily="34" charset="0"/>
                <a:ea typeface="IBM Plex Sans" pitchFamily="34" charset="-122"/>
                <a:cs typeface="IBM Plex Sans" pitchFamily="34" charset="-120"/>
              </a:rPr>
              <a:t>5 L   p. 56</a:t>
            </a:r>
            <a:endParaRPr lang="en-US" sz="740" dirty="0"/>
          </a:p>
        </p:txBody>
      </p:sp>
      <p:sp>
        <p:nvSpPr>
          <p:cNvPr id="19" name="Text 17"/>
          <p:cNvSpPr/>
          <p:nvPr/>
        </p:nvSpPr>
        <p:spPr>
          <a:xfrm>
            <a:off x="3672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36  </a:t>
            </a:r>
            <a:pPr indent="0" marL="0">
              <a:buNone/>
            </a:pPr>
            <a:r>
              <a:rPr lang="en-US" sz="740" b="1" dirty="0">
                <a:solidFill>
                  <a:srgbClr val="46606E"/>
                </a:solidFill>
                <a:latin typeface="IBM Plex Sans" pitchFamily="34" charset="0"/>
                <a:ea typeface="IBM Plex Sans" pitchFamily="34" charset="-122"/>
                <a:cs typeface="IBM Plex Sans" pitchFamily="34" charset="-120"/>
              </a:rPr>
              <a:t>Corbières Rouge  </a:t>
            </a:r>
            <a:pPr indent="0" marL="0">
              <a:buNone/>
            </a:pPr>
            <a:r>
              <a:rPr lang="en-US" sz="680" dirty="0">
                <a:solidFill>
                  <a:srgbClr val="46606E"/>
                </a:solidFill>
                <a:latin typeface="IBM Plex Sans" pitchFamily="34" charset="0"/>
                <a:ea typeface="IBM Plex Sans" pitchFamily="34" charset="-122"/>
                <a:cs typeface="IBM Plex Sans" pitchFamily="34" charset="-120"/>
              </a:rPr>
              <a:t>Prieuré Sainte-Marie d’Albas  </a:t>
            </a:r>
            <a:pPr indent="0" marL="0">
              <a:buNone/>
            </a:pPr>
            <a:r>
              <a:rPr lang="en-US" sz="680" dirty="0">
                <a:solidFill>
                  <a:srgbClr val="A8515F"/>
                </a:solidFill>
                <a:latin typeface="IBM Plex Sans" pitchFamily="34" charset="0"/>
                <a:ea typeface="IBM Plex Sans" pitchFamily="34" charset="-122"/>
                <a:cs typeface="IBM Plex Sans" pitchFamily="34" charset="-120"/>
              </a:rPr>
              <a:t>BIB 3 L   p. 61</a:t>
            </a:r>
            <a:endParaRPr lang="en-US" sz="740" dirty="0"/>
          </a:p>
        </p:txBody>
      </p:sp>
      <p:sp>
        <p:nvSpPr>
          <p:cNvPr id="20" name="Text 18"/>
          <p:cNvSpPr/>
          <p:nvPr/>
        </p:nvSpPr>
        <p:spPr>
          <a:xfrm>
            <a:off x="612000" y="2772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Vins sans alcool   (8)</a:t>
            </a:r>
            <a:endParaRPr lang="en-US" sz="1200" dirty="0"/>
          </a:p>
        </p:txBody>
      </p:sp>
      <p:sp>
        <p:nvSpPr>
          <p:cNvPr id="21" name="Shape 19"/>
          <p:cNvSpPr/>
          <p:nvPr/>
        </p:nvSpPr>
        <p:spPr>
          <a:xfrm>
            <a:off x="612000" y="2988000"/>
            <a:ext cx="6120000" cy="0"/>
          </a:xfrm>
          <a:prstGeom prst="line">
            <a:avLst/>
          </a:prstGeom>
          <a:noFill/>
          <a:ln w="10160">
            <a:solidFill>
              <a:srgbClr val="67067C"/>
            </a:solidFill>
            <a:prstDash val="solid"/>
          </a:ln>
        </p:spPr>
      </p:sp>
      <p:sp>
        <p:nvSpPr>
          <p:cNvPr id="22" name="Text 20"/>
          <p:cNvSpPr/>
          <p:nvPr/>
        </p:nvSpPr>
        <p:spPr>
          <a:xfrm>
            <a:off x="612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pPr indent="0" marL="0">
              <a:buNone/>
            </a:pPr>
            <a:r>
              <a:rPr lang="en-US" sz="740" b="1" dirty="0">
                <a:solidFill>
                  <a:srgbClr val="46606E"/>
                </a:solidFill>
                <a:latin typeface="IBM Plex Sans" pitchFamily="34" charset="0"/>
                <a:ea typeface="IBM Plex Sans" pitchFamily="34" charset="-122"/>
                <a:cs typeface="IBM Plex Sans" pitchFamily="34" charset="-120"/>
              </a:rPr>
              <a:t>Pinot Noir  </a:t>
            </a:r>
            <a:pPr indent="0" marL="0">
              <a:buNone/>
            </a:pPr>
            <a:r>
              <a:rPr lang="en-US" sz="680" dirty="0">
                <a:solidFill>
                  <a:srgbClr val="46606E"/>
                </a:solidFill>
                <a:latin typeface="IBM Plex Sans" pitchFamily="34" charset="0"/>
                <a:ea typeface="IBM Plex Sans" pitchFamily="34" charset="-122"/>
                <a:cs typeface="IBM Plex Sans" pitchFamily="34" charset="-120"/>
              </a:rPr>
              <a:t>Divin No Low  </a:t>
            </a:r>
            <a:pPr indent="0" marL="0">
              <a:buNone/>
            </a:pPr>
            <a:r>
              <a:rPr lang="en-US" sz="680" dirty="0">
                <a:solidFill>
                  <a:srgbClr val="A8515F"/>
                </a:solidFill>
                <a:latin typeface="IBM Plex Sans" pitchFamily="34" charset="0"/>
                <a:ea typeface="IBM Plex Sans" pitchFamily="34" charset="-122"/>
                <a:cs typeface="IBM Plex Sans" pitchFamily="34" charset="-120"/>
              </a:rPr>
              <a:t>75 cl   p. 15</a:t>
            </a:r>
            <a:endParaRPr lang="en-US" sz="740" dirty="0"/>
          </a:p>
        </p:txBody>
      </p:sp>
      <p:sp>
        <p:nvSpPr>
          <p:cNvPr id="23" name="Text 21"/>
          <p:cNvSpPr/>
          <p:nvPr/>
        </p:nvSpPr>
        <p:spPr>
          <a:xfrm>
            <a:off x="612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pPr indent="0" marL="0">
              <a:buNone/>
            </a:pPr>
            <a:r>
              <a:rPr lang="en-US" sz="740" b="1" dirty="0">
                <a:solidFill>
                  <a:srgbClr val="46606E"/>
                </a:solidFill>
                <a:latin typeface="IBM Plex Sans" pitchFamily="34" charset="0"/>
                <a:ea typeface="IBM Plex Sans" pitchFamily="34" charset="-122"/>
                <a:cs typeface="IBM Plex Sans" pitchFamily="34" charset="-120"/>
              </a:rPr>
              <a:t>Sauvignon Blanc  </a:t>
            </a:r>
            <a:pPr indent="0" marL="0">
              <a:buNone/>
            </a:pPr>
            <a:r>
              <a:rPr lang="en-US" sz="680" dirty="0">
                <a:solidFill>
                  <a:srgbClr val="46606E"/>
                </a:solidFill>
                <a:latin typeface="IBM Plex Sans" pitchFamily="34" charset="0"/>
                <a:ea typeface="IBM Plex Sans" pitchFamily="34" charset="-122"/>
                <a:cs typeface="IBM Plex Sans" pitchFamily="34" charset="-120"/>
              </a:rPr>
              <a:t>Divin No Low  </a:t>
            </a:r>
            <a:pPr indent="0" marL="0">
              <a:buNone/>
            </a:pPr>
            <a:r>
              <a:rPr lang="en-US" sz="680" dirty="0">
                <a:solidFill>
                  <a:srgbClr val="A8515F"/>
                </a:solidFill>
                <a:latin typeface="IBM Plex Sans" pitchFamily="34" charset="0"/>
                <a:ea typeface="IBM Plex Sans" pitchFamily="34" charset="-122"/>
                <a:cs typeface="IBM Plex Sans" pitchFamily="34" charset="-120"/>
              </a:rPr>
              <a:t>75 cl   p. 15</a:t>
            </a:r>
            <a:endParaRPr lang="en-US" sz="740" dirty="0"/>
          </a:p>
        </p:txBody>
      </p:sp>
      <p:sp>
        <p:nvSpPr>
          <p:cNvPr id="24" name="Text 22"/>
          <p:cNvSpPr/>
          <p:nvPr/>
        </p:nvSpPr>
        <p:spPr>
          <a:xfrm>
            <a:off x="612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pPr indent="0" marL="0">
              <a:buNone/>
            </a:pPr>
            <a:r>
              <a:rPr lang="en-US" sz="740" b="1" dirty="0">
                <a:solidFill>
                  <a:srgbClr val="46606E"/>
                </a:solidFill>
                <a:latin typeface="IBM Plex Sans" pitchFamily="34" charset="0"/>
                <a:ea typeface="IBM Plex Sans" pitchFamily="34" charset="-122"/>
                <a:cs typeface="IBM Plex Sans" pitchFamily="34" charset="-120"/>
              </a:rPr>
              <a:t>Sauvignon  </a:t>
            </a:r>
            <a:pPr indent="0" marL="0">
              <a:buNone/>
            </a:pPr>
            <a:r>
              <a:rPr lang="en-US" sz="680" dirty="0">
                <a:solidFill>
                  <a:srgbClr val="46606E"/>
                </a:solidFill>
                <a:latin typeface="IBM Plex Sans" pitchFamily="34" charset="0"/>
                <a:ea typeface="IBM Plex Sans" pitchFamily="34" charset="-122"/>
                <a:cs typeface="IBM Plex Sans" pitchFamily="34" charset="-120"/>
              </a:rPr>
              <a:t>Divin No Low  </a:t>
            </a:r>
            <a:pPr indent="0" marL="0">
              <a:buNone/>
            </a:pPr>
            <a:r>
              <a:rPr lang="en-US" sz="680" dirty="0">
                <a:solidFill>
                  <a:srgbClr val="A8515F"/>
                </a:solidFill>
                <a:latin typeface="IBM Plex Sans" pitchFamily="34" charset="0"/>
                <a:ea typeface="IBM Plex Sans" pitchFamily="34" charset="-122"/>
                <a:cs typeface="IBM Plex Sans" pitchFamily="34" charset="-120"/>
              </a:rPr>
              <a:t>75 cl   p. 15</a:t>
            </a:r>
            <a:endParaRPr lang="en-US" sz="740" dirty="0"/>
          </a:p>
        </p:txBody>
      </p:sp>
      <p:sp>
        <p:nvSpPr>
          <p:cNvPr id="25" name="Text 23"/>
          <p:cNvSpPr/>
          <p:nvPr/>
        </p:nvSpPr>
        <p:spPr>
          <a:xfrm>
            <a:off x="612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pPr indent="0" marL="0">
              <a:buNone/>
            </a:pPr>
            <a:r>
              <a:rPr lang="en-US" sz="740" b="1" dirty="0">
                <a:solidFill>
                  <a:srgbClr val="46606E"/>
                </a:solidFill>
                <a:latin typeface="IBM Plex Sans" pitchFamily="34" charset="0"/>
                <a:ea typeface="IBM Plex Sans" pitchFamily="34" charset="-122"/>
                <a:cs typeface="IBM Plex Sans" pitchFamily="34" charset="-120"/>
              </a:rPr>
              <a:t>Chenin Blanc  </a:t>
            </a:r>
            <a:pPr indent="0" marL="0">
              <a:buNone/>
            </a:pPr>
            <a:r>
              <a:rPr lang="en-US" sz="680" dirty="0">
                <a:solidFill>
                  <a:srgbClr val="46606E"/>
                </a:solidFill>
                <a:latin typeface="IBM Plex Sans" pitchFamily="34" charset="0"/>
                <a:ea typeface="IBM Plex Sans" pitchFamily="34" charset="-122"/>
                <a:cs typeface="IBM Plex Sans" pitchFamily="34" charset="-120"/>
              </a:rPr>
              <a:t>Divin No Low  </a:t>
            </a:r>
            <a:pPr indent="0" marL="0">
              <a:buNone/>
            </a:pPr>
            <a:r>
              <a:rPr lang="en-US" sz="680" dirty="0">
                <a:solidFill>
                  <a:srgbClr val="A8515F"/>
                </a:solidFill>
                <a:latin typeface="IBM Plex Sans" pitchFamily="34" charset="0"/>
                <a:ea typeface="IBM Plex Sans" pitchFamily="34" charset="-122"/>
                <a:cs typeface="IBM Plex Sans" pitchFamily="34" charset="-120"/>
              </a:rPr>
              <a:t>75 cl   p. 15</a:t>
            </a:r>
            <a:endParaRPr lang="en-US" sz="740" dirty="0"/>
          </a:p>
        </p:txBody>
      </p:sp>
      <p:sp>
        <p:nvSpPr>
          <p:cNvPr id="26" name="Text 24"/>
          <p:cNvSpPr/>
          <p:nvPr/>
        </p:nvSpPr>
        <p:spPr>
          <a:xfrm>
            <a:off x="3672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pPr indent="0" marL="0">
              <a:buNone/>
            </a:pPr>
            <a:r>
              <a:rPr lang="en-US" sz="740" b="1" dirty="0">
                <a:solidFill>
                  <a:srgbClr val="46606E"/>
                </a:solidFill>
                <a:latin typeface="IBM Plex Sans" pitchFamily="34" charset="0"/>
                <a:ea typeface="IBM Plex Sans" pitchFamily="34" charset="-122"/>
                <a:cs typeface="IBM Plex Sans" pitchFamily="34" charset="-120"/>
              </a:rPr>
              <a:t>Rosé  </a:t>
            </a:r>
            <a:pPr indent="0" marL="0">
              <a:buNone/>
            </a:pPr>
            <a:r>
              <a:rPr lang="en-US" sz="680" dirty="0">
                <a:solidFill>
                  <a:srgbClr val="46606E"/>
                </a:solidFill>
                <a:latin typeface="IBM Plex Sans" pitchFamily="34" charset="0"/>
                <a:ea typeface="IBM Plex Sans" pitchFamily="34" charset="-122"/>
                <a:cs typeface="IBM Plex Sans" pitchFamily="34" charset="-120"/>
              </a:rPr>
              <a:t>Divin No Low  </a:t>
            </a:r>
            <a:pPr indent="0" marL="0">
              <a:buNone/>
            </a:pPr>
            <a:r>
              <a:rPr lang="en-US" sz="680" dirty="0">
                <a:solidFill>
                  <a:srgbClr val="A8515F"/>
                </a:solidFill>
                <a:latin typeface="IBM Plex Sans" pitchFamily="34" charset="0"/>
                <a:ea typeface="IBM Plex Sans" pitchFamily="34" charset="-122"/>
                <a:cs typeface="IBM Plex Sans" pitchFamily="34" charset="-120"/>
              </a:rPr>
              <a:t>75 cl   p. 15</a:t>
            </a:r>
            <a:endParaRPr lang="en-US" sz="740" dirty="0"/>
          </a:p>
        </p:txBody>
      </p:sp>
      <p:sp>
        <p:nvSpPr>
          <p:cNvPr id="27" name="Text 25"/>
          <p:cNvSpPr/>
          <p:nvPr/>
        </p:nvSpPr>
        <p:spPr>
          <a:xfrm>
            <a:off x="3672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pPr indent="0" marL="0">
              <a:buNone/>
            </a:pPr>
            <a:r>
              <a:rPr lang="en-US" sz="740" b="1" dirty="0">
                <a:solidFill>
                  <a:srgbClr val="46606E"/>
                </a:solidFill>
                <a:latin typeface="IBM Plex Sans" pitchFamily="34" charset="0"/>
                <a:ea typeface="IBM Plex Sans" pitchFamily="34" charset="-122"/>
                <a:cs typeface="IBM Plex Sans" pitchFamily="34" charset="-120"/>
              </a:rPr>
              <a:t>Pinot Noir  </a:t>
            </a:r>
            <a:pPr indent="0" marL="0">
              <a:buNone/>
            </a:pPr>
            <a:r>
              <a:rPr lang="en-US" sz="680" dirty="0">
                <a:solidFill>
                  <a:srgbClr val="46606E"/>
                </a:solidFill>
                <a:latin typeface="IBM Plex Sans" pitchFamily="34" charset="0"/>
                <a:ea typeface="IBM Plex Sans" pitchFamily="34" charset="-122"/>
                <a:cs typeface="IBM Plex Sans" pitchFamily="34" charset="-120"/>
              </a:rPr>
              <a:t>Divin No Low  </a:t>
            </a:r>
            <a:pPr indent="0" marL="0">
              <a:buNone/>
            </a:pPr>
            <a:r>
              <a:rPr lang="en-US" sz="680" dirty="0">
                <a:solidFill>
                  <a:srgbClr val="A8515F"/>
                </a:solidFill>
                <a:latin typeface="IBM Plex Sans" pitchFamily="34" charset="0"/>
                <a:ea typeface="IBM Plex Sans" pitchFamily="34" charset="-122"/>
                <a:cs typeface="IBM Plex Sans" pitchFamily="34" charset="-120"/>
              </a:rPr>
              <a:t>75 cl   p. 15</a:t>
            </a:r>
            <a:endParaRPr lang="en-US" sz="740" dirty="0"/>
          </a:p>
        </p:txBody>
      </p:sp>
      <p:sp>
        <p:nvSpPr>
          <p:cNvPr id="28" name="Text 26"/>
          <p:cNvSpPr/>
          <p:nvPr/>
        </p:nvSpPr>
        <p:spPr>
          <a:xfrm>
            <a:off x="3672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pPr indent="0" marL="0">
              <a:buNone/>
            </a:pPr>
            <a:r>
              <a:rPr lang="en-US" sz="740" b="1" dirty="0">
                <a:solidFill>
                  <a:srgbClr val="46606E"/>
                </a:solidFill>
                <a:latin typeface="IBM Plex Sans" pitchFamily="34" charset="0"/>
                <a:ea typeface="IBM Plex Sans" pitchFamily="34" charset="-122"/>
                <a:cs typeface="IBM Plex Sans" pitchFamily="34" charset="-120"/>
              </a:rPr>
              <a:t>Sauvignon Blanc  </a:t>
            </a:r>
            <a:pPr indent="0" marL="0">
              <a:buNone/>
            </a:pPr>
            <a:r>
              <a:rPr lang="en-US" sz="680" dirty="0">
                <a:solidFill>
                  <a:srgbClr val="46606E"/>
                </a:solidFill>
                <a:latin typeface="IBM Plex Sans" pitchFamily="34" charset="0"/>
                <a:ea typeface="IBM Plex Sans" pitchFamily="34" charset="-122"/>
                <a:cs typeface="IBM Plex Sans" pitchFamily="34" charset="-120"/>
              </a:rPr>
              <a:t>Divin No Low  </a:t>
            </a:r>
            <a:pPr indent="0" marL="0">
              <a:buNone/>
            </a:pPr>
            <a:r>
              <a:rPr lang="en-US" sz="680" dirty="0">
                <a:solidFill>
                  <a:srgbClr val="A8515F"/>
                </a:solidFill>
                <a:latin typeface="IBM Plex Sans" pitchFamily="34" charset="0"/>
                <a:ea typeface="IBM Plex Sans" pitchFamily="34" charset="-122"/>
                <a:cs typeface="IBM Plex Sans" pitchFamily="34" charset="-120"/>
              </a:rPr>
              <a:t>75 cl   p. 15</a:t>
            </a:r>
            <a:endParaRPr lang="en-US" sz="740" dirty="0"/>
          </a:p>
        </p:txBody>
      </p:sp>
      <p:sp>
        <p:nvSpPr>
          <p:cNvPr id="29" name="Text 27"/>
          <p:cNvSpPr/>
          <p:nvPr/>
        </p:nvSpPr>
        <p:spPr>
          <a:xfrm>
            <a:off x="3672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pPr indent="0" marL="0">
              <a:buNone/>
            </a:pPr>
            <a:r>
              <a:rPr lang="en-US" sz="740" b="1" dirty="0">
                <a:solidFill>
                  <a:srgbClr val="46606E"/>
                </a:solidFill>
                <a:latin typeface="IBM Plex Sans" pitchFamily="34" charset="0"/>
                <a:ea typeface="IBM Plex Sans" pitchFamily="34" charset="-122"/>
                <a:cs typeface="IBM Plex Sans" pitchFamily="34" charset="-120"/>
              </a:rPr>
              <a:t>Sauvignon Blanc Blush  </a:t>
            </a:r>
            <a:pPr indent="0" marL="0">
              <a:buNone/>
            </a:pPr>
            <a:r>
              <a:rPr lang="en-US" sz="680" dirty="0">
                <a:solidFill>
                  <a:srgbClr val="46606E"/>
                </a:solidFill>
                <a:latin typeface="IBM Plex Sans" pitchFamily="34" charset="0"/>
                <a:ea typeface="IBM Plex Sans" pitchFamily="34" charset="-122"/>
                <a:cs typeface="IBM Plex Sans" pitchFamily="34" charset="-120"/>
              </a:rPr>
              <a:t>Divin No Low  </a:t>
            </a:r>
            <a:pPr indent="0" marL="0">
              <a:buNone/>
            </a:pPr>
            <a:r>
              <a:rPr lang="en-US" sz="680" dirty="0">
                <a:solidFill>
                  <a:srgbClr val="A8515F"/>
                </a:solidFill>
                <a:latin typeface="IBM Plex Sans" pitchFamily="34" charset="0"/>
                <a:ea typeface="IBM Plex Sans" pitchFamily="34" charset="-122"/>
                <a:cs typeface="IBM Plex Sans" pitchFamily="34" charset="-120"/>
              </a:rPr>
              <a:t>75 cl   p. 15</a:t>
            </a:r>
            <a:endParaRPr lang="en-US" sz="740" dirty="0"/>
          </a:p>
        </p:txBody>
      </p:sp>
      <p:sp>
        <p:nvSpPr>
          <p:cNvPr id="30" name="Text 28"/>
          <p:cNvSpPr/>
          <p:nvPr/>
        </p:nvSpPr>
        <p:spPr>
          <a:xfrm>
            <a:off x="612000" y="38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Jus de cépages   (8)</a:t>
            </a:r>
            <a:endParaRPr lang="en-US" sz="1200" dirty="0"/>
          </a:p>
        </p:txBody>
      </p:sp>
      <p:sp>
        <p:nvSpPr>
          <p:cNvPr id="31" name="Shape 29"/>
          <p:cNvSpPr/>
          <p:nvPr/>
        </p:nvSpPr>
        <p:spPr>
          <a:xfrm>
            <a:off x="612000" y="4032000"/>
            <a:ext cx="6120000" cy="0"/>
          </a:xfrm>
          <a:prstGeom prst="line">
            <a:avLst/>
          </a:prstGeom>
          <a:noFill/>
          <a:ln w="10160">
            <a:solidFill>
              <a:srgbClr val="67067C"/>
            </a:solidFill>
            <a:prstDash val="solid"/>
          </a:ln>
        </p:spPr>
      </p:sp>
      <p:sp>
        <p:nvSpPr>
          <p:cNvPr id="32" name="Text 30"/>
          <p:cNvSpPr/>
          <p:nvPr/>
        </p:nvSpPr>
        <p:spPr>
          <a:xfrm>
            <a:off x="612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pPr indent="0" marL="0">
              <a:buNone/>
            </a:pPr>
            <a:r>
              <a:rPr lang="en-US" sz="740" b="1" dirty="0">
                <a:solidFill>
                  <a:srgbClr val="46606E"/>
                </a:solidFill>
                <a:latin typeface="IBM Plex Sans" pitchFamily="34" charset="0"/>
                <a:ea typeface="IBM Plex Sans" pitchFamily="34" charset="-122"/>
                <a:cs typeface="IBM Plex Sans" pitchFamily="34" charset="-120"/>
              </a:rPr>
              <a:t>LE SAUVIGNON  </a:t>
            </a:r>
            <a:pPr indent="0" marL="0">
              <a:buNone/>
            </a:pPr>
            <a:r>
              <a:rPr lang="en-US" sz="680" dirty="0">
                <a:solidFill>
                  <a:srgbClr val="46606E"/>
                </a:solidFill>
                <a:latin typeface="IBM Plex Sans" pitchFamily="34" charset="0"/>
                <a:ea typeface="IBM Plex Sans" pitchFamily="34" charset="-122"/>
                <a:cs typeface="IBM Plex Sans" pitchFamily="34" charset="-120"/>
              </a:rPr>
              <a:t>Famille d’Exea — Jus de Cépages  </a:t>
            </a:r>
            <a:pPr indent="0" marL="0">
              <a:buNone/>
            </a:pPr>
            <a:r>
              <a:rPr lang="en-US" sz="680" dirty="0">
                <a:solidFill>
                  <a:srgbClr val="A8515F"/>
                </a:solidFill>
                <a:latin typeface="IBM Plex Sans" pitchFamily="34" charset="0"/>
                <a:ea typeface="IBM Plex Sans" pitchFamily="34" charset="-122"/>
                <a:cs typeface="IBM Plex Sans" pitchFamily="34" charset="-120"/>
              </a:rPr>
              <a:t>50 cl   p. 58</a:t>
            </a:r>
            <a:endParaRPr lang="en-US" sz="740" dirty="0"/>
          </a:p>
        </p:txBody>
      </p:sp>
      <p:sp>
        <p:nvSpPr>
          <p:cNvPr id="33" name="Text 31"/>
          <p:cNvSpPr/>
          <p:nvPr/>
        </p:nvSpPr>
        <p:spPr>
          <a:xfrm>
            <a:off x="612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pPr indent="0" marL="0">
              <a:buNone/>
            </a:pPr>
            <a:r>
              <a:rPr lang="en-US" sz="740" b="1" dirty="0">
                <a:solidFill>
                  <a:srgbClr val="46606E"/>
                </a:solidFill>
                <a:latin typeface="IBM Plex Sans" pitchFamily="34" charset="0"/>
                <a:ea typeface="IBM Plex Sans" pitchFamily="34" charset="-122"/>
                <a:cs typeface="IBM Plex Sans" pitchFamily="34" charset="-120"/>
              </a:rPr>
              <a:t>LE CARIGNAN  </a:t>
            </a:r>
            <a:pPr indent="0" marL="0">
              <a:buNone/>
            </a:pPr>
            <a:r>
              <a:rPr lang="en-US" sz="680" dirty="0">
                <a:solidFill>
                  <a:srgbClr val="46606E"/>
                </a:solidFill>
                <a:latin typeface="IBM Plex Sans" pitchFamily="34" charset="0"/>
                <a:ea typeface="IBM Plex Sans" pitchFamily="34" charset="-122"/>
                <a:cs typeface="IBM Plex Sans" pitchFamily="34" charset="-120"/>
              </a:rPr>
              <a:t>Famille d’Exea — Jus de Cépages  </a:t>
            </a:r>
            <a:pPr indent="0" marL="0">
              <a:buNone/>
            </a:pPr>
            <a:r>
              <a:rPr lang="en-US" sz="680" dirty="0">
                <a:solidFill>
                  <a:srgbClr val="A8515F"/>
                </a:solidFill>
                <a:latin typeface="IBM Plex Sans" pitchFamily="34" charset="0"/>
                <a:ea typeface="IBM Plex Sans" pitchFamily="34" charset="-122"/>
                <a:cs typeface="IBM Plex Sans" pitchFamily="34" charset="-120"/>
              </a:rPr>
              <a:t>50 cl   p. 58</a:t>
            </a:r>
            <a:endParaRPr lang="en-US" sz="740" dirty="0"/>
          </a:p>
        </p:txBody>
      </p:sp>
      <p:sp>
        <p:nvSpPr>
          <p:cNvPr id="34" name="Text 32"/>
          <p:cNvSpPr/>
          <p:nvPr/>
        </p:nvSpPr>
        <p:spPr>
          <a:xfrm>
            <a:off x="612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pPr indent="0" marL="0">
              <a:buNone/>
            </a:pPr>
            <a:r>
              <a:rPr lang="en-US" sz="740" b="1" dirty="0">
                <a:solidFill>
                  <a:srgbClr val="46606E"/>
                </a:solidFill>
                <a:latin typeface="IBM Plex Sans" pitchFamily="34" charset="0"/>
                <a:ea typeface="IBM Plex Sans" pitchFamily="34" charset="-122"/>
                <a:cs typeface="IBM Plex Sans" pitchFamily="34" charset="-120"/>
              </a:rPr>
              <a:t>LE CHARDONNAY  </a:t>
            </a:r>
            <a:pPr indent="0" marL="0">
              <a:buNone/>
            </a:pPr>
            <a:r>
              <a:rPr lang="en-US" sz="680" dirty="0">
                <a:solidFill>
                  <a:srgbClr val="46606E"/>
                </a:solidFill>
                <a:latin typeface="IBM Plex Sans" pitchFamily="34" charset="0"/>
                <a:ea typeface="IBM Plex Sans" pitchFamily="34" charset="-122"/>
                <a:cs typeface="IBM Plex Sans" pitchFamily="34" charset="-120"/>
              </a:rPr>
              <a:t>Famille d’Exea — Jus de Cépages  </a:t>
            </a:r>
            <a:pPr indent="0" marL="0">
              <a:buNone/>
            </a:pPr>
            <a:r>
              <a:rPr lang="en-US" sz="680" dirty="0">
                <a:solidFill>
                  <a:srgbClr val="A8515F"/>
                </a:solidFill>
                <a:latin typeface="IBM Plex Sans" pitchFamily="34" charset="0"/>
                <a:ea typeface="IBM Plex Sans" pitchFamily="34" charset="-122"/>
                <a:cs typeface="IBM Plex Sans" pitchFamily="34" charset="-120"/>
              </a:rPr>
              <a:t>50 cl   p. 58</a:t>
            </a:r>
            <a:endParaRPr lang="en-US" sz="740" dirty="0"/>
          </a:p>
        </p:txBody>
      </p:sp>
      <p:sp>
        <p:nvSpPr>
          <p:cNvPr id="35" name="Text 33"/>
          <p:cNvSpPr/>
          <p:nvPr/>
        </p:nvSpPr>
        <p:spPr>
          <a:xfrm>
            <a:off x="612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pPr indent="0" marL="0">
              <a:buNone/>
            </a:pPr>
            <a:r>
              <a:rPr lang="en-US" sz="740" b="1" dirty="0">
                <a:solidFill>
                  <a:srgbClr val="46606E"/>
                </a:solidFill>
                <a:latin typeface="IBM Plex Sans" pitchFamily="34" charset="0"/>
                <a:ea typeface="IBM Plex Sans" pitchFamily="34" charset="-122"/>
                <a:cs typeface="IBM Plex Sans" pitchFamily="34" charset="-120"/>
              </a:rPr>
              <a:t>LE GRENACHE  </a:t>
            </a:r>
            <a:pPr indent="0" marL="0">
              <a:buNone/>
            </a:pPr>
            <a:r>
              <a:rPr lang="en-US" sz="680" dirty="0">
                <a:solidFill>
                  <a:srgbClr val="46606E"/>
                </a:solidFill>
                <a:latin typeface="IBM Plex Sans" pitchFamily="34" charset="0"/>
                <a:ea typeface="IBM Plex Sans" pitchFamily="34" charset="-122"/>
                <a:cs typeface="IBM Plex Sans" pitchFamily="34" charset="-120"/>
              </a:rPr>
              <a:t>Famille d’Exea — Jus de Cépages  </a:t>
            </a:r>
            <a:pPr indent="0" marL="0">
              <a:buNone/>
            </a:pPr>
            <a:r>
              <a:rPr lang="en-US" sz="680" dirty="0">
                <a:solidFill>
                  <a:srgbClr val="A8515F"/>
                </a:solidFill>
                <a:latin typeface="IBM Plex Sans" pitchFamily="34" charset="0"/>
                <a:ea typeface="IBM Plex Sans" pitchFamily="34" charset="-122"/>
                <a:cs typeface="IBM Plex Sans" pitchFamily="34" charset="-120"/>
              </a:rPr>
              <a:t>50 cl   p. 58</a:t>
            </a:r>
            <a:endParaRPr lang="en-US" sz="740" dirty="0"/>
          </a:p>
        </p:txBody>
      </p:sp>
      <p:sp>
        <p:nvSpPr>
          <p:cNvPr id="36" name="Text 34"/>
          <p:cNvSpPr/>
          <p:nvPr/>
        </p:nvSpPr>
        <p:spPr>
          <a:xfrm>
            <a:off x="3672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pPr indent="0" marL="0">
              <a:buNone/>
            </a:pPr>
            <a:r>
              <a:rPr lang="en-US" sz="740" b="1" dirty="0">
                <a:solidFill>
                  <a:srgbClr val="46606E"/>
                </a:solidFill>
                <a:latin typeface="IBM Plex Sans" pitchFamily="34" charset="0"/>
                <a:ea typeface="IBM Plex Sans" pitchFamily="34" charset="-122"/>
                <a:cs typeface="IBM Plex Sans" pitchFamily="34" charset="-120"/>
              </a:rPr>
              <a:t>LA SYRAH  </a:t>
            </a:r>
            <a:pPr indent="0" marL="0">
              <a:buNone/>
            </a:pPr>
            <a:r>
              <a:rPr lang="en-US" sz="680" dirty="0">
                <a:solidFill>
                  <a:srgbClr val="46606E"/>
                </a:solidFill>
                <a:latin typeface="IBM Plex Sans" pitchFamily="34" charset="0"/>
                <a:ea typeface="IBM Plex Sans" pitchFamily="34" charset="-122"/>
                <a:cs typeface="IBM Plex Sans" pitchFamily="34" charset="-120"/>
              </a:rPr>
              <a:t>Famille d’Exea — Jus de Cépages  </a:t>
            </a:r>
            <a:pPr indent="0" marL="0">
              <a:buNone/>
            </a:pPr>
            <a:r>
              <a:rPr lang="en-US" sz="680" dirty="0">
                <a:solidFill>
                  <a:srgbClr val="A8515F"/>
                </a:solidFill>
                <a:latin typeface="IBM Plex Sans" pitchFamily="34" charset="0"/>
                <a:ea typeface="IBM Plex Sans" pitchFamily="34" charset="-122"/>
                <a:cs typeface="IBM Plex Sans" pitchFamily="34" charset="-120"/>
              </a:rPr>
              <a:t>50 cl   p. 58</a:t>
            </a:r>
            <a:endParaRPr lang="en-US" sz="740" dirty="0"/>
          </a:p>
        </p:txBody>
      </p:sp>
      <p:sp>
        <p:nvSpPr>
          <p:cNvPr id="37" name="Text 35"/>
          <p:cNvSpPr/>
          <p:nvPr/>
        </p:nvSpPr>
        <p:spPr>
          <a:xfrm>
            <a:off x="3672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pPr indent="0" marL="0">
              <a:buNone/>
            </a:pPr>
            <a:r>
              <a:rPr lang="en-US" sz="740" b="1" dirty="0">
                <a:solidFill>
                  <a:srgbClr val="46606E"/>
                </a:solidFill>
                <a:latin typeface="IBM Plex Sans" pitchFamily="34" charset="0"/>
                <a:ea typeface="IBM Plex Sans" pitchFamily="34" charset="-122"/>
                <a:cs typeface="IBM Plex Sans" pitchFamily="34" charset="-120"/>
              </a:rPr>
              <a:t>LE CHARDONNAY  </a:t>
            </a:r>
            <a:pPr indent="0" marL="0">
              <a:buNone/>
            </a:pPr>
            <a:r>
              <a:rPr lang="en-US" sz="680" dirty="0">
                <a:solidFill>
                  <a:srgbClr val="46606E"/>
                </a:solidFill>
                <a:latin typeface="IBM Plex Sans" pitchFamily="34" charset="0"/>
                <a:ea typeface="IBM Plex Sans" pitchFamily="34" charset="-122"/>
                <a:cs typeface="IBM Plex Sans" pitchFamily="34" charset="-120"/>
              </a:rPr>
              <a:t>Famille d’Exea — Jus de Cépages  </a:t>
            </a:r>
            <a:pPr indent="0" marL="0">
              <a:buNone/>
            </a:pPr>
            <a:r>
              <a:rPr lang="en-US" sz="680" dirty="0">
                <a:solidFill>
                  <a:srgbClr val="A8515F"/>
                </a:solidFill>
                <a:latin typeface="IBM Plex Sans" pitchFamily="34" charset="0"/>
                <a:ea typeface="IBM Plex Sans" pitchFamily="34" charset="-122"/>
                <a:cs typeface="IBM Plex Sans" pitchFamily="34" charset="-120"/>
              </a:rPr>
              <a:t>25 cl   p. 58</a:t>
            </a:r>
            <a:endParaRPr lang="en-US" sz="740" dirty="0"/>
          </a:p>
        </p:txBody>
      </p:sp>
      <p:sp>
        <p:nvSpPr>
          <p:cNvPr id="38" name="Text 36"/>
          <p:cNvSpPr/>
          <p:nvPr/>
        </p:nvSpPr>
        <p:spPr>
          <a:xfrm>
            <a:off x="3672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pPr indent="0" marL="0">
              <a:buNone/>
            </a:pPr>
            <a:r>
              <a:rPr lang="en-US" sz="740" b="1" dirty="0">
                <a:solidFill>
                  <a:srgbClr val="46606E"/>
                </a:solidFill>
                <a:latin typeface="IBM Plex Sans" pitchFamily="34" charset="0"/>
                <a:ea typeface="IBM Plex Sans" pitchFamily="34" charset="-122"/>
                <a:cs typeface="IBM Plex Sans" pitchFamily="34" charset="-120"/>
              </a:rPr>
              <a:t>LE GRENACHE  </a:t>
            </a:r>
            <a:pPr indent="0" marL="0">
              <a:buNone/>
            </a:pPr>
            <a:r>
              <a:rPr lang="en-US" sz="680" dirty="0">
                <a:solidFill>
                  <a:srgbClr val="46606E"/>
                </a:solidFill>
                <a:latin typeface="IBM Plex Sans" pitchFamily="34" charset="0"/>
                <a:ea typeface="IBM Plex Sans" pitchFamily="34" charset="-122"/>
                <a:cs typeface="IBM Plex Sans" pitchFamily="34" charset="-120"/>
              </a:rPr>
              <a:t>Famille d’Exea — Jus de Cépages  </a:t>
            </a:r>
            <a:pPr indent="0" marL="0">
              <a:buNone/>
            </a:pPr>
            <a:r>
              <a:rPr lang="en-US" sz="680" dirty="0">
                <a:solidFill>
                  <a:srgbClr val="A8515F"/>
                </a:solidFill>
                <a:latin typeface="IBM Plex Sans" pitchFamily="34" charset="0"/>
                <a:ea typeface="IBM Plex Sans" pitchFamily="34" charset="-122"/>
                <a:cs typeface="IBM Plex Sans" pitchFamily="34" charset="-120"/>
              </a:rPr>
              <a:t>25 cl   p. 58</a:t>
            </a:r>
            <a:endParaRPr lang="en-US" sz="740" dirty="0"/>
          </a:p>
        </p:txBody>
      </p:sp>
      <p:sp>
        <p:nvSpPr>
          <p:cNvPr id="39" name="Text 37"/>
          <p:cNvSpPr/>
          <p:nvPr/>
        </p:nvSpPr>
        <p:spPr>
          <a:xfrm>
            <a:off x="3672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pPr indent="0" marL="0">
              <a:buNone/>
            </a:pPr>
            <a:r>
              <a:rPr lang="en-US" sz="740" b="1" dirty="0">
                <a:solidFill>
                  <a:srgbClr val="46606E"/>
                </a:solidFill>
                <a:latin typeface="IBM Plex Sans" pitchFamily="34" charset="0"/>
                <a:ea typeface="IBM Plex Sans" pitchFamily="34" charset="-122"/>
                <a:cs typeface="IBM Plex Sans" pitchFamily="34" charset="-120"/>
              </a:rPr>
              <a:t>LA SYRAH  </a:t>
            </a:r>
            <a:pPr indent="0" marL="0">
              <a:buNone/>
            </a:pPr>
            <a:r>
              <a:rPr lang="en-US" sz="680" dirty="0">
                <a:solidFill>
                  <a:srgbClr val="46606E"/>
                </a:solidFill>
                <a:latin typeface="IBM Plex Sans" pitchFamily="34" charset="0"/>
                <a:ea typeface="IBM Plex Sans" pitchFamily="34" charset="-122"/>
                <a:cs typeface="IBM Plex Sans" pitchFamily="34" charset="-120"/>
              </a:rPr>
              <a:t>Famille d’Exea — Jus de Cépages  </a:t>
            </a:r>
            <a:pPr indent="0" marL="0">
              <a:buNone/>
            </a:pPr>
            <a:r>
              <a:rPr lang="en-US" sz="680" dirty="0">
                <a:solidFill>
                  <a:srgbClr val="A8515F"/>
                </a:solidFill>
                <a:latin typeface="IBM Plex Sans" pitchFamily="34" charset="0"/>
                <a:ea typeface="IBM Plex Sans" pitchFamily="34" charset="-122"/>
                <a:cs typeface="IBM Plex Sans" pitchFamily="34" charset="-120"/>
              </a:rPr>
              <a:t>25 cl   p. 58</a:t>
            </a:r>
            <a:endParaRPr lang="en-US" sz="740" dirty="0"/>
          </a:p>
        </p:txBody>
      </p:sp>
      <p:sp>
        <p:nvSpPr>
          <p:cNvPr id="40" name="Text 38"/>
          <p:cNvSpPr/>
          <p:nvPr/>
        </p:nvSpPr>
        <p:spPr>
          <a:xfrm>
            <a:off x="612000" y="4860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Bières   (3)</a:t>
            </a:r>
            <a:endParaRPr lang="en-US" sz="1200" dirty="0"/>
          </a:p>
        </p:txBody>
      </p:sp>
      <p:sp>
        <p:nvSpPr>
          <p:cNvPr id="41" name="Shape 39"/>
          <p:cNvSpPr/>
          <p:nvPr/>
        </p:nvSpPr>
        <p:spPr>
          <a:xfrm>
            <a:off x="612000" y="5076000"/>
            <a:ext cx="6120000" cy="0"/>
          </a:xfrm>
          <a:prstGeom prst="line">
            <a:avLst/>
          </a:prstGeom>
          <a:noFill/>
          <a:ln w="10160">
            <a:solidFill>
              <a:srgbClr val="67067C"/>
            </a:solidFill>
            <a:prstDash val="solid"/>
          </a:ln>
        </p:spPr>
      </p:sp>
      <p:sp>
        <p:nvSpPr>
          <p:cNvPr id="42" name="Text 40"/>
          <p:cNvSpPr/>
          <p:nvPr/>
        </p:nvSpPr>
        <p:spPr>
          <a:xfrm>
            <a:off x="612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pPr indent="0" marL="0">
              <a:buNone/>
            </a:pPr>
            <a:r>
              <a:rPr lang="en-US" sz="740" b="1" dirty="0">
                <a:solidFill>
                  <a:srgbClr val="46606E"/>
                </a:solidFill>
                <a:latin typeface="IBM Plex Sans" pitchFamily="34" charset="0"/>
                <a:ea typeface="IBM Plex Sans" pitchFamily="34" charset="-122"/>
                <a:cs typeface="IBM Plex Sans" pitchFamily="34" charset="-120"/>
              </a:rPr>
              <a:t>la barbe  </a:t>
            </a:r>
            <a:pPr indent="0" marL="0">
              <a:buNone/>
            </a:pPr>
            <a:r>
              <a:rPr lang="en-US" sz="680" dirty="0">
                <a:solidFill>
                  <a:srgbClr val="46606E"/>
                </a:solidFill>
                <a:latin typeface="IBM Plex Sans" pitchFamily="34" charset="0"/>
                <a:ea typeface="IBM Plex Sans" pitchFamily="34" charset="-122"/>
                <a:cs typeface="IBM Plex Sans" pitchFamily="34" charset="-120"/>
              </a:rPr>
              <a:t>Fabien Castaing  </a:t>
            </a:r>
            <a:pPr indent="0" marL="0">
              <a:buNone/>
            </a:pPr>
            <a:r>
              <a:rPr lang="en-US" sz="680" dirty="0">
                <a:solidFill>
                  <a:srgbClr val="A8515F"/>
                </a:solidFill>
                <a:latin typeface="IBM Plex Sans" pitchFamily="34" charset="0"/>
                <a:ea typeface="IBM Plex Sans" pitchFamily="34" charset="-122"/>
                <a:cs typeface="IBM Plex Sans" pitchFamily="34" charset="-120"/>
              </a:rPr>
              <a:t>À partir de 120 bts · À partir de 180 bts   p. 41</a:t>
            </a:r>
            <a:endParaRPr lang="en-US" sz="740" dirty="0"/>
          </a:p>
        </p:txBody>
      </p:sp>
      <p:sp>
        <p:nvSpPr>
          <p:cNvPr id="43" name="Text 41"/>
          <p:cNvSpPr/>
          <p:nvPr/>
        </p:nvSpPr>
        <p:spPr>
          <a:xfrm>
            <a:off x="612000" y="52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pPr indent="0" marL="0">
              <a:buNone/>
            </a:pPr>
            <a:r>
              <a:rPr lang="en-US" sz="740" b="1" dirty="0">
                <a:solidFill>
                  <a:srgbClr val="46606E"/>
                </a:solidFill>
                <a:latin typeface="IBM Plex Sans" pitchFamily="34" charset="0"/>
                <a:ea typeface="IBM Plex Sans" pitchFamily="34" charset="-122"/>
                <a:cs typeface="IBM Plex Sans" pitchFamily="34" charset="-120"/>
              </a:rPr>
              <a:t>la barbe  </a:t>
            </a:r>
            <a:pPr indent="0" marL="0">
              <a:buNone/>
            </a:pPr>
            <a:r>
              <a:rPr lang="en-US" sz="680" dirty="0">
                <a:solidFill>
                  <a:srgbClr val="46606E"/>
                </a:solidFill>
                <a:latin typeface="IBM Plex Sans" pitchFamily="34" charset="0"/>
                <a:ea typeface="IBM Plex Sans" pitchFamily="34" charset="-122"/>
                <a:cs typeface="IBM Plex Sans" pitchFamily="34" charset="-120"/>
              </a:rPr>
              <a:t>Fabien Castaing  </a:t>
            </a:r>
            <a:pPr indent="0" marL="0">
              <a:buNone/>
            </a:pPr>
            <a:r>
              <a:rPr lang="en-US" sz="680" dirty="0">
                <a:solidFill>
                  <a:srgbClr val="A8515F"/>
                </a:solidFill>
                <a:latin typeface="IBM Plex Sans" pitchFamily="34" charset="0"/>
                <a:ea typeface="IBM Plex Sans" pitchFamily="34" charset="-122"/>
                <a:cs typeface="IBM Plex Sans" pitchFamily="34" charset="-120"/>
              </a:rPr>
              <a:t>À partir de 120 bts · À partir de 180 bts   p. 41</a:t>
            </a:r>
            <a:endParaRPr lang="en-US" sz="740" dirty="0"/>
          </a:p>
        </p:txBody>
      </p:sp>
      <p:sp>
        <p:nvSpPr>
          <p:cNvPr id="44" name="Text 42"/>
          <p:cNvSpPr/>
          <p:nvPr/>
        </p:nvSpPr>
        <p:spPr>
          <a:xfrm>
            <a:off x="3672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pPr indent="0" marL="0">
              <a:buNone/>
            </a:pPr>
            <a:r>
              <a:rPr lang="en-US" sz="740" b="1" dirty="0">
                <a:solidFill>
                  <a:srgbClr val="46606E"/>
                </a:solidFill>
                <a:latin typeface="IBM Plex Sans" pitchFamily="34" charset="0"/>
                <a:ea typeface="IBM Plex Sans" pitchFamily="34" charset="-122"/>
                <a:cs typeface="IBM Plex Sans" pitchFamily="34" charset="-120"/>
              </a:rPr>
              <a:t>la barbe  </a:t>
            </a:r>
            <a:pPr indent="0" marL="0">
              <a:buNone/>
            </a:pPr>
            <a:r>
              <a:rPr lang="en-US" sz="680" dirty="0">
                <a:solidFill>
                  <a:srgbClr val="46606E"/>
                </a:solidFill>
                <a:latin typeface="IBM Plex Sans" pitchFamily="34" charset="0"/>
                <a:ea typeface="IBM Plex Sans" pitchFamily="34" charset="-122"/>
                <a:cs typeface="IBM Plex Sans" pitchFamily="34" charset="-120"/>
              </a:rPr>
              <a:t>Fabien Castaing  </a:t>
            </a:r>
            <a:pPr indent="0" marL="0">
              <a:buNone/>
            </a:pPr>
            <a:r>
              <a:rPr lang="en-US" sz="680" dirty="0">
                <a:solidFill>
                  <a:srgbClr val="A8515F"/>
                </a:solidFill>
                <a:latin typeface="IBM Plex Sans" pitchFamily="34" charset="0"/>
                <a:ea typeface="IBM Plex Sans" pitchFamily="34" charset="-122"/>
                <a:cs typeface="IBM Plex Sans" pitchFamily="34" charset="-120"/>
              </a:rPr>
              <a:t>À partir de 120 bts · À partir de 180 bts   p. 41</a:t>
            </a:r>
            <a:endParaRPr lang="en-US" sz="740" dirty="0"/>
          </a:p>
        </p:txBody>
      </p:sp>
      <p:sp>
        <p:nvSpPr>
          <p:cNvPr id="45" name="Text 43"/>
          <p:cNvSpPr/>
          <p:nvPr/>
        </p:nvSpPr>
        <p:spPr>
          <a:xfrm>
            <a:off x="612000" y="56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Armagnacs et ratafias   (9)</a:t>
            </a:r>
            <a:endParaRPr lang="en-US" sz="1200" dirty="0"/>
          </a:p>
        </p:txBody>
      </p:sp>
      <p:sp>
        <p:nvSpPr>
          <p:cNvPr id="46" name="Shape 44"/>
          <p:cNvSpPr/>
          <p:nvPr/>
        </p:nvSpPr>
        <p:spPr>
          <a:xfrm>
            <a:off x="612000" y="5832000"/>
            <a:ext cx="6120000" cy="0"/>
          </a:xfrm>
          <a:prstGeom prst="line">
            <a:avLst/>
          </a:prstGeom>
          <a:noFill/>
          <a:ln w="10160">
            <a:solidFill>
              <a:srgbClr val="67067C"/>
            </a:solidFill>
            <a:prstDash val="solid"/>
          </a:ln>
        </p:spPr>
      </p:sp>
      <p:sp>
        <p:nvSpPr>
          <p:cNvPr id="47" name="Text 45"/>
          <p:cNvSpPr/>
          <p:nvPr/>
        </p:nvSpPr>
        <p:spPr>
          <a:xfrm>
            <a:off x="612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pPr indent="0" marL="0">
              <a:buNone/>
            </a:pPr>
            <a:r>
              <a:rPr lang="en-US" sz="740" b="1" dirty="0">
                <a:solidFill>
                  <a:srgbClr val="46606E"/>
                </a:solidFill>
                <a:latin typeface="IBM Plex Sans" pitchFamily="34" charset="0"/>
                <a:ea typeface="IBM Plex Sans" pitchFamily="34" charset="-122"/>
                <a:cs typeface="IBM Plex Sans" pitchFamily="34" charset="-120"/>
              </a:rPr>
              <a:t>Blanche Armagnac  </a:t>
            </a:r>
            <a:pPr indent="0" marL="0">
              <a:buNone/>
            </a:pPr>
            <a:r>
              <a:rPr lang="en-US" sz="680" dirty="0">
                <a:solidFill>
                  <a:srgbClr val="46606E"/>
                </a:solidFill>
                <a:latin typeface="IBM Plex Sans" pitchFamily="34" charset="0"/>
                <a:ea typeface="IBM Plex Sans" pitchFamily="34" charset="-122"/>
                <a:cs typeface="IBM Plex Sans" pitchFamily="34" charset="-120"/>
              </a:rPr>
              <a:t>Domaine Haut Marin  </a:t>
            </a:r>
            <a:pPr indent="0" marL="0">
              <a:buNone/>
            </a:pPr>
            <a:r>
              <a:rPr lang="en-US" sz="680" dirty="0">
                <a:solidFill>
                  <a:srgbClr val="A8515F"/>
                </a:solidFill>
                <a:latin typeface="IBM Plex Sans" pitchFamily="34" charset="0"/>
                <a:ea typeface="IBM Plex Sans" pitchFamily="34" charset="-122"/>
                <a:cs typeface="IBM Plex Sans" pitchFamily="34" charset="-120"/>
              </a:rPr>
              <a:t>70 cl   p. 39</a:t>
            </a:r>
            <a:endParaRPr lang="en-US" sz="740" dirty="0"/>
          </a:p>
        </p:txBody>
      </p:sp>
      <p:sp>
        <p:nvSpPr>
          <p:cNvPr id="48" name="Text 46"/>
          <p:cNvSpPr/>
          <p:nvPr/>
        </p:nvSpPr>
        <p:spPr>
          <a:xfrm>
            <a:off x="612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pPr indent="0" marL="0">
              <a:buNone/>
            </a:pPr>
            <a:r>
              <a:rPr lang="en-US" sz="740" b="1" dirty="0">
                <a:solidFill>
                  <a:srgbClr val="46606E"/>
                </a:solidFill>
                <a:latin typeface="IBM Plex Sans" pitchFamily="34" charset="0"/>
                <a:ea typeface="IBM Plex Sans" pitchFamily="34" charset="-122"/>
                <a:cs typeface="IBM Plex Sans" pitchFamily="34" charset="-120"/>
              </a:rPr>
              <a:t>Réserve  </a:t>
            </a:r>
            <a:pPr indent="0" marL="0">
              <a:buNone/>
            </a:pPr>
            <a:r>
              <a:rPr lang="en-US" sz="680" dirty="0">
                <a:solidFill>
                  <a:srgbClr val="46606E"/>
                </a:solidFill>
                <a:latin typeface="IBM Plex Sans" pitchFamily="34" charset="0"/>
                <a:ea typeface="IBM Plex Sans" pitchFamily="34" charset="-122"/>
                <a:cs typeface="IBM Plex Sans" pitchFamily="34" charset="-120"/>
              </a:rPr>
              <a:t>Domaine Haut Marin  </a:t>
            </a:r>
            <a:pPr indent="0" marL="0">
              <a:buNone/>
            </a:pPr>
            <a:r>
              <a:rPr lang="en-US" sz="680" dirty="0">
                <a:solidFill>
                  <a:srgbClr val="A8515F"/>
                </a:solidFill>
                <a:latin typeface="IBM Plex Sans" pitchFamily="34" charset="0"/>
                <a:ea typeface="IBM Plex Sans" pitchFamily="34" charset="-122"/>
                <a:cs typeface="IBM Plex Sans" pitchFamily="34" charset="-120"/>
              </a:rPr>
              <a:t>70 cl   p. 39</a:t>
            </a:r>
            <a:endParaRPr lang="en-US" sz="740" dirty="0"/>
          </a:p>
        </p:txBody>
      </p:sp>
      <p:sp>
        <p:nvSpPr>
          <p:cNvPr id="49" name="Text 47"/>
          <p:cNvSpPr/>
          <p:nvPr/>
        </p:nvSpPr>
        <p:spPr>
          <a:xfrm>
            <a:off x="612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pPr indent="0" marL="0">
              <a:buNone/>
            </a:pPr>
            <a:r>
              <a:rPr lang="en-US" sz="740" b="1" dirty="0">
                <a:solidFill>
                  <a:srgbClr val="46606E"/>
                </a:solidFill>
                <a:latin typeface="IBM Plex Sans" pitchFamily="34" charset="0"/>
                <a:ea typeface="IBM Plex Sans" pitchFamily="34" charset="-122"/>
                <a:cs typeface="IBM Plex Sans" pitchFamily="34" charset="-120"/>
              </a:rPr>
              <a:t>V.S.O.P.  </a:t>
            </a:r>
            <a:pPr indent="0" marL="0">
              <a:buNone/>
            </a:pPr>
            <a:r>
              <a:rPr lang="en-US" sz="680" dirty="0">
                <a:solidFill>
                  <a:srgbClr val="46606E"/>
                </a:solidFill>
                <a:latin typeface="IBM Plex Sans" pitchFamily="34" charset="0"/>
                <a:ea typeface="IBM Plex Sans" pitchFamily="34" charset="-122"/>
                <a:cs typeface="IBM Plex Sans" pitchFamily="34" charset="-120"/>
              </a:rPr>
              <a:t>Domaine Haut Marin  </a:t>
            </a:r>
            <a:pPr indent="0" marL="0">
              <a:buNone/>
            </a:pPr>
            <a:r>
              <a:rPr lang="en-US" sz="680" dirty="0">
                <a:solidFill>
                  <a:srgbClr val="A8515F"/>
                </a:solidFill>
                <a:latin typeface="IBM Plex Sans" pitchFamily="34" charset="0"/>
                <a:ea typeface="IBM Plex Sans" pitchFamily="34" charset="-122"/>
                <a:cs typeface="IBM Plex Sans" pitchFamily="34" charset="-120"/>
              </a:rPr>
              <a:t>70 cl   p. 39</a:t>
            </a:r>
            <a:endParaRPr lang="en-US" sz="740" dirty="0"/>
          </a:p>
        </p:txBody>
      </p:sp>
      <p:sp>
        <p:nvSpPr>
          <p:cNvPr id="50" name="Text 48"/>
          <p:cNvSpPr/>
          <p:nvPr/>
        </p:nvSpPr>
        <p:spPr>
          <a:xfrm>
            <a:off x="612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pPr indent="0" marL="0">
              <a:buNone/>
            </a:pPr>
            <a:r>
              <a:rPr lang="en-US" sz="740" b="1" dirty="0">
                <a:solidFill>
                  <a:srgbClr val="46606E"/>
                </a:solidFill>
                <a:latin typeface="IBM Plex Sans" pitchFamily="34" charset="0"/>
                <a:ea typeface="IBM Plex Sans" pitchFamily="34" charset="-122"/>
                <a:cs typeface="IBM Plex Sans" pitchFamily="34" charset="-120"/>
              </a:rPr>
              <a:t>X.O.  </a:t>
            </a:r>
            <a:pPr indent="0" marL="0">
              <a:buNone/>
            </a:pPr>
            <a:r>
              <a:rPr lang="en-US" sz="680" dirty="0">
                <a:solidFill>
                  <a:srgbClr val="46606E"/>
                </a:solidFill>
                <a:latin typeface="IBM Plex Sans" pitchFamily="34" charset="0"/>
                <a:ea typeface="IBM Plex Sans" pitchFamily="34" charset="-122"/>
                <a:cs typeface="IBM Plex Sans" pitchFamily="34" charset="-120"/>
              </a:rPr>
              <a:t>Domaine Haut Marin  </a:t>
            </a:r>
            <a:pPr indent="0" marL="0">
              <a:buNone/>
            </a:pPr>
            <a:r>
              <a:rPr lang="en-US" sz="680" dirty="0">
                <a:solidFill>
                  <a:srgbClr val="A8515F"/>
                </a:solidFill>
                <a:latin typeface="IBM Plex Sans" pitchFamily="34" charset="0"/>
                <a:ea typeface="IBM Plex Sans" pitchFamily="34" charset="-122"/>
                <a:cs typeface="IBM Plex Sans" pitchFamily="34" charset="-120"/>
              </a:rPr>
              <a:t>70 cl   p. 39</a:t>
            </a:r>
            <a:endParaRPr lang="en-US" sz="740" dirty="0"/>
          </a:p>
        </p:txBody>
      </p:sp>
      <p:sp>
        <p:nvSpPr>
          <p:cNvPr id="51" name="Text 49"/>
          <p:cNvSpPr/>
          <p:nvPr/>
        </p:nvSpPr>
        <p:spPr>
          <a:xfrm>
            <a:off x="612000" y="648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pPr indent="0" marL="0">
              <a:buNone/>
            </a:pPr>
            <a:r>
              <a:rPr lang="en-US" sz="740" b="1" dirty="0">
                <a:solidFill>
                  <a:srgbClr val="46606E"/>
                </a:solidFill>
                <a:latin typeface="IBM Plex Sans" pitchFamily="34" charset="0"/>
                <a:ea typeface="IBM Plex Sans" pitchFamily="34" charset="-122"/>
                <a:cs typeface="IBM Plex Sans" pitchFamily="34" charset="-120"/>
              </a:rPr>
              <a:t>Hors d'Age  </a:t>
            </a:r>
            <a:pPr indent="0" marL="0">
              <a:buNone/>
            </a:pPr>
            <a:r>
              <a:rPr lang="en-US" sz="680" dirty="0">
                <a:solidFill>
                  <a:srgbClr val="46606E"/>
                </a:solidFill>
                <a:latin typeface="IBM Plex Sans" pitchFamily="34" charset="0"/>
                <a:ea typeface="IBM Plex Sans" pitchFamily="34" charset="-122"/>
                <a:cs typeface="IBM Plex Sans" pitchFamily="34" charset="-120"/>
              </a:rPr>
              <a:t>Domaine Haut Marin  </a:t>
            </a:r>
            <a:pPr indent="0" marL="0">
              <a:buNone/>
            </a:pPr>
            <a:r>
              <a:rPr lang="en-US" sz="680" dirty="0">
                <a:solidFill>
                  <a:srgbClr val="A8515F"/>
                </a:solidFill>
                <a:latin typeface="IBM Plex Sans" pitchFamily="34" charset="0"/>
                <a:ea typeface="IBM Plex Sans" pitchFamily="34" charset="-122"/>
                <a:cs typeface="IBM Plex Sans" pitchFamily="34" charset="-120"/>
              </a:rPr>
              <a:t>70 cl   p. 39</a:t>
            </a:r>
            <a:endParaRPr lang="en-US" sz="740" dirty="0"/>
          </a:p>
        </p:txBody>
      </p:sp>
      <p:sp>
        <p:nvSpPr>
          <p:cNvPr id="52" name="Text 50"/>
          <p:cNvSpPr/>
          <p:nvPr/>
        </p:nvSpPr>
        <p:spPr>
          <a:xfrm>
            <a:off x="3672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pPr indent="0" marL="0">
              <a:buNone/>
            </a:pPr>
            <a:r>
              <a:rPr lang="en-US" sz="740" b="1" dirty="0">
                <a:solidFill>
                  <a:srgbClr val="46606E"/>
                </a:solidFill>
                <a:latin typeface="IBM Plex Sans" pitchFamily="34" charset="0"/>
                <a:ea typeface="IBM Plex Sans" pitchFamily="34" charset="-122"/>
                <a:cs typeface="IBM Plex Sans" pitchFamily="34" charset="-120"/>
              </a:rPr>
              <a:t>Millésimés  </a:t>
            </a:r>
            <a:pPr indent="0" marL="0">
              <a:buNone/>
            </a:pPr>
            <a:r>
              <a:rPr lang="en-US" sz="680" dirty="0">
                <a:solidFill>
                  <a:srgbClr val="46606E"/>
                </a:solidFill>
                <a:latin typeface="IBM Plex Sans" pitchFamily="34" charset="0"/>
                <a:ea typeface="IBM Plex Sans" pitchFamily="34" charset="-122"/>
                <a:cs typeface="IBM Plex Sans" pitchFamily="34" charset="-120"/>
              </a:rPr>
              <a:t>Domaine Haut Marin  </a:t>
            </a:r>
            <a:pPr indent="0" marL="0">
              <a:buNone/>
            </a:pPr>
            <a:r>
              <a:rPr lang="en-US" sz="680" dirty="0">
                <a:solidFill>
                  <a:srgbClr val="A8515F"/>
                </a:solidFill>
                <a:latin typeface="IBM Plex Sans" pitchFamily="34" charset="0"/>
                <a:ea typeface="IBM Plex Sans" pitchFamily="34" charset="-122"/>
                <a:cs typeface="IBM Plex Sans" pitchFamily="34" charset="-120"/>
              </a:rPr>
              <a:t>70 cl   p. 39</a:t>
            </a:r>
            <a:endParaRPr lang="en-US" sz="740" dirty="0"/>
          </a:p>
        </p:txBody>
      </p:sp>
      <p:sp>
        <p:nvSpPr>
          <p:cNvPr id="53" name="Text 51"/>
          <p:cNvSpPr/>
          <p:nvPr/>
        </p:nvSpPr>
        <p:spPr>
          <a:xfrm>
            <a:off x="3672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pPr indent="0" marL="0">
              <a:buNone/>
            </a:pPr>
            <a:r>
              <a:rPr lang="en-US" sz="740" b="1" dirty="0">
                <a:solidFill>
                  <a:srgbClr val="46606E"/>
                </a:solidFill>
                <a:latin typeface="IBM Plex Sans" pitchFamily="34" charset="0"/>
                <a:ea typeface="IBM Plex Sans" pitchFamily="34" charset="-122"/>
                <a:cs typeface="IBM Plex Sans" pitchFamily="34" charset="-120"/>
              </a:rPr>
              <a:t>Millésimés  </a:t>
            </a:r>
            <a:pPr indent="0" marL="0">
              <a:buNone/>
            </a:pPr>
            <a:r>
              <a:rPr lang="en-US" sz="680" dirty="0">
                <a:solidFill>
                  <a:srgbClr val="46606E"/>
                </a:solidFill>
                <a:latin typeface="IBM Plex Sans" pitchFamily="34" charset="0"/>
                <a:ea typeface="IBM Plex Sans" pitchFamily="34" charset="-122"/>
                <a:cs typeface="IBM Plex Sans" pitchFamily="34" charset="-120"/>
              </a:rPr>
              <a:t>Domaine Haut Marin  </a:t>
            </a:r>
            <a:pPr indent="0" marL="0">
              <a:buNone/>
            </a:pPr>
            <a:r>
              <a:rPr lang="en-US" sz="680" dirty="0">
                <a:solidFill>
                  <a:srgbClr val="A8515F"/>
                </a:solidFill>
                <a:latin typeface="IBM Plex Sans" pitchFamily="34" charset="0"/>
                <a:ea typeface="IBM Plex Sans" pitchFamily="34" charset="-122"/>
                <a:cs typeface="IBM Plex Sans" pitchFamily="34" charset="-120"/>
              </a:rPr>
              <a:t>70 cl   p. 39</a:t>
            </a:r>
            <a:endParaRPr lang="en-US" sz="740" dirty="0"/>
          </a:p>
        </p:txBody>
      </p:sp>
      <p:sp>
        <p:nvSpPr>
          <p:cNvPr id="54" name="Text 52"/>
          <p:cNvSpPr/>
          <p:nvPr/>
        </p:nvSpPr>
        <p:spPr>
          <a:xfrm>
            <a:off x="3672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37  </a:t>
            </a:r>
            <a:pPr indent="0" marL="0">
              <a:buNone/>
            </a:pPr>
            <a:r>
              <a:rPr lang="en-US" sz="740" b="1" dirty="0">
                <a:solidFill>
                  <a:srgbClr val="46606E"/>
                </a:solidFill>
                <a:latin typeface="IBM Plex Sans" pitchFamily="34" charset="0"/>
                <a:ea typeface="IBM Plex Sans" pitchFamily="34" charset="-122"/>
                <a:cs typeface="IBM Plex Sans" pitchFamily="34" charset="-120"/>
              </a:rPr>
              <a:t>Vieux Ratafia  </a:t>
            </a:r>
            <a:pPr indent="0" marL="0">
              <a:buNone/>
            </a:pPr>
            <a:r>
              <a:rPr lang="en-US" sz="680" dirty="0">
                <a:solidFill>
                  <a:srgbClr val="46606E"/>
                </a:solidFill>
                <a:latin typeface="IBM Plex Sans" pitchFamily="34" charset="0"/>
                <a:ea typeface="IBM Plex Sans" pitchFamily="34" charset="-122"/>
                <a:cs typeface="IBM Plex Sans" pitchFamily="34" charset="-120"/>
              </a:rPr>
              <a:t>Champagne Dekeyne  </a:t>
            </a:r>
            <a:pPr indent="0" marL="0">
              <a:buNone/>
            </a:pPr>
            <a:r>
              <a:rPr lang="en-US" sz="680" dirty="0">
                <a:solidFill>
                  <a:srgbClr val="A8515F"/>
                </a:solidFill>
                <a:latin typeface="IBM Plex Sans" pitchFamily="34" charset="0"/>
                <a:ea typeface="IBM Plex Sans" pitchFamily="34" charset="-122"/>
                <a:cs typeface="IBM Plex Sans" pitchFamily="34" charset="-120"/>
              </a:rPr>
              <a:t>75 cl   p. 64</a:t>
            </a:r>
            <a:endParaRPr lang="en-US" sz="740" dirty="0"/>
          </a:p>
        </p:txBody>
      </p:sp>
      <p:sp>
        <p:nvSpPr>
          <p:cNvPr id="55" name="Text 53"/>
          <p:cNvSpPr/>
          <p:nvPr/>
        </p:nvSpPr>
        <p:spPr>
          <a:xfrm>
            <a:off x="3672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38  </a:t>
            </a:r>
            <a:pPr indent="0" marL="0">
              <a:buNone/>
            </a:pPr>
            <a:r>
              <a:rPr lang="en-US" sz="740" b="1" dirty="0">
                <a:solidFill>
                  <a:srgbClr val="46606E"/>
                </a:solidFill>
                <a:latin typeface="IBM Plex Sans" pitchFamily="34" charset="0"/>
                <a:ea typeface="IBM Plex Sans" pitchFamily="34" charset="-122"/>
                <a:cs typeface="IBM Plex Sans" pitchFamily="34" charset="-120"/>
              </a:rPr>
              <a:t>IGP Vieux Ratafia Champenois  </a:t>
            </a:r>
            <a:pPr indent="0" marL="0">
              <a:buNone/>
            </a:pPr>
            <a:r>
              <a:rPr lang="en-US" sz="680" dirty="0">
                <a:solidFill>
                  <a:srgbClr val="46606E"/>
                </a:solidFill>
                <a:latin typeface="IBM Plex Sans" pitchFamily="34" charset="0"/>
                <a:ea typeface="IBM Plex Sans" pitchFamily="34" charset="-122"/>
                <a:cs typeface="IBM Plex Sans" pitchFamily="34" charset="-120"/>
              </a:rPr>
              <a:t>Champagne Denis Frézier  </a:t>
            </a:r>
            <a:pPr indent="0" marL="0">
              <a:buNone/>
            </a:pPr>
            <a:r>
              <a:rPr lang="en-US" sz="680" dirty="0">
                <a:solidFill>
                  <a:srgbClr val="A8515F"/>
                </a:solidFill>
                <a:latin typeface="IBM Plex Sans" pitchFamily="34" charset="0"/>
                <a:ea typeface="IBM Plex Sans" pitchFamily="34" charset="-122"/>
                <a:cs typeface="IBM Plex Sans" pitchFamily="34" charset="-120"/>
              </a:rPr>
              <a:t>75 cl   p. 65</a:t>
            </a:r>
            <a:endParaRPr lang="en-US" sz="740" dirty="0"/>
          </a:p>
        </p:txBody>
      </p:sp>
      <p:sp>
        <p:nvSpPr>
          <p:cNvPr id="56" name="Text 5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71</a:t>
            </a:r>
            <a:endParaRPr lang="en-US" sz="750" dirty="0"/>
          </a:p>
        </p:txBody>
      </p:sp>
      <p:sp>
        <p:nvSpPr>
          <p:cNvPr id="57" name="Text 5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quarante domaines</a:t>
            </a:r>
            <a:endParaRPr lang="en-US" sz="2400" dirty="0"/>
          </a:p>
        </p:txBody>
      </p:sp>
      <p:sp>
        <p:nvSpPr>
          <p:cNvPr id="3" name="Text 1"/>
          <p:cNvSpPr/>
          <p:nvPr/>
        </p:nvSpPr>
        <p:spPr>
          <a:xfrm>
            <a:off x="828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DE A À Z</a:t>
            </a:r>
            <a:endParaRPr lang="en-US" sz="800" dirty="0"/>
          </a:p>
        </p:txBody>
      </p:sp>
      <p:sp>
        <p:nvSpPr>
          <p:cNvPr id="4" name="Text 2"/>
          <p:cNvSpPr/>
          <p:nvPr/>
        </p:nvSpPr>
        <p:spPr>
          <a:xfrm>
            <a:off x="828000" y="129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31   </a:t>
            </a:r>
            <a:pPr indent="0" marL="0">
              <a:buNone/>
            </a:pPr>
            <a:r>
              <a:rPr lang="en-US" sz="840" b="1" dirty="0">
                <a:solidFill>
                  <a:srgbClr val="46606E"/>
                </a:solidFill>
                <a:latin typeface="IBM Plex Sans" pitchFamily="34" charset="0"/>
                <a:ea typeface="IBM Plex Sans" pitchFamily="34" charset="-122"/>
                <a:cs typeface="IBM Plex Sans" pitchFamily="34" charset="-120"/>
              </a:rPr>
              <a:t>Bastide de Blacailloux   </a:t>
            </a:r>
            <a:pPr indent="0" marL="0">
              <a:buNone/>
            </a:pPr>
            <a:r>
              <a:rPr lang="en-US" sz="700" dirty="0">
                <a:solidFill>
                  <a:srgbClr val="A8515F"/>
                </a:solidFill>
                <a:latin typeface="IBM Plex Sans" pitchFamily="34" charset="0"/>
                <a:ea typeface="IBM Plex Sans" pitchFamily="34" charset="-122"/>
                <a:cs typeface="IBM Plex Sans" pitchFamily="34" charset="-120"/>
              </a:rPr>
              <a:t>Provence   </a:t>
            </a:r>
            <a:pPr indent="0" marL="0">
              <a:buNone/>
            </a:pPr>
            <a:r>
              <a:rPr lang="en-US" sz="700" dirty="0">
                <a:solidFill>
                  <a:srgbClr val="46606E"/>
                </a:solidFill>
                <a:latin typeface="IBM Plex Sans" pitchFamily="34" charset="0"/>
                <a:ea typeface="IBM Plex Sans" pitchFamily="34" charset="-122"/>
                <a:cs typeface="IBM Plex Sans" pitchFamily="34" charset="-120"/>
              </a:rPr>
              <a:t>8   </a:t>
            </a:r>
            <a:pPr indent="0" marL="0">
              <a:buNone/>
            </a:pPr>
            <a:r>
              <a:rPr lang="en-US" sz="840" b="1" dirty="0">
                <a:solidFill>
                  <a:srgbClr val="46606E"/>
                </a:solidFill>
                <a:latin typeface="IBM Plex Sans" pitchFamily="34" charset="0"/>
                <a:ea typeface="IBM Plex Sans" pitchFamily="34" charset="-122"/>
                <a:cs typeface="IBM Plex Sans" pitchFamily="34" charset="-120"/>
              </a:rPr>
              <a:t>54</a:t>
            </a:r>
            <a:endParaRPr lang="en-US" sz="840" dirty="0"/>
          </a:p>
        </p:txBody>
      </p:sp>
      <p:sp>
        <p:nvSpPr>
          <p:cNvPr id="5" name="Text 3"/>
          <p:cNvSpPr/>
          <p:nvPr/>
        </p:nvSpPr>
        <p:spPr>
          <a:xfrm>
            <a:off x="828000" y="158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5   </a:t>
            </a:r>
            <a:pPr indent="0" marL="0">
              <a:buNone/>
            </a:pPr>
            <a:r>
              <a:rPr lang="en-US" sz="840" b="1" dirty="0">
                <a:solidFill>
                  <a:srgbClr val="46606E"/>
                </a:solidFill>
                <a:latin typeface="IBM Plex Sans" pitchFamily="34" charset="0"/>
                <a:ea typeface="IBM Plex Sans" pitchFamily="34" charset="-122"/>
                <a:cs typeface="IBM Plex Sans" pitchFamily="34" charset="-120"/>
              </a:rPr>
              <a:t>Chai Berteaud Manceau   </a:t>
            </a:r>
            <a:pPr indent="0" marL="0">
              <a:buNone/>
            </a:pPr>
            <a:r>
              <a:rPr lang="en-US" sz="700" dirty="0">
                <a:solidFill>
                  <a:srgbClr val="A8515F"/>
                </a:solidFill>
                <a:latin typeface="IBM Plex Sans" pitchFamily="34" charset="0"/>
                <a:ea typeface="IBM Plex Sans" pitchFamily="34" charset="-122"/>
                <a:cs typeface="IBM Plex Sans" pitchFamily="34" charset="-120"/>
              </a:rPr>
              <a:t>Loire   </a:t>
            </a:r>
            <a:pPr indent="0" marL="0">
              <a:buNone/>
            </a:pPr>
            <a:r>
              <a:rPr lang="en-US" sz="700" dirty="0">
                <a:solidFill>
                  <a:srgbClr val="46606E"/>
                </a:solidFill>
                <a:latin typeface="IBM Plex Sans" pitchFamily="34" charset="0"/>
                <a:ea typeface="IBM Plex Sans" pitchFamily="34" charset="-122"/>
                <a:cs typeface="IBM Plex Sans" pitchFamily="34" charset="-120"/>
              </a:rPr>
              <a:t>3   </a:t>
            </a:r>
            <a:pPr indent="0" marL="0">
              <a:buNone/>
            </a:pPr>
            <a:r>
              <a:rPr lang="en-US" sz="840" b="1" dirty="0">
                <a:solidFill>
                  <a:srgbClr val="46606E"/>
                </a:solidFill>
                <a:latin typeface="IBM Plex Sans" pitchFamily="34" charset="0"/>
                <a:ea typeface="IBM Plex Sans" pitchFamily="34" charset="-122"/>
                <a:cs typeface="IBM Plex Sans" pitchFamily="34" charset="-120"/>
              </a:rPr>
              <a:t>12</a:t>
            </a:r>
            <a:endParaRPr lang="en-US" sz="840" dirty="0"/>
          </a:p>
        </p:txBody>
      </p:sp>
      <p:sp>
        <p:nvSpPr>
          <p:cNvPr id="6" name="Text 4"/>
          <p:cNvSpPr/>
          <p:nvPr/>
        </p:nvSpPr>
        <p:spPr>
          <a:xfrm>
            <a:off x="828000" y="187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37   </a:t>
            </a:r>
            <a:pPr indent="0" marL="0">
              <a:buNone/>
            </a:pPr>
            <a:r>
              <a:rPr lang="en-US" sz="840" b="1" dirty="0">
                <a:solidFill>
                  <a:srgbClr val="46606E"/>
                </a:solidFill>
                <a:latin typeface="IBM Plex Sans" pitchFamily="34" charset="0"/>
                <a:ea typeface="IBM Plex Sans" pitchFamily="34" charset="-122"/>
                <a:cs typeface="IBM Plex Sans" pitchFamily="34" charset="-120"/>
              </a:rPr>
              <a:t>Champagne Dekeyne   </a:t>
            </a:r>
            <a:pPr indent="0" marL="0">
              <a:buNone/>
            </a:pPr>
            <a:r>
              <a:rPr lang="en-US" sz="700" dirty="0">
                <a:solidFill>
                  <a:srgbClr val="A8515F"/>
                </a:solidFill>
                <a:latin typeface="IBM Plex Sans" pitchFamily="34" charset="0"/>
                <a:ea typeface="IBM Plex Sans" pitchFamily="34" charset="-122"/>
                <a:cs typeface="IBM Plex Sans" pitchFamily="34" charset="-120"/>
              </a:rPr>
              <a:t>Champagne   </a:t>
            </a:r>
            <a:pPr indent="0" marL="0">
              <a:buNone/>
            </a:pPr>
            <a:r>
              <a:rPr lang="en-US" sz="700" dirty="0">
                <a:solidFill>
                  <a:srgbClr val="46606E"/>
                </a:solidFill>
                <a:latin typeface="IBM Plex Sans" pitchFamily="34" charset="0"/>
                <a:ea typeface="IBM Plex Sans" pitchFamily="34" charset="-122"/>
                <a:cs typeface="IBM Plex Sans" pitchFamily="34" charset="-120"/>
              </a:rPr>
              <a:t>4   </a:t>
            </a:r>
            <a:pPr indent="0" marL="0">
              <a:buNone/>
            </a:pPr>
            <a:r>
              <a:rPr lang="en-US" sz="840" b="1" dirty="0">
                <a:solidFill>
                  <a:srgbClr val="46606E"/>
                </a:solidFill>
                <a:latin typeface="IBM Plex Sans" pitchFamily="34" charset="0"/>
                <a:ea typeface="IBM Plex Sans" pitchFamily="34" charset="-122"/>
                <a:cs typeface="IBM Plex Sans" pitchFamily="34" charset="-120"/>
              </a:rPr>
              <a:t>64</a:t>
            </a:r>
            <a:endParaRPr lang="en-US" sz="840" dirty="0"/>
          </a:p>
        </p:txBody>
      </p:sp>
      <p:sp>
        <p:nvSpPr>
          <p:cNvPr id="7" name="Text 5"/>
          <p:cNvSpPr/>
          <p:nvPr/>
        </p:nvSpPr>
        <p:spPr>
          <a:xfrm>
            <a:off x="828000" y="216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38   </a:t>
            </a:r>
            <a:pPr indent="0" marL="0">
              <a:buNone/>
            </a:pPr>
            <a:r>
              <a:rPr lang="en-US" sz="840" b="1" dirty="0">
                <a:solidFill>
                  <a:srgbClr val="46606E"/>
                </a:solidFill>
                <a:latin typeface="IBM Plex Sans" pitchFamily="34" charset="0"/>
                <a:ea typeface="IBM Plex Sans" pitchFamily="34" charset="-122"/>
                <a:cs typeface="IBM Plex Sans" pitchFamily="34" charset="-120"/>
              </a:rPr>
              <a:t>Champagne Denis Frézier   </a:t>
            </a:r>
            <a:pPr indent="0" marL="0">
              <a:buNone/>
            </a:pPr>
            <a:r>
              <a:rPr lang="en-US" sz="700" dirty="0">
                <a:solidFill>
                  <a:srgbClr val="A8515F"/>
                </a:solidFill>
                <a:latin typeface="IBM Plex Sans" pitchFamily="34" charset="0"/>
                <a:ea typeface="IBM Plex Sans" pitchFamily="34" charset="-122"/>
                <a:cs typeface="IBM Plex Sans" pitchFamily="34" charset="-120"/>
              </a:rPr>
              <a:t>Champagne   </a:t>
            </a:r>
            <a:pPr indent="0" marL="0">
              <a:buNone/>
            </a:pPr>
            <a:r>
              <a:rPr lang="en-US" sz="700" dirty="0">
                <a:solidFill>
                  <a:srgbClr val="46606E"/>
                </a:solidFill>
                <a:latin typeface="IBM Plex Sans" pitchFamily="34" charset="0"/>
                <a:ea typeface="IBM Plex Sans" pitchFamily="34" charset="-122"/>
                <a:cs typeface="IBM Plex Sans" pitchFamily="34" charset="-120"/>
              </a:rPr>
              <a:t>10   </a:t>
            </a:r>
            <a:pPr indent="0" marL="0">
              <a:buNone/>
            </a:pPr>
            <a:r>
              <a:rPr lang="en-US" sz="840" b="1" dirty="0">
                <a:solidFill>
                  <a:srgbClr val="46606E"/>
                </a:solidFill>
                <a:latin typeface="IBM Plex Sans" pitchFamily="34" charset="0"/>
                <a:ea typeface="IBM Plex Sans" pitchFamily="34" charset="-122"/>
                <a:cs typeface="IBM Plex Sans" pitchFamily="34" charset="-120"/>
              </a:rPr>
              <a:t>65</a:t>
            </a:r>
            <a:endParaRPr lang="en-US" sz="840" dirty="0"/>
          </a:p>
        </p:txBody>
      </p:sp>
      <p:sp>
        <p:nvSpPr>
          <p:cNvPr id="8" name="Text 6"/>
          <p:cNvSpPr/>
          <p:nvPr/>
        </p:nvSpPr>
        <p:spPr>
          <a:xfrm>
            <a:off x="828000" y="244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39   </a:t>
            </a:r>
            <a:pPr indent="0" marL="0">
              <a:buNone/>
            </a:pPr>
            <a:r>
              <a:rPr lang="en-US" sz="840" b="1" dirty="0">
                <a:solidFill>
                  <a:srgbClr val="46606E"/>
                </a:solidFill>
                <a:latin typeface="IBM Plex Sans" pitchFamily="34" charset="0"/>
                <a:ea typeface="IBM Plex Sans" pitchFamily="34" charset="-122"/>
                <a:cs typeface="IBM Plex Sans" pitchFamily="34" charset="-120"/>
              </a:rPr>
              <a:t>Champagne Solemme   </a:t>
            </a:r>
            <a:pPr indent="0" marL="0">
              <a:buNone/>
            </a:pPr>
            <a:r>
              <a:rPr lang="en-US" sz="700" dirty="0">
                <a:solidFill>
                  <a:srgbClr val="A8515F"/>
                </a:solidFill>
                <a:latin typeface="IBM Plex Sans" pitchFamily="34" charset="0"/>
                <a:ea typeface="IBM Plex Sans" pitchFamily="34" charset="-122"/>
                <a:cs typeface="IBM Plex Sans" pitchFamily="34" charset="-120"/>
              </a:rPr>
              <a:t>Champagne   </a:t>
            </a:r>
            <a:pPr indent="0" marL="0">
              <a:buNone/>
            </a:pPr>
            <a:r>
              <a:rPr lang="en-US" sz="700" dirty="0">
                <a:solidFill>
                  <a:srgbClr val="46606E"/>
                </a:solidFill>
                <a:latin typeface="IBM Plex Sans" pitchFamily="34" charset="0"/>
                <a:ea typeface="IBM Plex Sans" pitchFamily="34" charset="-122"/>
                <a:cs typeface="IBM Plex Sans" pitchFamily="34" charset="-120"/>
              </a:rPr>
              <a:t>6   </a:t>
            </a:r>
            <a:pPr indent="0" marL="0">
              <a:buNone/>
            </a:pPr>
            <a:r>
              <a:rPr lang="en-US" sz="840" b="1" dirty="0">
                <a:solidFill>
                  <a:srgbClr val="46606E"/>
                </a:solidFill>
                <a:latin typeface="IBM Plex Sans" pitchFamily="34" charset="0"/>
                <a:ea typeface="IBM Plex Sans" pitchFamily="34" charset="-122"/>
                <a:cs typeface="IBM Plex Sans" pitchFamily="34" charset="-120"/>
              </a:rPr>
              <a:t>66</a:t>
            </a:r>
            <a:endParaRPr lang="en-US" sz="840" dirty="0"/>
          </a:p>
        </p:txBody>
      </p:sp>
      <p:sp>
        <p:nvSpPr>
          <p:cNvPr id="9" name="Text 7"/>
          <p:cNvSpPr/>
          <p:nvPr/>
        </p:nvSpPr>
        <p:spPr>
          <a:xfrm>
            <a:off x="828000" y="273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29   </a:t>
            </a:r>
            <a:pPr indent="0" marL="0">
              <a:buNone/>
            </a:pPr>
            <a:r>
              <a:rPr lang="en-US" sz="840" b="1" dirty="0">
                <a:solidFill>
                  <a:srgbClr val="46606E"/>
                </a:solidFill>
                <a:latin typeface="IBM Plex Sans" pitchFamily="34" charset="0"/>
                <a:ea typeface="IBM Plex Sans" pitchFamily="34" charset="-122"/>
                <a:cs typeface="IBM Plex Sans" pitchFamily="34" charset="-120"/>
              </a:rPr>
              <a:t>Château Balac   </a:t>
            </a:r>
            <a:pPr indent="0" marL="0">
              <a:buNone/>
            </a:pPr>
            <a:r>
              <a:rPr lang="en-US" sz="700" dirty="0">
                <a:solidFill>
                  <a:srgbClr val="A8515F"/>
                </a:solidFill>
                <a:latin typeface="IBM Plex Sans" pitchFamily="34" charset="0"/>
                <a:ea typeface="IBM Plex Sans" pitchFamily="34" charset="-122"/>
                <a:cs typeface="IBM Plex Sans" pitchFamily="34" charset="-120"/>
              </a:rPr>
              <a:t>Bordeaux   </a:t>
            </a:r>
            <a:pPr indent="0" marL="0">
              <a:buNone/>
            </a:pPr>
            <a:r>
              <a:rPr lang="en-US" sz="700" dirty="0">
                <a:solidFill>
                  <a:srgbClr val="46606E"/>
                </a:solidFill>
                <a:latin typeface="IBM Plex Sans" pitchFamily="34" charset="0"/>
                <a:ea typeface="IBM Plex Sans" pitchFamily="34" charset="-122"/>
                <a:cs typeface="IBM Plex Sans" pitchFamily="34" charset="-120"/>
              </a:rPr>
              <a:t>3   </a:t>
            </a:r>
            <a:pPr indent="0" marL="0">
              <a:buNone/>
            </a:pPr>
            <a:r>
              <a:rPr lang="en-US" sz="840" b="1" dirty="0">
                <a:solidFill>
                  <a:srgbClr val="46606E"/>
                </a:solidFill>
                <a:latin typeface="IBM Plex Sans" pitchFamily="34" charset="0"/>
                <a:ea typeface="IBM Plex Sans" pitchFamily="34" charset="-122"/>
                <a:cs typeface="IBM Plex Sans" pitchFamily="34" charset="-120"/>
              </a:rPr>
              <a:t>51</a:t>
            </a:r>
            <a:endParaRPr lang="en-US" sz="840" dirty="0"/>
          </a:p>
        </p:txBody>
      </p:sp>
      <p:sp>
        <p:nvSpPr>
          <p:cNvPr id="10" name="Text 8"/>
          <p:cNvSpPr/>
          <p:nvPr/>
        </p:nvSpPr>
        <p:spPr>
          <a:xfrm>
            <a:off x="828000" y="302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34   </a:t>
            </a:r>
            <a:pPr indent="0" marL="0">
              <a:buNone/>
            </a:pPr>
            <a:r>
              <a:rPr lang="en-US" sz="840" b="1" dirty="0">
                <a:solidFill>
                  <a:srgbClr val="46606E"/>
                </a:solidFill>
                <a:latin typeface="IBM Plex Sans" pitchFamily="34" charset="0"/>
                <a:ea typeface="IBM Plex Sans" pitchFamily="34" charset="-122"/>
                <a:cs typeface="IBM Plex Sans" pitchFamily="34" charset="-120"/>
              </a:rPr>
              <a:t>Château de Gragnos   </a:t>
            </a:r>
            <a:pPr indent="0" marL="0">
              <a:buNone/>
            </a:pPr>
            <a:r>
              <a:rPr lang="en-US" sz="700" dirty="0">
                <a:solidFill>
                  <a:srgbClr val="A8515F"/>
                </a:solidFill>
                <a:latin typeface="IBM Plex Sans" pitchFamily="34" charset="0"/>
                <a:ea typeface="IBM Plex Sans" pitchFamily="34" charset="-122"/>
                <a:cs typeface="IBM Plex Sans" pitchFamily="34" charset="-120"/>
              </a:rPr>
              <a:t>Languedoc   </a:t>
            </a:r>
            <a:pPr indent="0" marL="0">
              <a:buNone/>
            </a:pPr>
            <a:r>
              <a:rPr lang="en-US" sz="700" dirty="0">
                <a:solidFill>
                  <a:srgbClr val="46606E"/>
                </a:solidFill>
                <a:latin typeface="IBM Plex Sans" pitchFamily="34" charset="0"/>
                <a:ea typeface="IBM Plex Sans" pitchFamily="34" charset="-122"/>
                <a:cs typeface="IBM Plex Sans" pitchFamily="34" charset="-120"/>
              </a:rPr>
              <a:t>8   </a:t>
            </a:r>
            <a:pPr indent="0" marL="0">
              <a:buNone/>
            </a:pPr>
            <a:r>
              <a:rPr lang="en-US" sz="840" b="1" dirty="0">
                <a:solidFill>
                  <a:srgbClr val="46606E"/>
                </a:solidFill>
                <a:latin typeface="IBM Plex Sans" pitchFamily="34" charset="0"/>
                <a:ea typeface="IBM Plex Sans" pitchFamily="34" charset="-122"/>
                <a:cs typeface="IBM Plex Sans" pitchFamily="34" charset="-120"/>
              </a:rPr>
              <a:t>59</a:t>
            </a:r>
            <a:endParaRPr lang="en-US" sz="840" dirty="0"/>
          </a:p>
        </p:txBody>
      </p:sp>
      <p:sp>
        <p:nvSpPr>
          <p:cNvPr id="11" name="Text 9"/>
          <p:cNvSpPr/>
          <p:nvPr/>
        </p:nvSpPr>
        <p:spPr>
          <a:xfrm>
            <a:off x="828000" y="331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13   </a:t>
            </a:r>
            <a:pPr indent="0" marL="0">
              <a:buNone/>
            </a:pPr>
            <a:r>
              <a:rPr lang="en-US" sz="840" b="1" dirty="0">
                <a:solidFill>
                  <a:srgbClr val="46606E"/>
                </a:solidFill>
                <a:latin typeface="IBM Plex Sans" pitchFamily="34" charset="0"/>
                <a:ea typeface="IBM Plex Sans" pitchFamily="34" charset="-122"/>
                <a:cs typeface="IBM Plex Sans" pitchFamily="34" charset="-120"/>
              </a:rPr>
              <a:t>Château du Cray   </a:t>
            </a:r>
            <a:pPr indent="0" marL="0">
              <a:buNone/>
            </a:pPr>
            <a:r>
              <a:rPr lang="en-US" sz="700" dirty="0">
                <a:solidFill>
                  <a:srgbClr val="A8515F"/>
                </a:solidFill>
                <a:latin typeface="IBM Plex Sans" pitchFamily="34" charset="0"/>
                <a:ea typeface="IBM Plex Sans" pitchFamily="34" charset="-122"/>
                <a:cs typeface="IBM Plex Sans" pitchFamily="34" charset="-120"/>
              </a:rPr>
              <a:t>Bourgogne   </a:t>
            </a:r>
            <a:pPr indent="0" marL="0">
              <a:buNone/>
            </a:pPr>
            <a:r>
              <a:rPr lang="en-US" sz="700" dirty="0">
                <a:solidFill>
                  <a:srgbClr val="46606E"/>
                </a:solidFill>
                <a:latin typeface="IBM Plex Sans" pitchFamily="34" charset="0"/>
                <a:ea typeface="IBM Plex Sans" pitchFamily="34" charset="-122"/>
                <a:cs typeface="IBM Plex Sans" pitchFamily="34" charset="-120"/>
              </a:rPr>
              <a:t>3   </a:t>
            </a:r>
            <a:pPr indent="0" marL="0">
              <a:buNone/>
            </a:pPr>
            <a:r>
              <a:rPr lang="en-US" sz="840" b="1" dirty="0">
                <a:solidFill>
                  <a:srgbClr val="46606E"/>
                </a:solidFill>
                <a:latin typeface="IBM Plex Sans" pitchFamily="34" charset="0"/>
                <a:ea typeface="IBM Plex Sans" pitchFamily="34" charset="-122"/>
                <a:cs typeface="IBM Plex Sans" pitchFamily="34" charset="-120"/>
              </a:rPr>
              <a:t>27</a:t>
            </a:r>
            <a:endParaRPr lang="en-US" sz="840" dirty="0"/>
          </a:p>
        </p:txBody>
      </p:sp>
      <p:sp>
        <p:nvSpPr>
          <p:cNvPr id="12" name="Text 10"/>
          <p:cNvSpPr/>
          <p:nvPr/>
        </p:nvSpPr>
        <p:spPr>
          <a:xfrm>
            <a:off x="828000" y="360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27   </a:t>
            </a:r>
            <a:pPr indent="0" marL="0">
              <a:buNone/>
            </a:pPr>
            <a:r>
              <a:rPr lang="en-US" sz="840" b="1" dirty="0">
                <a:solidFill>
                  <a:srgbClr val="46606E"/>
                </a:solidFill>
                <a:latin typeface="IBM Plex Sans" pitchFamily="34" charset="0"/>
                <a:ea typeface="IBM Plex Sans" pitchFamily="34" charset="-122"/>
                <a:cs typeface="IBM Plex Sans" pitchFamily="34" charset="-120"/>
              </a:rPr>
              <a:t>Château Falfas   </a:t>
            </a:r>
            <a:pPr indent="0" marL="0">
              <a:buNone/>
            </a:pPr>
            <a:r>
              <a:rPr lang="en-US" sz="700" dirty="0">
                <a:solidFill>
                  <a:srgbClr val="A8515F"/>
                </a:solidFill>
                <a:latin typeface="IBM Plex Sans" pitchFamily="34" charset="0"/>
                <a:ea typeface="IBM Plex Sans" pitchFamily="34" charset="-122"/>
                <a:cs typeface="IBM Plex Sans" pitchFamily="34" charset="-120"/>
              </a:rPr>
              <a:t>Bordeaux   </a:t>
            </a:r>
            <a:pPr indent="0" marL="0">
              <a:buNone/>
            </a:pPr>
            <a:r>
              <a:rPr lang="en-US" sz="700" dirty="0">
                <a:solidFill>
                  <a:srgbClr val="46606E"/>
                </a:solidFill>
                <a:latin typeface="IBM Plex Sans" pitchFamily="34" charset="0"/>
                <a:ea typeface="IBM Plex Sans" pitchFamily="34" charset="-122"/>
                <a:cs typeface="IBM Plex Sans" pitchFamily="34" charset="-120"/>
              </a:rPr>
              <a:t>3   </a:t>
            </a:r>
            <a:pPr indent="0" marL="0">
              <a:buNone/>
            </a:pPr>
            <a:r>
              <a:rPr lang="en-US" sz="840" b="1" dirty="0">
                <a:solidFill>
                  <a:srgbClr val="46606E"/>
                </a:solidFill>
                <a:latin typeface="IBM Plex Sans" pitchFamily="34" charset="0"/>
                <a:ea typeface="IBM Plex Sans" pitchFamily="34" charset="-122"/>
                <a:cs typeface="IBM Plex Sans" pitchFamily="34" charset="-120"/>
              </a:rPr>
              <a:t>49</a:t>
            </a:r>
            <a:endParaRPr lang="en-US" sz="840" dirty="0"/>
          </a:p>
        </p:txBody>
      </p:sp>
      <p:sp>
        <p:nvSpPr>
          <p:cNvPr id="13" name="Text 11"/>
          <p:cNvSpPr/>
          <p:nvPr/>
        </p:nvSpPr>
        <p:spPr>
          <a:xfrm>
            <a:off x="828000" y="388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30   </a:t>
            </a:r>
            <a:pPr indent="0" marL="0">
              <a:buNone/>
            </a:pPr>
            <a:r>
              <a:rPr lang="en-US" sz="840" b="1" dirty="0">
                <a:solidFill>
                  <a:srgbClr val="46606E"/>
                </a:solidFill>
                <a:latin typeface="IBM Plex Sans" pitchFamily="34" charset="0"/>
                <a:ea typeface="IBM Plex Sans" pitchFamily="34" charset="-122"/>
                <a:cs typeface="IBM Plex Sans" pitchFamily="34" charset="-120"/>
              </a:rPr>
              <a:t>Château l’Escarderie   </a:t>
            </a:r>
            <a:pPr indent="0" marL="0">
              <a:buNone/>
            </a:pPr>
            <a:r>
              <a:rPr lang="en-US" sz="700" dirty="0">
                <a:solidFill>
                  <a:srgbClr val="A8515F"/>
                </a:solidFill>
                <a:latin typeface="IBM Plex Sans" pitchFamily="34" charset="0"/>
                <a:ea typeface="IBM Plex Sans" pitchFamily="34" charset="-122"/>
                <a:cs typeface="IBM Plex Sans" pitchFamily="34" charset="-120"/>
              </a:rPr>
              <a:t>Bordeaux   </a:t>
            </a:r>
            <a:pPr indent="0" marL="0">
              <a:buNone/>
            </a:pPr>
            <a:r>
              <a:rPr lang="en-US" sz="700" dirty="0">
                <a:solidFill>
                  <a:srgbClr val="46606E"/>
                </a:solidFill>
                <a:latin typeface="IBM Plex Sans" pitchFamily="34" charset="0"/>
                <a:ea typeface="IBM Plex Sans" pitchFamily="34" charset="-122"/>
                <a:cs typeface="IBM Plex Sans" pitchFamily="34" charset="-120"/>
              </a:rPr>
              <a:t>8   </a:t>
            </a:r>
            <a:pPr indent="0" marL="0">
              <a:buNone/>
            </a:pPr>
            <a:r>
              <a:rPr lang="en-US" sz="840" b="1" dirty="0">
                <a:solidFill>
                  <a:srgbClr val="46606E"/>
                </a:solidFill>
                <a:latin typeface="IBM Plex Sans" pitchFamily="34" charset="0"/>
                <a:ea typeface="IBM Plex Sans" pitchFamily="34" charset="-122"/>
                <a:cs typeface="IBM Plex Sans" pitchFamily="34" charset="-120"/>
              </a:rPr>
              <a:t>52</a:t>
            </a:r>
            <a:endParaRPr lang="en-US" sz="840" dirty="0"/>
          </a:p>
        </p:txBody>
      </p:sp>
      <p:sp>
        <p:nvSpPr>
          <p:cNvPr id="14" name="Text 12"/>
          <p:cNvSpPr/>
          <p:nvPr/>
        </p:nvSpPr>
        <p:spPr>
          <a:xfrm>
            <a:off x="828000" y="417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pPr indent="0" marL="0">
              <a:buNone/>
            </a:pPr>
            <a:r>
              <a:rPr lang="en-US" sz="840" b="1" dirty="0">
                <a:solidFill>
                  <a:srgbClr val="46606E"/>
                </a:solidFill>
                <a:latin typeface="IBM Plex Sans" pitchFamily="34" charset="0"/>
                <a:ea typeface="IBM Plex Sans" pitchFamily="34" charset="-122"/>
                <a:cs typeface="IBM Plex Sans" pitchFamily="34" charset="-120"/>
              </a:rPr>
              <a:t>Château la Gorce   </a:t>
            </a:r>
            <a:pPr indent="0" marL="0">
              <a:buNone/>
            </a:pPr>
            <a:r>
              <a:rPr lang="en-US" sz="700" dirty="0">
                <a:solidFill>
                  <a:srgbClr val="A8515F"/>
                </a:solidFill>
                <a:latin typeface="IBM Plex Sans" pitchFamily="34" charset="0"/>
                <a:ea typeface="IBM Plex Sans" pitchFamily="34" charset="-122"/>
                <a:cs typeface="IBM Plex Sans" pitchFamily="34" charset="-120"/>
              </a:rPr>
              <a:t>Bordeaux   </a:t>
            </a:r>
            <a:pPr indent="0" marL="0">
              <a:buNone/>
            </a:pPr>
            <a:r>
              <a:rPr lang="en-US" sz="700" dirty="0">
                <a:solidFill>
                  <a:srgbClr val="46606E"/>
                </a:solidFill>
                <a:latin typeface="IBM Plex Sans" pitchFamily="34" charset="0"/>
                <a:ea typeface="IBM Plex Sans" pitchFamily="34" charset="-122"/>
                <a:cs typeface="IBM Plex Sans" pitchFamily="34" charset="-120"/>
              </a:rPr>
              <a:t>11   </a:t>
            </a:r>
            <a:pPr indent="0" marL="0">
              <a:buNone/>
            </a:pPr>
            <a:r>
              <a:rPr lang="en-US" sz="840" b="1" dirty="0">
                <a:solidFill>
                  <a:srgbClr val="46606E"/>
                </a:solidFill>
                <a:latin typeface="IBM Plex Sans" pitchFamily="34" charset="0"/>
                <a:ea typeface="IBM Plex Sans" pitchFamily="34" charset="-122"/>
                <a:cs typeface="IBM Plex Sans" pitchFamily="34" charset="-120"/>
              </a:rPr>
              <a:t>47</a:t>
            </a:r>
            <a:endParaRPr lang="en-US" sz="840" dirty="0"/>
          </a:p>
        </p:txBody>
      </p:sp>
      <p:sp>
        <p:nvSpPr>
          <p:cNvPr id="15" name="Text 13"/>
          <p:cNvSpPr/>
          <p:nvPr/>
        </p:nvSpPr>
        <p:spPr>
          <a:xfrm>
            <a:off x="828000" y="446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28   </a:t>
            </a:r>
            <a:pPr indent="0" marL="0">
              <a:buNone/>
            </a:pPr>
            <a:r>
              <a:rPr lang="en-US" sz="840" b="1" dirty="0">
                <a:solidFill>
                  <a:srgbClr val="46606E"/>
                </a:solidFill>
                <a:latin typeface="IBM Plex Sans" pitchFamily="34" charset="0"/>
                <a:ea typeface="IBM Plex Sans" pitchFamily="34" charset="-122"/>
                <a:cs typeface="IBM Plex Sans" pitchFamily="34" charset="-120"/>
              </a:rPr>
              <a:t>Château Pré la Lande   </a:t>
            </a:r>
            <a:pPr indent="0" marL="0">
              <a:buNone/>
            </a:pPr>
            <a:r>
              <a:rPr lang="en-US" sz="700" dirty="0">
                <a:solidFill>
                  <a:srgbClr val="A8515F"/>
                </a:solidFill>
                <a:latin typeface="IBM Plex Sans" pitchFamily="34" charset="0"/>
                <a:ea typeface="IBM Plex Sans" pitchFamily="34" charset="-122"/>
                <a:cs typeface="IBM Plex Sans" pitchFamily="34" charset="-120"/>
              </a:rPr>
              <a:t>Bordeaux   </a:t>
            </a:r>
            <a:pPr indent="0" marL="0">
              <a:buNone/>
            </a:pPr>
            <a:r>
              <a:rPr lang="en-US" sz="700" dirty="0">
                <a:solidFill>
                  <a:srgbClr val="46606E"/>
                </a:solidFill>
                <a:latin typeface="IBM Plex Sans" pitchFamily="34" charset="0"/>
                <a:ea typeface="IBM Plex Sans" pitchFamily="34" charset="-122"/>
                <a:cs typeface="IBM Plex Sans" pitchFamily="34" charset="-120"/>
              </a:rPr>
              <a:t>3   </a:t>
            </a:r>
            <a:pPr indent="0" marL="0">
              <a:buNone/>
            </a:pPr>
            <a:r>
              <a:rPr lang="en-US" sz="840" b="1" dirty="0">
                <a:solidFill>
                  <a:srgbClr val="46606E"/>
                </a:solidFill>
                <a:latin typeface="IBM Plex Sans" pitchFamily="34" charset="0"/>
                <a:ea typeface="IBM Plex Sans" pitchFamily="34" charset="-122"/>
                <a:cs typeface="IBM Plex Sans" pitchFamily="34" charset="-120"/>
              </a:rPr>
              <a:t>50</a:t>
            </a:r>
            <a:endParaRPr lang="en-US" sz="840" dirty="0"/>
          </a:p>
        </p:txBody>
      </p:sp>
      <p:sp>
        <p:nvSpPr>
          <p:cNvPr id="16" name="Text 14"/>
          <p:cNvSpPr/>
          <p:nvPr/>
        </p:nvSpPr>
        <p:spPr>
          <a:xfrm>
            <a:off x="828000" y="475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pPr indent="0" marL="0">
              <a:buNone/>
            </a:pPr>
            <a:r>
              <a:rPr lang="en-US" sz="840" b="1" dirty="0">
                <a:solidFill>
                  <a:srgbClr val="46606E"/>
                </a:solidFill>
                <a:latin typeface="IBM Plex Sans" pitchFamily="34" charset="0"/>
                <a:ea typeface="IBM Plex Sans" pitchFamily="34" charset="-122"/>
                <a:cs typeface="IBM Plex Sans" pitchFamily="34" charset="-120"/>
              </a:rPr>
              <a:t>Divin No Low   </a:t>
            </a:r>
            <a:pPr indent="0" marL="0">
              <a:buNone/>
            </a:pPr>
            <a:r>
              <a:rPr lang="en-US" sz="700" dirty="0">
                <a:solidFill>
                  <a:srgbClr val="A8515F"/>
                </a:solidFill>
                <a:latin typeface="IBM Plex Sans" pitchFamily="34" charset="0"/>
                <a:ea typeface="IBM Plex Sans" pitchFamily="34" charset="-122"/>
                <a:cs typeface="IBM Plex Sans" pitchFamily="34" charset="-120"/>
              </a:rPr>
              <a:t>Loire   </a:t>
            </a:r>
            <a:pPr indent="0" marL="0">
              <a:buNone/>
            </a:pPr>
            <a:r>
              <a:rPr lang="en-US" sz="700" dirty="0">
                <a:solidFill>
                  <a:srgbClr val="46606E"/>
                </a:solidFill>
                <a:latin typeface="IBM Plex Sans" pitchFamily="34" charset="0"/>
                <a:ea typeface="IBM Plex Sans" pitchFamily="34" charset="-122"/>
                <a:cs typeface="IBM Plex Sans" pitchFamily="34" charset="-120"/>
              </a:rPr>
              <a:t>8   </a:t>
            </a:r>
            <a:pPr indent="0" marL="0">
              <a:buNone/>
            </a:pPr>
            <a:r>
              <a:rPr lang="en-US" sz="840" b="1" dirty="0">
                <a:solidFill>
                  <a:srgbClr val="46606E"/>
                </a:solidFill>
                <a:latin typeface="IBM Plex Sans" pitchFamily="34" charset="0"/>
                <a:ea typeface="IBM Plex Sans" pitchFamily="34" charset="-122"/>
                <a:cs typeface="IBM Plex Sans" pitchFamily="34" charset="-120"/>
              </a:rPr>
              <a:t>15</a:t>
            </a:r>
            <a:endParaRPr lang="en-US" sz="840" dirty="0"/>
          </a:p>
        </p:txBody>
      </p:sp>
      <p:sp>
        <p:nvSpPr>
          <p:cNvPr id="17" name="Text 15"/>
          <p:cNvSpPr/>
          <p:nvPr/>
        </p:nvSpPr>
        <p:spPr>
          <a:xfrm>
            <a:off x="828000" y="504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8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Boehler   </a:t>
            </a:r>
            <a:pPr indent="0" marL="0">
              <a:buNone/>
            </a:pPr>
            <a:r>
              <a:rPr lang="en-US" sz="700" dirty="0">
                <a:solidFill>
                  <a:srgbClr val="A8515F"/>
                </a:solidFill>
                <a:latin typeface="IBM Plex Sans" pitchFamily="34" charset="0"/>
                <a:ea typeface="IBM Plex Sans" pitchFamily="34" charset="-122"/>
                <a:cs typeface="IBM Plex Sans" pitchFamily="34" charset="-120"/>
              </a:rPr>
              <a:t>Alsace   </a:t>
            </a:r>
            <a:pPr indent="0" marL="0">
              <a:buNone/>
            </a:pPr>
            <a:r>
              <a:rPr lang="en-US" sz="700" dirty="0">
                <a:solidFill>
                  <a:srgbClr val="46606E"/>
                </a:solidFill>
                <a:latin typeface="IBM Plex Sans" pitchFamily="34" charset="0"/>
                <a:ea typeface="IBM Plex Sans" pitchFamily="34" charset="-122"/>
                <a:cs typeface="IBM Plex Sans" pitchFamily="34" charset="-120"/>
              </a:rPr>
              <a:t>15   </a:t>
            </a:r>
            <a:pPr indent="0" marL="0">
              <a:buNone/>
            </a:pPr>
            <a:r>
              <a:rPr lang="en-US" sz="840" b="1" dirty="0">
                <a:solidFill>
                  <a:srgbClr val="46606E"/>
                </a:solidFill>
                <a:latin typeface="IBM Plex Sans" pitchFamily="34" charset="0"/>
                <a:ea typeface="IBM Plex Sans" pitchFamily="34" charset="-122"/>
                <a:cs typeface="IBM Plex Sans" pitchFamily="34" charset="-120"/>
              </a:rPr>
              <a:t>17</a:t>
            </a:r>
            <a:endParaRPr lang="en-US" sz="840" dirty="0"/>
          </a:p>
        </p:txBody>
      </p:sp>
      <p:sp>
        <p:nvSpPr>
          <p:cNvPr id="18" name="Text 16"/>
          <p:cNvSpPr/>
          <p:nvPr/>
        </p:nvSpPr>
        <p:spPr>
          <a:xfrm>
            <a:off x="828000" y="532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17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de Coyeux   </a:t>
            </a:r>
            <a:pPr indent="0" marL="0">
              <a:buNone/>
            </a:pPr>
            <a:r>
              <a:rPr lang="en-US" sz="700" dirty="0">
                <a:solidFill>
                  <a:srgbClr val="A8515F"/>
                </a:solidFill>
                <a:latin typeface="IBM Plex Sans" pitchFamily="34" charset="0"/>
                <a:ea typeface="IBM Plex Sans" pitchFamily="34" charset="-122"/>
                <a:cs typeface="IBM Plex Sans" pitchFamily="34" charset="-120"/>
              </a:rPr>
              <a:t>Rhône   </a:t>
            </a:r>
            <a:pPr indent="0" marL="0">
              <a:buNone/>
            </a:pPr>
            <a:r>
              <a:rPr lang="en-US" sz="700" dirty="0">
                <a:solidFill>
                  <a:srgbClr val="46606E"/>
                </a:solidFill>
                <a:latin typeface="IBM Plex Sans" pitchFamily="34" charset="0"/>
                <a:ea typeface="IBM Plex Sans" pitchFamily="34" charset="-122"/>
                <a:cs typeface="IBM Plex Sans" pitchFamily="34" charset="-120"/>
              </a:rPr>
              <a:t>7   </a:t>
            </a:r>
            <a:pPr indent="0" marL="0">
              <a:buNone/>
            </a:pPr>
            <a:r>
              <a:rPr lang="en-US" sz="840" b="1" dirty="0">
                <a:solidFill>
                  <a:srgbClr val="46606E"/>
                </a:solidFill>
                <a:latin typeface="IBM Plex Sans" pitchFamily="34" charset="0"/>
                <a:ea typeface="IBM Plex Sans" pitchFamily="34" charset="-122"/>
                <a:cs typeface="IBM Plex Sans" pitchFamily="34" charset="-120"/>
              </a:rPr>
              <a:t>32</a:t>
            </a:r>
            <a:endParaRPr lang="en-US" sz="840" dirty="0"/>
          </a:p>
        </p:txBody>
      </p:sp>
      <p:sp>
        <p:nvSpPr>
          <p:cNvPr id="19" name="Text 17"/>
          <p:cNvSpPr/>
          <p:nvPr/>
        </p:nvSpPr>
        <p:spPr>
          <a:xfrm>
            <a:off x="828000" y="561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de la Barbinière   </a:t>
            </a:r>
            <a:pPr indent="0" marL="0">
              <a:buNone/>
            </a:pPr>
            <a:r>
              <a:rPr lang="en-US" sz="700" dirty="0">
                <a:solidFill>
                  <a:srgbClr val="A8515F"/>
                </a:solidFill>
                <a:latin typeface="IBM Plex Sans" pitchFamily="34" charset="0"/>
                <a:ea typeface="IBM Plex Sans" pitchFamily="34" charset="-122"/>
                <a:cs typeface="IBM Plex Sans" pitchFamily="34" charset="-120"/>
              </a:rPr>
              <a:t>Loire   </a:t>
            </a:r>
            <a:pPr indent="0" marL="0">
              <a:buNone/>
            </a:pPr>
            <a:r>
              <a:rPr lang="en-US" sz="700" dirty="0">
                <a:solidFill>
                  <a:srgbClr val="46606E"/>
                </a:solidFill>
                <a:latin typeface="IBM Plex Sans" pitchFamily="34" charset="0"/>
                <a:ea typeface="IBM Plex Sans" pitchFamily="34" charset="-122"/>
                <a:cs typeface="IBM Plex Sans" pitchFamily="34" charset="-120"/>
              </a:rPr>
              <a:t>10   </a:t>
            </a:r>
            <a:pPr indent="0" marL="0">
              <a:buNone/>
            </a:pPr>
            <a:r>
              <a:rPr lang="en-US" sz="840" b="1" dirty="0">
                <a:solidFill>
                  <a:srgbClr val="46606E"/>
                </a:solidFill>
                <a:latin typeface="IBM Plex Sans" pitchFamily="34" charset="0"/>
                <a:ea typeface="IBM Plex Sans" pitchFamily="34" charset="-122"/>
                <a:cs typeface="IBM Plex Sans" pitchFamily="34" charset="-120"/>
              </a:rPr>
              <a:t>8</a:t>
            </a:r>
            <a:endParaRPr lang="en-US" sz="840" dirty="0"/>
          </a:p>
        </p:txBody>
      </p:sp>
      <p:sp>
        <p:nvSpPr>
          <p:cNvPr id="20" name="Text 18"/>
          <p:cNvSpPr/>
          <p:nvPr/>
        </p:nvSpPr>
        <p:spPr>
          <a:xfrm>
            <a:off x="828000" y="590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19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de la Pousterle   </a:t>
            </a:r>
            <a:pPr indent="0" marL="0">
              <a:buNone/>
            </a:pPr>
            <a:r>
              <a:rPr lang="en-US" sz="700" dirty="0">
                <a:solidFill>
                  <a:srgbClr val="A8515F"/>
                </a:solidFill>
                <a:latin typeface="IBM Plex Sans" pitchFamily="34" charset="0"/>
                <a:ea typeface="IBM Plex Sans" pitchFamily="34" charset="-122"/>
                <a:cs typeface="IBM Plex Sans" pitchFamily="34" charset="-120"/>
              </a:rPr>
              <a:t>Rhône   </a:t>
            </a:r>
            <a:pPr indent="0" marL="0">
              <a:buNone/>
            </a:pPr>
            <a:r>
              <a:rPr lang="en-US" sz="700" dirty="0">
                <a:solidFill>
                  <a:srgbClr val="46606E"/>
                </a:solidFill>
                <a:latin typeface="IBM Plex Sans" pitchFamily="34" charset="0"/>
                <a:ea typeface="IBM Plex Sans" pitchFamily="34" charset="-122"/>
                <a:cs typeface="IBM Plex Sans" pitchFamily="34" charset="-120"/>
              </a:rPr>
              <a:t>5   </a:t>
            </a:r>
            <a:pPr indent="0" marL="0">
              <a:buNone/>
            </a:pPr>
            <a:r>
              <a:rPr lang="en-US" sz="840" b="1" dirty="0">
                <a:solidFill>
                  <a:srgbClr val="46606E"/>
                </a:solidFill>
                <a:latin typeface="IBM Plex Sans" pitchFamily="34" charset="0"/>
                <a:ea typeface="IBM Plex Sans" pitchFamily="34" charset="-122"/>
                <a:cs typeface="IBM Plex Sans" pitchFamily="34" charset="-120"/>
              </a:rPr>
              <a:t>34</a:t>
            </a:r>
            <a:endParaRPr lang="en-US" sz="840" dirty="0"/>
          </a:p>
        </p:txBody>
      </p:sp>
      <p:sp>
        <p:nvSpPr>
          <p:cNvPr id="21" name="Text 19"/>
          <p:cNvSpPr/>
          <p:nvPr/>
        </p:nvSpPr>
        <p:spPr>
          <a:xfrm>
            <a:off x="828000" y="619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4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des Noëls   </a:t>
            </a:r>
            <a:pPr indent="0" marL="0">
              <a:buNone/>
            </a:pPr>
            <a:r>
              <a:rPr lang="en-US" sz="700" dirty="0">
                <a:solidFill>
                  <a:srgbClr val="A8515F"/>
                </a:solidFill>
                <a:latin typeface="IBM Plex Sans" pitchFamily="34" charset="0"/>
                <a:ea typeface="IBM Plex Sans" pitchFamily="34" charset="-122"/>
                <a:cs typeface="IBM Plex Sans" pitchFamily="34" charset="-120"/>
              </a:rPr>
              <a:t>Loire   </a:t>
            </a:r>
            <a:pPr indent="0" marL="0">
              <a:buNone/>
            </a:pPr>
            <a:r>
              <a:rPr lang="en-US" sz="700" dirty="0">
                <a:solidFill>
                  <a:srgbClr val="46606E"/>
                </a:solidFill>
                <a:latin typeface="IBM Plex Sans" pitchFamily="34" charset="0"/>
                <a:ea typeface="IBM Plex Sans" pitchFamily="34" charset="-122"/>
                <a:cs typeface="IBM Plex Sans" pitchFamily="34" charset="-120"/>
              </a:rPr>
              <a:t>9   </a:t>
            </a:r>
            <a:pPr indent="0" marL="0">
              <a:buNone/>
            </a:pPr>
            <a:r>
              <a:rPr lang="en-US" sz="840" b="1" dirty="0">
                <a:solidFill>
                  <a:srgbClr val="46606E"/>
                </a:solidFill>
                <a:latin typeface="IBM Plex Sans" pitchFamily="34" charset="0"/>
                <a:ea typeface="IBM Plex Sans" pitchFamily="34" charset="-122"/>
                <a:cs typeface="IBM Plex Sans" pitchFamily="34" charset="-120"/>
              </a:rPr>
              <a:t>11</a:t>
            </a:r>
            <a:endParaRPr lang="en-US" sz="840" dirty="0"/>
          </a:p>
        </p:txBody>
      </p:sp>
      <p:sp>
        <p:nvSpPr>
          <p:cNvPr id="22" name="Text 20"/>
          <p:cNvSpPr/>
          <p:nvPr/>
        </p:nvSpPr>
        <p:spPr>
          <a:xfrm>
            <a:off x="828000" y="648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9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des Nugues   </a:t>
            </a:r>
            <a:pPr indent="0" marL="0">
              <a:buNone/>
            </a:pPr>
            <a:r>
              <a:rPr lang="en-US" sz="700" dirty="0">
                <a:solidFill>
                  <a:srgbClr val="A8515F"/>
                </a:solidFill>
                <a:latin typeface="IBM Plex Sans" pitchFamily="34" charset="0"/>
                <a:ea typeface="IBM Plex Sans" pitchFamily="34" charset="-122"/>
                <a:cs typeface="IBM Plex Sans" pitchFamily="34" charset="-120"/>
              </a:rPr>
              <a:t>Beaujolais   </a:t>
            </a:r>
            <a:pPr indent="0" marL="0">
              <a:buNone/>
            </a:pPr>
            <a:r>
              <a:rPr lang="en-US" sz="700" dirty="0">
                <a:solidFill>
                  <a:srgbClr val="46606E"/>
                </a:solidFill>
                <a:latin typeface="IBM Plex Sans" pitchFamily="34" charset="0"/>
                <a:ea typeface="IBM Plex Sans" pitchFamily="34" charset="-122"/>
                <a:cs typeface="IBM Plex Sans" pitchFamily="34" charset="-120"/>
              </a:rPr>
              <a:t>8   </a:t>
            </a:r>
            <a:pPr indent="0" marL="0">
              <a:buNone/>
            </a:pPr>
            <a:r>
              <a:rPr lang="en-US" sz="840" b="1" dirty="0">
                <a:solidFill>
                  <a:srgbClr val="46606E"/>
                </a:solidFill>
                <a:latin typeface="IBM Plex Sans" pitchFamily="34" charset="0"/>
                <a:ea typeface="IBM Plex Sans" pitchFamily="34" charset="-122"/>
                <a:cs typeface="IBM Plex Sans" pitchFamily="34" charset="-120"/>
              </a:rPr>
              <a:t>20</a:t>
            </a:r>
            <a:endParaRPr lang="en-US" sz="840" dirty="0"/>
          </a:p>
        </p:txBody>
      </p:sp>
      <p:sp>
        <p:nvSpPr>
          <p:cNvPr id="23" name="Text 21"/>
          <p:cNvSpPr/>
          <p:nvPr/>
        </p:nvSpPr>
        <p:spPr>
          <a:xfrm>
            <a:off x="828000" y="676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20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des Pasquiers   </a:t>
            </a:r>
            <a:pPr indent="0" marL="0">
              <a:buNone/>
            </a:pPr>
            <a:r>
              <a:rPr lang="en-US" sz="700" dirty="0">
                <a:solidFill>
                  <a:srgbClr val="A8515F"/>
                </a:solidFill>
                <a:latin typeface="IBM Plex Sans" pitchFamily="34" charset="0"/>
                <a:ea typeface="IBM Plex Sans" pitchFamily="34" charset="-122"/>
                <a:cs typeface="IBM Plex Sans" pitchFamily="34" charset="-120"/>
              </a:rPr>
              <a:t>Rhône   </a:t>
            </a:r>
            <a:pPr indent="0" marL="0">
              <a:buNone/>
            </a:pPr>
            <a:r>
              <a:rPr lang="en-US" sz="700" dirty="0">
                <a:solidFill>
                  <a:srgbClr val="46606E"/>
                </a:solidFill>
                <a:latin typeface="IBM Plex Sans" pitchFamily="34" charset="0"/>
                <a:ea typeface="IBM Plex Sans" pitchFamily="34" charset="-122"/>
                <a:cs typeface="IBM Plex Sans" pitchFamily="34" charset="-120"/>
              </a:rPr>
              <a:t>6   </a:t>
            </a:r>
            <a:pPr indent="0" marL="0">
              <a:buNone/>
            </a:pPr>
            <a:r>
              <a:rPr lang="en-US" sz="840" b="1" dirty="0">
                <a:solidFill>
                  <a:srgbClr val="46606E"/>
                </a:solidFill>
                <a:latin typeface="IBM Plex Sans" pitchFamily="34" charset="0"/>
                <a:ea typeface="IBM Plex Sans" pitchFamily="34" charset="-122"/>
                <a:cs typeface="IBM Plex Sans" pitchFamily="34" charset="-120"/>
              </a:rPr>
              <a:t>35</a:t>
            </a:r>
            <a:endParaRPr lang="en-US" sz="840" dirty="0"/>
          </a:p>
        </p:txBody>
      </p:sp>
      <p:sp>
        <p:nvSpPr>
          <p:cNvPr id="24" name="Text 22"/>
          <p:cNvSpPr/>
          <p:nvPr/>
        </p:nvSpPr>
        <p:spPr>
          <a:xfrm>
            <a:off x="3888000" y="129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15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des Verchères   </a:t>
            </a:r>
            <a:pPr indent="0" marL="0">
              <a:buNone/>
            </a:pPr>
            <a:r>
              <a:rPr lang="en-US" sz="700" dirty="0">
                <a:solidFill>
                  <a:srgbClr val="A8515F"/>
                </a:solidFill>
                <a:latin typeface="IBM Plex Sans" pitchFamily="34" charset="0"/>
                <a:ea typeface="IBM Plex Sans" pitchFamily="34" charset="-122"/>
                <a:cs typeface="IBM Plex Sans" pitchFamily="34" charset="-120"/>
              </a:rPr>
              <a:t>Bourgogne   </a:t>
            </a:r>
            <a:pPr indent="0" marL="0">
              <a:buNone/>
            </a:pPr>
            <a:r>
              <a:rPr lang="en-US" sz="700" dirty="0">
                <a:solidFill>
                  <a:srgbClr val="46606E"/>
                </a:solidFill>
                <a:latin typeface="IBM Plex Sans" pitchFamily="34" charset="0"/>
                <a:ea typeface="IBM Plex Sans" pitchFamily="34" charset="-122"/>
                <a:cs typeface="IBM Plex Sans" pitchFamily="34" charset="-120"/>
              </a:rPr>
              <a:t>4   </a:t>
            </a:r>
            <a:pPr indent="0" marL="0">
              <a:buNone/>
            </a:pPr>
            <a:r>
              <a:rPr lang="en-US" sz="840" b="1" dirty="0">
                <a:solidFill>
                  <a:srgbClr val="46606E"/>
                </a:solidFill>
                <a:latin typeface="IBM Plex Sans" pitchFamily="34" charset="0"/>
                <a:ea typeface="IBM Plex Sans" pitchFamily="34" charset="-122"/>
                <a:cs typeface="IBM Plex Sans" pitchFamily="34" charset="-120"/>
              </a:rPr>
              <a:t>29</a:t>
            </a:r>
            <a:endParaRPr lang="en-US" sz="840" dirty="0"/>
          </a:p>
        </p:txBody>
      </p:sp>
      <p:sp>
        <p:nvSpPr>
          <p:cNvPr id="25" name="Text 23"/>
          <p:cNvSpPr/>
          <p:nvPr/>
        </p:nvSpPr>
        <p:spPr>
          <a:xfrm>
            <a:off x="3888000" y="158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du Colombier / J.Y Bretaudeau   </a:t>
            </a:r>
            <a:pPr indent="0" marL="0">
              <a:buNone/>
            </a:pPr>
            <a:r>
              <a:rPr lang="en-US" sz="700" dirty="0">
                <a:solidFill>
                  <a:srgbClr val="A8515F"/>
                </a:solidFill>
                <a:latin typeface="IBM Plex Sans" pitchFamily="34" charset="0"/>
                <a:ea typeface="IBM Plex Sans" pitchFamily="34" charset="-122"/>
                <a:cs typeface="IBM Plex Sans" pitchFamily="34" charset="-120"/>
              </a:rPr>
              <a:t>Loire   </a:t>
            </a:r>
            <a:pPr indent="0" marL="0">
              <a:buNone/>
            </a:pPr>
            <a:r>
              <a:rPr lang="en-US" sz="700" dirty="0">
                <a:solidFill>
                  <a:srgbClr val="46606E"/>
                </a:solidFill>
                <a:latin typeface="IBM Plex Sans" pitchFamily="34" charset="0"/>
                <a:ea typeface="IBM Plex Sans" pitchFamily="34" charset="-122"/>
                <a:cs typeface="IBM Plex Sans" pitchFamily="34" charset="-120"/>
              </a:rPr>
              <a:t>14   </a:t>
            </a:r>
            <a:pPr indent="0" marL="0">
              <a:buNone/>
            </a:pPr>
            <a:r>
              <a:rPr lang="en-US" sz="840" b="1" dirty="0">
                <a:solidFill>
                  <a:srgbClr val="46606E"/>
                </a:solidFill>
                <a:latin typeface="IBM Plex Sans" pitchFamily="34" charset="0"/>
                <a:ea typeface="IBM Plex Sans" pitchFamily="34" charset="-122"/>
                <a:cs typeface="IBM Plex Sans" pitchFamily="34" charset="-120"/>
              </a:rPr>
              <a:t>9</a:t>
            </a:r>
            <a:endParaRPr lang="en-US" sz="840" dirty="0"/>
          </a:p>
        </p:txBody>
      </p:sp>
      <p:sp>
        <p:nvSpPr>
          <p:cNvPr id="26" name="Text 24"/>
          <p:cNvSpPr/>
          <p:nvPr/>
        </p:nvSpPr>
        <p:spPr>
          <a:xfrm>
            <a:off x="3888000" y="187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18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du Moulin Blanc   </a:t>
            </a:r>
            <a:pPr indent="0" marL="0">
              <a:buNone/>
            </a:pPr>
            <a:r>
              <a:rPr lang="en-US" sz="700" dirty="0">
                <a:solidFill>
                  <a:srgbClr val="A8515F"/>
                </a:solidFill>
                <a:latin typeface="IBM Plex Sans" pitchFamily="34" charset="0"/>
                <a:ea typeface="IBM Plex Sans" pitchFamily="34" charset="-122"/>
                <a:cs typeface="IBM Plex Sans" pitchFamily="34" charset="-120"/>
              </a:rPr>
              <a:t>Rhône   </a:t>
            </a:r>
            <a:pPr indent="0" marL="0">
              <a:buNone/>
            </a:pPr>
            <a:r>
              <a:rPr lang="en-US" sz="700" dirty="0">
                <a:solidFill>
                  <a:srgbClr val="46606E"/>
                </a:solidFill>
                <a:latin typeface="IBM Plex Sans" pitchFamily="34" charset="0"/>
                <a:ea typeface="IBM Plex Sans" pitchFamily="34" charset="-122"/>
                <a:cs typeface="IBM Plex Sans" pitchFamily="34" charset="-120"/>
              </a:rPr>
              <a:t>3   </a:t>
            </a:r>
            <a:pPr indent="0" marL="0">
              <a:buNone/>
            </a:pPr>
            <a:r>
              <a:rPr lang="en-US" sz="840" b="1" dirty="0">
                <a:solidFill>
                  <a:srgbClr val="46606E"/>
                </a:solidFill>
                <a:latin typeface="IBM Plex Sans" pitchFamily="34" charset="0"/>
                <a:ea typeface="IBM Plex Sans" pitchFamily="34" charset="-122"/>
                <a:cs typeface="IBM Plex Sans" pitchFamily="34" charset="-120"/>
              </a:rPr>
              <a:t>33</a:t>
            </a:r>
            <a:endParaRPr lang="en-US" sz="840" dirty="0"/>
          </a:p>
        </p:txBody>
      </p:sp>
      <p:sp>
        <p:nvSpPr>
          <p:cNvPr id="27" name="Text 25"/>
          <p:cNvSpPr/>
          <p:nvPr/>
        </p:nvSpPr>
        <p:spPr>
          <a:xfrm>
            <a:off x="3888000" y="216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23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Haut Marin   </a:t>
            </a:r>
            <a:pPr indent="0" marL="0">
              <a:buNone/>
            </a:pPr>
            <a:r>
              <a:rPr lang="en-US" sz="700" dirty="0">
                <a:solidFill>
                  <a:srgbClr val="A8515F"/>
                </a:solidFill>
                <a:latin typeface="IBM Plex Sans" pitchFamily="34" charset="0"/>
                <a:ea typeface="IBM Plex Sans" pitchFamily="34" charset="-122"/>
                <a:cs typeface="IBM Plex Sans" pitchFamily="34" charset="-120"/>
              </a:rPr>
              <a:t>Sud-Ouest   </a:t>
            </a:r>
            <a:pPr indent="0" marL="0">
              <a:buNone/>
            </a:pPr>
            <a:r>
              <a:rPr lang="en-US" sz="700" dirty="0">
                <a:solidFill>
                  <a:srgbClr val="46606E"/>
                </a:solidFill>
                <a:latin typeface="IBM Plex Sans" pitchFamily="34" charset="0"/>
                <a:ea typeface="IBM Plex Sans" pitchFamily="34" charset="-122"/>
                <a:cs typeface="IBM Plex Sans" pitchFamily="34" charset="-120"/>
              </a:rPr>
              <a:t>21   </a:t>
            </a:r>
            <a:pPr indent="0" marL="0">
              <a:buNone/>
            </a:pPr>
            <a:r>
              <a:rPr lang="en-US" sz="840" b="1" dirty="0">
                <a:solidFill>
                  <a:srgbClr val="46606E"/>
                </a:solidFill>
                <a:latin typeface="IBM Plex Sans" pitchFamily="34" charset="0"/>
                <a:ea typeface="IBM Plex Sans" pitchFamily="34" charset="-122"/>
                <a:cs typeface="IBM Plex Sans" pitchFamily="34" charset="-120"/>
              </a:rPr>
              <a:t>39</a:t>
            </a:r>
            <a:endParaRPr lang="en-US" sz="840" dirty="0"/>
          </a:p>
        </p:txBody>
      </p:sp>
      <p:sp>
        <p:nvSpPr>
          <p:cNvPr id="28" name="Text 26"/>
          <p:cNvSpPr/>
          <p:nvPr/>
        </p:nvSpPr>
        <p:spPr>
          <a:xfrm>
            <a:off x="3888000" y="244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6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Jean de Villebois   </a:t>
            </a:r>
            <a:pPr indent="0" marL="0">
              <a:buNone/>
            </a:pPr>
            <a:r>
              <a:rPr lang="en-US" sz="700" dirty="0">
                <a:solidFill>
                  <a:srgbClr val="A8515F"/>
                </a:solidFill>
                <a:latin typeface="IBM Plex Sans" pitchFamily="34" charset="0"/>
                <a:ea typeface="IBM Plex Sans" pitchFamily="34" charset="-122"/>
                <a:cs typeface="IBM Plex Sans" pitchFamily="34" charset="-120"/>
              </a:rPr>
              <a:t>Loire   </a:t>
            </a:r>
            <a:pPr indent="0" marL="0">
              <a:buNone/>
            </a:pPr>
            <a:r>
              <a:rPr lang="en-US" sz="700" dirty="0">
                <a:solidFill>
                  <a:srgbClr val="46606E"/>
                </a:solidFill>
                <a:latin typeface="IBM Plex Sans" pitchFamily="34" charset="0"/>
                <a:ea typeface="IBM Plex Sans" pitchFamily="34" charset="-122"/>
                <a:cs typeface="IBM Plex Sans" pitchFamily="34" charset="-120"/>
              </a:rPr>
              <a:t>16   </a:t>
            </a:r>
            <a:pPr indent="0" marL="0">
              <a:buNone/>
            </a:pPr>
            <a:r>
              <a:rPr lang="en-US" sz="840" b="1" dirty="0">
                <a:solidFill>
                  <a:srgbClr val="46606E"/>
                </a:solidFill>
                <a:latin typeface="IBM Plex Sans" pitchFamily="34" charset="0"/>
                <a:ea typeface="IBM Plex Sans" pitchFamily="34" charset="-122"/>
                <a:cs typeface="IBM Plex Sans" pitchFamily="34" charset="-120"/>
              </a:rPr>
              <a:t>13</a:t>
            </a:r>
            <a:endParaRPr lang="en-US" sz="840" dirty="0"/>
          </a:p>
        </p:txBody>
      </p:sp>
      <p:sp>
        <p:nvSpPr>
          <p:cNvPr id="29" name="Text 27"/>
          <p:cNvSpPr/>
          <p:nvPr/>
        </p:nvSpPr>
        <p:spPr>
          <a:xfrm>
            <a:off x="3888000" y="273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16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Le Prieuré des Papes   </a:t>
            </a:r>
            <a:pPr indent="0" marL="0">
              <a:buNone/>
            </a:pPr>
            <a:r>
              <a:rPr lang="en-US" sz="700" dirty="0">
                <a:solidFill>
                  <a:srgbClr val="A8515F"/>
                </a:solidFill>
                <a:latin typeface="IBM Plex Sans" pitchFamily="34" charset="0"/>
                <a:ea typeface="IBM Plex Sans" pitchFamily="34" charset="-122"/>
                <a:cs typeface="IBM Plex Sans" pitchFamily="34" charset="-120"/>
              </a:rPr>
              <a:t>Rhône   </a:t>
            </a:r>
            <a:pPr indent="0" marL="0">
              <a:buNone/>
            </a:pPr>
            <a:r>
              <a:rPr lang="en-US" sz="700" dirty="0">
                <a:solidFill>
                  <a:srgbClr val="46606E"/>
                </a:solidFill>
                <a:latin typeface="IBM Plex Sans" pitchFamily="34" charset="0"/>
                <a:ea typeface="IBM Plex Sans" pitchFamily="34" charset="-122"/>
                <a:cs typeface="IBM Plex Sans" pitchFamily="34" charset="-120"/>
              </a:rPr>
              <a:t>3   </a:t>
            </a:r>
            <a:pPr indent="0" marL="0">
              <a:buNone/>
            </a:pPr>
            <a:r>
              <a:rPr lang="en-US" sz="840" b="1" dirty="0">
                <a:solidFill>
                  <a:srgbClr val="46606E"/>
                </a:solidFill>
                <a:latin typeface="IBM Plex Sans" pitchFamily="34" charset="0"/>
                <a:ea typeface="IBM Plex Sans" pitchFamily="34" charset="-122"/>
                <a:cs typeface="IBM Plex Sans" pitchFamily="34" charset="-120"/>
              </a:rPr>
              <a:t>31</a:t>
            </a:r>
            <a:endParaRPr lang="en-US" sz="840" dirty="0"/>
          </a:p>
        </p:txBody>
      </p:sp>
      <p:sp>
        <p:nvSpPr>
          <p:cNvPr id="30" name="Text 28"/>
          <p:cNvSpPr/>
          <p:nvPr/>
        </p:nvSpPr>
        <p:spPr>
          <a:xfrm>
            <a:off x="3888000" y="302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14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Les Guignottes   </a:t>
            </a:r>
            <a:pPr indent="0" marL="0">
              <a:buNone/>
            </a:pPr>
            <a:r>
              <a:rPr lang="en-US" sz="700" dirty="0">
                <a:solidFill>
                  <a:srgbClr val="A8515F"/>
                </a:solidFill>
                <a:latin typeface="IBM Plex Sans" pitchFamily="34" charset="0"/>
                <a:ea typeface="IBM Plex Sans" pitchFamily="34" charset="-122"/>
                <a:cs typeface="IBM Plex Sans" pitchFamily="34" charset="-120"/>
              </a:rPr>
              <a:t>Bourgogne   </a:t>
            </a:r>
            <a:pPr indent="0" marL="0">
              <a:buNone/>
            </a:pPr>
            <a:r>
              <a:rPr lang="en-US" sz="700" dirty="0">
                <a:solidFill>
                  <a:srgbClr val="46606E"/>
                </a:solidFill>
                <a:latin typeface="IBM Plex Sans" pitchFamily="34" charset="0"/>
                <a:ea typeface="IBM Plex Sans" pitchFamily="34" charset="-122"/>
                <a:cs typeface="IBM Plex Sans" pitchFamily="34" charset="-120"/>
              </a:rPr>
              <a:t>5   </a:t>
            </a:r>
            <a:pPr indent="0" marL="0">
              <a:buNone/>
            </a:pPr>
            <a:r>
              <a:rPr lang="en-US" sz="840" b="1" dirty="0">
                <a:solidFill>
                  <a:srgbClr val="46606E"/>
                </a:solidFill>
                <a:latin typeface="IBM Plex Sans" pitchFamily="34" charset="0"/>
                <a:ea typeface="IBM Plex Sans" pitchFamily="34" charset="-122"/>
                <a:cs typeface="IBM Plex Sans" pitchFamily="34" charset="-120"/>
              </a:rPr>
              <a:t>28</a:t>
            </a:r>
            <a:endParaRPr lang="en-US" sz="840" dirty="0"/>
          </a:p>
        </p:txBody>
      </p:sp>
      <p:sp>
        <p:nvSpPr>
          <p:cNvPr id="31" name="Text 29"/>
          <p:cNvSpPr/>
          <p:nvPr/>
        </p:nvSpPr>
        <p:spPr>
          <a:xfrm>
            <a:off x="3888000" y="331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35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Les Lys   </a:t>
            </a:r>
            <a:pPr indent="0" marL="0">
              <a:buNone/>
            </a:pPr>
            <a:r>
              <a:rPr lang="en-US" sz="700" dirty="0">
                <a:solidFill>
                  <a:srgbClr val="A8515F"/>
                </a:solidFill>
                <a:latin typeface="IBM Plex Sans" pitchFamily="34" charset="0"/>
                <a:ea typeface="IBM Plex Sans" pitchFamily="34" charset="-122"/>
                <a:cs typeface="IBM Plex Sans" pitchFamily="34" charset="-120"/>
              </a:rPr>
              <a:t>Languedoc   </a:t>
            </a:r>
            <a:pPr indent="0" marL="0">
              <a:buNone/>
            </a:pPr>
            <a:r>
              <a:rPr lang="en-US" sz="700" dirty="0">
                <a:solidFill>
                  <a:srgbClr val="46606E"/>
                </a:solidFill>
                <a:latin typeface="IBM Plex Sans" pitchFamily="34" charset="0"/>
                <a:ea typeface="IBM Plex Sans" pitchFamily="34" charset="-122"/>
                <a:cs typeface="IBM Plex Sans" pitchFamily="34" charset="-120"/>
              </a:rPr>
              <a:t>7   </a:t>
            </a:r>
            <a:pPr indent="0" marL="0">
              <a:buNone/>
            </a:pPr>
            <a:r>
              <a:rPr lang="en-US" sz="840" b="1" dirty="0">
                <a:solidFill>
                  <a:srgbClr val="46606E"/>
                </a:solidFill>
                <a:latin typeface="IBM Plex Sans" pitchFamily="34" charset="0"/>
                <a:ea typeface="IBM Plex Sans" pitchFamily="34" charset="-122"/>
                <a:cs typeface="IBM Plex Sans" pitchFamily="34" charset="-120"/>
              </a:rPr>
              <a:t>60</a:t>
            </a:r>
            <a:endParaRPr lang="en-US" sz="840" dirty="0"/>
          </a:p>
        </p:txBody>
      </p:sp>
      <p:sp>
        <p:nvSpPr>
          <p:cNvPr id="32" name="Text 30"/>
          <p:cNvSpPr/>
          <p:nvPr/>
        </p:nvSpPr>
        <p:spPr>
          <a:xfrm>
            <a:off x="3888000" y="360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11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Nadine Ferrand   </a:t>
            </a:r>
            <a:pPr indent="0" marL="0">
              <a:buNone/>
            </a:pPr>
            <a:r>
              <a:rPr lang="en-US" sz="700" dirty="0">
                <a:solidFill>
                  <a:srgbClr val="A8515F"/>
                </a:solidFill>
                <a:latin typeface="IBM Plex Sans" pitchFamily="34" charset="0"/>
                <a:ea typeface="IBM Plex Sans" pitchFamily="34" charset="-122"/>
                <a:cs typeface="IBM Plex Sans" pitchFamily="34" charset="-120"/>
              </a:rPr>
              <a:t>Bourgogne   </a:t>
            </a:r>
            <a:pPr indent="0" marL="0">
              <a:buNone/>
            </a:pPr>
            <a:r>
              <a:rPr lang="en-US" sz="700" dirty="0">
                <a:solidFill>
                  <a:srgbClr val="46606E"/>
                </a:solidFill>
                <a:latin typeface="IBM Plex Sans" pitchFamily="34" charset="0"/>
                <a:ea typeface="IBM Plex Sans" pitchFamily="34" charset="-122"/>
                <a:cs typeface="IBM Plex Sans" pitchFamily="34" charset="-120"/>
              </a:rPr>
              <a:t>7   </a:t>
            </a:r>
            <a:pPr indent="0" marL="0">
              <a:buNone/>
            </a:pPr>
            <a:r>
              <a:rPr lang="en-US" sz="840" b="1" dirty="0">
                <a:solidFill>
                  <a:srgbClr val="46606E"/>
                </a:solidFill>
                <a:latin typeface="IBM Plex Sans" pitchFamily="34" charset="0"/>
                <a:ea typeface="IBM Plex Sans" pitchFamily="34" charset="-122"/>
                <a:cs typeface="IBM Plex Sans" pitchFamily="34" charset="-120"/>
              </a:rPr>
              <a:t>24</a:t>
            </a:r>
            <a:endParaRPr lang="en-US" sz="840" dirty="0"/>
          </a:p>
        </p:txBody>
      </p:sp>
      <p:sp>
        <p:nvSpPr>
          <p:cNvPr id="33" name="Text 31"/>
          <p:cNvSpPr/>
          <p:nvPr/>
        </p:nvSpPr>
        <p:spPr>
          <a:xfrm>
            <a:off x="3888000" y="388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10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Sébastien Magnien   </a:t>
            </a:r>
            <a:pPr indent="0" marL="0">
              <a:buNone/>
            </a:pPr>
            <a:r>
              <a:rPr lang="en-US" sz="700" dirty="0">
                <a:solidFill>
                  <a:srgbClr val="A8515F"/>
                </a:solidFill>
                <a:latin typeface="IBM Plex Sans" pitchFamily="34" charset="0"/>
                <a:ea typeface="IBM Plex Sans" pitchFamily="34" charset="-122"/>
                <a:cs typeface="IBM Plex Sans" pitchFamily="34" charset="-120"/>
              </a:rPr>
              <a:t>Bourgogne   </a:t>
            </a:r>
            <a:pPr indent="0" marL="0">
              <a:buNone/>
            </a:pPr>
            <a:r>
              <a:rPr lang="en-US" sz="700" dirty="0">
                <a:solidFill>
                  <a:srgbClr val="46606E"/>
                </a:solidFill>
                <a:latin typeface="IBM Plex Sans" pitchFamily="34" charset="0"/>
                <a:ea typeface="IBM Plex Sans" pitchFamily="34" charset="-122"/>
                <a:cs typeface="IBM Plex Sans" pitchFamily="34" charset="-120"/>
              </a:rPr>
              <a:t>15   </a:t>
            </a:r>
            <a:pPr indent="0" marL="0">
              <a:buNone/>
            </a:pPr>
            <a:r>
              <a:rPr lang="en-US" sz="840" b="1" dirty="0">
                <a:solidFill>
                  <a:srgbClr val="46606E"/>
                </a:solidFill>
                <a:latin typeface="IBM Plex Sans" pitchFamily="34" charset="0"/>
                <a:ea typeface="IBM Plex Sans" pitchFamily="34" charset="-122"/>
                <a:cs typeface="IBM Plex Sans" pitchFamily="34" charset="-120"/>
              </a:rPr>
              <a:t>22</a:t>
            </a:r>
            <a:endParaRPr lang="en-US" sz="840" dirty="0"/>
          </a:p>
        </p:txBody>
      </p:sp>
      <p:sp>
        <p:nvSpPr>
          <p:cNvPr id="34" name="Text 32"/>
          <p:cNvSpPr/>
          <p:nvPr/>
        </p:nvSpPr>
        <p:spPr>
          <a:xfrm>
            <a:off x="3888000" y="417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22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Stratéus   </a:t>
            </a:r>
            <a:pPr indent="0" marL="0">
              <a:buNone/>
            </a:pPr>
            <a:r>
              <a:rPr lang="en-US" sz="700" dirty="0">
                <a:solidFill>
                  <a:srgbClr val="A8515F"/>
                </a:solidFill>
                <a:latin typeface="IBM Plex Sans" pitchFamily="34" charset="0"/>
                <a:ea typeface="IBM Plex Sans" pitchFamily="34" charset="-122"/>
                <a:cs typeface="IBM Plex Sans" pitchFamily="34" charset="-120"/>
              </a:rPr>
              <a:t>Sud-Ouest   </a:t>
            </a:r>
            <a:pPr indent="0" marL="0">
              <a:buNone/>
            </a:pPr>
            <a:r>
              <a:rPr lang="en-US" sz="700" dirty="0">
                <a:solidFill>
                  <a:srgbClr val="46606E"/>
                </a:solidFill>
                <a:latin typeface="IBM Plex Sans" pitchFamily="34" charset="0"/>
                <a:ea typeface="IBM Plex Sans" pitchFamily="34" charset="-122"/>
                <a:cs typeface="IBM Plex Sans" pitchFamily="34" charset="-120"/>
              </a:rPr>
              <a:t>6   </a:t>
            </a:r>
            <a:pPr indent="0" marL="0">
              <a:buNone/>
            </a:pPr>
            <a:r>
              <a:rPr lang="en-US" sz="840" b="1" dirty="0">
                <a:solidFill>
                  <a:srgbClr val="46606E"/>
                </a:solidFill>
                <a:latin typeface="IBM Plex Sans" pitchFamily="34" charset="0"/>
                <a:ea typeface="IBM Plex Sans" pitchFamily="34" charset="-122"/>
                <a:cs typeface="IBM Plex Sans" pitchFamily="34" charset="-120"/>
              </a:rPr>
              <a:t>38</a:t>
            </a:r>
            <a:endParaRPr lang="en-US" sz="840" dirty="0"/>
          </a:p>
        </p:txBody>
      </p:sp>
      <p:sp>
        <p:nvSpPr>
          <p:cNvPr id="35" name="Text 33"/>
          <p:cNvSpPr/>
          <p:nvPr/>
        </p:nvSpPr>
        <p:spPr>
          <a:xfrm>
            <a:off x="3888000" y="446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21   </a:t>
            </a:r>
            <a:pPr indent="0" marL="0">
              <a:buNone/>
            </a:pPr>
            <a:r>
              <a:rPr lang="en-US" sz="840" b="1" dirty="0">
                <a:solidFill>
                  <a:srgbClr val="46606E"/>
                </a:solidFill>
                <a:latin typeface="IBM Plex Sans" pitchFamily="34" charset="0"/>
                <a:ea typeface="IBM Plex Sans" pitchFamily="34" charset="-122"/>
                <a:cs typeface="IBM Plex Sans" pitchFamily="34" charset="-120"/>
              </a:rPr>
              <a:t>Domaine Trichon   </a:t>
            </a:r>
            <a:pPr indent="0" marL="0">
              <a:buNone/>
            </a:pPr>
            <a:r>
              <a:rPr lang="en-US" sz="700" dirty="0">
                <a:solidFill>
                  <a:srgbClr val="A8515F"/>
                </a:solidFill>
                <a:latin typeface="IBM Plex Sans" pitchFamily="34" charset="0"/>
                <a:ea typeface="IBM Plex Sans" pitchFamily="34" charset="-122"/>
                <a:cs typeface="IBM Plex Sans" pitchFamily="34" charset="-120"/>
              </a:rPr>
              <a:t>Rhône   </a:t>
            </a:r>
            <a:pPr indent="0" marL="0">
              <a:buNone/>
            </a:pPr>
            <a:r>
              <a:rPr lang="en-US" sz="700" dirty="0">
                <a:solidFill>
                  <a:srgbClr val="46606E"/>
                </a:solidFill>
                <a:latin typeface="IBM Plex Sans" pitchFamily="34" charset="0"/>
                <a:ea typeface="IBM Plex Sans" pitchFamily="34" charset="-122"/>
                <a:cs typeface="IBM Plex Sans" pitchFamily="34" charset="-120"/>
              </a:rPr>
              <a:t>3   </a:t>
            </a:r>
            <a:pPr indent="0" marL="0">
              <a:buNone/>
            </a:pPr>
            <a:r>
              <a:rPr lang="en-US" sz="840" b="1" dirty="0">
                <a:solidFill>
                  <a:srgbClr val="46606E"/>
                </a:solidFill>
                <a:latin typeface="IBM Plex Sans" pitchFamily="34" charset="0"/>
                <a:ea typeface="IBM Plex Sans" pitchFamily="34" charset="-122"/>
                <a:cs typeface="IBM Plex Sans" pitchFamily="34" charset="-120"/>
              </a:rPr>
              <a:t>36</a:t>
            </a:r>
            <a:endParaRPr lang="en-US" sz="840" dirty="0"/>
          </a:p>
        </p:txBody>
      </p:sp>
      <p:sp>
        <p:nvSpPr>
          <p:cNvPr id="36" name="Text 34"/>
          <p:cNvSpPr/>
          <p:nvPr/>
        </p:nvSpPr>
        <p:spPr>
          <a:xfrm>
            <a:off x="3888000" y="475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24   </a:t>
            </a:r>
            <a:pPr indent="0" marL="0">
              <a:buNone/>
            </a:pPr>
            <a:r>
              <a:rPr lang="en-US" sz="840" b="1" dirty="0">
                <a:solidFill>
                  <a:srgbClr val="46606E"/>
                </a:solidFill>
                <a:latin typeface="IBM Plex Sans" pitchFamily="34" charset="0"/>
                <a:ea typeface="IBM Plex Sans" pitchFamily="34" charset="-122"/>
                <a:cs typeface="IBM Plex Sans" pitchFamily="34" charset="-120"/>
              </a:rPr>
              <a:t>Fabien Castaing   </a:t>
            </a:r>
            <a:pPr indent="0" marL="0">
              <a:buNone/>
            </a:pPr>
            <a:r>
              <a:rPr lang="en-US" sz="700" dirty="0">
                <a:solidFill>
                  <a:srgbClr val="A8515F"/>
                </a:solidFill>
                <a:latin typeface="IBM Plex Sans" pitchFamily="34" charset="0"/>
                <a:ea typeface="IBM Plex Sans" pitchFamily="34" charset="-122"/>
                <a:cs typeface="IBM Plex Sans" pitchFamily="34" charset="-120"/>
              </a:rPr>
              <a:t>Sud-Ouest   </a:t>
            </a:r>
            <a:pPr indent="0" marL="0">
              <a:buNone/>
            </a:pPr>
            <a:r>
              <a:rPr lang="en-US" sz="700" dirty="0">
                <a:solidFill>
                  <a:srgbClr val="46606E"/>
                </a:solidFill>
                <a:latin typeface="IBM Plex Sans" pitchFamily="34" charset="0"/>
                <a:ea typeface="IBM Plex Sans" pitchFamily="34" charset="-122"/>
                <a:cs typeface="IBM Plex Sans" pitchFamily="34" charset="-120"/>
              </a:rPr>
              <a:t>13   </a:t>
            </a:r>
            <a:pPr indent="0" marL="0">
              <a:buNone/>
            </a:pPr>
            <a:r>
              <a:rPr lang="en-US" sz="840" b="1" dirty="0">
                <a:solidFill>
                  <a:srgbClr val="46606E"/>
                </a:solidFill>
                <a:latin typeface="IBM Plex Sans" pitchFamily="34" charset="0"/>
                <a:ea typeface="IBM Plex Sans" pitchFamily="34" charset="-122"/>
                <a:cs typeface="IBM Plex Sans" pitchFamily="34" charset="-120"/>
              </a:rPr>
              <a:t>41</a:t>
            </a:r>
            <a:endParaRPr lang="en-US" sz="840" dirty="0"/>
          </a:p>
        </p:txBody>
      </p:sp>
      <p:sp>
        <p:nvSpPr>
          <p:cNvPr id="37" name="Text 35"/>
          <p:cNvSpPr/>
          <p:nvPr/>
        </p:nvSpPr>
        <p:spPr>
          <a:xfrm>
            <a:off x="3888000" y="504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32   </a:t>
            </a:r>
            <a:pPr indent="0" marL="0">
              <a:buNone/>
            </a:pPr>
            <a:r>
              <a:rPr lang="en-US" sz="840" b="1" dirty="0">
                <a:solidFill>
                  <a:srgbClr val="46606E"/>
                </a:solidFill>
                <a:latin typeface="IBM Plex Sans" pitchFamily="34" charset="0"/>
                <a:ea typeface="IBM Plex Sans" pitchFamily="34" charset="-122"/>
                <a:cs typeface="IBM Plex Sans" pitchFamily="34" charset="-120"/>
              </a:rPr>
              <a:t>Famille d’Exea   </a:t>
            </a:r>
            <a:pPr indent="0" marL="0">
              <a:buNone/>
            </a:pPr>
            <a:r>
              <a:rPr lang="en-US" sz="700" dirty="0">
                <a:solidFill>
                  <a:srgbClr val="A8515F"/>
                </a:solidFill>
                <a:latin typeface="IBM Plex Sans" pitchFamily="34" charset="0"/>
                <a:ea typeface="IBM Plex Sans" pitchFamily="34" charset="-122"/>
                <a:cs typeface="IBM Plex Sans" pitchFamily="34" charset="-120"/>
              </a:rPr>
              <a:t>Languedoc   </a:t>
            </a:r>
            <a:pPr indent="0" marL="0">
              <a:buNone/>
            </a:pPr>
            <a:r>
              <a:rPr lang="en-US" sz="700" dirty="0">
                <a:solidFill>
                  <a:srgbClr val="46606E"/>
                </a:solidFill>
                <a:latin typeface="IBM Plex Sans" pitchFamily="34" charset="0"/>
                <a:ea typeface="IBM Plex Sans" pitchFamily="34" charset="-122"/>
                <a:cs typeface="IBM Plex Sans" pitchFamily="34" charset="-120"/>
              </a:rPr>
              <a:t>21   </a:t>
            </a:r>
            <a:pPr indent="0" marL="0">
              <a:buNone/>
            </a:pPr>
            <a:r>
              <a:rPr lang="en-US" sz="840" b="1" dirty="0">
                <a:solidFill>
                  <a:srgbClr val="46606E"/>
                </a:solidFill>
                <a:latin typeface="IBM Plex Sans" pitchFamily="34" charset="0"/>
                <a:ea typeface="IBM Plex Sans" pitchFamily="34" charset="-122"/>
                <a:cs typeface="IBM Plex Sans" pitchFamily="34" charset="-120"/>
              </a:rPr>
              <a:t>56</a:t>
            </a:r>
            <a:endParaRPr lang="en-US" sz="840" dirty="0"/>
          </a:p>
        </p:txBody>
      </p:sp>
      <p:sp>
        <p:nvSpPr>
          <p:cNvPr id="38" name="Text 36"/>
          <p:cNvSpPr/>
          <p:nvPr/>
        </p:nvSpPr>
        <p:spPr>
          <a:xfrm>
            <a:off x="3888000" y="532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33   </a:t>
            </a:r>
            <a:pPr indent="0" marL="0">
              <a:buNone/>
            </a:pPr>
            <a:r>
              <a:rPr lang="en-US" sz="840" b="1" dirty="0">
                <a:solidFill>
                  <a:srgbClr val="46606E"/>
                </a:solidFill>
                <a:latin typeface="IBM Plex Sans" pitchFamily="34" charset="0"/>
                <a:ea typeface="IBM Plex Sans" pitchFamily="34" charset="-122"/>
                <a:cs typeface="IBM Plex Sans" pitchFamily="34" charset="-120"/>
              </a:rPr>
              <a:t>Famille d’Exea — Jus de Cépages   </a:t>
            </a:r>
            <a:pPr indent="0" marL="0">
              <a:buNone/>
            </a:pPr>
            <a:r>
              <a:rPr lang="en-US" sz="700" dirty="0">
                <a:solidFill>
                  <a:srgbClr val="A8515F"/>
                </a:solidFill>
                <a:latin typeface="IBM Plex Sans" pitchFamily="34" charset="0"/>
                <a:ea typeface="IBM Plex Sans" pitchFamily="34" charset="-122"/>
                <a:cs typeface="IBM Plex Sans" pitchFamily="34" charset="-120"/>
              </a:rPr>
              <a:t>Languedoc   </a:t>
            </a:r>
            <a:pPr indent="0" marL="0">
              <a:buNone/>
            </a:pPr>
            <a:r>
              <a:rPr lang="en-US" sz="700" dirty="0">
                <a:solidFill>
                  <a:srgbClr val="46606E"/>
                </a:solidFill>
                <a:latin typeface="IBM Plex Sans" pitchFamily="34" charset="0"/>
                <a:ea typeface="IBM Plex Sans" pitchFamily="34" charset="-122"/>
                <a:cs typeface="IBM Plex Sans" pitchFamily="34" charset="-120"/>
              </a:rPr>
              <a:t>8   </a:t>
            </a:r>
            <a:pPr indent="0" marL="0">
              <a:buNone/>
            </a:pPr>
            <a:r>
              <a:rPr lang="en-US" sz="840" b="1" dirty="0">
                <a:solidFill>
                  <a:srgbClr val="46606E"/>
                </a:solidFill>
                <a:latin typeface="IBM Plex Sans" pitchFamily="34" charset="0"/>
                <a:ea typeface="IBM Plex Sans" pitchFamily="34" charset="-122"/>
                <a:cs typeface="IBM Plex Sans" pitchFamily="34" charset="-120"/>
              </a:rPr>
              <a:t>58</a:t>
            </a:r>
            <a:endParaRPr lang="en-US" sz="840" dirty="0"/>
          </a:p>
        </p:txBody>
      </p:sp>
      <p:sp>
        <p:nvSpPr>
          <p:cNvPr id="39" name="Text 37"/>
          <p:cNvSpPr/>
          <p:nvPr/>
        </p:nvSpPr>
        <p:spPr>
          <a:xfrm>
            <a:off x="3888000" y="561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   </a:t>
            </a:r>
            <a:pPr indent="0" marL="0">
              <a:buNone/>
            </a:pPr>
            <a:r>
              <a:rPr lang="en-US" sz="840" b="1" dirty="0">
                <a:solidFill>
                  <a:srgbClr val="46606E"/>
                </a:solidFill>
                <a:latin typeface="IBM Plex Sans" pitchFamily="34" charset="0"/>
                <a:ea typeface="IBM Plex Sans" pitchFamily="34" charset="-122"/>
                <a:cs typeface="IBM Plex Sans" pitchFamily="34" charset="-120"/>
              </a:rPr>
              <a:t>François Reverdy   </a:t>
            </a:r>
            <a:pPr indent="0" marL="0">
              <a:buNone/>
            </a:pPr>
            <a:r>
              <a:rPr lang="en-US" sz="700" dirty="0">
                <a:solidFill>
                  <a:srgbClr val="A8515F"/>
                </a:solidFill>
                <a:latin typeface="IBM Plex Sans" pitchFamily="34" charset="0"/>
                <a:ea typeface="IBM Plex Sans" pitchFamily="34" charset="-122"/>
                <a:cs typeface="IBM Plex Sans" pitchFamily="34" charset="-120"/>
              </a:rPr>
              <a:t>Loire   </a:t>
            </a:r>
            <a:pPr indent="0" marL="0">
              <a:buNone/>
            </a:pPr>
            <a:r>
              <a:rPr lang="en-US" sz="700" dirty="0">
                <a:solidFill>
                  <a:srgbClr val="46606E"/>
                </a:solidFill>
                <a:latin typeface="IBM Plex Sans" pitchFamily="34" charset="0"/>
                <a:ea typeface="IBM Plex Sans" pitchFamily="34" charset="-122"/>
                <a:cs typeface="IBM Plex Sans" pitchFamily="34" charset="-120"/>
              </a:rPr>
              <a:t>8   </a:t>
            </a:r>
            <a:pPr indent="0" marL="0">
              <a:buNone/>
            </a:pPr>
            <a:r>
              <a:rPr lang="en-US" sz="840" b="1" dirty="0">
                <a:solidFill>
                  <a:srgbClr val="46606E"/>
                </a:solidFill>
                <a:latin typeface="IBM Plex Sans" pitchFamily="34" charset="0"/>
                <a:ea typeface="IBM Plex Sans" pitchFamily="34" charset="-122"/>
                <a:cs typeface="IBM Plex Sans" pitchFamily="34" charset="-120"/>
              </a:rPr>
              <a:t>7</a:t>
            </a:r>
            <a:endParaRPr lang="en-US" sz="840" dirty="0"/>
          </a:p>
        </p:txBody>
      </p:sp>
      <p:sp>
        <p:nvSpPr>
          <p:cNvPr id="40" name="Text 38"/>
          <p:cNvSpPr/>
          <p:nvPr/>
        </p:nvSpPr>
        <p:spPr>
          <a:xfrm>
            <a:off x="3888000" y="590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25   </a:t>
            </a:r>
            <a:pPr indent="0" marL="0">
              <a:buNone/>
            </a:pPr>
            <a:r>
              <a:rPr lang="en-US" sz="840" b="1" dirty="0">
                <a:solidFill>
                  <a:srgbClr val="46606E"/>
                </a:solidFill>
                <a:latin typeface="IBM Plex Sans" pitchFamily="34" charset="0"/>
                <a:ea typeface="IBM Plex Sans" pitchFamily="34" charset="-122"/>
                <a:cs typeface="IBM Plex Sans" pitchFamily="34" charset="-120"/>
              </a:rPr>
              <a:t>La Passion des Terroirs   </a:t>
            </a:r>
            <a:pPr indent="0" marL="0">
              <a:buNone/>
            </a:pPr>
            <a:r>
              <a:rPr lang="en-US" sz="700" dirty="0">
                <a:solidFill>
                  <a:srgbClr val="A8515F"/>
                </a:solidFill>
                <a:latin typeface="IBM Plex Sans" pitchFamily="34" charset="0"/>
                <a:ea typeface="IBM Plex Sans" pitchFamily="34" charset="-122"/>
                <a:cs typeface="IBM Plex Sans" pitchFamily="34" charset="-120"/>
              </a:rPr>
              <a:t>Bordeaux   </a:t>
            </a:r>
            <a:pPr indent="0" marL="0">
              <a:buNone/>
            </a:pPr>
            <a:r>
              <a:rPr lang="en-US" sz="700" dirty="0">
                <a:solidFill>
                  <a:srgbClr val="46606E"/>
                </a:solidFill>
                <a:latin typeface="IBM Plex Sans" pitchFamily="34" charset="0"/>
                <a:ea typeface="IBM Plex Sans" pitchFamily="34" charset="-122"/>
                <a:cs typeface="IBM Plex Sans" pitchFamily="34" charset="-120"/>
              </a:rPr>
              <a:t>31   </a:t>
            </a:r>
            <a:pPr indent="0" marL="0">
              <a:buNone/>
            </a:pPr>
            <a:r>
              <a:rPr lang="en-US" sz="840" b="1" dirty="0">
                <a:solidFill>
                  <a:srgbClr val="46606E"/>
                </a:solidFill>
                <a:latin typeface="IBM Plex Sans" pitchFamily="34" charset="0"/>
                <a:ea typeface="IBM Plex Sans" pitchFamily="34" charset="-122"/>
                <a:cs typeface="IBM Plex Sans" pitchFamily="34" charset="-120"/>
              </a:rPr>
              <a:t>44</a:t>
            </a:r>
            <a:endParaRPr lang="en-US" sz="840" dirty="0"/>
          </a:p>
        </p:txBody>
      </p:sp>
      <p:sp>
        <p:nvSpPr>
          <p:cNvPr id="41" name="Text 39"/>
          <p:cNvSpPr/>
          <p:nvPr/>
        </p:nvSpPr>
        <p:spPr>
          <a:xfrm>
            <a:off x="3888000" y="619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12   </a:t>
            </a:r>
            <a:pPr indent="0" marL="0">
              <a:buNone/>
            </a:pPr>
            <a:r>
              <a:rPr lang="en-US" sz="840" b="1" dirty="0">
                <a:solidFill>
                  <a:srgbClr val="46606E"/>
                </a:solidFill>
                <a:latin typeface="IBM Plex Sans" pitchFamily="34" charset="0"/>
                <a:ea typeface="IBM Plex Sans" pitchFamily="34" charset="-122"/>
                <a:cs typeface="IBM Plex Sans" pitchFamily="34" charset="-120"/>
              </a:rPr>
              <a:t>Maison et Domaine André Goichot   </a:t>
            </a:r>
            <a:pPr indent="0" marL="0">
              <a:buNone/>
            </a:pPr>
            <a:r>
              <a:rPr lang="en-US" sz="700" dirty="0">
                <a:solidFill>
                  <a:srgbClr val="A8515F"/>
                </a:solidFill>
                <a:latin typeface="IBM Plex Sans" pitchFamily="34" charset="0"/>
                <a:ea typeface="IBM Plex Sans" pitchFamily="34" charset="-122"/>
                <a:cs typeface="IBM Plex Sans" pitchFamily="34" charset="-120"/>
              </a:rPr>
              <a:t>Bourgogne   </a:t>
            </a:r>
            <a:pPr indent="0" marL="0">
              <a:buNone/>
            </a:pPr>
            <a:r>
              <a:rPr lang="en-US" sz="700" dirty="0">
                <a:solidFill>
                  <a:srgbClr val="46606E"/>
                </a:solidFill>
                <a:latin typeface="IBM Plex Sans" pitchFamily="34" charset="0"/>
                <a:ea typeface="IBM Plex Sans" pitchFamily="34" charset="-122"/>
                <a:cs typeface="IBM Plex Sans" pitchFamily="34" charset="-120"/>
              </a:rPr>
              <a:t>23   </a:t>
            </a:r>
            <a:pPr indent="0" marL="0">
              <a:buNone/>
            </a:pPr>
            <a:r>
              <a:rPr lang="en-US" sz="840" b="1" dirty="0">
                <a:solidFill>
                  <a:srgbClr val="46606E"/>
                </a:solidFill>
                <a:latin typeface="IBM Plex Sans" pitchFamily="34" charset="0"/>
                <a:ea typeface="IBM Plex Sans" pitchFamily="34" charset="-122"/>
                <a:cs typeface="IBM Plex Sans" pitchFamily="34" charset="-120"/>
              </a:rPr>
              <a:t>25</a:t>
            </a:r>
            <a:endParaRPr lang="en-US" sz="840" dirty="0"/>
          </a:p>
        </p:txBody>
      </p:sp>
      <p:sp>
        <p:nvSpPr>
          <p:cNvPr id="42" name="Text 40"/>
          <p:cNvSpPr/>
          <p:nvPr/>
        </p:nvSpPr>
        <p:spPr>
          <a:xfrm>
            <a:off x="3888000" y="648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36   </a:t>
            </a:r>
            <a:pPr indent="0" marL="0">
              <a:buNone/>
            </a:pPr>
            <a:r>
              <a:rPr lang="en-US" sz="840" b="1" dirty="0">
                <a:solidFill>
                  <a:srgbClr val="46606E"/>
                </a:solidFill>
                <a:latin typeface="IBM Plex Sans" pitchFamily="34" charset="0"/>
                <a:ea typeface="IBM Plex Sans" pitchFamily="34" charset="-122"/>
                <a:cs typeface="IBM Plex Sans" pitchFamily="34" charset="-120"/>
              </a:rPr>
              <a:t>Prieuré Sainte-Marie d’Albas   </a:t>
            </a:r>
            <a:pPr indent="0" marL="0">
              <a:buNone/>
            </a:pPr>
            <a:r>
              <a:rPr lang="en-US" sz="700" dirty="0">
                <a:solidFill>
                  <a:srgbClr val="A8515F"/>
                </a:solidFill>
                <a:latin typeface="IBM Plex Sans" pitchFamily="34" charset="0"/>
                <a:ea typeface="IBM Plex Sans" pitchFamily="34" charset="-122"/>
                <a:cs typeface="IBM Plex Sans" pitchFamily="34" charset="-120"/>
              </a:rPr>
              <a:t>Languedoc   </a:t>
            </a:r>
            <a:pPr indent="0" marL="0">
              <a:buNone/>
            </a:pPr>
            <a:r>
              <a:rPr lang="en-US" sz="700" dirty="0">
                <a:solidFill>
                  <a:srgbClr val="46606E"/>
                </a:solidFill>
                <a:latin typeface="IBM Plex Sans" pitchFamily="34" charset="0"/>
                <a:ea typeface="IBM Plex Sans" pitchFamily="34" charset="-122"/>
                <a:cs typeface="IBM Plex Sans" pitchFamily="34" charset="-120"/>
              </a:rPr>
              <a:t>13   </a:t>
            </a:r>
            <a:pPr indent="0" marL="0">
              <a:buNone/>
            </a:pPr>
            <a:r>
              <a:rPr lang="en-US" sz="840" b="1" dirty="0">
                <a:solidFill>
                  <a:srgbClr val="46606E"/>
                </a:solidFill>
                <a:latin typeface="IBM Plex Sans" pitchFamily="34" charset="0"/>
                <a:ea typeface="IBM Plex Sans" pitchFamily="34" charset="-122"/>
                <a:cs typeface="IBM Plex Sans" pitchFamily="34" charset="-120"/>
              </a:rPr>
              <a:t>61</a:t>
            </a:r>
            <a:endParaRPr lang="en-US" sz="840" dirty="0"/>
          </a:p>
        </p:txBody>
      </p:sp>
      <p:sp>
        <p:nvSpPr>
          <p:cNvPr id="43" name="Text 41"/>
          <p:cNvSpPr/>
          <p:nvPr/>
        </p:nvSpPr>
        <p:spPr>
          <a:xfrm>
            <a:off x="3888000" y="676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40   </a:t>
            </a:r>
            <a:pPr indent="0" marL="0">
              <a:buNone/>
            </a:pPr>
            <a:r>
              <a:rPr lang="en-US" sz="840" b="1" dirty="0">
                <a:solidFill>
                  <a:srgbClr val="46606E"/>
                </a:solidFill>
                <a:latin typeface="IBM Plex Sans" pitchFamily="34" charset="0"/>
                <a:ea typeface="IBM Plex Sans" pitchFamily="34" charset="-122"/>
                <a:cs typeface="IBM Plex Sans" pitchFamily="34" charset="-120"/>
              </a:rPr>
              <a:t>Vazart-Coquart &amp; Fils   </a:t>
            </a:r>
            <a:pPr indent="0" marL="0">
              <a:buNone/>
            </a:pPr>
            <a:r>
              <a:rPr lang="en-US" sz="700" dirty="0">
                <a:solidFill>
                  <a:srgbClr val="A8515F"/>
                </a:solidFill>
                <a:latin typeface="IBM Plex Sans" pitchFamily="34" charset="0"/>
                <a:ea typeface="IBM Plex Sans" pitchFamily="34" charset="-122"/>
                <a:cs typeface="IBM Plex Sans" pitchFamily="34" charset="-120"/>
              </a:rPr>
              <a:t>Champagne   </a:t>
            </a:r>
            <a:pPr indent="0" marL="0">
              <a:buNone/>
            </a:pPr>
            <a:r>
              <a:rPr lang="en-US" sz="700" dirty="0">
                <a:solidFill>
                  <a:srgbClr val="46606E"/>
                </a:solidFill>
                <a:latin typeface="IBM Plex Sans" pitchFamily="34" charset="0"/>
                <a:ea typeface="IBM Plex Sans" pitchFamily="34" charset="-122"/>
                <a:cs typeface="IBM Plex Sans" pitchFamily="34" charset="-120"/>
              </a:rPr>
              <a:t>6   </a:t>
            </a:r>
            <a:pPr indent="0" marL="0">
              <a:buNone/>
            </a:pPr>
            <a:r>
              <a:rPr lang="en-US" sz="840" b="1" dirty="0">
                <a:solidFill>
                  <a:srgbClr val="46606E"/>
                </a:solidFill>
                <a:latin typeface="IBM Plex Sans" pitchFamily="34" charset="0"/>
                <a:ea typeface="IBM Plex Sans" pitchFamily="34" charset="-122"/>
                <a:cs typeface="IBM Plex Sans" pitchFamily="34" charset="-120"/>
              </a:rPr>
              <a:t>67</a:t>
            </a:r>
            <a:endParaRPr lang="en-US" sz="840" dirty="0"/>
          </a:p>
        </p:txBody>
      </p:sp>
      <p:sp>
        <p:nvSpPr>
          <p:cNvPr id="44" name="Text 42"/>
          <p:cNvSpPr/>
          <p:nvPr/>
        </p:nvSpPr>
        <p:spPr>
          <a:xfrm>
            <a:off x="828000" y="8604000"/>
            <a:ext cx="6120000" cy="180000"/>
          </a:xfrm>
          <a:prstGeom prst="rect">
            <a:avLst/>
          </a:prstGeom>
          <a:noFill/>
          <a:ln/>
        </p:spPr>
        <p:txBody>
          <a:bodyPr wrap="square" lIns="0" tIns="0" rIns="0" bIns="0" rtlCol="0" anchor="ctr"/>
          <a:lstStyle/>
          <a:p>
            <a:pPr indent="0" marL="0">
              <a:buNone/>
            </a:pPr>
            <a:r>
              <a:rPr lang="en-US" sz="800" dirty="0">
                <a:solidFill>
                  <a:srgbClr val="46606E"/>
                </a:solidFill>
                <a:latin typeface="Spectral" pitchFamily="34" charset="0"/>
                <a:ea typeface="Spectral" pitchFamily="34" charset="-122"/>
                <a:cs typeface="Spectral" pitchFamily="34" charset="-120"/>
              </a:rPr>
              <a:t>Le chiffre avant la page est le nombre de références au tarif.</a:t>
            </a:r>
            <a:endParaRPr lang="en-US" sz="800" dirty="0"/>
          </a:p>
        </p:txBody>
      </p:sp>
      <p:sp>
        <p:nvSpPr>
          <p:cNvPr id="45" name="Text 4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72</a:t>
            </a:r>
            <a:endParaRPr lang="en-US" sz="750" dirty="0"/>
          </a:p>
        </p:txBody>
      </p:sp>
      <p:sp>
        <p:nvSpPr>
          <p:cNvPr id="46" name="Text 4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324000"/>
          </a:xfrm>
          <a:prstGeom prst="rect">
            <a:avLst/>
          </a:prstGeom>
          <a:noFill/>
          <a:ln/>
        </p:spPr>
        <p:txBody>
          <a:bodyPr wrap="square" lIns="0" tIns="0" rIns="0" bIns="0" rtlCol="0" anchor="b"/>
          <a:lstStyle/>
          <a:p>
            <a:pPr indent="0" marL="0">
              <a:buNone/>
            </a:pPr>
            <a:r>
              <a:rPr lang="en-US" sz="2000" dirty="0">
                <a:solidFill>
                  <a:srgbClr val="67067C"/>
                </a:solidFill>
                <a:latin typeface="Young Serif" pitchFamily="34" charset="0"/>
                <a:ea typeface="Young Serif" pitchFamily="34" charset="-122"/>
                <a:cs typeface="Young Serif" pitchFamily="34" charset="-120"/>
              </a:rPr>
              <a:t>Vos notes</a:t>
            </a:r>
            <a:endParaRPr lang="en-US" sz="2000" dirty="0"/>
          </a:p>
        </p:txBody>
      </p:sp>
      <p:sp>
        <p:nvSpPr>
          <p:cNvPr id="3" name="Text 1"/>
          <p:cNvSpPr/>
          <p:nvPr/>
        </p:nvSpPr>
        <p:spPr>
          <a:xfrm>
            <a:off x="612000" y="882000"/>
            <a:ext cx="6120000" cy="180000"/>
          </a:xfrm>
          <a:prstGeom prst="rect">
            <a:avLst/>
          </a:prstGeom>
          <a:noFill/>
          <a:ln/>
        </p:spPr>
        <p:txBody>
          <a:bodyPr wrap="square" lIns="0" tIns="0" rIns="0" bIns="0" rtlCol="0" anchor="ctr"/>
          <a:lstStyle/>
          <a:p>
            <a:pPr indent="0" marL="0">
              <a:buNone/>
            </a:pPr>
            <a:r>
              <a:rPr lang="en-US" sz="750" b="1" spc="30" kern="0" dirty="0">
                <a:solidFill>
                  <a:srgbClr val="A8515F"/>
                </a:solidFill>
                <a:latin typeface="IBM Plex Sans" pitchFamily="34" charset="0"/>
                <a:ea typeface="IBM Plex Sans" pitchFamily="34" charset="-122"/>
                <a:cs typeface="IBM Plex Sans" pitchFamily="34" charset="-120"/>
              </a:rPr>
              <a:t>QUANTITÉS, PALIERS, DATES DE LIVRAISON</a:t>
            </a:r>
            <a:endParaRPr lang="en-US" sz="750" dirty="0"/>
          </a:p>
        </p:txBody>
      </p:sp>
      <p:sp>
        <p:nvSpPr>
          <p:cNvPr id="4" name="Shape 2"/>
          <p:cNvSpPr/>
          <p:nvPr/>
        </p:nvSpPr>
        <p:spPr>
          <a:xfrm>
            <a:off x="612000" y="1440000"/>
            <a:ext cx="6120000" cy="0"/>
          </a:xfrm>
          <a:prstGeom prst="line">
            <a:avLst/>
          </a:prstGeom>
          <a:noFill/>
          <a:ln w="7620">
            <a:solidFill>
              <a:srgbClr val="B4C2C9"/>
            </a:solidFill>
            <a:prstDash val="solid"/>
          </a:ln>
        </p:spPr>
      </p:sp>
      <p:sp>
        <p:nvSpPr>
          <p:cNvPr id="5" name="Shape 3"/>
          <p:cNvSpPr/>
          <p:nvPr/>
        </p:nvSpPr>
        <p:spPr>
          <a:xfrm>
            <a:off x="612000" y="1746000"/>
            <a:ext cx="6120000" cy="0"/>
          </a:xfrm>
          <a:prstGeom prst="line">
            <a:avLst/>
          </a:prstGeom>
          <a:noFill/>
          <a:ln w="7620">
            <a:solidFill>
              <a:srgbClr val="B4C2C9"/>
            </a:solidFill>
            <a:prstDash val="solid"/>
          </a:ln>
        </p:spPr>
      </p:sp>
      <p:sp>
        <p:nvSpPr>
          <p:cNvPr id="6" name="Shape 4"/>
          <p:cNvSpPr/>
          <p:nvPr/>
        </p:nvSpPr>
        <p:spPr>
          <a:xfrm>
            <a:off x="612000" y="2052000"/>
            <a:ext cx="6120000" cy="0"/>
          </a:xfrm>
          <a:prstGeom prst="line">
            <a:avLst/>
          </a:prstGeom>
          <a:noFill/>
          <a:ln w="7620">
            <a:solidFill>
              <a:srgbClr val="B4C2C9"/>
            </a:solidFill>
            <a:prstDash val="solid"/>
          </a:ln>
        </p:spPr>
      </p:sp>
      <p:sp>
        <p:nvSpPr>
          <p:cNvPr id="7" name="Shape 5"/>
          <p:cNvSpPr/>
          <p:nvPr/>
        </p:nvSpPr>
        <p:spPr>
          <a:xfrm>
            <a:off x="612000" y="2358000"/>
            <a:ext cx="6120000" cy="0"/>
          </a:xfrm>
          <a:prstGeom prst="line">
            <a:avLst/>
          </a:prstGeom>
          <a:noFill/>
          <a:ln w="7620">
            <a:solidFill>
              <a:srgbClr val="B4C2C9"/>
            </a:solidFill>
            <a:prstDash val="solid"/>
          </a:ln>
        </p:spPr>
      </p:sp>
      <p:sp>
        <p:nvSpPr>
          <p:cNvPr id="8" name="Shape 6"/>
          <p:cNvSpPr/>
          <p:nvPr/>
        </p:nvSpPr>
        <p:spPr>
          <a:xfrm>
            <a:off x="612000" y="2664000"/>
            <a:ext cx="6120000" cy="0"/>
          </a:xfrm>
          <a:prstGeom prst="line">
            <a:avLst/>
          </a:prstGeom>
          <a:noFill/>
          <a:ln w="7620">
            <a:solidFill>
              <a:srgbClr val="B4C2C9"/>
            </a:solidFill>
            <a:prstDash val="solid"/>
          </a:ln>
        </p:spPr>
      </p:sp>
      <p:sp>
        <p:nvSpPr>
          <p:cNvPr id="9" name="Shape 7"/>
          <p:cNvSpPr/>
          <p:nvPr/>
        </p:nvSpPr>
        <p:spPr>
          <a:xfrm>
            <a:off x="612000" y="2970000"/>
            <a:ext cx="6120000" cy="0"/>
          </a:xfrm>
          <a:prstGeom prst="line">
            <a:avLst/>
          </a:prstGeom>
          <a:noFill/>
          <a:ln w="7620">
            <a:solidFill>
              <a:srgbClr val="B4C2C9"/>
            </a:solidFill>
            <a:prstDash val="solid"/>
          </a:ln>
        </p:spPr>
      </p:sp>
      <p:sp>
        <p:nvSpPr>
          <p:cNvPr id="10" name="Shape 8"/>
          <p:cNvSpPr/>
          <p:nvPr/>
        </p:nvSpPr>
        <p:spPr>
          <a:xfrm>
            <a:off x="612000" y="3276000"/>
            <a:ext cx="6120000" cy="0"/>
          </a:xfrm>
          <a:prstGeom prst="line">
            <a:avLst/>
          </a:prstGeom>
          <a:noFill/>
          <a:ln w="7620">
            <a:solidFill>
              <a:srgbClr val="B4C2C9"/>
            </a:solidFill>
            <a:prstDash val="solid"/>
          </a:ln>
        </p:spPr>
      </p:sp>
      <p:sp>
        <p:nvSpPr>
          <p:cNvPr id="11" name="Shape 9"/>
          <p:cNvSpPr/>
          <p:nvPr/>
        </p:nvSpPr>
        <p:spPr>
          <a:xfrm>
            <a:off x="612000" y="3582000"/>
            <a:ext cx="6120000" cy="0"/>
          </a:xfrm>
          <a:prstGeom prst="line">
            <a:avLst/>
          </a:prstGeom>
          <a:noFill/>
          <a:ln w="7620">
            <a:solidFill>
              <a:srgbClr val="B4C2C9"/>
            </a:solidFill>
            <a:prstDash val="solid"/>
          </a:ln>
        </p:spPr>
      </p:sp>
      <p:sp>
        <p:nvSpPr>
          <p:cNvPr id="12" name="Shape 10"/>
          <p:cNvSpPr/>
          <p:nvPr/>
        </p:nvSpPr>
        <p:spPr>
          <a:xfrm>
            <a:off x="612000" y="3888000"/>
            <a:ext cx="6120000" cy="0"/>
          </a:xfrm>
          <a:prstGeom prst="line">
            <a:avLst/>
          </a:prstGeom>
          <a:noFill/>
          <a:ln w="7620">
            <a:solidFill>
              <a:srgbClr val="B4C2C9"/>
            </a:solidFill>
            <a:prstDash val="solid"/>
          </a:ln>
        </p:spPr>
      </p:sp>
      <p:sp>
        <p:nvSpPr>
          <p:cNvPr id="13" name="Shape 11"/>
          <p:cNvSpPr/>
          <p:nvPr/>
        </p:nvSpPr>
        <p:spPr>
          <a:xfrm>
            <a:off x="612000" y="4194000"/>
            <a:ext cx="6120000" cy="0"/>
          </a:xfrm>
          <a:prstGeom prst="line">
            <a:avLst/>
          </a:prstGeom>
          <a:noFill/>
          <a:ln w="7620">
            <a:solidFill>
              <a:srgbClr val="B4C2C9"/>
            </a:solidFill>
            <a:prstDash val="solid"/>
          </a:ln>
        </p:spPr>
      </p:sp>
      <p:sp>
        <p:nvSpPr>
          <p:cNvPr id="14" name="Shape 12"/>
          <p:cNvSpPr/>
          <p:nvPr/>
        </p:nvSpPr>
        <p:spPr>
          <a:xfrm>
            <a:off x="612000" y="4500000"/>
            <a:ext cx="6120000" cy="0"/>
          </a:xfrm>
          <a:prstGeom prst="line">
            <a:avLst/>
          </a:prstGeom>
          <a:noFill/>
          <a:ln w="7620">
            <a:solidFill>
              <a:srgbClr val="B4C2C9"/>
            </a:solidFill>
            <a:prstDash val="solid"/>
          </a:ln>
        </p:spPr>
      </p:sp>
      <p:sp>
        <p:nvSpPr>
          <p:cNvPr id="15" name="Shape 13"/>
          <p:cNvSpPr/>
          <p:nvPr/>
        </p:nvSpPr>
        <p:spPr>
          <a:xfrm>
            <a:off x="612000" y="4806000"/>
            <a:ext cx="6120000" cy="0"/>
          </a:xfrm>
          <a:prstGeom prst="line">
            <a:avLst/>
          </a:prstGeom>
          <a:noFill/>
          <a:ln w="7620">
            <a:solidFill>
              <a:srgbClr val="B4C2C9"/>
            </a:solidFill>
            <a:prstDash val="solid"/>
          </a:ln>
        </p:spPr>
      </p:sp>
      <p:sp>
        <p:nvSpPr>
          <p:cNvPr id="16" name="Shape 14"/>
          <p:cNvSpPr/>
          <p:nvPr/>
        </p:nvSpPr>
        <p:spPr>
          <a:xfrm>
            <a:off x="612000" y="5112000"/>
            <a:ext cx="6120000" cy="0"/>
          </a:xfrm>
          <a:prstGeom prst="line">
            <a:avLst/>
          </a:prstGeom>
          <a:noFill/>
          <a:ln w="7620">
            <a:solidFill>
              <a:srgbClr val="B4C2C9"/>
            </a:solidFill>
            <a:prstDash val="solid"/>
          </a:ln>
        </p:spPr>
      </p:sp>
      <p:sp>
        <p:nvSpPr>
          <p:cNvPr id="17" name="Shape 15"/>
          <p:cNvSpPr/>
          <p:nvPr/>
        </p:nvSpPr>
        <p:spPr>
          <a:xfrm>
            <a:off x="612000" y="5418000"/>
            <a:ext cx="6120000" cy="0"/>
          </a:xfrm>
          <a:prstGeom prst="line">
            <a:avLst/>
          </a:prstGeom>
          <a:noFill/>
          <a:ln w="7620">
            <a:solidFill>
              <a:srgbClr val="B4C2C9"/>
            </a:solidFill>
            <a:prstDash val="solid"/>
          </a:ln>
        </p:spPr>
      </p:sp>
      <p:sp>
        <p:nvSpPr>
          <p:cNvPr id="18" name="Shape 16"/>
          <p:cNvSpPr/>
          <p:nvPr/>
        </p:nvSpPr>
        <p:spPr>
          <a:xfrm>
            <a:off x="612000" y="5724000"/>
            <a:ext cx="6120000" cy="0"/>
          </a:xfrm>
          <a:prstGeom prst="line">
            <a:avLst/>
          </a:prstGeom>
          <a:noFill/>
          <a:ln w="7620">
            <a:solidFill>
              <a:srgbClr val="B4C2C9"/>
            </a:solidFill>
            <a:prstDash val="solid"/>
          </a:ln>
        </p:spPr>
      </p:sp>
      <p:sp>
        <p:nvSpPr>
          <p:cNvPr id="19" name="Shape 17"/>
          <p:cNvSpPr/>
          <p:nvPr/>
        </p:nvSpPr>
        <p:spPr>
          <a:xfrm>
            <a:off x="612000" y="6030000"/>
            <a:ext cx="6120000" cy="0"/>
          </a:xfrm>
          <a:prstGeom prst="line">
            <a:avLst/>
          </a:prstGeom>
          <a:noFill/>
          <a:ln w="7620">
            <a:solidFill>
              <a:srgbClr val="B4C2C9"/>
            </a:solidFill>
            <a:prstDash val="solid"/>
          </a:ln>
        </p:spPr>
      </p:sp>
      <p:sp>
        <p:nvSpPr>
          <p:cNvPr id="20" name="Shape 18"/>
          <p:cNvSpPr/>
          <p:nvPr/>
        </p:nvSpPr>
        <p:spPr>
          <a:xfrm>
            <a:off x="612000" y="6336000"/>
            <a:ext cx="6120000" cy="0"/>
          </a:xfrm>
          <a:prstGeom prst="line">
            <a:avLst/>
          </a:prstGeom>
          <a:noFill/>
          <a:ln w="7620">
            <a:solidFill>
              <a:srgbClr val="B4C2C9"/>
            </a:solidFill>
            <a:prstDash val="solid"/>
          </a:ln>
        </p:spPr>
      </p:sp>
      <p:sp>
        <p:nvSpPr>
          <p:cNvPr id="21" name="Shape 19"/>
          <p:cNvSpPr/>
          <p:nvPr/>
        </p:nvSpPr>
        <p:spPr>
          <a:xfrm>
            <a:off x="612000" y="6642000"/>
            <a:ext cx="6120000" cy="0"/>
          </a:xfrm>
          <a:prstGeom prst="line">
            <a:avLst/>
          </a:prstGeom>
          <a:noFill/>
          <a:ln w="7620">
            <a:solidFill>
              <a:srgbClr val="B4C2C9"/>
            </a:solidFill>
            <a:prstDash val="solid"/>
          </a:ln>
        </p:spPr>
      </p:sp>
      <p:sp>
        <p:nvSpPr>
          <p:cNvPr id="22" name="Shape 20"/>
          <p:cNvSpPr/>
          <p:nvPr/>
        </p:nvSpPr>
        <p:spPr>
          <a:xfrm>
            <a:off x="612000" y="6948000"/>
            <a:ext cx="6120000" cy="0"/>
          </a:xfrm>
          <a:prstGeom prst="line">
            <a:avLst/>
          </a:prstGeom>
          <a:noFill/>
          <a:ln w="7620">
            <a:solidFill>
              <a:srgbClr val="B4C2C9"/>
            </a:solidFill>
            <a:prstDash val="solid"/>
          </a:ln>
        </p:spPr>
      </p:sp>
      <p:sp>
        <p:nvSpPr>
          <p:cNvPr id="23" name="Shape 21"/>
          <p:cNvSpPr/>
          <p:nvPr/>
        </p:nvSpPr>
        <p:spPr>
          <a:xfrm>
            <a:off x="612000" y="7254000"/>
            <a:ext cx="6120000" cy="0"/>
          </a:xfrm>
          <a:prstGeom prst="line">
            <a:avLst/>
          </a:prstGeom>
          <a:noFill/>
          <a:ln w="7620">
            <a:solidFill>
              <a:srgbClr val="B4C2C9"/>
            </a:solidFill>
            <a:prstDash val="solid"/>
          </a:ln>
        </p:spPr>
      </p:sp>
      <p:sp>
        <p:nvSpPr>
          <p:cNvPr id="24" name="Shape 22"/>
          <p:cNvSpPr/>
          <p:nvPr/>
        </p:nvSpPr>
        <p:spPr>
          <a:xfrm>
            <a:off x="612000" y="7560000"/>
            <a:ext cx="6120000" cy="0"/>
          </a:xfrm>
          <a:prstGeom prst="line">
            <a:avLst/>
          </a:prstGeom>
          <a:noFill/>
          <a:ln w="7620">
            <a:solidFill>
              <a:srgbClr val="B4C2C9"/>
            </a:solidFill>
            <a:prstDash val="solid"/>
          </a:ln>
        </p:spPr>
      </p:sp>
      <p:sp>
        <p:nvSpPr>
          <p:cNvPr id="25" name="Shape 23"/>
          <p:cNvSpPr/>
          <p:nvPr/>
        </p:nvSpPr>
        <p:spPr>
          <a:xfrm>
            <a:off x="612000" y="7866000"/>
            <a:ext cx="6120000" cy="0"/>
          </a:xfrm>
          <a:prstGeom prst="line">
            <a:avLst/>
          </a:prstGeom>
          <a:noFill/>
          <a:ln w="7620">
            <a:solidFill>
              <a:srgbClr val="B4C2C9"/>
            </a:solidFill>
            <a:prstDash val="solid"/>
          </a:ln>
        </p:spPr>
      </p:sp>
      <p:sp>
        <p:nvSpPr>
          <p:cNvPr id="26" name="Shape 24"/>
          <p:cNvSpPr/>
          <p:nvPr/>
        </p:nvSpPr>
        <p:spPr>
          <a:xfrm>
            <a:off x="612000" y="8172000"/>
            <a:ext cx="6120000" cy="0"/>
          </a:xfrm>
          <a:prstGeom prst="line">
            <a:avLst/>
          </a:prstGeom>
          <a:noFill/>
          <a:ln w="7620">
            <a:solidFill>
              <a:srgbClr val="B4C2C9"/>
            </a:solidFill>
            <a:prstDash val="solid"/>
          </a:ln>
        </p:spPr>
      </p:sp>
      <p:sp>
        <p:nvSpPr>
          <p:cNvPr id="27" name="Text 2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73</a:t>
            </a:r>
            <a:endParaRPr lang="en-US" sz="750" dirty="0"/>
          </a:p>
        </p:txBody>
      </p:sp>
      <p:sp>
        <p:nvSpPr>
          <p:cNvPr id="28" name="Text 2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324000"/>
          </a:xfrm>
          <a:prstGeom prst="rect">
            <a:avLst/>
          </a:prstGeom>
          <a:noFill/>
          <a:ln/>
        </p:spPr>
        <p:txBody>
          <a:bodyPr wrap="square" lIns="0" tIns="0" rIns="0" bIns="0" rtlCol="0" anchor="b"/>
          <a:lstStyle/>
          <a:p>
            <a:pPr indent="0" marL="0">
              <a:buNone/>
            </a:pPr>
            <a:r>
              <a:rPr lang="en-US" sz="2000" dirty="0">
                <a:solidFill>
                  <a:srgbClr val="67067C"/>
                </a:solidFill>
                <a:latin typeface="Young Serif" pitchFamily="34" charset="0"/>
                <a:ea typeface="Young Serif" pitchFamily="34" charset="-122"/>
                <a:cs typeface="Young Serif" pitchFamily="34" charset="-120"/>
              </a:rPr>
              <a:t>Vos notes</a:t>
            </a:r>
            <a:endParaRPr lang="en-US" sz="2000" dirty="0"/>
          </a:p>
        </p:txBody>
      </p:sp>
      <p:sp>
        <p:nvSpPr>
          <p:cNvPr id="3" name="Text 1"/>
          <p:cNvSpPr/>
          <p:nvPr/>
        </p:nvSpPr>
        <p:spPr>
          <a:xfrm>
            <a:off x="828000" y="882000"/>
            <a:ext cx="6120000" cy="180000"/>
          </a:xfrm>
          <a:prstGeom prst="rect">
            <a:avLst/>
          </a:prstGeom>
          <a:noFill/>
          <a:ln/>
        </p:spPr>
        <p:txBody>
          <a:bodyPr wrap="square" lIns="0" tIns="0" rIns="0" bIns="0" rtlCol="0" anchor="ctr"/>
          <a:lstStyle/>
          <a:p>
            <a:pPr indent="0" marL="0">
              <a:buNone/>
            </a:pPr>
            <a:r>
              <a:rPr lang="en-US" sz="750" b="1" spc="30" kern="0" dirty="0">
                <a:solidFill>
                  <a:srgbClr val="A8515F"/>
                </a:solidFill>
                <a:latin typeface="IBM Plex Sans" pitchFamily="34" charset="0"/>
                <a:ea typeface="IBM Plex Sans" pitchFamily="34" charset="-122"/>
                <a:cs typeface="IBM Plex Sans" pitchFamily="34" charset="-120"/>
              </a:rPr>
              <a:t>QUANTITÉS, PALIERS, DATES DE LIVRAISON</a:t>
            </a:r>
            <a:endParaRPr lang="en-US" sz="750" dirty="0"/>
          </a:p>
        </p:txBody>
      </p:sp>
      <p:sp>
        <p:nvSpPr>
          <p:cNvPr id="4" name="Shape 2"/>
          <p:cNvSpPr/>
          <p:nvPr/>
        </p:nvSpPr>
        <p:spPr>
          <a:xfrm>
            <a:off x="828000" y="1440000"/>
            <a:ext cx="6120000" cy="0"/>
          </a:xfrm>
          <a:prstGeom prst="line">
            <a:avLst/>
          </a:prstGeom>
          <a:noFill/>
          <a:ln w="7620">
            <a:solidFill>
              <a:srgbClr val="B4C2C9"/>
            </a:solidFill>
            <a:prstDash val="solid"/>
          </a:ln>
        </p:spPr>
      </p:sp>
      <p:sp>
        <p:nvSpPr>
          <p:cNvPr id="5" name="Shape 3"/>
          <p:cNvSpPr/>
          <p:nvPr/>
        </p:nvSpPr>
        <p:spPr>
          <a:xfrm>
            <a:off x="828000" y="1746000"/>
            <a:ext cx="6120000" cy="0"/>
          </a:xfrm>
          <a:prstGeom prst="line">
            <a:avLst/>
          </a:prstGeom>
          <a:noFill/>
          <a:ln w="7620">
            <a:solidFill>
              <a:srgbClr val="B4C2C9"/>
            </a:solidFill>
            <a:prstDash val="solid"/>
          </a:ln>
        </p:spPr>
      </p:sp>
      <p:sp>
        <p:nvSpPr>
          <p:cNvPr id="6" name="Shape 4"/>
          <p:cNvSpPr/>
          <p:nvPr/>
        </p:nvSpPr>
        <p:spPr>
          <a:xfrm>
            <a:off x="828000" y="2052000"/>
            <a:ext cx="6120000" cy="0"/>
          </a:xfrm>
          <a:prstGeom prst="line">
            <a:avLst/>
          </a:prstGeom>
          <a:noFill/>
          <a:ln w="7620">
            <a:solidFill>
              <a:srgbClr val="B4C2C9"/>
            </a:solidFill>
            <a:prstDash val="solid"/>
          </a:ln>
        </p:spPr>
      </p:sp>
      <p:sp>
        <p:nvSpPr>
          <p:cNvPr id="7" name="Shape 5"/>
          <p:cNvSpPr/>
          <p:nvPr/>
        </p:nvSpPr>
        <p:spPr>
          <a:xfrm>
            <a:off x="828000" y="2358000"/>
            <a:ext cx="6120000" cy="0"/>
          </a:xfrm>
          <a:prstGeom prst="line">
            <a:avLst/>
          </a:prstGeom>
          <a:noFill/>
          <a:ln w="7620">
            <a:solidFill>
              <a:srgbClr val="B4C2C9"/>
            </a:solidFill>
            <a:prstDash val="solid"/>
          </a:ln>
        </p:spPr>
      </p:sp>
      <p:sp>
        <p:nvSpPr>
          <p:cNvPr id="8" name="Shape 6"/>
          <p:cNvSpPr/>
          <p:nvPr/>
        </p:nvSpPr>
        <p:spPr>
          <a:xfrm>
            <a:off x="828000" y="2664000"/>
            <a:ext cx="6120000" cy="0"/>
          </a:xfrm>
          <a:prstGeom prst="line">
            <a:avLst/>
          </a:prstGeom>
          <a:noFill/>
          <a:ln w="7620">
            <a:solidFill>
              <a:srgbClr val="B4C2C9"/>
            </a:solidFill>
            <a:prstDash val="solid"/>
          </a:ln>
        </p:spPr>
      </p:sp>
      <p:sp>
        <p:nvSpPr>
          <p:cNvPr id="9" name="Shape 7"/>
          <p:cNvSpPr/>
          <p:nvPr/>
        </p:nvSpPr>
        <p:spPr>
          <a:xfrm>
            <a:off x="828000" y="2970000"/>
            <a:ext cx="6120000" cy="0"/>
          </a:xfrm>
          <a:prstGeom prst="line">
            <a:avLst/>
          </a:prstGeom>
          <a:noFill/>
          <a:ln w="7620">
            <a:solidFill>
              <a:srgbClr val="B4C2C9"/>
            </a:solidFill>
            <a:prstDash val="solid"/>
          </a:ln>
        </p:spPr>
      </p:sp>
      <p:sp>
        <p:nvSpPr>
          <p:cNvPr id="10" name="Shape 8"/>
          <p:cNvSpPr/>
          <p:nvPr/>
        </p:nvSpPr>
        <p:spPr>
          <a:xfrm>
            <a:off x="828000" y="3276000"/>
            <a:ext cx="6120000" cy="0"/>
          </a:xfrm>
          <a:prstGeom prst="line">
            <a:avLst/>
          </a:prstGeom>
          <a:noFill/>
          <a:ln w="7620">
            <a:solidFill>
              <a:srgbClr val="B4C2C9"/>
            </a:solidFill>
            <a:prstDash val="solid"/>
          </a:ln>
        </p:spPr>
      </p:sp>
      <p:sp>
        <p:nvSpPr>
          <p:cNvPr id="11" name="Shape 9"/>
          <p:cNvSpPr/>
          <p:nvPr/>
        </p:nvSpPr>
        <p:spPr>
          <a:xfrm>
            <a:off x="828000" y="3582000"/>
            <a:ext cx="6120000" cy="0"/>
          </a:xfrm>
          <a:prstGeom prst="line">
            <a:avLst/>
          </a:prstGeom>
          <a:noFill/>
          <a:ln w="7620">
            <a:solidFill>
              <a:srgbClr val="B4C2C9"/>
            </a:solidFill>
            <a:prstDash val="solid"/>
          </a:ln>
        </p:spPr>
      </p:sp>
      <p:sp>
        <p:nvSpPr>
          <p:cNvPr id="12" name="Shape 10"/>
          <p:cNvSpPr/>
          <p:nvPr/>
        </p:nvSpPr>
        <p:spPr>
          <a:xfrm>
            <a:off x="828000" y="3888000"/>
            <a:ext cx="6120000" cy="0"/>
          </a:xfrm>
          <a:prstGeom prst="line">
            <a:avLst/>
          </a:prstGeom>
          <a:noFill/>
          <a:ln w="7620">
            <a:solidFill>
              <a:srgbClr val="B4C2C9"/>
            </a:solidFill>
            <a:prstDash val="solid"/>
          </a:ln>
        </p:spPr>
      </p:sp>
      <p:sp>
        <p:nvSpPr>
          <p:cNvPr id="13" name="Shape 11"/>
          <p:cNvSpPr/>
          <p:nvPr/>
        </p:nvSpPr>
        <p:spPr>
          <a:xfrm>
            <a:off x="828000" y="4194000"/>
            <a:ext cx="6120000" cy="0"/>
          </a:xfrm>
          <a:prstGeom prst="line">
            <a:avLst/>
          </a:prstGeom>
          <a:noFill/>
          <a:ln w="7620">
            <a:solidFill>
              <a:srgbClr val="B4C2C9"/>
            </a:solidFill>
            <a:prstDash val="solid"/>
          </a:ln>
        </p:spPr>
      </p:sp>
      <p:sp>
        <p:nvSpPr>
          <p:cNvPr id="14" name="Shape 12"/>
          <p:cNvSpPr/>
          <p:nvPr/>
        </p:nvSpPr>
        <p:spPr>
          <a:xfrm>
            <a:off x="828000" y="4500000"/>
            <a:ext cx="6120000" cy="0"/>
          </a:xfrm>
          <a:prstGeom prst="line">
            <a:avLst/>
          </a:prstGeom>
          <a:noFill/>
          <a:ln w="7620">
            <a:solidFill>
              <a:srgbClr val="B4C2C9"/>
            </a:solidFill>
            <a:prstDash val="solid"/>
          </a:ln>
        </p:spPr>
      </p:sp>
      <p:sp>
        <p:nvSpPr>
          <p:cNvPr id="15" name="Shape 13"/>
          <p:cNvSpPr/>
          <p:nvPr/>
        </p:nvSpPr>
        <p:spPr>
          <a:xfrm>
            <a:off x="828000" y="4806000"/>
            <a:ext cx="6120000" cy="0"/>
          </a:xfrm>
          <a:prstGeom prst="line">
            <a:avLst/>
          </a:prstGeom>
          <a:noFill/>
          <a:ln w="7620">
            <a:solidFill>
              <a:srgbClr val="B4C2C9"/>
            </a:solidFill>
            <a:prstDash val="solid"/>
          </a:ln>
        </p:spPr>
      </p:sp>
      <p:sp>
        <p:nvSpPr>
          <p:cNvPr id="16" name="Shape 14"/>
          <p:cNvSpPr/>
          <p:nvPr/>
        </p:nvSpPr>
        <p:spPr>
          <a:xfrm>
            <a:off x="828000" y="5112000"/>
            <a:ext cx="6120000" cy="0"/>
          </a:xfrm>
          <a:prstGeom prst="line">
            <a:avLst/>
          </a:prstGeom>
          <a:noFill/>
          <a:ln w="7620">
            <a:solidFill>
              <a:srgbClr val="B4C2C9"/>
            </a:solidFill>
            <a:prstDash val="solid"/>
          </a:ln>
        </p:spPr>
      </p:sp>
      <p:sp>
        <p:nvSpPr>
          <p:cNvPr id="17" name="Shape 15"/>
          <p:cNvSpPr/>
          <p:nvPr/>
        </p:nvSpPr>
        <p:spPr>
          <a:xfrm>
            <a:off x="828000" y="5418000"/>
            <a:ext cx="6120000" cy="0"/>
          </a:xfrm>
          <a:prstGeom prst="line">
            <a:avLst/>
          </a:prstGeom>
          <a:noFill/>
          <a:ln w="7620">
            <a:solidFill>
              <a:srgbClr val="B4C2C9"/>
            </a:solidFill>
            <a:prstDash val="solid"/>
          </a:ln>
        </p:spPr>
      </p:sp>
      <p:sp>
        <p:nvSpPr>
          <p:cNvPr id="18" name="Shape 16"/>
          <p:cNvSpPr/>
          <p:nvPr/>
        </p:nvSpPr>
        <p:spPr>
          <a:xfrm>
            <a:off x="828000" y="5724000"/>
            <a:ext cx="6120000" cy="0"/>
          </a:xfrm>
          <a:prstGeom prst="line">
            <a:avLst/>
          </a:prstGeom>
          <a:noFill/>
          <a:ln w="7620">
            <a:solidFill>
              <a:srgbClr val="B4C2C9"/>
            </a:solidFill>
            <a:prstDash val="solid"/>
          </a:ln>
        </p:spPr>
      </p:sp>
      <p:sp>
        <p:nvSpPr>
          <p:cNvPr id="19" name="Shape 17"/>
          <p:cNvSpPr/>
          <p:nvPr/>
        </p:nvSpPr>
        <p:spPr>
          <a:xfrm>
            <a:off x="828000" y="6030000"/>
            <a:ext cx="6120000" cy="0"/>
          </a:xfrm>
          <a:prstGeom prst="line">
            <a:avLst/>
          </a:prstGeom>
          <a:noFill/>
          <a:ln w="7620">
            <a:solidFill>
              <a:srgbClr val="B4C2C9"/>
            </a:solidFill>
            <a:prstDash val="solid"/>
          </a:ln>
        </p:spPr>
      </p:sp>
      <p:sp>
        <p:nvSpPr>
          <p:cNvPr id="20" name="Shape 18"/>
          <p:cNvSpPr/>
          <p:nvPr/>
        </p:nvSpPr>
        <p:spPr>
          <a:xfrm>
            <a:off x="828000" y="6336000"/>
            <a:ext cx="6120000" cy="0"/>
          </a:xfrm>
          <a:prstGeom prst="line">
            <a:avLst/>
          </a:prstGeom>
          <a:noFill/>
          <a:ln w="7620">
            <a:solidFill>
              <a:srgbClr val="B4C2C9"/>
            </a:solidFill>
            <a:prstDash val="solid"/>
          </a:ln>
        </p:spPr>
      </p:sp>
      <p:sp>
        <p:nvSpPr>
          <p:cNvPr id="21" name="Shape 19"/>
          <p:cNvSpPr/>
          <p:nvPr/>
        </p:nvSpPr>
        <p:spPr>
          <a:xfrm>
            <a:off x="828000" y="6642000"/>
            <a:ext cx="6120000" cy="0"/>
          </a:xfrm>
          <a:prstGeom prst="line">
            <a:avLst/>
          </a:prstGeom>
          <a:noFill/>
          <a:ln w="7620">
            <a:solidFill>
              <a:srgbClr val="B4C2C9"/>
            </a:solidFill>
            <a:prstDash val="solid"/>
          </a:ln>
        </p:spPr>
      </p:sp>
      <p:sp>
        <p:nvSpPr>
          <p:cNvPr id="22" name="Shape 20"/>
          <p:cNvSpPr/>
          <p:nvPr/>
        </p:nvSpPr>
        <p:spPr>
          <a:xfrm>
            <a:off x="828000" y="6948000"/>
            <a:ext cx="6120000" cy="0"/>
          </a:xfrm>
          <a:prstGeom prst="line">
            <a:avLst/>
          </a:prstGeom>
          <a:noFill/>
          <a:ln w="7620">
            <a:solidFill>
              <a:srgbClr val="B4C2C9"/>
            </a:solidFill>
            <a:prstDash val="solid"/>
          </a:ln>
        </p:spPr>
      </p:sp>
      <p:sp>
        <p:nvSpPr>
          <p:cNvPr id="23" name="Shape 21"/>
          <p:cNvSpPr/>
          <p:nvPr/>
        </p:nvSpPr>
        <p:spPr>
          <a:xfrm>
            <a:off x="828000" y="7254000"/>
            <a:ext cx="6120000" cy="0"/>
          </a:xfrm>
          <a:prstGeom prst="line">
            <a:avLst/>
          </a:prstGeom>
          <a:noFill/>
          <a:ln w="7620">
            <a:solidFill>
              <a:srgbClr val="B4C2C9"/>
            </a:solidFill>
            <a:prstDash val="solid"/>
          </a:ln>
        </p:spPr>
      </p:sp>
      <p:sp>
        <p:nvSpPr>
          <p:cNvPr id="24" name="Shape 22"/>
          <p:cNvSpPr/>
          <p:nvPr/>
        </p:nvSpPr>
        <p:spPr>
          <a:xfrm>
            <a:off x="828000" y="7560000"/>
            <a:ext cx="6120000" cy="0"/>
          </a:xfrm>
          <a:prstGeom prst="line">
            <a:avLst/>
          </a:prstGeom>
          <a:noFill/>
          <a:ln w="7620">
            <a:solidFill>
              <a:srgbClr val="B4C2C9"/>
            </a:solidFill>
            <a:prstDash val="solid"/>
          </a:ln>
        </p:spPr>
      </p:sp>
      <p:sp>
        <p:nvSpPr>
          <p:cNvPr id="25" name="Shape 23"/>
          <p:cNvSpPr/>
          <p:nvPr/>
        </p:nvSpPr>
        <p:spPr>
          <a:xfrm>
            <a:off x="828000" y="7866000"/>
            <a:ext cx="6120000" cy="0"/>
          </a:xfrm>
          <a:prstGeom prst="line">
            <a:avLst/>
          </a:prstGeom>
          <a:noFill/>
          <a:ln w="7620">
            <a:solidFill>
              <a:srgbClr val="B4C2C9"/>
            </a:solidFill>
            <a:prstDash val="solid"/>
          </a:ln>
        </p:spPr>
      </p:sp>
      <p:sp>
        <p:nvSpPr>
          <p:cNvPr id="26" name="Shape 24"/>
          <p:cNvSpPr/>
          <p:nvPr/>
        </p:nvSpPr>
        <p:spPr>
          <a:xfrm>
            <a:off x="828000" y="8172000"/>
            <a:ext cx="6120000" cy="0"/>
          </a:xfrm>
          <a:prstGeom prst="line">
            <a:avLst/>
          </a:prstGeom>
          <a:noFill/>
          <a:ln w="7620">
            <a:solidFill>
              <a:srgbClr val="B4C2C9"/>
            </a:solidFill>
            <a:prstDash val="solid"/>
          </a:ln>
        </p:spPr>
      </p:sp>
      <p:sp>
        <p:nvSpPr>
          <p:cNvPr id="27" name="Text 25"/>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74</a:t>
            </a:r>
            <a:endParaRPr lang="en-US" sz="750" dirty="0"/>
          </a:p>
        </p:txBody>
      </p:sp>
      <p:sp>
        <p:nvSpPr>
          <p:cNvPr id="28" name="Text 26"/>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46606E"/>
        </a:solidFill>
      </p:bgPr>
    </p:bg>
    <p:spTree>
      <p:nvGrpSpPr>
        <p:cNvPr id="1" name=""/>
        <p:cNvGrpSpPr/>
        <p:nvPr/>
      </p:nvGrpSpPr>
      <p:grpSpPr>
        <a:xfrm>
          <a:off x="0" y="0"/>
          <a:ext cx="0" cy="0"/>
          <a:chOff x="0" y="0"/>
          <a:chExt cx="0" cy="0"/>
        </a:xfrm>
      </p:grpSpPr>
      <p:pic>
        <p:nvPicPr>
          <p:cNvPr id="2" name="Image 0" descr="/home/user/philippe1/build/deco/coupe-pleine.png">    </p:cNvPr>
          <p:cNvPicPr>
            <a:picLocks noChangeAspect="1"/>
          </p:cNvPicPr>
          <p:nvPr/>
        </p:nvPicPr>
        <p:blipFill>
          <a:blip r:embed="rId1"/>
          <a:stretch>
            <a:fillRect/>
          </a:stretch>
        </p:blipFill>
        <p:spPr>
          <a:xfrm>
            <a:off x="0" y="0"/>
            <a:ext cx="7560000" cy="9360000"/>
          </a:xfrm>
          <a:prstGeom prst="rect">
            <a:avLst/>
          </a:prstGeom>
        </p:spPr>
      </p:pic>
      <p:sp>
        <p:nvSpPr>
          <p:cNvPr id="3" name="Text 0"/>
          <p:cNvSpPr/>
          <p:nvPr/>
        </p:nvSpPr>
        <p:spPr>
          <a:xfrm>
            <a:off x="612000" y="6732000"/>
            <a:ext cx="4320000" cy="1512000"/>
          </a:xfrm>
          <a:prstGeom prst="rect">
            <a:avLst/>
          </a:prstGeom>
          <a:noFill/>
          <a:ln/>
        </p:spPr>
        <p:txBody>
          <a:bodyPr wrap="square" lIns="0" tIns="0" rIns="0" bIns="0" rtlCol="0" anchor="ctr"/>
          <a:lstStyle/>
          <a:p>
            <a:pPr indent="0" marL="0">
              <a:lnSpc>
                <a:spcPct val="112000"/>
              </a:lnSpc>
              <a:buNone/>
            </a:pPr>
            <a:r>
              <a:rPr lang="en-US" sz="2600" dirty="0">
                <a:solidFill>
                  <a:srgbClr val="FBF8F1"/>
                </a:solidFill>
                <a:latin typeface="Young Serif" pitchFamily="34" charset="0"/>
                <a:ea typeface="Young Serif" pitchFamily="34" charset="-122"/>
                <a:cs typeface="Young Serif" pitchFamily="34" charset="-120"/>
              </a:rPr>
              <a:t>Dix régions,</a:t>
            </a:r>
            <a:endParaRPr lang="en-US" sz="2600" dirty="0"/>
          </a:p>
          <a:p>
            <a:pPr indent="0" marL="0">
              <a:lnSpc>
                <a:spcPct val="112000"/>
              </a:lnSpc>
              <a:buNone/>
            </a:pPr>
            <a:r>
              <a:rPr lang="en-US" sz="2600" dirty="0">
                <a:solidFill>
                  <a:srgbClr val="FBF8F1"/>
                </a:solidFill>
                <a:latin typeface="Young Serif" pitchFamily="34" charset="0"/>
                <a:ea typeface="Young Serif" pitchFamily="34" charset="-122"/>
                <a:cs typeface="Young Serif" pitchFamily="34" charset="-120"/>
              </a:rPr>
              <a:t>dix sols,</a:t>
            </a:r>
            <a:endParaRPr lang="en-US" sz="2600" dirty="0"/>
          </a:p>
          <a:p>
            <a:pPr indent="0" marL="0">
              <a:lnSpc>
                <a:spcPct val="112000"/>
              </a:lnSpc>
              <a:buNone/>
            </a:pPr>
            <a:r>
              <a:rPr lang="en-US" sz="2600" dirty="0">
                <a:solidFill>
                  <a:srgbClr val="FBF8F1"/>
                </a:solidFill>
                <a:latin typeface="Young Serif" pitchFamily="34" charset="0"/>
                <a:ea typeface="Young Serif" pitchFamily="34" charset="-122"/>
                <a:cs typeface="Young Serif" pitchFamily="34" charset="-120"/>
              </a:rPr>
              <a:t>quarante domaines.</a:t>
            </a:r>
            <a:endParaRPr lang="en-US" sz="2600" dirty="0"/>
          </a:p>
        </p:txBody>
      </p:sp>
      <p:sp>
        <p:nvSpPr>
          <p:cNvPr id="4" name="Text 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75</a:t>
            </a:r>
            <a:endParaRPr lang="en-US" sz="750" dirty="0"/>
          </a:p>
        </p:txBody>
      </p:sp>
      <p:sp>
        <p:nvSpPr>
          <p:cNvPr id="5" name="Text 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520000" cy="614097"/>
          </a:xfrm>
          <a:prstGeom prst="rect">
            <a:avLst/>
          </a:prstGeom>
        </p:spPr>
      </p:pic>
      <p:sp>
        <p:nvSpPr>
          <p:cNvPr id="3" name="Text 0"/>
          <p:cNvSpPr/>
          <p:nvPr/>
        </p:nvSpPr>
        <p:spPr>
          <a:xfrm>
            <a:off x="82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4" name="Text 1"/>
          <p:cNvSpPr/>
          <p:nvPr/>
        </p:nvSpPr>
        <p:spPr>
          <a:xfrm>
            <a:off x="82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5" name="Text 2"/>
          <p:cNvSpPr/>
          <p:nvPr/>
        </p:nvSpPr>
        <p:spPr>
          <a:xfrm>
            <a:off x="280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6" name="Text 3"/>
          <p:cNvSpPr/>
          <p:nvPr/>
        </p:nvSpPr>
        <p:spPr>
          <a:xfrm>
            <a:off x="280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7" name="Text 4"/>
          <p:cNvSpPr/>
          <p:nvPr/>
        </p:nvSpPr>
        <p:spPr>
          <a:xfrm>
            <a:off x="828000" y="2196000"/>
            <a:ext cx="4680000" cy="504000"/>
          </a:xfrm>
          <a:prstGeom prst="rect">
            <a:avLst/>
          </a:prstGeom>
          <a:noFill/>
          <a:ln/>
        </p:spPr>
        <p:txBody>
          <a:bodyPr wrap="square" lIns="0" tIns="0" rIns="0" bIns="0" rtlCol="0" anchor="ctr"/>
          <a:lstStyle/>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contact@agencescio.com · www.agencescio.com</a:t>
            </a:r>
            <a:endParaRPr lang="en-US" sz="1000" dirty="0"/>
          </a:p>
        </p:txBody>
      </p:sp>
      <p:pic>
        <p:nvPicPr>
          <p:cNvPr id="8" name="Image 1" descr="/home/user/philippe1/build/deco/coupe-nue.png">    </p:cNvPr>
          <p:cNvPicPr>
            <a:picLocks noChangeAspect="1"/>
          </p:cNvPicPr>
          <p:nvPr/>
        </p:nvPicPr>
        <p:blipFill>
          <a:blip r:embed="rId2"/>
          <a:stretch>
            <a:fillRect/>
          </a:stretch>
        </p:blipFill>
        <p:spPr>
          <a:xfrm>
            <a:off x="828000" y="2916000"/>
            <a:ext cx="6120000" cy="1460455"/>
          </a:xfrm>
          <a:prstGeom prst="rect">
            <a:avLst/>
          </a:prstGeom>
        </p:spPr>
      </p:pic>
      <p:sp>
        <p:nvSpPr>
          <p:cNvPr id="9" name="Shape 5"/>
          <p:cNvSpPr/>
          <p:nvPr/>
        </p:nvSpPr>
        <p:spPr>
          <a:xfrm>
            <a:off x="828000" y="4788000"/>
            <a:ext cx="6120000" cy="0"/>
          </a:xfrm>
          <a:prstGeom prst="line">
            <a:avLst/>
          </a:prstGeom>
          <a:noFill/>
          <a:ln w="10160">
            <a:solidFill>
              <a:srgbClr val="67067C"/>
            </a:solidFill>
            <a:prstDash val="solid"/>
          </a:ln>
        </p:spPr>
      </p:sp>
      <p:sp>
        <p:nvSpPr>
          <p:cNvPr id="10" name="Text 6"/>
          <p:cNvSpPr/>
          <p:nvPr/>
        </p:nvSpPr>
        <p:spPr>
          <a:xfrm>
            <a:off x="82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LEXIQUE</a:t>
            </a:r>
            <a:endParaRPr lang="en-US" sz="760" dirty="0"/>
          </a:p>
        </p:txBody>
      </p:sp>
      <p:sp>
        <p:nvSpPr>
          <p:cNvPr id="11" name="Text 7"/>
          <p:cNvSpPr/>
          <p:nvPr/>
        </p:nvSpPr>
        <p:spPr>
          <a:xfrm>
            <a:off x="82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AOP — Appellation d’Origine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IGP — Indication Géographique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VDF — Vin de France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HVE — Haute Valeur Environnementale</a:t>
            </a:r>
            <a:endParaRPr lang="en-US" sz="780" dirty="0"/>
          </a:p>
        </p:txBody>
      </p:sp>
      <p:sp>
        <p:nvSpPr>
          <p:cNvPr id="12" name="Text 8"/>
          <p:cNvSpPr/>
          <p:nvPr/>
        </p:nvSpPr>
        <p:spPr>
          <a:xfrm>
            <a:off x="286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MENTIONS LÉGALES</a:t>
            </a:r>
            <a:endParaRPr lang="en-US" sz="760" dirty="0"/>
          </a:p>
        </p:txBody>
      </p:sp>
      <p:sp>
        <p:nvSpPr>
          <p:cNvPr id="13" name="Text 9"/>
          <p:cNvSpPr/>
          <p:nvPr/>
        </p:nvSpPr>
        <p:spPr>
          <a:xfrm>
            <a:off x="286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Photos non contractuelles, suggestions de présentation. Dans la limite des stocks disponibles. Les Millésimes peuvent évoluer en fonction de l’avancé de l’année. Sauf erreurs typographiques. Prix H.T. Agence SCIO Vins et spirits 843 151 663 RCS Nantes. Crédits photos : viticulteurs et Adobe Stock. NE PAS JETER SUR LA VOIE PUBLIQUE.</a:t>
            </a:r>
            <a:endParaRPr lang="en-US" sz="780" dirty="0"/>
          </a:p>
        </p:txBody>
      </p:sp>
      <p:sp>
        <p:nvSpPr>
          <p:cNvPr id="14" name="Text 10"/>
          <p:cNvSpPr/>
          <p:nvPr/>
        </p:nvSpPr>
        <p:spPr>
          <a:xfrm>
            <a:off x="490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CRÉDITS</a:t>
            </a:r>
            <a:endParaRPr lang="en-US" sz="760" dirty="0"/>
          </a:p>
        </p:txBody>
      </p:sp>
      <p:sp>
        <p:nvSpPr>
          <p:cNvPr id="15" name="Text 11"/>
          <p:cNvSpPr/>
          <p:nvPr/>
        </p:nvSpPr>
        <p:spPr>
          <a:xfrm>
            <a:off x="490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Conception, maquette et illustrations : Agence SCIO. Les pictogrammes de ce catalogue sont les nôtres ; ils ne reproduisent aucun logo officiel d'organisme certificateur. Les photographies des fiches viennent de les sites officiels des domaines et de la photothèque de l'agence ; elles sont créditées une à une dans credits.md.</a:t>
            </a:r>
            <a:endParaRPr lang="en-US" sz="780" dirty="0"/>
          </a:p>
        </p:txBody>
      </p:sp>
      <p:sp>
        <p:nvSpPr>
          <p:cNvPr id="16" name="Shape 12"/>
          <p:cNvSpPr/>
          <p:nvPr/>
        </p:nvSpPr>
        <p:spPr>
          <a:xfrm>
            <a:off x="828000" y="8388000"/>
            <a:ext cx="6120000" cy="360000"/>
          </a:xfrm>
          <a:prstGeom prst="roundRect">
            <a:avLst>
              <a:gd name="adj" fmla="val 5080"/>
            </a:avLst>
          </a:prstGeom>
          <a:solidFill>
            <a:srgbClr val="67067C"/>
          </a:solidFill>
          <a:ln w="12700">
            <a:solidFill>
              <a:srgbClr val="67067C"/>
            </a:solidFill>
            <a:prstDash val="solid"/>
          </a:ln>
        </p:spPr>
      </p:sp>
      <p:sp>
        <p:nvSpPr>
          <p:cNvPr id="17" name="Text 13"/>
          <p:cNvSpPr/>
          <p:nvPr/>
        </p:nvSpPr>
        <p:spPr>
          <a:xfrm>
            <a:off x="828000" y="8388000"/>
            <a:ext cx="6120000" cy="360000"/>
          </a:xfrm>
          <a:prstGeom prst="rect">
            <a:avLst/>
          </a:prstGeom>
          <a:noFill/>
          <a:ln/>
        </p:spPr>
        <p:txBody>
          <a:bodyPr wrap="square" lIns="0" tIns="0" rIns="0" bIns="0" rtlCol="0" anchor="ctr"/>
          <a:lstStyle/>
          <a:p>
            <a:pPr algn="ctr" indent="0" marL="0">
              <a:buNone/>
            </a:pPr>
            <a:r>
              <a:rPr lang="en-US" sz="850" b="1"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76</Slides>
  <Notes>76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76</vt:i4>
      </vt:variant>
    </vt:vector>
  </HeadingPairs>
  <TitlesOfParts>
    <vt:vector size="7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Sous nos pieds — Tarifs cavistes Vendée (85) 2026</dc:title>
  <dc:subject>PptxGenJS Presentation</dc:subject>
  <dc:creator>Agence SCIO Vins &amp; Spirits</dc:creator>
  <cp:lastModifiedBy>Agence SCIO Vins &amp; Spirits</cp:lastModifiedBy>
  <cp:revision>1</cp:revision>
  <dcterms:created xsi:type="dcterms:W3CDTF">2026-10-02T06:37:36Z</dcterms:created>
  <dcterms:modified xsi:type="dcterms:W3CDTF">2026-10-02T06:37:36Z</dcterms:modified>
</cp:coreProperties>
</file>