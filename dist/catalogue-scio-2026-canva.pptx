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7560000" cy="9360000"/>
  <p:notesSz cx="9360000" cy="7560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1.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slideLayout" Target="../slideLayouts/slideLayout1.xml"/><Relationship Id="rId4"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EADA"/>
        </a:solidFill>
      </p:bgPr>
    </p:bg>
    <p:spTree>
      <p:nvGrpSpPr>
        <p:cNvPr id="1" name=""/>
        <p:cNvGrpSpPr/>
        <p:nvPr/>
      </p:nvGrpSpPr>
      <p:grpSpPr>
        <a:xfrm>
          <a:off x="0" y="0"/>
          <a:ext cx="0" cy="0"/>
          <a:chOff x="0" y="0"/>
          <a:chExt cx="0" cy="0"/>
        </a:xfrm>
      </p:grpSpPr>
      <p:pic>
        <p:nvPicPr>
          <p:cNvPr id="2" name="Image 0" descr="/home/user/philippe1/build/deco/coupe-titree.png">    </p:cNvPr>
          <p:cNvPicPr>
            <a:picLocks noChangeAspect="1"/>
          </p:cNvPicPr>
          <p:nvPr/>
        </p:nvPicPr>
        <p:blipFill>
          <a:blip r:embed="rId1"/>
          <a:stretch>
            <a:fillRect/>
          </a:stretch>
        </p:blipFill>
        <p:spPr>
          <a:xfrm>
            <a:off x="0" y="4032000"/>
            <a:ext cx="7560000" cy="5328000"/>
          </a:xfrm>
          <a:prstGeom prst="rect">
            <a:avLst/>
          </a:prstGeom>
        </p:spPr>
      </p:pic>
      <p:pic>
        <p:nvPicPr>
          <p:cNvPr id="3" name="Image 1" descr="/home/user/philippe1/src/images/logo-agence-scio-detoure.png">    </p:cNvPr>
          <p:cNvPicPr>
            <a:picLocks noChangeAspect="1"/>
          </p:cNvPicPr>
          <p:nvPr/>
        </p:nvPicPr>
        <p:blipFill>
          <a:blip r:embed="rId2"/>
          <a:stretch>
            <a:fillRect/>
          </a:stretch>
        </p:blipFill>
        <p:spPr>
          <a:xfrm>
            <a:off x="612000" y="612000"/>
            <a:ext cx="2232000" cy="543915"/>
          </a:xfrm>
          <a:prstGeom prst="rect">
            <a:avLst/>
          </a:prstGeom>
        </p:spPr>
      </p:pic>
      <p:sp>
        <p:nvSpPr>
          <p:cNvPr id="4" name="Text 0"/>
          <p:cNvSpPr/>
          <p:nvPr/>
        </p:nvSpPr>
        <p:spPr>
          <a:xfrm>
            <a:off x="612000" y="1512000"/>
            <a:ext cx="5400000" cy="1800000"/>
          </a:xfrm>
          <a:prstGeom prst="rect">
            <a:avLst/>
          </a:prstGeom>
          <a:noFill/>
          <a:ln/>
        </p:spPr>
        <p:txBody>
          <a:bodyPr wrap="square" lIns="0" tIns="0" rIns="0" bIns="0" rtlCol="0" anchor="ctr"/>
          <a:lstStyle/>
          <a:p>
            <a:pPr indent="0" marL="0">
              <a:lnSpc>
                <a:spcPct val="92000"/>
              </a:lnSpc>
              <a:buNone/>
            </a:pPr>
            <a:r>
              <a:rPr lang="en-US" sz="4600" dirty="0">
                <a:solidFill>
                  <a:srgbClr val="46606E"/>
                </a:solidFill>
                <a:latin typeface="Young Serif" pitchFamily="34" charset="0"/>
                <a:ea typeface="Young Serif" pitchFamily="34" charset="-122"/>
                <a:cs typeface="Young Serif" pitchFamily="34" charset="-120"/>
              </a:rPr>
              <a:t>Sous</a:t>
            </a:r>
            <a:endParaRPr lang="en-US" sz="4600" dirty="0"/>
          </a:p>
          <a:p>
            <a:pPr indent="0" marL="0">
              <a:lnSpc>
                <a:spcPct val="92000"/>
              </a:lnSpc>
              <a:buNone/>
            </a:pPr>
            <a:r>
              <a:rPr lang="en-US" sz="4600" dirty="0">
                <a:solidFill>
                  <a:srgbClr val="46606E"/>
                </a:solidFill>
                <a:latin typeface="Young Serif" pitchFamily="34" charset="0"/>
                <a:ea typeface="Young Serif" pitchFamily="34" charset="-122"/>
                <a:cs typeface="Young Serif" pitchFamily="34" charset="-120"/>
              </a:rPr>
              <a:t>nos</a:t>
            </a:r>
            <a:endParaRPr lang="en-US" sz="4600" dirty="0"/>
          </a:p>
          <a:p>
            <a:pPr indent="0" marL="0">
              <a:lnSpc>
                <a:spcPct val="92000"/>
              </a:lnSpc>
              <a:buNone/>
            </a:pPr>
            <a:r>
              <a:rPr lang="en-US" sz="4600" dirty="0">
                <a:solidFill>
                  <a:srgbClr val="67067C"/>
                </a:solidFill>
                <a:latin typeface="Young Serif" pitchFamily="34" charset="0"/>
                <a:ea typeface="Young Serif" pitchFamily="34" charset="-122"/>
                <a:cs typeface="Young Serif" pitchFamily="34" charset="-120"/>
              </a:rPr>
              <a:t>pieds</a:t>
            </a:r>
            <a:endParaRPr lang="en-US" sz="4600" dirty="0"/>
          </a:p>
        </p:txBody>
      </p:sp>
      <p:sp>
        <p:nvSpPr>
          <p:cNvPr id="5" name="Text 1"/>
          <p:cNvSpPr/>
          <p:nvPr/>
        </p:nvSpPr>
        <p:spPr>
          <a:xfrm>
            <a:off x="612000" y="3420000"/>
            <a:ext cx="4320000" cy="504000"/>
          </a:xfrm>
          <a:prstGeom prst="rect">
            <a:avLst/>
          </a:prstGeom>
          <a:noFill/>
          <a:ln/>
        </p:spPr>
        <p:txBody>
          <a:bodyPr wrap="square" lIns="0" tIns="0" rIns="0" bIns="0" rtlCol="0" anchor="ctr"/>
          <a:lstStyle/>
          <a:p>
            <a:pPr indent="0" marL="0">
              <a:lnSpc>
                <a:spcPct val="140000"/>
              </a:lnSpc>
              <a:buNone/>
            </a:pPr>
            <a:r>
              <a:rPr lang="en-US" sz="1050" dirty="0">
                <a:solidFill>
                  <a:srgbClr val="46606E"/>
                </a:solidFill>
                <a:latin typeface="Spectral" pitchFamily="34" charset="0"/>
                <a:ea typeface="Spectral" pitchFamily="34" charset="-122"/>
                <a:cs typeface="Spectral" pitchFamily="34" charset="-120"/>
              </a:rPr>
              <a:t>Quarante domaines, dix régions,</a:t>
            </a:r>
            <a:endParaRPr lang="en-US" sz="1050" dirty="0"/>
          </a:p>
          <a:p>
            <a:pPr indent="0" marL="0">
              <a:lnSpc>
                <a:spcPct val="140000"/>
              </a:lnSpc>
              <a:buNone/>
            </a:pPr>
            <a:r>
              <a:rPr lang="en-US" sz="1050" dirty="0">
                <a:solidFill>
                  <a:srgbClr val="46606E"/>
                </a:solidFill>
                <a:latin typeface="Spectral" pitchFamily="34" charset="0"/>
                <a:ea typeface="Spectral" pitchFamily="34" charset="-122"/>
                <a:cs typeface="Spectral" pitchFamily="34" charset="-120"/>
              </a:rPr>
              <a:t>et la terre qu'ils ont sous les pieds.</a:t>
            </a:r>
            <a:endParaRPr lang="en-US" sz="1050" dirty="0"/>
          </a:p>
        </p:txBody>
      </p:sp>
      <p:sp>
        <p:nvSpPr>
          <p:cNvPr id="6" name="Shape 2"/>
          <p:cNvSpPr/>
          <p:nvPr/>
        </p:nvSpPr>
        <p:spPr>
          <a:xfrm>
            <a:off x="-216000" y="7776000"/>
            <a:ext cx="2808000" cy="864000"/>
          </a:xfrm>
          <a:prstGeom prst="roundRect">
            <a:avLst>
              <a:gd name="adj" fmla="val 3175"/>
            </a:avLst>
          </a:prstGeom>
          <a:solidFill>
            <a:srgbClr val="F2EADA"/>
          </a:solidFill>
          <a:ln w="12700">
            <a:solidFill>
              <a:srgbClr val="F2EADA"/>
            </a:solidFill>
            <a:prstDash val="solid"/>
          </a:ln>
        </p:spPr>
      </p:sp>
      <p:sp>
        <p:nvSpPr>
          <p:cNvPr id="7" name="Text 3"/>
          <p:cNvSpPr/>
          <p:nvPr/>
        </p:nvSpPr>
        <p:spPr>
          <a:xfrm>
            <a:off x="612000" y="7848000"/>
            <a:ext cx="2160000" cy="180000"/>
          </a:xfrm>
          <a:prstGeom prst="rect">
            <a:avLst/>
          </a:prstGeom>
          <a:noFill/>
          <a:ln/>
        </p:spPr>
        <p:txBody>
          <a:bodyPr wrap="square" lIns="0" tIns="0" rIns="0" bIns="0" rtlCol="0" anchor="ctr"/>
          <a:lstStyle/>
          <a:p>
            <a:pPr indent="0" marL="0">
              <a:buNone/>
            </a:pPr>
            <a:r>
              <a:rPr lang="en-US" sz="900" b="1" spc="30" kern="0" dirty="0">
                <a:solidFill>
                  <a:srgbClr val="46606E"/>
                </a:solidFill>
                <a:latin typeface="IBM Plex Sans" pitchFamily="34" charset="0"/>
                <a:ea typeface="IBM Plex Sans" pitchFamily="34" charset="-122"/>
                <a:cs typeface="IBM Plex Sans" pitchFamily="34" charset="-120"/>
              </a:rPr>
              <a:t>TARIFS CAVISTES VENDÉE (85)</a:t>
            </a:r>
            <a:endParaRPr lang="en-US" sz="900" dirty="0"/>
          </a:p>
        </p:txBody>
      </p:sp>
      <p:sp>
        <p:nvSpPr>
          <p:cNvPr id="8" name="Text 4"/>
          <p:cNvSpPr/>
          <p:nvPr/>
        </p:nvSpPr>
        <p:spPr>
          <a:xfrm>
            <a:off x="612000" y="8064000"/>
            <a:ext cx="2160000" cy="504000"/>
          </a:xfrm>
          <a:prstGeom prst="rect">
            <a:avLst/>
          </a:prstGeom>
          <a:noFill/>
          <a:ln/>
        </p:spPr>
        <p:txBody>
          <a:bodyPr wrap="square" lIns="0" tIns="0" rIns="0" bIns="0" rtlCol="0" anchor="ctr"/>
          <a:lstStyle/>
          <a:p>
            <a:pPr indent="0" marL="0">
              <a:buNone/>
            </a:pPr>
            <a:r>
              <a:rPr lang="en-US" sz="3400" dirty="0">
                <a:solidFill>
                  <a:srgbClr val="67067C"/>
                </a:solidFill>
                <a:latin typeface="Young Serif" pitchFamily="34" charset="0"/>
                <a:ea typeface="Young Serif" pitchFamily="34" charset="-122"/>
                <a:cs typeface="Young Serif" pitchFamily="34" charset="-120"/>
              </a:rPr>
              <a:t>2026</a:t>
            </a:r>
            <a:endParaRPr lang="en-US" sz="3400" dirty="0"/>
          </a:p>
        </p:txBody>
      </p:sp>
      <p:sp>
        <p:nvSpPr>
          <p:cNvPr id="9" name="Text 5"/>
          <p:cNvSpPr/>
          <p:nvPr/>
        </p:nvSpPr>
        <p:spPr>
          <a:xfrm>
            <a:off x="612000" y="8892000"/>
            <a:ext cx="5040000" cy="180000"/>
          </a:xfrm>
          <a:prstGeom prst="rect">
            <a:avLst/>
          </a:prstGeom>
          <a:noFill/>
          <a:ln/>
        </p:spPr>
        <p:txBody>
          <a:bodyPr wrap="square" lIns="0" tIns="0" rIns="0" bIns="0" rtlCol="0" anchor="ctr"/>
          <a:lstStyle/>
          <a:p>
            <a:pPr indent="0" marL="0">
              <a:buNone/>
            </a:pPr>
            <a:r>
              <a:rPr lang="en-US" sz="560" dirty="0">
                <a:solidFill>
                  <a:srgbClr val="FBF8F1"/>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ADA"/>
        </a:solidFill>
      </p:bgPr>
    </p:bg>
    <p:spTree>
      <p:nvGrpSpPr>
        <p:cNvPr id="1" name=""/>
        <p:cNvGrpSpPr/>
        <p:nvPr/>
      </p:nvGrpSpPr>
      <p:grpSpPr>
        <a:xfrm>
          <a:off x="0" y="0"/>
          <a:ext cx="0" cy="0"/>
          <a:chOff x="0" y="0"/>
          <a:chExt cx="0" cy="0"/>
        </a:xfrm>
      </p:grpSpPr>
      <p:pic>
        <p:nvPicPr>
          <p:cNvPr id="2" name="Image 0" descr="/home/user/philippe1/src/images/logo-agence-scio-detoure.png">    </p:cNvPr>
          <p:cNvPicPr>
            <a:picLocks noChangeAspect="1"/>
          </p:cNvPicPr>
          <p:nvPr/>
        </p:nvPicPr>
        <p:blipFill>
          <a:blip r:embed="rId1"/>
          <a:stretch>
            <a:fillRect/>
          </a:stretch>
        </p:blipFill>
        <p:spPr>
          <a:xfrm>
            <a:off x="828000" y="540000"/>
            <a:ext cx="2664000" cy="649188"/>
          </a:xfrm>
          <a:prstGeom prst="rect">
            <a:avLst/>
          </a:prstGeom>
        </p:spPr>
      </p:pic>
      <p:sp>
        <p:nvSpPr>
          <p:cNvPr id="3" name="Text 0"/>
          <p:cNvSpPr/>
          <p:nvPr/>
        </p:nvSpPr>
        <p:spPr>
          <a:xfrm>
            <a:off x="828000" y="1692000"/>
            <a:ext cx="5400000" cy="1440000"/>
          </a:xfrm>
          <a:prstGeom prst="rect">
            <a:avLst/>
          </a:prstGeom>
          <a:noFill/>
          <a:ln/>
        </p:spPr>
        <p:txBody>
          <a:bodyPr wrap="square" lIns="0" tIns="0" rIns="0" bIns="0" rtlCol="0" anchor="ctr"/>
          <a:lstStyle/>
          <a:p>
            <a:pPr indent="0" marL="0">
              <a:lnSpc>
                <a:spcPct val="130000"/>
              </a:lnSpc>
              <a:buNone/>
            </a:pPr>
            <a:r>
              <a:rPr lang="en-US" sz="1700" dirty="0">
                <a:solidFill>
                  <a:srgbClr val="46606E"/>
                </a:solidFill>
                <a:latin typeface="Young Serif" pitchFamily="34" charset="0"/>
                <a:ea typeface="Young Serif" pitchFamily="34" charset="-122"/>
                <a:cs typeface="Young Serif" pitchFamily="34" charset="-120"/>
              </a:rPr>
              <a:t>L'Agence SCIO, c'est </a:t>
            </a:r>
            <a:pPr indent="0" marL="0">
              <a:lnSpc>
                <a:spcPct val="130000"/>
              </a:lnSpc>
              <a:buNone/>
            </a:pPr>
            <a:r>
              <a:rPr lang="en-US" sz="1700" dirty="0">
                <a:solidFill>
                  <a:srgbClr val="67067C"/>
                </a:solidFill>
                <a:latin typeface="Young Serif" pitchFamily="34" charset="0"/>
                <a:ea typeface="Young Serif" pitchFamily="34" charset="-122"/>
                <a:cs typeface="Young Serif" pitchFamily="34" charset="-120"/>
              </a:rPr>
              <a:t>partager notre savoir et notre passion</a:t>
            </a:r>
            <a:pPr indent="0" marL="0">
              <a:lnSpc>
                <a:spcPct val="130000"/>
              </a:lnSpc>
              <a:buNone/>
            </a:pPr>
            <a:r>
              <a:rPr lang="en-US" sz="1700" dirty="0">
                <a:solidFill>
                  <a:srgbClr val="46606E"/>
                </a:solidFill>
                <a:latin typeface="Young Serif" pitchFamily="34" charset="0"/>
                <a:ea typeface="Young Serif" pitchFamily="34" charset="-122"/>
                <a:cs typeface="Young Serif" pitchFamily="34" charset="-120"/>
              </a:rPr>
              <a:t> en vous proposant des vignerons de tous horizons, avant-gardistes et respectueux de la nature. Découvrez notre sélection. Laissez-vous guider et conseiller.</a:t>
            </a:r>
            <a:endParaRPr lang="en-US" sz="1700" dirty="0"/>
          </a:p>
        </p:txBody>
      </p:sp>
      <p:sp>
        <p:nvSpPr>
          <p:cNvPr id="4" name="Text 1"/>
          <p:cNvSpPr/>
          <p:nvPr/>
        </p:nvSpPr>
        <p:spPr>
          <a:xfrm>
            <a:off x="828000" y="3276000"/>
            <a:ext cx="180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LAURENT</a:t>
            </a:r>
            <a:endParaRPr lang="en-US" sz="800" dirty="0"/>
          </a:p>
        </p:txBody>
      </p:sp>
      <p:sp>
        <p:nvSpPr>
          <p:cNvPr id="5" name="Text 2"/>
          <p:cNvSpPr/>
          <p:nvPr/>
        </p:nvSpPr>
        <p:spPr>
          <a:xfrm>
            <a:off x="828000" y="3456000"/>
            <a:ext cx="1800000" cy="324000"/>
          </a:xfrm>
          <a:prstGeom prst="rect">
            <a:avLst/>
          </a:prstGeom>
          <a:noFill/>
          <a:ln/>
        </p:spPr>
        <p:txBody>
          <a:bodyPr wrap="square" lIns="0" tIns="0" rIns="0" bIns="0" rtlCol="0" anchor="ctr"/>
          <a:lstStyle/>
          <a:p>
            <a:pPr indent="0" marL="0">
              <a:buNone/>
            </a:pPr>
            <a:r>
              <a:rPr lang="en-US" sz="1700" dirty="0">
                <a:solidFill>
                  <a:srgbClr val="67067C"/>
                </a:solidFill>
                <a:latin typeface="Young Serif" pitchFamily="34" charset="0"/>
                <a:ea typeface="Young Serif" pitchFamily="34" charset="-122"/>
                <a:cs typeface="Young Serif" pitchFamily="34" charset="-120"/>
              </a:rPr>
              <a:t>06 80 88 07 55</a:t>
            </a:r>
            <a:endParaRPr lang="en-US" sz="1700" dirty="0"/>
          </a:p>
        </p:txBody>
      </p:sp>
      <p:sp>
        <p:nvSpPr>
          <p:cNvPr id="6" name="Text 3"/>
          <p:cNvSpPr/>
          <p:nvPr/>
        </p:nvSpPr>
        <p:spPr>
          <a:xfrm>
            <a:off x="2808000" y="3276000"/>
            <a:ext cx="180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CARLINE</a:t>
            </a:r>
            <a:endParaRPr lang="en-US" sz="800" dirty="0"/>
          </a:p>
        </p:txBody>
      </p:sp>
      <p:sp>
        <p:nvSpPr>
          <p:cNvPr id="7" name="Text 4"/>
          <p:cNvSpPr/>
          <p:nvPr/>
        </p:nvSpPr>
        <p:spPr>
          <a:xfrm>
            <a:off x="2808000" y="3456000"/>
            <a:ext cx="1800000" cy="324000"/>
          </a:xfrm>
          <a:prstGeom prst="rect">
            <a:avLst/>
          </a:prstGeom>
          <a:noFill/>
          <a:ln/>
        </p:spPr>
        <p:txBody>
          <a:bodyPr wrap="square" lIns="0" tIns="0" rIns="0" bIns="0" rtlCol="0" anchor="ctr"/>
          <a:lstStyle/>
          <a:p>
            <a:pPr indent="0" marL="0">
              <a:buNone/>
            </a:pPr>
            <a:r>
              <a:rPr lang="en-US" sz="1700" dirty="0">
                <a:solidFill>
                  <a:srgbClr val="67067C"/>
                </a:solidFill>
                <a:latin typeface="Young Serif" pitchFamily="34" charset="0"/>
                <a:ea typeface="Young Serif" pitchFamily="34" charset="-122"/>
                <a:cs typeface="Young Serif" pitchFamily="34" charset="-120"/>
              </a:rPr>
              <a:t>06 49 19 16 75</a:t>
            </a:r>
            <a:endParaRPr lang="en-US" sz="1700" dirty="0"/>
          </a:p>
        </p:txBody>
      </p:sp>
      <p:sp>
        <p:nvSpPr>
          <p:cNvPr id="8" name="Text 5"/>
          <p:cNvSpPr/>
          <p:nvPr/>
        </p:nvSpPr>
        <p:spPr>
          <a:xfrm>
            <a:off x="828000" y="3924000"/>
            <a:ext cx="4320000" cy="720000"/>
          </a:xfrm>
          <a:prstGeom prst="rect">
            <a:avLst/>
          </a:prstGeom>
          <a:noFill/>
          <a:ln/>
        </p:spPr>
        <p:txBody>
          <a:bodyPr wrap="square" lIns="0" tIns="0" rIns="0" bIns="0" rtlCol="0" anchor="ctr"/>
          <a:lstStyle/>
          <a:p>
            <a:pPr indent="0" marL="0">
              <a:lnSpc>
                <a:spcPct val="160000"/>
              </a:lnSpc>
              <a:buNone/>
            </a:pPr>
            <a:r>
              <a:rPr lang="en-US" sz="1000" dirty="0">
                <a:solidFill>
                  <a:srgbClr val="46606E"/>
                </a:solidFill>
                <a:latin typeface="Spectral" pitchFamily="34" charset="0"/>
                <a:ea typeface="Spectral" pitchFamily="34" charset="-122"/>
                <a:cs typeface="Spectral" pitchFamily="34" charset="-120"/>
              </a:rPr>
              <a:t>71 avenue de la Libération — 44400 Rezé</a:t>
            </a:r>
            <a:endParaRPr lang="en-US" sz="1000" dirty="0"/>
          </a:p>
          <a:p>
            <a:pPr indent="0" marL="0">
              <a:lnSpc>
                <a:spcPct val="160000"/>
              </a:lnSpc>
              <a:buNone/>
            </a:pPr>
            <a:r>
              <a:rPr lang="en-US" sz="1000" dirty="0">
                <a:solidFill>
                  <a:srgbClr val="46606E"/>
                </a:solidFill>
                <a:latin typeface="Spectral" pitchFamily="34" charset="0"/>
                <a:ea typeface="Spectral" pitchFamily="34" charset="-122"/>
                <a:cs typeface="Spectral" pitchFamily="34" charset="-120"/>
              </a:rPr>
              <a:t>contact@agencescio.com</a:t>
            </a:r>
            <a:endParaRPr lang="en-US" sz="1000" dirty="0"/>
          </a:p>
          <a:p>
            <a:pPr indent="0" marL="0">
              <a:lnSpc>
                <a:spcPct val="160000"/>
              </a:lnSpc>
              <a:buNone/>
            </a:pPr>
            <a:r>
              <a:rPr lang="en-US" sz="1000" dirty="0">
                <a:solidFill>
                  <a:srgbClr val="46606E"/>
                </a:solidFill>
                <a:latin typeface="Spectral" pitchFamily="34" charset="0"/>
                <a:ea typeface="Spectral" pitchFamily="34" charset="-122"/>
                <a:cs typeface="Spectral" pitchFamily="34" charset="-120"/>
              </a:rPr>
              <a:t>www.agencescio.com</a:t>
            </a:r>
            <a:endParaRPr lang="en-US" sz="1000" dirty="0"/>
          </a:p>
        </p:txBody>
      </p:sp>
      <p:pic>
        <p:nvPicPr>
          <p:cNvPr id="9" name="Image 1" descr="/home/user/philippe1/build/deco/coupe-nue.png">    </p:cNvPr>
          <p:cNvPicPr>
            <a:picLocks noChangeAspect="1"/>
          </p:cNvPicPr>
          <p:nvPr/>
        </p:nvPicPr>
        <p:blipFill>
          <a:blip r:embed="rId2"/>
          <a:stretch>
            <a:fillRect/>
          </a:stretch>
        </p:blipFill>
        <p:spPr>
          <a:xfrm>
            <a:off x="828000" y="4860000"/>
            <a:ext cx="6120000" cy="1460455"/>
          </a:xfrm>
          <a:prstGeom prst="rect">
            <a:avLst/>
          </a:prstGeom>
        </p:spPr>
      </p:pic>
      <p:sp>
        <p:nvSpPr>
          <p:cNvPr id="10" name="Shape 6"/>
          <p:cNvSpPr/>
          <p:nvPr/>
        </p:nvSpPr>
        <p:spPr>
          <a:xfrm>
            <a:off x="828000" y="6732000"/>
            <a:ext cx="6120000" cy="0"/>
          </a:xfrm>
          <a:prstGeom prst="line">
            <a:avLst/>
          </a:prstGeom>
          <a:noFill/>
          <a:ln w="10160">
            <a:solidFill>
              <a:srgbClr val="67067C"/>
            </a:solidFill>
            <a:prstDash val="solid"/>
          </a:ln>
        </p:spPr>
      </p:sp>
      <p:sp>
        <p:nvSpPr>
          <p:cNvPr id="11" name="Text 7"/>
          <p:cNvSpPr/>
          <p:nvPr/>
        </p:nvSpPr>
        <p:spPr>
          <a:xfrm>
            <a:off x="828000" y="6840000"/>
            <a:ext cx="1440000" cy="396000"/>
          </a:xfrm>
          <a:prstGeom prst="rect">
            <a:avLst/>
          </a:prstGeom>
          <a:noFill/>
          <a:ln/>
        </p:spPr>
        <p:txBody>
          <a:bodyPr wrap="square" lIns="0" tIns="0" rIns="0" bIns="0" rtlCol="0" anchor="ctr"/>
          <a:lstStyle/>
          <a:p>
            <a:pPr indent="0" marL="0">
              <a:buNone/>
            </a:pPr>
            <a:r>
              <a:rPr lang="en-US" sz="2600" dirty="0">
                <a:solidFill>
                  <a:srgbClr val="67067C"/>
                </a:solidFill>
                <a:latin typeface="Young Serif" pitchFamily="34" charset="0"/>
                <a:ea typeface="Young Serif" pitchFamily="34" charset="-122"/>
                <a:cs typeface="Young Serif" pitchFamily="34" charset="-120"/>
              </a:rPr>
              <a:t>40</a:t>
            </a:r>
            <a:endParaRPr lang="en-US" sz="2600" dirty="0"/>
          </a:p>
        </p:txBody>
      </p:sp>
      <p:sp>
        <p:nvSpPr>
          <p:cNvPr id="12" name="Text 8"/>
          <p:cNvSpPr/>
          <p:nvPr/>
        </p:nvSpPr>
        <p:spPr>
          <a:xfrm>
            <a:off x="828000" y="7236000"/>
            <a:ext cx="1440000" cy="180000"/>
          </a:xfrm>
          <a:prstGeom prst="rect">
            <a:avLst/>
          </a:prstGeom>
          <a:noFill/>
          <a:ln/>
        </p:spPr>
        <p:txBody>
          <a:bodyPr wrap="square" lIns="0" tIns="0" rIns="0" bIns="0" rtlCol="0" anchor="ctr"/>
          <a:lstStyle/>
          <a:p>
            <a:pPr indent="0" marL="0">
              <a:buNone/>
            </a:pPr>
            <a:r>
              <a:rPr lang="en-US" sz="900" dirty="0">
                <a:solidFill>
                  <a:srgbClr val="46606E"/>
                </a:solidFill>
                <a:latin typeface="IBM Plex Sans" pitchFamily="34" charset="0"/>
                <a:ea typeface="IBM Plex Sans" pitchFamily="34" charset="-122"/>
                <a:cs typeface="IBM Plex Sans" pitchFamily="34" charset="-120"/>
              </a:rPr>
              <a:t>domaines</a:t>
            </a:r>
            <a:endParaRPr lang="en-US" sz="900" dirty="0"/>
          </a:p>
        </p:txBody>
      </p:sp>
      <p:sp>
        <p:nvSpPr>
          <p:cNvPr id="13" name="Text 9"/>
          <p:cNvSpPr/>
          <p:nvPr/>
        </p:nvSpPr>
        <p:spPr>
          <a:xfrm>
            <a:off x="2340000" y="6840000"/>
            <a:ext cx="1440000" cy="396000"/>
          </a:xfrm>
          <a:prstGeom prst="rect">
            <a:avLst/>
          </a:prstGeom>
          <a:noFill/>
          <a:ln/>
        </p:spPr>
        <p:txBody>
          <a:bodyPr wrap="square" lIns="0" tIns="0" rIns="0" bIns="0" rtlCol="0" anchor="ctr"/>
          <a:lstStyle/>
          <a:p>
            <a:pPr indent="0" marL="0">
              <a:buNone/>
            </a:pPr>
            <a:r>
              <a:rPr lang="en-US" sz="2600" dirty="0">
                <a:solidFill>
                  <a:srgbClr val="67067C"/>
                </a:solidFill>
                <a:latin typeface="Young Serif" pitchFamily="34" charset="0"/>
                <a:ea typeface="Young Serif" pitchFamily="34" charset="-122"/>
                <a:cs typeface="Young Serif" pitchFamily="34" charset="-120"/>
              </a:rPr>
              <a:t>10</a:t>
            </a:r>
            <a:endParaRPr lang="en-US" sz="2600" dirty="0"/>
          </a:p>
        </p:txBody>
      </p:sp>
      <p:sp>
        <p:nvSpPr>
          <p:cNvPr id="14" name="Text 10"/>
          <p:cNvSpPr/>
          <p:nvPr/>
        </p:nvSpPr>
        <p:spPr>
          <a:xfrm>
            <a:off x="2340000" y="7236000"/>
            <a:ext cx="1440000" cy="180000"/>
          </a:xfrm>
          <a:prstGeom prst="rect">
            <a:avLst/>
          </a:prstGeom>
          <a:noFill/>
          <a:ln/>
        </p:spPr>
        <p:txBody>
          <a:bodyPr wrap="square" lIns="0" tIns="0" rIns="0" bIns="0" rtlCol="0" anchor="ctr"/>
          <a:lstStyle/>
          <a:p>
            <a:pPr indent="0" marL="0">
              <a:buNone/>
            </a:pPr>
            <a:r>
              <a:rPr lang="en-US" sz="900" dirty="0">
                <a:solidFill>
                  <a:srgbClr val="46606E"/>
                </a:solidFill>
                <a:latin typeface="IBM Plex Sans" pitchFamily="34" charset="0"/>
                <a:ea typeface="IBM Plex Sans" pitchFamily="34" charset="-122"/>
                <a:cs typeface="IBM Plex Sans" pitchFamily="34" charset="-120"/>
              </a:rPr>
              <a:t>régions</a:t>
            </a:r>
            <a:endParaRPr lang="en-US" sz="900" dirty="0"/>
          </a:p>
        </p:txBody>
      </p:sp>
      <p:sp>
        <p:nvSpPr>
          <p:cNvPr id="15" name="Text 11"/>
          <p:cNvSpPr/>
          <p:nvPr/>
        </p:nvSpPr>
        <p:spPr>
          <a:xfrm>
            <a:off x="3852000" y="6840000"/>
            <a:ext cx="1440000" cy="396000"/>
          </a:xfrm>
          <a:prstGeom prst="rect">
            <a:avLst/>
          </a:prstGeom>
          <a:noFill/>
          <a:ln/>
        </p:spPr>
        <p:txBody>
          <a:bodyPr wrap="square" lIns="0" tIns="0" rIns="0" bIns="0" rtlCol="0" anchor="ctr"/>
          <a:lstStyle/>
          <a:p>
            <a:pPr indent="0" marL="0">
              <a:buNone/>
            </a:pPr>
            <a:r>
              <a:rPr lang="en-US" sz="2600" dirty="0">
                <a:solidFill>
                  <a:srgbClr val="67067C"/>
                </a:solidFill>
                <a:latin typeface="Young Serif" pitchFamily="34" charset="0"/>
                <a:ea typeface="Young Serif" pitchFamily="34" charset="-122"/>
                <a:cs typeface="Young Serif" pitchFamily="34" charset="-120"/>
              </a:rPr>
              <a:t>365</a:t>
            </a:r>
            <a:endParaRPr lang="en-US" sz="2600" dirty="0"/>
          </a:p>
        </p:txBody>
      </p:sp>
      <p:sp>
        <p:nvSpPr>
          <p:cNvPr id="16" name="Text 12"/>
          <p:cNvSpPr/>
          <p:nvPr/>
        </p:nvSpPr>
        <p:spPr>
          <a:xfrm>
            <a:off x="3852000" y="7236000"/>
            <a:ext cx="1440000" cy="180000"/>
          </a:xfrm>
          <a:prstGeom prst="rect">
            <a:avLst/>
          </a:prstGeom>
          <a:noFill/>
          <a:ln/>
        </p:spPr>
        <p:txBody>
          <a:bodyPr wrap="square" lIns="0" tIns="0" rIns="0" bIns="0" rtlCol="0" anchor="ctr"/>
          <a:lstStyle/>
          <a:p>
            <a:pPr indent="0" marL="0">
              <a:buNone/>
            </a:pPr>
            <a:r>
              <a:rPr lang="en-US" sz="900" dirty="0">
                <a:solidFill>
                  <a:srgbClr val="46606E"/>
                </a:solidFill>
                <a:latin typeface="IBM Plex Sans" pitchFamily="34" charset="0"/>
                <a:ea typeface="IBM Plex Sans" pitchFamily="34" charset="-122"/>
                <a:cs typeface="IBM Plex Sans" pitchFamily="34" charset="-120"/>
              </a:rPr>
              <a:t>références</a:t>
            </a:r>
            <a:endParaRPr lang="en-US" sz="900" dirty="0"/>
          </a:p>
        </p:txBody>
      </p:sp>
      <p:sp>
        <p:nvSpPr>
          <p:cNvPr id="17" name="Text 13"/>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a:t>
            </a:r>
            <a:endParaRPr lang="en-US" sz="750" dirty="0"/>
          </a:p>
        </p:txBody>
      </p:sp>
      <p:sp>
        <p:nvSpPr>
          <p:cNvPr id="18" name="Text 14"/>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612000" y="540000"/>
            <a:ext cx="6120000" cy="432000"/>
          </a:xfrm>
          <a:prstGeom prst="rect">
            <a:avLst/>
          </a:prstGeom>
          <a:noFill/>
          <a:ln/>
        </p:spPr>
        <p:txBody>
          <a:bodyPr wrap="square" lIns="0" tIns="0" rIns="0" bIns="0" rtlCol="0" anchor="b"/>
          <a:lstStyle/>
          <a:p>
            <a:pPr indent="0" marL="0">
              <a:buNone/>
            </a:pPr>
            <a:r>
              <a:rPr lang="en-US" sz="2400" dirty="0">
                <a:solidFill>
                  <a:srgbClr val="67067C"/>
                </a:solidFill>
                <a:latin typeface="Young Serif" pitchFamily="34" charset="0"/>
                <a:ea typeface="Young Serif" pitchFamily="34" charset="-122"/>
                <a:cs typeface="Young Serif" pitchFamily="34" charset="-120"/>
              </a:rPr>
              <a:t>Comment lire ce catalogue</a:t>
            </a:r>
            <a:endParaRPr lang="en-US" sz="2400" dirty="0"/>
          </a:p>
        </p:txBody>
      </p:sp>
      <p:pic>
        <p:nvPicPr>
          <p:cNvPr id="3" name="Image 0" descr="/home/user/philippe1/build/deco/me-tranche.png">    </p:cNvPr>
          <p:cNvPicPr>
            <a:picLocks noChangeAspect="1"/>
          </p:cNvPicPr>
          <p:nvPr/>
        </p:nvPicPr>
        <p:blipFill>
          <a:blip r:embed="rId1"/>
          <a:stretch>
            <a:fillRect/>
          </a:stretch>
        </p:blipFill>
        <p:spPr>
          <a:xfrm>
            <a:off x="612000" y="1080000"/>
            <a:ext cx="2898000" cy="828000"/>
          </a:xfrm>
          <a:prstGeom prst="rect">
            <a:avLst/>
          </a:prstGeom>
        </p:spPr>
      </p:pic>
      <p:sp>
        <p:nvSpPr>
          <p:cNvPr id="4" name="Text 1"/>
          <p:cNvSpPr/>
          <p:nvPr/>
        </p:nvSpPr>
        <p:spPr>
          <a:xfrm>
            <a:off x="612000" y="1972800"/>
            <a:ext cx="2898000" cy="169200"/>
          </a:xfrm>
          <a:prstGeom prst="rect">
            <a:avLst/>
          </a:prstGeom>
          <a:noFill/>
          <a:ln/>
        </p:spPr>
        <p:txBody>
          <a:bodyPr wrap="square" lIns="0" tIns="0" rIns="0" bIns="0" rtlCol="0" anchor="t"/>
          <a:lstStyle/>
          <a:p>
            <a:pPr indent="0" marL="0">
              <a:lnSpc>
                <a:spcPct val="105000"/>
              </a:lnSpc>
              <a:buNone/>
            </a:pPr>
            <a:r>
              <a:rPr lang="en-US" sz="1150" dirty="0">
                <a:solidFill>
                  <a:srgbClr val="67067C"/>
                </a:solidFill>
                <a:latin typeface="Young Serif" pitchFamily="34" charset="0"/>
                <a:ea typeface="Young Serif" pitchFamily="34" charset="-122"/>
                <a:cs typeface="Young Serif" pitchFamily="34" charset="-120"/>
              </a:rPr>
              <a:t>La tranche vous emmène</a:t>
            </a:r>
            <a:endParaRPr lang="en-US" sz="1150" dirty="0"/>
          </a:p>
        </p:txBody>
      </p:sp>
      <p:sp>
        <p:nvSpPr>
          <p:cNvPr id="5" name="Text 2"/>
          <p:cNvSpPr/>
          <p:nvPr/>
        </p:nvSpPr>
        <p:spPr>
          <a:xfrm>
            <a:off x="612000" y="2192400"/>
            <a:ext cx="2898000" cy="676800"/>
          </a:xfrm>
          <a:prstGeom prst="rect">
            <a:avLst/>
          </a:prstGeom>
          <a:noFill/>
          <a:ln/>
        </p:spPr>
        <p:txBody>
          <a:bodyPr wrap="square" lIns="0" tIns="0" rIns="0" bIns="0" rtlCol="0" anchor="t"/>
          <a:lstStyle/>
          <a:p>
            <a:pPr indent="0" marL="0">
              <a:lnSpc>
                <a:spcPct val="128000"/>
              </a:lnSpc>
              <a:buNone/>
            </a:pPr>
            <a:r>
              <a:rPr lang="en-US" sz="820" dirty="0">
                <a:solidFill>
                  <a:srgbClr val="46606E"/>
                </a:solidFill>
                <a:latin typeface="Spectral" pitchFamily="34" charset="0"/>
                <a:ea typeface="Spectral" pitchFamily="34" charset="-122"/>
                <a:cs typeface="Spectral" pitchFamily="34" charset="-120"/>
              </a:rPr>
              <a:t>Dix régions, dix strates. Sur le bord de chaque page, la strate de la région où vous êtes est pleine et marquée d'or. Catalogue fermé, la tranche affiche les dix bandes : vous ouvrez directement à la bonne région.</a:t>
            </a:r>
            <a:endParaRPr lang="en-US" sz="820" dirty="0"/>
          </a:p>
        </p:txBody>
      </p:sp>
      <p:pic>
        <p:nvPicPr>
          <p:cNvPr id="6" name="Image 1" descr="/home/user/philippe1/build/deco/me-prix.png">    </p:cNvPr>
          <p:cNvPicPr>
            <a:picLocks noChangeAspect="1"/>
          </p:cNvPicPr>
          <p:nvPr/>
        </p:nvPicPr>
        <p:blipFill>
          <a:blip r:embed="rId2"/>
          <a:stretch>
            <a:fillRect/>
          </a:stretch>
        </p:blipFill>
        <p:spPr>
          <a:xfrm>
            <a:off x="3834000" y="1080000"/>
            <a:ext cx="2898000" cy="828000"/>
          </a:xfrm>
          <a:prstGeom prst="rect">
            <a:avLst/>
          </a:prstGeom>
        </p:spPr>
      </p:pic>
      <p:sp>
        <p:nvSpPr>
          <p:cNvPr id="7" name="Text 3"/>
          <p:cNvSpPr/>
          <p:nvPr/>
        </p:nvSpPr>
        <p:spPr>
          <a:xfrm>
            <a:off x="3834000" y="1972800"/>
            <a:ext cx="2898000" cy="338400"/>
          </a:xfrm>
          <a:prstGeom prst="rect">
            <a:avLst/>
          </a:prstGeom>
          <a:noFill/>
          <a:ln/>
        </p:spPr>
        <p:txBody>
          <a:bodyPr wrap="square" lIns="0" tIns="0" rIns="0" bIns="0" rtlCol="0" anchor="t"/>
          <a:lstStyle/>
          <a:p>
            <a:pPr indent="0" marL="0">
              <a:lnSpc>
                <a:spcPct val="105000"/>
              </a:lnSpc>
              <a:buNone/>
            </a:pPr>
            <a:r>
              <a:rPr lang="en-US" sz="1150" dirty="0">
                <a:solidFill>
                  <a:srgbClr val="67067C"/>
                </a:solidFill>
                <a:latin typeface="Young Serif" pitchFamily="34" charset="0"/>
                <a:ea typeface="Young Serif" pitchFamily="34" charset="-122"/>
                <a:cs typeface="Young Serif" pitchFamily="34" charset="-120"/>
              </a:rPr>
              <a:t>Le prix tombe toujours au même endroit</a:t>
            </a:r>
            <a:endParaRPr lang="en-US" sz="1150" dirty="0"/>
          </a:p>
        </p:txBody>
      </p:sp>
      <p:sp>
        <p:nvSpPr>
          <p:cNvPr id="8" name="Text 4"/>
          <p:cNvSpPr/>
          <p:nvPr/>
        </p:nvSpPr>
        <p:spPr>
          <a:xfrm>
            <a:off x="3834000" y="2361600"/>
            <a:ext cx="2898000" cy="676800"/>
          </a:xfrm>
          <a:prstGeom prst="rect">
            <a:avLst/>
          </a:prstGeom>
          <a:noFill/>
          <a:ln/>
        </p:spPr>
        <p:txBody>
          <a:bodyPr wrap="square" lIns="0" tIns="0" rIns="0" bIns="0" rtlCol="0" anchor="t"/>
          <a:lstStyle/>
          <a:p>
            <a:pPr indent="0" marL="0">
              <a:lnSpc>
                <a:spcPct val="128000"/>
              </a:lnSpc>
              <a:buNone/>
            </a:pPr>
            <a:r>
              <a:rPr lang="en-US" sz="820" dirty="0">
                <a:solidFill>
                  <a:srgbClr val="46606E"/>
                </a:solidFill>
                <a:latin typeface="Spectral" pitchFamily="34" charset="0"/>
                <a:ea typeface="Spectral" pitchFamily="34" charset="-122"/>
                <a:cs typeface="Spectral" pitchFamily="34" charset="-120"/>
              </a:rPr>
              <a:t>Le bloc de prix a la même largeur sur les quarante fiches, divisé en autant de parts qu'il y a de paliers. Les paliers, eux, sont ceux de chaque domaine : nous ne les avons pas harmonisés. Un domaine à tarif unique n'a qu'une part.</a:t>
            </a:r>
            <a:endParaRPr lang="en-US" sz="820" dirty="0"/>
          </a:p>
        </p:txBody>
      </p:sp>
      <p:pic>
        <p:nvPicPr>
          <p:cNvPr id="9" name="Image 2" descr="/home/user/philippe1/build/deco/me-pictos.png">    </p:cNvPr>
          <p:cNvPicPr>
            <a:picLocks noChangeAspect="1"/>
          </p:cNvPicPr>
          <p:nvPr/>
        </p:nvPicPr>
        <p:blipFill>
          <a:blip r:embed="rId3"/>
          <a:stretch>
            <a:fillRect/>
          </a:stretch>
        </p:blipFill>
        <p:spPr>
          <a:xfrm>
            <a:off x="612000" y="3164400"/>
            <a:ext cx="2898000" cy="1152000"/>
          </a:xfrm>
          <a:prstGeom prst="rect">
            <a:avLst/>
          </a:prstGeom>
        </p:spPr>
      </p:pic>
      <p:sp>
        <p:nvSpPr>
          <p:cNvPr id="10" name="Text 5"/>
          <p:cNvSpPr/>
          <p:nvPr/>
        </p:nvSpPr>
        <p:spPr>
          <a:xfrm>
            <a:off x="612000" y="4381200"/>
            <a:ext cx="2898000" cy="169200"/>
          </a:xfrm>
          <a:prstGeom prst="rect">
            <a:avLst/>
          </a:prstGeom>
          <a:noFill/>
          <a:ln/>
        </p:spPr>
        <p:txBody>
          <a:bodyPr wrap="square" lIns="0" tIns="0" rIns="0" bIns="0" rtlCol="0" anchor="t"/>
          <a:lstStyle/>
          <a:p>
            <a:pPr indent="0" marL="0">
              <a:lnSpc>
                <a:spcPct val="105000"/>
              </a:lnSpc>
              <a:buNone/>
            </a:pPr>
            <a:r>
              <a:rPr lang="en-US" sz="1150" dirty="0">
                <a:solidFill>
                  <a:srgbClr val="67067C"/>
                </a:solidFill>
                <a:latin typeface="Young Serif" pitchFamily="34" charset="0"/>
                <a:ea typeface="Young Serif" pitchFamily="34" charset="-122"/>
                <a:cs typeface="Young Serif" pitchFamily="34" charset="-120"/>
              </a:rPr>
              <a:t>Les pictos sont les nôtres</a:t>
            </a:r>
            <a:endParaRPr lang="en-US" sz="1150" dirty="0"/>
          </a:p>
        </p:txBody>
      </p:sp>
      <p:sp>
        <p:nvSpPr>
          <p:cNvPr id="11" name="Text 6"/>
          <p:cNvSpPr/>
          <p:nvPr/>
        </p:nvSpPr>
        <p:spPr>
          <a:xfrm>
            <a:off x="612000" y="4600800"/>
            <a:ext cx="2898000" cy="676800"/>
          </a:xfrm>
          <a:prstGeom prst="rect">
            <a:avLst/>
          </a:prstGeom>
          <a:noFill/>
          <a:ln/>
        </p:spPr>
        <p:txBody>
          <a:bodyPr wrap="square" lIns="0" tIns="0" rIns="0" bIns="0" rtlCol="0" anchor="t"/>
          <a:lstStyle/>
          <a:p>
            <a:pPr indent="0" marL="0">
              <a:lnSpc>
                <a:spcPct val="128000"/>
              </a:lnSpc>
              <a:buNone/>
            </a:pPr>
            <a:r>
              <a:rPr lang="en-US" sz="820" dirty="0">
                <a:solidFill>
                  <a:srgbClr val="46606E"/>
                </a:solidFill>
                <a:latin typeface="Spectral" pitchFamily="34" charset="0"/>
                <a:ea typeface="Spectral" pitchFamily="34" charset="-122"/>
                <a:cs typeface="Spectral" pitchFamily="34" charset="-120"/>
              </a:rPr>
              <a:t>Une forme par type : bulles, blanc, rosé, rouge, doux, sans alcool, jus de cépages, bière, spiritueux. Ce sont </a:t>
            </a:r>
            <a:pPr indent="0" marL="0">
              <a:lnSpc>
                <a:spcPct val="128000"/>
              </a:lnSpc>
              <a:buNone/>
            </a:pPr>
            <a:r>
              <a:rPr lang="en-US" sz="820" b="1" dirty="0">
                <a:solidFill>
                  <a:srgbClr val="46606E"/>
                </a:solidFill>
                <a:latin typeface="Spectral" pitchFamily="34" charset="0"/>
                <a:ea typeface="Spectral" pitchFamily="34" charset="-122"/>
                <a:cs typeface="Spectral" pitchFamily="34" charset="-120"/>
              </a:rPr>
              <a:t>nos</a:t>
            </a:r>
            <a:pPr indent="0" marL="0">
              <a:lnSpc>
                <a:spcPct val="128000"/>
              </a:lnSpc>
              <a:buNone/>
            </a:pPr>
            <a:r>
              <a:rPr lang="en-US" sz="820" dirty="0">
                <a:solidFill>
                  <a:srgbClr val="46606E"/>
                </a:solidFill>
                <a:latin typeface="Spectral" pitchFamily="34" charset="0"/>
                <a:ea typeface="Spectral" pitchFamily="34" charset="-122"/>
                <a:cs typeface="Spectral" pitchFamily="34" charset="-120"/>
              </a:rPr>
              <a:t> pictos, dessinés pour ce catalogue : ce ne sont pas les logos officiels des organismes certificateurs.</a:t>
            </a:r>
            <a:endParaRPr lang="en-US" sz="820" dirty="0"/>
          </a:p>
        </p:txBody>
      </p:sp>
      <p:pic>
        <p:nvPicPr>
          <p:cNvPr id="12" name="Image 3" descr="/home/user/philippe1/build/deco/me-jetons.png">    </p:cNvPr>
          <p:cNvPicPr>
            <a:picLocks noChangeAspect="1"/>
          </p:cNvPicPr>
          <p:nvPr/>
        </p:nvPicPr>
        <p:blipFill>
          <a:blip r:embed="rId4"/>
          <a:stretch>
            <a:fillRect/>
          </a:stretch>
        </p:blipFill>
        <p:spPr>
          <a:xfrm>
            <a:off x="3834000" y="3164400"/>
            <a:ext cx="2898000" cy="828000"/>
          </a:xfrm>
          <a:prstGeom prst="rect">
            <a:avLst/>
          </a:prstGeom>
        </p:spPr>
      </p:pic>
      <p:sp>
        <p:nvSpPr>
          <p:cNvPr id="13" name="Text 7"/>
          <p:cNvSpPr/>
          <p:nvPr/>
        </p:nvSpPr>
        <p:spPr>
          <a:xfrm>
            <a:off x="3834000" y="4057200"/>
            <a:ext cx="2898000" cy="169200"/>
          </a:xfrm>
          <a:prstGeom prst="rect">
            <a:avLst/>
          </a:prstGeom>
          <a:noFill/>
          <a:ln/>
        </p:spPr>
        <p:txBody>
          <a:bodyPr wrap="square" lIns="0" tIns="0" rIns="0" bIns="0" rtlCol="0" anchor="t"/>
          <a:lstStyle/>
          <a:p>
            <a:pPr indent="0" marL="0">
              <a:lnSpc>
                <a:spcPct val="105000"/>
              </a:lnSpc>
              <a:buNone/>
            </a:pPr>
            <a:r>
              <a:rPr lang="en-US" sz="1150" dirty="0">
                <a:solidFill>
                  <a:srgbClr val="67067C"/>
                </a:solidFill>
                <a:latin typeface="Young Serif" pitchFamily="34" charset="0"/>
                <a:ea typeface="Young Serif" pitchFamily="34" charset="-122"/>
                <a:cs typeface="Young Serif" pitchFamily="34" charset="-120"/>
              </a:rPr>
              <a:t>Les mentions</a:t>
            </a:r>
            <a:endParaRPr lang="en-US" sz="1150" dirty="0"/>
          </a:p>
        </p:txBody>
      </p:sp>
      <p:sp>
        <p:nvSpPr>
          <p:cNvPr id="14" name="Text 8"/>
          <p:cNvSpPr/>
          <p:nvPr/>
        </p:nvSpPr>
        <p:spPr>
          <a:xfrm>
            <a:off x="3834000" y="4276800"/>
            <a:ext cx="2898000" cy="828000"/>
          </a:xfrm>
          <a:prstGeom prst="rect">
            <a:avLst/>
          </a:prstGeom>
          <a:noFill/>
          <a:ln/>
        </p:spPr>
        <p:txBody>
          <a:bodyPr wrap="square" lIns="0" tIns="0" rIns="0" bIns="0" rtlCol="0" anchor="t"/>
          <a:lstStyle/>
          <a:p>
            <a:pPr indent="0" marL="0">
              <a:lnSpc>
                <a:spcPct val="128000"/>
              </a:lnSpc>
              <a:buNone/>
            </a:pPr>
            <a:r>
              <a:rPr lang="en-US" sz="820" b="1" dirty="0">
                <a:solidFill>
                  <a:srgbClr val="46606E"/>
                </a:solidFill>
                <a:latin typeface="Spectral" pitchFamily="34" charset="0"/>
                <a:ea typeface="Spectral" pitchFamily="34" charset="-122"/>
                <a:cs typeface="Spectral" pitchFamily="34" charset="-120"/>
              </a:rPr>
              <a:t>Allocation</a:t>
            </a:r>
            <a:pPr indent="0" marL="0">
              <a:lnSpc>
                <a:spcPct val="128000"/>
              </a:lnSpc>
              <a:buNone/>
            </a:pPr>
            <a:r>
              <a:rPr lang="en-US" sz="820" dirty="0">
                <a:solidFill>
                  <a:srgbClr val="46606E"/>
                </a:solidFill>
                <a:latin typeface="Spectral" pitchFamily="34" charset="0"/>
                <a:ea typeface="Spectral" pitchFamily="34" charset="-122"/>
                <a:cs typeface="Spectral" pitchFamily="34" charset="-120"/>
              </a:rPr>
              <a:t> : quantités limitées, à réserver. </a:t>
            </a:r>
            <a:pPr indent="0" marL="0">
              <a:lnSpc>
                <a:spcPct val="128000"/>
              </a:lnSpc>
              <a:buNone/>
            </a:pPr>
            <a:r>
              <a:rPr lang="en-US" sz="820" b="1" dirty="0">
                <a:solidFill>
                  <a:srgbClr val="46606E"/>
                </a:solidFill>
                <a:latin typeface="Spectral" pitchFamily="34" charset="0"/>
                <a:ea typeface="Spectral" pitchFamily="34" charset="-122"/>
                <a:cs typeface="Spectral" pitchFamily="34" charset="-120"/>
              </a:rPr>
              <a:t>Panachage</a:t>
            </a:r>
            <a:pPr indent="0" marL="0">
              <a:lnSpc>
                <a:spcPct val="128000"/>
              </a:lnSpc>
              <a:buNone/>
            </a:pPr>
            <a:r>
              <a:rPr lang="en-US" sz="820" dirty="0">
                <a:solidFill>
                  <a:srgbClr val="46606E"/>
                </a:solidFill>
                <a:latin typeface="Spectral" pitchFamily="34" charset="0"/>
                <a:ea typeface="Spectral" pitchFamily="34" charset="-122"/>
                <a:cs typeface="Spectral" pitchFamily="34" charset="-120"/>
              </a:rPr>
              <a:t> : vous pouvez mélanger à l'intérieur du domaine, et parfois entre plusieurs domaines — les quatre alliances sont page 7. </a:t>
            </a:r>
            <a:pPr indent="0" marL="0">
              <a:lnSpc>
                <a:spcPct val="128000"/>
              </a:lnSpc>
              <a:buNone/>
            </a:pPr>
            <a:r>
              <a:rPr lang="en-US" sz="820" b="1" dirty="0">
                <a:solidFill>
                  <a:srgbClr val="46606E"/>
                </a:solidFill>
                <a:latin typeface="Spectral" pitchFamily="34" charset="0"/>
                <a:ea typeface="Spectral" pitchFamily="34" charset="-122"/>
                <a:cs typeface="Spectral" pitchFamily="34" charset="-120"/>
              </a:rPr>
              <a:t>Consultez-nous</a:t>
            </a:r>
            <a:pPr indent="0" marL="0">
              <a:lnSpc>
                <a:spcPct val="128000"/>
              </a:lnSpc>
              <a:buNone/>
            </a:pPr>
            <a:r>
              <a:rPr lang="en-US" sz="820" dirty="0">
                <a:solidFill>
                  <a:srgbClr val="46606E"/>
                </a:solidFill>
                <a:latin typeface="Spectral" pitchFamily="34" charset="0"/>
                <a:ea typeface="Spectral" pitchFamily="34" charset="-122"/>
                <a:cs typeface="Spectral" pitchFamily="34" charset="-120"/>
              </a:rPr>
              <a:t> : le domaine communique ses tarifs et ses offres au cas par cas.</a:t>
            </a:r>
            <a:endParaRPr lang="en-US" sz="820" dirty="0"/>
          </a:p>
        </p:txBody>
      </p:sp>
      <p:pic>
        <p:nvPicPr>
          <p:cNvPr id="15" name="Image 4" descr="/home/user/philippe1/build/deco/me-paliers.png">    </p:cNvPr>
          <p:cNvPicPr>
            <a:picLocks noChangeAspect="1"/>
          </p:cNvPicPr>
          <p:nvPr/>
        </p:nvPicPr>
        <p:blipFill>
          <a:blip r:embed="rId5"/>
          <a:stretch>
            <a:fillRect/>
          </a:stretch>
        </p:blipFill>
        <p:spPr>
          <a:xfrm>
            <a:off x="612000" y="5403600"/>
            <a:ext cx="2898000" cy="828000"/>
          </a:xfrm>
          <a:prstGeom prst="rect">
            <a:avLst/>
          </a:prstGeom>
        </p:spPr>
      </p:pic>
      <p:sp>
        <p:nvSpPr>
          <p:cNvPr id="16" name="Text 9"/>
          <p:cNvSpPr/>
          <p:nvPr/>
        </p:nvSpPr>
        <p:spPr>
          <a:xfrm>
            <a:off x="612000" y="6296400"/>
            <a:ext cx="2898000" cy="169200"/>
          </a:xfrm>
          <a:prstGeom prst="rect">
            <a:avLst/>
          </a:prstGeom>
          <a:noFill/>
          <a:ln/>
        </p:spPr>
        <p:txBody>
          <a:bodyPr wrap="square" lIns="0" tIns="0" rIns="0" bIns="0" rtlCol="0" anchor="t"/>
          <a:lstStyle/>
          <a:p>
            <a:pPr indent="0" marL="0">
              <a:lnSpc>
                <a:spcPct val="105000"/>
              </a:lnSpc>
              <a:buNone/>
            </a:pPr>
            <a:r>
              <a:rPr lang="en-US" sz="1150" dirty="0">
                <a:solidFill>
                  <a:srgbClr val="67067C"/>
                </a:solidFill>
                <a:latin typeface="Young Serif" pitchFamily="34" charset="0"/>
                <a:ea typeface="Young Serif" pitchFamily="34" charset="-122"/>
                <a:cs typeface="Young Serif" pitchFamily="34" charset="-120"/>
              </a:rPr>
              <a:t>Les paliers sont ceux du domaine</a:t>
            </a:r>
            <a:endParaRPr lang="en-US" sz="1150" dirty="0"/>
          </a:p>
        </p:txBody>
      </p:sp>
      <p:sp>
        <p:nvSpPr>
          <p:cNvPr id="17" name="Text 10"/>
          <p:cNvSpPr/>
          <p:nvPr/>
        </p:nvSpPr>
        <p:spPr>
          <a:xfrm>
            <a:off x="612000" y="6516000"/>
            <a:ext cx="2898000" cy="828000"/>
          </a:xfrm>
          <a:prstGeom prst="rect">
            <a:avLst/>
          </a:prstGeom>
          <a:noFill/>
          <a:ln/>
        </p:spPr>
        <p:txBody>
          <a:bodyPr wrap="square" lIns="0" tIns="0" rIns="0" bIns="0" rtlCol="0" anchor="t"/>
          <a:lstStyle/>
          <a:p>
            <a:pPr indent="0" marL="0">
              <a:lnSpc>
                <a:spcPct val="128000"/>
              </a:lnSpc>
              <a:buNone/>
            </a:pPr>
            <a:r>
              <a:rPr lang="en-US" sz="820" dirty="0">
                <a:solidFill>
                  <a:srgbClr val="46606E"/>
                </a:solidFill>
                <a:latin typeface="Spectral" pitchFamily="34" charset="0"/>
                <a:ea typeface="Spectral" pitchFamily="34" charset="-122"/>
                <a:cs typeface="Spectral" pitchFamily="34" charset="-120"/>
              </a:rPr>
              <a:t>Treize notations différentes dans cette sélection, toutes recopiées telles quelles : bouteilles, cols, bag-in-box, demi-palette, palette, ou tarif unique. </a:t>
            </a:r>
            <a:pPr indent="0" marL="0">
              <a:lnSpc>
                <a:spcPct val="128000"/>
              </a:lnSpc>
              <a:buNone/>
            </a:pPr>
            <a:r>
              <a:rPr lang="en-US" sz="820" b="1" dirty="0">
                <a:solidFill>
                  <a:srgbClr val="46606E"/>
                </a:solidFill>
                <a:latin typeface="Spectral" pitchFamily="34" charset="0"/>
                <a:ea typeface="Spectral" pitchFamily="34" charset="-122"/>
                <a:cs typeface="Spectral" pitchFamily="34" charset="-120"/>
              </a:rPr>
              <a:t>Nous n'avons harmonisé aucun seuil</a:t>
            </a:r>
            <a:pPr indent="0" marL="0">
              <a:lnSpc>
                <a:spcPct val="128000"/>
              </a:lnSpc>
              <a:buNone/>
            </a:pPr>
            <a:r>
              <a:rPr lang="en-US" sz="820" dirty="0">
                <a:solidFill>
                  <a:srgbClr val="46606E"/>
                </a:solidFill>
                <a:latin typeface="Spectral" pitchFamily="34" charset="0"/>
                <a:ea typeface="Spectral" pitchFamily="34" charset="-122"/>
                <a:cs typeface="Spectral" pitchFamily="34" charset="-120"/>
              </a:rPr>
              <a:t> — une quantité approximative serait une erreur de commande.</a:t>
            </a:r>
            <a:endParaRPr lang="en-US" sz="820" dirty="0"/>
          </a:p>
        </p:txBody>
      </p:sp>
      <p:pic>
        <p:nvPicPr>
          <p:cNvPr id="18" name="Image 5" descr="/home/user/philippe1/build/deco/me-pied.png">    </p:cNvPr>
          <p:cNvPicPr>
            <a:picLocks noChangeAspect="1"/>
          </p:cNvPicPr>
          <p:nvPr/>
        </p:nvPicPr>
        <p:blipFill>
          <a:blip r:embed="rId6"/>
          <a:stretch>
            <a:fillRect/>
          </a:stretch>
        </p:blipFill>
        <p:spPr>
          <a:xfrm>
            <a:off x="3834000" y="5403600"/>
            <a:ext cx="2898000" cy="828000"/>
          </a:xfrm>
          <a:prstGeom prst="rect">
            <a:avLst/>
          </a:prstGeom>
        </p:spPr>
      </p:pic>
      <p:sp>
        <p:nvSpPr>
          <p:cNvPr id="19" name="Text 11"/>
          <p:cNvSpPr/>
          <p:nvPr/>
        </p:nvSpPr>
        <p:spPr>
          <a:xfrm>
            <a:off x="3834000" y="6296400"/>
            <a:ext cx="2898000" cy="169200"/>
          </a:xfrm>
          <a:prstGeom prst="rect">
            <a:avLst/>
          </a:prstGeom>
          <a:noFill/>
          <a:ln/>
        </p:spPr>
        <p:txBody>
          <a:bodyPr wrap="square" lIns="0" tIns="0" rIns="0" bIns="0" rtlCol="0" anchor="t"/>
          <a:lstStyle/>
          <a:p>
            <a:pPr indent="0" marL="0">
              <a:lnSpc>
                <a:spcPct val="105000"/>
              </a:lnSpc>
              <a:buNone/>
            </a:pPr>
            <a:r>
              <a:rPr lang="en-US" sz="1150" dirty="0">
                <a:solidFill>
                  <a:srgbClr val="67067C"/>
                </a:solidFill>
                <a:latin typeface="Young Serif" pitchFamily="34" charset="0"/>
                <a:ea typeface="Young Serif" pitchFamily="34" charset="-122"/>
                <a:cs typeface="Young Serif" pitchFamily="34" charset="-120"/>
              </a:rPr>
              <a:t>Le bas de page dit le reste</a:t>
            </a:r>
            <a:endParaRPr lang="en-US" sz="1150" dirty="0"/>
          </a:p>
        </p:txBody>
      </p:sp>
      <p:sp>
        <p:nvSpPr>
          <p:cNvPr id="20" name="Text 12"/>
          <p:cNvSpPr/>
          <p:nvPr/>
        </p:nvSpPr>
        <p:spPr>
          <a:xfrm>
            <a:off x="3834000" y="6516000"/>
            <a:ext cx="2898000" cy="676800"/>
          </a:xfrm>
          <a:prstGeom prst="rect">
            <a:avLst/>
          </a:prstGeom>
          <a:noFill/>
          <a:ln/>
        </p:spPr>
        <p:txBody>
          <a:bodyPr wrap="square" lIns="0" tIns="0" rIns="0" bIns="0" rtlCol="0" anchor="t"/>
          <a:lstStyle/>
          <a:p>
            <a:pPr indent="0" marL="0">
              <a:lnSpc>
                <a:spcPct val="128000"/>
              </a:lnSpc>
              <a:buNone/>
            </a:pPr>
            <a:r>
              <a:rPr lang="en-US" sz="820" dirty="0">
                <a:solidFill>
                  <a:srgbClr val="46606E"/>
                </a:solidFill>
                <a:latin typeface="Spectral" pitchFamily="34" charset="0"/>
                <a:ea typeface="Spectral" pitchFamily="34" charset="-122"/>
                <a:cs typeface="Spectral" pitchFamily="34" charset="-120"/>
              </a:rPr>
              <a:t>À gauche, les conditions exactes du domaine : hors transport, franco de port, départ chai, départ cave, ou franco à partir d'une quantité. À droite, les départements où ce domaine est distribué. Les deux changent d'une fiche à l'autre.</a:t>
            </a:r>
            <a:endParaRPr lang="en-US" sz="820" dirty="0"/>
          </a:p>
        </p:txBody>
      </p:sp>
      <p:sp>
        <p:nvSpPr>
          <p:cNvPr id="21" name="Shape 13"/>
          <p:cNvSpPr/>
          <p:nvPr/>
        </p:nvSpPr>
        <p:spPr>
          <a:xfrm>
            <a:off x="612000" y="8280000"/>
            <a:ext cx="6120000" cy="0"/>
          </a:xfrm>
          <a:prstGeom prst="line">
            <a:avLst/>
          </a:prstGeom>
          <a:noFill/>
          <a:ln w="10160">
            <a:solidFill>
              <a:srgbClr val="67067C"/>
            </a:solidFill>
            <a:prstDash val="solid"/>
          </a:ln>
        </p:spPr>
      </p:sp>
      <p:sp>
        <p:nvSpPr>
          <p:cNvPr id="22" name="Text 14"/>
          <p:cNvSpPr/>
          <p:nvPr/>
        </p:nvSpPr>
        <p:spPr>
          <a:xfrm>
            <a:off x="612000" y="8337600"/>
            <a:ext cx="6120000" cy="396000"/>
          </a:xfrm>
          <a:prstGeom prst="rect">
            <a:avLst/>
          </a:prstGeom>
          <a:noFill/>
          <a:ln/>
        </p:spPr>
        <p:txBody>
          <a:bodyPr wrap="square" lIns="0" tIns="0" rIns="0" bIns="0" rtlCol="0" anchor="ctr"/>
          <a:lstStyle/>
          <a:p>
            <a:pPr indent="0" marL="0">
              <a:buNone/>
            </a:pPr>
            <a:r>
              <a:rPr lang="en-US" sz="860" dirty="0">
                <a:solidFill>
                  <a:srgbClr val="46606E"/>
                </a:solidFill>
                <a:latin typeface="Spectral" pitchFamily="34" charset="0"/>
                <a:ea typeface="Spectral" pitchFamily="34" charset="-122"/>
                <a:cs typeface="Spectral" pitchFamily="34" charset="-120"/>
              </a:rPr>
              <a:t>Tous les prix sont </a:t>
            </a:r>
            <a:pPr indent="0" marL="0">
              <a:buNone/>
            </a:pPr>
            <a:r>
              <a:rPr lang="en-US" sz="860" b="1" dirty="0">
                <a:solidFill>
                  <a:srgbClr val="67067C"/>
                </a:solidFill>
                <a:latin typeface="Spectral" pitchFamily="34" charset="0"/>
                <a:ea typeface="Spectral" pitchFamily="34" charset="-122"/>
                <a:cs typeface="Spectral" pitchFamily="34" charset="-120"/>
              </a:rPr>
              <a:t>hors taxes, par bouteille</a:t>
            </a:r>
            <a:pPr indent="0" marL="0">
              <a:buNone/>
            </a:pPr>
            <a:r>
              <a:rPr lang="en-US" sz="860" dirty="0">
                <a:solidFill>
                  <a:srgbClr val="46606E"/>
                </a:solidFill>
                <a:latin typeface="Spectral" pitchFamily="34" charset="0"/>
                <a:ea typeface="Spectral" pitchFamily="34" charset="-122"/>
                <a:cs typeface="Spectral" pitchFamily="34" charset="-120"/>
              </a:rPr>
              <a:t>. Les conditions de port diffèrent d'un domaine à l'autre : elles sont écrites en bas de chaque fiche, avec les départements de distribution.</a:t>
            </a:r>
            <a:endParaRPr lang="en-US" sz="860" dirty="0"/>
          </a:p>
        </p:txBody>
      </p:sp>
      <p:sp>
        <p:nvSpPr>
          <p:cNvPr id="23" name="Text 15"/>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a:t>
            </a:r>
            <a:endParaRPr lang="en-US" sz="750" dirty="0"/>
          </a:p>
        </p:txBody>
      </p:sp>
      <p:sp>
        <p:nvSpPr>
          <p:cNvPr id="24" name="Text 16"/>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828000" y="540000"/>
            <a:ext cx="6120000" cy="432000"/>
          </a:xfrm>
          <a:prstGeom prst="rect">
            <a:avLst/>
          </a:prstGeom>
          <a:noFill/>
          <a:ln/>
        </p:spPr>
        <p:txBody>
          <a:bodyPr wrap="square" lIns="0" tIns="0" rIns="0" bIns="0" rtlCol="0" anchor="b"/>
          <a:lstStyle/>
          <a:p>
            <a:pPr indent="0" marL="0">
              <a:buNone/>
            </a:pPr>
            <a:r>
              <a:rPr lang="en-US" sz="2400" dirty="0">
                <a:solidFill>
                  <a:srgbClr val="67067C"/>
                </a:solidFill>
                <a:latin typeface="Young Serif" pitchFamily="34" charset="0"/>
                <a:ea typeface="Young Serif" pitchFamily="34" charset="-122"/>
                <a:cs typeface="Young Serif" pitchFamily="34" charset="-120"/>
              </a:rPr>
              <a:t>La coupe</a:t>
            </a:r>
            <a:endParaRPr lang="en-US" sz="2400" dirty="0"/>
          </a:p>
        </p:txBody>
      </p:sp>
      <p:sp>
        <p:nvSpPr>
          <p:cNvPr id="3" name="Text 1"/>
          <p:cNvSpPr/>
          <p:nvPr/>
        </p:nvSpPr>
        <p:spPr>
          <a:xfrm>
            <a:off x="828000" y="990000"/>
            <a:ext cx="612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SOMMAIRE DES DIX RÉGIONS</a:t>
            </a:r>
            <a:endParaRPr lang="en-US" sz="800" dirty="0"/>
          </a:p>
        </p:txBody>
      </p:sp>
      <p:sp>
        <p:nvSpPr>
          <p:cNvPr id="4" name="Shape 2"/>
          <p:cNvSpPr/>
          <p:nvPr/>
        </p:nvSpPr>
        <p:spPr>
          <a:xfrm>
            <a:off x="828000" y="1296000"/>
            <a:ext cx="6120000" cy="1126125"/>
          </a:xfrm>
          <a:prstGeom prst="roundRect">
            <a:avLst>
              <a:gd name="adj" fmla="val 1218"/>
            </a:avLst>
          </a:prstGeom>
          <a:solidFill>
            <a:srgbClr val="46606E"/>
          </a:solidFill>
          <a:ln w="12700">
            <a:solidFill>
              <a:srgbClr val="46606E"/>
            </a:solidFill>
            <a:prstDash val="solid"/>
          </a:ln>
        </p:spPr>
      </p:sp>
      <p:sp>
        <p:nvSpPr>
          <p:cNvPr id="5" name="Text 3"/>
          <p:cNvSpPr/>
          <p:nvPr/>
        </p:nvSpPr>
        <p:spPr>
          <a:xfrm>
            <a:off x="936000" y="1353600"/>
            <a:ext cx="1800000" cy="216000"/>
          </a:xfrm>
          <a:prstGeom prst="rect">
            <a:avLst/>
          </a:prstGeom>
          <a:noFill/>
          <a:ln/>
        </p:spPr>
        <p:txBody>
          <a:bodyPr wrap="square" lIns="0" tIns="0" rIns="0" bIns="0" rtlCol="0" anchor="ctr"/>
          <a:lstStyle/>
          <a:p>
            <a:pPr indent="0" marL="0">
              <a:buNone/>
            </a:pPr>
            <a:r>
              <a:rPr lang="en-US" sz="1150" dirty="0">
                <a:solidFill>
                  <a:srgbClr val="FBF8F1"/>
                </a:solidFill>
                <a:latin typeface="Young Serif" pitchFamily="34" charset="0"/>
                <a:ea typeface="Young Serif" pitchFamily="34" charset="-122"/>
                <a:cs typeface="Young Serif" pitchFamily="34" charset="-120"/>
              </a:rPr>
              <a:t>Loire</a:t>
            </a:r>
            <a:endParaRPr lang="en-US" sz="1150" dirty="0"/>
          </a:p>
        </p:txBody>
      </p:sp>
      <p:sp>
        <p:nvSpPr>
          <p:cNvPr id="6" name="Text 4"/>
          <p:cNvSpPr/>
          <p:nvPr/>
        </p:nvSpPr>
        <p:spPr>
          <a:xfrm>
            <a:off x="2124000" y="1353600"/>
            <a:ext cx="2520000" cy="216000"/>
          </a:xfrm>
          <a:prstGeom prst="rect">
            <a:avLst/>
          </a:prstGeom>
          <a:noFill/>
          <a:ln/>
        </p:spPr>
        <p:txBody>
          <a:bodyPr wrap="square" lIns="0" tIns="0" rIns="0" bIns="0" rtlCol="0" anchor="ctr"/>
          <a:lstStyle/>
          <a:p>
            <a:pPr indent="0" marL="0">
              <a:buNone/>
            </a:pPr>
            <a:r>
              <a:rPr lang="en-US" sz="700" i="1" dirty="0">
                <a:solidFill>
                  <a:srgbClr val="FBF8F1">
                    <a:alpha val="82000"/>
                  </a:srgbClr>
                </a:solidFill>
                <a:latin typeface="Spectral" pitchFamily="34" charset="0"/>
                <a:ea typeface="Spectral" pitchFamily="34" charset="-122"/>
                <a:cs typeface="Spectral" pitchFamily="34" charset="-120"/>
              </a:rPr>
              <a:t>schistes et tuffeau</a:t>
            </a:r>
            <a:endParaRPr lang="en-US" sz="700" dirty="0"/>
          </a:p>
        </p:txBody>
      </p:sp>
      <p:sp>
        <p:nvSpPr>
          <p:cNvPr id="7" name="Text 5"/>
          <p:cNvSpPr/>
          <p:nvPr/>
        </p:nvSpPr>
        <p:spPr>
          <a:xfrm>
            <a:off x="6516000" y="1353600"/>
            <a:ext cx="324000" cy="216000"/>
          </a:xfrm>
          <a:prstGeom prst="rect">
            <a:avLst/>
          </a:prstGeom>
          <a:noFill/>
          <a:ln/>
        </p:spPr>
        <p:txBody>
          <a:bodyPr wrap="square" lIns="0" tIns="0" rIns="0" bIns="0" rtlCol="0" anchor="ctr"/>
          <a:lstStyle/>
          <a:p>
            <a:pPr algn="ctr" indent="0" marL="0">
              <a:buNone/>
            </a:pPr>
            <a:r>
              <a:rPr lang="en-US" sz="750" b="1" dirty="0">
                <a:solidFill>
                  <a:srgbClr val="FBF8F1"/>
                </a:solidFill>
                <a:latin typeface="IBM Plex Sans" pitchFamily="34" charset="0"/>
                <a:ea typeface="IBM Plex Sans" pitchFamily="34" charset="-122"/>
                <a:cs typeface="IBM Plex Sans" pitchFamily="34" charset="-120"/>
              </a:rPr>
              <a:t>7</a:t>
            </a:r>
            <a:endParaRPr lang="en-US" sz="750" dirty="0"/>
          </a:p>
        </p:txBody>
      </p:sp>
      <p:sp>
        <p:nvSpPr>
          <p:cNvPr id="8" name="Text 6"/>
          <p:cNvSpPr/>
          <p:nvPr/>
        </p:nvSpPr>
        <p:spPr>
          <a:xfrm>
            <a:off x="972000" y="1584000"/>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1  </a:t>
            </a:r>
            <a:pPr indent="0" marL="0">
              <a:buNone/>
            </a:pPr>
            <a:r>
              <a:rPr lang="en-US" sz="740" dirty="0">
                <a:solidFill>
                  <a:srgbClr val="FBF8F1"/>
                </a:solidFill>
                <a:latin typeface="IBM Plex Sans" pitchFamily="34" charset="0"/>
                <a:ea typeface="IBM Plex Sans" pitchFamily="34" charset="-122"/>
                <a:cs typeface="IBM Plex Sans" pitchFamily="34" charset="-120"/>
              </a:rPr>
              <a:t>François Reverdy</a:t>
            </a:r>
            <a:pPr indent="0" marL="0">
              <a:buNone/>
            </a:pPr>
            <a:r>
              <a:rPr lang="en-US" sz="740" b="1" dirty="0">
                <a:solidFill>
                  <a:srgbClr val="FBF8F1"/>
                </a:solidFill>
                <a:latin typeface="IBM Plex Sans" pitchFamily="34" charset="0"/>
                <a:ea typeface="IBM Plex Sans" pitchFamily="34" charset="-122"/>
                <a:cs typeface="IBM Plex Sans" pitchFamily="34" charset="-120"/>
              </a:rPr>
              <a:t>   7</a:t>
            </a:r>
            <a:endParaRPr lang="en-US" sz="740" dirty="0"/>
          </a:p>
        </p:txBody>
      </p:sp>
      <p:sp>
        <p:nvSpPr>
          <p:cNvPr id="9" name="Text 7"/>
          <p:cNvSpPr/>
          <p:nvPr/>
        </p:nvSpPr>
        <p:spPr>
          <a:xfrm>
            <a:off x="972000" y="1713600"/>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2  </a:t>
            </a:r>
            <a:pPr indent="0" marL="0">
              <a:buNone/>
            </a:pPr>
            <a:r>
              <a:rPr lang="en-US" sz="740" dirty="0">
                <a:solidFill>
                  <a:srgbClr val="FBF8F1"/>
                </a:solidFill>
                <a:latin typeface="IBM Plex Sans" pitchFamily="34" charset="0"/>
                <a:ea typeface="IBM Plex Sans" pitchFamily="34" charset="-122"/>
                <a:cs typeface="IBM Plex Sans" pitchFamily="34" charset="-120"/>
              </a:rPr>
              <a:t>Domaine de la Barbinière</a:t>
            </a:r>
            <a:pPr indent="0" marL="0">
              <a:buNone/>
            </a:pPr>
            <a:r>
              <a:rPr lang="en-US" sz="740" b="1" dirty="0">
                <a:solidFill>
                  <a:srgbClr val="FBF8F1"/>
                </a:solidFill>
                <a:latin typeface="IBM Plex Sans" pitchFamily="34" charset="0"/>
                <a:ea typeface="IBM Plex Sans" pitchFamily="34" charset="-122"/>
                <a:cs typeface="IBM Plex Sans" pitchFamily="34" charset="-120"/>
              </a:rPr>
              <a:t>   8</a:t>
            </a:r>
            <a:endParaRPr lang="en-US" sz="740" dirty="0"/>
          </a:p>
        </p:txBody>
      </p:sp>
      <p:sp>
        <p:nvSpPr>
          <p:cNvPr id="10" name="Text 8"/>
          <p:cNvSpPr/>
          <p:nvPr/>
        </p:nvSpPr>
        <p:spPr>
          <a:xfrm>
            <a:off x="972000" y="1843200"/>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3  </a:t>
            </a:r>
            <a:pPr indent="0" marL="0">
              <a:buNone/>
            </a:pPr>
            <a:r>
              <a:rPr lang="en-US" sz="740" dirty="0">
                <a:solidFill>
                  <a:srgbClr val="FBF8F1"/>
                </a:solidFill>
                <a:latin typeface="IBM Plex Sans" pitchFamily="34" charset="0"/>
                <a:ea typeface="IBM Plex Sans" pitchFamily="34" charset="-122"/>
                <a:cs typeface="IBM Plex Sans" pitchFamily="34" charset="-120"/>
              </a:rPr>
              <a:t>Domaine du Colombier / J.Y Bretaudeau</a:t>
            </a:r>
            <a:pPr indent="0" marL="0">
              <a:buNone/>
            </a:pPr>
            <a:r>
              <a:rPr lang="en-US" sz="740" b="1" dirty="0">
                <a:solidFill>
                  <a:srgbClr val="FBF8F1"/>
                </a:solidFill>
                <a:latin typeface="IBM Plex Sans" pitchFamily="34" charset="0"/>
                <a:ea typeface="IBM Plex Sans" pitchFamily="34" charset="-122"/>
                <a:cs typeface="IBM Plex Sans" pitchFamily="34" charset="-120"/>
              </a:rPr>
              <a:t>   9</a:t>
            </a:r>
            <a:endParaRPr lang="en-US" sz="740" dirty="0"/>
          </a:p>
        </p:txBody>
      </p:sp>
      <p:sp>
        <p:nvSpPr>
          <p:cNvPr id="11" name="Text 9"/>
          <p:cNvSpPr/>
          <p:nvPr/>
        </p:nvSpPr>
        <p:spPr>
          <a:xfrm>
            <a:off x="2916000" y="1584000"/>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4  </a:t>
            </a:r>
            <a:pPr indent="0" marL="0">
              <a:buNone/>
            </a:pPr>
            <a:r>
              <a:rPr lang="en-US" sz="740" dirty="0">
                <a:solidFill>
                  <a:srgbClr val="FBF8F1"/>
                </a:solidFill>
                <a:latin typeface="IBM Plex Sans" pitchFamily="34" charset="0"/>
                <a:ea typeface="IBM Plex Sans" pitchFamily="34" charset="-122"/>
                <a:cs typeface="IBM Plex Sans" pitchFamily="34" charset="-120"/>
              </a:rPr>
              <a:t>Domaine des Noëls</a:t>
            </a:r>
            <a:pPr indent="0" marL="0">
              <a:buNone/>
            </a:pPr>
            <a:r>
              <a:rPr lang="en-US" sz="740" b="1" dirty="0">
                <a:solidFill>
                  <a:srgbClr val="FBF8F1"/>
                </a:solidFill>
                <a:latin typeface="IBM Plex Sans" pitchFamily="34" charset="0"/>
                <a:ea typeface="IBM Plex Sans" pitchFamily="34" charset="-122"/>
                <a:cs typeface="IBM Plex Sans" pitchFamily="34" charset="-120"/>
              </a:rPr>
              <a:t>   11</a:t>
            </a:r>
            <a:endParaRPr lang="en-US" sz="740" dirty="0"/>
          </a:p>
        </p:txBody>
      </p:sp>
      <p:sp>
        <p:nvSpPr>
          <p:cNvPr id="12" name="Text 10"/>
          <p:cNvSpPr/>
          <p:nvPr/>
        </p:nvSpPr>
        <p:spPr>
          <a:xfrm>
            <a:off x="2916000" y="1713600"/>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5  </a:t>
            </a:r>
            <a:pPr indent="0" marL="0">
              <a:buNone/>
            </a:pPr>
            <a:r>
              <a:rPr lang="en-US" sz="740" dirty="0">
                <a:solidFill>
                  <a:srgbClr val="FBF8F1"/>
                </a:solidFill>
                <a:latin typeface="IBM Plex Sans" pitchFamily="34" charset="0"/>
                <a:ea typeface="IBM Plex Sans" pitchFamily="34" charset="-122"/>
                <a:cs typeface="IBM Plex Sans" pitchFamily="34" charset="-120"/>
              </a:rPr>
              <a:t>Chai Berteaud Manceau</a:t>
            </a:r>
            <a:pPr indent="0" marL="0">
              <a:buNone/>
            </a:pPr>
            <a:r>
              <a:rPr lang="en-US" sz="740" b="1" dirty="0">
                <a:solidFill>
                  <a:srgbClr val="FBF8F1"/>
                </a:solidFill>
                <a:latin typeface="IBM Plex Sans" pitchFamily="34" charset="0"/>
                <a:ea typeface="IBM Plex Sans" pitchFamily="34" charset="-122"/>
                <a:cs typeface="IBM Plex Sans" pitchFamily="34" charset="-120"/>
              </a:rPr>
              <a:t>   12</a:t>
            </a:r>
            <a:endParaRPr lang="en-US" sz="740" dirty="0"/>
          </a:p>
        </p:txBody>
      </p:sp>
      <p:sp>
        <p:nvSpPr>
          <p:cNvPr id="13" name="Text 11"/>
          <p:cNvSpPr/>
          <p:nvPr/>
        </p:nvSpPr>
        <p:spPr>
          <a:xfrm>
            <a:off x="2916000" y="1843200"/>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6  </a:t>
            </a:r>
            <a:pPr indent="0" marL="0">
              <a:buNone/>
            </a:pPr>
            <a:r>
              <a:rPr lang="en-US" sz="740" dirty="0">
                <a:solidFill>
                  <a:srgbClr val="FBF8F1"/>
                </a:solidFill>
                <a:latin typeface="IBM Plex Sans" pitchFamily="34" charset="0"/>
                <a:ea typeface="IBM Plex Sans" pitchFamily="34" charset="-122"/>
                <a:cs typeface="IBM Plex Sans" pitchFamily="34" charset="-120"/>
              </a:rPr>
              <a:t>Domaine Jean de Villebois</a:t>
            </a:r>
            <a:pPr indent="0" marL="0">
              <a:buNone/>
            </a:pPr>
            <a:r>
              <a:rPr lang="en-US" sz="740" b="1" dirty="0">
                <a:solidFill>
                  <a:srgbClr val="FBF8F1"/>
                </a:solidFill>
                <a:latin typeface="IBM Plex Sans" pitchFamily="34" charset="0"/>
                <a:ea typeface="IBM Plex Sans" pitchFamily="34" charset="-122"/>
                <a:cs typeface="IBM Plex Sans" pitchFamily="34" charset="-120"/>
              </a:rPr>
              <a:t>   13</a:t>
            </a:r>
            <a:endParaRPr lang="en-US" sz="740" dirty="0"/>
          </a:p>
        </p:txBody>
      </p:sp>
      <p:sp>
        <p:nvSpPr>
          <p:cNvPr id="14" name="Text 12"/>
          <p:cNvSpPr/>
          <p:nvPr/>
        </p:nvSpPr>
        <p:spPr>
          <a:xfrm>
            <a:off x="4860000" y="1584000"/>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7  </a:t>
            </a:r>
            <a:pPr indent="0" marL="0">
              <a:buNone/>
            </a:pPr>
            <a:r>
              <a:rPr lang="en-US" sz="740" dirty="0">
                <a:solidFill>
                  <a:srgbClr val="FBF8F1"/>
                </a:solidFill>
                <a:latin typeface="IBM Plex Sans" pitchFamily="34" charset="0"/>
                <a:ea typeface="IBM Plex Sans" pitchFamily="34" charset="-122"/>
                <a:cs typeface="IBM Plex Sans" pitchFamily="34" charset="-120"/>
              </a:rPr>
              <a:t>Divin No Low</a:t>
            </a:r>
            <a:pPr indent="0" marL="0">
              <a:buNone/>
            </a:pPr>
            <a:r>
              <a:rPr lang="en-US" sz="740" b="1" dirty="0">
                <a:solidFill>
                  <a:srgbClr val="FBF8F1"/>
                </a:solidFill>
                <a:latin typeface="IBM Plex Sans" pitchFamily="34" charset="0"/>
                <a:ea typeface="IBM Plex Sans" pitchFamily="34" charset="-122"/>
                <a:cs typeface="IBM Plex Sans" pitchFamily="34" charset="-120"/>
              </a:rPr>
              <a:t>   15</a:t>
            </a:r>
            <a:endParaRPr lang="en-US" sz="740" dirty="0"/>
          </a:p>
        </p:txBody>
      </p:sp>
      <p:sp>
        <p:nvSpPr>
          <p:cNvPr id="15" name="Shape 13"/>
          <p:cNvSpPr/>
          <p:nvPr/>
        </p:nvSpPr>
        <p:spPr>
          <a:xfrm>
            <a:off x="828000" y="2465325"/>
            <a:ext cx="6120000" cy="418275"/>
          </a:xfrm>
          <a:prstGeom prst="roundRect">
            <a:avLst>
              <a:gd name="adj" fmla="val 3279"/>
            </a:avLst>
          </a:prstGeom>
          <a:solidFill>
            <a:srgbClr val="3C5B47"/>
          </a:solidFill>
          <a:ln w="12700">
            <a:solidFill>
              <a:srgbClr val="3C5B47"/>
            </a:solidFill>
            <a:prstDash val="solid"/>
          </a:ln>
        </p:spPr>
      </p:sp>
      <p:sp>
        <p:nvSpPr>
          <p:cNvPr id="16" name="Text 14"/>
          <p:cNvSpPr/>
          <p:nvPr/>
        </p:nvSpPr>
        <p:spPr>
          <a:xfrm>
            <a:off x="936000" y="2522925"/>
            <a:ext cx="1800000" cy="216000"/>
          </a:xfrm>
          <a:prstGeom prst="rect">
            <a:avLst/>
          </a:prstGeom>
          <a:noFill/>
          <a:ln/>
        </p:spPr>
        <p:txBody>
          <a:bodyPr wrap="square" lIns="0" tIns="0" rIns="0" bIns="0" rtlCol="0" anchor="ctr"/>
          <a:lstStyle/>
          <a:p>
            <a:pPr indent="0" marL="0">
              <a:buNone/>
            </a:pPr>
            <a:r>
              <a:rPr lang="en-US" sz="1150" dirty="0">
                <a:solidFill>
                  <a:srgbClr val="FBF8F1"/>
                </a:solidFill>
                <a:latin typeface="Young Serif" pitchFamily="34" charset="0"/>
                <a:ea typeface="Young Serif" pitchFamily="34" charset="-122"/>
                <a:cs typeface="Young Serif" pitchFamily="34" charset="-120"/>
              </a:rPr>
              <a:t>Alsace</a:t>
            </a:r>
            <a:endParaRPr lang="en-US" sz="1150" dirty="0"/>
          </a:p>
        </p:txBody>
      </p:sp>
      <p:sp>
        <p:nvSpPr>
          <p:cNvPr id="17" name="Text 15"/>
          <p:cNvSpPr/>
          <p:nvPr/>
        </p:nvSpPr>
        <p:spPr>
          <a:xfrm>
            <a:off x="2124000" y="2522925"/>
            <a:ext cx="2520000" cy="216000"/>
          </a:xfrm>
          <a:prstGeom prst="rect">
            <a:avLst/>
          </a:prstGeom>
          <a:noFill/>
          <a:ln/>
        </p:spPr>
        <p:txBody>
          <a:bodyPr wrap="square" lIns="0" tIns="0" rIns="0" bIns="0" rtlCol="0" anchor="ctr"/>
          <a:lstStyle/>
          <a:p>
            <a:pPr indent="0" marL="0">
              <a:buNone/>
            </a:pPr>
            <a:r>
              <a:rPr lang="en-US" sz="700" i="1" dirty="0">
                <a:solidFill>
                  <a:srgbClr val="FBF8F1">
                    <a:alpha val="82000"/>
                  </a:srgbClr>
                </a:solidFill>
                <a:latin typeface="Spectral" pitchFamily="34" charset="0"/>
                <a:ea typeface="Spectral" pitchFamily="34" charset="-122"/>
                <a:cs typeface="Spectral" pitchFamily="34" charset="-120"/>
              </a:rPr>
              <a:t>coteaux du Bruderthal</a:t>
            </a:r>
            <a:endParaRPr lang="en-US" sz="700" dirty="0"/>
          </a:p>
        </p:txBody>
      </p:sp>
      <p:sp>
        <p:nvSpPr>
          <p:cNvPr id="18" name="Text 16"/>
          <p:cNvSpPr/>
          <p:nvPr/>
        </p:nvSpPr>
        <p:spPr>
          <a:xfrm>
            <a:off x="6516000" y="2522925"/>
            <a:ext cx="324000" cy="216000"/>
          </a:xfrm>
          <a:prstGeom prst="rect">
            <a:avLst/>
          </a:prstGeom>
          <a:noFill/>
          <a:ln/>
        </p:spPr>
        <p:txBody>
          <a:bodyPr wrap="square" lIns="0" tIns="0" rIns="0" bIns="0" rtlCol="0" anchor="ctr"/>
          <a:lstStyle/>
          <a:p>
            <a:pPr algn="ctr" indent="0" marL="0">
              <a:buNone/>
            </a:pPr>
            <a:r>
              <a:rPr lang="en-US" sz="750" b="1" dirty="0">
                <a:solidFill>
                  <a:srgbClr val="FBF8F1"/>
                </a:solidFill>
                <a:latin typeface="IBM Plex Sans" pitchFamily="34" charset="0"/>
                <a:ea typeface="IBM Plex Sans" pitchFamily="34" charset="-122"/>
                <a:cs typeface="IBM Plex Sans" pitchFamily="34" charset="-120"/>
              </a:rPr>
              <a:t>1</a:t>
            </a:r>
            <a:endParaRPr lang="en-US" sz="750" dirty="0"/>
          </a:p>
        </p:txBody>
      </p:sp>
      <p:sp>
        <p:nvSpPr>
          <p:cNvPr id="19" name="Text 17"/>
          <p:cNvSpPr/>
          <p:nvPr/>
        </p:nvSpPr>
        <p:spPr>
          <a:xfrm>
            <a:off x="972000" y="2753325"/>
            <a:ext cx="2844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8  </a:t>
            </a:r>
            <a:pPr indent="0" marL="0">
              <a:buNone/>
            </a:pPr>
            <a:r>
              <a:rPr lang="en-US" sz="740" dirty="0">
                <a:solidFill>
                  <a:srgbClr val="FBF8F1"/>
                </a:solidFill>
                <a:latin typeface="IBM Plex Sans" pitchFamily="34" charset="0"/>
                <a:ea typeface="IBM Plex Sans" pitchFamily="34" charset="-122"/>
                <a:cs typeface="IBM Plex Sans" pitchFamily="34" charset="-120"/>
              </a:rPr>
              <a:t>Domaine Boehler</a:t>
            </a:r>
            <a:pPr indent="0" marL="0">
              <a:buNone/>
            </a:pPr>
            <a:r>
              <a:rPr lang="en-US" sz="740" b="1" dirty="0">
                <a:solidFill>
                  <a:srgbClr val="FBF8F1"/>
                </a:solidFill>
                <a:latin typeface="IBM Plex Sans" pitchFamily="34" charset="0"/>
                <a:ea typeface="IBM Plex Sans" pitchFamily="34" charset="-122"/>
                <a:cs typeface="IBM Plex Sans" pitchFamily="34" charset="-120"/>
              </a:rPr>
              <a:t>   17</a:t>
            </a:r>
            <a:endParaRPr lang="en-US" sz="740" dirty="0"/>
          </a:p>
        </p:txBody>
      </p:sp>
      <p:sp>
        <p:nvSpPr>
          <p:cNvPr id="20" name="Shape 18"/>
          <p:cNvSpPr/>
          <p:nvPr/>
        </p:nvSpPr>
        <p:spPr>
          <a:xfrm>
            <a:off x="828000" y="2926800"/>
            <a:ext cx="6120000" cy="418275"/>
          </a:xfrm>
          <a:prstGeom prst="roundRect">
            <a:avLst>
              <a:gd name="adj" fmla="val 3279"/>
            </a:avLst>
          </a:prstGeom>
          <a:solidFill>
            <a:srgbClr val="A8515F"/>
          </a:solidFill>
          <a:ln w="12700">
            <a:solidFill>
              <a:srgbClr val="A8515F"/>
            </a:solidFill>
            <a:prstDash val="solid"/>
          </a:ln>
        </p:spPr>
      </p:sp>
      <p:sp>
        <p:nvSpPr>
          <p:cNvPr id="21" name="Text 19"/>
          <p:cNvSpPr/>
          <p:nvPr/>
        </p:nvSpPr>
        <p:spPr>
          <a:xfrm>
            <a:off x="936000" y="2984400"/>
            <a:ext cx="1800000" cy="216000"/>
          </a:xfrm>
          <a:prstGeom prst="rect">
            <a:avLst/>
          </a:prstGeom>
          <a:noFill/>
          <a:ln/>
        </p:spPr>
        <p:txBody>
          <a:bodyPr wrap="square" lIns="0" tIns="0" rIns="0" bIns="0" rtlCol="0" anchor="ctr"/>
          <a:lstStyle/>
          <a:p>
            <a:pPr indent="0" marL="0">
              <a:buNone/>
            </a:pPr>
            <a:r>
              <a:rPr lang="en-US" sz="1150" dirty="0">
                <a:solidFill>
                  <a:srgbClr val="FBF8F1"/>
                </a:solidFill>
                <a:latin typeface="Young Serif" pitchFamily="34" charset="0"/>
                <a:ea typeface="Young Serif" pitchFamily="34" charset="-122"/>
                <a:cs typeface="Young Serif" pitchFamily="34" charset="-120"/>
              </a:rPr>
              <a:t>Beaujolais</a:t>
            </a:r>
            <a:endParaRPr lang="en-US" sz="1150" dirty="0"/>
          </a:p>
        </p:txBody>
      </p:sp>
      <p:sp>
        <p:nvSpPr>
          <p:cNvPr id="22" name="Text 20"/>
          <p:cNvSpPr/>
          <p:nvPr/>
        </p:nvSpPr>
        <p:spPr>
          <a:xfrm>
            <a:off x="2124000" y="2984400"/>
            <a:ext cx="2520000" cy="216000"/>
          </a:xfrm>
          <a:prstGeom prst="rect">
            <a:avLst/>
          </a:prstGeom>
          <a:noFill/>
          <a:ln/>
        </p:spPr>
        <p:txBody>
          <a:bodyPr wrap="square" lIns="0" tIns="0" rIns="0" bIns="0" rtlCol="0" anchor="ctr"/>
          <a:lstStyle/>
          <a:p>
            <a:pPr indent="0" marL="0">
              <a:buNone/>
            </a:pPr>
            <a:r>
              <a:rPr lang="en-US" sz="700" i="1" dirty="0">
                <a:solidFill>
                  <a:srgbClr val="FBF8F1">
                    <a:alpha val="82000"/>
                  </a:srgbClr>
                </a:solidFill>
                <a:latin typeface="Spectral" pitchFamily="34" charset="0"/>
                <a:ea typeface="Spectral" pitchFamily="34" charset="-122"/>
                <a:cs typeface="Spectral" pitchFamily="34" charset="-120"/>
              </a:rPr>
              <a:t>le Clos des Nugues</a:t>
            </a:r>
            <a:endParaRPr lang="en-US" sz="700" dirty="0"/>
          </a:p>
        </p:txBody>
      </p:sp>
      <p:sp>
        <p:nvSpPr>
          <p:cNvPr id="23" name="Text 21"/>
          <p:cNvSpPr/>
          <p:nvPr/>
        </p:nvSpPr>
        <p:spPr>
          <a:xfrm>
            <a:off x="6516000" y="2984400"/>
            <a:ext cx="324000" cy="216000"/>
          </a:xfrm>
          <a:prstGeom prst="rect">
            <a:avLst/>
          </a:prstGeom>
          <a:noFill/>
          <a:ln/>
        </p:spPr>
        <p:txBody>
          <a:bodyPr wrap="square" lIns="0" tIns="0" rIns="0" bIns="0" rtlCol="0" anchor="ctr"/>
          <a:lstStyle/>
          <a:p>
            <a:pPr algn="ctr" indent="0" marL="0">
              <a:buNone/>
            </a:pPr>
            <a:r>
              <a:rPr lang="en-US" sz="750" b="1" dirty="0">
                <a:solidFill>
                  <a:srgbClr val="FBF8F1"/>
                </a:solidFill>
                <a:latin typeface="IBM Plex Sans" pitchFamily="34" charset="0"/>
                <a:ea typeface="IBM Plex Sans" pitchFamily="34" charset="-122"/>
                <a:cs typeface="IBM Plex Sans" pitchFamily="34" charset="-120"/>
              </a:rPr>
              <a:t>1</a:t>
            </a:r>
            <a:endParaRPr lang="en-US" sz="750" dirty="0"/>
          </a:p>
        </p:txBody>
      </p:sp>
      <p:sp>
        <p:nvSpPr>
          <p:cNvPr id="24" name="Text 22"/>
          <p:cNvSpPr/>
          <p:nvPr/>
        </p:nvSpPr>
        <p:spPr>
          <a:xfrm>
            <a:off x="972000" y="3214800"/>
            <a:ext cx="2844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9  </a:t>
            </a:r>
            <a:pPr indent="0" marL="0">
              <a:buNone/>
            </a:pPr>
            <a:r>
              <a:rPr lang="en-US" sz="740" dirty="0">
                <a:solidFill>
                  <a:srgbClr val="FBF8F1"/>
                </a:solidFill>
                <a:latin typeface="IBM Plex Sans" pitchFamily="34" charset="0"/>
                <a:ea typeface="IBM Plex Sans" pitchFamily="34" charset="-122"/>
                <a:cs typeface="IBM Plex Sans" pitchFamily="34" charset="-120"/>
              </a:rPr>
              <a:t>Domaine des Nugues</a:t>
            </a:r>
            <a:pPr indent="0" marL="0">
              <a:buNone/>
            </a:pPr>
            <a:r>
              <a:rPr lang="en-US" sz="740" b="1" dirty="0">
                <a:solidFill>
                  <a:srgbClr val="FBF8F1"/>
                </a:solidFill>
                <a:latin typeface="IBM Plex Sans" pitchFamily="34" charset="0"/>
                <a:ea typeface="IBM Plex Sans" pitchFamily="34" charset="-122"/>
                <a:cs typeface="IBM Plex Sans" pitchFamily="34" charset="-120"/>
              </a:rPr>
              <a:t>   20</a:t>
            </a:r>
            <a:endParaRPr lang="en-US" sz="740" dirty="0"/>
          </a:p>
        </p:txBody>
      </p:sp>
      <p:sp>
        <p:nvSpPr>
          <p:cNvPr id="25" name="Shape 23"/>
          <p:cNvSpPr/>
          <p:nvPr/>
        </p:nvSpPr>
        <p:spPr>
          <a:xfrm>
            <a:off x="828000" y="3388275"/>
            <a:ext cx="6120000" cy="965250"/>
          </a:xfrm>
          <a:prstGeom prst="roundRect">
            <a:avLst>
              <a:gd name="adj" fmla="val 1421"/>
            </a:avLst>
          </a:prstGeom>
          <a:solidFill>
            <a:srgbClr val="D08C3C"/>
          </a:solidFill>
          <a:ln w="12700">
            <a:solidFill>
              <a:srgbClr val="D08C3C"/>
            </a:solidFill>
            <a:prstDash val="solid"/>
          </a:ln>
        </p:spPr>
      </p:sp>
      <p:sp>
        <p:nvSpPr>
          <p:cNvPr id="26" name="Text 24"/>
          <p:cNvSpPr/>
          <p:nvPr/>
        </p:nvSpPr>
        <p:spPr>
          <a:xfrm>
            <a:off x="936000" y="3445875"/>
            <a:ext cx="1800000" cy="216000"/>
          </a:xfrm>
          <a:prstGeom prst="rect">
            <a:avLst/>
          </a:prstGeom>
          <a:noFill/>
          <a:ln/>
        </p:spPr>
        <p:txBody>
          <a:bodyPr wrap="square" lIns="0" tIns="0" rIns="0" bIns="0" rtlCol="0" anchor="ctr"/>
          <a:lstStyle/>
          <a:p>
            <a:pPr indent="0" marL="0">
              <a:buNone/>
            </a:pPr>
            <a:r>
              <a:rPr lang="en-US" sz="1150" dirty="0">
                <a:solidFill>
                  <a:srgbClr val="FBF8F1"/>
                </a:solidFill>
                <a:latin typeface="Young Serif" pitchFamily="34" charset="0"/>
                <a:ea typeface="Young Serif" pitchFamily="34" charset="-122"/>
                <a:cs typeface="Young Serif" pitchFamily="34" charset="-120"/>
              </a:rPr>
              <a:t>Bourgogne</a:t>
            </a:r>
            <a:endParaRPr lang="en-US" sz="1150" dirty="0"/>
          </a:p>
        </p:txBody>
      </p:sp>
      <p:sp>
        <p:nvSpPr>
          <p:cNvPr id="27" name="Text 25"/>
          <p:cNvSpPr/>
          <p:nvPr/>
        </p:nvSpPr>
        <p:spPr>
          <a:xfrm>
            <a:off x="2124000" y="3445875"/>
            <a:ext cx="2520000" cy="216000"/>
          </a:xfrm>
          <a:prstGeom prst="rect">
            <a:avLst/>
          </a:prstGeom>
          <a:noFill/>
          <a:ln/>
        </p:spPr>
        <p:txBody>
          <a:bodyPr wrap="square" lIns="0" tIns="0" rIns="0" bIns="0" rtlCol="0" anchor="ctr"/>
          <a:lstStyle/>
          <a:p>
            <a:pPr indent="0" marL="0">
              <a:buNone/>
            </a:pPr>
            <a:r>
              <a:rPr lang="en-US" sz="700" i="1" dirty="0">
                <a:solidFill>
                  <a:srgbClr val="FBF8F1">
                    <a:alpha val="82000"/>
                  </a:srgbClr>
                </a:solidFill>
                <a:latin typeface="Spectral" pitchFamily="34" charset="0"/>
                <a:ea typeface="Spectral" pitchFamily="34" charset="-122"/>
                <a:cs typeface="Spectral" pitchFamily="34" charset="-120"/>
              </a:rPr>
              <a:t>climats et terrasses</a:t>
            </a:r>
            <a:endParaRPr lang="en-US" sz="700" dirty="0"/>
          </a:p>
        </p:txBody>
      </p:sp>
      <p:sp>
        <p:nvSpPr>
          <p:cNvPr id="28" name="Text 26"/>
          <p:cNvSpPr/>
          <p:nvPr/>
        </p:nvSpPr>
        <p:spPr>
          <a:xfrm>
            <a:off x="6516000" y="3445875"/>
            <a:ext cx="324000" cy="216000"/>
          </a:xfrm>
          <a:prstGeom prst="rect">
            <a:avLst/>
          </a:prstGeom>
          <a:noFill/>
          <a:ln/>
        </p:spPr>
        <p:txBody>
          <a:bodyPr wrap="square" lIns="0" tIns="0" rIns="0" bIns="0" rtlCol="0" anchor="ctr"/>
          <a:lstStyle/>
          <a:p>
            <a:pPr algn="ctr" indent="0" marL="0">
              <a:buNone/>
            </a:pPr>
            <a:r>
              <a:rPr lang="en-US" sz="750" b="1" dirty="0">
                <a:solidFill>
                  <a:srgbClr val="FBF8F1"/>
                </a:solidFill>
                <a:latin typeface="IBM Plex Sans" pitchFamily="34" charset="0"/>
                <a:ea typeface="IBM Plex Sans" pitchFamily="34" charset="-122"/>
                <a:cs typeface="IBM Plex Sans" pitchFamily="34" charset="-120"/>
              </a:rPr>
              <a:t>6</a:t>
            </a:r>
            <a:endParaRPr lang="en-US" sz="750" dirty="0"/>
          </a:p>
        </p:txBody>
      </p:sp>
      <p:sp>
        <p:nvSpPr>
          <p:cNvPr id="29" name="Text 27"/>
          <p:cNvSpPr/>
          <p:nvPr/>
        </p:nvSpPr>
        <p:spPr>
          <a:xfrm>
            <a:off x="972000" y="3676275"/>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10  </a:t>
            </a:r>
            <a:pPr indent="0" marL="0">
              <a:buNone/>
            </a:pPr>
            <a:r>
              <a:rPr lang="en-US" sz="740" dirty="0">
                <a:solidFill>
                  <a:srgbClr val="FBF8F1"/>
                </a:solidFill>
                <a:latin typeface="IBM Plex Sans" pitchFamily="34" charset="0"/>
                <a:ea typeface="IBM Plex Sans" pitchFamily="34" charset="-122"/>
                <a:cs typeface="IBM Plex Sans" pitchFamily="34" charset="-120"/>
              </a:rPr>
              <a:t>Domaine Sébastien Magnien</a:t>
            </a:r>
            <a:pPr indent="0" marL="0">
              <a:buNone/>
            </a:pPr>
            <a:r>
              <a:rPr lang="en-US" sz="740" b="1" dirty="0">
                <a:solidFill>
                  <a:srgbClr val="FBF8F1"/>
                </a:solidFill>
                <a:latin typeface="IBM Plex Sans" pitchFamily="34" charset="0"/>
                <a:ea typeface="IBM Plex Sans" pitchFamily="34" charset="-122"/>
                <a:cs typeface="IBM Plex Sans" pitchFamily="34" charset="-120"/>
              </a:rPr>
              <a:t>   22</a:t>
            </a:r>
            <a:endParaRPr lang="en-US" sz="740" dirty="0"/>
          </a:p>
        </p:txBody>
      </p:sp>
      <p:sp>
        <p:nvSpPr>
          <p:cNvPr id="30" name="Text 28"/>
          <p:cNvSpPr/>
          <p:nvPr/>
        </p:nvSpPr>
        <p:spPr>
          <a:xfrm>
            <a:off x="972000" y="3805875"/>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11  </a:t>
            </a:r>
            <a:pPr indent="0" marL="0">
              <a:buNone/>
            </a:pPr>
            <a:r>
              <a:rPr lang="en-US" sz="740" dirty="0">
                <a:solidFill>
                  <a:srgbClr val="FBF8F1"/>
                </a:solidFill>
                <a:latin typeface="IBM Plex Sans" pitchFamily="34" charset="0"/>
                <a:ea typeface="IBM Plex Sans" pitchFamily="34" charset="-122"/>
                <a:cs typeface="IBM Plex Sans" pitchFamily="34" charset="-120"/>
              </a:rPr>
              <a:t>Domaine Nadine Ferrand</a:t>
            </a:r>
            <a:pPr indent="0" marL="0">
              <a:buNone/>
            </a:pPr>
            <a:r>
              <a:rPr lang="en-US" sz="740" b="1" dirty="0">
                <a:solidFill>
                  <a:srgbClr val="FBF8F1"/>
                </a:solidFill>
                <a:latin typeface="IBM Plex Sans" pitchFamily="34" charset="0"/>
                <a:ea typeface="IBM Plex Sans" pitchFamily="34" charset="-122"/>
                <a:cs typeface="IBM Plex Sans" pitchFamily="34" charset="-120"/>
              </a:rPr>
              <a:t>   24</a:t>
            </a:r>
            <a:endParaRPr lang="en-US" sz="740" dirty="0"/>
          </a:p>
        </p:txBody>
      </p:sp>
      <p:sp>
        <p:nvSpPr>
          <p:cNvPr id="31" name="Text 29"/>
          <p:cNvSpPr/>
          <p:nvPr/>
        </p:nvSpPr>
        <p:spPr>
          <a:xfrm>
            <a:off x="2916000" y="3676275"/>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12  </a:t>
            </a:r>
            <a:pPr indent="0" marL="0">
              <a:buNone/>
            </a:pPr>
            <a:r>
              <a:rPr lang="en-US" sz="740" dirty="0">
                <a:solidFill>
                  <a:srgbClr val="FBF8F1"/>
                </a:solidFill>
                <a:latin typeface="IBM Plex Sans" pitchFamily="34" charset="0"/>
                <a:ea typeface="IBM Plex Sans" pitchFamily="34" charset="-122"/>
                <a:cs typeface="IBM Plex Sans" pitchFamily="34" charset="-120"/>
              </a:rPr>
              <a:t>Maison et Domaine André Goichot</a:t>
            </a:r>
            <a:pPr indent="0" marL="0">
              <a:buNone/>
            </a:pPr>
            <a:r>
              <a:rPr lang="en-US" sz="740" b="1" dirty="0">
                <a:solidFill>
                  <a:srgbClr val="FBF8F1"/>
                </a:solidFill>
                <a:latin typeface="IBM Plex Sans" pitchFamily="34" charset="0"/>
                <a:ea typeface="IBM Plex Sans" pitchFamily="34" charset="-122"/>
                <a:cs typeface="IBM Plex Sans" pitchFamily="34" charset="-120"/>
              </a:rPr>
              <a:t>   25</a:t>
            </a:r>
            <a:endParaRPr lang="en-US" sz="740" dirty="0"/>
          </a:p>
        </p:txBody>
      </p:sp>
      <p:sp>
        <p:nvSpPr>
          <p:cNvPr id="32" name="Text 30"/>
          <p:cNvSpPr/>
          <p:nvPr/>
        </p:nvSpPr>
        <p:spPr>
          <a:xfrm>
            <a:off x="2916000" y="3805875"/>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13  </a:t>
            </a:r>
            <a:pPr indent="0" marL="0">
              <a:buNone/>
            </a:pPr>
            <a:r>
              <a:rPr lang="en-US" sz="740" dirty="0">
                <a:solidFill>
                  <a:srgbClr val="FBF8F1"/>
                </a:solidFill>
                <a:latin typeface="IBM Plex Sans" pitchFamily="34" charset="0"/>
                <a:ea typeface="IBM Plex Sans" pitchFamily="34" charset="-122"/>
                <a:cs typeface="IBM Plex Sans" pitchFamily="34" charset="-120"/>
              </a:rPr>
              <a:t>Château du Cray</a:t>
            </a:r>
            <a:pPr indent="0" marL="0">
              <a:buNone/>
            </a:pPr>
            <a:r>
              <a:rPr lang="en-US" sz="740" b="1" dirty="0">
                <a:solidFill>
                  <a:srgbClr val="FBF8F1"/>
                </a:solidFill>
                <a:latin typeface="IBM Plex Sans" pitchFamily="34" charset="0"/>
                <a:ea typeface="IBM Plex Sans" pitchFamily="34" charset="-122"/>
                <a:cs typeface="IBM Plex Sans" pitchFamily="34" charset="-120"/>
              </a:rPr>
              <a:t>   27</a:t>
            </a:r>
            <a:endParaRPr lang="en-US" sz="740" dirty="0"/>
          </a:p>
        </p:txBody>
      </p:sp>
      <p:sp>
        <p:nvSpPr>
          <p:cNvPr id="33" name="Text 31"/>
          <p:cNvSpPr/>
          <p:nvPr/>
        </p:nvSpPr>
        <p:spPr>
          <a:xfrm>
            <a:off x="4860000" y="3676275"/>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14  </a:t>
            </a:r>
            <a:pPr indent="0" marL="0">
              <a:buNone/>
            </a:pPr>
            <a:r>
              <a:rPr lang="en-US" sz="740" dirty="0">
                <a:solidFill>
                  <a:srgbClr val="FBF8F1"/>
                </a:solidFill>
                <a:latin typeface="IBM Plex Sans" pitchFamily="34" charset="0"/>
                <a:ea typeface="IBM Plex Sans" pitchFamily="34" charset="-122"/>
                <a:cs typeface="IBM Plex Sans" pitchFamily="34" charset="-120"/>
              </a:rPr>
              <a:t>Domaine Les Guignottes</a:t>
            </a:r>
            <a:pPr indent="0" marL="0">
              <a:buNone/>
            </a:pPr>
            <a:r>
              <a:rPr lang="en-US" sz="740" b="1" dirty="0">
                <a:solidFill>
                  <a:srgbClr val="FBF8F1"/>
                </a:solidFill>
                <a:latin typeface="IBM Plex Sans" pitchFamily="34" charset="0"/>
                <a:ea typeface="IBM Plex Sans" pitchFamily="34" charset="-122"/>
                <a:cs typeface="IBM Plex Sans" pitchFamily="34" charset="-120"/>
              </a:rPr>
              <a:t>   28</a:t>
            </a:r>
            <a:endParaRPr lang="en-US" sz="740" dirty="0"/>
          </a:p>
        </p:txBody>
      </p:sp>
      <p:sp>
        <p:nvSpPr>
          <p:cNvPr id="34" name="Text 32"/>
          <p:cNvSpPr/>
          <p:nvPr/>
        </p:nvSpPr>
        <p:spPr>
          <a:xfrm>
            <a:off x="4860000" y="3805875"/>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15  </a:t>
            </a:r>
            <a:pPr indent="0" marL="0">
              <a:buNone/>
            </a:pPr>
            <a:r>
              <a:rPr lang="en-US" sz="740" dirty="0">
                <a:solidFill>
                  <a:srgbClr val="FBF8F1"/>
                </a:solidFill>
                <a:latin typeface="IBM Plex Sans" pitchFamily="34" charset="0"/>
                <a:ea typeface="IBM Plex Sans" pitchFamily="34" charset="-122"/>
                <a:cs typeface="IBM Plex Sans" pitchFamily="34" charset="-120"/>
              </a:rPr>
              <a:t>Domaine des Verchères</a:t>
            </a:r>
            <a:pPr indent="0" marL="0">
              <a:buNone/>
            </a:pPr>
            <a:r>
              <a:rPr lang="en-US" sz="740" b="1" dirty="0">
                <a:solidFill>
                  <a:srgbClr val="FBF8F1"/>
                </a:solidFill>
                <a:latin typeface="IBM Plex Sans" pitchFamily="34" charset="0"/>
                <a:ea typeface="IBM Plex Sans" pitchFamily="34" charset="-122"/>
                <a:cs typeface="IBM Plex Sans" pitchFamily="34" charset="-120"/>
              </a:rPr>
              <a:t>   29</a:t>
            </a:r>
            <a:endParaRPr lang="en-US" sz="740" dirty="0"/>
          </a:p>
        </p:txBody>
      </p:sp>
      <p:sp>
        <p:nvSpPr>
          <p:cNvPr id="35" name="Shape 33"/>
          <p:cNvSpPr/>
          <p:nvPr/>
        </p:nvSpPr>
        <p:spPr>
          <a:xfrm>
            <a:off x="828000" y="4396725"/>
            <a:ext cx="6120000" cy="965250"/>
          </a:xfrm>
          <a:prstGeom prst="roundRect">
            <a:avLst>
              <a:gd name="adj" fmla="val 1421"/>
            </a:avLst>
          </a:prstGeom>
          <a:solidFill>
            <a:srgbClr val="3C5B47"/>
          </a:solidFill>
          <a:ln w="12700">
            <a:solidFill>
              <a:srgbClr val="3C5B47"/>
            </a:solidFill>
            <a:prstDash val="solid"/>
          </a:ln>
        </p:spPr>
      </p:sp>
      <p:sp>
        <p:nvSpPr>
          <p:cNvPr id="36" name="Text 34"/>
          <p:cNvSpPr/>
          <p:nvPr/>
        </p:nvSpPr>
        <p:spPr>
          <a:xfrm>
            <a:off x="936000" y="4454325"/>
            <a:ext cx="1800000" cy="216000"/>
          </a:xfrm>
          <a:prstGeom prst="rect">
            <a:avLst/>
          </a:prstGeom>
          <a:noFill/>
          <a:ln/>
        </p:spPr>
        <p:txBody>
          <a:bodyPr wrap="square" lIns="0" tIns="0" rIns="0" bIns="0" rtlCol="0" anchor="ctr"/>
          <a:lstStyle/>
          <a:p>
            <a:pPr indent="0" marL="0">
              <a:buNone/>
            </a:pPr>
            <a:r>
              <a:rPr lang="en-US" sz="1150" dirty="0">
                <a:solidFill>
                  <a:srgbClr val="FBF8F1"/>
                </a:solidFill>
                <a:latin typeface="Young Serif" pitchFamily="34" charset="0"/>
                <a:ea typeface="Young Serif" pitchFamily="34" charset="-122"/>
                <a:cs typeface="Young Serif" pitchFamily="34" charset="-120"/>
              </a:rPr>
              <a:t>Rhône</a:t>
            </a:r>
            <a:endParaRPr lang="en-US" sz="1150" dirty="0"/>
          </a:p>
        </p:txBody>
      </p:sp>
      <p:sp>
        <p:nvSpPr>
          <p:cNvPr id="37" name="Text 35"/>
          <p:cNvSpPr/>
          <p:nvPr/>
        </p:nvSpPr>
        <p:spPr>
          <a:xfrm>
            <a:off x="2124000" y="4454325"/>
            <a:ext cx="2520000" cy="216000"/>
          </a:xfrm>
          <a:prstGeom prst="rect">
            <a:avLst/>
          </a:prstGeom>
          <a:noFill/>
          <a:ln/>
        </p:spPr>
        <p:txBody>
          <a:bodyPr wrap="square" lIns="0" tIns="0" rIns="0" bIns="0" rtlCol="0" anchor="ctr"/>
          <a:lstStyle/>
          <a:p>
            <a:pPr indent="0" marL="0">
              <a:buNone/>
            </a:pPr>
            <a:r>
              <a:rPr lang="en-US" sz="700" i="1" dirty="0">
                <a:solidFill>
                  <a:srgbClr val="FBF8F1">
                    <a:alpha val="82000"/>
                  </a:srgbClr>
                </a:solidFill>
                <a:latin typeface="Spectral" pitchFamily="34" charset="0"/>
                <a:ea typeface="Spectral" pitchFamily="34" charset="-122"/>
                <a:cs typeface="Spectral" pitchFamily="34" charset="-120"/>
              </a:rPr>
              <a:t>sables, grès et Trias</a:t>
            </a:r>
            <a:endParaRPr lang="en-US" sz="700" dirty="0"/>
          </a:p>
        </p:txBody>
      </p:sp>
      <p:sp>
        <p:nvSpPr>
          <p:cNvPr id="38" name="Text 36"/>
          <p:cNvSpPr/>
          <p:nvPr/>
        </p:nvSpPr>
        <p:spPr>
          <a:xfrm>
            <a:off x="6516000" y="4454325"/>
            <a:ext cx="324000" cy="216000"/>
          </a:xfrm>
          <a:prstGeom prst="rect">
            <a:avLst/>
          </a:prstGeom>
          <a:noFill/>
          <a:ln/>
        </p:spPr>
        <p:txBody>
          <a:bodyPr wrap="square" lIns="0" tIns="0" rIns="0" bIns="0" rtlCol="0" anchor="ctr"/>
          <a:lstStyle/>
          <a:p>
            <a:pPr algn="ctr" indent="0" marL="0">
              <a:buNone/>
            </a:pPr>
            <a:r>
              <a:rPr lang="en-US" sz="750" b="1" dirty="0">
                <a:solidFill>
                  <a:srgbClr val="FBF8F1"/>
                </a:solidFill>
                <a:latin typeface="IBM Plex Sans" pitchFamily="34" charset="0"/>
                <a:ea typeface="IBM Plex Sans" pitchFamily="34" charset="-122"/>
                <a:cs typeface="IBM Plex Sans" pitchFamily="34" charset="-120"/>
              </a:rPr>
              <a:t>6</a:t>
            </a:r>
            <a:endParaRPr lang="en-US" sz="750" dirty="0"/>
          </a:p>
        </p:txBody>
      </p:sp>
      <p:sp>
        <p:nvSpPr>
          <p:cNvPr id="39" name="Text 37"/>
          <p:cNvSpPr/>
          <p:nvPr/>
        </p:nvSpPr>
        <p:spPr>
          <a:xfrm>
            <a:off x="972000" y="4684725"/>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16  </a:t>
            </a:r>
            <a:pPr indent="0" marL="0">
              <a:buNone/>
            </a:pPr>
            <a:r>
              <a:rPr lang="en-US" sz="740" dirty="0">
                <a:solidFill>
                  <a:srgbClr val="FBF8F1"/>
                </a:solidFill>
                <a:latin typeface="IBM Plex Sans" pitchFamily="34" charset="0"/>
                <a:ea typeface="IBM Plex Sans" pitchFamily="34" charset="-122"/>
                <a:cs typeface="IBM Plex Sans" pitchFamily="34" charset="-120"/>
              </a:rPr>
              <a:t>Domaine Le Prieuré des Papes</a:t>
            </a:r>
            <a:pPr indent="0" marL="0">
              <a:buNone/>
            </a:pPr>
            <a:r>
              <a:rPr lang="en-US" sz="740" b="1" dirty="0">
                <a:solidFill>
                  <a:srgbClr val="FBF8F1"/>
                </a:solidFill>
                <a:latin typeface="IBM Plex Sans" pitchFamily="34" charset="0"/>
                <a:ea typeface="IBM Plex Sans" pitchFamily="34" charset="-122"/>
                <a:cs typeface="IBM Plex Sans" pitchFamily="34" charset="-120"/>
              </a:rPr>
              <a:t>   31</a:t>
            </a:r>
            <a:endParaRPr lang="en-US" sz="740" dirty="0"/>
          </a:p>
        </p:txBody>
      </p:sp>
      <p:sp>
        <p:nvSpPr>
          <p:cNvPr id="40" name="Text 38"/>
          <p:cNvSpPr/>
          <p:nvPr/>
        </p:nvSpPr>
        <p:spPr>
          <a:xfrm>
            <a:off x="972000" y="4814325"/>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17  </a:t>
            </a:r>
            <a:pPr indent="0" marL="0">
              <a:buNone/>
            </a:pPr>
            <a:r>
              <a:rPr lang="en-US" sz="740" dirty="0">
                <a:solidFill>
                  <a:srgbClr val="FBF8F1"/>
                </a:solidFill>
                <a:latin typeface="IBM Plex Sans" pitchFamily="34" charset="0"/>
                <a:ea typeface="IBM Plex Sans" pitchFamily="34" charset="-122"/>
                <a:cs typeface="IBM Plex Sans" pitchFamily="34" charset="-120"/>
              </a:rPr>
              <a:t>Domaine de Coyeux</a:t>
            </a:r>
            <a:pPr indent="0" marL="0">
              <a:buNone/>
            </a:pPr>
            <a:r>
              <a:rPr lang="en-US" sz="740" b="1" dirty="0">
                <a:solidFill>
                  <a:srgbClr val="FBF8F1"/>
                </a:solidFill>
                <a:latin typeface="IBM Plex Sans" pitchFamily="34" charset="0"/>
                <a:ea typeface="IBM Plex Sans" pitchFamily="34" charset="-122"/>
                <a:cs typeface="IBM Plex Sans" pitchFamily="34" charset="-120"/>
              </a:rPr>
              <a:t>   32</a:t>
            </a:r>
            <a:endParaRPr lang="en-US" sz="740" dirty="0"/>
          </a:p>
        </p:txBody>
      </p:sp>
      <p:sp>
        <p:nvSpPr>
          <p:cNvPr id="41" name="Text 39"/>
          <p:cNvSpPr/>
          <p:nvPr/>
        </p:nvSpPr>
        <p:spPr>
          <a:xfrm>
            <a:off x="2916000" y="4684725"/>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18  </a:t>
            </a:r>
            <a:pPr indent="0" marL="0">
              <a:buNone/>
            </a:pPr>
            <a:r>
              <a:rPr lang="en-US" sz="740" dirty="0">
                <a:solidFill>
                  <a:srgbClr val="FBF8F1"/>
                </a:solidFill>
                <a:latin typeface="IBM Plex Sans" pitchFamily="34" charset="0"/>
                <a:ea typeface="IBM Plex Sans" pitchFamily="34" charset="-122"/>
                <a:cs typeface="IBM Plex Sans" pitchFamily="34" charset="-120"/>
              </a:rPr>
              <a:t>Domaine du Moulin Blanc</a:t>
            </a:r>
            <a:pPr indent="0" marL="0">
              <a:buNone/>
            </a:pPr>
            <a:r>
              <a:rPr lang="en-US" sz="740" b="1" dirty="0">
                <a:solidFill>
                  <a:srgbClr val="FBF8F1"/>
                </a:solidFill>
                <a:latin typeface="IBM Plex Sans" pitchFamily="34" charset="0"/>
                <a:ea typeface="IBM Plex Sans" pitchFamily="34" charset="-122"/>
                <a:cs typeface="IBM Plex Sans" pitchFamily="34" charset="-120"/>
              </a:rPr>
              <a:t>   33</a:t>
            </a:r>
            <a:endParaRPr lang="en-US" sz="740" dirty="0"/>
          </a:p>
        </p:txBody>
      </p:sp>
      <p:sp>
        <p:nvSpPr>
          <p:cNvPr id="42" name="Text 40"/>
          <p:cNvSpPr/>
          <p:nvPr/>
        </p:nvSpPr>
        <p:spPr>
          <a:xfrm>
            <a:off x="2916000" y="4814325"/>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19  </a:t>
            </a:r>
            <a:pPr indent="0" marL="0">
              <a:buNone/>
            </a:pPr>
            <a:r>
              <a:rPr lang="en-US" sz="740" dirty="0">
                <a:solidFill>
                  <a:srgbClr val="FBF8F1"/>
                </a:solidFill>
                <a:latin typeface="IBM Plex Sans" pitchFamily="34" charset="0"/>
                <a:ea typeface="IBM Plex Sans" pitchFamily="34" charset="-122"/>
                <a:cs typeface="IBM Plex Sans" pitchFamily="34" charset="-120"/>
              </a:rPr>
              <a:t>Domaine de la Pousterle</a:t>
            </a:r>
            <a:pPr indent="0" marL="0">
              <a:buNone/>
            </a:pPr>
            <a:r>
              <a:rPr lang="en-US" sz="740" b="1" dirty="0">
                <a:solidFill>
                  <a:srgbClr val="FBF8F1"/>
                </a:solidFill>
                <a:latin typeface="IBM Plex Sans" pitchFamily="34" charset="0"/>
                <a:ea typeface="IBM Plex Sans" pitchFamily="34" charset="-122"/>
                <a:cs typeface="IBM Plex Sans" pitchFamily="34" charset="-120"/>
              </a:rPr>
              <a:t>   34</a:t>
            </a:r>
            <a:endParaRPr lang="en-US" sz="740" dirty="0"/>
          </a:p>
        </p:txBody>
      </p:sp>
      <p:sp>
        <p:nvSpPr>
          <p:cNvPr id="43" name="Text 41"/>
          <p:cNvSpPr/>
          <p:nvPr/>
        </p:nvSpPr>
        <p:spPr>
          <a:xfrm>
            <a:off x="4860000" y="4684725"/>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20  </a:t>
            </a:r>
            <a:pPr indent="0" marL="0">
              <a:buNone/>
            </a:pPr>
            <a:r>
              <a:rPr lang="en-US" sz="740" dirty="0">
                <a:solidFill>
                  <a:srgbClr val="FBF8F1"/>
                </a:solidFill>
                <a:latin typeface="IBM Plex Sans" pitchFamily="34" charset="0"/>
                <a:ea typeface="IBM Plex Sans" pitchFamily="34" charset="-122"/>
                <a:cs typeface="IBM Plex Sans" pitchFamily="34" charset="-120"/>
              </a:rPr>
              <a:t>Domaine des Pasquiers</a:t>
            </a:r>
            <a:pPr indent="0" marL="0">
              <a:buNone/>
            </a:pPr>
            <a:r>
              <a:rPr lang="en-US" sz="740" b="1" dirty="0">
                <a:solidFill>
                  <a:srgbClr val="FBF8F1"/>
                </a:solidFill>
                <a:latin typeface="IBM Plex Sans" pitchFamily="34" charset="0"/>
                <a:ea typeface="IBM Plex Sans" pitchFamily="34" charset="-122"/>
                <a:cs typeface="IBM Plex Sans" pitchFamily="34" charset="-120"/>
              </a:rPr>
              <a:t>   35</a:t>
            </a:r>
            <a:endParaRPr lang="en-US" sz="740" dirty="0"/>
          </a:p>
        </p:txBody>
      </p:sp>
      <p:sp>
        <p:nvSpPr>
          <p:cNvPr id="44" name="Text 42"/>
          <p:cNvSpPr/>
          <p:nvPr/>
        </p:nvSpPr>
        <p:spPr>
          <a:xfrm>
            <a:off x="4860000" y="4814325"/>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21  </a:t>
            </a:r>
            <a:pPr indent="0" marL="0">
              <a:buNone/>
            </a:pPr>
            <a:r>
              <a:rPr lang="en-US" sz="740" dirty="0">
                <a:solidFill>
                  <a:srgbClr val="FBF8F1"/>
                </a:solidFill>
                <a:latin typeface="IBM Plex Sans" pitchFamily="34" charset="0"/>
                <a:ea typeface="IBM Plex Sans" pitchFamily="34" charset="-122"/>
                <a:cs typeface="IBM Plex Sans" pitchFamily="34" charset="-120"/>
              </a:rPr>
              <a:t>Domaine Trichon</a:t>
            </a:r>
            <a:pPr indent="0" marL="0">
              <a:buNone/>
            </a:pPr>
            <a:r>
              <a:rPr lang="en-US" sz="740" b="1" dirty="0">
                <a:solidFill>
                  <a:srgbClr val="FBF8F1"/>
                </a:solidFill>
                <a:latin typeface="IBM Plex Sans" pitchFamily="34" charset="0"/>
                <a:ea typeface="IBM Plex Sans" pitchFamily="34" charset="-122"/>
                <a:cs typeface="IBM Plex Sans" pitchFamily="34" charset="-120"/>
              </a:rPr>
              <a:t>   36</a:t>
            </a:r>
            <a:endParaRPr lang="en-US" sz="740" dirty="0"/>
          </a:p>
        </p:txBody>
      </p:sp>
      <p:sp>
        <p:nvSpPr>
          <p:cNvPr id="45" name="Shape 43"/>
          <p:cNvSpPr/>
          <p:nvPr/>
        </p:nvSpPr>
        <p:spPr>
          <a:xfrm>
            <a:off x="828000" y="5405175"/>
            <a:ext cx="6120000" cy="482625"/>
          </a:xfrm>
          <a:prstGeom prst="roundRect">
            <a:avLst>
              <a:gd name="adj" fmla="val 2842"/>
            </a:avLst>
          </a:prstGeom>
          <a:solidFill>
            <a:srgbClr val="D08C3C"/>
          </a:solidFill>
          <a:ln w="12700">
            <a:solidFill>
              <a:srgbClr val="D08C3C"/>
            </a:solidFill>
            <a:prstDash val="solid"/>
          </a:ln>
        </p:spPr>
      </p:sp>
      <p:sp>
        <p:nvSpPr>
          <p:cNvPr id="46" name="Text 44"/>
          <p:cNvSpPr/>
          <p:nvPr/>
        </p:nvSpPr>
        <p:spPr>
          <a:xfrm>
            <a:off x="936000" y="5462775"/>
            <a:ext cx="1800000" cy="216000"/>
          </a:xfrm>
          <a:prstGeom prst="rect">
            <a:avLst/>
          </a:prstGeom>
          <a:noFill/>
          <a:ln/>
        </p:spPr>
        <p:txBody>
          <a:bodyPr wrap="square" lIns="0" tIns="0" rIns="0" bIns="0" rtlCol="0" anchor="ctr"/>
          <a:lstStyle/>
          <a:p>
            <a:pPr indent="0" marL="0">
              <a:buNone/>
            </a:pPr>
            <a:r>
              <a:rPr lang="en-US" sz="1150" dirty="0">
                <a:solidFill>
                  <a:srgbClr val="FBF8F1"/>
                </a:solidFill>
                <a:latin typeface="Young Serif" pitchFamily="34" charset="0"/>
                <a:ea typeface="Young Serif" pitchFamily="34" charset="-122"/>
                <a:cs typeface="Young Serif" pitchFamily="34" charset="-120"/>
              </a:rPr>
              <a:t>Sud-Ouest</a:t>
            </a:r>
            <a:endParaRPr lang="en-US" sz="1150" dirty="0"/>
          </a:p>
        </p:txBody>
      </p:sp>
      <p:sp>
        <p:nvSpPr>
          <p:cNvPr id="47" name="Text 45"/>
          <p:cNvSpPr/>
          <p:nvPr/>
        </p:nvSpPr>
        <p:spPr>
          <a:xfrm>
            <a:off x="2124000" y="5462775"/>
            <a:ext cx="2520000" cy="216000"/>
          </a:xfrm>
          <a:prstGeom prst="rect">
            <a:avLst/>
          </a:prstGeom>
          <a:noFill/>
          <a:ln/>
        </p:spPr>
        <p:txBody>
          <a:bodyPr wrap="square" lIns="0" tIns="0" rIns="0" bIns="0" rtlCol="0" anchor="ctr"/>
          <a:lstStyle/>
          <a:p>
            <a:pPr indent="0" marL="0">
              <a:buNone/>
            </a:pPr>
            <a:r>
              <a:rPr lang="en-US" sz="700" i="1" dirty="0">
                <a:solidFill>
                  <a:srgbClr val="FBF8F1">
                    <a:alpha val="82000"/>
                  </a:srgbClr>
                </a:solidFill>
                <a:latin typeface="Spectral" pitchFamily="34" charset="0"/>
                <a:ea typeface="Spectral" pitchFamily="34" charset="-122"/>
                <a:cs typeface="Spectral" pitchFamily="34" charset="-120"/>
              </a:rPr>
              <a:t>sables fauves et fossiles marins</a:t>
            </a:r>
            <a:endParaRPr lang="en-US" sz="700" dirty="0"/>
          </a:p>
        </p:txBody>
      </p:sp>
      <p:sp>
        <p:nvSpPr>
          <p:cNvPr id="48" name="Text 46"/>
          <p:cNvSpPr/>
          <p:nvPr/>
        </p:nvSpPr>
        <p:spPr>
          <a:xfrm>
            <a:off x="6516000" y="5462775"/>
            <a:ext cx="324000" cy="216000"/>
          </a:xfrm>
          <a:prstGeom prst="rect">
            <a:avLst/>
          </a:prstGeom>
          <a:noFill/>
          <a:ln/>
        </p:spPr>
        <p:txBody>
          <a:bodyPr wrap="square" lIns="0" tIns="0" rIns="0" bIns="0" rtlCol="0" anchor="ctr"/>
          <a:lstStyle/>
          <a:p>
            <a:pPr algn="ctr" indent="0" marL="0">
              <a:buNone/>
            </a:pPr>
            <a:r>
              <a:rPr lang="en-US" sz="750" b="1" dirty="0">
                <a:solidFill>
                  <a:srgbClr val="FBF8F1"/>
                </a:solidFill>
                <a:latin typeface="IBM Plex Sans" pitchFamily="34" charset="0"/>
                <a:ea typeface="IBM Plex Sans" pitchFamily="34" charset="-122"/>
                <a:cs typeface="IBM Plex Sans" pitchFamily="34" charset="-120"/>
              </a:rPr>
              <a:t>3</a:t>
            </a:r>
            <a:endParaRPr lang="en-US" sz="750" dirty="0"/>
          </a:p>
        </p:txBody>
      </p:sp>
      <p:sp>
        <p:nvSpPr>
          <p:cNvPr id="49" name="Text 47"/>
          <p:cNvSpPr/>
          <p:nvPr/>
        </p:nvSpPr>
        <p:spPr>
          <a:xfrm>
            <a:off x="972000" y="5693175"/>
            <a:ext cx="2844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22  </a:t>
            </a:r>
            <a:pPr indent="0" marL="0">
              <a:buNone/>
            </a:pPr>
            <a:r>
              <a:rPr lang="en-US" sz="740" dirty="0">
                <a:solidFill>
                  <a:srgbClr val="FBF8F1"/>
                </a:solidFill>
                <a:latin typeface="IBM Plex Sans" pitchFamily="34" charset="0"/>
                <a:ea typeface="IBM Plex Sans" pitchFamily="34" charset="-122"/>
                <a:cs typeface="IBM Plex Sans" pitchFamily="34" charset="-120"/>
              </a:rPr>
              <a:t>Domaine Stratéus</a:t>
            </a:r>
            <a:pPr indent="0" marL="0">
              <a:buNone/>
            </a:pPr>
            <a:r>
              <a:rPr lang="en-US" sz="740" b="1" dirty="0">
                <a:solidFill>
                  <a:srgbClr val="FBF8F1"/>
                </a:solidFill>
                <a:latin typeface="IBM Plex Sans" pitchFamily="34" charset="0"/>
                <a:ea typeface="IBM Plex Sans" pitchFamily="34" charset="-122"/>
                <a:cs typeface="IBM Plex Sans" pitchFamily="34" charset="-120"/>
              </a:rPr>
              <a:t>   38</a:t>
            </a:r>
            <a:endParaRPr lang="en-US" sz="740" dirty="0"/>
          </a:p>
        </p:txBody>
      </p:sp>
      <p:sp>
        <p:nvSpPr>
          <p:cNvPr id="50" name="Text 48"/>
          <p:cNvSpPr/>
          <p:nvPr/>
        </p:nvSpPr>
        <p:spPr>
          <a:xfrm>
            <a:off x="972000" y="5822775"/>
            <a:ext cx="2844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23  </a:t>
            </a:r>
            <a:pPr indent="0" marL="0">
              <a:buNone/>
            </a:pPr>
            <a:r>
              <a:rPr lang="en-US" sz="740" dirty="0">
                <a:solidFill>
                  <a:srgbClr val="FBF8F1"/>
                </a:solidFill>
                <a:latin typeface="IBM Plex Sans" pitchFamily="34" charset="0"/>
                <a:ea typeface="IBM Plex Sans" pitchFamily="34" charset="-122"/>
                <a:cs typeface="IBM Plex Sans" pitchFamily="34" charset="-120"/>
              </a:rPr>
              <a:t>Domaine Haut Marin</a:t>
            </a:r>
            <a:pPr indent="0" marL="0">
              <a:buNone/>
            </a:pPr>
            <a:r>
              <a:rPr lang="en-US" sz="740" b="1" dirty="0">
                <a:solidFill>
                  <a:srgbClr val="FBF8F1"/>
                </a:solidFill>
                <a:latin typeface="IBM Plex Sans" pitchFamily="34" charset="0"/>
                <a:ea typeface="IBM Plex Sans" pitchFamily="34" charset="-122"/>
                <a:cs typeface="IBM Plex Sans" pitchFamily="34" charset="-120"/>
              </a:rPr>
              <a:t>   39</a:t>
            </a:r>
            <a:endParaRPr lang="en-US" sz="740" dirty="0"/>
          </a:p>
        </p:txBody>
      </p:sp>
      <p:sp>
        <p:nvSpPr>
          <p:cNvPr id="51" name="Text 49"/>
          <p:cNvSpPr/>
          <p:nvPr/>
        </p:nvSpPr>
        <p:spPr>
          <a:xfrm>
            <a:off x="3888000" y="5693175"/>
            <a:ext cx="2844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24  </a:t>
            </a:r>
            <a:pPr indent="0" marL="0">
              <a:buNone/>
            </a:pPr>
            <a:r>
              <a:rPr lang="en-US" sz="740" dirty="0">
                <a:solidFill>
                  <a:srgbClr val="FBF8F1"/>
                </a:solidFill>
                <a:latin typeface="IBM Plex Sans" pitchFamily="34" charset="0"/>
                <a:ea typeface="IBM Plex Sans" pitchFamily="34" charset="-122"/>
                <a:cs typeface="IBM Plex Sans" pitchFamily="34" charset="-120"/>
              </a:rPr>
              <a:t>Fabien Castaing</a:t>
            </a:r>
            <a:pPr indent="0" marL="0">
              <a:buNone/>
            </a:pPr>
            <a:r>
              <a:rPr lang="en-US" sz="740" b="1" dirty="0">
                <a:solidFill>
                  <a:srgbClr val="FBF8F1"/>
                </a:solidFill>
                <a:latin typeface="IBM Plex Sans" pitchFamily="34" charset="0"/>
                <a:ea typeface="IBM Plex Sans" pitchFamily="34" charset="-122"/>
                <a:cs typeface="IBM Plex Sans" pitchFamily="34" charset="-120"/>
              </a:rPr>
              <a:t>   41</a:t>
            </a:r>
            <a:endParaRPr lang="en-US" sz="740" dirty="0"/>
          </a:p>
        </p:txBody>
      </p:sp>
      <p:sp>
        <p:nvSpPr>
          <p:cNvPr id="52" name="Shape 50"/>
          <p:cNvSpPr/>
          <p:nvPr/>
        </p:nvSpPr>
        <p:spPr>
          <a:xfrm>
            <a:off x="828000" y="5931000"/>
            <a:ext cx="6120000" cy="965250"/>
          </a:xfrm>
          <a:prstGeom prst="roundRect">
            <a:avLst>
              <a:gd name="adj" fmla="val 1421"/>
            </a:avLst>
          </a:prstGeom>
          <a:solidFill>
            <a:srgbClr val="A8515F"/>
          </a:solidFill>
          <a:ln w="12700">
            <a:solidFill>
              <a:srgbClr val="A8515F"/>
            </a:solidFill>
            <a:prstDash val="solid"/>
          </a:ln>
        </p:spPr>
      </p:sp>
      <p:sp>
        <p:nvSpPr>
          <p:cNvPr id="53" name="Text 51"/>
          <p:cNvSpPr/>
          <p:nvPr/>
        </p:nvSpPr>
        <p:spPr>
          <a:xfrm>
            <a:off x="936000" y="5988600"/>
            <a:ext cx="1800000" cy="216000"/>
          </a:xfrm>
          <a:prstGeom prst="rect">
            <a:avLst/>
          </a:prstGeom>
          <a:noFill/>
          <a:ln/>
        </p:spPr>
        <p:txBody>
          <a:bodyPr wrap="square" lIns="0" tIns="0" rIns="0" bIns="0" rtlCol="0" anchor="ctr"/>
          <a:lstStyle/>
          <a:p>
            <a:pPr indent="0" marL="0">
              <a:buNone/>
            </a:pPr>
            <a:r>
              <a:rPr lang="en-US" sz="1150" dirty="0">
                <a:solidFill>
                  <a:srgbClr val="FBF8F1"/>
                </a:solidFill>
                <a:latin typeface="Young Serif" pitchFamily="34" charset="0"/>
                <a:ea typeface="Young Serif" pitchFamily="34" charset="-122"/>
                <a:cs typeface="Young Serif" pitchFamily="34" charset="-120"/>
              </a:rPr>
              <a:t>Bordeaux</a:t>
            </a:r>
            <a:endParaRPr lang="en-US" sz="1150" dirty="0"/>
          </a:p>
        </p:txBody>
      </p:sp>
      <p:sp>
        <p:nvSpPr>
          <p:cNvPr id="54" name="Text 52"/>
          <p:cNvSpPr/>
          <p:nvPr/>
        </p:nvSpPr>
        <p:spPr>
          <a:xfrm>
            <a:off x="2124000" y="5988600"/>
            <a:ext cx="2520000" cy="216000"/>
          </a:xfrm>
          <a:prstGeom prst="rect">
            <a:avLst/>
          </a:prstGeom>
          <a:noFill/>
          <a:ln/>
        </p:spPr>
        <p:txBody>
          <a:bodyPr wrap="square" lIns="0" tIns="0" rIns="0" bIns="0" rtlCol="0" anchor="ctr"/>
          <a:lstStyle/>
          <a:p>
            <a:pPr indent="0" marL="0">
              <a:buNone/>
            </a:pPr>
            <a:r>
              <a:rPr lang="en-US" sz="700" i="1" dirty="0">
                <a:solidFill>
                  <a:srgbClr val="FBF8F1">
                    <a:alpha val="82000"/>
                  </a:srgbClr>
                </a:solidFill>
                <a:latin typeface="Spectral" pitchFamily="34" charset="0"/>
                <a:ea typeface="Spectral" pitchFamily="34" charset="-122"/>
                <a:cs typeface="Spectral" pitchFamily="34" charset="-120"/>
              </a:rPr>
              <a:t>graves et argilo-calcaire</a:t>
            </a:r>
            <a:endParaRPr lang="en-US" sz="700" dirty="0"/>
          </a:p>
        </p:txBody>
      </p:sp>
      <p:sp>
        <p:nvSpPr>
          <p:cNvPr id="55" name="Text 53"/>
          <p:cNvSpPr/>
          <p:nvPr/>
        </p:nvSpPr>
        <p:spPr>
          <a:xfrm>
            <a:off x="6516000" y="5988600"/>
            <a:ext cx="324000" cy="216000"/>
          </a:xfrm>
          <a:prstGeom prst="rect">
            <a:avLst/>
          </a:prstGeom>
          <a:noFill/>
          <a:ln/>
        </p:spPr>
        <p:txBody>
          <a:bodyPr wrap="square" lIns="0" tIns="0" rIns="0" bIns="0" rtlCol="0" anchor="ctr"/>
          <a:lstStyle/>
          <a:p>
            <a:pPr algn="ctr" indent="0" marL="0">
              <a:buNone/>
            </a:pPr>
            <a:r>
              <a:rPr lang="en-US" sz="750" b="1" dirty="0">
                <a:solidFill>
                  <a:srgbClr val="FBF8F1"/>
                </a:solidFill>
                <a:latin typeface="IBM Plex Sans" pitchFamily="34" charset="0"/>
                <a:ea typeface="IBM Plex Sans" pitchFamily="34" charset="-122"/>
                <a:cs typeface="IBM Plex Sans" pitchFamily="34" charset="-120"/>
              </a:rPr>
              <a:t>6</a:t>
            </a:r>
            <a:endParaRPr lang="en-US" sz="750" dirty="0"/>
          </a:p>
        </p:txBody>
      </p:sp>
      <p:sp>
        <p:nvSpPr>
          <p:cNvPr id="56" name="Text 54"/>
          <p:cNvSpPr/>
          <p:nvPr/>
        </p:nvSpPr>
        <p:spPr>
          <a:xfrm>
            <a:off x="972000" y="6219000"/>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25  </a:t>
            </a:r>
            <a:pPr indent="0" marL="0">
              <a:buNone/>
            </a:pPr>
            <a:r>
              <a:rPr lang="en-US" sz="740" dirty="0">
                <a:solidFill>
                  <a:srgbClr val="FBF8F1"/>
                </a:solidFill>
                <a:latin typeface="IBM Plex Sans" pitchFamily="34" charset="0"/>
                <a:ea typeface="IBM Plex Sans" pitchFamily="34" charset="-122"/>
                <a:cs typeface="IBM Plex Sans" pitchFamily="34" charset="-120"/>
              </a:rPr>
              <a:t>La Passion des Terroirs</a:t>
            </a:r>
            <a:pPr indent="0" marL="0">
              <a:buNone/>
            </a:pPr>
            <a:r>
              <a:rPr lang="en-US" sz="740" b="1" dirty="0">
                <a:solidFill>
                  <a:srgbClr val="FBF8F1"/>
                </a:solidFill>
                <a:latin typeface="IBM Plex Sans" pitchFamily="34" charset="0"/>
                <a:ea typeface="IBM Plex Sans" pitchFamily="34" charset="-122"/>
                <a:cs typeface="IBM Plex Sans" pitchFamily="34" charset="-120"/>
              </a:rPr>
              <a:t>   44</a:t>
            </a:r>
            <a:endParaRPr lang="en-US" sz="740" dirty="0"/>
          </a:p>
        </p:txBody>
      </p:sp>
      <p:sp>
        <p:nvSpPr>
          <p:cNvPr id="57" name="Text 55"/>
          <p:cNvSpPr/>
          <p:nvPr/>
        </p:nvSpPr>
        <p:spPr>
          <a:xfrm>
            <a:off x="972000" y="6348600"/>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26  </a:t>
            </a:r>
            <a:pPr indent="0" marL="0">
              <a:buNone/>
            </a:pPr>
            <a:r>
              <a:rPr lang="en-US" sz="740" dirty="0">
                <a:solidFill>
                  <a:srgbClr val="FBF8F1"/>
                </a:solidFill>
                <a:latin typeface="IBM Plex Sans" pitchFamily="34" charset="0"/>
                <a:ea typeface="IBM Plex Sans" pitchFamily="34" charset="-122"/>
                <a:cs typeface="IBM Plex Sans" pitchFamily="34" charset="-120"/>
              </a:rPr>
              <a:t>Château la Gorce</a:t>
            </a:r>
            <a:pPr indent="0" marL="0">
              <a:buNone/>
            </a:pPr>
            <a:r>
              <a:rPr lang="en-US" sz="740" b="1" dirty="0">
                <a:solidFill>
                  <a:srgbClr val="FBF8F1"/>
                </a:solidFill>
                <a:latin typeface="IBM Plex Sans" pitchFamily="34" charset="0"/>
                <a:ea typeface="IBM Plex Sans" pitchFamily="34" charset="-122"/>
                <a:cs typeface="IBM Plex Sans" pitchFamily="34" charset="-120"/>
              </a:rPr>
              <a:t>   47</a:t>
            </a:r>
            <a:endParaRPr lang="en-US" sz="740" dirty="0"/>
          </a:p>
        </p:txBody>
      </p:sp>
      <p:sp>
        <p:nvSpPr>
          <p:cNvPr id="58" name="Text 56"/>
          <p:cNvSpPr/>
          <p:nvPr/>
        </p:nvSpPr>
        <p:spPr>
          <a:xfrm>
            <a:off x="2916000" y="6219000"/>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27  </a:t>
            </a:r>
            <a:pPr indent="0" marL="0">
              <a:buNone/>
            </a:pPr>
            <a:r>
              <a:rPr lang="en-US" sz="740" dirty="0">
                <a:solidFill>
                  <a:srgbClr val="FBF8F1"/>
                </a:solidFill>
                <a:latin typeface="IBM Plex Sans" pitchFamily="34" charset="0"/>
                <a:ea typeface="IBM Plex Sans" pitchFamily="34" charset="-122"/>
                <a:cs typeface="IBM Plex Sans" pitchFamily="34" charset="-120"/>
              </a:rPr>
              <a:t>Château Falfas</a:t>
            </a:r>
            <a:pPr indent="0" marL="0">
              <a:buNone/>
            </a:pPr>
            <a:r>
              <a:rPr lang="en-US" sz="740" b="1" dirty="0">
                <a:solidFill>
                  <a:srgbClr val="FBF8F1"/>
                </a:solidFill>
                <a:latin typeface="IBM Plex Sans" pitchFamily="34" charset="0"/>
                <a:ea typeface="IBM Plex Sans" pitchFamily="34" charset="-122"/>
                <a:cs typeface="IBM Plex Sans" pitchFamily="34" charset="-120"/>
              </a:rPr>
              <a:t>   49</a:t>
            </a:r>
            <a:endParaRPr lang="en-US" sz="740" dirty="0"/>
          </a:p>
        </p:txBody>
      </p:sp>
      <p:sp>
        <p:nvSpPr>
          <p:cNvPr id="59" name="Text 57"/>
          <p:cNvSpPr/>
          <p:nvPr/>
        </p:nvSpPr>
        <p:spPr>
          <a:xfrm>
            <a:off x="2916000" y="6348600"/>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28  </a:t>
            </a:r>
            <a:pPr indent="0" marL="0">
              <a:buNone/>
            </a:pPr>
            <a:r>
              <a:rPr lang="en-US" sz="740" dirty="0">
                <a:solidFill>
                  <a:srgbClr val="FBF8F1"/>
                </a:solidFill>
                <a:latin typeface="IBM Plex Sans" pitchFamily="34" charset="0"/>
                <a:ea typeface="IBM Plex Sans" pitchFamily="34" charset="-122"/>
                <a:cs typeface="IBM Plex Sans" pitchFamily="34" charset="-120"/>
              </a:rPr>
              <a:t>Château Pré la Lande</a:t>
            </a:r>
            <a:pPr indent="0" marL="0">
              <a:buNone/>
            </a:pPr>
            <a:r>
              <a:rPr lang="en-US" sz="740" b="1" dirty="0">
                <a:solidFill>
                  <a:srgbClr val="FBF8F1"/>
                </a:solidFill>
                <a:latin typeface="IBM Plex Sans" pitchFamily="34" charset="0"/>
                <a:ea typeface="IBM Plex Sans" pitchFamily="34" charset="-122"/>
                <a:cs typeface="IBM Plex Sans" pitchFamily="34" charset="-120"/>
              </a:rPr>
              <a:t>   50</a:t>
            </a:r>
            <a:endParaRPr lang="en-US" sz="740" dirty="0"/>
          </a:p>
        </p:txBody>
      </p:sp>
      <p:sp>
        <p:nvSpPr>
          <p:cNvPr id="60" name="Text 58"/>
          <p:cNvSpPr/>
          <p:nvPr/>
        </p:nvSpPr>
        <p:spPr>
          <a:xfrm>
            <a:off x="4860000" y="6219000"/>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29  </a:t>
            </a:r>
            <a:pPr indent="0" marL="0">
              <a:buNone/>
            </a:pPr>
            <a:r>
              <a:rPr lang="en-US" sz="740" dirty="0">
                <a:solidFill>
                  <a:srgbClr val="FBF8F1"/>
                </a:solidFill>
                <a:latin typeface="IBM Plex Sans" pitchFamily="34" charset="0"/>
                <a:ea typeface="IBM Plex Sans" pitchFamily="34" charset="-122"/>
                <a:cs typeface="IBM Plex Sans" pitchFamily="34" charset="-120"/>
              </a:rPr>
              <a:t>Château Balac</a:t>
            </a:r>
            <a:pPr indent="0" marL="0">
              <a:buNone/>
            </a:pPr>
            <a:r>
              <a:rPr lang="en-US" sz="740" b="1" dirty="0">
                <a:solidFill>
                  <a:srgbClr val="FBF8F1"/>
                </a:solidFill>
                <a:latin typeface="IBM Plex Sans" pitchFamily="34" charset="0"/>
                <a:ea typeface="IBM Plex Sans" pitchFamily="34" charset="-122"/>
                <a:cs typeface="IBM Plex Sans" pitchFamily="34" charset="-120"/>
              </a:rPr>
              <a:t>   51</a:t>
            </a:r>
            <a:endParaRPr lang="en-US" sz="740" dirty="0"/>
          </a:p>
        </p:txBody>
      </p:sp>
      <p:sp>
        <p:nvSpPr>
          <p:cNvPr id="61" name="Text 59"/>
          <p:cNvSpPr/>
          <p:nvPr/>
        </p:nvSpPr>
        <p:spPr>
          <a:xfrm>
            <a:off x="4860000" y="6348600"/>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30  </a:t>
            </a:r>
            <a:pPr indent="0" marL="0">
              <a:buNone/>
            </a:pPr>
            <a:r>
              <a:rPr lang="en-US" sz="740" dirty="0">
                <a:solidFill>
                  <a:srgbClr val="FBF8F1"/>
                </a:solidFill>
                <a:latin typeface="IBM Plex Sans" pitchFamily="34" charset="0"/>
                <a:ea typeface="IBM Plex Sans" pitchFamily="34" charset="-122"/>
                <a:cs typeface="IBM Plex Sans" pitchFamily="34" charset="-120"/>
              </a:rPr>
              <a:t>Château l’Escarderie</a:t>
            </a:r>
            <a:pPr indent="0" marL="0">
              <a:buNone/>
            </a:pPr>
            <a:r>
              <a:rPr lang="en-US" sz="740" b="1" dirty="0">
                <a:solidFill>
                  <a:srgbClr val="FBF8F1"/>
                </a:solidFill>
                <a:latin typeface="IBM Plex Sans" pitchFamily="34" charset="0"/>
                <a:ea typeface="IBM Plex Sans" pitchFamily="34" charset="-122"/>
                <a:cs typeface="IBM Plex Sans" pitchFamily="34" charset="-120"/>
              </a:rPr>
              <a:t>   52</a:t>
            </a:r>
            <a:endParaRPr lang="en-US" sz="740" dirty="0"/>
          </a:p>
        </p:txBody>
      </p:sp>
      <p:sp>
        <p:nvSpPr>
          <p:cNvPr id="62" name="Shape 60"/>
          <p:cNvSpPr/>
          <p:nvPr/>
        </p:nvSpPr>
        <p:spPr>
          <a:xfrm>
            <a:off x="828000" y="6939450"/>
            <a:ext cx="6120000" cy="418275"/>
          </a:xfrm>
          <a:prstGeom prst="roundRect">
            <a:avLst>
              <a:gd name="adj" fmla="val 3279"/>
            </a:avLst>
          </a:prstGeom>
          <a:solidFill>
            <a:srgbClr val="46606E"/>
          </a:solidFill>
          <a:ln w="12700">
            <a:solidFill>
              <a:srgbClr val="46606E"/>
            </a:solidFill>
            <a:prstDash val="solid"/>
          </a:ln>
        </p:spPr>
      </p:sp>
      <p:sp>
        <p:nvSpPr>
          <p:cNvPr id="63" name="Text 61"/>
          <p:cNvSpPr/>
          <p:nvPr/>
        </p:nvSpPr>
        <p:spPr>
          <a:xfrm>
            <a:off x="936000" y="6997050"/>
            <a:ext cx="1800000" cy="216000"/>
          </a:xfrm>
          <a:prstGeom prst="rect">
            <a:avLst/>
          </a:prstGeom>
          <a:noFill/>
          <a:ln/>
        </p:spPr>
        <p:txBody>
          <a:bodyPr wrap="square" lIns="0" tIns="0" rIns="0" bIns="0" rtlCol="0" anchor="ctr"/>
          <a:lstStyle/>
          <a:p>
            <a:pPr indent="0" marL="0">
              <a:buNone/>
            </a:pPr>
            <a:r>
              <a:rPr lang="en-US" sz="1150" dirty="0">
                <a:solidFill>
                  <a:srgbClr val="FBF8F1"/>
                </a:solidFill>
                <a:latin typeface="Young Serif" pitchFamily="34" charset="0"/>
                <a:ea typeface="Young Serif" pitchFamily="34" charset="-122"/>
                <a:cs typeface="Young Serif" pitchFamily="34" charset="-120"/>
              </a:rPr>
              <a:t>Provence</a:t>
            </a:r>
            <a:endParaRPr lang="en-US" sz="1150" dirty="0"/>
          </a:p>
        </p:txBody>
      </p:sp>
      <p:sp>
        <p:nvSpPr>
          <p:cNvPr id="64" name="Text 62"/>
          <p:cNvSpPr/>
          <p:nvPr/>
        </p:nvSpPr>
        <p:spPr>
          <a:xfrm>
            <a:off x="2124000" y="6997050"/>
            <a:ext cx="2520000" cy="216000"/>
          </a:xfrm>
          <a:prstGeom prst="rect">
            <a:avLst/>
          </a:prstGeom>
          <a:noFill/>
          <a:ln/>
        </p:spPr>
        <p:txBody>
          <a:bodyPr wrap="square" lIns="0" tIns="0" rIns="0" bIns="0" rtlCol="0" anchor="ctr"/>
          <a:lstStyle/>
          <a:p>
            <a:pPr indent="0" marL="0">
              <a:buNone/>
            </a:pPr>
            <a:r>
              <a:rPr lang="en-US" sz="700" i="1" dirty="0">
                <a:solidFill>
                  <a:srgbClr val="FBF8F1">
                    <a:alpha val="82000"/>
                  </a:srgbClr>
                </a:solidFill>
                <a:latin typeface="Spectral" pitchFamily="34" charset="0"/>
                <a:ea typeface="Spectral" pitchFamily="34" charset="-122"/>
                <a:cs typeface="Spectral" pitchFamily="34" charset="-120"/>
              </a:rPr>
              <a:t>la Provence Verte</a:t>
            </a:r>
            <a:endParaRPr lang="en-US" sz="700" dirty="0"/>
          </a:p>
        </p:txBody>
      </p:sp>
      <p:sp>
        <p:nvSpPr>
          <p:cNvPr id="65" name="Text 63"/>
          <p:cNvSpPr/>
          <p:nvPr/>
        </p:nvSpPr>
        <p:spPr>
          <a:xfrm>
            <a:off x="6516000" y="6997050"/>
            <a:ext cx="324000" cy="216000"/>
          </a:xfrm>
          <a:prstGeom prst="rect">
            <a:avLst/>
          </a:prstGeom>
          <a:noFill/>
          <a:ln/>
        </p:spPr>
        <p:txBody>
          <a:bodyPr wrap="square" lIns="0" tIns="0" rIns="0" bIns="0" rtlCol="0" anchor="ctr"/>
          <a:lstStyle/>
          <a:p>
            <a:pPr algn="ctr" indent="0" marL="0">
              <a:buNone/>
            </a:pPr>
            <a:r>
              <a:rPr lang="en-US" sz="750" b="1" dirty="0">
                <a:solidFill>
                  <a:srgbClr val="FBF8F1"/>
                </a:solidFill>
                <a:latin typeface="IBM Plex Sans" pitchFamily="34" charset="0"/>
                <a:ea typeface="IBM Plex Sans" pitchFamily="34" charset="-122"/>
                <a:cs typeface="IBM Plex Sans" pitchFamily="34" charset="-120"/>
              </a:rPr>
              <a:t>1</a:t>
            </a:r>
            <a:endParaRPr lang="en-US" sz="750" dirty="0"/>
          </a:p>
        </p:txBody>
      </p:sp>
      <p:sp>
        <p:nvSpPr>
          <p:cNvPr id="66" name="Text 64"/>
          <p:cNvSpPr/>
          <p:nvPr/>
        </p:nvSpPr>
        <p:spPr>
          <a:xfrm>
            <a:off x="972000" y="7227450"/>
            <a:ext cx="2844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31  </a:t>
            </a:r>
            <a:pPr indent="0" marL="0">
              <a:buNone/>
            </a:pPr>
            <a:r>
              <a:rPr lang="en-US" sz="740" dirty="0">
                <a:solidFill>
                  <a:srgbClr val="FBF8F1"/>
                </a:solidFill>
                <a:latin typeface="IBM Plex Sans" pitchFamily="34" charset="0"/>
                <a:ea typeface="IBM Plex Sans" pitchFamily="34" charset="-122"/>
                <a:cs typeface="IBM Plex Sans" pitchFamily="34" charset="-120"/>
              </a:rPr>
              <a:t>Bastide de Blacailloux</a:t>
            </a:r>
            <a:pPr indent="0" marL="0">
              <a:buNone/>
            </a:pPr>
            <a:r>
              <a:rPr lang="en-US" sz="740" b="1" dirty="0">
                <a:solidFill>
                  <a:srgbClr val="FBF8F1"/>
                </a:solidFill>
                <a:latin typeface="IBM Plex Sans" pitchFamily="34" charset="0"/>
                <a:ea typeface="IBM Plex Sans" pitchFamily="34" charset="-122"/>
                <a:cs typeface="IBM Plex Sans" pitchFamily="34" charset="-120"/>
              </a:rPr>
              <a:t>   54</a:t>
            </a:r>
            <a:endParaRPr lang="en-US" sz="740" dirty="0"/>
          </a:p>
        </p:txBody>
      </p:sp>
      <p:sp>
        <p:nvSpPr>
          <p:cNvPr id="67" name="Shape 65"/>
          <p:cNvSpPr/>
          <p:nvPr/>
        </p:nvSpPr>
        <p:spPr>
          <a:xfrm>
            <a:off x="828000" y="7400925"/>
            <a:ext cx="6120000" cy="804375"/>
          </a:xfrm>
          <a:prstGeom prst="roundRect">
            <a:avLst>
              <a:gd name="adj" fmla="val 1705"/>
            </a:avLst>
          </a:prstGeom>
          <a:solidFill>
            <a:srgbClr val="3C5B47"/>
          </a:solidFill>
          <a:ln w="12700">
            <a:solidFill>
              <a:srgbClr val="3C5B47"/>
            </a:solidFill>
            <a:prstDash val="solid"/>
          </a:ln>
        </p:spPr>
      </p:sp>
      <p:sp>
        <p:nvSpPr>
          <p:cNvPr id="68" name="Text 66"/>
          <p:cNvSpPr/>
          <p:nvPr/>
        </p:nvSpPr>
        <p:spPr>
          <a:xfrm>
            <a:off x="936000" y="7458525"/>
            <a:ext cx="1800000" cy="216000"/>
          </a:xfrm>
          <a:prstGeom prst="rect">
            <a:avLst/>
          </a:prstGeom>
          <a:noFill/>
          <a:ln/>
        </p:spPr>
        <p:txBody>
          <a:bodyPr wrap="square" lIns="0" tIns="0" rIns="0" bIns="0" rtlCol="0" anchor="ctr"/>
          <a:lstStyle/>
          <a:p>
            <a:pPr indent="0" marL="0">
              <a:buNone/>
            </a:pPr>
            <a:r>
              <a:rPr lang="en-US" sz="1150" dirty="0">
                <a:solidFill>
                  <a:srgbClr val="FBF8F1"/>
                </a:solidFill>
                <a:latin typeface="Young Serif" pitchFamily="34" charset="0"/>
                <a:ea typeface="Young Serif" pitchFamily="34" charset="-122"/>
                <a:cs typeface="Young Serif" pitchFamily="34" charset="-120"/>
              </a:rPr>
              <a:t>Languedoc</a:t>
            </a:r>
            <a:endParaRPr lang="en-US" sz="1150" dirty="0"/>
          </a:p>
        </p:txBody>
      </p:sp>
      <p:sp>
        <p:nvSpPr>
          <p:cNvPr id="69" name="Text 67"/>
          <p:cNvSpPr/>
          <p:nvPr/>
        </p:nvSpPr>
        <p:spPr>
          <a:xfrm>
            <a:off x="2124000" y="7458525"/>
            <a:ext cx="2520000" cy="216000"/>
          </a:xfrm>
          <a:prstGeom prst="rect">
            <a:avLst/>
          </a:prstGeom>
          <a:noFill/>
          <a:ln/>
        </p:spPr>
        <p:txBody>
          <a:bodyPr wrap="square" lIns="0" tIns="0" rIns="0" bIns="0" rtlCol="0" anchor="ctr"/>
          <a:lstStyle/>
          <a:p>
            <a:pPr indent="0" marL="0">
              <a:buNone/>
            </a:pPr>
            <a:r>
              <a:rPr lang="en-US" sz="700" i="1" dirty="0">
                <a:solidFill>
                  <a:srgbClr val="FBF8F1">
                    <a:alpha val="82000"/>
                  </a:srgbClr>
                </a:solidFill>
                <a:latin typeface="Spectral" pitchFamily="34" charset="0"/>
                <a:ea typeface="Spectral" pitchFamily="34" charset="-122"/>
                <a:cs typeface="Spectral" pitchFamily="34" charset="-120"/>
              </a:rPr>
              <a:t>terrasses et garrigue</a:t>
            </a:r>
            <a:endParaRPr lang="en-US" sz="700" dirty="0"/>
          </a:p>
        </p:txBody>
      </p:sp>
      <p:sp>
        <p:nvSpPr>
          <p:cNvPr id="70" name="Text 68"/>
          <p:cNvSpPr/>
          <p:nvPr/>
        </p:nvSpPr>
        <p:spPr>
          <a:xfrm>
            <a:off x="6516000" y="7458525"/>
            <a:ext cx="324000" cy="216000"/>
          </a:xfrm>
          <a:prstGeom prst="rect">
            <a:avLst/>
          </a:prstGeom>
          <a:noFill/>
          <a:ln/>
        </p:spPr>
        <p:txBody>
          <a:bodyPr wrap="square" lIns="0" tIns="0" rIns="0" bIns="0" rtlCol="0" anchor="ctr"/>
          <a:lstStyle/>
          <a:p>
            <a:pPr algn="ctr" indent="0" marL="0">
              <a:buNone/>
            </a:pPr>
            <a:r>
              <a:rPr lang="en-US" sz="750" b="1" dirty="0">
                <a:solidFill>
                  <a:srgbClr val="FBF8F1"/>
                </a:solidFill>
                <a:latin typeface="IBM Plex Sans" pitchFamily="34" charset="0"/>
                <a:ea typeface="IBM Plex Sans" pitchFamily="34" charset="-122"/>
                <a:cs typeface="IBM Plex Sans" pitchFamily="34" charset="-120"/>
              </a:rPr>
              <a:t>5</a:t>
            </a:r>
            <a:endParaRPr lang="en-US" sz="750" dirty="0"/>
          </a:p>
        </p:txBody>
      </p:sp>
      <p:sp>
        <p:nvSpPr>
          <p:cNvPr id="71" name="Text 69"/>
          <p:cNvSpPr/>
          <p:nvPr/>
        </p:nvSpPr>
        <p:spPr>
          <a:xfrm>
            <a:off x="972000" y="7688925"/>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32  </a:t>
            </a:r>
            <a:pPr indent="0" marL="0">
              <a:buNone/>
            </a:pPr>
            <a:r>
              <a:rPr lang="en-US" sz="740" dirty="0">
                <a:solidFill>
                  <a:srgbClr val="FBF8F1"/>
                </a:solidFill>
                <a:latin typeface="IBM Plex Sans" pitchFamily="34" charset="0"/>
                <a:ea typeface="IBM Plex Sans" pitchFamily="34" charset="-122"/>
                <a:cs typeface="IBM Plex Sans" pitchFamily="34" charset="-120"/>
              </a:rPr>
              <a:t>Famille d’Exea</a:t>
            </a:r>
            <a:pPr indent="0" marL="0">
              <a:buNone/>
            </a:pPr>
            <a:r>
              <a:rPr lang="en-US" sz="740" b="1" dirty="0">
                <a:solidFill>
                  <a:srgbClr val="FBF8F1"/>
                </a:solidFill>
                <a:latin typeface="IBM Plex Sans" pitchFamily="34" charset="0"/>
                <a:ea typeface="IBM Plex Sans" pitchFamily="34" charset="-122"/>
                <a:cs typeface="IBM Plex Sans" pitchFamily="34" charset="-120"/>
              </a:rPr>
              <a:t>   56</a:t>
            </a:r>
            <a:endParaRPr lang="en-US" sz="740" dirty="0"/>
          </a:p>
        </p:txBody>
      </p:sp>
      <p:sp>
        <p:nvSpPr>
          <p:cNvPr id="72" name="Text 70"/>
          <p:cNvSpPr/>
          <p:nvPr/>
        </p:nvSpPr>
        <p:spPr>
          <a:xfrm>
            <a:off x="972000" y="7818525"/>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33  </a:t>
            </a:r>
            <a:pPr indent="0" marL="0">
              <a:buNone/>
            </a:pPr>
            <a:r>
              <a:rPr lang="en-US" sz="740" dirty="0">
                <a:solidFill>
                  <a:srgbClr val="FBF8F1"/>
                </a:solidFill>
                <a:latin typeface="IBM Plex Sans" pitchFamily="34" charset="0"/>
                <a:ea typeface="IBM Plex Sans" pitchFamily="34" charset="-122"/>
                <a:cs typeface="IBM Plex Sans" pitchFamily="34" charset="-120"/>
              </a:rPr>
              <a:t>Famille d’Exea — Jus de Cépages</a:t>
            </a:r>
            <a:pPr indent="0" marL="0">
              <a:buNone/>
            </a:pPr>
            <a:r>
              <a:rPr lang="en-US" sz="740" b="1" dirty="0">
                <a:solidFill>
                  <a:srgbClr val="FBF8F1"/>
                </a:solidFill>
                <a:latin typeface="IBM Plex Sans" pitchFamily="34" charset="0"/>
                <a:ea typeface="IBM Plex Sans" pitchFamily="34" charset="-122"/>
                <a:cs typeface="IBM Plex Sans" pitchFamily="34" charset="-120"/>
              </a:rPr>
              <a:t>   58</a:t>
            </a:r>
            <a:endParaRPr lang="en-US" sz="740" dirty="0"/>
          </a:p>
        </p:txBody>
      </p:sp>
      <p:sp>
        <p:nvSpPr>
          <p:cNvPr id="73" name="Text 71"/>
          <p:cNvSpPr/>
          <p:nvPr/>
        </p:nvSpPr>
        <p:spPr>
          <a:xfrm>
            <a:off x="2916000" y="7688925"/>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34  </a:t>
            </a:r>
            <a:pPr indent="0" marL="0">
              <a:buNone/>
            </a:pPr>
            <a:r>
              <a:rPr lang="en-US" sz="740" dirty="0">
                <a:solidFill>
                  <a:srgbClr val="FBF8F1"/>
                </a:solidFill>
                <a:latin typeface="IBM Plex Sans" pitchFamily="34" charset="0"/>
                <a:ea typeface="IBM Plex Sans" pitchFamily="34" charset="-122"/>
                <a:cs typeface="IBM Plex Sans" pitchFamily="34" charset="-120"/>
              </a:rPr>
              <a:t>Château de Gragnos</a:t>
            </a:r>
            <a:pPr indent="0" marL="0">
              <a:buNone/>
            </a:pPr>
            <a:r>
              <a:rPr lang="en-US" sz="740" b="1" dirty="0">
                <a:solidFill>
                  <a:srgbClr val="FBF8F1"/>
                </a:solidFill>
                <a:latin typeface="IBM Plex Sans" pitchFamily="34" charset="0"/>
                <a:ea typeface="IBM Plex Sans" pitchFamily="34" charset="-122"/>
                <a:cs typeface="IBM Plex Sans" pitchFamily="34" charset="-120"/>
              </a:rPr>
              <a:t>   59</a:t>
            </a:r>
            <a:endParaRPr lang="en-US" sz="740" dirty="0"/>
          </a:p>
        </p:txBody>
      </p:sp>
      <p:sp>
        <p:nvSpPr>
          <p:cNvPr id="74" name="Text 72"/>
          <p:cNvSpPr/>
          <p:nvPr/>
        </p:nvSpPr>
        <p:spPr>
          <a:xfrm>
            <a:off x="2916000" y="7818525"/>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35  </a:t>
            </a:r>
            <a:pPr indent="0" marL="0">
              <a:buNone/>
            </a:pPr>
            <a:r>
              <a:rPr lang="en-US" sz="740" dirty="0">
                <a:solidFill>
                  <a:srgbClr val="FBF8F1"/>
                </a:solidFill>
                <a:latin typeface="IBM Plex Sans" pitchFamily="34" charset="0"/>
                <a:ea typeface="IBM Plex Sans" pitchFamily="34" charset="-122"/>
                <a:cs typeface="IBM Plex Sans" pitchFamily="34" charset="-120"/>
              </a:rPr>
              <a:t>Domaine Les Lys</a:t>
            </a:r>
            <a:pPr indent="0" marL="0">
              <a:buNone/>
            </a:pPr>
            <a:r>
              <a:rPr lang="en-US" sz="740" b="1" dirty="0">
                <a:solidFill>
                  <a:srgbClr val="FBF8F1"/>
                </a:solidFill>
                <a:latin typeface="IBM Plex Sans" pitchFamily="34" charset="0"/>
                <a:ea typeface="IBM Plex Sans" pitchFamily="34" charset="-122"/>
                <a:cs typeface="IBM Plex Sans" pitchFamily="34" charset="-120"/>
              </a:rPr>
              <a:t>   60</a:t>
            </a:r>
            <a:endParaRPr lang="en-US" sz="740" dirty="0"/>
          </a:p>
        </p:txBody>
      </p:sp>
      <p:sp>
        <p:nvSpPr>
          <p:cNvPr id="75" name="Text 73"/>
          <p:cNvSpPr/>
          <p:nvPr/>
        </p:nvSpPr>
        <p:spPr>
          <a:xfrm>
            <a:off x="4860000" y="7688925"/>
            <a:ext cx="1872000" cy="129600"/>
          </a:xfrm>
          <a:prstGeom prst="rect">
            <a:avLst/>
          </a:prstGeom>
          <a:noFill/>
          <a:ln/>
        </p:spPr>
        <p:txBody>
          <a:bodyPr wrap="square" lIns="0" tIns="0" rIns="0" bIns="0" rtlCol="0" anchor="ctr"/>
          <a:lstStyle/>
          <a:p>
            <a:pPr indent="0" marL="0">
              <a:buNone/>
            </a:pPr>
            <a:r>
              <a:rPr lang="en-US" sz="740" b="1" dirty="0">
                <a:solidFill>
                  <a:srgbClr val="FBF8F1"/>
                </a:solidFill>
                <a:latin typeface="IBM Plex Sans" pitchFamily="34" charset="0"/>
                <a:ea typeface="IBM Plex Sans" pitchFamily="34" charset="-122"/>
                <a:cs typeface="IBM Plex Sans" pitchFamily="34" charset="-120"/>
              </a:rPr>
              <a:t>36  </a:t>
            </a:r>
            <a:pPr indent="0" marL="0">
              <a:buNone/>
            </a:pPr>
            <a:r>
              <a:rPr lang="en-US" sz="740" dirty="0">
                <a:solidFill>
                  <a:srgbClr val="FBF8F1"/>
                </a:solidFill>
                <a:latin typeface="IBM Plex Sans" pitchFamily="34" charset="0"/>
                <a:ea typeface="IBM Plex Sans" pitchFamily="34" charset="-122"/>
                <a:cs typeface="IBM Plex Sans" pitchFamily="34" charset="-120"/>
              </a:rPr>
              <a:t>Prieuré Sainte-Marie d’Albas</a:t>
            </a:r>
            <a:pPr indent="0" marL="0">
              <a:buNone/>
            </a:pPr>
            <a:r>
              <a:rPr lang="en-US" sz="740" b="1" dirty="0">
                <a:solidFill>
                  <a:srgbClr val="FBF8F1"/>
                </a:solidFill>
                <a:latin typeface="IBM Plex Sans" pitchFamily="34" charset="0"/>
                <a:ea typeface="IBM Plex Sans" pitchFamily="34" charset="-122"/>
                <a:cs typeface="IBM Plex Sans" pitchFamily="34" charset="-120"/>
              </a:rPr>
              <a:t>   61</a:t>
            </a:r>
            <a:endParaRPr lang="en-US" sz="740" dirty="0"/>
          </a:p>
        </p:txBody>
      </p:sp>
      <p:sp>
        <p:nvSpPr>
          <p:cNvPr id="76" name="Shape 74"/>
          <p:cNvSpPr/>
          <p:nvPr/>
        </p:nvSpPr>
        <p:spPr>
          <a:xfrm>
            <a:off x="828000" y="8248500"/>
            <a:ext cx="6120000" cy="643500"/>
          </a:xfrm>
          <a:prstGeom prst="roundRect">
            <a:avLst>
              <a:gd name="adj" fmla="val 2131"/>
            </a:avLst>
          </a:prstGeom>
          <a:solidFill>
            <a:srgbClr val="FBF8F1"/>
          </a:solidFill>
          <a:ln w="12700">
            <a:solidFill>
              <a:srgbClr val="FBF8F1"/>
            </a:solidFill>
            <a:prstDash val="solid"/>
          </a:ln>
        </p:spPr>
      </p:sp>
      <p:sp>
        <p:nvSpPr>
          <p:cNvPr id="77" name="Text 75"/>
          <p:cNvSpPr/>
          <p:nvPr/>
        </p:nvSpPr>
        <p:spPr>
          <a:xfrm>
            <a:off x="936000" y="8306100"/>
            <a:ext cx="1800000" cy="216000"/>
          </a:xfrm>
          <a:prstGeom prst="rect">
            <a:avLst/>
          </a:prstGeom>
          <a:noFill/>
          <a:ln/>
        </p:spPr>
        <p:txBody>
          <a:bodyPr wrap="square" lIns="0" tIns="0" rIns="0" bIns="0" rtlCol="0" anchor="ctr"/>
          <a:lstStyle/>
          <a:p>
            <a:pPr indent="0" marL="0">
              <a:buNone/>
            </a:pPr>
            <a:r>
              <a:rPr lang="en-US" sz="1150" dirty="0">
                <a:solidFill>
                  <a:srgbClr val="46606E"/>
                </a:solidFill>
                <a:latin typeface="Young Serif" pitchFamily="34" charset="0"/>
                <a:ea typeface="Young Serif" pitchFamily="34" charset="-122"/>
                <a:cs typeface="Young Serif" pitchFamily="34" charset="-120"/>
              </a:rPr>
              <a:t>Champagne</a:t>
            </a:r>
            <a:endParaRPr lang="en-US" sz="1150" dirty="0"/>
          </a:p>
        </p:txBody>
      </p:sp>
      <p:sp>
        <p:nvSpPr>
          <p:cNvPr id="78" name="Text 76"/>
          <p:cNvSpPr/>
          <p:nvPr/>
        </p:nvSpPr>
        <p:spPr>
          <a:xfrm>
            <a:off x="2124000" y="8306100"/>
            <a:ext cx="2520000" cy="216000"/>
          </a:xfrm>
          <a:prstGeom prst="rect">
            <a:avLst/>
          </a:prstGeom>
          <a:noFill/>
          <a:ln/>
        </p:spPr>
        <p:txBody>
          <a:bodyPr wrap="square" lIns="0" tIns="0" rIns="0" bIns="0" rtlCol="0" anchor="ctr"/>
          <a:lstStyle/>
          <a:p>
            <a:pPr indent="0" marL="0">
              <a:buNone/>
            </a:pPr>
            <a:r>
              <a:rPr lang="en-US" sz="700" i="1" dirty="0">
                <a:solidFill>
                  <a:srgbClr val="46606E">
                    <a:alpha val="82000"/>
                  </a:srgbClr>
                </a:solidFill>
                <a:latin typeface="Spectral" pitchFamily="34" charset="0"/>
                <a:ea typeface="Spectral" pitchFamily="34" charset="-122"/>
                <a:cs typeface="Spectral" pitchFamily="34" charset="-120"/>
              </a:rPr>
              <a:t>la craie</a:t>
            </a:r>
            <a:endParaRPr lang="en-US" sz="700" dirty="0"/>
          </a:p>
        </p:txBody>
      </p:sp>
      <p:sp>
        <p:nvSpPr>
          <p:cNvPr id="79" name="Text 77"/>
          <p:cNvSpPr/>
          <p:nvPr/>
        </p:nvSpPr>
        <p:spPr>
          <a:xfrm>
            <a:off x="6516000" y="8306100"/>
            <a:ext cx="324000" cy="216000"/>
          </a:xfrm>
          <a:prstGeom prst="rect">
            <a:avLst/>
          </a:prstGeom>
          <a:noFill/>
          <a:ln/>
        </p:spPr>
        <p:txBody>
          <a:bodyPr wrap="square" lIns="0" tIns="0" rIns="0" bIns="0" rtlCol="0" anchor="ctr"/>
          <a:lstStyle/>
          <a:p>
            <a:pPr algn="ctr" indent="0" marL="0">
              <a:buNone/>
            </a:pPr>
            <a:r>
              <a:rPr lang="en-US" sz="750" b="1" dirty="0">
                <a:solidFill>
                  <a:srgbClr val="46606E"/>
                </a:solidFill>
                <a:latin typeface="IBM Plex Sans" pitchFamily="34" charset="0"/>
                <a:ea typeface="IBM Plex Sans" pitchFamily="34" charset="-122"/>
                <a:cs typeface="IBM Plex Sans" pitchFamily="34" charset="-120"/>
              </a:rPr>
              <a:t>4</a:t>
            </a:r>
            <a:endParaRPr lang="en-US" sz="750" dirty="0"/>
          </a:p>
        </p:txBody>
      </p:sp>
      <p:sp>
        <p:nvSpPr>
          <p:cNvPr id="80" name="Text 78"/>
          <p:cNvSpPr/>
          <p:nvPr/>
        </p:nvSpPr>
        <p:spPr>
          <a:xfrm>
            <a:off x="972000" y="8536500"/>
            <a:ext cx="2844000" cy="129600"/>
          </a:xfrm>
          <a:prstGeom prst="rect">
            <a:avLst/>
          </a:prstGeom>
          <a:noFill/>
          <a:ln/>
        </p:spPr>
        <p:txBody>
          <a:bodyPr wrap="square" lIns="0" tIns="0" rIns="0" bIns="0" rtlCol="0" anchor="ctr"/>
          <a:lstStyle/>
          <a:p>
            <a:pPr indent="0" marL="0">
              <a:buNone/>
            </a:pPr>
            <a:r>
              <a:rPr lang="en-US" sz="740" b="1" dirty="0">
                <a:solidFill>
                  <a:srgbClr val="46606E"/>
                </a:solidFill>
                <a:latin typeface="IBM Plex Sans" pitchFamily="34" charset="0"/>
                <a:ea typeface="IBM Plex Sans" pitchFamily="34" charset="-122"/>
                <a:cs typeface="IBM Plex Sans" pitchFamily="34" charset="-120"/>
              </a:rPr>
              <a:t>37  </a:t>
            </a:r>
            <a:pPr indent="0" marL="0">
              <a:buNone/>
            </a:pPr>
            <a:r>
              <a:rPr lang="en-US" sz="740" dirty="0">
                <a:solidFill>
                  <a:srgbClr val="46606E"/>
                </a:solidFill>
                <a:latin typeface="IBM Plex Sans" pitchFamily="34" charset="0"/>
                <a:ea typeface="IBM Plex Sans" pitchFamily="34" charset="-122"/>
                <a:cs typeface="IBM Plex Sans" pitchFamily="34" charset="-120"/>
              </a:rPr>
              <a:t>Champagne Dekeyne</a:t>
            </a:r>
            <a:pPr indent="0" marL="0">
              <a:buNone/>
            </a:pPr>
            <a:r>
              <a:rPr lang="en-US" sz="740" b="1" dirty="0">
                <a:solidFill>
                  <a:srgbClr val="46606E"/>
                </a:solidFill>
                <a:latin typeface="IBM Plex Sans" pitchFamily="34" charset="0"/>
                <a:ea typeface="IBM Plex Sans" pitchFamily="34" charset="-122"/>
                <a:cs typeface="IBM Plex Sans" pitchFamily="34" charset="-120"/>
              </a:rPr>
              <a:t>   64</a:t>
            </a:r>
            <a:endParaRPr lang="en-US" sz="740" dirty="0"/>
          </a:p>
        </p:txBody>
      </p:sp>
      <p:sp>
        <p:nvSpPr>
          <p:cNvPr id="81" name="Text 79"/>
          <p:cNvSpPr/>
          <p:nvPr/>
        </p:nvSpPr>
        <p:spPr>
          <a:xfrm>
            <a:off x="972000" y="8666100"/>
            <a:ext cx="2844000" cy="129600"/>
          </a:xfrm>
          <a:prstGeom prst="rect">
            <a:avLst/>
          </a:prstGeom>
          <a:noFill/>
          <a:ln/>
        </p:spPr>
        <p:txBody>
          <a:bodyPr wrap="square" lIns="0" tIns="0" rIns="0" bIns="0" rtlCol="0" anchor="ctr"/>
          <a:lstStyle/>
          <a:p>
            <a:pPr indent="0" marL="0">
              <a:buNone/>
            </a:pPr>
            <a:r>
              <a:rPr lang="en-US" sz="740" b="1" dirty="0">
                <a:solidFill>
                  <a:srgbClr val="46606E"/>
                </a:solidFill>
                <a:latin typeface="IBM Plex Sans" pitchFamily="34" charset="0"/>
                <a:ea typeface="IBM Plex Sans" pitchFamily="34" charset="-122"/>
                <a:cs typeface="IBM Plex Sans" pitchFamily="34" charset="-120"/>
              </a:rPr>
              <a:t>38  </a:t>
            </a:r>
            <a:pPr indent="0" marL="0">
              <a:buNone/>
            </a:pPr>
            <a:r>
              <a:rPr lang="en-US" sz="740" dirty="0">
                <a:solidFill>
                  <a:srgbClr val="46606E"/>
                </a:solidFill>
                <a:latin typeface="IBM Plex Sans" pitchFamily="34" charset="0"/>
                <a:ea typeface="IBM Plex Sans" pitchFamily="34" charset="-122"/>
                <a:cs typeface="IBM Plex Sans" pitchFamily="34" charset="-120"/>
              </a:rPr>
              <a:t>Champagne Denis Frézier</a:t>
            </a:r>
            <a:pPr indent="0" marL="0">
              <a:buNone/>
            </a:pPr>
            <a:r>
              <a:rPr lang="en-US" sz="740" b="1" dirty="0">
                <a:solidFill>
                  <a:srgbClr val="46606E"/>
                </a:solidFill>
                <a:latin typeface="IBM Plex Sans" pitchFamily="34" charset="0"/>
                <a:ea typeface="IBM Plex Sans" pitchFamily="34" charset="-122"/>
                <a:cs typeface="IBM Plex Sans" pitchFamily="34" charset="-120"/>
              </a:rPr>
              <a:t>   65</a:t>
            </a:r>
            <a:endParaRPr lang="en-US" sz="740" dirty="0"/>
          </a:p>
        </p:txBody>
      </p:sp>
      <p:sp>
        <p:nvSpPr>
          <p:cNvPr id="82" name="Text 80"/>
          <p:cNvSpPr/>
          <p:nvPr/>
        </p:nvSpPr>
        <p:spPr>
          <a:xfrm>
            <a:off x="3888000" y="8536500"/>
            <a:ext cx="2844000" cy="129600"/>
          </a:xfrm>
          <a:prstGeom prst="rect">
            <a:avLst/>
          </a:prstGeom>
          <a:noFill/>
          <a:ln/>
        </p:spPr>
        <p:txBody>
          <a:bodyPr wrap="square" lIns="0" tIns="0" rIns="0" bIns="0" rtlCol="0" anchor="ctr"/>
          <a:lstStyle/>
          <a:p>
            <a:pPr indent="0" marL="0">
              <a:buNone/>
            </a:pPr>
            <a:r>
              <a:rPr lang="en-US" sz="740" b="1" dirty="0">
                <a:solidFill>
                  <a:srgbClr val="46606E"/>
                </a:solidFill>
                <a:latin typeface="IBM Plex Sans" pitchFamily="34" charset="0"/>
                <a:ea typeface="IBM Plex Sans" pitchFamily="34" charset="-122"/>
                <a:cs typeface="IBM Plex Sans" pitchFamily="34" charset="-120"/>
              </a:rPr>
              <a:t>39  </a:t>
            </a:r>
            <a:pPr indent="0" marL="0">
              <a:buNone/>
            </a:pPr>
            <a:r>
              <a:rPr lang="en-US" sz="740" dirty="0">
                <a:solidFill>
                  <a:srgbClr val="46606E"/>
                </a:solidFill>
                <a:latin typeface="IBM Plex Sans" pitchFamily="34" charset="0"/>
                <a:ea typeface="IBM Plex Sans" pitchFamily="34" charset="-122"/>
                <a:cs typeface="IBM Plex Sans" pitchFamily="34" charset="-120"/>
              </a:rPr>
              <a:t>Champagne Solemme</a:t>
            </a:r>
            <a:pPr indent="0" marL="0">
              <a:buNone/>
            </a:pPr>
            <a:r>
              <a:rPr lang="en-US" sz="740" b="1" dirty="0">
                <a:solidFill>
                  <a:srgbClr val="46606E"/>
                </a:solidFill>
                <a:latin typeface="IBM Plex Sans" pitchFamily="34" charset="0"/>
                <a:ea typeface="IBM Plex Sans" pitchFamily="34" charset="-122"/>
                <a:cs typeface="IBM Plex Sans" pitchFamily="34" charset="-120"/>
              </a:rPr>
              <a:t>   66</a:t>
            </a:r>
            <a:endParaRPr lang="en-US" sz="740" dirty="0"/>
          </a:p>
        </p:txBody>
      </p:sp>
      <p:sp>
        <p:nvSpPr>
          <p:cNvPr id="83" name="Text 81"/>
          <p:cNvSpPr/>
          <p:nvPr/>
        </p:nvSpPr>
        <p:spPr>
          <a:xfrm>
            <a:off x="3888000" y="8666100"/>
            <a:ext cx="2844000" cy="129600"/>
          </a:xfrm>
          <a:prstGeom prst="rect">
            <a:avLst/>
          </a:prstGeom>
          <a:noFill/>
          <a:ln/>
        </p:spPr>
        <p:txBody>
          <a:bodyPr wrap="square" lIns="0" tIns="0" rIns="0" bIns="0" rtlCol="0" anchor="ctr"/>
          <a:lstStyle/>
          <a:p>
            <a:pPr indent="0" marL="0">
              <a:buNone/>
            </a:pPr>
            <a:r>
              <a:rPr lang="en-US" sz="740" b="1" dirty="0">
                <a:solidFill>
                  <a:srgbClr val="46606E"/>
                </a:solidFill>
                <a:latin typeface="IBM Plex Sans" pitchFamily="34" charset="0"/>
                <a:ea typeface="IBM Plex Sans" pitchFamily="34" charset="-122"/>
                <a:cs typeface="IBM Plex Sans" pitchFamily="34" charset="-120"/>
              </a:rPr>
              <a:t>40  </a:t>
            </a:r>
            <a:pPr indent="0" marL="0">
              <a:buNone/>
            </a:pPr>
            <a:r>
              <a:rPr lang="en-US" sz="740" dirty="0">
                <a:solidFill>
                  <a:srgbClr val="46606E"/>
                </a:solidFill>
                <a:latin typeface="IBM Plex Sans" pitchFamily="34" charset="0"/>
                <a:ea typeface="IBM Plex Sans" pitchFamily="34" charset="-122"/>
                <a:cs typeface="IBM Plex Sans" pitchFamily="34" charset="-120"/>
              </a:rPr>
              <a:t>Vazart-Coquart &amp; Fils</a:t>
            </a:r>
            <a:pPr indent="0" marL="0">
              <a:buNone/>
            </a:pPr>
            <a:r>
              <a:rPr lang="en-US" sz="740" b="1" dirty="0">
                <a:solidFill>
                  <a:srgbClr val="46606E"/>
                </a:solidFill>
                <a:latin typeface="IBM Plex Sans" pitchFamily="34" charset="0"/>
                <a:ea typeface="IBM Plex Sans" pitchFamily="34" charset="-122"/>
                <a:cs typeface="IBM Plex Sans" pitchFamily="34" charset="-120"/>
              </a:rPr>
              <a:t>   67</a:t>
            </a:r>
            <a:endParaRPr lang="en-US" sz="740" dirty="0"/>
          </a:p>
        </p:txBody>
      </p:sp>
      <p:sp>
        <p:nvSpPr>
          <p:cNvPr id="84" name="Text 82"/>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a:t>
            </a:r>
            <a:endParaRPr lang="en-US" sz="750" dirty="0"/>
          </a:p>
        </p:txBody>
      </p:sp>
      <p:sp>
        <p:nvSpPr>
          <p:cNvPr id="85" name="Text 83"/>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612000" y="540000"/>
            <a:ext cx="6120000" cy="432000"/>
          </a:xfrm>
          <a:prstGeom prst="rect">
            <a:avLst/>
          </a:prstGeom>
          <a:noFill/>
          <a:ln/>
        </p:spPr>
        <p:txBody>
          <a:bodyPr wrap="square" lIns="0" tIns="0" rIns="0" bIns="0" rtlCol="0" anchor="b"/>
          <a:lstStyle/>
          <a:p>
            <a:pPr indent="0" marL="0">
              <a:buNone/>
            </a:pPr>
            <a:r>
              <a:rPr lang="en-US" sz="2400" dirty="0">
                <a:solidFill>
                  <a:srgbClr val="67067C"/>
                </a:solidFill>
                <a:latin typeface="Young Serif" pitchFamily="34" charset="0"/>
                <a:ea typeface="Young Serif" pitchFamily="34" charset="-122"/>
                <a:cs typeface="Young Serif" pitchFamily="34" charset="-120"/>
              </a:rPr>
              <a:t>Les quatre alliances</a:t>
            </a:r>
            <a:endParaRPr lang="en-US" sz="2400" dirty="0"/>
          </a:p>
        </p:txBody>
      </p:sp>
      <p:sp>
        <p:nvSpPr>
          <p:cNvPr id="3" name="Text 1"/>
          <p:cNvSpPr/>
          <p:nvPr/>
        </p:nvSpPr>
        <p:spPr>
          <a:xfrm>
            <a:off x="612000" y="990000"/>
            <a:ext cx="612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CE QUE L'ON PEUT MÉLANGER ENTRE DOMAINES</a:t>
            </a:r>
            <a:endParaRPr lang="en-US" sz="800" dirty="0"/>
          </a:p>
        </p:txBody>
      </p:sp>
      <p:sp>
        <p:nvSpPr>
          <p:cNvPr id="4" name="Text 2"/>
          <p:cNvSpPr/>
          <p:nvPr/>
        </p:nvSpPr>
        <p:spPr>
          <a:xfrm>
            <a:off x="612000" y="1296000"/>
            <a:ext cx="6120000" cy="432000"/>
          </a:xfrm>
          <a:prstGeom prst="rect">
            <a:avLst/>
          </a:prstGeom>
          <a:noFill/>
          <a:ln/>
        </p:spPr>
        <p:txBody>
          <a:bodyPr wrap="square" lIns="0" tIns="0" rIns="0" bIns="0" rtlCol="0" anchor="ctr"/>
          <a:lstStyle/>
          <a:p>
            <a:pPr indent="0" marL="0">
              <a:buNone/>
            </a:pPr>
            <a:r>
              <a:rPr lang="en-US" sz="950" dirty="0">
                <a:solidFill>
                  <a:srgbClr val="46606E"/>
                </a:solidFill>
                <a:latin typeface="Spectral" pitchFamily="34" charset="0"/>
                <a:ea typeface="Spectral" pitchFamily="34" charset="-122"/>
                <a:cs typeface="Spectral" pitchFamily="34" charset="-120"/>
              </a:rPr>
              <a:t>Partout ailleurs, « Possibilité de panacher » vaut </a:t>
            </a:r>
            <a:pPr indent="0" marL="0">
              <a:buNone/>
            </a:pPr>
            <a:r>
              <a:rPr lang="en-US" sz="950" b="1" dirty="0">
                <a:solidFill>
                  <a:srgbClr val="67067C"/>
                </a:solidFill>
                <a:latin typeface="Spectral" pitchFamily="34" charset="0"/>
                <a:ea typeface="Spectral" pitchFamily="34" charset="-122"/>
                <a:cs typeface="Spectral" pitchFamily="34" charset="-120"/>
              </a:rPr>
              <a:t>à l'intérieur d'un domaine</a:t>
            </a:r>
            <a:pPr indent="0" marL="0">
              <a:buNone/>
            </a:pPr>
            <a:r>
              <a:rPr lang="en-US" sz="950" dirty="0">
                <a:solidFill>
                  <a:srgbClr val="46606E"/>
                </a:solidFill>
                <a:latin typeface="Spectral" pitchFamily="34" charset="0"/>
                <a:ea typeface="Spectral" pitchFamily="34" charset="-122"/>
                <a:cs typeface="Spectral" pitchFamily="34" charset="-120"/>
              </a:rPr>
              <a:t>. Ces quatre groupes-là se panachent </a:t>
            </a:r>
            <a:pPr indent="0" marL="0">
              <a:buNone/>
            </a:pPr>
            <a:r>
              <a:rPr lang="en-US" sz="950" b="1" dirty="0">
                <a:solidFill>
                  <a:srgbClr val="67067C"/>
                </a:solidFill>
                <a:latin typeface="Spectral" pitchFamily="34" charset="0"/>
                <a:ea typeface="Spectral" pitchFamily="34" charset="-122"/>
                <a:cs typeface="Spectral" pitchFamily="34" charset="-120"/>
              </a:rPr>
              <a:t>entre eux</a:t>
            </a:r>
            <a:pPr indent="0" marL="0">
              <a:buNone/>
            </a:pPr>
            <a:r>
              <a:rPr lang="en-US" sz="950" dirty="0">
                <a:solidFill>
                  <a:srgbClr val="46606E"/>
                </a:solidFill>
                <a:latin typeface="Spectral" pitchFamily="34" charset="0"/>
                <a:ea typeface="Spectral" pitchFamily="34" charset="-122"/>
                <a:cs typeface="Spectral" pitchFamily="34" charset="-120"/>
              </a:rPr>
              <a:t> : une commande peut mélanger leurs vins pour atteindre un palier.</a:t>
            </a:r>
            <a:endParaRPr lang="en-US" sz="950" dirty="0"/>
          </a:p>
        </p:txBody>
      </p:sp>
      <p:sp>
        <p:nvSpPr>
          <p:cNvPr id="5" name="Shape 3"/>
          <p:cNvSpPr/>
          <p:nvPr/>
        </p:nvSpPr>
        <p:spPr>
          <a:xfrm>
            <a:off x="612000" y="1800000"/>
            <a:ext cx="6120000" cy="720000"/>
          </a:xfrm>
          <a:prstGeom prst="roundRect">
            <a:avLst>
              <a:gd name="adj" fmla="val 1524"/>
            </a:avLst>
          </a:prstGeom>
          <a:solidFill>
            <a:srgbClr val="FBF8F1"/>
          </a:solidFill>
          <a:ln w="15240">
            <a:solidFill>
              <a:srgbClr val="A8515F"/>
            </a:solidFill>
            <a:prstDash val="solid"/>
          </a:ln>
        </p:spPr>
      </p:sp>
      <p:sp>
        <p:nvSpPr>
          <p:cNvPr id="6" name="Text 4"/>
          <p:cNvSpPr/>
          <p:nvPr/>
        </p:nvSpPr>
        <p:spPr>
          <a:xfrm>
            <a:off x="756000" y="1872000"/>
            <a:ext cx="5832000" cy="252000"/>
          </a:xfrm>
          <a:prstGeom prst="rect">
            <a:avLst/>
          </a:prstGeom>
          <a:noFill/>
          <a:ln/>
        </p:spPr>
        <p:txBody>
          <a:bodyPr wrap="square" lIns="0" tIns="0" rIns="0" bIns="0" rtlCol="0" anchor="ctr"/>
          <a:lstStyle/>
          <a:p>
            <a:pPr indent="0" marL="0">
              <a:buNone/>
            </a:pPr>
            <a:r>
              <a:rPr lang="en-US" sz="1300" dirty="0">
                <a:solidFill>
                  <a:srgbClr val="A8515F"/>
                </a:solidFill>
                <a:latin typeface="Young Serif" pitchFamily="34" charset="0"/>
                <a:ea typeface="Young Serif" pitchFamily="34" charset="-122"/>
                <a:cs typeface="Young Serif" pitchFamily="34" charset="-120"/>
              </a:rPr>
              <a:t>Domaine Jean de Villebois et Divin No Low</a:t>
            </a:r>
            <a:endParaRPr lang="en-US" sz="1300" dirty="0"/>
          </a:p>
        </p:txBody>
      </p:sp>
      <p:sp>
        <p:nvSpPr>
          <p:cNvPr id="7" name="Text 5"/>
          <p:cNvSpPr/>
          <p:nvPr/>
        </p:nvSpPr>
        <p:spPr>
          <a:xfrm>
            <a:off x="792000" y="2160000"/>
            <a:ext cx="2844000" cy="216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6  </a:t>
            </a:r>
            <a:pPr indent="0" marL="0">
              <a:buNone/>
            </a:pPr>
            <a:r>
              <a:rPr lang="en-US" sz="800" b="1" dirty="0">
                <a:solidFill>
                  <a:srgbClr val="46606E"/>
                </a:solidFill>
                <a:latin typeface="IBM Plex Sans" pitchFamily="34" charset="0"/>
                <a:ea typeface="IBM Plex Sans" pitchFamily="34" charset="-122"/>
                <a:cs typeface="IBM Plex Sans" pitchFamily="34" charset="-120"/>
              </a:rPr>
              <a:t>Domaine Jean de Villebois  </a:t>
            </a:r>
            <a:pPr indent="0" marL="0">
              <a:buNone/>
            </a:pPr>
            <a:r>
              <a:rPr lang="en-US" sz="700" dirty="0">
                <a:solidFill>
                  <a:srgbClr val="A8515F"/>
                </a:solidFill>
                <a:latin typeface="IBM Plex Sans" pitchFamily="34" charset="0"/>
                <a:ea typeface="IBM Plex Sans" pitchFamily="34" charset="-122"/>
                <a:cs typeface="IBM Plex Sans" pitchFamily="34" charset="-120"/>
              </a:rPr>
              <a:t>Loire   </a:t>
            </a:r>
            <a:pPr indent="0" marL="0">
              <a:buNone/>
            </a:pPr>
            <a:r>
              <a:rPr lang="en-US" sz="800" b="1" dirty="0">
                <a:solidFill>
                  <a:srgbClr val="46606E"/>
                </a:solidFill>
                <a:latin typeface="IBM Plex Sans" pitchFamily="34" charset="0"/>
                <a:ea typeface="IBM Plex Sans" pitchFamily="34" charset="-122"/>
                <a:cs typeface="IBM Plex Sans" pitchFamily="34" charset="-120"/>
              </a:rPr>
              <a:t>p. 13</a:t>
            </a:r>
            <a:endParaRPr lang="en-US" sz="800" dirty="0"/>
          </a:p>
        </p:txBody>
      </p:sp>
      <p:sp>
        <p:nvSpPr>
          <p:cNvPr id="8" name="Text 6"/>
          <p:cNvSpPr/>
          <p:nvPr/>
        </p:nvSpPr>
        <p:spPr>
          <a:xfrm>
            <a:off x="3852000" y="2160000"/>
            <a:ext cx="2844000" cy="216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7  </a:t>
            </a:r>
            <a:pPr indent="0" marL="0">
              <a:buNone/>
            </a:pPr>
            <a:r>
              <a:rPr lang="en-US" sz="800" b="1" dirty="0">
                <a:solidFill>
                  <a:srgbClr val="46606E"/>
                </a:solidFill>
                <a:latin typeface="IBM Plex Sans" pitchFamily="34" charset="0"/>
                <a:ea typeface="IBM Plex Sans" pitchFamily="34" charset="-122"/>
                <a:cs typeface="IBM Plex Sans" pitchFamily="34" charset="-120"/>
              </a:rPr>
              <a:t>Divin No Low  </a:t>
            </a:r>
            <a:pPr indent="0" marL="0">
              <a:buNone/>
            </a:pPr>
            <a:r>
              <a:rPr lang="en-US" sz="700" dirty="0">
                <a:solidFill>
                  <a:srgbClr val="A8515F"/>
                </a:solidFill>
                <a:latin typeface="IBM Plex Sans" pitchFamily="34" charset="0"/>
                <a:ea typeface="IBM Plex Sans" pitchFamily="34" charset="-122"/>
                <a:cs typeface="IBM Plex Sans" pitchFamily="34" charset="-120"/>
              </a:rPr>
              <a:t>Loire   </a:t>
            </a:r>
            <a:pPr indent="0" marL="0">
              <a:buNone/>
            </a:pPr>
            <a:r>
              <a:rPr lang="en-US" sz="800" b="1" dirty="0">
                <a:solidFill>
                  <a:srgbClr val="46606E"/>
                </a:solidFill>
                <a:latin typeface="IBM Plex Sans" pitchFamily="34" charset="0"/>
                <a:ea typeface="IBM Plex Sans" pitchFamily="34" charset="-122"/>
                <a:cs typeface="IBM Plex Sans" pitchFamily="34" charset="-120"/>
              </a:rPr>
              <a:t>p. 15</a:t>
            </a:r>
            <a:endParaRPr lang="en-US" sz="800" dirty="0"/>
          </a:p>
        </p:txBody>
      </p:sp>
      <p:sp>
        <p:nvSpPr>
          <p:cNvPr id="9" name="Shape 7"/>
          <p:cNvSpPr/>
          <p:nvPr/>
        </p:nvSpPr>
        <p:spPr>
          <a:xfrm>
            <a:off x="612000" y="2700000"/>
            <a:ext cx="6120000" cy="972000"/>
          </a:xfrm>
          <a:prstGeom prst="roundRect">
            <a:avLst>
              <a:gd name="adj" fmla="val 1129"/>
            </a:avLst>
          </a:prstGeom>
          <a:solidFill>
            <a:srgbClr val="FBF8F1"/>
          </a:solidFill>
          <a:ln w="15240">
            <a:solidFill>
              <a:srgbClr val="A8515F"/>
            </a:solidFill>
            <a:prstDash val="solid"/>
          </a:ln>
        </p:spPr>
      </p:sp>
      <p:sp>
        <p:nvSpPr>
          <p:cNvPr id="10" name="Text 8"/>
          <p:cNvSpPr/>
          <p:nvPr/>
        </p:nvSpPr>
        <p:spPr>
          <a:xfrm>
            <a:off x="756000" y="2772000"/>
            <a:ext cx="5832000" cy="252000"/>
          </a:xfrm>
          <a:prstGeom prst="rect">
            <a:avLst/>
          </a:prstGeom>
          <a:noFill/>
          <a:ln/>
        </p:spPr>
        <p:txBody>
          <a:bodyPr wrap="square" lIns="0" tIns="0" rIns="0" bIns="0" rtlCol="0" anchor="ctr"/>
          <a:lstStyle/>
          <a:p>
            <a:pPr indent="0" marL="0">
              <a:buNone/>
            </a:pPr>
            <a:r>
              <a:rPr lang="en-US" sz="1300" dirty="0">
                <a:solidFill>
                  <a:srgbClr val="A8515F"/>
                </a:solidFill>
                <a:latin typeface="Young Serif" pitchFamily="34" charset="0"/>
                <a:ea typeface="Young Serif" pitchFamily="34" charset="-122"/>
                <a:cs typeface="Young Serif" pitchFamily="34" charset="-120"/>
              </a:rPr>
              <a:t>Maison André Goichot, Château du Cray et Domaine Les Guignottes</a:t>
            </a:r>
            <a:endParaRPr lang="en-US" sz="1300" dirty="0"/>
          </a:p>
        </p:txBody>
      </p:sp>
      <p:sp>
        <p:nvSpPr>
          <p:cNvPr id="11" name="Text 9"/>
          <p:cNvSpPr/>
          <p:nvPr/>
        </p:nvSpPr>
        <p:spPr>
          <a:xfrm>
            <a:off x="792000" y="3060000"/>
            <a:ext cx="2844000" cy="216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12  </a:t>
            </a:r>
            <a:pPr indent="0" marL="0">
              <a:buNone/>
            </a:pPr>
            <a:r>
              <a:rPr lang="en-US" sz="800" b="1" dirty="0">
                <a:solidFill>
                  <a:srgbClr val="46606E"/>
                </a:solidFill>
                <a:latin typeface="IBM Plex Sans" pitchFamily="34" charset="0"/>
                <a:ea typeface="IBM Plex Sans" pitchFamily="34" charset="-122"/>
                <a:cs typeface="IBM Plex Sans" pitchFamily="34" charset="-120"/>
              </a:rPr>
              <a:t>Maison et Domaine André Goichot  </a:t>
            </a:r>
            <a:pPr indent="0" marL="0">
              <a:buNone/>
            </a:pPr>
            <a:r>
              <a:rPr lang="en-US" sz="700" dirty="0">
                <a:solidFill>
                  <a:srgbClr val="A8515F"/>
                </a:solidFill>
                <a:latin typeface="IBM Plex Sans" pitchFamily="34" charset="0"/>
                <a:ea typeface="IBM Plex Sans" pitchFamily="34" charset="-122"/>
                <a:cs typeface="IBM Plex Sans" pitchFamily="34" charset="-120"/>
              </a:rPr>
              <a:t>Bourgogne   </a:t>
            </a:r>
            <a:pPr indent="0" marL="0">
              <a:buNone/>
            </a:pPr>
            <a:r>
              <a:rPr lang="en-US" sz="800" b="1" dirty="0">
                <a:solidFill>
                  <a:srgbClr val="46606E"/>
                </a:solidFill>
                <a:latin typeface="IBM Plex Sans" pitchFamily="34" charset="0"/>
                <a:ea typeface="IBM Plex Sans" pitchFamily="34" charset="-122"/>
                <a:cs typeface="IBM Plex Sans" pitchFamily="34" charset="-120"/>
              </a:rPr>
              <a:t>p. 25</a:t>
            </a:r>
            <a:endParaRPr lang="en-US" sz="800" dirty="0"/>
          </a:p>
        </p:txBody>
      </p:sp>
      <p:sp>
        <p:nvSpPr>
          <p:cNvPr id="12" name="Text 10"/>
          <p:cNvSpPr/>
          <p:nvPr/>
        </p:nvSpPr>
        <p:spPr>
          <a:xfrm>
            <a:off x="3852000" y="3060000"/>
            <a:ext cx="2844000" cy="216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13  </a:t>
            </a:r>
            <a:pPr indent="0" marL="0">
              <a:buNone/>
            </a:pPr>
            <a:r>
              <a:rPr lang="en-US" sz="800" b="1" dirty="0">
                <a:solidFill>
                  <a:srgbClr val="46606E"/>
                </a:solidFill>
                <a:latin typeface="IBM Plex Sans" pitchFamily="34" charset="0"/>
                <a:ea typeface="IBM Plex Sans" pitchFamily="34" charset="-122"/>
                <a:cs typeface="IBM Plex Sans" pitchFamily="34" charset="-120"/>
              </a:rPr>
              <a:t>Château du Cray  </a:t>
            </a:r>
            <a:pPr indent="0" marL="0">
              <a:buNone/>
            </a:pPr>
            <a:r>
              <a:rPr lang="en-US" sz="700" dirty="0">
                <a:solidFill>
                  <a:srgbClr val="A8515F"/>
                </a:solidFill>
                <a:latin typeface="IBM Plex Sans" pitchFamily="34" charset="0"/>
                <a:ea typeface="IBM Plex Sans" pitchFamily="34" charset="-122"/>
                <a:cs typeface="IBM Plex Sans" pitchFamily="34" charset="-120"/>
              </a:rPr>
              <a:t>Bourgogne   </a:t>
            </a:r>
            <a:pPr indent="0" marL="0">
              <a:buNone/>
            </a:pPr>
            <a:r>
              <a:rPr lang="en-US" sz="800" b="1" dirty="0">
                <a:solidFill>
                  <a:srgbClr val="46606E"/>
                </a:solidFill>
                <a:latin typeface="IBM Plex Sans" pitchFamily="34" charset="0"/>
                <a:ea typeface="IBM Plex Sans" pitchFamily="34" charset="-122"/>
                <a:cs typeface="IBM Plex Sans" pitchFamily="34" charset="-120"/>
              </a:rPr>
              <a:t>p. 27</a:t>
            </a:r>
            <a:endParaRPr lang="en-US" sz="800" dirty="0"/>
          </a:p>
        </p:txBody>
      </p:sp>
      <p:sp>
        <p:nvSpPr>
          <p:cNvPr id="13" name="Text 11"/>
          <p:cNvSpPr/>
          <p:nvPr/>
        </p:nvSpPr>
        <p:spPr>
          <a:xfrm>
            <a:off x="792000" y="3312000"/>
            <a:ext cx="2844000" cy="216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14  </a:t>
            </a:r>
            <a:pPr indent="0" marL="0">
              <a:buNone/>
            </a:pPr>
            <a:r>
              <a:rPr lang="en-US" sz="800" b="1" dirty="0">
                <a:solidFill>
                  <a:srgbClr val="46606E"/>
                </a:solidFill>
                <a:latin typeface="IBM Plex Sans" pitchFamily="34" charset="0"/>
                <a:ea typeface="IBM Plex Sans" pitchFamily="34" charset="-122"/>
                <a:cs typeface="IBM Plex Sans" pitchFamily="34" charset="-120"/>
              </a:rPr>
              <a:t>Domaine Les Guignottes  </a:t>
            </a:r>
            <a:pPr indent="0" marL="0">
              <a:buNone/>
            </a:pPr>
            <a:r>
              <a:rPr lang="en-US" sz="700" dirty="0">
                <a:solidFill>
                  <a:srgbClr val="A8515F"/>
                </a:solidFill>
                <a:latin typeface="IBM Plex Sans" pitchFamily="34" charset="0"/>
                <a:ea typeface="IBM Plex Sans" pitchFamily="34" charset="-122"/>
                <a:cs typeface="IBM Plex Sans" pitchFamily="34" charset="-120"/>
              </a:rPr>
              <a:t>Bourgogne   </a:t>
            </a:r>
            <a:pPr indent="0" marL="0">
              <a:buNone/>
            </a:pPr>
            <a:r>
              <a:rPr lang="en-US" sz="800" b="1" dirty="0">
                <a:solidFill>
                  <a:srgbClr val="46606E"/>
                </a:solidFill>
                <a:latin typeface="IBM Plex Sans" pitchFamily="34" charset="0"/>
                <a:ea typeface="IBM Plex Sans" pitchFamily="34" charset="-122"/>
                <a:cs typeface="IBM Plex Sans" pitchFamily="34" charset="-120"/>
              </a:rPr>
              <a:t>p. 28</a:t>
            </a:r>
            <a:endParaRPr lang="en-US" sz="800" dirty="0"/>
          </a:p>
        </p:txBody>
      </p:sp>
      <p:sp>
        <p:nvSpPr>
          <p:cNvPr id="14" name="Shape 12"/>
          <p:cNvSpPr/>
          <p:nvPr/>
        </p:nvSpPr>
        <p:spPr>
          <a:xfrm>
            <a:off x="612000" y="3852000"/>
            <a:ext cx="6120000" cy="972000"/>
          </a:xfrm>
          <a:prstGeom prst="roundRect">
            <a:avLst>
              <a:gd name="adj" fmla="val 1129"/>
            </a:avLst>
          </a:prstGeom>
          <a:solidFill>
            <a:srgbClr val="FBF8F1"/>
          </a:solidFill>
          <a:ln w="15240">
            <a:solidFill>
              <a:srgbClr val="A8515F"/>
            </a:solidFill>
            <a:prstDash val="solid"/>
          </a:ln>
        </p:spPr>
      </p:sp>
      <p:sp>
        <p:nvSpPr>
          <p:cNvPr id="15" name="Text 13"/>
          <p:cNvSpPr/>
          <p:nvPr/>
        </p:nvSpPr>
        <p:spPr>
          <a:xfrm>
            <a:off x="756000" y="3924000"/>
            <a:ext cx="5832000" cy="252000"/>
          </a:xfrm>
          <a:prstGeom prst="rect">
            <a:avLst/>
          </a:prstGeom>
          <a:noFill/>
          <a:ln/>
        </p:spPr>
        <p:txBody>
          <a:bodyPr wrap="square" lIns="0" tIns="0" rIns="0" bIns="0" rtlCol="0" anchor="ctr"/>
          <a:lstStyle/>
          <a:p>
            <a:pPr indent="0" marL="0">
              <a:buNone/>
            </a:pPr>
            <a:r>
              <a:rPr lang="en-US" sz="1300" dirty="0">
                <a:solidFill>
                  <a:srgbClr val="A8515F"/>
                </a:solidFill>
                <a:latin typeface="Young Serif" pitchFamily="34" charset="0"/>
                <a:ea typeface="Young Serif" pitchFamily="34" charset="-122"/>
                <a:cs typeface="Young Serif" pitchFamily="34" charset="-120"/>
              </a:rPr>
              <a:t>Les quatre domaines Strasser Radziwill</a:t>
            </a:r>
            <a:endParaRPr lang="en-US" sz="1300" dirty="0"/>
          </a:p>
        </p:txBody>
      </p:sp>
      <p:sp>
        <p:nvSpPr>
          <p:cNvPr id="16" name="Text 14"/>
          <p:cNvSpPr/>
          <p:nvPr/>
        </p:nvSpPr>
        <p:spPr>
          <a:xfrm>
            <a:off x="792000" y="4212000"/>
            <a:ext cx="2844000" cy="216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16  </a:t>
            </a:r>
            <a:pPr indent="0" marL="0">
              <a:buNone/>
            </a:pPr>
            <a:r>
              <a:rPr lang="en-US" sz="800" b="1" dirty="0">
                <a:solidFill>
                  <a:srgbClr val="46606E"/>
                </a:solidFill>
                <a:latin typeface="IBM Plex Sans" pitchFamily="34" charset="0"/>
                <a:ea typeface="IBM Plex Sans" pitchFamily="34" charset="-122"/>
                <a:cs typeface="IBM Plex Sans" pitchFamily="34" charset="-120"/>
              </a:rPr>
              <a:t>Domaine Le Prieuré des Papes  </a:t>
            </a:r>
            <a:pPr indent="0" marL="0">
              <a:buNone/>
            </a:pPr>
            <a:r>
              <a:rPr lang="en-US" sz="700" dirty="0">
                <a:solidFill>
                  <a:srgbClr val="A8515F"/>
                </a:solidFill>
                <a:latin typeface="IBM Plex Sans" pitchFamily="34" charset="0"/>
                <a:ea typeface="IBM Plex Sans" pitchFamily="34" charset="-122"/>
                <a:cs typeface="IBM Plex Sans" pitchFamily="34" charset="-120"/>
              </a:rPr>
              <a:t>Rhône   </a:t>
            </a:r>
            <a:pPr indent="0" marL="0">
              <a:buNone/>
            </a:pPr>
            <a:r>
              <a:rPr lang="en-US" sz="800" b="1" dirty="0">
                <a:solidFill>
                  <a:srgbClr val="46606E"/>
                </a:solidFill>
                <a:latin typeface="IBM Plex Sans" pitchFamily="34" charset="0"/>
                <a:ea typeface="IBM Plex Sans" pitchFamily="34" charset="-122"/>
                <a:cs typeface="IBM Plex Sans" pitchFamily="34" charset="-120"/>
              </a:rPr>
              <a:t>p. 31</a:t>
            </a:r>
            <a:endParaRPr lang="en-US" sz="800" dirty="0"/>
          </a:p>
        </p:txBody>
      </p:sp>
      <p:sp>
        <p:nvSpPr>
          <p:cNvPr id="17" name="Text 15"/>
          <p:cNvSpPr/>
          <p:nvPr/>
        </p:nvSpPr>
        <p:spPr>
          <a:xfrm>
            <a:off x="3852000" y="4212000"/>
            <a:ext cx="2844000" cy="216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17  </a:t>
            </a:r>
            <a:pPr indent="0" marL="0">
              <a:buNone/>
            </a:pPr>
            <a:r>
              <a:rPr lang="en-US" sz="800" b="1" dirty="0">
                <a:solidFill>
                  <a:srgbClr val="46606E"/>
                </a:solidFill>
                <a:latin typeface="IBM Plex Sans" pitchFamily="34" charset="0"/>
                <a:ea typeface="IBM Plex Sans" pitchFamily="34" charset="-122"/>
                <a:cs typeface="IBM Plex Sans" pitchFamily="34" charset="-120"/>
              </a:rPr>
              <a:t>Domaine de Coyeux  </a:t>
            </a:r>
            <a:pPr indent="0" marL="0">
              <a:buNone/>
            </a:pPr>
            <a:r>
              <a:rPr lang="en-US" sz="700" dirty="0">
                <a:solidFill>
                  <a:srgbClr val="A8515F"/>
                </a:solidFill>
                <a:latin typeface="IBM Plex Sans" pitchFamily="34" charset="0"/>
                <a:ea typeface="IBM Plex Sans" pitchFamily="34" charset="-122"/>
                <a:cs typeface="IBM Plex Sans" pitchFamily="34" charset="-120"/>
              </a:rPr>
              <a:t>Rhône   </a:t>
            </a:r>
            <a:pPr indent="0" marL="0">
              <a:buNone/>
            </a:pPr>
            <a:r>
              <a:rPr lang="en-US" sz="800" b="1" dirty="0">
                <a:solidFill>
                  <a:srgbClr val="46606E"/>
                </a:solidFill>
                <a:latin typeface="IBM Plex Sans" pitchFamily="34" charset="0"/>
                <a:ea typeface="IBM Plex Sans" pitchFamily="34" charset="-122"/>
                <a:cs typeface="IBM Plex Sans" pitchFamily="34" charset="-120"/>
              </a:rPr>
              <a:t>p. 32</a:t>
            </a:r>
            <a:endParaRPr lang="en-US" sz="800" dirty="0"/>
          </a:p>
        </p:txBody>
      </p:sp>
      <p:sp>
        <p:nvSpPr>
          <p:cNvPr id="18" name="Text 16"/>
          <p:cNvSpPr/>
          <p:nvPr/>
        </p:nvSpPr>
        <p:spPr>
          <a:xfrm>
            <a:off x="792000" y="4464000"/>
            <a:ext cx="2844000" cy="216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18  </a:t>
            </a:r>
            <a:pPr indent="0" marL="0">
              <a:buNone/>
            </a:pPr>
            <a:r>
              <a:rPr lang="en-US" sz="800" b="1" dirty="0">
                <a:solidFill>
                  <a:srgbClr val="46606E"/>
                </a:solidFill>
                <a:latin typeface="IBM Plex Sans" pitchFamily="34" charset="0"/>
                <a:ea typeface="IBM Plex Sans" pitchFamily="34" charset="-122"/>
                <a:cs typeface="IBM Plex Sans" pitchFamily="34" charset="-120"/>
              </a:rPr>
              <a:t>Domaine du Moulin Blanc  </a:t>
            </a:r>
            <a:pPr indent="0" marL="0">
              <a:buNone/>
            </a:pPr>
            <a:r>
              <a:rPr lang="en-US" sz="700" dirty="0">
                <a:solidFill>
                  <a:srgbClr val="A8515F"/>
                </a:solidFill>
                <a:latin typeface="IBM Plex Sans" pitchFamily="34" charset="0"/>
                <a:ea typeface="IBM Plex Sans" pitchFamily="34" charset="-122"/>
                <a:cs typeface="IBM Plex Sans" pitchFamily="34" charset="-120"/>
              </a:rPr>
              <a:t>Rhône   </a:t>
            </a:r>
            <a:pPr indent="0" marL="0">
              <a:buNone/>
            </a:pPr>
            <a:r>
              <a:rPr lang="en-US" sz="800" b="1" dirty="0">
                <a:solidFill>
                  <a:srgbClr val="46606E"/>
                </a:solidFill>
                <a:latin typeface="IBM Plex Sans" pitchFamily="34" charset="0"/>
                <a:ea typeface="IBM Plex Sans" pitchFamily="34" charset="-122"/>
                <a:cs typeface="IBM Plex Sans" pitchFamily="34" charset="-120"/>
              </a:rPr>
              <a:t>p. 33</a:t>
            </a:r>
            <a:endParaRPr lang="en-US" sz="800" dirty="0"/>
          </a:p>
        </p:txBody>
      </p:sp>
      <p:sp>
        <p:nvSpPr>
          <p:cNvPr id="19" name="Text 17"/>
          <p:cNvSpPr/>
          <p:nvPr/>
        </p:nvSpPr>
        <p:spPr>
          <a:xfrm>
            <a:off x="3852000" y="4464000"/>
            <a:ext cx="2844000" cy="216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19  </a:t>
            </a:r>
            <a:pPr indent="0" marL="0">
              <a:buNone/>
            </a:pPr>
            <a:r>
              <a:rPr lang="en-US" sz="800" b="1" dirty="0">
                <a:solidFill>
                  <a:srgbClr val="46606E"/>
                </a:solidFill>
                <a:latin typeface="IBM Plex Sans" pitchFamily="34" charset="0"/>
                <a:ea typeface="IBM Plex Sans" pitchFamily="34" charset="-122"/>
                <a:cs typeface="IBM Plex Sans" pitchFamily="34" charset="-120"/>
              </a:rPr>
              <a:t>Domaine de la Pousterle  </a:t>
            </a:r>
            <a:pPr indent="0" marL="0">
              <a:buNone/>
            </a:pPr>
            <a:r>
              <a:rPr lang="en-US" sz="700" dirty="0">
                <a:solidFill>
                  <a:srgbClr val="A8515F"/>
                </a:solidFill>
                <a:latin typeface="IBM Plex Sans" pitchFamily="34" charset="0"/>
                <a:ea typeface="IBM Plex Sans" pitchFamily="34" charset="-122"/>
                <a:cs typeface="IBM Plex Sans" pitchFamily="34" charset="-120"/>
              </a:rPr>
              <a:t>Rhône   </a:t>
            </a:r>
            <a:pPr indent="0" marL="0">
              <a:buNone/>
            </a:pPr>
            <a:r>
              <a:rPr lang="en-US" sz="800" b="1" dirty="0">
                <a:solidFill>
                  <a:srgbClr val="46606E"/>
                </a:solidFill>
                <a:latin typeface="IBM Plex Sans" pitchFamily="34" charset="0"/>
                <a:ea typeface="IBM Plex Sans" pitchFamily="34" charset="-122"/>
                <a:cs typeface="IBM Plex Sans" pitchFamily="34" charset="-120"/>
              </a:rPr>
              <a:t>p. 34</a:t>
            </a:r>
            <a:endParaRPr lang="en-US" sz="800" dirty="0"/>
          </a:p>
        </p:txBody>
      </p:sp>
      <p:sp>
        <p:nvSpPr>
          <p:cNvPr id="20" name="Shape 18"/>
          <p:cNvSpPr/>
          <p:nvPr/>
        </p:nvSpPr>
        <p:spPr>
          <a:xfrm>
            <a:off x="612000" y="5004000"/>
            <a:ext cx="6120000" cy="720000"/>
          </a:xfrm>
          <a:prstGeom prst="roundRect">
            <a:avLst>
              <a:gd name="adj" fmla="val 1524"/>
            </a:avLst>
          </a:prstGeom>
          <a:solidFill>
            <a:srgbClr val="FBF8F1"/>
          </a:solidFill>
          <a:ln w="15240">
            <a:solidFill>
              <a:srgbClr val="A8515F"/>
            </a:solidFill>
            <a:prstDash val="solid"/>
          </a:ln>
        </p:spPr>
      </p:sp>
      <p:sp>
        <p:nvSpPr>
          <p:cNvPr id="21" name="Text 19"/>
          <p:cNvSpPr/>
          <p:nvPr/>
        </p:nvSpPr>
        <p:spPr>
          <a:xfrm>
            <a:off x="756000" y="5076000"/>
            <a:ext cx="5832000" cy="252000"/>
          </a:xfrm>
          <a:prstGeom prst="rect">
            <a:avLst/>
          </a:prstGeom>
          <a:noFill/>
          <a:ln/>
        </p:spPr>
        <p:txBody>
          <a:bodyPr wrap="square" lIns="0" tIns="0" rIns="0" bIns="0" rtlCol="0" anchor="ctr"/>
          <a:lstStyle/>
          <a:p>
            <a:pPr indent="0" marL="0">
              <a:buNone/>
            </a:pPr>
            <a:r>
              <a:rPr lang="en-US" sz="1300" dirty="0">
                <a:solidFill>
                  <a:srgbClr val="A8515F"/>
                </a:solidFill>
                <a:latin typeface="Young Serif" pitchFamily="34" charset="0"/>
                <a:ea typeface="Young Serif" pitchFamily="34" charset="-122"/>
                <a:cs typeface="Young Serif" pitchFamily="34" charset="-120"/>
              </a:rPr>
              <a:t>Famille d’Exea : les vins et les jus de cépages</a:t>
            </a:r>
            <a:endParaRPr lang="en-US" sz="1300" dirty="0"/>
          </a:p>
        </p:txBody>
      </p:sp>
      <p:sp>
        <p:nvSpPr>
          <p:cNvPr id="22" name="Text 20"/>
          <p:cNvSpPr/>
          <p:nvPr/>
        </p:nvSpPr>
        <p:spPr>
          <a:xfrm>
            <a:off x="792000" y="5364000"/>
            <a:ext cx="2844000" cy="216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32  </a:t>
            </a:r>
            <a:pPr indent="0" marL="0">
              <a:buNone/>
            </a:pPr>
            <a:r>
              <a:rPr lang="en-US" sz="800" b="1" dirty="0">
                <a:solidFill>
                  <a:srgbClr val="46606E"/>
                </a:solidFill>
                <a:latin typeface="IBM Plex Sans" pitchFamily="34" charset="0"/>
                <a:ea typeface="IBM Plex Sans" pitchFamily="34" charset="-122"/>
                <a:cs typeface="IBM Plex Sans" pitchFamily="34" charset="-120"/>
              </a:rPr>
              <a:t>Famille d’Exea  </a:t>
            </a:r>
            <a:pPr indent="0" marL="0">
              <a:buNone/>
            </a:pPr>
            <a:r>
              <a:rPr lang="en-US" sz="700" dirty="0">
                <a:solidFill>
                  <a:srgbClr val="A8515F"/>
                </a:solidFill>
                <a:latin typeface="IBM Plex Sans" pitchFamily="34" charset="0"/>
                <a:ea typeface="IBM Plex Sans" pitchFamily="34" charset="-122"/>
                <a:cs typeface="IBM Plex Sans" pitchFamily="34" charset="-120"/>
              </a:rPr>
              <a:t>Languedoc   </a:t>
            </a:r>
            <a:pPr indent="0" marL="0">
              <a:buNone/>
            </a:pPr>
            <a:r>
              <a:rPr lang="en-US" sz="800" b="1" dirty="0">
                <a:solidFill>
                  <a:srgbClr val="46606E"/>
                </a:solidFill>
                <a:latin typeface="IBM Plex Sans" pitchFamily="34" charset="0"/>
                <a:ea typeface="IBM Plex Sans" pitchFamily="34" charset="-122"/>
                <a:cs typeface="IBM Plex Sans" pitchFamily="34" charset="-120"/>
              </a:rPr>
              <a:t>p. 56</a:t>
            </a:r>
            <a:endParaRPr lang="en-US" sz="800" dirty="0"/>
          </a:p>
        </p:txBody>
      </p:sp>
      <p:sp>
        <p:nvSpPr>
          <p:cNvPr id="23" name="Text 21"/>
          <p:cNvSpPr/>
          <p:nvPr/>
        </p:nvSpPr>
        <p:spPr>
          <a:xfrm>
            <a:off x="3852000" y="5364000"/>
            <a:ext cx="2844000" cy="216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33  </a:t>
            </a:r>
            <a:pPr indent="0" marL="0">
              <a:buNone/>
            </a:pPr>
            <a:r>
              <a:rPr lang="en-US" sz="800" b="1" dirty="0">
                <a:solidFill>
                  <a:srgbClr val="46606E"/>
                </a:solidFill>
                <a:latin typeface="IBM Plex Sans" pitchFamily="34" charset="0"/>
                <a:ea typeface="IBM Plex Sans" pitchFamily="34" charset="-122"/>
                <a:cs typeface="IBM Plex Sans" pitchFamily="34" charset="-120"/>
              </a:rPr>
              <a:t>Famille d’Exea — Jus de Cépages  </a:t>
            </a:r>
            <a:pPr indent="0" marL="0">
              <a:buNone/>
            </a:pPr>
            <a:r>
              <a:rPr lang="en-US" sz="700" dirty="0">
                <a:solidFill>
                  <a:srgbClr val="A8515F"/>
                </a:solidFill>
                <a:latin typeface="IBM Plex Sans" pitchFamily="34" charset="0"/>
                <a:ea typeface="IBM Plex Sans" pitchFamily="34" charset="-122"/>
                <a:cs typeface="IBM Plex Sans" pitchFamily="34" charset="-120"/>
              </a:rPr>
              <a:t>Languedoc   </a:t>
            </a:r>
            <a:pPr indent="0" marL="0">
              <a:buNone/>
            </a:pPr>
            <a:r>
              <a:rPr lang="en-US" sz="800" b="1" dirty="0">
                <a:solidFill>
                  <a:srgbClr val="46606E"/>
                </a:solidFill>
                <a:latin typeface="IBM Plex Sans" pitchFamily="34" charset="0"/>
                <a:ea typeface="IBM Plex Sans" pitchFamily="34" charset="-122"/>
                <a:cs typeface="IBM Plex Sans" pitchFamily="34" charset="-120"/>
              </a:rPr>
              <a:t>p. 58</a:t>
            </a:r>
            <a:endParaRPr lang="en-US" sz="800" dirty="0"/>
          </a:p>
        </p:txBody>
      </p:sp>
      <p:sp>
        <p:nvSpPr>
          <p:cNvPr id="24" name="Text 22"/>
          <p:cNvSpPr/>
          <p:nvPr/>
        </p:nvSpPr>
        <p:spPr>
          <a:xfrm>
            <a:off x="612000" y="8460000"/>
            <a:ext cx="6120000" cy="288000"/>
          </a:xfrm>
          <a:prstGeom prst="rect">
            <a:avLst/>
          </a:prstGeom>
          <a:noFill/>
          <a:ln/>
        </p:spPr>
        <p:txBody>
          <a:bodyPr wrap="square" lIns="0" tIns="0" rIns="0" bIns="0" rtlCol="0" anchor="ctr"/>
          <a:lstStyle/>
          <a:p>
            <a:pPr indent="0" marL="0">
              <a:buNone/>
            </a:pPr>
            <a:r>
              <a:rPr lang="en-US" sz="860" dirty="0">
                <a:solidFill>
                  <a:srgbClr val="46606E"/>
                </a:solidFill>
                <a:latin typeface="Spectral" pitchFamily="34" charset="0"/>
                <a:ea typeface="Spectral" pitchFamily="34" charset="-122"/>
                <a:cs typeface="Spectral" pitchFamily="34" charset="-120"/>
              </a:rPr>
              <a:t>Les paliers restent ceux de chaque domaine : le panachage permet d’atteindre la quantité, il ne change pas le tarif de la bouteille.</a:t>
            </a:r>
            <a:endParaRPr lang="en-US" sz="860" dirty="0"/>
          </a:p>
        </p:txBody>
      </p:sp>
      <p:sp>
        <p:nvSpPr>
          <p:cNvPr id="25" name="Text 23"/>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a:t>
            </a:r>
            <a:endParaRPr lang="en-US" sz="750" dirty="0"/>
          </a:p>
        </p:txBody>
      </p:sp>
      <p:sp>
        <p:nvSpPr>
          <p:cNvPr id="26" name="Text 24"/>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46606E"/>
        </a:solidFill>
      </p:bgPr>
    </p:bg>
    <p:spTree>
      <p:nvGrpSpPr>
        <p:cNvPr id="1" name=""/>
        <p:cNvGrpSpPr/>
        <p:nvPr/>
      </p:nvGrpSpPr>
      <p:grpSpPr>
        <a:xfrm>
          <a:off x="0" y="0"/>
          <a:ext cx="0" cy="0"/>
          <a:chOff x="0" y="0"/>
          <a:chExt cx="0" cy="0"/>
        </a:xfrm>
      </p:grpSpPr>
      <p:pic>
        <p:nvPicPr>
          <p:cNvPr id="2" name="Image 0" descr="/home/user/philippe1/build/deco/ouverture-loire.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rotte-loire.png">    </p:cNvPr>
          <p:cNvPicPr>
            <a:picLocks noChangeAspect="1"/>
          </p:cNvPicPr>
          <p:nvPr/>
        </p:nvPicPr>
        <p:blipFill>
          <a:blip r:embed="rId2"/>
          <a:stretch>
            <a:fillRect/>
          </a:stretch>
        </p:blipFill>
        <p:spPr>
          <a:xfrm>
            <a:off x="0" y="0"/>
            <a:ext cx="324000" cy="9360000"/>
          </a:xfrm>
          <a:prstGeom prst="rect">
            <a:avLst/>
          </a:prstGeom>
        </p:spPr>
      </p:pic>
      <p:sp>
        <p:nvSpPr>
          <p:cNvPr id="4"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5" name="Text 1"/>
          <p:cNvSpPr/>
          <p:nvPr/>
        </p:nvSpPr>
        <p:spPr>
          <a:xfrm>
            <a:off x="828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1 / 10</a:t>
            </a:r>
            <a:endParaRPr lang="en-US" sz="800" dirty="0"/>
          </a:p>
        </p:txBody>
      </p:sp>
      <p:sp>
        <p:nvSpPr>
          <p:cNvPr id="6" name="Text 2"/>
          <p:cNvSpPr/>
          <p:nvPr/>
        </p:nvSpPr>
        <p:spPr>
          <a:xfrm>
            <a:off x="828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Loire</a:t>
            </a:r>
            <a:endParaRPr lang="en-US" sz="4600" dirty="0"/>
          </a:p>
        </p:txBody>
      </p:sp>
      <p:sp>
        <p:nvSpPr>
          <p:cNvPr id="7" name="Text 3"/>
          <p:cNvSpPr/>
          <p:nvPr/>
        </p:nvSpPr>
        <p:spPr>
          <a:xfrm>
            <a:off x="828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schistes et tuffeau</a:t>
            </a:r>
            <a:endParaRPr lang="en-US" sz="1200" dirty="0"/>
          </a:p>
        </p:txBody>
      </p:sp>
      <p:sp>
        <p:nvSpPr>
          <p:cNvPr id="8" name="Text 4"/>
          <p:cNvSpPr/>
          <p:nvPr/>
        </p:nvSpPr>
        <p:spPr>
          <a:xfrm>
            <a:off x="828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7</a:t>
            </a:r>
            <a:endParaRPr lang="en-US" sz="2000" dirty="0"/>
          </a:p>
        </p:txBody>
      </p:sp>
      <p:sp>
        <p:nvSpPr>
          <p:cNvPr id="9" name="Text 5"/>
          <p:cNvSpPr/>
          <p:nvPr/>
        </p:nvSpPr>
        <p:spPr>
          <a:xfrm>
            <a:off x="828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836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68</a:t>
            </a:r>
            <a:endParaRPr lang="en-US" sz="2000" dirty="0"/>
          </a:p>
        </p:txBody>
      </p:sp>
      <p:sp>
        <p:nvSpPr>
          <p:cNvPr id="11" name="Text 7"/>
          <p:cNvSpPr/>
          <p:nvPr/>
        </p:nvSpPr>
        <p:spPr>
          <a:xfrm>
            <a:off x="1836000" y="6660000"/>
            <a:ext cx="936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828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   </a:t>
            </a:r>
            <a:pPr indent="0" marL="0">
              <a:buNone/>
            </a:pPr>
            <a:r>
              <a:rPr lang="en-US" sz="860" dirty="0">
                <a:solidFill>
                  <a:srgbClr val="FBF8F1"/>
                </a:solidFill>
                <a:latin typeface="IBM Plex Sans" pitchFamily="34" charset="0"/>
                <a:ea typeface="IBM Plex Sans" pitchFamily="34" charset="-122"/>
                <a:cs typeface="IBM Plex Sans" pitchFamily="34" charset="-120"/>
              </a:rPr>
              <a:t>François Reverdy</a:t>
            </a:r>
            <a:pPr indent="0" marL="0">
              <a:buNone/>
            </a:pPr>
            <a:r>
              <a:rPr lang="en-US" sz="860" b="1" dirty="0">
                <a:solidFill>
                  <a:srgbClr val="FBF8F1"/>
                </a:solidFill>
                <a:latin typeface="IBM Plex Sans" pitchFamily="34" charset="0"/>
                <a:ea typeface="IBM Plex Sans" pitchFamily="34" charset="-122"/>
                <a:cs typeface="IBM Plex Sans" pitchFamily="34" charset="-120"/>
              </a:rPr>
              <a:t>   7</a:t>
            </a:r>
            <a:endParaRPr lang="en-US" sz="860" dirty="0"/>
          </a:p>
        </p:txBody>
      </p:sp>
      <p:sp>
        <p:nvSpPr>
          <p:cNvPr id="13" name="Text 9"/>
          <p:cNvSpPr/>
          <p:nvPr/>
        </p:nvSpPr>
        <p:spPr>
          <a:xfrm>
            <a:off x="3888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   </a:t>
            </a:r>
            <a:pPr indent="0" marL="0">
              <a:buNone/>
            </a:pPr>
            <a:r>
              <a:rPr lang="en-US" sz="860" dirty="0">
                <a:solidFill>
                  <a:srgbClr val="FBF8F1"/>
                </a:solidFill>
                <a:latin typeface="IBM Plex Sans" pitchFamily="34" charset="0"/>
                <a:ea typeface="IBM Plex Sans" pitchFamily="34" charset="-122"/>
                <a:cs typeface="IBM Plex Sans" pitchFamily="34" charset="-120"/>
              </a:rPr>
              <a:t>Domaine de la Barbinière</a:t>
            </a:r>
            <a:pPr indent="0" marL="0">
              <a:buNone/>
            </a:pPr>
            <a:r>
              <a:rPr lang="en-US" sz="860" b="1" dirty="0">
                <a:solidFill>
                  <a:srgbClr val="FBF8F1"/>
                </a:solidFill>
                <a:latin typeface="IBM Plex Sans" pitchFamily="34" charset="0"/>
                <a:ea typeface="IBM Plex Sans" pitchFamily="34" charset="-122"/>
                <a:cs typeface="IBM Plex Sans" pitchFamily="34" charset="-120"/>
              </a:rPr>
              <a:t>   8</a:t>
            </a:r>
            <a:endParaRPr lang="en-US" sz="860" dirty="0"/>
          </a:p>
        </p:txBody>
      </p:sp>
      <p:sp>
        <p:nvSpPr>
          <p:cNvPr id="14" name="Text 10"/>
          <p:cNvSpPr/>
          <p:nvPr/>
        </p:nvSpPr>
        <p:spPr>
          <a:xfrm>
            <a:off x="828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3   </a:t>
            </a:r>
            <a:pPr indent="0" marL="0">
              <a:buNone/>
            </a:pPr>
            <a:r>
              <a:rPr lang="en-US" sz="860" dirty="0">
                <a:solidFill>
                  <a:srgbClr val="FBF8F1"/>
                </a:solidFill>
                <a:latin typeface="IBM Plex Sans" pitchFamily="34" charset="0"/>
                <a:ea typeface="IBM Plex Sans" pitchFamily="34" charset="-122"/>
                <a:cs typeface="IBM Plex Sans" pitchFamily="34" charset="-120"/>
              </a:rPr>
              <a:t>Domaine du Colombier / J.Y Bretaudeau</a:t>
            </a:r>
            <a:pPr indent="0" marL="0">
              <a:buNone/>
            </a:pPr>
            <a:r>
              <a:rPr lang="en-US" sz="860" b="1" dirty="0">
                <a:solidFill>
                  <a:srgbClr val="FBF8F1"/>
                </a:solidFill>
                <a:latin typeface="IBM Plex Sans" pitchFamily="34" charset="0"/>
                <a:ea typeface="IBM Plex Sans" pitchFamily="34" charset="-122"/>
                <a:cs typeface="IBM Plex Sans" pitchFamily="34" charset="-120"/>
              </a:rPr>
              <a:t>   9</a:t>
            </a:r>
            <a:endParaRPr lang="en-US" sz="860" dirty="0"/>
          </a:p>
        </p:txBody>
      </p:sp>
      <p:sp>
        <p:nvSpPr>
          <p:cNvPr id="15" name="Text 11"/>
          <p:cNvSpPr/>
          <p:nvPr/>
        </p:nvSpPr>
        <p:spPr>
          <a:xfrm>
            <a:off x="3888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4   </a:t>
            </a:r>
            <a:pPr indent="0" marL="0">
              <a:buNone/>
            </a:pPr>
            <a:r>
              <a:rPr lang="en-US" sz="860" dirty="0">
                <a:solidFill>
                  <a:srgbClr val="FBF8F1"/>
                </a:solidFill>
                <a:latin typeface="IBM Plex Sans" pitchFamily="34" charset="0"/>
                <a:ea typeface="IBM Plex Sans" pitchFamily="34" charset="-122"/>
                <a:cs typeface="IBM Plex Sans" pitchFamily="34" charset="-120"/>
              </a:rPr>
              <a:t>Domaine des Noëls</a:t>
            </a:r>
            <a:pPr indent="0" marL="0">
              <a:buNone/>
            </a:pPr>
            <a:r>
              <a:rPr lang="en-US" sz="860" b="1" dirty="0">
                <a:solidFill>
                  <a:srgbClr val="FBF8F1"/>
                </a:solidFill>
                <a:latin typeface="IBM Plex Sans" pitchFamily="34" charset="0"/>
                <a:ea typeface="IBM Plex Sans" pitchFamily="34" charset="-122"/>
                <a:cs typeface="IBM Plex Sans" pitchFamily="34" charset="-120"/>
              </a:rPr>
              <a:t>   11</a:t>
            </a:r>
            <a:endParaRPr lang="en-US" sz="860" dirty="0"/>
          </a:p>
        </p:txBody>
      </p:sp>
      <p:sp>
        <p:nvSpPr>
          <p:cNvPr id="16" name="Text 12"/>
          <p:cNvSpPr/>
          <p:nvPr/>
        </p:nvSpPr>
        <p:spPr>
          <a:xfrm>
            <a:off x="828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5   </a:t>
            </a:r>
            <a:pPr indent="0" marL="0">
              <a:buNone/>
            </a:pPr>
            <a:r>
              <a:rPr lang="en-US" sz="860" dirty="0">
                <a:solidFill>
                  <a:srgbClr val="FBF8F1"/>
                </a:solidFill>
                <a:latin typeface="IBM Plex Sans" pitchFamily="34" charset="0"/>
                <a:ea typeface="IBM Plex Sans" pitchFamily="34" charset="-122"/>
                <a:cs typeface="IBM Plex Sans" pitchFamily="34" charset="-120"/>
              </a:rPr>
              <a:t>Chai Berteaud Manceau</a:t>
            </a:r>
            <a:pPr indent="0" marL="0">
              <a:buNone/>
            </a:pPr>
            <a:r>
              <a:rPr lang="en-US" sz="860" b="1" dirty="0">
                <a:solidFill>
                  <a:srgbClr val="FBF8F1"/>
                </a:solidFill>
                <a:latin typeface="IBM Plex Sans" pitchFamily="34" charset="0"/>
                <a:ea typeface="IBM Plex Sans" pitchFamily="34" charset="-122"/>
                <a:cs typeface="IBM Plex Sans" pitchFamily="34" charset="-120"/>
              </a:rPr>
              <a:t>   12</a:t>
            </a:r>
            <a:endParaRPr lang="en-US" sz="860" dirty="0"/>
          </a:p>
        </p:txBody>
      </p:sp>
      <p:sp>
        <p:nvSpPr>
          <p:cNvPr id="17" name="Text 13"/>
          <p:cNvSpPr/>
          <p:nvPr/>
        </p:nvSpPr>
        <p:spPr>
          <a:xfrm>
            <a:off x="3888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6   </a:t>
            </a:r>
            <a:pPr indent="0" marL="0">
              <a:buNone/>
            </a:pPr>
            <a:r>
              <a:rPr lang="en-US" sz="860" dirty="0">
                <a:solidFill>
                  <a:srgbClr val="FBF8F1"/>
                </a:solidFill>
                <a:latin typeface="IBM Plex Sans" pitchFamily="34" charset="0"/>
                <a:ea typeface="IBM Plex Sans" pitchFamily="34" charset="-122"/>
                <a:cs typeface="IBM Plex Sans" pitchFamily="34" charset="-120"/>
              </a:rPr>
              <a:t>Domaine Jean de Villebois</a:t>
            </a:r>
            <a:pPr indent="0" marL="0">
              <a:buNone/>
            </a:pPr>
            <a:r>
              <a:rPr lang="en-US" sz="860" b="1" dirty="0">
                <a:solidFill>
                  <a:srgbClr val="FBF8F1"/>
                </a:solidFill>
                <a:latin typeface="IBM Plex Sans" pitchFamily="34" charset="0"/>
                <a:ea typeface="IBM Plex Sans" pitchFamily="34" charset="-122"/>
                <a:cs typeface="IBM Plex Sans" pitchFamily="34" charset="-120"/>
              </a:rPr>
              <a:t>   13</a:t>
            </a:r>
            <a:endParaRPr lang="en-US" sz="860" dirty="0"/>
          </a:p>
        </p:txBody>
      </p:sp>
      <p:sp>
        <p:nvSpPr>
          <p:cNvPr id="18" name="Text 14"/>
          <p:cNvSpPr/>
          <p:nvPr/>
        </p:nvSpPr>
        <p:spPr>
          <a:xfrm>
            <a:off x="828000" y="7884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7   </a:t>
            </a:r>
            <a:pPr indent="0" marL="0">
              <a:buNone/>
            </a:pPr>
            <a:r>
              <a:rPr lang="en-US" sz="860" dirty="0">
                <a:solidFill>
                  <a:srgbClr val="FBF8F1"/>
                </a:solidFill>
                <a:latin typeface="IBM Plex Sans" pitchFamily="34" charset="0"/>
                <a:ea typeface="IBM Plex Sans" pitchFamily="34" charset="-122"/>
                <a:cs typeface="IBM Plex Sans" pitchFamily="34" charset="-120"/>
              </a:rPr>
              <a:t>Divin No Low</a:t>
            </a:r>
            <a:pPr indent="0" marL="0">
              <a:buNone/>
            </a:pPr>
            <a:r>
              <a:rPr lang="en-US" sz="860" b="1" dirty="0">
                <a:solidFill>
                  <a:srgbClr val="FBF8F1"/>
                </a:solidFill>
                <a:latin typeface="IBM Plex Sans" pitchFamily="34" charset="0"/>
                <a:ea typeface="IBM Plex Sans" pitchFamily="34" charset="-122"/>
                <a:cs typeface="IBM Plex Sans" pitchFamily="34" charset="-120"/>
              </a:rPr>
              <a:t>   15</a:t>
            </a:r>
            <a:endParaRPr lang="en-US" sz="860" dirty="0"/>
          </a:p>
        </p:txBody>
      </p:sp>
      <p:sp>
        <p:nvSpPr>
          <p:cNvPr id="19" name="Text 15"/>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6</a:t>
            </a:r>
            <a:endParaRPr lang="en-US" sz="750" dirty="0"/>
          </a:p>
        </p:txBody>
      </p:sp>
      <p:sp>
        <p:nvSpPr>
          <p:cNvPr id="20" name="Text 16"/>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loir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François Reverdy</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030051"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0300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494725"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4947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8 références</a:t>
            </a:r>
            <a:endParaRPr lang="en-US" sz="720" dirty="0"/>
          </a:p>
        </p:txBody>
      </p:sp>
      <p:sp>
        <p:nvSpPr>
          <p:cNvPr id="13" name="Shape 10"/>
          <p:cNvSpPr/>
          <p:nvPr/>
        </p:nvSpPr>
        <p:spPr>
          <a:xfrm>
            <a:off x="612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225" dirty="0">
                <a:solidFill>
                  <a:srgbClr val="46606E"/>
                </a:solidFill>
                <a:latin typeface="Spectral" pitchFamily="34" charset="0"/>
                <a:ea typeface="Spectral" pitchFamily="34" charset="-122"/>
                <a:cs typeface="Spectral" pitchFamily="34" charset="-120"/>
              </a:rPr>
              <a:t>Créés ex nihilo en 2023, deux vignobles jardins conduits en agriculture biologique : l'un à Sancerre, où François Reverdy est le plus petit vigneron de l'appellation, l'autre à Roiffé entre Saumur et Chinon, en vieilles vignes de Grolleau noir, Cabernet Franc et Chenin blanc. Vendanges à la main et vins éco-conçus, en Anjou, Saumur, Chinon, Quincy et Sancerre.</a:t>
            </a:r>
            <a:endParaRPr lang="en-US" sz="1225"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Jusqu'à 36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48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Anjou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François Reverdy – Schistes Vert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14,75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13,25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12,25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Saumur</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François Reverdy – Tuffeau</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Chinon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François Reverdy – Franc / Graves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14,75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13,75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Quincy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François Reverdy – Graves Argileuses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Sancerre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François Reverdy – Les Villaudes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François Reverdy – Grolleau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Val de Loire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Grange Jaumain – Chenin Blanc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9,25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Val de Loire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Grange Jaumain – Les Soudannes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9,25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Text 15"/>
          <p:cNvSpPr/>
          <p:nvPr/>
        </p:nvSpPr>
        <p:spPr>
          <a:xfrm>
            <a:off x="612000" y="7282726"/>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LOIRE — SCHISTES ET TUFFEAU</a:t>
            </a:r>
            <a:endParaRPr lang="en-US" sz="720" dirty="0"/>
          </a:p>
        </p:txBody>
      </p:sp>
      <p:pic>
        <p:nvPicPr>
          <p:cNvPr id="20" name="Image 1" descr="/home/user/philippe1/build/deco/sol-loire.png">    </p:cNvPr>
          <p:cNvPicPr>
            <a:picLocks noChangeAspect="1"/>
          </p:cNvPicPr>
          <p:nvPr/>
        </p:nvPicPr>
        <p:blipFill>
          <a:blip r:embed="rId2"/>
          <a:stretch>
            <a:fillRect/>
          </a:stretch>
        </p:blipFill>
        <p:spPr>
          <a:xfrm>
            <a:off x="612000" y="7430326"/>
            <a:ext cx="6120000" cy="657953"/>
          </a:xfrm>
          <a:prstGeom prst="rect">
            <a:avLst/>
          </a:prstGeom>
        </p:spPr>
      </p:pic>
      <p:sp>
        <p:nvSpPr>
          <p:cNvPr id="21" name="Shape 16"/>
          <p:cNvSpPr/>
          <p:nvPr/>
        </p:nvSpPr>
        <p:spPr>
          <a:xfrm>
            <a:off x="612000" y="8388000"/>
            <a:ext cx="6120000" cy="0"/>
          </a:xfrm>
          <a:prstGeom prst="line">
            <a:avLst/>
          </a:prstGeom>
          <a:noFill/>
          <a:ln w="8890">
            <a:solidFill>
              <a:srgbClr val="46606E"/>
            </a:solidFill>
            <a:prstDash val="solid"/>
          </a:ln>
        </p:spPr>
      </p:sp>
      <p:sp>
        <p:nvSpPr>
          <p:cNvPr id="22" name="Text 17"/>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3" name="Text 18"/>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4" name="Text 19"/>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5" name="Text 2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7</a:t>
            </a:r>
            <a:endParaRPr lang="en-US" sz="750" dirty="0"/>
          </a:p>
        </p:txBody>
      </p:sp>
      <p:sp>
        <p:nvSpPr>
          <p:cNvPr id="26" name="Text 2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loir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de la Barbinière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630911" cy="180000"/>
          </a:xfrm>
          <a:prstGeom prst="roundRect">
            <a:avLst>
              <a:gd name="adj" fmla="val 10160"/>
            </a:avLst>
          </a:prstGeom>
          <a:solidFill>
            <a:srgbClr val="67067C"/>
          </a:solidFill>
          <a:ln w="8890">
            <a:solidFill>
              <a:srgbClr val="67067C"/>
            </a:solidFill>
            <a:prstDash val="solid"/>
          </a:ln>
        </p:spPr>
      </p:sp>
      <p:sp>
        <p:nvSpPr>
          <p:cNvPr id="10" name="Text 7"/>
          <p:cNvSpPr/>
          <p:nvPr/>
        </p:nvSpPr>
        <p:spPr>
          <a:xfrm>
            <a:off x="1246051"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1" name="Shape 8"/>
          <p:cNvSpPr/>
          <p:nvPr/>
        </p:nvSpPr>
        <p:spPr>
          <a:xfrm>
            <a:off x="1956162" y="1047600"/>
            <a:ext cx="1385474" cy="180000"/>
          </a:xfrm>
          <a:prstGeom prst="roundRect">
            <a:avLst>
              <a:gd name="adj" fmla="val 10160"/>
            </a:avLst>
          </a:prstGeom>
          <a:solidFill>
            <a:srgbClr val="F2EADA"/>
          </a:solidFill>
          <a:ln w="8890">
            <a:solidFill>
              <a:srgbClr val="A8515F"/>
            </a:solidFill>
            <a:prstDash val="solid"/>
          </a:ln>
        </p:spPr>
      </p:sp>
      <p:sp>
        <p:nvSpPr>
          <p:cNvPr id="12" name="Text 9"/>
          <p:cNvSpPr/>
          <p:nvPr/>
        </p:nvSpPr>
        <p:spPr>
          <a:xfrm>
            <a:off x="1956162"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3" name="Shape 10"/>
          <p:cNvSpPr/>
          <p:nvPr/>
        </p:nvSpPr>
        <p:spPr>
          <a:xfrm>
            <a:off x="3420836" y="1047600"/>
            <a:ext cx="787182" cy="180000"/>
          </a:xfrm>
          <a:prstGeom prst="roundRect">
            <a:avLst>
              <a:gd name="adj" fmla="val 10160"/>
            </a:avLst>
          </a:prstGeom>
          <a:solidFill>
            <a:srgbClr val="F2EADA"/>
          </a:solidFill>
          <a:ln w="8890">
            <a:solidFill>
              <a:srgbClr val="46606E"/>
            </a:solidFill>
            <a:prstDash val="solid"/>
          </a:ln>
        </p:spPr>
      </p:sp>
      <p:sp>
        <p:nvSpPr>
          <p:cNvPr id="14" name="Text 11"/>
          <p:cNvSpPr/>
          <p:nvPr/>
        </p:nvSpPr>
        <p:spPr>
          <a:xfrm>
            <a:off x="3420836"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10 références</a:t>
            </a:r>
            <a:endParaRPr lang="en-US" sz="720" dirty="0"/>
          </a:p>
        </p:txBody>
      </p:sp>
      <p:sp>
        <p:nvSpPr>
          <p:cNvPr id="15" name="Shape 12"/>
          <p:cNvSpPr/>
          <p:nvPr/>
        </p:nvSpPr>
        <p:spPr>
          <a:xfrm>
            <a:off x="828000" y="1357200"/>
            <a:ext cx="1440000" cy="1440000"/>
          </a:xfrm>
          <a:prstGeom prst="ellipse">
            <a:avLst/>
          </a:prstGeom>
          <a:solidFill>
            <a:srgbClr val="F2EADA"/>
          </a:solidFill>
          <a:ln w="12700">
            <a:solidFill>
              <a:srgbClr val="46606E"/>
            </a:solidFill>
            <a:prstDash val="dash"/>
          </a:ln>
        </p:spPr>
      </p:sp>
      <p:sp>
        <p:nvSpPr>
          <p:cNvPr id="16" name="Text 13"/>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7" name="Shape 14"/>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8" name="Text 15"/>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9" name="Text 16"/>
          <p:cNvSpPr/>
          <p:nvPr/>
        </p:nvSpPr>
        <p:spPr>
          <a:xfrm>
            <a:off x="2448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Sur les reliefs bocagers du Chantonnais, Vincent et Alban Orion sculptent 30 hectares reflétant la diversité des terroirs chantonnaisiens. Une démarche paysanne faite de travail manuel minutieux et d’attention à la faune et à la flore, qui porte le domaine en agriculture biologique.</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Silex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4,43</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Silex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Silex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4,25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Gorinières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7,84</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Courbes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2018</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7,23</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Amphibol</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Gneiss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5,13</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Val de Loire Pinot Noir</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Bois Bouquet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6,72</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Méthode Traditionnelle (Extra)</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L’O*** Brut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6,28</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 – Pétillant Naturel</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Pop’s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1" name="Shape 17"/>
          <p:cNvSpPr/>
          <p:nvPr/>
        </p:nvSpPr>
        <p:spPr>
          <a:xfrm>
            <a:off x="828000" y="8388000"/>
            <a:ext cx="6120000" cy="0"/>
          </a:xfrm>
          <a:prstGeom prst="line">
            <a:avLst/>
          </a:prstGeom>
          <a:noFill/>
          <a:ln w="8890">
            <a:solidFill>
              <a:srgbClr val="46606E"/>
            </a:solidFill>
            <a:prstDash val="solid"/>
          </a:ln>
        </p:spPr>
      </p:sp>
      <p:sp>
        <p:nvSpPr>
          <p:cNvPr id="22" name="Text 18"/>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3" name="Text 19"/>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16 · 35 · 44 · 49 · 53 · 56 · 85</a:t>
            </a:r>
            <a:endParaRPr lang="en-US" sz="720" dirty="0"/>
          </a:p>
        </p:txBody>
      </p:sp>
      <p:sp>
        <p:nvSpPr>
          <p:cNvPr id="24" name="Text 20"/>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Rosé    ● Rouge     pictos de l’Agence SCIO, pas les logos officiels</a:t>
            </a:r>
            <a:endParaRPr lang="en-US" sz="650" dirty="0"/>
          </a:p>
        </p:txBody>
      </p:sp>
      <p:sp>
        <p:nvSpPr>
          <p:cNvPr id="25" name="Text 21"/>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8</a:t>
            </a:r>
            <a:endParaRPr lang="en-US" sz="750" dirty="0"/>
          </a:p>
        </p:txBody>
      </p:sp>
      <p:sp>
        <p:nvSpPr>
          <p:cNvPr id="26" name="Text 22"/>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loir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a:t>
            </a:r>
            <a:pPr indent="0" marL="0">
              <a:lnSpc>
                <a:spcPct val="104000"/>
              </a:lnSpc>
              <a:buNone/>
            </a:pPr>
            <a:r>
              <a:rPr lang="en-US" sz="1700" dirty="0">
                <a:solidFill>
                  <a:srgbClr val="46606E"/>
                </a:solidFill>
                <a:latin typeface="Young Serif" pitchFamily="34" charset="0"/>
                <a:ea typeface="Young Serif" pitchFamily="34" charset="-122"/>
                <a:cs typeface="Young Serif" pitchFamily="34" charset="-120"/>
              </a:rPr>
              <a:t>   Domaine du Colombier / J.Y Bretaudeau</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80548"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9" name="Shape 6"/>
          <p:cNvSpPr/>
          <p:nvPr/>
        </p:nvSpPr>
        <p:spPr>
          <a:xfrm>
            <a:off x="1071748"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071748"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536422" y="1047600"/>
            <a:ext cx="787182"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536422"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14 références</a:t>
            </a:r>
            <a:endParaRPr lang="en-US" sz="720" dirty="0"/>
          </a:p>
        </p:txBody>
      </p:sp>
      <p:sp>
        <p:nvSpPr>
          <p:cNvPr id="13" name="Shape 10"/>
          <p:cNvSpPr/>
          <p:nvPr/>
        </p:nvSpPr>
        <p:spPr>
          <a:xfrm>
            <a:off x="612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Quatre générations de passionnés et adhérent historique des Vignerons Indépendants : Jean-Yves Bretaudeau allie bon sens paysan et précision œnologique. Certifié HVE, le domaine préserve ses paysages ligériens pour des vins friands et expressifs.</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Muscadet Sèvre et Maine sur lie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Cuvée des deux Colombes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Muscadet Sèvre et Maine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CRU Mouzillon – Tillières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Chardonnay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Prestige de Beaulieu</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Sauvignon Gris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Cuvée domaine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Sauvignon Blanc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Vins du Val de Loire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Text 15"/>
          <p:cNvSpPr/>
          <p:nvPr/>
        </p:nvSpPr>
        <p:spPr>
          <a:xfrm>
            <a:off x="612000" y="6067247"/>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LOIRE — SCHISTES ET TUFFEAU</a:t>
            </a:r>
            <a:endParaRPr lang="en-US" sz="720" dirty="0"/>
          </a:p>
        </p:txBody>
      </p:sp>
      <p:pic>
        <p:nvPicPr>
          <p:cNvPr id="20" name="Image 1" descr="/home/user/philippe1/build/deco/sol-loire.png">    </p:cNvPr>
          <p:cNvPicPr>
            <a:picLocks noChangeAspect="1"/>
          </p:cNvPicPr>
          <p:nvPr/>
        </p:nvPicPr>
        <p:blipFill>
          <a:blip r:embed="rId2"/>
          <a:stretch>
            <a:fillRect/>
          </a:stretch>
        </p:blipFill>
        <p:spPr>
          <a:xfrm>
            <a:off x="612000" y="6214847"/>
            <a:ext cx="6120000" cy="1148400"/>
          </a:xfrm>
          <a:prstGeom prst="rect">
            <a:avLst/>
          </a:prstGeom>
        </p:spPr>
      </p:pic>
      <p:sp>
        <p:nvSpPr>
          <p:cNvPr id="21" name="Shape 16"/>
          <p:cNvSpPr/>
          <p:nvPr/>
        </p:nvSpPr>
        <p:spPr>
          <a:xfrm>
            <a:off x="612000" y="8388000"/>
            <a:ext cx="6120000" cy="0"/>
          </a:xfrm>
          <a:prstGeom prst="line">
            <a:avLst/>
          </a:prstGeom>
          <a:noFill/>
          <a:ln w="8890">
            <a:solidFill>
              <a:srgbClr val="46606E"/>
            </a:solidFill>
            <a:prstDash val="solid"/>
          </a:ln>
        </p:spPr>
      </p:sp>
      <p:sp>
        <p:nvSpPr>
          <p:cNvPr id="22" name="Text 17"/>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3" name="Text 18"/>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4" name="Text 19"/>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Rosé    ● Rouge     pictos de l’Agence SCIO, pas les logos officiels</a:t>
            </a:r>
            <a:endParaRPr lang="en-US" sz="650" dirty="0"/>
          </a:p>
        </p:txBody>
      </p:sp>
      <p:sp>
        <p:nvSpPr>
          <p:cNvPr id="25" name="Text 2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9</a:t>
            </a:r>
            <a:endParaRPr lang="en-US" sz="750" dirty="0"/>
          </a:p>
        </p:txBody>
      </p:sp>
      <p:sp>
        <p:nvSpPr>
          <p:cNvPr id="26" name="Text 2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loir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a:t>
            </a:r>
            <a:pPr indent="0" marL="0">
              <a:lnSpc>
                <a:spcPct val="104000"/>
              </a:lnSpc>
              <a:buNone/>
            </a:pPr>
            <a:r>
              <a:rPr lang="en-US" sz="1550" dirty="0">
                <a:solidFill>
                  <a:srgbClr val="46606E"/>
                </a:solidFill>
                <a:latin typeface="Young Serif" pitchFamily="34" charset="0"/>
                <a:ea typeface="Young Serif" pitchFamily="34" charset="-122"/>
                <a:cs typeface="Young Serif" pitchFamily="34" charset="-120"/>
              </a:rPr>
              <a:t>   Domaine du Colombier / J.Y Bretaudeau</a:t>
            </a:r>
            <a:pPr indent="0" marL="0">
              <a:lnSpc>
                <a:spcPct val="104000"/>
              </a:lnSpc>
              <a:buNone/>
            </a:pP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80548"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9" name="Shape 6"/>
          <p:cNvSpPr/>
          <p:nvPr/>
        </p:nvSpPr>
        <p:spPr>
          <a:xfrm>
            <a:off x="1287748"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287748"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752422" y="1047600"/>
            <a:ext cx="787182"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752422"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14 références</a:t>
            </a:r>
            <a:endParaRPr lang="en-US" sz="72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Cabernet Franc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Rouge au lèvres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Méthode traditionnelle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perle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828000" y="2926668"/>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BIBS</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5 Litres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10 Litres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5300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Muscadet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22,70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Sauvignon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Chardonnay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Merlot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Cabernet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Cabernet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5" name="Text 10"/>
          <p:cNvSpPr/>
          <p:nvPr/>
        </p:nvSpPr>
        <p:spPr>
          <a:xfrm>
            <a:off x="828000" y="4865832"/>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LOIRE — SCHISTES ET TUFFEAU</a:t>
            </a:r>
            <a:endParaRPr lang="en-US" sz="720" dirty="0"/>
          </a:p>
        </p:txBody>
      </p:sp>
      <p:pic>
        <p:nvPicPr>
          <p:cNvPr id="16" name="Image 1" descr="/home/user/philippe1/build/deco/sol-loire.png">    </p:cNvPr>
          <p:cNvPicPr>
            <a:picLocks noChangeAspect="1"/>
          </p:cNvPicPr>
          <p:nvPr/>
        </p:nvPicPr>
        <p:blipFill>
          <a:blip r:embed="rId2"/>
          <a:stretch>
            <a:fillRect/>
          </a:stretch>
        </p:blipFill>
        <p:spPr>
          <a:xfrm>
            <a:off x="828000" y="5013432"/>
            <a:ext cx="6120000" cy="1680802"/>
          </a:xfrm>
          <a:prstGeom prst="rect">
            <a:avLst/>
          </a:prstGeom>
        </p:spPr>
      </p:pic>
      <p:sp>
        <p:nvSpPr>
          <p:cNvPr id="17" name="Shape 11"/>
          <p:cNvSpPr/>
          <p:nvPr/>
        </p:nvSpPr>
        <p:spPr>
          <a:xfrm>
            <a:off x="828000" y="8388000"/>
            <a:ext cx="6120000" cy="0"/>
          </a:xfrm>
          <a:prstGeom prst="line">
            <a:avLst/>
          </a:prstGeom>
          <a:noFill/>
          <a:ln w="8890">
            <a:solidFill>
              <a:srgbClr val="46606E"/>
            </a:solidFill>
            <a:prstDash val="solid"/>
          </a:ln>
        </p:spPr>
      </p:sp>
      <p:sp>
        <p:nvSpPr>
          <p:cNvPr id="18" name="Text 12"/>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19" name="Text 13"/>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0" name="Text 14"/>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Rosé    ● Rouge     pictos de l’Agence SCIO, pas les logos officiels</a:t>
            </a:r>
            <a:endParaRPr lang="en-US" sz="650" dirty="0"/>
          </a:p>
        </p:txBody>
      </p:sp>
      <p:sp>
        <p:nvSpPr>
          <p:cNvPr id="21" name="Text 15"/>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10</a:t>
            </a:r>
            <a:endParaRPr lang="en-US" sz="750" dirty="0"/>
          </a:p>
        </p:txBody>
      </p:sp>
      <p:sp>
        <p:nvSpPr>
          <p:cNvPr id="22" name="Text 16"/>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loir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4</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des Noëls</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030051"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0300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494725"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4947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9 références</a:t>
            </a:r>
            <a:endParaRPr lang="en-US" sz="720" dirty="0"/>
          </a:p>
        </p:txBody>
      </p:sp>
      <p:sp>
        <p:nvSpPr>
          <p:cNvPr id="13" name="Shape 10"/>
          <p:cNvSpPr/>
          <p:nvPr/>
        </p:nvSpPr>
        <p:spPr>
          <a:xfrm>
            <a:off x="612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Depuis 1921 à Faye-d’Anjou, cinq générations se transmettent 24 hectares de coteaux argilo-schisteux remarquablement exposés. Le Chenin donne aussi bien les liquoreux du Coteaux du Layon que des Anjou Blanc et Crémant de Loire d’une minéralité tactile.</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240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360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Anjou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Promenade des Noëls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Val de Loire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Sauvignon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Coteaux du Layon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Coteaux du Layon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Coteaux du Layon Faye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Coteaux du Layon Faye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Crémant de Loire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Crémant de Loire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Crémant de Loire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Cuvée Prestige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Rosé de Loire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Rosé de Loire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Rosé d’Anjou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Rosé d’Anjou</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Cabernet d’Anjou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Cabernet d’Anjou</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Shape 15"/>
          <p:cNvSpPr/>
          <p:nvPr/>
        </p:nvSpPr>
        <p:spPr>
          <a:xfrm>
            <a:off x="612000" y="8388000"/>
            <a:ext cx="6120000" cy="0"/>
          </a:xfrm>
          <a:prstGeom prst="line">
            <a:avLst/>
          </a:prstGeom>
          <a:noFill/>
          <a:ln w="8890">
            <a:solidFill>
              <a:srgbClr val="46606E"/>
            </a:solidFill>
            <a:prstDash val="solid"/>
          </a:ln>
        </p:spPr>
      </p:sp>
      <p:sp>
        <p:nvSpPr>
          <p:cNvPr id="20" name="Text 16"/>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1" name="Text 17"/>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2" name="Text 18"/>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Rosé    ● Doux     pictos de l’Agence SCIO, pas les logos officiels</a:t>
            </a:r>
            <a:endParaRPr lang="en-US" sz="650" dirty="0"/>
          </a:p>
        </p:txBody>
      </p:sp>
      <p:sp>
        <p:nvSpPr>
          <p:cNvPr id="23" name="Text 19"/>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11</a:t>
            </a:r>
            <a:endParaRPr lang="en-US" sz="750" dirty="0"/>
          </a:p>
        </p:txBody>
      </p:sp>
      <p:sp>
        <p:nvSpPr>
          <p:cNvPr id="24" name="Text 20"/>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loir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5</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Chai Berteaud Manceau</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2460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710725"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7107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 références</a:t>
            </a:r>
            <a:endParaRPr lang="en-US" sz="720" dirty="0"/>
          </a:p>
        </p:txBody>
      </p:sp>
      <p:sp>
        <p:nvSpPr>
          <p:cNvPr id="13" name="Shape 10"/>
          <p:cNvSpPr/>
          <p:nvPr/>
        </p:nvSpPr>
        <p:spPr>
          <a:xfrm>
            <a:off x="828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448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Premier chai urbain de La Roche-sur-Yon, à Mouilleron-le-Captif, fondé par deux amis d’enfance vendéens diplômés en ingénierie agricole à Angers. Les raisins proviennent de 8 domaines partenaires du Val de Loire. Levures indigènes : des jus digestes et éclatants.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240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Val de Loire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Courant – Chenin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5,75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Val de Loire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Source – Melon B.</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Val de Loire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Reflet – Gamay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5,75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Text 15"/>
          <p:cNvSpPr/>
          <p:nvPr/>
        </p:nvSpPr>
        <p:spPr>
          <a:xfrm>
            <a:off x="828000" y="5359123"/>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LOIRE — SCHISTES ET TUFFEAU</a:t>
            </a:r>
            <a:endParaRPr lang="en-US" sz="720" dirty="0"/>
          </a:p>
        </p:txBody>
      </p:sp>
      <p:pic>
        <p:nvPicPr>
          <p:cNvPr id="20" name="Image 1" descr="/home/user/philippe1/build/deco/sol-loire.png">    </p:cNvPr>
          <p:cNvPicPr>
            <a:picLocks noChangeAspect="1"/>
          </p:cNvPicPr>
          <p:nvPr/>
        </p:nvPicPr>
        <p:blipFill>
          <a:blip r:embed="rId2"/>
          <a:stretch>
            <a:fillRect/>
          </a:stretch>
        </p:blipFill>
        <p:spPr>
          <a:xfrm>
            <a:off x="828000" y="5506723"/>
            <a:ext cx="6120000" cy="1540294"/>
          </a:xfrm>
          <a:prstGeom prst="rect">
            <a:avLst/>
          </a:prstGeom>
        </p:spPr>
      </p:pic>
      <p:sp>
        <p:nvSpPr>
          <p:cNvPr id="21" name="Shape 16"/>
          <p:cNvSpPr/>
          <p:nvPr/>
        </p:nvSpPr>
        <p:spPr>
          <a:xfrm>
            <a:off x="828000" y="8388000"/>
            <a:ext cx="6120000" cy="0"/>
          </a:xfrm>
          <a:prstGeom prst="line">
            <a:avLst/>
          </a:prstGeom>
          <a:noFill/>
          <a:ln w="8890">
            <a:solidFill>
              <a:srgbClr val="46606E"/>
            </a:solidFill>
            <a:prstDash val="solid"/>
          </a:ln>
        </p:spPr>
      </p:sp>
      <p:sp>
        <p:nvSpPr>
          <p:cNvPr id="22" name="Text 17"/>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3" name="Text 18"/>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4" name="Text 19"/>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5"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12</a:t>
            </a:r>
            <a:endParaRPr lang="en-US" sz="750" dirty="0"/>
          </a:p>
        </p:txBody>
      </p:sp>
      <p:sp>
        <p:nvSpPr>
          <p:cNvPr id="26"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loir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6</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Jean de Villebois</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1352190" cy="180000"/>
          </a:xfrm>
          <a:prstGeom prst="roundRect">
            <a:avLst>
              <a:gd name="adj" fmla="val 10160"/>
            </a:avLst>
          </a:prstGeom>
          <a:solidFill>
            <a:srgbClr val="F2EADA"/>
          </a:solidFill>
          <a:ln w="8890">
            <a:solidFill>
              <a:srgbClr val="A8515F"/>
            </a:solidFill>
            <a:prstDash val="solid"/>
          </a:ln>
        </p:spPr>
      </p:sp>
      <p:sp>
        <p:nvSpPr>
          <p:cNvPr id="8" name="Text 5"/>
          <p:cNvSpPr/>
          <p:nvPr/>
        </p:nvSpPr>
        <p:spPr>
          <a:xfrm>
            <a:off x="612000"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9" name="Shape 6"/>
          <p:cNvSpPr/>
          <p:nvPr/>
        </p:nvSpPr>
        <p:spPr>
          <a:xfrm>
            <a:off x="2043390" y="1047600"/>
            <a:ext cx="864357" cy="180000"/>
          </a:xfrm>
          <a:prstGeom prst="roundRect">
            <a:avLst>
              <a:gd name="adj" fmla="val 10160"/>
            </a:avLst>
          </a:prstGeom>
          <a:solidFill>
            <a:srgbClr val="D08C3C"/>
          </a:solidFill>
          <a:ln w="8890">
            <a:solidFill>
              <a:srgbClr val="D08C3C"/>
            </a:solidFill>
            <a:prstDash val="solid"/>
          </a:ln>
        </p:spPr>
      </p:sp>
      <p:sp>
        <p:nvSpPr>
          <p:cNvPr id="10" name="Text 7"/>
          <p:cNvSpPr/>
          <p:nvPr/>
        </p:nvSpPr>
        <p:spPr>
          <a:xfrm>
            <a:off x="2043390" y="1047600"/>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1" name="Shape 8"/>
          <p:cNvSpPr/>
          <p:nvPr/>
        </p:nvSpPr>
        <p:spPr>
          <a:xfrm>
            <a:off x="2986947" y="1047600"/>
            <a:ext cx="787182"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986947"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16 références</a:t>
            </a:r>
            <a:endParaRPr lang="en-US" sz="720" dirty="0"/>
          </a:p>
        </p:txBody>
      </p:sp>
      <p:sp>
        <p:nvSpPr>
          <p:cNvPr id="13" name="Shape 10"/>
          <p:cNvSpPr/>
          <p:nvPr/>
        </p:nvSpPr>
        <p:spPr>
          <a:xfrm>
            <a:off x="612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Spécialiste du Sauvignon Blanc ligérien, le domaine explore les plus beaux terroirs de Loire (Sancerre, Pouilly-Fumé, Menetou-Salon, Touraine). Techniques modernes et respect de la typicité des sols calcaires et de silex pour des blancs d’une grande pureté.</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Sancerre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Chêne Marchand</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26,60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Sancerre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Chêne à la Rouline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Sancerre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Silex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Sancerre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Marnes Kimméridgiennes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Text 15"/>
          <p:cNvSpPr/>
          <p:nvPr/>
        </p:nvSpPr>
        <p:spPr>
          <a:xfrm>
            <a:off x="612000" y="5682526"/>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LOIRE — SCHISTES ET TUFFEAU</a:t>
            </a:r>
            <a:endParaRPr lang="en-US" sz="720" dirty="0"/>
          </a:p>
        </p:txBody>
      </p:sp>
      <p:pic>
        <p:nvPicPr>
          <p:cNvPr id="20" name="Image 1" descr="/home/user/philippe1/build/deco/sol-loire.png">    </p:cNvPr>
          <p:cNvPicPr>
            <a:picLocks noChangeAspect="1"/>
          </p:cNvPicPr>
          <p:nvPr/>
        </p:nvPicPr>
        <p:blipFill>
          <a:blip r:embed="rId2"/>
          <a:stretch>
            <a:fillRect/>
          </a:stretch>
        </p:blipFill>
        <p:spPr>
          <a:xfrm>
            <a:off x="612000" y="5830126"/>
            <a:ext cx="6120000" cy="1148400"/>
          </a:xfrm>
          <a:prstGeom prst="rect">
            <a:avLst/>
          </a:prstGeom>
        </p:spPr>
      </p:pic>
      <p:sp>
        <p:nvSpPr>
          <p:cNvPr id="21" name="Text 16"/>
          <p:cNvSpPr/>
          <p:nvPr/>
        </p:nvSpPr>
        <p:spPr>
          <a:xfrm>
            <a:off x="612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pPr indent="0" marL="0">
              <a:buNone/>
            </a:pPr>
            <a:r>
              <a:rPr lang="en-US" sz="740" dirty="0">
                <a:solidFill>
                  <a:srgbClr val="46606E"/>
                </a:solidFill>
                <a:latin typeface="IBM Plex Sans" pitchFamily="34" charset="0"/>
                <a:ea typeface="IBM Plex Sans" pitchFamily="34" charset="-122"/>
                <a:cs typeface="IBM Plex Sans" pitchFamily="34" charset="-120"/>
              </a:rPr>
              <a:t>Domaine Jean de Villebois et Divin No Low — n°7 p. 15</a:t>
            </a:r>
            <a:endParaRPr lang="en-US" sz="740" dirty="0"/>
          </a:p>
        </p:txBody>
      </p:sp>
      <p:sp>
        <p:nvSpPr>
          <p:cNvPr id="22" name="Shape 17"/>
          <p:cNvSpPr/>
          <p:nvPr/>
        </p:nvSpPr>
        <p:spPr>
          <a:xfrm>
            <a:off x="612000" y="8388000"/>
            <a:ext cx="6120000" cy="0"/>
          </a:xfrm>
          <a:prstGeom prst="line">
            <a:avLst/>
          </a:prstGeom>
          <a:noFill/>
          <a:ln w="8890">
            <a:solidFill>
              <a:srgbClr val="46606E"/>
            </a:solidFill>
            <a:prstDash val="solid"/>
          </a:ln>
        </p:spPr>
      </p:sp>
      <p:sp>
        <p:nvSpPr>
          <p:cNvPr id="23" name="Text 18"/>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4" name="Text 19"/>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56 · 85</a:t>
            </a:r>
            <a:endParaRPr lang="en-US" sz="720" dirty="0"/>
          </a:p>
        </p:txBody>
      </p:sp>
      <p:sp>
        <p:nvSpPr>
          <p:cNvPr id="25" name="Text 20"/>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pictos de l’Agence SCIO, pas les logos officiels</a:t>
            </a:r>
            <a:endParaRPr lang="en-US" sz="650" dirty="0"/>
          </a:p>
        </p:txBody>
      </p:sp>
      <p:sp>
        <p:nvSpPr>
          <p:cNvPr id="26" name="Text 21"/>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13</a:t>
            </a:r>
            <a:endParaRPr lang="en-US" sz="750" dirty="0"/>
          </a:p>
        </p:txBody>
      </p:sp>
      <p:sp>
        <p:nvSpPr>
          <p:cNvPr id="27" name="Text 22"/>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loir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6</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Jean de Villebois</a:t>
            </a:r>
            <a:pPr indent="0" marL="0">
              <a:lnSpc>
                <a:spcPct val="104000"/>
              </a:lnSpc>
              <a:buNone/>
            </a:pP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1352190" cy="180000"/>
          </a:xfrm>
          <a:prstGeom prst="roundRect">
            <a:avLst>
              <a:gd name="adj" fmla="val 10160"/>
            </a:avLst>
          </a:prstGeom>
          <a:solidFill>
            <a:srgbClr val="F2EADA"/>
          </a:solidFill>
          <a:ln w="8890">
            <a:solidFill>
              <a:srgbClr val="A8515F"/>
            </a:solidFill>
            <a:prstDash val="solid"/>
          </a:ln>
        </p:spPr>
      </p:sp>
      <p:sp>
        <p:nvSpPr>
          <p:cNvPr id="8" name="Text 5"/>
          <p:cNvSpPr/>
          <p:nvPr/>
        </p:nvSpPr>
        <p:spPr>
          <a:xfrm>
            <a:off x="828000"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9" name="Shape 6"/>
          <p:cNvSpPr/>
          <p:nvPr/>
        </p:nvSpPr>
        <p:spPr>
          <a:xfrm>
            <a:off x="2259390" y="1047600"/>
            <a:ext cx="864357" cy="180000"/>
          </a:xfrm>
          <a:prstGeom prst="roundRect">
            <a:avLst>
              <a:gd name="adj" fmla="val 10160"/>
            </a:avLst>
          </a:prstGeom>
          <a:solidFill>
            <a:srgbClr val="D08C3C"/>
          </a:solidFill>
          <a:ln w="8890">
            <a:solidFill>
              <a:srgbClr val="D08C3C"/>
            </a:solidFill>
            <a:prstDash val="solid"/>
          </a:ln>
        </p:spPr>
      </p:sp>
      <p:sp>
        <p:nvSpPr>
          <p:cNvPr id="10" name="Text 7"/>
          <p:cNvSpPr/>
          <p:nvPr/>
        </p:nvSpPr>
        <p:spPr>
          <a:xfrm>
            <a:off x="2259390" y="1047600"/>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1" name="Shape 8"/>
          <p:cNvSpPr/>
          <p:nvPr/>
        </p:nvSpPr>
        <p:spPr>
          <a:xfrm>
            <a:off x="3202947" y="1047600"/>
            <a:ext cx="787182"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3202947"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16 références</a:t>
            </a:r>
            <a:endParaRPr lang="en-US" sz="72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Pouilly-Fumé</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Silex Blancs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Sancerre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Pouilly-Fumé</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Menetou-Salon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9,25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Quincy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Touraine Chenonceaux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Val de Loire Sauvignon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Val de Loire Chenin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 Pinot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Sancerre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Louisonne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Sancerre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 Pinot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4" name="Text 10"/>
          <p:cNvSpPr/>
          <p:nvPr/>
        </p:nvSpPr>
        <p:spPr>
          <a:xfrm>
            <a:off x="828000" y="5101650"/>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LOIRE — SCHISTES ET TUFFEAU</a:t>
            </a:r>
            <a:endParaRPr lang="en-US" sz="720" dirty="0"/>
          </a:p>
        </p:txBody>
      </p:sp>
      <p:pic>
        <p:nvPicPr>
          <p:cNvPr id="15" name="Image 1" descr="/home/user/philippe1/build/deco/sol-loire.png">    </p:cNvPr>
          <p:cNvPicPr>
            <a:picLocks noChangeAspect="1"/>
          </p:cNvPicPr>
          <p:nvPr/>
        </p:nvPicPr>
        <p:blipFill>
          <a:blip r:embed="rId2"/>
          <a:stretch>
            <a:fillRect/>
          </a:stretch>
        </p:blipFill>
        <p:spPr>
          <a:xfrm>
            <a:off x="828000" y="5249250"/>
            <a:ext cx="6120000" cy="1452068"/>
          </a:xfrm>
          <a:prstGeom prst="rect">
            <a:avLst/>
          </a:prstGeom>
        </p:spPr>
      </p:pic>
      <p:sp>
        <p:nvSpPr>
          <p:cNvPr id="16" name="Text 11"/>
          <p:cNvSpPr/>
          <p:nvPr/>
        </p:nvSpPr>
        <p:spPr>
          <a:xfrm>
            <a:off x="828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pPr indent="0" marL="0">
              <a:buNone/>
            </a:pPr>
            <a:r>
              <a:rPr lang="en-US" sz="740" dirty="0">
                <a:solidFill>
                  <a:srgbClr val="46606E"/>
                </a:solidFill>
                <a:latin typeface="IBM Plex Sans" pitchFamily="34" charset="0"/>
                <a:ea typeface="IBM Plex Sans" pitchFamily="34" charset="-122"/>
                <a:cs typeface="IBM Plex Sans" pitchFamily="34" charset="-120"/>
              </a:rPr>
              <a:t>Domaine Jean de Villebois et Divin No Low — n°7 p. 15</a:t>
            </a:r>
            <a:endParaRPr lang="en-US" sz="740" dirty="0"/>
          </a:p>
        </p:txBody>
      </p:sp>
      <p:sp>
        <p:nvSpPr>
          <p:cNvPr id="17" name="Shape 12"/>
          <p:cNvSpPr/>
          <p:nvPr/>
        </p:nvSpPr>
        <p:spPr>
          <a:xfrm>
            <a:off x="828000" y="8388000"/>
            <a:ext cx="6120000" cy="0"/>
          </a:xfrm>
          <a:prstGeom prst="line">
            <a:avLst/>
          </a:prstGeom>
          <a:noFill/>
          <a:ln w="8890">
            <a:solidFill>
              <a:srgbClr val="46606E"/>
            </a:solidFill>
            <a:prstDash val="solid"/>
          </a:ln>
        </p:spPr>
      </p:sp>
      <p:sp>
        <p:nvSpPr>
          <p:cNvPr id="18" name="Text 13"/>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19" name="Text 14"/>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56 · 85</a:t>
            </a:r>
            <a:endParaRPr lang="en-US" sz="720" dirty="0"/>
          </a:p>
        </p:txBody>
      </p:sp>
      <p:sp>
        <p:nvSpPr>
          <p:cNvPr id="20" name="Text 15"/>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pictos de l’Agence SCIO, pas les logos officiels</a:t>
            </a:r>
            <a:endParaRPr lang="en-US" sz="650" dirty="0"/>
          </a:p>
        </p:txBody>
      </p:sp>
      <p:sp>
        <p:nvSpPr>
          <p:cNvPr id="21" name="Text 16"/>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14</a:t>
            </a:r>
            <a:endParaRPr lang="en-US" sz="750" dirty="0"/>
          </a:p>
        </p:txBody>
      </p:sp>
      <p:sp>
        <p:nvSpPr>
          <p:cNvPr id="22" name="Text 17"/>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loir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7</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Divin No Low</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1352190" cy="180000"/>
          </a:xfrm>
          <a:prstGeom prst="roundRect">
            <a:avLst>
              <a:gd name="adj" fmla="val 10160"/>
            </a:avLst>
          </a:prstGeom>
          <a:solidFill>
            <a:srgbClr val="F2EADA"/>
          </a:solidFill>
          <a:ln w="8890">
            <a:solidFill>
              <a:srgbClr val="A8515F"/>
            </a:solidFill>
            <a:prstDash val="solid"/>
          </a:ln>
        </p:spPr>
      </p:sp>
      <p:sp>
        <p:nvSpPr>
          <p:cNvPr id="8" name="Text 5"/>
          <p:cNvSpPr/>
          <p:nvPr/>
        </p:nvSpPr>
        <p:spPr>
          <a:xfrm>
            <a:off x="612000"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9" name="Shape 6"/>
          <p:cNvSpPr/>
          <p:nvPr/>
        </p:nvSpPr>
        <p:spPr>
          <a:xfrm>
            <a:off x="2043390" y="1047600"/>
            <a:ext cx="732318" cy="180000"/>
          </a:xfrm>
          <a:prstGeom prst="roundRect">
            <a:avLst>
              <a:gd name="adj" fmla="val 10160"/>
            </a:avLst>
          </a:prstGeom>
          <a:solidFill>
            <a:srgbClr val="F2EADA"/>
          </a:solidFill>
          <a:ln w="8890">
            <a:solidFill>
              <a:srgbClr val="46606E"/>
            </a:solidFill>
            <a:prstDash val="solid"/>
          </a:ln>
        </p:spPr>
      </p:sp>
      <p:sp>
        <p:nvSpPr>
          <p:cNvPr id="10" name="Text 7"/>
          <p:cNvSpPr/>
          <p:nvPr/>
        </p:nvSpPr>
        <p:spPr>
          <a:xfrm>
            <a:off x="2043390"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8 références</a:t>
            </a:r>
            <a:endParaRPr lang="en-US" sz="720" dirty="0"/>
          </a:p>
        </p:txBody>
      </p:sp>
      <p:sp>
        <p:nvSpPr>
          <p:cNvPr id="11" name="Shape 8"/>
          <p:cNvSpPr/>
          <p:nvPr/>
        </p:nvSpPr>
        <p:spPr>
          <a:xfrm>
            <a:off x="612000" y="1357200"/>
            <a:ext cx="1440000" cy="1440000"/>
          </a:xfrm>
          <a:prstGeom prst="ellipse">
            <a:avLst/>
          </a:prstGeom>
          <a:solidFill>
            <a:srgbClr val="F2EADA"/>
          </a:solidFill>
          <a:ln w="12700">
            <a:solidFill>
              <a:srgbClr val="46606E"/>
            </a:solidFill>
            <a:prstDash val="dash"/>
          </a:ln>
        </p:spPr>
      </p:sp>
      <p:sp>
        <p:nvSpPr>
          <p:cNvPr id="12" name="Text 9"/>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3" name="Shape 10"/>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4" name="Text 11"/>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5" name="Text 12"/>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Le Sauvignon Blanc, le Chenin et le Pinot Noir sont des cépages polyvalents appréciés à tout moment de la journée ou de la nuit. À partir de raisins cultivés près des célèbres châteaux de la Loire, 7 cuvées sans alcool de qualité sont élaborées par des vignerons dévoués.</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sans alcool 0,5 %</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Pinot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sans alcool 0,5 %</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Sauvignon Blanc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sans alcool</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Sauvignon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sans alcool</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Chenin Blanc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sans alcool</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Rosé</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sans alcool</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Pinot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sans alcool pétillant</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Sauvignon Blanc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sans alcool pétillant</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Sauvignon Blanc Blush</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7" name="Text 13"/>
          <p:cNvSpPr/>
          <p:nvPr/>
        </p:nvSpPr>
        <p:spPr>
          <a:xfrm>
            <a:off x="612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pPr indent="0" marL="0">
              <a:buNone/>
            </a:pPr>
            <a:r>
              <a:rPr lang="en-US" sz="740" dirty="0">
                <a:solidFill>
                  <a:srgbClr val="46606E"/>
                </a:solidFill>
                <a:latin typeface="IBM Plex Sans" pitchFamily="34" charset="0"/>
                <a:ea typeface="IBM Plex Sans" pitchFamily="34" charset="-122"/>
                <a:cs typeface="IBM Plex Sans" pitchFamily="34" charset="-120"/>
              </a:rPr>
              <a:t>Domaine Jean de Villebois et Divin No Low — n°6 p. 13</a:t>
            </a:r>
            <a:endParaRPr lang="en-US" sz="740" dirty="0"/>
          </a:p>
        </p:txBody>
      </p:sp>
      <p:sp>
        <p:nvSpPr>
          <p:cNvPr id="18" name="Shape 14"/>
          <p:cNvSpPr/>
          <p:nvPr/>
        </p:nvSpPr>
        <p:spPr>
          <a:xfrm>
            <a:off x="612000" y="8388000"/>
            <a:ext cx="6120000" cy="0"/>
          </a:xfrm>
          <a:prstGeom prst="line">
            <a:avLst/>
          </a:prstGeom>
          <a:noFill/>
          <a:ln w="8890">
            <a:solidFill>
              <a:srgbClr val="46606E"/>
            </a:solidFill>
            <a:prstDash val="solid"/>
          </a:ln>
        </p:spPr>
      </p:sp>
      <p:sp>
        <p:nvSpPr>
          <p:cNvPr id="19" name="Text 15"/>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0" name="Text 16"/>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56 · 85</a:t>
            </a:r>
            <a:endParaRPr lang="en-US" sz="720" dirty="0"/>
          </a:p>
        </p:txBody>
      </p:sp>
      <p:sp>
        <p:nvSpPr>
          <p:cNvPr id="21" name="Text 17"/>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Sans alcool     pictos de l’Agence SCIO, pas les logos officiels</a:t>
            </a:r>
            <a:endParaRPr lang="en-US" sz="650" dirty="0"/>
          </a:p>
        </p:txBody>
      </p:sp>
      <p:sp>
        <p:nvSpPr>
          <p:cNvPr id="22" name="Text 18"/>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15</a:t>
            </a:r>
            <a:endParaRPr lang="en-US" sz="750" dirty="0"/>
          </a:p>
        </p:txBody>
      </p:sp>
      <p:sp>
        <p:nvSpPr>
          <p:cNvPr id="23" name="Text 19"/>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46606E"/>
        </a:solidFill>
      </p:bgPr>
    </p:bg>
    <p:spTree>
      <p:nvGrpSpPr>
        <p:cNvPr id="1" name=""/>
        <p:cNvGrpSpPr/>
        <p:nvPr/>
      </p:nvGrpSpPr>
      <p:grpSpPr>
        <a:xfrm>
          <a:off x="0" y="0"/>
          <a:ext cx="0" cy="0"/>
          <a:chOff x="0" y="0"/>
          <a:chExt cx="0" cy="0"/>
        </a:xfrm>
      </p:grpSpPr>
      <p:pic>
        <p:nvPicPr>
          <p:cNvPr id="2" name="Image 0" descr="/home/user/philippe1/build/deco/ouverture-alsace.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rotte-alsace.png">    </p:cNvPr>
          <p:cNvPicPr>
            <a:picLocks noChangeAspect="1"/>
          </p:cNvPicPr>
          <p:nvPr/>
        </p:nvPicPr>
        <p:blipFill>
          <a:blip r:embed="rId2"/>
          <a:stretch>
            <a:fillRect/>
          </a:stretch>
        </p:blipFill>
        <p:spPr>
          <a:xfrm>
            <a:off x="0" y="0"/>
            <a:ext cx="324000" cy="9360000"/>
          </a:xfrm>
          <a:prstGeom prst="rect">
            <a:avLst/>
          </a:prstGeom>
        </p:spPr>
      </p:pic>
      <p:sp>
        <p:nvSpPr>
          <p:cNvPr id="4"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ALSACE</a:t>
            </a:r>
            <a:endParaRPr lang="en-US" sz="660" dirty="0"/>
          </a:p>
        </p:txBody>
      </p:sp>
      <p:sp>
        <p:nvSpPr>
          <p:cNvPr id="5" name="Text 1"/>
          <p:cNvSpPr/>
          <p:nvPr/>
        </p:nvSpPr>
        <p:spPr>
          <a:xfrm>
            <a:off x="828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2 / 10</a:t>
            </a:r>
            <a:endParaRPr lang="en-US" sz="800" dirty="0"/>
          </a:p>
        </p:txBody>
      </p:sp>
      <p:sp>
        <p:nvSpPr>
          <p:cNvPr id="6" name="Text 2"/>
          <p:cNvSpPr/>
          <p:nvPr/>
        </p:nvSpPr>
        <p:spPr>
          <a:xfrm>
            <a:off x="828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Alsace</a:t>
            </a:r>
            <a:endParaRPr lang="en-US" sz="4600" dirty="0"/>
          </a:p>
        </p:txBody>
      </p:sp>
      <p:sp>
        <p:nvSpPr>
          <p:cNvPr id="7" name="Text 3"/>
          <p:cNvSpPr/>
          <p:nvPr/>
        </p:nvSpPr>
        <p:spPr>
          <a:xfrm>
            <a:off x="828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coteaux du Bruderthal</a:t>
            </a:r>
            <a:endParaRPr lang="en-US" sz="1200" dirty="0"/>
          </a:p>
        </p:txBody>
      </p:sp>
      <p:sp>
        <p:nvSpPr>
          <p:cNvPr id="8" name="Text 4"/>
          <p:cNvSpPr/>
          <p:nvPr/>
        </p:nvSpPr>
        <p:spPr>
          <a:xfrm>
            <a:off x="828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1</a:t>
            </a:r>
            <a:endParaRPr lang="en-US" sz="2000" dirty="0"/>
          </a:p>
        </p:txBody>
      </p:sp>
      <p:sp>
        <p:nvSpPr>
          <p:cNvPr id="9" name="Text 5"/>
          <p:cNvSpPr/>
          <p:nvPr/>
        </p:nvSpPr>
        <p:spPr>
          <a:xfrm>
            <a:off x="828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a:t>
            </a:r>
            <a:endParaRPr lang="en-US" sz="850" dirty="0"/>
          </a:p>
        </p:txBody>
      </p:sp>
      <p:sp>
        <p:nvSpPr>
          <p:cNvPr id="10" name="Text 6"/>
          <p:cNvSpPr/>
          <p:nvPr/>
        </p:nvSpPr>
        <p:spPr>
          <a:xfrm>
            <a:off x="1836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15</a:t>
            </a:r>
            <a:endParaRPr lang="en-US" sz="2000" dirty="0"/>
          </a:p>
        </p:txBody>
      </p:sp>
      <p:sp>
        <p:nvSpPr>
          <p:cNvPr id="11" name="Text 7"/>
          <p:cNvSpPr/>
          <p:nvPr/>
        </p:nvSpPr>
        <p:spPr>
          <a:xfrm>
            <a:off x="1836000" y="6660000"/>
            <a:ext cx="936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828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8   </a:t>
            </a:r>
            <a:pPr indent="0" marL="0">
              <a:buNone/>
            </a:pPr>
            <a:r>
              <a:rPr lang="en-US" sz="860" dirty="0">
                <a:solidFill>
                  <a:srgbClr val="FBF8F1"/>
                </a:solidFill>
                <a:latin typeface="IBM Plex Sans" pitchFamily="34" charset="0"/>
                <a:ea typeface="IBM Plex Sans" pitchFamily="34" charset="-122"/>
                <a:cs typeface="IBM Plex Sans" pitchFamily="34" charset="-120"/>
              </a:rPr>
              <a:t>Domaine Boehler</a:t>
            </a:r>
            <a:pPr indent="0" marL="0">
              <a:buNone/>
            </a:pPr>
            <a:r>
              <a:rPr lang="en-US" sz="860" b="1" dirty="0">
                <a:solidFill>
                  <a:srgbClr val="FBF8F1"/>
                </a:solidFill>
                <a:latin typeface="IBM Plex Sans" pitchFamily="34" charset="0"/>
                <a:ea typeface="IBM Plex Sans" pitchFamily="34" charset="-122"/>
                <a:cs typeface="IBM Plex Sans" pitchFamily="34" charset="-120"/>
              </a:rPr>
              <a:t>   17</a:t>
            </a:r>
            <a:endParaRPr lang="en-US" sz="860" dirty="0"/>
          </a:p>
        </p:txBody>
      </p:sp>
      <p:sp>
        <p:nvSpPr>
          <p:cNvPr id="13" name="Text 9"/>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16</a:t>
            </a:r>
            <a:endParaRPr lang="en-US" sz="750" dirty="0"/>
          </a:p>
        </p:txBody>
      </p:sp>
      <p:sp>
        <p:nvSpPr>
          <p:cNvPr id="14" name="Text 10"/>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alsac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ALSACE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8</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Boehler</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ALSACE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030051"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0300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494725" y="1047600"/>
            <a:ext cx="787182"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494725"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15 références</a:t>
            </a:r>
            <a:endParaRPr lang="en-US" sz="720" dirty="0"/>
          </a:p>
        </p:txBody>
      </p:sp>
      <p:sp>
        <p:nvSpPr>
          <p:cNvPr id="13" name="Shape 10"/>
          <p:cNvSpPr/>
          <p:nvPr/>
        </p:nvSpPr>
        <p:spPr>
          <a:xfrm>
            <a:off x="612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Berceau de tradition vigneronne à Molsheim, le Domaine Boehler aborde une nouvelle ère sous l’impulsion de Julien et Aurélie. Converti à l’agriculture biologique, le tandem explore ses coteaux et le prestigieux Grand Cru Bruderthal pour des vins verticaux, précis et profonds.</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De 60 à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De 120 à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Plus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Molse Rouge (Pinot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Seiler (Pinot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Hahnenberg (Pinot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Molse Blanc (Assemblage)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Thomen (Assemblage)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Text 15"/>
          <p:cNvSpPr/>
          <p:nvPr/>
        </p:nvSpPr>
        <p:spPr>
          <a:xfrm>
            <a:off x="612000" y="6128564"/>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ALSACE — COTEAUX DU BRUDERTHAL</a:t>
            </a:r>
            <a:endParaRPr lang="en-US" sz="720" dirty="0"/>
          </a:p>
        </p:txBody>
      </p:sp>
      <p:pic>
        <p:nvPicPr>
          <p:cNvPr id="20" name="Image 1" descr="/home/user/philippe1/build/deco/sol-alsace.png">    </p:cNvPr>
          <p:cNvPicPr>
            <a:picLocks noChangeAspect="1"/>
          </p:cNvPicPr>
          <p:nvPr/>
        </p:nvPicPr>
        <p:blipFill>
          <a:blip r:embed="rId2"/>
          <a:stretch>
            <a:fillRect/>
          </a:stretch>
        </p:blipFill>
        <p:spPr>
          <a:xfrm>
            <a:off x="612000" y="6276164"/>
            <a:ext cx="6120000" cy="1148400"/>
          </a:xfrm>
          <a:prstGeom prst="rect">
            <a:avLst/>
          </a:prstGeom>
        </p:spPr>
      </p:pic>
      <p:sp>
        <p:nvSpPr>
          <p:cNvPr id="21" name="Shape 16"/>
          <p:cNvSpPr/>
          <p:nvPr/>
        </p:nvSpPr>
        <p:spPr>
          <a:xfrm>
            <a:off x="612000" y="8388000"/>
            <a:ext cx="6120000" cy="0"/>
          </a:xfrm>
          <a:prstGeom prst="line">
            <a:avLst/>
          </a:prstGeom>
          <a:noFill/>
          <a:ln w="8890">
            <a:solidFill>
              <a:srgbClr val="46606E"/>
            </a:solidFill>
            <a:prstDash val="solid"/>
          </a:ln>
        </p:spPr>
      </p:sp>
      <p:sp>
        <p:nvSpPr>
          <p:cNvPr id="22" name="Text 17"/>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Conditions de port non précisées par le domaine — nous consulter.</a:t>
            </a:r>
            <a:endParaRPr lang="en-US" sz="720" dirty="0"/>
          </a:p>
        </p:txBody>
      </p:sp>
      <p:sp>
        <p:nvSpPr>
          <p:cNvPr id="23" name="Text 18"/>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non précisés par le domaine — nous consulter</a:t>
            </a:r>
            <a:endParaRPr lang="en-US" sz="720" dirty="0"/>
          </a:p>
        </p:txBody>
      </p:sp>
      <p:sp>
        <p:nvSpPr>
          <p:cNvPr id="24" name="Text 19"/>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Rouge    ● Doux     pictos de l’Agence SCIO, pas les logos officiels</a:t>
            </a:r>
            <a:endParaRPr lang="en-US" sz="650" dirty="0"/>
          </a:p>
        </p:txBody>
      </p:sp>
      <p:sp>
        <p:nvSpPr>
          <p:cNvPr id="25" name="Text 2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17</a:t>
            </a:r>
            <a:endParaRPr lang="en-US" sz="750" dirty="0"/>
          </a:p>
        </p:txBody>
      </p:sp>
      <p:sp>
        <p:nvSpPr>
          <p:cNvPr id="26" name="Text 2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alsac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ALSACE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8</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Boehler</a:t>
            </a:r>
            <a:pPr indent="0" marL="0">
              <a:lnSpc>
                <a:spcPct val="104000"/>
              </a:lnSpc>
              <a:buNone/>
            </a:pP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ALSACE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2460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710725" y="1047600"/>
            <a:ext cx="787182"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710725"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15 références</a:t>
            </a:r>
            <a:endParaRPr lang="en-US" sz="72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De 60 à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De 120 à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Plus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Leimen (Sylvaner)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Taubenstein (Pinot Blanc)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Pfann (Pinot Gris)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Holderhurst (Riesling)</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Hahnenberg (Riesling)</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 Grand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Bruderthal (Riesling)</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 Grand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Bruderthal (Gewurztraminer)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Crémant d’Alsace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Brut Nature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Saint-Georges (Pinot Gris)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Saint-Georges (Gewurztraminer)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4" name="Text 10"/>
          <p:cNvSpPr/>
          <p:nvPr/>
        </p:nvSpPr>
        <p:spPr>
          <a:xfrm>
            <a:off x="828000" y="5663030"/>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ALSACE — COTEAUX DU BRUDERTHAL</a:t>
            </a:r>
            <a:endParaRPr lang="en-US" sz="720" dirty="0"/>
          </a:p>
        </p:txBody>
      </p:sp>
      <p:pic>
        <p:nvPicPr>
          <p:cNvPr id="15" name="Image 1" descr="/home/user/philippe1/build/deco/sol-alsace.png">    </p:cNvPr>
          <p:cNvPicPr>
            <a:picLocks noChangeAspect="1"/>
          </p:cNvPicPr>
          <p:nvPr/>
        </p:nvPicPr>
        <p:blipFill>
          <a:blip r:embed="rId2"/>
          <a:stretch>
            <a:fillRect/>
          </a:stretch>
        </p:blipFill>
        <p:spPr>
          <a:xfrm>
            <a:off x="828000" y="5810630"/>
            <a:ext cx="6120000" cy="1357950"/>
          </a:xfrm>
          <a:prstGeom prst="rect">
            <a:avLst/>
          </a:prstGeom>
        </p:spPr>
      </p:pic>
      <p:sp>
        <p:nvSpPr>
          <p:cNvPr id="16" name="Shape 11"/>
          <p:cNvSpPr/>
          <p:nvPr/>
        </p:nvSpPr>
        <p:spPr>
          <a:xfrm>
            <a:off x="828000" y="8388000"/>
            <a:ext cx="6120000" cy="0"/>
          </a:xfrm>
          <a:prstGeom prst="line">
            <a:avLst/>
          </a:prstGeom>
          <a:noFill/>
          <a:ln w="8890">
            <a:solidFill>
              <a:srgbClr val="46606E"/>
            </a:solidFill>
            <a:prstDash val="solid"/>
          </a:ln>
        </p:spPr>
      </p:sp>
      <p:sp>
        <p:nvSpPr>
          <p:cNvPr id="17" name="Text 12"/>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Conditions de port non précisées par le domaine — nous consulter.</a:t>
            </a:r>
            <a:endParaRPr lang="en-US" sz="720" dirty="0"/>
          </a:p>
        </p:txBody>
      </p:sp>
      <p:sp>
        <p:nvSpPr>
          <p:cNvPr id="18" name="Text 13"/>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non précisés par le domaine — nous consulter</a:t>
            </a:r>
            <a:endParaRPr lang="en-US" sz="720" dirty="0"/>
          </a:p>
        </p:txBody>
      </p:sp>
      <p:sp>
        <p:nvSpPr>
          <p:cNvPr id="19" name="Text 14"/>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Rouge    ● Doux     pictos de l’Agence SCIO, pas les logos officiels</a:t>
            </a:r>
            <a:endParaRPr lang="en-US" sz="650" dirty="0"/>
          </a:p>
        </p:txBody>
      </p:sp>
      <p:sp>
        <p:nvSpPr>
          <p:cNvPr id="20" name="Text 15"/>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18</a:t>
            </a:r>
            <a:endParaRPr lang="en-US" sz="750" dirty="0"/>
          </a:p>
        </p:txBody>
      </p:sp>
      <p:sp>
        <p:nvSpPr>
          <p:cNvPr id="21" name="Text 16"/>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6606E"/>
        </a:solidFill>
      </p:bgPr>
    </p:bg>
    <p:spTree>
      <p:nvGrpSpPr>
        <p:cNvPr id="1" name=""/>
        <p:cNvGrpSpPr/>
        <p:nvPr/>
      </p:nvGrpSpPr>
      <p:grpSpPr>
        <a:xfrm>
          <a:off x="0" y="0"/>
          <a:ext cx="0" cy="0"/>
          <a:chOff x="0" y="0"/>
          <a:chExt cx="0" cy="0"/>
        </a:xfrm>
      </p:grpSpPr>
      <p:pic>
        <p:nvPicPr>
          <p:cNvPr id="2" name="Image 0" descr="/home/user/philippe1/build/deco/ouverture-beaujolais.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rotte-beaujolais.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BEAUJOLAIS</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3 / 10</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Beaujolais</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le Clos des Nugues</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1</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8</a:t>
            </a:r>
            <a:endParaRPr lang="en-US" sz="2000" dirty="0"/>
          </a:p>
        </p:txBody>
      </p:sp>
      <p:sp>
        <p:nvSpPr>
          <p:cNvPr id="11" name="Text 7"/>
          <p:cNvSpPr/>
          <p:nvPr/>
        </p:nvSpPr>
        <p:spPr>
          <a:xfrm>
            <a:off x="1620000" y="6660000"/>
            <a:ext cx="936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9   </a:t>
            </a:r>
            <a:pPr indent="0" marL="0">
              <a:buNone/>
            </a:pPr>
            <a:r>
              <a:rPr lang="en-US" sz="860" dirty="0">
                <a:solidFill>
                  <a:srgbClr val="FBF8F1"/>
                </a:solidFill>
                <a:latin typeface="IBM Plex Sans" pitchFamily="34" charset="0"/>
                <a:ea typeface="IBM Plex Sans" pitchFamily="34" charset="-122"/>
                <a:cs typeface="IBM Plex Sans" pitchFamily="34" charset="-120"/>
              </a:rPr>
              <a:t>Domaine des Nugues</a:t>
            </a:r>
            <a:pPr indent="0" marL="0">
              <a:buNone/>
            </a:pPr>
            <a:r>
              <a:rPr lang="en-US" sz="860" b="1" dirty="0">
                <a:solidFill>
                  <a:srgbClr val="FBF8F1"/>
                </a:solidFill>
                <a:latin typeface="IBM Plex Sans" pitchFamily="34" charset="0"/>
                <a:ea typeface="IBM Plex Sans" pitchFamily="34" charset="-122"/>
                <a:cs typeface="IBM Plex Sans" pitchFamily="34" charset="-120"/>
              </a:rPr>
              <a:t>   20</a:t>
            </a:r>
            <a:endParaRPr lang="en-US" sz="860" dirty="0"/>
          </a:p>
        </p:txBody>
      </p:sp>
      <p:sp>
        <p:nvSpPr>
          <p:cNvPr id="13" name="Text 9"/>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19</a:t>
            </a:r>
            <a:endParaRPr lang="en-US" sz="750" dirty="0"/>
          </a:p>
        </p:txBody>
      </p:sp>
      <p:sp>
        <p:nvSpPr>
          <p:cNvPr id="14" name="Text 10"/>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beaujolais.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BEAUJOLAIS</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9</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des Nugues</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BEAUJOLAIS</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80548"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9" name="Shape 6"/>
          <p:cNvSpPr/>
          <p:nvPr/>
        </p:nvSpPr>
        <p:spPr>
          <a:xfrm>
            <a:off x="1287748"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287748"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752422"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752422"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8 références</a:t>
            </a:r>
            <a:endParaRPr lang="en-US" sz="720" dirty="0"/>
          </a:p>
        </p:txBody>
      </p:sp>
      <p:sp>
        <p:nvSpPr>
          <p:cNvPr id="13" name="Shape 10"/>
          <p:cNvSpPr/>
          <p:nvPr/>
        </p:nvSpPr>
        <p:spPr>
          <a:xfrm>
            <a:off x="828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448000" y="1357200"/>
            <a:ext cx="3456000" cy="2231900"/>
          </a:xfrm>
          <a:prstGeom prst="rect">
            <a:avLst/>
          </a:prstGeom>
          <a:noFill/>
          <a:ln/>
        </p:spPr>
        <p:txBody>
          <a:bodyPr wrap="square" lIns="0" tIns="0" rIns="0" bIns="0" rtlCol="0" anchor="ctr"/>
          <a:lstStyle/>
          <a:p>
            <a:pPr indent="0" marL="0">
              <a:lnSpc>
                <a:spcPct val="142000"/>
              </a:lnSpc>
              <a:buNone/>
            </a:pPr>
            <a:r>
              <a:rPr lang="en-US" sz="1000" dirty="0">
                <a:solidFill>
                  <a:srgbClr val="46606E"/>
                </a:solidFill>
                <a:latin typeface="Spectral" pitchFamily="34" charset="0"/>
                <a:ea typeface="Spectral" pitchFamily="34" charset="-122"/>
                <a:cs typeface="Spectral" pitchFamily="34" charset="-120"/>
              </a:rPr>
              <a:t>En 1976, mon père, Gérard Gelin, fils et petit-fils de vigneron a acheté « le Clos des Nugues », c’est de là que vient le nom du Domaine. En 2000, je me suis associé avec mes parents afin de poursuivre le développement de l’exploitation. Puis, en 2008, vient le départ en retraite de mon père et l’arrivée de mon épouse Magali. En 2010, reprise totale du Domaine familial. En 2018, certification HVE (Haute Valeur Environnementale) de notre exploitation. Depuis 1976 et au fil des années, nous avons acheté des parcelles à proximité du Domaine.</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240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Beaujolais-Lancié</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Grands Classiques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7,15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Beaujolais-Lancié</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Grands Classiques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5,55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Fleurie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Grands Classiques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8,65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8,25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Moulin-à-Vent</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Grands Classiques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8,15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Moulin-à-Vent</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Grands Classiques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150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19,55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Beaujolais-Villages sans soufre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Coups de Folies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5,55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Mâcon-Villages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Bourgogne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Bourgogne Chardonnay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Bourgogne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Text 15"/>
          <p:cNvSpPr/>
          <p:nvPr/>
        </p:nvSpPr>
        <p:spPr>
          <a:xfrm>
            <a:off x="828000" y="7282726"/>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BEAUJOLAIS — LE CLOS DES NUGUES</a:t>
            </a:r>
            <a:endParaRPr lang="en-US" sz="720" dirty="0"/>
          </a:p>
        </p:txBody>
      </p:sp>
      <p:pic>
        <p:nvPicPr>
          <p:cNvPr id="20" name="Image 1" descr="/home/user/philippe1/build/deco/sol-beaujolais.png">    </p:cNvPr>
          <p:cNvPicPr>
            <a:picLocks noChangeAspect="1"/>
          </p:cNvPicPr>
          <p:nvPr/>
        </p:nvPicPr>
        <p:blipFill>
          <a:blip r:embed="rId2"/>
          <a:stretch>
            <a:fillRect/>
          </a:stretch>
        </p:blipFill>
        <p:spPr>
          <a:xfrm>
            <a:off x="828000" y="7430326"/>
            <a:ext cx="6120000" cy="657953"/>
          </a:xfrm>
          <a:prstGeom prst="rect">
            <a:avLst/>
          </a:prstGeom>
        </p:spPr>
      </p:pic>
      <p:sp>
        <p:nvSpPr>
          <p:cNvPr id="21" name="Shape 16"/>
          <p:cNvSpPr/>
          <p:nvPr/>
        </p:nvSpPr>
        <p:spPr>
          <a:xfrm>
            <a:off x="828000" y="8388000"/>
            <a:ext cx="6120000" cy="0"/>
          </a:xfrm>
          <a:prstGeom prst="line">
            <a:avLst/>
          </a:prstGeom>
          <a:noFill/>
          <a:ln w="8890">
            <a:solidFill>
              <a:srgbClr val="46606E"/>
            </a:solidFill>
            <a:prstDash val="solid"/>
          </a:ln>
        </p:spPr>
      </p:sp>
      <p:sp>
        <p:nvSpPr>
          <p:cNvPr id="22" name="Text 17"/>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3" name="Text 18"/>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4" name="Text 19"/>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5"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20</a:t>
            </a:r>
            <a:endParaRPr lang="en-US" sz="750" dirty="0"/>
          </a:p>
        </p:txBody>
      </p:sp>
      <p:sp>
        <p:nvSpPr>
          <p:cNvPr id="26"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46606E"/>
        </a:solidFill>
      </p:bgPr>
    </p:bg>
    <p:spTree>
      <p:nvGrpSpPr>
        <p:cNvPr id="1" name=""/>
        <p:cNvGrpSpPr/>
        <p:nvPr/>
      </p:nvGrpSpPr>
      <p:grpSpPr>
        <a:xfrm>
          <a:off x="0" y="0"/>
          <a:ext cx="0" cy="0"/>
          <a:chOff x="0" y="0"/>
          <a:chExt cx="0" cy="0"/>
        </a:xfrm>
      </p:grpSpPr>
      <p:pic>
        <p:nvPicPr>
          <p:cNvPr id="2" name="Image 0" descr="/home/user/philippe1/build/deco/ouverture-bourgogne.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rotte-bourgogne.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4 / 10</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Bourgogne</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climats et terrasses</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6</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57</a:t>
            </a:r>
            <a:endParaRPr lang="en-US" sz="2000" dirty="0"/>
          </a:p>
        </p:txBody>
      </p:sp>
      <p:sp>
        <p:nvSpPr>
          <p:cNvPr id="11" name="Text 7"/>
          <p:cNvSpPr/>
          <p:nvPr/>
        </p:nvSpPr>
        <p:spPr>
          <a:xfrm>
            <a:off x="1620000" y="6660000"/>
            <a:ext cx="936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10   </a:t>
            </a:r>
            <a:pPr indent="0" marL="0">
              <a:buNone/>
            </a:pPr>
            <a:r>
              <a:rPr lang="en-US" sz="860" dirty="0">
                <a:solidFill>
                  <a:srgbClr val="FBF8F1"/>
                </a:solidFill>
                <a:latin typeface="IBM Plex Sans" pitchFamily="34" charset="0"/>
                <a:ea typeface="IBM Plex Sans" pitchFamily="34" charset="-122"/>
                <a:cs typeface="IBM Plex Sans" pitchFamily="34" charset="-120"/>
              </a:rPr>
              <a:t>Domaine Sébastien Magnien</a:t>
            </a:r>
            <a:pPr indent="0" marL="0">
              <a:buNone/>
            </a:pPr>
            <a:r>
              <a:rPr lang="en-US" sz="860" b="1" dirty="0">
                <a:solidFill>
                  <a:srgbClr val="FBF8F1"/>
                </a:solidFill>
                <a:latin typeface="IBM Plex Sans" pitchFamily="34" charset="0"/>
                <a:ea typeface="IBM Plex Sans" pitchFamily="34" charset="-122"/>
                <a:cs typeface="IBM Plex Sans" pitchFamily="34" charset="-120"/>
              </a:rPr>
              <a:t>   22</a:t>
            </a:r>
            <a:endParaRPr lang="en-US" sz="860" dirty="0"/>
          </a:p>
        </p:txBody>
      </p:sp>
      <p:sp>
        <p:nvSpPr>
          <p:cNvPr id="13" name="Text 9"/>
          <p:cNvSpPr/>
          <p:nvPr/>
        </p:nvSpPr>
        <p:spPr>
          <a:xfrm>
            <a:off x="367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11   </a:t>
            </a:r>
            <a:pPr indent="0" marL="0">
              <a:buNone/>
            </a:pPr>
            <a:r>
              <a:rPr lang="en-US" sz="860" dirty="0">
                <a:solidFill>
                  <a:srgbClr val="FBF8F1"/>
                </a:solidFill>
                <a:latin typeface="IBM Plex Sans" pitchFamily="34" charset="0"/>
                <a:ea typeface="IBM Plex Sans" pitchFamily="34" charset="-122"/>
                <a:cs typeface="IBM Plex Sans" pitchFamily="34" charset="-120"/>
              </a:rPr>
              <a:t>Domaine Nadine Ferrand</a:t>
            </a:r>
            <a:pPr indent="0" marL="0">
              <a:buNone/>
            </a:pPr>
            <a:r>
              <a:rPr lang="en-US" sz="860" b="1" dirty="0">
                <a:solidFill>
                  <a:srgbClr val="FBF8F1"/>
                </a:solidFill>
                <a:latin typeface="IBM Plex Sans" pitchFamily="34" charset="0"/>
                <a:ea typeface="IBM Plex Sans" pitchFamily="34" charset="-122"/>
                <a:cs typeface="IBM Plex Sans" pitchFamily="34" charset="-120"/>
              </a:rPr>
              <a:t>   24</a:t>
            </a:r>
            <a:endParaRPr lang="en-US" sz="860" dirty="0"/>
          </a:p>
        </p:txBody>
      </p:sp>
      <p:sp>
        <p:nvSpPr>
          <p:cNvPr id="14" name="Text 10"/>
          <p:cNvSpPr/>
          <p:nvPr/>
        </p:nvSpPr>
        <p:spPr>
          <a:xfrm>
            <a:off x="61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12   </a:t>
            </a:r>
            <a:pPr indent="0" marL="0">
              <a:buNone/>
            </a:pPr>
            <a:r>
              <a:rPr lang="en-US" sz="860" dirty="0">
                <a:solidFill>
                  <a:srgbClr val="FBF8F1"/>
                </a:solidFill>
                <a:latin typeface="IBM Plex Sans" pitchFamily="34" charset="0"/>
                <a:ea typeface="IBM Plex Sans" pitchFamily="34" charset="-122"/>
                <a:cs typeface="IBM Plex Sans" pitchFamily="34" charset="-120"/>
              </a:rPr>
              <a:t>Maison et Domaine André Goichot</a:t>
            </a:r>
            <a:pPr indent="0" marL="0">
              <a:buNone/>
            </a:pPr>
            <a:r>
              <a:rPr lang="en-US" sz="860" b="1" dirty="0">
                <a:solidFill>
                  <a:srgbClr val="FBF8F1"/>
                </a:solidFill>
                <a:latin typeface="IBM Plex Sans" pitchFamily="34" charset="0"/>
                <a:ea typeface="IBM Plex Sans" pitchFamily="34" charset="-122"/>
                <a:cs typeface="IBM Plex Sans" pitchFamily="34" charset="-120"/>
              </a:rPr>
              <a:t>   25</a:t>
            </a:r>
            <a:endParaRPr lang="en-US" sz="860" dirty="0"/>
          </a:p>
        </p:txBody>
      </p:sp>
      <p:sp>
        <p:nvSpPr>
          <p:cNvPr id="15" name="Text 11"/>
          <p:cNvSpPr/>
          <p:nvPr/>
        </p:nvSpPr>
        <p:spPr>
          <a:xfrm>
            <a:off x="367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13   </a:t>
            </a:r>
            <a:pPr indent="0" marL="0">
              <a:buNone/>
            </a:pPr>
            <a:r>
              <a:rPr lang="en-US" sz="860" dirty="0">
                <a:solidFill>
                  <a:srgbClr val="FBF8F1"/>
                </a:solidFill>
                <a:latin typeface="IBM Plex Sans" pitchFamily="34" charset="0"/>
                <a:ea typeface="IBM Plex Sans" pitchFamily="34" charset="-122"/>
                <a:cs typeface="IBM Plex Sans" pitchFamily="34" charset="-120"/>
              </a:rPr>
              <a:t>Château du Cray</a:t>
            </a:r>
            <a:pPr indent="0" marL="0">
              <a:buNone/>
            </a:pPr>
            <a:r>
              <a:rPr lang="en-US" sz="860" b="1" dirty="0">
                <a:solidFill>
                  <a:srgbClr val="FBF8F1"/>
                </a:solidFill>
                <a:latin typeface="IBM Plex Sans" pitchFamily="34" charset="0"/>
                <a:ea typeface="IBM Plex Sans" pitchFamily="34" charset="-122"/>
                <a:cs typeface="IBM Plex Sans" pitchFamily="34" charset="-120"/>
              </a:rPr>
              <a:t>   27</a:t>
            </a:r>
            <a:endParaRPr lang="en-US" sz="860" dirty="0"/>
          </a:p>
        </p:txBody>
      </p:sp>
      <p:sp>
        <p:nvSpPr>
          <p:cNvPr id="16" name="Text 12"/>
          <p:cNvSpPr/>
          <p:nvPr/>
        </p:nvSpPr>
        <p:spPr>
          <a:xfrm>
            <a:off x="612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14   </a:t>
            </a:r>
            <a:pPr indent="0" marL="0">
              <a:buNone/>
            </a:pPr>
            <a:r>
              <a:rPr lang="en-US" sz="860" dirty="0">
                <a:solidFill>
                  <a:srgbClr val="FBF8F1"/>
                </a:solidFill>
                <a:latin typeface="IBM Plex Sans" pitchFamily="34" charset="0"/>
                <a:ea typeface="IBM Plex Sans" pitchFamily="34" charset="-122"/>
                <a:cs typeface="IBM Plex Sans" pitchFamily="34" charset="-120"/>
              </a:rPr>
              <a:t>Domaine Les Guignottes</a:t>
            </a:r>
            <a:pPr indent="0" marL="0">
              <a:buNone/>
            </a:pPr>
            <a:r>
              <a:rPr lang="en-US" sz="860" b="1" dirty="0">
                <a:solidFill>
                  <a:srgbClr val="FBF8F1"/>
                </a:solidFill>
                <a:latin typeface="IBM Plex Sans" pitchFamily="34" charset="0"/>
                <a:ea typeface="IBM Plex Sans" pitchFamily="34" charset="-122"/>
                <a:cs typeface="IBM Plex Sans" pitchFamily="34" charset="-120"/>
              </a:rPr>
              <a:t>   28</a:t>
            </a:r>
            <a:endParaRPr lang="en-US" sz="860" dirty="0"/>
          </a:p>
        </p:txBody>
      </p:sp>
      <p:sp>
        <p:nvSpPr>
          <p:cNvPr id="17" name="Text 13"/>
          <p:cNvSpPr/>
          <p:nvPr/>
        </p:nvSpPr>
        <p:spPr>
          <a:xfrm>
            <a:off x="3672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15   </a:t>
            </a:r>
            <a:pPr indent="0" marL="0">
              <a:buNone/>
            </a:pPr>
            <a:r>
              <a:rPr lang="en-US" sz="860" dirty="0">
                <a:solidFill>
                  <a:srgbClr val="FBF8F1"/>
                </a:solidFill>
                <a:latin typeface="IBM Plex Sans" pitchFamily="34" charset="0"/>
                <a:ea typeface="IBM Plex Sans" pitchFamily="34" charset="-122"/>
                <a:cs typeface="IBM Plex Sans" pitchFamily="34" charset="-120"/>
              </a:rPr>
              <a:t>Domaine des Verchères</a:t>
            </a:r>
            <a:pPr indent="0" marL="0">
              <a:buNone/>
            </a:pPr>
            <a:r>
              <a:rPr lang="en-US" sz="860" b="1" dirty="0">
                <a:solidFill>
                  <a:srgbClr val="FBF8F1"/>
                </a:solidFill>
                <a:latin typeface="IBM Plex Sans" pitchFamily="34" charset="0"/>
                <a:ea typeface="IBM Plex Sans" pitchFamily="34" charset="-122"/>
                <a:cs typeface="IBM Plex Sans" pitchFamily="34" charset="-120"/>
              </a:rPr>
              <a:t>   29</a:t>
            </a:r>
            <a:endParaRPr lang="en-US" sz="860" dirty="0"/>
          </a:p>
        </p:txBody>
      </p:sp>
      <p:sp>
        <p:nvSpPr>
          <p:cNvPr id="18" name="Text 14"/>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21</a:t>
            </a:r>
            <a:endParaRPr lang="en-US" sz="750" dirty="0"/>
          </a:p>
        </p:txBody>
      </p:sp>
      <p:sp>
        <p:nvSpPr>
          <p:cNvPr id="19" name="Text 15"/>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bourgog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10</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Sébastien Magnien</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86766"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86766"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AOP</a:t>
            </a:r>
            <a:endParaRPr lang="en-US" sz="720" dirty="0"/>
          </a:p>
        </p:txBody>
      </p:sp>
      <p:sp>
        <p:nvSpPr>
          <p:cNvPr id="9" name="Shape 6"/>
          <p:cNvSpPr/>
          <p:nvPr/>
        </p:nvSpPr>
        <p:spPr>
          <a:xfrm>
            <a:off x="1293966" y="1047600"/>
            <a:ext cx="630911" cy="180000"/>
          </a:xfrm>
          <a:prstGeom prst="roundRect">
            <a:avLst>
              <a:gd name="adj" fmla="val 10160"/>
            </a:avLst>
          </a:prstGeom>
          <a:solidFill>
            <a:srgbClr val="67067C"/>
          </a:solidFill>
          <a:ln w="8890">
            <a:solidFill>
              <a:srgbClr val="67067C"/>
            </a:solidFill>
            <a:prstDash val="solid"/>
          </a:ln>
        </p:spPr>
      </p:sp>
      <p:sp>
        <p:nvSpPr>
          <p:cNvPr id="10" name="Text 7"/>
          <p:cNvSpPr/>
          <p:nvPr/>
        </p:nvSpPr>
        <p:spPr>
          <a:xfrm>
            <a:off x="1293966"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1" name="Shape 8"/>
          <p:cNvSpPr/>
          <p:nvPr/>
        </p:nvSpPr>
        <p:spPr>
          <a:xfrm>
            <a:off x="2004077" y="1047600"/>
            <a:ext cx="1385474" cy="180000"/>
          </a:xfrm>
          <a:prstGeom prst="roundRect">
            <a:avLst>
              <a:gd name="adj" fmla="val 10160"/>
            </a:avLst>
          </a:prstGeom>
          <a:solidFill>
            <a:srgbClr val="F2EADA"/>
          </a:solidFill>
          <a:ln w="8890">
            <a:solidFill>
              <a:srgbClr val="A8515F"/>
            </a:solidFill>
            <a:prstDash val="solid"/>
          </a:ln>
        </p:spPr>
      </p:sp>
      <p:sp>
        <p:nvSpPr>
          <p:cNvPr id="12" name="Text 9"/>
          <p:cNvSpPr/>
          <p:nvPr/>
        </p:nvSpPr>
        <p:spPr>
          <a:xfrm>
            <a:off x="2004077"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3" name="Shape 10"/>
          <p:cNvSpPr/>
          <p:nvPr/>
        </p:nvSpPr>
        <p:spPr>
          <a:xfrm>
            <a:off x="3468750" y="1047600"/>
            <a:ext cx="787182" cy="180000"/>
          </a:xfrm>
          <a:prstGeom prst="roundRect">
            <a:avLst>
              <a:gd name="adj" fmla="val 10160"/>
            </a:avLst>
          </a:prstGeom>
          <a:solidFill>
            <a:srgbClr val="F2EADA"/>
          </a:solidFill>
          <a:ln w="8890">
            <a:solidFill>
              <a:srgbClr val="46606E"/>
            </a:solidFill>
            <a:prstDash val="solid"/>
          </a:ln>
        </p:spPr>
      </p:sp>
      <p:sp>
        <p:nvSpPr>
          <p:cNvPr id="14" name="Text 11"/>
          <p:cNvSpPr/>
          <p:nvPr/>
        </p:nvSpPr>
        <p:spPr>
          <a:xfrm>
            <a:off x="3468750"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15 références</a:t>
            </a:r>
            <a:endParaRPr lang="en-US" sz="720" dirty="0"/>
          </a:p>
        </p:txBody>
      </p:sp>
      <p:sp>
        <p:nvSpPr>
          <p:cNvPr id="15" name="Shape 12"/>
          <p:cNvSpPr/>
          <p:nvPr/>
        </p:nvSpPr>
        <p:spPr>
          <a:xfrm>
            <a:off x="828000" y="1357200"/>
            <a:ext cx="1440000" cy="1440000"/>
          </a:xfrm>
          <a:prstGeom prst="ellipse">
            <a:avLst/>
          </a:prstGeom>
          <a:solidFill>
            <a:srgbClr val="F2EADA"/>
          </a:solidFill>
          <a:ln w="12700">
            <a:solidFill>
              <a:srgbClr val="46606E"/>
            </a:solidFill>
            <a:prstDash val="dash"/>
          </a:ln>
        </p:spPr>
      </p:sp>
      <p:sp>
        <p:nvSpPr>
          <p:cNvPr id="16" name="Text 13"/>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7" name="Shape 14"/>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8" name="Text 15"/>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9" name="Text 16"/>
          <p:cNvSpPr/>
          <p:nvPr/>
        </p:nvSpPr>
        <p:spPr>
          <a:xfrm>
            <a:off x="2448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Installé à Meursault depuis 2004, Sébastien Magnien conduit 12 hectares sur les terroirs d’élite de la Côte de Beaune et des Hautes-Côtes (Pommard, Volnay, Puligny, Saint-Romain). Vendanges manuelles et élevages en fûts de chêne signent des Pinots et Chardonnays d’élégance et de tension.</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Bourgogne Aligoté</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Bourgogne Aligoté</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Bourgogne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Chardonnay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Hautes-Côtes de Beaune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Hautes-Côtes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Saint-Romain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Sous le Château</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Meursault</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Grands Charrons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35,00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Text 17"/>
          <p:cNvSpPr/>
          <p:nvPr/>
        </p:nvSpPr>
        <p:spPr>
          <a:xfrm>
            <a:off x="828000" y="6067247"/>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22" name="Image 1" descr="/home/user/philippe1/build/deco/sol-bourgogne.png">    </p:cNvPr>
          <p:cNvPicPr>
            <a:picLocks noChangeAspect="1"/>
          </p:cNvPicPr>
          <p:nvPr/>
        </p:nvPicPr>
        <p:blipFill>
          <a:blip r:embed="rId2"/>
          <a:stretch>
            <a:fillRect/>
          </a:stretch>
        </p:blipFill>
        <p:spPr>
          <a:xfrm>
            <a:off x="828000" y="6214847"/>
            <a:ext cx="6120000" cy="1148400"/>
          </a:xfrm>
          <a:prstGeom prst="rect">
            <a:avLst/>
          </a:prstGeom>
        </p:spPr>
      </p:pic>
      <p:sp>
        <p:nvSpPr>
          <p:cNvPr id="23" name="Shape 18"/>
          <p:cNvSpPr/>
          <p:nvPr/>
        </p:nvSpPr>
        <p:spPr>
          <a:xfrm>
            <a:off x="828000" y="8388000"/>
            <a:ext cx="6120000" cy="0"/>
          </a:xfrm>
          <a:prstGeom prst="line">
            <a:avLst/>
          </a:prstGeom>
          <a:noFill/>
          <a:ln w="8890">
            <a:solidFill>
              <a:srgbClr val="46606E"/>
            </a:solidFill>
            <a:prstDash val="solid"/>
          </a:ln>
        </p:spPr>
      </p:sp>
      <p:sp>
        <p:nvSpPr>
          <p:cNvPr id="24" name="Text 19"/>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5" name="Text 20"/>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6" name="Text 21"/>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7" name="Text 22"/>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22</a:t>
            </a:r>
            <a:endParaRPr lang="en-US" sz="750" dirty="0"/>
          </a:p>
        </p:txBody>
      </p:sp>
      <p:sp>
        <p:nvSpPr>
          <p:cNvPr id="28" name="Text 23"/>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bourgog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10</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Sébastien Magnien</a:t>
            </a:r>
            <a:pPr indent="0" marL="0">
              <a:lnSpc>
                <a:spcPct val="104000"/>
              </a:lnSpc>
              <a:buNone/>
            </a:pP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86766"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86766"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AOP</a:t>
            </a:r>
            <a:endParaRPr lang="en-US" sz="720" dirty="0"/>
          </a:p>
        </p:txBody>
      </p:sp>
      <p:sp>
        <p:nvSpPr>
          <p:cNvPr id="9" name="Shape 6"/>
          <p:cNvSpPr/>
          <p:nvPr/>
        </p:nvSpPr>
        <p:spPr>
          <a:xfrm>
            <a:off x="1077966" y="1047600"/>
            <a:ext cx="630911" cy="180000"/>
          </a:xfrm>
          <a:prstGeom prst="roundRect">
            <a:avLst>
              <a:gd name="adj" fmla="val 10160"/>
            </a:avLst>
          </a:prstGeom>
          <a:solidFill>
            <a:srgbClr val="67067C"/>
          </a:solidFill>
          <a:ln w="8890">
            <a:solidFill>
              <a:srgbClr val="67067C"/>
            </a:solidFill>
            <a:prstDash val="solid"/>
          </a:ln>
        </p:spPr>
      </p:sp>
      <p:sp>
        <p:nvSpPr>
          <p:cNvPr id="10" name="Text 7"/>
          <p:cNvSpPr/>
          <p:nvPr/>
        </p:nvSpPr>
        <p:spPr>
          <a:xfrm>
            <a:off x="1077966"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1" name="Shape 8"/>
          <p:cNvSpPr/>
          <p:nvPr/>
        </p:nvSpPr>
        <p:spPr>
          <a:xfrm>
            <a:off x="1788077" y="1047600"/>
            <a:ext cx="1385474" cy="180000"/>
          </a:xfrm>
          <a:prstGeom prst="roundRect">
            <a:avLst>
              <a:gd name="adj" fmla="val 10160"/>
            </a:avLst>
          </a:prstGeom>
          <a:solidFill>
            <a:srgbClr val="F2EADA"/>
          </a:solidFill>
          <a:ln w="8890">
            <a:solidFill>
              <a:srgbClr val="A8515F"/>
            </a:solidFill>
            <a:prstDash val="solid"/>
          </a:ln>
        </p:spPr>
      </p:sp>
      <p:sp>
        <p:nvSpPr>
          <p:cNvPr id="12" name="Text 9"/>
          <p:cNvSpPr/>
          <p:nvPr/>
        </p:nvSpPr>
        <p:spPr>
          <a:xfrm>
            <a:off x="1788077"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3" name="Shape 10"/>
          <p:cNvSpPr/>
          <p:nvPr/>
        </p:nvSpPr>
        <p:spPr>
          <a:xfrm>
            <a:off x="3252750" y="1047600"/>
            <a:ext cx="787182" cy="180000"/>
          </a:xfrm>
          <a:prstGeom prst="roundRect">
            <a:avLst>
              <a:gd name="adj" fmla="val 10160"/>
            </a:avLst>
          </a:prstGeom>
          <a:solidFill>
            <a:srgbClr val="F2EADA"/>
          </a:solidFill>
          <a:ln w="8890">
            <a:solidFill>
              <a:srgbClr val="46606E"/>
            </a:solidFill>
            <a:prstDash val="solid"/>
          </a:ln>
        </p:spPr>
      </p:sp>
      <p:sp>
        <p:nvSpPr>
          <p:cNvPr id="14" name="Text 11"/>
          <p:cNvSpPr/>
          <p:nvPr/>
        </p:nvSpPr>
        <p:spPr>
          <a:xfrm>
            <a:off x="3252750"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15 références</a:t>
            </a:r>
            <a:endParaRPr lang="en-US" sz="72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12000" y="13572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Meursault</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Meix Chavaux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37,00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Beaune 1er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Beaune 1er Cru</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24,00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Puligny-Montrachet 1er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Folatières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60,00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Bourgogne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Pinot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11,75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Hautes-Côtes de Beaune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Vieilles Vignes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12,75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Hautes-Côtes de Beaune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Clos de la Perrière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Beaune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Bons Feuvres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Pommard</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Perrières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24,00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Pommard</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Petits Noizons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26,00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Beaune 1er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Aigrots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22,00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6" name="Text 12"/>
          <p:cNvSpPr/>
          <p:nvPr/>
        </p:nvSpPr>
        <p:spPr>
          <a:xfrm>
            <a:off x="612000" y="5601713"/>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17" name="Image 1" descr="/home/user/philippe1/build/deco/sol-bourgogne.png">    </p:cNvPr>
          <p:cNvPicPr>
            <a:picLocks noChangeAspect="1"/>
          </p:cNvPicPr>
          <p:nvPr/>
        </p:nvPicPr>
        <p:blipFill>
          <a:blip r:embed="rId2"/>
          <a:stretch>
            <a:fillRect/>
          </a:stretch>
        </p:blipFill>
        <p:spPr>
          <a:xfrm>
            <a:off x="612000" y="5749313"/>
            <a:ext cx="6120000" cy="1394740"/>
          </a:xfrm>
          <a:prstGeom prst="rect">
            <a:avLst/>
          </a:prstGeom>
        </p:spPr>
      </p:pic>
      <p:sp>
        <p:nvSpPr>
          <p:cNvPr id="18" name="Shape 13"/>
          <p:cNvSpPr/>
          <p:nvPr/>
        </p:nvSpPr>
        <p:spPr>
          <a:xfrm>
            <a:off x="612000" y="8388000"/>
            <a:ext cx="6120000" cy="0"/>
          </a:xfrm>
          <a:prstGeom prst="line">
            <a:avLst/>
          </a:prstGeom>
          <a:noFill/>
          <a:ln w="8890">
            <a:solidFill>
              <a:srgbClr val="46606E"/>
            </a:solidFill>
            <a:prstDash val="solid"/>
          </a:ln>
        </p:spPr>
      </p:sp>
      <p:sp>
        <p:nvSpPr>
          <p:cNvPr id="19" name="Text 14"/>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0" name="Text 15"/>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1" name="Text 16"/>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2" name="Text 17"/>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23</a:t>
            </a:r>
            <a:endParaRPr lang="en-US" sz="750" dirty="0"/>
          </a:p>
        </p:txBody>
      </p:sp>
      <p:sp>
        <p:nvSpPr>
          <p:cNvPr id="23" name="Text 18"/>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bourgog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11</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Nadine Ferrand</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86766"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86766"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AOP</a:t>
            </a:r>
            <a:endParaRPr lang="en-US" sz="720" dirty="0"/>
          </a:p>
        </p:txBody>
      </p:sp>
      <p:sp>
        <p:nvSpPr>
          <p:cNvPr id="9" name="Shape 6"/>
          <p:cNvSpPr/>
          <p:nvPr/>
        </p:nvSpPr>
        <p:spPr>
          <a:xfrm>
            <a:off x="1293966" y="1047600"/>
            <a:ext cx="630911" cy="180000"/>
          </a:xfrm>
          <a:prstGeom prst="roundRect">
            <a:avLst>
              <a:gd name="adj" fmla="val 10160"/>
            </a:avLst>
          </a:prstGeom>
          <a:solidFill>
            <a:srgbClr val="67067C"/>
          </a:solidFill>
          <a:ln w="8890">
            <a:solidFill>
              <a:srgbClr val="67067C"/>
            </a:solidFill>
            <a:prstDash val="solid"/>
          </a:ln>
        </p:spPr>
      </p:sp>
      <p:sp>
        <p:nvSpPr>
          <p:cNvPr id="10" name="Text 7"/>
          <p:cNvSpPr/>
          <p:nvPr/>
        </p:nvSpPr>
        <p:spPr>
          <a:xfrm>
            <a:off x="1293966"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1" name="Shape 8"/>
          <p:cNvSpPr/>
          <p:nvPr/>
        </p:nvSpPr>
        <p:spPr>
          <a:xfrm>
            <a:off x="2004077" y="1047600"/>
            <a:ext cx="1385474" cy="180000"/>
          </a:xfrm>
          <a:prstGeom prst="roundRect">
            <a:avLst>
              <a:gd name="adj" fmla="val 10160"/>
            </a:avLst>
          </a:prstGeom>
          <a:solidFill>
            <a:srgbClr val="F2EADA"/>
          </a:solidFill>
          <a:ln w="8890">
            <a:solidFill>
              <a:srgbClr val="A8515F"/>
            </a:solidFill>
            <a:prstDash val="solid"/>
          </a:ln>
        </p:spPr>
      </p:sp>
      <p:sp>
        <p:nvSpPr>
          <p:cNvPr id="12" name="Text 9"/>
          <p:cNvSpPr/>
          <p:nvPr/>
        </p:nvSpPr>
        <p:spPr>
          <a:xfrm>
            <a:off x="2004077"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3" name="Shape 10"/>
          <p:cNvSpPr/>
          <p:nvPr/>
        </p:nvSpPr>
        <p:spPr>
          <a:xfrm>
            <a:off x="3468750" y="1047600"/>
            <a:ext cx="732318" cy="180000"/>
          </a:xfrm>
          <a:prstGeom prst="roundRect">
            <a:avLst>
              <a:gd name="adj" fmla="val 10160"/>
            </a:avLst>
          </a:prstGeom>
          <a:solidFill>
            <a:srgbClr val="F2EADA"/>
          </a:solidFill>
          <a:ln w="8890">
            <a:solidFill>
              <a:srgbClr val="46606E"/>
            </a:solidFill>
            <a:prstDash val="solid"/>
          </a:ln>
        </p:spPr>
      </p:sp>
      <p:sp>
        <p:nvSpPr>
          <p:cNvPr id="14" name="Text 11"/>
          <p:cNvSpPr/>
          <p:nvPr/>
        </p:nvSpPr>
        <p:spPr>
          <a:xfrm>
            <a:off x="3468750"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7 références</a:t>
            </a:r>
            <a:endParaRPr lang="en-US" sz="720" dirty="0"/>
          </a:p>
        </p:txBody>
      </p:sp>
      <p:sp>
        <p:nvSpPr>
          <p:cNvPr id="15" name="Shape 12"/>
          <p:cNvSpPr/>
          <p:nvPr/>
        </p:nvSpPr>
        <p:spPr>
          <a:xfrm>
            <a:off x="828000" y="1357200"/>
            <a:ext cx="1440000" cy="1440000"/>
          </a:xfrm>
          <a:prstGeom prst="ellipse">
            <a:avLst/>
          </a:prstGeom>
          <a:solidFill>
            <a:srgbClr val="F2EADA"/>
          </a:solidFill>
          <a:ln w="12700">
            <a:solidFill>
              <a:srgbClr val="46606E"/>
            </a:solidFill>
            <a:prstDash val="dash"/>
          </a:ln>
        </p:spPr>
      </p:sp>
      <p:sp>
        <p:nvSpPr>
          <p:cNvPr id="16" name="Text 13"/>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7" name="Shape 14"/>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8" name="Text 15"/>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9" name="Text 16"/>
          <p:cNvSpPr/>
          <p:nvPr/>
        </p:nvSpPr>
        <p:spPr>
          <a:xfrm>
            <a:off x="2448000" y="1357200"/>
            <a:ext cx="3456000" cy="2231900"/>
          </a:xfrm>
          <a:prstGeom prst="rect">
            <a:avLst/>
          </a:prstGeom>
          <a:noFill/>
          <a:ln/>
        </p:spPr>
        <p:txBody>
          <a:bodyPr wrap="square" lIns="0" tIns="0" rIns="0" bIns="0" rtlCol="0" anchor="ctr"/>
          <a:lstStyle/>
          <a:p>
            <a:pPr indent="0" marL="0">
              <a:lnSpc>
                <a:spcPct val="142000"/>
              </a:lnSpc>
              <a:buNone/>
            </a:pPr>
            <a:r>
              <a:rPr lang="en-US" sz="1100" dirty="0">
                <a:solidFill>
                  <a:srgbClr val="46606E"/>
                </a:solidFill>
                <a:latin typeface="Spectral" pitchFamily="34" charset="0"/>
                <a:ea typeface="Spectral" pitchFamily="34" charset="-122"/>
                <a:cs typeface="Spectral" pitchFamily="34" charset="-120"/>
              </a:rPr>
              <a:t>Depuis des générations, la tradition familiale vigneronne est perpétuée au cœur de l'appellation Pouilly Fuissé. Rejoint par une nouvelle génération en 2012, le domaine a mis en place une stratégie d'exportation ambitieuse qui a propulsé ses vins vers une renommée mondiale. En 2018, l'inauguration d'un caveau de dégustation modernisé a ouvert les portes du domaine à une clientèle internationale, offrant une expérience unique et mémorable.</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Pouilly-Fuissé 1er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Pouilly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Pouilly-Fuissé 1er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Lise-Marie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Viré-Clessé</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Nadine Ferrand</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Saint-Véran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Nadine Ferrand</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Mâcon Solutré-Pouilly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Nadine Ferrand</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Mâcon Charnay-lès-Mâcon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Signature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Mâcon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Nadine Ferrand</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Text 17"/>
          <p:cNvSpPr/>
          <p:nvPr/>
        </p:nvSpPr>
        <p:spPr>
          <a:xfrm>
            <a:off x="828000" y="6836688"/>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22" name="Image 1" descr="/home/user/philippe1/build/deco/sol-bourgogne.png">    </p:cNvPr>
          <p:cNvPicPr>
            <a:picLocks noChangeAspect="1"/>
          </p:cNvPicPr>
          <p:nvPr/>
        </p:nvPicPr>
        <p:blipFill>
          <a:blip r:embed="rId2"/>
          <a:stretch>
            <a:fillRect/>
          </a:stretch>
        </p:blipFill>
        <p:spPr>
          <a:xfrm>
            <a:off x="828000" y="6984288"/>
            <a:ext cx="6120000" cy="1103991"/>
          </a:xfrm>
          <a:prstGeom prst="rect">
            <a:avLst/>
          </a:prstGeom>
        </p:spPr>
      </p:pic>
      <p:sp>
        <p:nvSpPr>
          <p:cNvPr id="23" name="Shape 18"/>
          <p:cNvSpPr/>
          <p:nvPr/>
        </p:nvSpPr>
        <p:spPr>
          <a:xfrm>
            <a:off x="828000" y="8388000"/>
            <a:ext cx="6120000" cy="0"/>
          </a:xfrm>
          <a:prstGeom prst="line">
            <a:avLst/>
          </a:prstGeom>
          <a:noFill/>
          <a:ln w="8890">
            <a:solidFill>
              <a:srgbClr val="46606E"/>
            </a:solidFill>
            <a:prstDash val="solid"/>
          </a:ln>
        </p:spPr>
      </p:sp>
      <p:sp>
        <p:nvSpPr>
          <p:cNvPr id="24" name="Text 19"/>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5" name="Text 20"/>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44 · 85</a:t>
            </a:r>
            <a:endParaRPr lang="en-US" sz="720" dirty="0"/>
          </a:p>
        </p:txBody>
      </p:sp>
      <p:sp>
        <p:nvSpPr>
          <p:cNvPr id="26" name="Text 21"/>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pictos de l’Agence SCIO, pas les logos officiels</a:t>
            </a:r>
            <a:endParaRPr lang="en-US" sz="650" dirty="0"/>
          </a:p>
        </p:txBody>
      </p:sp>
      <p:sp>
        <p:nvSpPr>
          <p:cNvPr id="27" name="Text 22"/>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24</a:t>
            </a:r>
            <a:endParaRPr lang="en-US" sz="750" dirty="0"/>
          </a:p>
        </p:txBody>
      </p:sp>
      <p:sp>
        <p:nvSpPr>
          <p:cNvPr id="28" name="Text 23"/>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bourgog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12</a:t>
            </a:r>
            <a:pPr indent="0" marL="0">
              <a:lnSpc>
                <a:spcPct val="104000"/>
              </a:lnSpc>
              <a:buNone/>
            </a:pPr>
            <a:r>
              <a:rPr lang="en-US" sz="1950" dirty="0">
                <a:solidFill>
                  <a:srgbClr val="46606E"/>
                </a:solidFill>
                <a:latin typeface="Young Serif" pitchFamily="34" charset="0"/>
                <a:ea typeface="Young Serif" pitchFamily="34" charset="-122"/>
                <a:cs typeface="Young Serif" pitchFamily="34" charset="-120"/>
              </a:rPr>
              <a:t>   Maison et Domaine André Goichot</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630911" cy="180000"/>
          </a:xfrm>
          <a:prstGeom prst="roundRect">
            <a:avLst>
              <a:gd name="adj" fmla="val 10160"/>
            </a:avLst>
          </a:prstGeom>
          <a:solidFill>
            <a:srgbClr val="67067C"/>
          </a:solidFill>
          <a:ln w="8890">
            <a:solidFill>
              <a:srgbClr val="67067C"/>
            </a:solidFill>
            <a:prstDash val="solid"/>
          </a:ln>
        </p:spPr>
      </p:sp>
      <p:sp>
        <p:nvSpPr>
          <p:cNvPr id="8" name="Text 5"/>
          <p:cNvSpPr/>
          <p:nvPr/>
        </p:nvSpPr>
        <p:spPr>
          <a:xfrm>
            <a:off x="612000"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9" name="Shape 6"/>
          <p:cNvSpPr/>
          <p:nvPr/>
        </p:nvSpPr>
        <p:spPr>
          <a:xfrm>
            <a:off x="1322111" y="1047600"/>
            <a:ext cx="1352190"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322111"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1" name="Shape 8"/>
          <p:cNvSpPr/>
          <p:nvPr/>
        </p:nvSpPr>
        <p:spPr>
          <a:xfrm>
            <a:off x="2753500" y="1047600"/>
            <a:ext cx="787182"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753500"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23 références</a:t>
            </a:r>
            <a:endParaRPr lang="en-US" sz="720" dirty="0"/>
          </a:p>
        </p:txBody>
      </p:sp>
      <p:sp>
        <p:nvSpPr>
          <p:cNvPr id="13" name="Shape 10"/>
          <p:cNvSpPr/>
          <p:nvPr/>
        </p:nvSpPr>
        <p:spPr>
          <a:xfrm>
            <a:off x="612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Fleuron familial et indépendant fondé en 1947, la Maison André Goichot porte l’exigence des grands climats de Bourgogne. Sélections parcellaires méticuleuses et cuverie d’élevage de pointe inaugurée en 2020.</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78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Mâcon-Lugny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Genièvres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Saint-Véran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Pouilly-Fuissé 1er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Clos Reyssier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24,40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24,10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Saint-Bris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Petit Chablis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Chablis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Coteaux Bourguignons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Text 15"/>
          <p:cNvSpPr/>
          <p:nvPr/>
        </p:nvSpPr>
        <p:spPr>
          <a:xfrm>
            <a:off x="612000" y="6201936"/>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20" name="Image 1" descr="/home/user/philippe1/build/deco/sol-bourgogne.png">    </p:cNvPr>
          <p:cNvPicPr>
            <a:picLocks noChangeAspect="1"/>
          </p:cNvPicPr>
          <p:nvPr/>
        </p:nvPicPr>
        <p:blipFill>
          <a:blip r:embed="rId2"/>
          <a:stretch>
            <a:fillRect/>
          </a:stretch>
        </p:blipFill>
        <p:spPr>
          <a:xfrm>
            <a:off x="612000" y="6349536"/>
            <a:ext cx="6120000" cy="1148400"/>
          </a:xfrm>
          <a:prstGeom prst="rect">
            <a:avLst/>
          </a:prstGeom>
        </p:spPr>
      </p:pic>
      <p:sp>
        <p:nvSpPr>
          <p:cNvPr id="21" name="Text 16"/>
          <p:cNvSpPr/>
          <p:nvPr/>
        </p:nvSpPr>
        <p:spPr>
          <a:xfrm>
            <a:off x="612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pPr indent="0" marL="0">
              <a:buNone/>
            </a:pPr>
            <a:r>
              <a:rPr lang="en-US" sz="740" dirty="0">
                <a:solidFill>
                  <a:srgbClr val="46606E"/>
                </a:solidFill>
                <a:latin typeface="IBM Plex Sans" pitchFamily="34" charset="0"/>
                <a:ea typeface="IBM Plex Sans" pitchFamily="34" charset="-122"/>
                <a:cs typeface="IBM Plex Sans" pitchFamily="34" charset="-120"/>
              </a:rPr>
              <a:t>Maison André Goichot, Château du Cray et Domaine Les Guignottes — n°13 p. 27 · n°14 p. 28</a:t>
            </a:r>
            <a:endParaRPr lang="en-US" sz="740" dirty="0"/>
          </a:p>
        </p:txBody>
      </p:sp>
      <p:sp>
        <p:nvSpPr>
          <p:cNvPr id="22" name="Shape 17"/>
          <p:cNvSpPr/>
          <p:nvPr/>
        </p:nvSpPr>
        <p:spPr>
          <a:xfrm>
            <a:off x="612000" y="8388000"/>
            <a:ext cx="6120000" cy="0"/>
          </a:xfrm>
          <a:prstGeom prst="line">
            <a:avLst/>
          </a:prstGeom>
          <a:noFill/>
          <a:ln w="8890">
            <a:solidFill>
              <a:srgbClr val="46606E"/>
            </a:solidFill>
            <a:prstDash val="solid"/>
          </a:ln>
        </p:spPr>
      </p:sp>
      <p:sp>
        <p:nvSpPr>
          <p:cNvPr id="23" name="Text 18"/>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franco de port</a:t>
            </a:r>
            <a:endParaRPr lang="en-US" sz="720" dirty="0"/>
          </a:p>
        </p:txBody>
      </p:sp>
      <p:sp>
        <p:nvSpPr>
          <p:cNvPr id="24" name="Text 19"/>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20"/>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6" name="Text 21"/>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25</a:t>
            </a:r>
            <a:endParaRPr lang="en-US" sz="750" dirty="0"/>
          </a:p>
        </p:txBody>
      </p:sp>
      <p:sp>
        <p:nvSpPr>
          <p:cNvPr id="27" name="Text 22"/>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bourgog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12</a:t>
            </a:r>
            <a:pPr indent="0" marL="0">
              <a:lnSpc>
                <a:spcPct val="104000"/>
              </a:lnSpc>
              <a:buNone/>
            </a:pPr>
            <a:r>
              <a:rPr lang="en-US" sz="1750" dirty="0">
                <a:solidFill>
                  <a:srgbClr val="46606E"/>
                </a:solidFill>
                <a:latin typeface="Young Serif" pitchFamily="34" charset="0"/>
                <a:ea typeface="Young Serif" pitchFamily="34" charset="-122"/>
                <a:cs typeface="Young Serif" pitchFamily="34" charset="-120"/>
              </a:rPr>
              <a:t>   Maison et Domaine André Goichot</a:t>
            </a:r>
            <a:pPr indent="0" marL="0">
              <a:lnSpc>
                <a:spcPct val="104000"/>
              </a:lnSpc>
              <a:buNone/>
            </a:pP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630911" cy="180000"/>
          </a:xfrm>
          <a:prstGeom prst="roundRect">
            <a:avLst>
              <a:gd name="adj" fmla="val 10160"/>
            </a:avLst>
          </a:prstGeom>
          <a:solidFill>
            <a:srgbClr val="67067C"/>
          </a:solidFill>
          <a:ln w="8890">
            <a:solidFill>
              <a:srgbClr val="67067C"/>
            </a:solidFill>
            <a:prstDash val="solid"/>
          </a:ln>
        </p:spPr>
      </p:sp>
      <p:sp>
        <p:nvSpPr>
          <p:cNvPr id="8" name="Text 5"/>
          <p:cNvSpPr/>
          <p:nvPr/>
        </p:nvSpPr>
        <p:spPr>
          <a:xfrm>
            <a:off x="828000"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9" name="Shape 6"/>
          <p:cNvSpPr/>
          <p:nvPr/>
        </p:nvSpPr>
        <p:spPr>
          <a:xfrm>
            <a:off x="1538111" y="1047600"/>
            <a:ext cx="1352190"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538111"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1" name="Shape 8"/>
          <p:cNvSpPr/>
          <p:nvPr/>
        </p:nvSpPr>
        <p:spPr>
          <a:xfrm>
            <a:off x="2969500" y="1047600"/>
            <a:ext cx="787182"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969500"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23 références</a:t>
            </a:r>
            <a:endParaRPr lang="en-US" sz="72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78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Givry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Champ La Dame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Givry 1er Cru</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Mercurey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Saint-Romain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Monthélie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Chassagne-Montrachet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Aloxe-Corton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Auxey-Duresses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Gevrey-Chambertin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43,20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42,90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Fixin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Clos Vougeot Grand Cru</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138,00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137,70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Meursault *</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Vireuils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Chablis 1er Cru *</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Bourgogne Hautes-Côtes de Beaune *</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Rully *</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Corton Grand Cru *</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Maréchaudes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88,70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88,40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4" name="Text 10"/>
          <p:cNvSpPr/>
          <p:nvPr/>
        </p:nvSpPr>
        <p:spPr>
          <a:xfrm>
            <a:off x="828000" y="6259682"/>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15" name="Image 1" descr="/home/user/philippe1/build/deco/sol-bourgogne.png">    </p:cNvPr>
          <p:cNvPicPr>
            <a:picLocks noChangeAspect="1"/>
          </p:cNvPicPr>
          <p:nvPr/>
        </p:nvPicPr>
        <p:blipFill>
          <a:blip r:embed="rId2"/>
          <a:stretch>
            <a:fillRect/>
          </a:stretch>
        </p:blipFill>
        <p:spPr>
          <a:xfrm>
            <a:off x="828000" y="6407282"/>
            <a:ext cx="6120000" cy="1148400"/>
          </a:xfrm>
          <a:prstGeom prst="rect">
            <a:avLst/>
          </a:prstGeom>
        </p:spPr>
      </p:pic>
      <p:sp>
        <p:nvSpPr>
          <p:cNvPr id="16" name="Text 11"/>
          <p:cNvSpPr/>
          <p:nvPr/>
        </p:nvSpPr>
        <p:spPr>
          <a:xfrm>
            <a:off x="828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pPr indent="0" marL="0">
              <a:buNone/>
            </a:pPr>
            <a:r>
              <a:rPr lang="en-US" sz="740" dirty="0">
                <a:solidFill>
                  <a:srgbClr val="46606E"/>
                </a:solidFill>
                <a:latin typeface="IBM Plex Sans" pitchFamily="34" charset="0"/>
                <a:ea typeface="IBM Plex Sans" pitchFamily="34" charset="-122"/>
                <a:cs typeface="IBM Plex Sans" pitchFamily="34" charset="-120"/>
              </a:rPr>
              <a:t>Maison André Goichot, Château du Cray et Domaine Les Guignottes — n°13 p. 27 · n°14 p. 28</a:t>
            </a:r>
            <a:endParaRPr lang="en-US" sz="740" dirty="0"/>
          </a:p>
        </p:txBody>
      </p:sp>
      <p:sp>
        <p:nvSpPr>
          <p:cNvPr id="17" name="Shape 12"/>
          <p:cNvSpPr/>
          <p:nvPr/>
        </p:nvSpPr>
        <p:spPr>
          <a:xfrm>
            <a:off x="828000" y="8388000"/>
            <a:ext cx="6120000" cy="0"/>
          </a:xfrm>
          <a:prstGeom prst="line">
            <a:avLst/>
          </a:prstGeom>
          <a:noFill/>
          <a:ln w="8890">
            <a:solidFill>
              <a:srgbClr val="46606E"/>
            </a:solidFill>
            <a:prstDash val="solid"/>
          </a:ln>
        </p:spPr>
      </p:sp>
      <p:sp>
        <p:nvSpPr>
          <p:cNvPr id="18" name="Text 13"/>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franco de port</a:t>
            </a:r>
            <a:endParaRPr lang="en-US" sz="720" dirty="0"/>
          </a:p>
        </p:txBody>
      </p:sp>
      <p:sp>
        <p:nvSpPr>
          <p:cNvPr id="19" name="Text 14"/>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0" name="Text 15"/>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1" name="Text 16"/>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26</a:t>
            </a:r>
            <a:endParaRPr lang="en-US" sz="750" dirty="0"/>
          </a:p>
        </p:txBody>
      </p:sp>
      <p:sp>
        <p:nvSpPr>
          <p:cNvPr id="22" name="Text 17"/>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bourgog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13</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Château du Cray</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1352190" cy="180000"/>
          </a:xfrm>
          <a:prstGeom prst="roundRect">
            <a:avLst>
              <a:gd name="adj" fmla="val 10160"/>
            </a:avLst>
          </a:prstGeom>
          <a:solidFill>
            <a:srgbClr val="F2EADA"/>
          </a:solidFill>
          <a:ln w="8890">
            <a:solidFill>
              <a:srgbClr val="A8515F"/>
            </a:solidFill>
            <a:prstDash val="solid"/>
          </a:ln>
        </p:spPr>
      </p:sp>
      <p:sp>
        <p:nvSpPr>
          <p:cNvPr id="8" name="Text 5"/>
          <p:cNvSpPr/>
          <p:nvPr/>
        </p:nvSpPr>
        <p:spPr>
          <a:xfrm>
            <a:off x="612000"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9" name="Shape 6"/>
          <p:cNvSpPr/>
          <p:nvPr/>
        </p:nvSpPr>
        <p:spPr>
          <a:xfrm>
            <a:off x="2043390" y="1047600"/>
            <a:ext cx="732318" cy="180000"/>
          </a:xfrm>
          <a:prstGeom prst="roundRect">
            <a:avLst>
              <a:gd name="adj" fmla="val 10160"/>
            </a:avLst>
          </a:prstGeom>
          <a:solidFill>
            <a:srgbClr val="F2EADA"/>
          </a:solidFill>
          <a:ln w="8890">
            <a:solidFill>
              <a:srgbClr val="46606E"/>
            </a:solidFill>
            <a:prstDash val="solid"/>
          </a:ln>
        </p:spPr>
      </p:sp>
      <p:sp>
        <p:nvSpPr>
          <p:cNvPr id="10" name="Text 7"/>
          <p:cNvSpPr/>
          <p:nvPr/>
        </p:nvSpPr>
        <p:spPr>
          <a:xfrm>
            <a:off x="2043390"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 références</a:t>
            </a:r>
            <a:endParaRPr lang="en-US" sz="720" dirty="0"/>
          </a:p>
        </p:txBody>
      </p:sp>
      <p:sp>
        <p:nvSpPr>
          <p:cNvPr id="11" name="Shape 8"/>
          <p:cNvSpPr/>
          <p:nvPr/>
        </p:nvSpPr>
        <p:spPr>
          <a:xfrm>
            <a:off x="612000" y="1357200"/>
            <a:ext cx="1440000" cy="1440000"/>
          </a:xfrm>
          <a:prstGeom prst="ellipse">
            <a:avLst/>
          </a:prstGeom>
          <a:solidFill>
            <a:srgbClr val="F2EADA"/>
          </a:solidFill>
          <a:ln w="12700">
            <a:solidFill>
              <a:srgbClr val="46606E"/>
            </a:solidFill>
            <a:prstDash val="dash"/>
          </a:ln>
        </p:spPr>
      </p:sp>
      <p:sp>
        <p:nvSpPr>
          <p:cNvPr id="12" name="Text 9"/>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3" name="Shape 10"/>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4" name="Text 11"/>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5" name="Text 12"/>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100" dirty="0">
                <a:solidFill>
                  <a:srgbClr val="46606E"/>
                </a:solidFill>
                <a:latin typeface="Spectral" pitchFamily="34" charset="0"/>
                <a:ea typeface="Spectral" pitchFamily="34" charset="-122"/>
                <a:cs typeface="Spectral" pitchFamily="34" charset="-120"/>
              </a:rPr>
              <a:t>Depuis 2016, la famille Goichot est aux commandes de ce charmant domaine, précieuse propriété de la famille Perret du Cray depuis 1798. Situé au nord de Buxy, en Saône-et-Loire, le Château du Cray s’étend sur un domaine viticole de 22 hectares. Les vignes s’étendent autour du château, au milieu du coteau et bénéficient d’une exposition privilégiée Est-Sud-Est. Le domaine bénéficie d’un MONOPOLE : Le Cornevent</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78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5300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Bourgogne Aligoté</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Bourgogne Chardonnay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Bourgogne Pinot Noir</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Cornevent MONOPOLE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7" name="Text 13"/>
          <p:cNvSpPr/>
          <p:nvPr/>
        </p:nvSpPr>
        <p:spPr>
          <a:xfrm>
            <a:off x="612000" y="5043905"/>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18" name="Image 1" descr="/home/user/philippe1/build/deco/sol-bourgogne.png">    </p:cNvPr>
          <p:cNvPicPr>
            <a:picLocks noChangeAspect="1"/>
          </p:cNvPicPr>
          <p:nvPr/>
        </p:nvPicPr>
        <p:blipFill>
          <a:blip r:embed="rId2"/>
          <a:stretch>
            <a:fillRect/>
          </a:stretch>
        </p:blipFill>
        <p:spPr>
          <a:xfrm>
            <a:off x="612000" y="5191505"/>
            <a:ext cx="6120000" cy="1486716"/>
          </a:xfrm>
          <a:prstGeom prst="rect">
            <a:avLst/>
          </a:prstGeom>
        </p:spPr>
      </p:pic>
      <p:sp>
        <p:nvSpPr>
          <p:cNvPr id="19" name="Text 14"/>
          <p:cNvSpPr/>
          <p:nvPr/>
        </p:nvSpPr>
        <p:spPr>
          <a:xfrm>
            <a:off x="612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pPr indent="0" marL="0">
              <a:buNone/>
            </a:pPr>
            <a:r>
              <a:rPr lang="en-US" sz="740" dirty="0">
                <a:solidFill>
                  <a:srgbClr val="46606E"/>
                </a:solidFill>
                <a:latin typeface="IBM Plex Sans" pitchFamily="34" charset="0"/>
                <a:ea typeface="IBM Plex Sans" pitchFamily="34" charset="-122"/>
                <a:cs typeface="IBM Plex Sans" pitchFamily="34" charset="-120"/>
              </a:rPr>
              <a:t>Maison André Goichot, Château du Cray et Domaine Les Guignottes — n°12 p. 25 · n°14 p. 28</a:t>
            </a:r>
            <a:endParaRPr lang="en-US" sz="740" dirty="0"/>
          </a:p>
        </p:txBody>
      </p:sp>
      <p:sp>
        <p:nvSpPr>
          <p:cNvPr id="20" name="Shape 15"/>
          <p:cNvSpPr/>
          <p:nvPr/>
        </p:nvSpPr>
        <p:spPr>
          <a:xfrm>
            <a:off x="612000" y="8388000"/>
            <a:ext cx="6120000" cy="0"/>
          </a:xfrm>
          <a:prstGeom prst="line">
            <a:avLst/>
          </a:prstGeom>
          <a:noFill/>
          <a:ln w="8890">
            <a:solidFill>
              <a:srgbClr val="46606E"/>
            </a:solidFill>
            <a:prstDash val="solid"/>
          </a:ln>
        </p:spPr>
      </p:sp>
      <p:sp>
        <p:nvSpPr>
          <p:cNvPr id="21" name="Text 16"/>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Franco de port.</a:t>
            </a:r>
            <a:endParaRPr lang="en-US" sz="720" dirty="0"/>
          </a:p>
        </p:txBody>
      </p:sp>
      <p:sp>
        <p:nvSpPr>
          <p:cNvPr id="22" name="Text 17"/>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3" name="Text 18"/>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4" name="Text 19"/>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27</a:t>
            </a:r>
            <a:endParaRPr lang="en-US" sz="750" dirty="0"/>
          </a:p>
        </p:txBody>
      </p:sp>
      <p:sp>
        <p:nvSpPr>
          <p:cNvPr id="25" name="Text 20"/>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bourgog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14</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Les Guignottes</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1352190" cy="180000"/>
          </a:xfrm>
          <a:prstGeom prst="roundRect">
            <a:avLst>
              <a:gd name="adj" fmla="val 10160"/>
            </a:avLst>
          </a:prstGeom>
          <a:solidFill>
            <a:srgbClr val="F2EADA"/>
          </a:solidFill>
          <a:ln w="8890">
            <a:solidFill>
              <a:srgbClr val="A8515F"/>
            </a:solidFill>
            <a:prstDash val="solid"/>
          </a:ln>
        </p:spPr>
      </p:sp>
      <p:sp>
        <p:nvSpPr>
          <p:cNvPr id="8" name="Text 5"/>
          <p:cNvSpPr/>
          <p:nvPr/>
        </p:nvSpPr>
        <p:spPr>
          <a:xfrm>
            <a:off x="828000"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9" name="Shape 6"/>
          <p:cNvSpPr/>
          <p:nvPr/>
        </p:nvSpPr>
        <p:spPr>
          <a:xfrm>
            <a:off x="2259390" y="1047600"/>
            <a:ext cx="732318" cy="180000"/>
          </a:xfrm>
          <a:prstGeom prst="roundRect">
            <a:avLst>
              <a:gd name="adj" fmla="val 10160"/>
            </a:avLst>
          </a:prstGeom>
          <a:solidFill>
            <a:srgbClr val="F2EADA"/>
          </a:solidFill>
          <a:ln w="8890">
            <a:solidFill>
              <a:srgbClr val="46606E"/>
            </a:solidFill>
            <a:prstDash val="solid"/>
          </a:ln>
        </p:spPr>
      </p:sp>
      <p:sp>
        <p:nvSpPr>
          <p:cNvPr id="10" name="Text 7"/>
          <p:cNvSpPr/>
          <p:nvPr/>
        </p:nvSpPr>
        <p:spPr>
          <a:xfrm>
            <a:off x="2259390"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5 références</a:t>
            </a:r>
            <a:endParaRPr lang="en-US" sz="720" dirty="0"/>
          </a:p>
        </p:txBody>
      </p:sp>
      <p:sp>
        <p:nvSpPr>
          <p:cNvPr id="11" name="Shape 8"/>
          <p:cNvSpPr/>
          <p:nvPr/>
        </p:nvSpPr>
        <p:spPr>
          <a:xfrm>
            <a:off x="828000" y="1357200"/>
            <a:ext cx="1440000" cy="1440000"/>
          </a:xfrm>
          <a:prstGeom prst="ellipse">
            <a:avLst/>
          </a:prstGeom>
          <a:solidFill>
            <a:srgbClr val="F2EADA"/>
          </a:solidFill>
          <a:ln w="12700">
            <a:solidFill>
              <a:srgbClr val="46606E"/>
            </a:solidFill>
            <a:prstDash val="dash"/>
          </a:ln>
        </p:spPr>
      </p:sp>
      <p:sp>
        <p:nvSpPr>
          <p:cNvPr id="12" name="Text 9"/>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3" name="Shape 10"/>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4" name="Text 11"/>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5" name="Text 12"/>
          <p:cNvSpPr/>
          <p:nvPr/>
        </p:nvSpPr>
        <p:spPr>
          <a:xfrm>
            <a:off x="2448000" y="1357200"/>
            <a:ext cx="3456000" cy="2231900"/>
          </a:xfrm>
          <a:prstGeom prst="rect">
            <a:avLst/>
          </a:prstGeom>
          <a:noFill/>
          <a:ln/>
        </p:spPr>
        <p:txBody>
          <a:bodyPr wrap="square" lIns="0" tIns="0" rIns="0" bIns="0" rtlCol="0" anchor="ctr"/>
          <a:lstStyle/>
          <a:p>
            <a:pPr indent="0" marL="0">
              <a:lnSpc>
                <a:spcPct val="142000"/>
              </a:lnSpc>
              <a:buNone/>
            </a:pPr>
            <a:r>
              <a:rPr lang="en-US" sz="1100" dirty="0">
                <a:solidFill>
                  <a:srgbClr val="46606E"/>
                </a:solidFill>
                <a:latin typeface="Spectral" pitchFamily="34" charset="0"/>
                <a:ea typeface="Spectral" pitchFamily="34" charset="-122"/>
                <a:cs typeface="Spectral" pitchFamily="34" charset="-120"/>
              </a:rPr>
              <a:t>Depuis 2015, la famille Goichot est fière de diriger la distribution exclusive du Domaine Les Guignottes, une propriété de 10 hectares à Saint-Valérien en Côte Châlonnaise. Avec une palette de cépage incluant l’Aligoté, Le Pinot Noir et le Chardonnay, les vins du domaine reflètent avec élégance leur terroir d’origine. En harmonie avec les tendances actuelles, ils mettent en valeur la minéralité et la légèreté, une expérience qui célèbre la tradition et la qualité de la Côte Châlonnaise.</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78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5300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Bourgogne Aligoté</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Bourgogne Chardonnay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Bourgogne Pinot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Maranges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Saugeot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Santenay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Vaux Dessus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7" name="Text 13"/>
          <p:cNvSpPr/>
          <p:nvPr/>
        </p:nvSpPr>
        <p:spPr>
          <a:xfrm>
            <a:off x="828000" y="5686396"/>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18" name="Image 1" descr="/home/user/philippe1/build/deco/sol-bourgogne.png">    </p:cNvPr>
          <p:cNvPicPr>
            <a:picLocks noChangeAspect="1"/>
          </p:cNvPicPr>
          <p:nvPr/>
        </p:nvPicPr>
        <p:blipFill>
          <a:blip r:embed="rId2"/>
          <a:stretch>
            <a:fillRect/>
          </a:stretch>
        </p:blipFill>
        <p:spPr>
          <a:xfrm>
            <a:off x="828000" y="5833996"/>
            <a:ext cx="6120000" cy="1148400"/>
          </a:xfrm>
          <a:prstGeom prst="rect">
            <a:avLst/>
          </a:prstGeom>
        </p:spPr>
      </p:pic>
      <p:sp>
        <p:nvSpPr>
          <p:cNvPr id="19" name="Text 14"/>
          <p:cNvSpPr/>
          <p:nvPr/>
        </p:nvSpPr>
        <p:spPr>
          <a:xfrm>
            <a:off x="828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pPr indent="0" marL="0">
              <a:buNone/>
            </a:pPr>
            <a:r>
              <a:rPr lang="en-US" sz="740" dirty="0">
                <a:solidFill>
                  <a:srgbClr val="46606E"/>
                </a:solidFill>
                <a:latin typeface="IBM Plex Sans" pitchFamily="34" charset="0"/>
                <a:ea typeface="IBM Plex Sans" pitchFamily="34" charset="-122"/>
                <a:cs typeface="IBM Plex Sans" pitchFamily="34" charset="-120"/>
              </a:rPr>
              <a:t>Maison André Goichot, Château du Cray et Domaine Les Guignottes — n°12 p. 25 · n°13 p. 27</a:t>
            </a:r>
            <a:endParaRPr lang="en-US" sz="740" dirty="0"/>
          </a:p>
        </p:txBody>
      </p:sp>
      <p:sp>
        <p:nvSpPr>
          <p:cNvPr id="20" name="Shape 15"/>
          <p:cNvSpPr/>
          <p:nvPr/>
        </p:nvSpPr>
        <p:spPr>
          <a:xfrm>
            <a:off x="828000" y="8388000"/>
            <a:ext cx="6120000" cy="0"/>
          </a:xfrm>
          <a:prstGeom prst="line">
            <a:avLst/>
          </a:prstGeom>
          <a:noFill/>
          <a:ln w="8890">
            <a:solidFill>
              <a:srgbClr val="46606E"/>
            </a:solidFill>
            <a:prstDash val="solid"/>
          </a:ln>
        </p:spPr>
      </p:sp>
      <p:sp>
        <p:nvSpPr>
          <p:cNvPr id="21" name="Text 16"/>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Prix de la bouteille H.T. Franco de port.</a:t>
            </a:r>
            <a:endParaRPr lang="en-US" sz="720" dirty="0"/>
          </a:p>
        </p:txBody>
      </p:sp>
      <p:sp>
        <p:nvSpPr>
          <p:cNvPr id="22" name="Text 17"/>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56 · 85</a:t>
            </a:r>
            <a:endParaRPr lang="en-US" sz="720" dirty="0"/>
          </a:p>
        </p:txBody>
      </p:sp>
      <p:sp>
        <p:nvSpPr>
          <p:cNvPr id="23" name="Text 18"/>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4" name="Text 19"/>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28</a:t>
            </a:r>
            <a:endParaRPr lang="en-US" sz="750" dirty="0"/>
          </a:p>
        </p:txBody>
      </p:sp>
      <p:sp>
        <p:nvSpPr>
          <p:cNvPr id="25" name="Text 20"/>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bourgog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15</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des Verchères</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80548"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9" name="Shape 6"/>
          <p:cNvSpPr/>
          <p:nvPr/>
        </p:nvSpPr>
        <p:spPr>
          <a:xfrm>
            <a:off x="1071748"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071748"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536422"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536422"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4 références</a:t>
            </a:r>
            <a:endParaRPr lang="en-US" sz="720" dirty="0"/>
          </a:p>
        </p:txBody>
      </p:sp>
      <p:sp>
        <p:nvSpPr>
          <p:cNvPr id="13" name="Shape 10"/>
          <p:cNvSpPr/>
          <p:nvPr/>
        </p:nvSpPr>
        <p:spPr>
          <a:xfrm>
            <a:off x="612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Propriété familiale transmise depuis sept générations, établie à Mancey au cœur du Mâconnais. Certifié HVE, le domaine limite rigoureusement ses intrants pour préserver la vie des sols et alimente sa cave en énergie solaire, pour des vins purs, gourmands et équilibrés.</a:t>
            </a:r>
            <a:endParaRPr lang="en-US" sz="13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180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Mâcon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Mâcon Chardonnay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5,75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Mâcon Mancey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Mâcon Mancey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Mâcon Mancey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Mâcon Mancey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5,75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Bourgogne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Bourgogne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7,25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Text 15"/>
          <p:cNvSpPr/>
          <p:nvPr/>
        </p:nvSpPr>
        <p:spPr>
          <a:xfrm>
            <a:off x="612000" y="5743843"/>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20" name="Image 1" descr="/home/user/philippe1/build/deco/sol-bourgogne.png">    </p:cNvPr>
          <p:cNvPicPr>
            <a:picLocks noChangeAspect="1"/>
          </p:cNvPicPr>
          <p:nvPr/>
        </p:nvPicPr>
        <p:blipFill>
          <a:blip r:embed="rId2"/>
          <a:stretch>
            <a:fillRect/>
          </a:stretch>
        </p:blipFill>
        <p:spPr>
          <a:xfrm>
            <a:off x="612000" y="5891443"/>
            <a:ext cx="6120000" cy="1309461"/>
          </a:xfrm>
          <a:prstGeom prst="rect">
            <a:avLst/>
          </a:prstGeom>
        </p:spPr>
      </p:pic>
      <p:sp>
        <p:nvSpPr>
          <p:cNvPr id="21" name="Shape 16"/>
          <p:cNvSpPr/>
          <p:nvPr/>
        </p:nvSpPr>
        <p:spPr>
          <a:xfrm>
            <a:off x="612000" y="8388000"/>
            <a:ext cx="6120000" cy="0"/>
          </a:xfrm>
          <a:prstGeom prst="line">
            <a:avLst/>
          </a:prstGeom>
          <a:noFill/>
          <a:ln w="8890">
            <a:solidFill>
              <a:srgbClr val="46606E"/>
            </a:solidFill>
            <a:prstDash val="solid"/>
          </a:ln>
        </p:spPr>
      </p:sp>
      <p:sp>
        <p:nvSpPr>
          <p:cNvPr id="22" name="Text 17"/>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départ chai.</a:t>
            </a:r>
            <a:endParaRPr lang="en-US" sz="720" dirty="0"/>
          </a:p>
        </p:txBody>
      </p:sp>
      <p:sp>
        <p:nvSpPr>
          <p:cNvPr id="23" name="Text 18"/>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4" name="Text 19"/>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5" name="Text 2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29</a:t>
            </a:r>
            <a:endParaRPr lang="en-US" sz="750" dirty="0"/>
          </a:p>
        </p:txBody>
      </p:sp>
      <p:sp>
        <p:nvSpPr>
          <p:cNvPr id="26" name="Text 2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46606E"/>
        </a:solidFill>
      </p:bgPr>
    </p:bg>
    <p:spTree>
      <p:nvGrpSpPr>
        <p:cNvPr id="1" name=""/>
        <p:cNvGrpSpPr/>
        <p:nvPr/>
      </p:nvGrpSpPr>
      <p:grpSpPr>
        <a:xfrm>
          <a:off x="0" y="0"/>
          <a:ext cx="0" cy="0"/>
          <a:chOff x="0" y="0"/>
          <a:chExt cx="0" cy="0"/>
        </a:xfrm>
      </p:grpSpPr>
      <p:pic>
        <p:nvPicPr>
          <p:cNvPr id="2" name="Image 0" descr="/home/user/philippe1/build/deco/ouverture-rhone.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rotte-rhone.png">    </p:cNvPr>
          <p:cNvPicPr>
            <a:picLocks noChangeAspect="1"/>
          </p:cNvPicPr>
          <p:nvPr/>
        </p:nvPicPr>
        <p:blipFill>
          <a:blip r:embed="rId2"/>
          <a:stretch>
            <a:fillRect/>
          </a:stretch>
        </p:blipFill>
        <p:spPr>
          <a:xfrm>
            <a:off x="0" y="0"/>
            <a:ext cx="324000" cy="9360000"/>
          </a:xfrm>
          <a:prstGeom prst="rect">
            <a:avLst/>
          </a:prstGeom>
        </p:spPr>
      </p:pic>
      <p:sp>
        <p:nvSpPr>
          <p:cNvPr id="4"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5" name="Text 1"/>
          <p:cNvSpPr/>
          <p:nvPr/>
        </p:nvSpPr>
        <p:spPr>
          <a:xfrm>
            <a:off x="828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5 / 10</a:t>
            </a:r>
            <a:endParaRPr lang="en-US" sz="800" dirty="0"/>
          </a:p>
        </p:txBody>
      </p:sp>
      <p:sp>
        <p:nvSpPr>
          <p:cNvPr id="6" name="Text 2"/>
          <p:cNvSpPr/>
          <p:nvPr/>
        </p:nvSpPr>
        <p:spPr>
          <a:xfrm>
            <a:off x="828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Rhône</a:t>
            </a:r>
            <a:endParaRPr lang="en-US" sz="4600" dirty="0"/>
          </a:p>
        </p:txBody>
      </p:sp>
      <p:sp>
        <p:nvSpPr>
          <p:cNvPr id="7" name="Text 3"/>
          <p:cNvSpPr/>
          <p:nvPr/>
        </p:nvSpPr>
        <p:spPr>
          <a:xfrm>
            <a:off x="828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sables, grès et Trias</a:t>
            </a:r>
            <a:endParaRPr lang="en-US" sz="1200" dirty="0"/>
          </a:p>
        </p:txBody>
      </p:sp>
      <p:sp>
        <p:nvSpPr>
          <p:cNvPr id="8" name="Text 4"/>
          <p:cNvSpPr/>
          <p:nvPr/>
        </p:nvSpPr>
        <p:spPr>
          <a:xfrm>
            <a:off x="828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6</a:t>
            </a:r>
            <a:endParaRPr lang="en-US" sz="2000" dirty="0"/>
          </a:p>
        </p:txBody>
      </p:sp>
      <p:sp>
        <p:nvSpPr>
          <p:cNvPr id="9" name="Text 5"/>
          <p:cNvSpPr/>
          <p:nvPr/>
        </p:nvSpPr>
        <p:spPr>
          <a:xfrm>
            <a:off x="828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836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27</a:t>
            </a:r>
            <a:endParaRPr lang="en-US" sz="2000" dirty="0"/>
          </a:p>
        </p:txBody>
      </p:sp>
      <p:sp>
        <p:nvSpPr>
          <p:cNvPr id="11" name="Text 7"/>
          <p:cNvSpPr/>
          <p:nvPr/>
        </p:nvSpPr>
        <p:spPr>
          <a:xfrm>
            <a:off x="1836000" y="6660000"/>
            <a:ext cx="936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828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16   </a:t>
            </a:r>
            <a:pPr indent="0" marL="0">
              <a:buNone/>
            </a:pPr>
            <a:r>
              <a:rPr lang="en-US" sz="860" dirty="0">
                <a:solidFill>
                  <a:srgbClr val="FBF8F1"/>
                </a:solidFill>
                <a:latin typeface="IBM Plex Sans" pitchFamily="34" charset="0"/>
                <a:ea typeface="IBM Plex Sans" pitchFamily="34" charset="-122"/>
                <a:cs typeface="IBM Plex Sans" pitchFamily="34" charset="-120"/>
              </a:rPr>
              <a:t>Domaine Le Prieuré des Papes</a:t>
            </a:r>
            <a:pPr indent="0" marL="0">
              <a:buNone/>
            </a:pPr>
            <a:r>
              <a:rPr lang="en-US" sz="860" b="1" dirty="0">
                <a:solidFill>
                  <a:srgbClr val="FBF8F1"/>
                </a:solidFill>
                <a:latin typeface="IBM Plex Sans" pitchFamily="34" charset="0"/>
                <a:ea typeface="IBM Plex Sans" pitchFamily="34" charset="-122"/>
                <a:cs typeface="IBM Plex Sans" pitchFamily="34" charset="-120"/>
              </a:rPr>
              <a:t>   31</a:t>
            </a:r>
            <a:endParaRPr lang="en-US" sz="860" dirty="0"/>
          </a:p>
        </p:txBody>
      </p:sp>
      <p:sp>
        <p:nvSpPr>
          <p:cNvPr id="13" name="Text 9"/>
          <p:cNvSpPr/>
          <p:nvPr/>
        </p:nvSpPr>
        <p:spPr>
          <a:xfrm>
            <a:off x="3888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17   </a:t>
            </a:r>
            <a:pPr indent="0" marL="0">
              <a:buNone/>
            </a:pPr>
            <a:r>
              <a:rPr lang="en-US" sz="860" dirty="0">
                <a:solidFill>
                  <a:srgbClr val="FBF8F1"/>
                </a:solidFill>
                <a:latin typeface="IBM Plex Sans" pitchFamily="34" charset="0"/>
                <a:ea typeface="IBM Plex Sans" pitchFamily="34" charset="-122"/>
                <a:cs typeface="IBM Plex Sans" pitchFamily="34" charset="-120"/>
              </a:rPr>
              <a:t>Domaine de Coyeux</a:t>
            </a:r>
            <a:pPr indent="0" marL="0">
              <a:buNone/>
            </a:pPr>
            <a:r>
              <a:rPr lang="en-US" sz="860" b="1" dirty="0">
                <a:solidFill>
                  <a:srgbClr val="FBF8F1"/>
                </a:solidFill>
                <a:latin typeface="IBM Plex Sans" pitchFamily="34" charset="0"/>
                <a:ea typeface="IBM Plex Sans" pitchFamily="34" charset="-122"/>
                <a:cs typeface="IBM Plex Sans" pitchFamily="34" charset="-120"/>
              </a:rPr>
              <a:t>   32</a:t>
            </a:r>
            <a:endParaRPr lang="en-US" sz="860" dirty="0"/>
          </a:p>
        </p:txBody>
      </p:sp>
      <p:sp>
        <p:nvSpPr>
          <p:cNvPr id="14" name="Text 10"/>
          <p:cNvSpPr/>
          <p:nvPr/>
        </p:nvSpPr>
        <p:spPr>
          <a:xfrm>
            <a:off x="828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18   </a:t>
            </a:r>
            <a:pPr indent="0" marL="0">
              <a:buNone/>
            </a:pPr>
            <a:r>
              <a:rPr lang="en-US" sz="860" dirty="0">
                <a:solidFill>
                  <a:srgbClr val="FBF8F1"/>
                </a:solidFill>
                <a:latin typeface="IBM Plex Sans" pitchFamily="34" charset="0"/>
                <a:ea typeface="IBM Plex Sans" pitchFamily="34" charset="-122"/>
                <a:cs typeface="IBM Plex Sans" pitchFamily="34" charset="-120"/>
              </a:rPr>
              <a:t>Domaine du Moulin Blanc</a:t>
            </a:r>
            <a:pPr indent="0" marL="0">
              <a:buNone/>
            </a:pPr>
            <a:r>
              <a:rPr lang="en-US" sz="860" b="1" dirty="0">
                <a:solidFill>
                  <a:srgbClr val="FBF8F1"/>
                </a:solidFill>
                <a:latin typeface="IBM Plex Sans" pitchFamily="34" charset="0"/>
                <a:ea typeface="IBM Plex Sans" pitchFamily="34" charset="-122"/>
                <a:cs typeface="IBM Plex Sans" pitchFamily="34" charset="-120"/>
              </a:rPr>
              <a:t>   33</a:t>
            </a:r>
            <a:endParaRPr lang="en-US" sz="860" dirty="0"/>
          </a:p>
        </p:txBody>
      </p:sp>
      <p:sp>
        <p:nvSpPr>
          <p:cNvPr id="15" name="Text 11"/>
          <p:cNvSpPr/>
          <p:nvPr/>
        </p:nvSpPr>
        <p:spPr>
          <a:xfrm>
            <a:off x="3888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19   </a:t>
            </a:r>
            <a:pPr indent="0" marL="0">
              <a:buNone/>
            </a:pPr>
            <a:r>
              <a:rPr lang="en-US" sz="860" dirty="0">
                <a:solidFill>
                  <a:srgbClr val="FBF8F1"/>
                </a:solidFill>
                <a:latin typeface="IBM Plex Sans" pitchFamily="34" charset="0"/>
                <a:ea typeface="IBM Plex Sans" pitchFamily="34" charset="-122"/>
                <a:cs typeface="IBM Plex Sans" pitchFamily="34" charset="-120"/>
              </a:rPr>
              <a:t>Domaine de la Pousterle</a:t>
            </a:r>
            <a:pPr indent="0" marL="0">
              <a:buNone/>
            </a:pPr>
            <a:r>
              <a:rPr lang="en-US" sz="860" b="1" dirty="0">
                <a:solidFill>
                  <a:srgbClr val="FBF8F1"/>
                </a:solidFill>
                <a:latin typeface="IBM Plex Sans" pitchFamily="34" charset="0"/>
                <a:ea typeface="IBM Plex Sans" pitchFamily="34" charset="-122"/>
                <a:cs typeface="IBM Plex Sans" pitchFamily="34" charset="-120"/>
              </a:rPr>
              <a:t>   34</a:t>
            </a:r>
            <a:endParaRPr lang="en-US" sz="860" dirty="0"/>
          </a:p>
        </p:txBody>
      </p:sp>
      <p:sp>
        <p:nvSpPr>
          <p:cNvPr id="16" name="Text 12"/>
          <p:cNvSpPr/>
          <p:nvPr/>
        </p:nvSpPr>
        <p:spPr>
          <a:xfrm>
            <a:off x="828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20   </a:t>
            </a:r>
            <a:pPr indent="0" marL="0">
              <a:buNone/>
            </a:pPr>
            <a:r>
              <a:rPr lang="en-US" sz="860" dirty="0">
                <a:solidFill>
                  <a:srgbClr val="FBF8F1"/>
                </a:solidFill>
                <a:latin typeface="IBM Plex Sans" pitchFamily="34" charset="0"/>
                <a:ea typeface="IBM Plex Sans" pitchFamily="34" charset="-122"/>
                <a:cs typeface="IBM Plex Sans" pitchFamily="34" charset="-120"/>
              </a:rPr>
              <a:t>Domaine des Pasquiers</a:t>
            </a:r>
            <a:pPr indent="0" marL="0">
              <a:buNone/>
            </a:pPr>
            <a:r>
              <a:rPr lang="en-US" sz="860" b="1" dirty="0">
                <a:solidFill>
                  <a:srgbClr val="FBF8F1"/>
                </a:solidFill>
                <a:latin typeface="IBM Plex Sans" pitchFamily="34" charset="0"/>
                <a:ea typeface="IBM Plex Sans" pitchFamily="34" charset="-122"/>
                <a:cs typeface="IBM Plex Sans" pitchFamily="34" charset="-120"/>
              </a:rPr>
              <a:t>   35</a:t>
            </a:r>
            <a:endParaRPr lang="en-US" sz="860" dirty="0"/>
          </a:p>
        </p:txBody>
      </p:sp>
      <p:sp>
        <p:nvSpPr>
          <p:cNvPr id="17" name="Text 13"/>
          <p:cNvSpPr/>
          <p:nvPr/>
        </p:nvSpPr>
        <p:spPr>
          <a:xfrm>
            <a:off x="3888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21   </a:t>
            </a:r>
            <a:pPr indent="0" marL="0">
              <a:buNone/>
            </a:pPr>
            <a:r>
              <a:rPr lang="en-US" sz="860" dirty="0">
                <a:solidFill>
                  <a:srgbClr val="FBF8F1"/>
                </a:solidFill>
                <a:latin typeface="IBM Plex Sans" pitchFamily="34" charset="0"/>
                <a:ea typeface="IBM Plex Sans" pitchFamily="34" charset="-122"/>
                <a:cs typeface="IBM Plex Sans" pitchFamily="34" charset="-120"/>
              </a:rPr>
              <a:t>Domaine Trichon</a:t>
            </a:r>
            <a:pPr indent="0" marL="0">
              <a:buNone/>
            </a:pPr>
            <a:r>
              <a:rPr lang="en-US" sz="860" b="1" dirty="0">
                <a:solidFill>
                  <a:srgbClr val="FBF8F1"/>
                </a:solidFill>
                <a:latin typeface="IBM Plex Sans" pitchFamily="34" charset="0"/>
                <a:ea typeface="IBM Plex Sans" pitchFamily="34" charset="-122"/>
                <a:cs typeface="IBM Plex Sans" pitchFamily="34" charset="-120"/>
              </a:rPr>
              <a:t>   36</a:t>
            </a:r>
            <a:endParaRPr lang="en-US" sz="860" dirty="0"/>
          </a:p>
        </p:txBody>
      </p:sp>
      <p:sp>
        <p:nvSpPr>
          <p:cNvPr id="18" name="Text 14"/>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30</a:t>
            </a:r>
            <a:endParaRPr lang="en-US" sz="750" dirty="0"/>
          </a:p>
        </p:txBody>
      </p:sp>
      <p:sp>
        <p:nvSpPr>
          <p:cNvPr id="19" name="Text 15"/>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rho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16</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Le Prieuré des Papes</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RHÔNE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030051" y="1047600"/>
            <a:ext cx="1352190"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030051"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1" name="Shape 8"/>
          <p:cNvSpPr/>
          <p:nvPr/>
        </p:nvSpPr>
        <p:spPr>
          <a:xfrm>
            <a:off x="2461441"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461441"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 références</a:t>
            </a:r>
            <a:endParaRPr lang="en-US" sz="720" dirty="0"/>
          </a:p>
        </p:txBody>
      </p:sp>
      <p:sp>
        <p:nvSpPr>
          <p:cNvPr id="13" name="Shape 10"/>
          <p:cNvSpPr/>
          <p:nvPr/>
        </p:nvSpPr>
        <p:spPr>
          <a:xfrm>
            <a:off x="612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232000" y="1357200"/>
            <a:ext cx="3456000" cy="2352600"/>
          </a:xfrm>
          <a:prstGeom prst="rect">
            <a:avLst/>
          </a:prstGeom>
          <a:noFill/>
          <a:ln/>
        </p:spPr>
        <p:txBody>
          <a:bodyPr wrap="square" lIns="0" tIns="0" rIns="0" bIns="0" rtlCol="0" anchor="ctr"/>
          <a:lstStyle/>
          <a:p>
            <a:pPr indent="0" marL="0">
              <a:lnSpc>
                <a:spcPct val="142000"/>
              </a:lnSpc>
              <a:buNone/>
            </a:pPr>
            <a:r>
              <a:rPr lang="en-US" sz="950" dirty="0">
                <a:solidFill>
                  <a:srgbClr val="46606E"/>
                </a:solidFill>
                <a:latin typeface="Spectral" pitchFamily="34" charset="0"/>
                <a:ea typeface="Spectral" pitchFamily="34" charset="-122"/>
                <a:cs typeface="Spectral" pitchFamily="34" charset="-120"/>
              </a:rPr>
              <a:t>Au nord de l’appellation Châteauneuf-du-Pape, dans le quartier de Cabrières, le domaine du Prieuré des Papes compte 12 hectares de vignes étendues sur des sols de sable. S’ajoutent à cela, 8 hectares répartis entre Côtes du Rhône sur le terroir du Grès. Le nom de domaine a été choisi en référence au bâtiment emblématique du village de Châteauneuf du Pape situé au pied du Château et ancienne résidence papale. La majorité de nos vins sont des vins rouges avec une dominance de grenache. Nous produisons un Châteauneuf du Pape blanc confidentiel sur une parcelle de moins d’un hectare. Notre vignoble, certifié Agriculture Biologique, bénéficie d’un environnement doux et préservé offrant aux vins une chair déliée et de grand raffinement.</a:t>
            </a:r>
            <a:endParaRPr lang="en-US" sz="9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12000" y="3871800"/>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Palette</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Côtes du Rhône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Prieuré</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Châteauneuf-du-Pape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Vieilles Vignes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Châteauneuf-du-Pape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Vieilles Vignes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21,20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Text 15"/>
          <p:cNvSpPr/>
          <p:nvPr/>
        </p:nvSpPr>
        <p:spPr>
          <a:xfrm>
            <a:off x="612000" y="5418505"/>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RHÔNE — SABLES, GRÈS ET TRIAS</a:t>
            </a:r>
            <a:endParaRPr lang="en-US" sz="720" dirty="0"/>
          </a:p>
        </p:txBody>
      </p:sp>
      <p:pic>
        <p:nvPicPr>
          <p:cNvPr id="20" name="Image 1" descr="/home/user/philippe1/build/deco/sol-rhone.png">    </p:cNvPr>
          <p:cNvPicPr>
            <a:picLocks noChangeAspect="1"/>
          </p:cNvPicPr>
          <p:nvPr/>
        </p:nvPicPr>
        <p:blipFill>
          <a:blip r:embed="rId2"/>
          <a:stretch>
            <a:fillRect/>
          </a:stretch>
        </p:blipFill>
        <p:spPr>
          <a:xfrm>
            <a:off x="612000" y="5566105"/>
            <a:ext cx="6120000" cy="1261955"/>
          </a:xfrm>
          <a:prstGeom prst="rect">
            <a:avLst/>
          </a:prstGeom>
        </p:spPr>
      </p:pic>
      <p:sp>
        <p:nvSpPr>
          <p:cNvPr id="21" name="Text 16"/>
          <p:cNvSpPr/>
          <p:nvPr/>
        </p:nvSpPr>
        <p:spPr>
          <a:xfrm>
            <a:off x="612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pPr indent="0" marL="0">
              <a:buNone/>
            </a:pPr>
            <a:r>
              <a:rPr lang="en-US" sz="740" dirty="0">
                <a:solidFill>
                  <a:srgbClr val="46606E"/>
                </a:solidFill>
                <a:latin typeface="IBM Plex Sans" pitchFamily="34" charset="0"/>
                <a:ea typeface="IBM Plex Sans" pitchFamily="34" charset="-122"/>
                <a:cs typeface="IBM Plex Sans" pitchFamily="34" charset="-120"/>
              </a:rPr>
              <a:t>Les quatre domaines Strasser Radziwill — n°17 p. 32 · n°18 p. 33 · n°19 p. 34</a:t>
            </a:r>
            <a:endParaRPr lang="en-US" sz="740" dirty="0"/>
          </a:p>
        </p:txBody>
      </p:sp>
      <p:sp>
        <p:nvSpPr>
          <p:cNvPr id="22" name="Shape 17"/>
          <p:cNvSpPr/>
          <p:nvPr/>
        </p:nvSpPr>
        <p:spPr>
          <a:xfrm>
            <a:off x="612000" y="8388000"/>
            <a:ext cx="6120000" cy="0"/>
          </a:xfrm>
          <a:prstGeom prst="line">
            <a:avLst/>
          </a:prstGeom>
          <a:noFill/>
          <a:ln w="8890">
            <a:solidFill>
              <a:srgbClr val="46606E"/>
            </a:solidFill>
            <a:prstDash val="solid"/>
          </a:ln>
        </p:spPr>
      </p:sp>
      <p:sp>
        <p:nvSpPr>
          <p:cNvPr id="23" name="Text 18"/>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4" name="Text 19"/>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20"/>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6" name="Text 21"/>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31</a:t>
            </a:r>
            <a:endParaRPr lang="en-US" sz="750" dirty="0"/>
          </a:p>
        </p:txBody>
      </p:sp>
      <p:sp>
        <p:nvSpPr>
          <p:cNvPr id="27" name="Text 22"/>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rho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17</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de Coyeux</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RHÔNE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1352190"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246051"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1" name="Shape 8"/>
          <p:cNvSpPr/>
          <p:nvPr/>
        </p:nvSpPr>
        <p:spPr>
          <a:xfrm>
            <a:off x="2677441"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677441"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7 références</a:t>
            </a:r>
            <a:endParaRPr lang="en-US" sz="720" dirty="0"/>
          </a:p>
        </p:txBody>
      </p:sp>
      <p:sp>
        <p:nvSpPr>
          <p:cNvPr id="13" name="Shape 10"/>
          <p:cNvSpPr/>
          <p:nvPr/>
        </p:nvSpPr>
        <p:spPr>
          <a:xfrm>
            <a:off x="828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448000" y="1357200"/>
            <a:ext cx="3456000" cy="2714550"/>
          </a:xfrm>
          <a:prstGeom prst="rect">
            <a:avLst/>
          </a:prstGeom>
          <a:noFill/>
          <a:ln/>
        </p:spPr>
        <p:txBody>
          <a:bodyPr wrap="square" lIns="0" tIns="0" rIns="0" bIns="0" rtlCol="0" anchor="ctr"/>
          <a:lstStyle/>
          <a:p>
            <a:pPr indent="0" marL="0">
              <a:lnSpc>
                <a:spcPct val="142000"/>
              </a:lnSpc>
              <a:buNone/>
            </a:pPr>
            <a:r>
              <a:rPr lang="en-US" sz="950" dirty="0">
                <a:solidFill>
                  <a:srgbClr val="46606E"/>
                </a:solidFill>
                <a:latin typeface="Spectral" pitchFamily="34" charset="0"/>
                <a:ea typeface="Spectral" pitchFamily="34" charset="-122"/>
                <a:cs typeface="Spectral" pitchFamily="34" charset="-120"/>
              </a:rPr>
              <a:t>Propriété du groupe Maisons &amp; Vignobles Strasser-Radziwill depuis 2022, le Domaine de Coyeux niché au pied des Dentelles de Montmirail s’étend sur 120 hectares d’un seul tenant, au sein de l’aire de l’appellation viticole Beaumes-de-Venise. Dans ce superbe environnement naturel, le domaine est constitué de bois, de garrigue et de vignes. Le vignoble du Domaine de Coyeux s’étend sur la formation géologique du Trias, un sol très ancien qui confère aux vins une qualité exceptionnelle. Les premières vignes du domaine de Coyeux datent des années 1950. Aujourd’hui, les vins sont issus d’un vignoble âgé de 40 à 70 ans et de parcelles plus récentes. Le domaine bénéficie de l’abri naturel de la colline. Son exposition au sud favorise un ensoleillement idéal. À 300 mètres d’altitude, la température est plus fraîche et participe à l’élégance des vins de Coyeux.</a:t>
            </a:r>
            <a:endParaRPr lang="en-US" sz="9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828000" y="423375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198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Palette</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Gigondas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Coyeux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Beaumes de Venise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Jumelles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Beaumes de Venise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banquettes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Méditerranée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5,25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Méditerranée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Première Fleur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5,25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Muscat BDV</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Solera</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Muscat BDV</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Vintage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Text 15"/>
          <p:cNvSpPr/>
          <p:nvPr/>
        </p:nvSpPr>
        <p:spPr>
          <a:xfrm>
            <a:off x="828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pPr indent="0" marL="0">
              <a:buNone/>
            </a:pPr>
            <a:r>
              <a:rPr lang="en-US" sz="740" dirty="0">
                <a:solidFill>
                  <a:srgbClr val="46606E"/>
                </a:solidFill>
                <a:latin typeface="IBM Plex Sans" pitchFamily="34" charset="0"/>
                <a:ea typeface="IBM Plex Sans" pitchFamily="34" charset="-122"/>
                <a:cs typeface="IBM Plex Sans" pitchFamily="34" charset="-120"/>
              </a:rPr>
              <a:t>Les quatre domaines Strasser Radziwill — n°16 p. 31 · n°18 p. 33 · n°19 p. 34</a:t>
            </a:r>
            <a:endParaRPr lang="en-US" sz="740" dirty="0"/>
          </a:p>
        </p:txBody>
      </p:sp>
      <p:sp>
        <p:nvSpPr>
          <p:cNvPr id="20" name="Shape 16"/>
          <p:cNvSpPr/>
          <p:nvPr/>
        </p:nvSpPr>
        <p:spPr>
          <a:xfrm>
            <a:off x="828000" y="8388000"/>
            <a:ext cx="6120000" cy="0"/>
          </a:xfrm>
          <a:prstGeom prst="line">
            <a:avLst/>
          </a:prstGeom>
          <a:noFill/>
          <a:ln w="8890">
            <a:solidFill>
              <a:srgbClr val="46606E"/>
            </a:solidFill>
            <a:prstDash val="solid"/>
          </a:ln>
        </p:spPr>
      </p:sp>
      <p:sp>
        <p:nvSpPr>
          <p:cNvPr id="21" name="Text 17"/>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2" name="Text 18"/>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3" name="Text 19"/>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4"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32</a:t>
            </a:r>
            <a:endParaRPr lang="en-US" sz="750" dirty="0"/>
          </a:p>
        </p:txBody>
      </p:sp>
      <p:sp>
        <p:nvSpPr>
          <p:cNvPr id="25"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rho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18</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du Moulin Blanc</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RHÔNE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030051" y="1047600"/>
            <a:ext cx="1352190"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030051"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1" name="Shape 8"/>
          <p:cNvSpPr/>
          <p:nvPr/>
        </p:nvSpPr>
        <p:spPr>
          <a:xfrm>
            <a:off x="2461441"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461441"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 références</a:t>
            </a:r>
            <a:endParaRPr lang="en-US" sz="720" dirty="0"/>
          </a:p>
        </p:txBody>
      </p:sp>
      <p:sp>
        <p:nvSpPr>
          <p:cNvPr id="13" name="Shape 10"/>
          <p:cNvSpPr/>
          <p:nvPr/>
        </p:nvSpPr>
        <p:spPr>
          <a:xfrm>
            <a:off x="612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975" dirty="0">
                <a:solidFill>
                  <a:srgbClr val="46606E"/>
                </a:solidFill>
                <a:latin typeface="Spectral" pitchFamily="34" charset="0"/>
                <a:ea typeface="Spectral" pitchFamily="34" charset="-122"/>
                <a:cs typeface="Spectral" pitchFamily="34" charset="-120"/>
              </a:rPr>
              <a:t>Situé au cœur d’un terroir d’exception, le Domaine du Moulin Blanc incarne l’authenticité et le savoir-faire viticole transmis de génération en génération. Alliant tradition et modernité, le domaine cultive ses vignes avec passion et rigueur pour produire des vins reflétant toute la richesse de leurs origines. Le vignoble s’étend sur un sol généreux, bénéficiant d’un climat idéal, propice à l’expression de cépages nobles et typiques. Chaque cuvée est élaborée avec soin, dans le respect de l’environnement et du cycle naturel de la vigne, pour offrir des vins équilibrés, élégants et sincères.</a:t>
            </a:r>
            <a:endParaRPr lang="en-US" sz="975"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198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Palette</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53008">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Tavel</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Côtes du Rhône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Côtes du Rhône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Text 15"/>
          <p:cNvSpPr/>
          <p:nvPr/>
        </p:nvSpPr>
        <p:spPr>
          <a:xfrm>
            <a:off x="612000" y="4978271"/>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RHÔNE — SABLES, GRÈS ET TRIAS</a:t>
            </a:r>
            <a:endParaRPr lang="en-US" sz="720" dirty="0"/>
          </a:p>
        </p:txBody>
      </p:sp>
      <p:pic>
        <p:nvPicPr>
          <p:cNvPr id="20" name="Image 1" descr="/home/user/philippe1/build/deco/sol-rhone.png">    </p:cNvPr>
          <p:cNvPicPr>
            <a:picLocks noChangeAspect="1"/>
          </p:cNvPicPr>
          <p:nvPr/>
        </p:nvPicPr>
        <p:blipFill>
          <a:blip r:embed="rId2"/>
          <a:stretch>
            <a:fillRect/>
          </a:stretch>
        </p:blipFill>
        <p:spPr>
          <a:xfrm>
            <a:off x="612000" y="5125871"/>
            <a:ext cx="6120000" cy="1526096"/>
          </a:xfrm>
          <a:prstGeom prst="rect">
            <a:avLst/>
          </a:prstGeom>
        </p:spPr>
      </p:pic>
      <p:sp>
        <p:nvSpPr>
          <p:cNvPr id="21" name="Text 16"/>
          <p:cNvSpPr/>
          <p:nvPr/>
        </p:nvSpPr>
        <p:spPr>
          <a:xfrm>
            <a:off x="612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pPr indent="0" marL="0">
              <a:buNone/>
            </a:pPr>
            <a:r>
              <a:rPr lang="en-US" sz="740" dirty="0">
                <a:solidFill>
                  <a:srgbClr val="46606E"/>
                </a:solidFill>
                <a:latin typeface="IBM Plex Sans" pitchFamily="34" charset="0"/>
                <a:ea typeface="IBM Plex Sans" pitchFamily="34" charset="-122"/>
                <a:cs typeface="IBM Plex Sans" pitchFamily="34" charset="-120"/>
              </a:rPr>
              <a:t>Les quatre domaines Strasser Radziwill — n°16 p. 31 · n°17 p. 32 · n°19 p. 34</a:t>
            </a:r>
            <a:endParaRPr lang="en-US" sz="740" dirty="0"/>
          </a:p>
        </p:txBody>
      </p:sp>
      <p:sp>
        <p:nvSpPr>
          <p:cNvPr id="22" name="Shape 17"/>
          <p:cNvSpPr/>
          <p:nvPr/>
        </p:nvSpPr>
        <p:spPr>
          <a:xfrm>
            <a:off x="612000" y="8388000"/>
            <a:ext cx="6120000" cy="0"/>
          </a:xfrm>
          <a:prstGeom prst="line">
            <a:avLst/>
          </a:prstGeom>
          <a:noFill/>
          <a:ln w="8890">
            <a:solidFill>
              <a:srgbClr val="46606E"/>
            </a:solidFill>
            <a:prstDash val="solid"/>
          </a:ln>
        </p:spPr>
      </p:sp>
      <p:sp>
        <p:nvSpPr>
          <p:cNvPr id="23" name="Text 18"/>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4" name="Text 19"/>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20"/>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pictos de l’Agence SCIO, pas les logos officiels</a:t>
            </a:r>
            <a:endParaRPr lang="en-US" sz="650" dirty="0"/>
          </a:p>
        </p:txBody>
      </p:sp>
      <p:sp>
        <p:nvSpPr>
          <p:cNvPr id="26" name="Text 21"/>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33</a:t>
            </a:r>
            <a:endParaRPr lang="en-US" sz="750" dirty="0"/>
          </a:p>
        </p:txBody>
      </p:sp>
      <p:sp>
        <p:nvSpPr>
          <p:cNvPr id="27" name="Text 22"/>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rho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19</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de la Pousterle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RHÔNE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1352190"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246051"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1" name="Shape 8"/>
          <p:cNvSpPr/>
          <p:nvPr/>
        </p:nvSpPr>
        <p:spPr>
          <a:xfrm>
            <a:off x="2677441"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677441"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5 références</a:t>
            </a:r>
            <a:endParaRPr lang="en-US" sz="720" dirty="0"/>
          </a:p>
        </p:txBody>
      </p:sp>
      <p:sp>
        <p:nvSpPr>
          <p:cNvPr id="13" name="Shape 10"/>
          <p:cNvSpPr/>
          <p:nvPr/>
        </p:nvSpPr>
        <p:spPr>
          <a:xfrm>
            <a:off x="828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448000" y="1357200"/>
            <a:ext cx="3456000" cy="2231900"/>
          </a:xfrm>
          <a:prstGeom prst="rect">
            <a:avLst/>
          </a:prstGeom>
          <a:noFill/>
          <a:ln/>
        </p:spPr>
        <p:txBody>
          <a:bodyPr wrap="square" lIns="0" tIns="0" rIns="0" bIns="0" rtlCol="0" anchor="ctr"/>
          <a:lstStyle/>
          <a:p>
            <a:pPr indent="0" marL="0">
              <a:lnSpc>
                <a:spcPct val="142000"/>
              </a:lnSpc>
              <a:buNone/>
            </a:pPr>
            <a:r>
              <a:rPr lang="en-US" sz="1000" dirty="0">
                <a:solidFill>
                  <a:srgbClr val="46606E"/>
                </a:solidFill>
                <a:latin typeface="Spectral" pitchFamily="34" charset="0"/>
                <a:ea typeface="Spectral" pitchFamily="34" charset="-122"/>
                <a:cs typeface="Spectral" pitchFamily="34" charset="-120"/>
              </a:rPr>
              <a:t>Situé au cœur de la vallée du Rhône le Domaine de la Pousterle est un domaine viticole familial qui incarne l’authenticité et la diversité de cette région emblématique. Entouré de collines baignées de soleil et bercé par le mistral, le vignoble bénéficie de conditions idéales pour l’élaboration de vins généreux, expressifs et empreints de caractère. Le domaine cultive avec soins des cépages typiques de la région en alliant traditions viticoles et pratiques respectueuses de l’environnement. Chaque cuvée reflète l’identité du terroir et le savoir faire transmis au fil des générations.</a:t>
            </a:r>
            <a:endParaRPr lang="en-US" sz="1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198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Palette</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Pousterle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France-Syrah</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Pousterle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Luberon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Terroir d'Ansouis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5,25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Luberon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Terroir d'Ansouis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5,25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Luberon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Terroir d'Ansouis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5,25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Text 15"/>
          <p:cNvSpPr/>
          <p:nvPr/>
        </p:nvSpPr>
        <p:spPr>
          <a:xfrm>
            <a:off x="828000" y="6128564"/>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RHÔNE — SABLES, GRÈS ET TRIAS</a:t>
            </a:r>
            <a:endParaRPr lang="en-US" sz="720" dirty="0"/>
          </a:p>
        </p:txBody>
      </p:sp>
      <p:pic>
        <p:nvPicPr>
          <p:cNvPr id="20" name="Image 1" descr="/home/user/philippe1/build/deco/sol-rhone.png">    </p:cNvPr>
          <p:cNvPicPr>
            <a:picLocks noChangeAspect="1"/>
          </p:cNvPicPr>
          <p:nvPr/>
        </p:nvPicPr>
        <p:blipFill>
          <a:blip r:embed="rId2"/>
          <a:stretch>
            <a:fillRect/>
          </a:stretch>
        </p:blipFill>
        <p:spPr>
          <a:xfrm>
            <a:off x="828000" y="6276164"/>
            <a:ext cx="6120000" cy="1148400"/>
          </a:xfrm>
          <a:prstGeom prst="rect">
            <a:avLst/>
          </a:prstGeom>
        </p:spPr>
      </p:pic>
      <p:sp>
        <p:nvSpPr>
          <p:cNvPr id="21" name="Text 16"/>
          <p:cNvSpPr/>
          <p:nvPr/>
        </p:nvSpPr>
        <p:spPr>
          <a:xfrm>
            <a:off x="828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pPr indent="0" marL="0">
              <a:buNone/>
            </a:pPr>
            <a:r>
              <a:rPr lang="en-US" sz="740" dirty="0">
                <a:solidFill>
                  <a:srgbClr val="46606E"/>
                </a:solidFill>
                <a:latin typeface="IBM Plex Sans" pitchFamily="34" charset="0"/>
                <a:ea typeface="IBM Plex Sans" pitchFamily="34" charset="-122"/>
                <a:cs typeface="IBM Plex Sans" pitchFamily="34" charset="-120"/>
              </a:rPr>
              <a:t>Les quatre domaines Strasser Radziwill — n°16 p. 31 · n°17 p. 32 · n°18 p. 33</a:t>
            </a:r>
            <a:endParaRPr lang="en-US" sz="740" dirty="0"/>
          </a:p>
        </p:txBody>
      </p:sp>
      <p:sp>
        <p:nvSpPr>
          <p:cNvPr id="22" name="Shape 17"/>
          <p:cNvSpPr/>
          <p:nvPr/>
        </p:nvSpPr>
        <p:spPr>
          <a:xfrm>
            <a:off x="828000" y="8388000"/>
            <a:ext cx="6120000" cy="0"/>
          </a:xfrm>
          <a:prstGeom prst="line">
            <a:avLst/>
          </a:prstGeom>
          <a:noFill/>
          <a:ln w="8890">
            <a:solidFill>
              <a:srgbClr val="46606E"/>
            </a:solidFill>
            <a:prstDash val="solid"/>
          </a:ln>
        </p:spPr>
      </p:sp>
      <p:sp>
        <p:nvSpPr>
          <p:cNvPr id="23" name="Text 18"/>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4" name="Text 19"/>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20"/>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pictos de l’Agence SCIO, pas les logos officiels</a:t>
            </a:r>
            <a:endParaRPr lang="en-US" sz="650" dirty="0"/>
          </a:p>
        </p:txBody>
      </p:sp>
      <p:sp>
        <p:nvSpPr>
          <p:cNvPr id="26" name="Text 21"/>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34</a:t>
            </a:r>
            <a:endParaRPr lang="en-US" sz="750" dirty="0"/>
          </a:p>
        </p:txBody>
      </p:sp>
      <p:sp>
        <p:nvSpPr>
          <p:cNvPr id="27" name="Text 22"/>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rho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20</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des Pasquiers</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RHÔNE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030051"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0300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494725"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4947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6 références</a:t>
            </a:r>
            <a:endParaRPr lang="en-US" sz="720" dirty="0"/>
          </a:p>
        </p:txBody>
      </p:sp>
      <p:sp>
        <p:nvSpPr>
          <p:cNvPr id="13" name="Shape 10"/>
          <p:cNvSpPr/>
          <p:nvPr/>
        </p:nvSpPr>
        <p:spPr>
          <a:xfrm>
            <a:off x="612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275" dirty="0">
                <a:solidFill>
                  <a:srgbClr val="46606E"/>
                </a:solidFill>
                <a:latin typeface="Spectral" pitchFamily="34" charset="0"/>
                <a:ea typeface="Spectral" pitchFamily="34" charset="-122"/>
                <a:cs typeface="Spectral" pitchFamily="34" charset="-120"/>
              </a:rPr>
              <a:t>Depuis 1935, le Domaine des Pasquiers, un lieu viticole de 87 hectares, est niché au cœur de plusieurs appellations prestigieuses de Provence. La propriété tisse l'histoire de la vigne depuis quatre générations avec passion, s'orientant vers une viticulture biologique pour promouvoir la durabilité et le respect de la terre.</a:t>
            </a:r>
            <a:endParaRPr lang="en-US" sz="1275"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5300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Pays de Vaucluse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Côtes du Rhône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CDR villages Plan de Dieu</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CDR villages Sablet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CDR villages Sablet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7,25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Gigondas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Text 15"/>
          <p:cNvSpPr/>
          <p:nvPr/>
        </p:nvSpPr>
        <p:spPr>
          <a:xfrm>
            <a:off x="612000" y="5690265"/>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RHÔNE — SABLES, GRÈS ET TRIAS</a:t>
            </a:r>
            <a:endParaRPr lang="en-US" sz="720" dirty="0"/>
          </a:p>
        </p:txBody>
      </p:sp>
      <p:pic>
        <p:nvPicPr>
          <p:cNvPr id="20" name="Image 1" descr="/home/user/philippe1/build/deco/sol-rhone.png">    </p:cNvPr>
          <p:cNvPicPr>
            <a:picLocks noChangeAspect="1"/>
          </p:cNvPicPr>
          <p:nvPr/>
        </p:nvPicPr>
        <p:blipFill>
          <a:blip r:embed="rId2"/>
          <a:stretch>
            <a:fillRect/>
          </a:stretch>
        </p:blipFill>
        <p:spPr>
          <a:xfrm>
            <a:off x="612000" y="5837865"/>
            <a:ext cx="6120000" cy="1341608"/>
          </a:xfrm>
          <a:prstGeom prst="rect">
            <a:avLst/>
          </a:prstGeom>
        </p:spPr>
      </p:pic>
      <p:sp>
        <p:nvSpPr>
          <p:cNvPr id="21" name="Shape 16"/>
          <p:cNvSpPr/>
          <p:nvPr/>
        </p:nvSpPr>
        <p:spPr>
          <a:xfrm>
            <a:off x="612000" y="8388000"/>
            <a:ext cx="6120000" cy="0"/>
          </a:xfrm>
          <a:prstGeom prst="line">
            <a:avLst/>
          </a:prstGeom>
          <a:noFill/>
          <a:ln w="8890">
            <a:solidFill>
              <a:srgbClr val="46606E"/>
            </a:solidFill>
            <a:prstDash val="solid"/>
          </a:ln>
        </p:spPr>
      </p:sp>
      <p:sp>
        <p:nvSpPr>
          <p:cNvPr id="22" name="Text 17"/>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3" name="Text 18"/>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4" name="Text 19"/>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5" name="Text 2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35</a:t>
            </a:r>
            <a:endParaRPr lang="en-US" sz="750" dirty="0"/>
          </a:p>
        </p:txBody>
      </p:sp>
      <p:sp>
        <p:nvSpPr>
          <p:cNvPr id="26" name="Text 2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rho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21</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Trichon</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RHÔNE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2460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710725"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7107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 références</a:t>
            </a:r>
            <a:endParaRPr lang="en-US" sz="720" dirty="0"/>
          </a:p>
        </p:txBody>
      </p:sp>
      <p:sp>
        <p:nvSpPr>
          <p:cNvPr id="13" name="Shape 10"/>
          <p:cNvSpPr/>
          <p:nvPr/>
        </p:nvSpPr>
        <p:spPr>
          <a:xfrm>
            <a:off x="828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448000" y="1357200"/>
            <a:ext cx="3456000" cy="2231900"/>
          </a:xfrm>
          <a:prstGeom prst="rect">
            <a:avLst/>
          </a:prstGeom>
          <a:noFill/>
          <a:ln/>
        </p:spPr>
        <p:txBody>
          <a:bodyPr wrap="square" lIns="0" tIns="0" rIns="0" bIns="0" rtlCol="0" anchor="ctr"/>
          <a:lstStyle/>
          <a:p>
            <a:pPr indent="0" marL="0">
              <a:lnSpc>
                <a:spcPct val="142000"/>
              </a:lnSpc>
              <a:buNone/>
            </a:pPr>
            <a:r>
              <a:rPr lang="en-US" sz="1175" dirty="0">
                <a:solidFill>
                  <a:srgbClr val="46606E"/>
                </a:solidFill>
                <a:latin typeface="Spectral" pitchFamily="34" charset="0"/>
                <a:ea typeface="Spectral" pitchFamily="34" charset="-122"/>
                <a:cs typeface="Spectral" pitchFamily="34" charset="-120"/>
              </a:rPr>
              <a:t>Les Vignobles Trichon-Bernard réunissent deux terroirs certifiés en agriculture biologique. Les Côtes du Rhône méridionales donnent le Grenache, la Syrah, le Mourvèdre, la Clairette, le Muscat et le Viognier ; le Bugey donne le Chardonnay, l’Altesse, le Gamay, le Pinot Noir et la Mondeuse. Claire et Stéphane allient leurs savoir-faire à la vigne et dans la création des cuvées.</a:t>
            </a:r>
            <a:endParaRPr lang="en-US" sz="1175"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cols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cols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600 cols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Côtes du Rhône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Côtes du Rhône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4,67</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4,54</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Vacqueyras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Vacqueyras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9,55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9,12</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8,68</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Vacqueyras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Vacqueyras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9,35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8,93</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Text 15"/>
          <p:cNvSpPr/>
          <p:nvPr/>
        </p:nvSpPr>
        <p:spPr>
          <a:xfrm>
            <a:off x="828000" y="5359123"/>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RHÔNE — SABLES, GRÈS ET TRIAS</a:t>
            </a:r>
            <a:endParaRPr lang="en-US" sz="720" dirty="0"/>
          </a:p>
        </p:txBody>
      </p:sp>
      <p:pic>
        <p:nvPicPr>
          <p:cNvPr id="20" name="Image 1" descr="/home/user/philippe1/build/deco/sol-rhone.png">    </p:cNvPr>
          <p:cNvPicPr>
            <a:picLocks noChangeAspect="1"/>
          </p:cNvPicPr>
          <p:nvPr/>
        </p:nvPicPr>
        <p:blipFill>
          <a:blip r:embed="rId2"/>
          <a:stretch>
            <a:fillRect/>
          </a:stretch>
        </p:blipFill>
        <p:spPr>
          <a:xfrm>
            <a:off x="828000" y="5506723"/>
            <a:ext cx="6120000" cy="1540294"/>
          </a:xfrm>
          <a:prstGeom prst="rect">
            <a:avLst/>
          </a:prstGeom>
        </p:spPr>
      </p:pic>
      <p:sp>
        <p:nvSpPr>
          <p:cNvPr id="21" name="Shape 16"/>
          <p:cNvSpPr/>
          <p:nvPr/>
        </p:nvSpPr>
        <p:spPr>
          <a:xfrm>
            <a:off x="828000" y="8388000"/>
            <a:ext cx="6120000" cy="0"/>
          </a:xfrm>
          <a:prstGeom prst="line">
            <a:avLst/>
          </a:prstGeom>
          <a:noFill/>
          <a:ln w="8890">
            <a:solidFill>
              <a:srgbClr val="46606E"/>
            </a:solidFill>
            <a:prstDash val="solid"/>
          </a:ln>
        </p:spPr>
      </p:sp>
      <p:sp>
        <p:nvSpPr>
          <p:cNvPr id="22" name="Text 17"/>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départ cave.</a:t>
            </a:r>
            <a:endParaRPr lang="en-US" sz="720" dirty="0"/>
          </a:p>
        </p:txBody>
      </p:sp>
      <p:sp>
        <p:nvSpPr>
          <p:cNvPr id="23" name="Text 18"/>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4" name="Text 19"/>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5"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36</a:t>
            </a:r>
            <a:endParaRPr lang="en-US" sz="750" dirty="0"/>
          </a:p>
        </p:txBody>
      </p:sp>
      <p:sp>
        <p:nvSpPr>
          <p:cNvPr id="26"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46606E"/>
        </a:solidFill>
      </p:bgPr>
    </p:bg>
    <p:spTree>
      <p:nvGrpSpPr>
        <p:cNvPr id="1" name=""/>
        <p:cNvGrpSpPr/>
        <p:nvPr/>
      </p:nvGrpSpPr>
      <p:grpSpPr>
        <a:xfrm>
          <a:off x="0" y="0"/>
          <a:ext cx="0" cy="0"/>
          <a:chOff x="0" y="0"/>
          <a:chExt cx="0" cy="0"/>
        </a:xfrm>
      </p:grpSpPr>
      <p:pic>
        <p:nvPicPr>
          <p:cNvPr id="2" name="Image 0" descr="/home/user/philippe1/build/deco/ouverture-sud-ouest.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rotte-sud-ouest.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SUD-OUEST</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6 / 10</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Sud-Ouest</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sables fauves et fossiles marins</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3</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40</a:t>
            </a:r>
            <a:endParaRPr lang="en-US" sz="2000" dirty="0"/>
          </a:p>
        </p:txBody>
      </p:sp>
      <p:sp>
        <p:nvSpPr>
          <p:cNvPr id="11" name="Text 7"/>
          <p:cNvSpPr/>
          <p:nvPr/>
        </p:nvSpPr>
        <p:spPr>
          <a:xfrm>
            <a:off x="1620000" y="6660000"/>
            <a:ext cx="936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22   </a:t>
            </a:r>
            <a:pPr indent="0" marL="0">
              <a:buNone/>
            </a:pPr>
            <a:r>
              <a:rPr lang="en-US" sz="860" dirty="0">
                <a:solidFill>
                  <a:srgbClr val="FBF8F1"/>
                </a:solidFill>
                <a:latin typeface="IBM Plex Sans" pitchFamily="34" charset="0"/>
                <a:ea typeface="IBM Plex Sans" pitchFamily="34" charset="-122"/>
                <a:cs typeface="IBM Plex Sans" pitchFamily="34" charset="-120"/>
              </a:rPr>
              <a:t>Domaine Stratéus</a:t>
            </a:r>
            <a:pPr indent="0" marL="0">
              <a:buNone/>
            </a:pPr>
            <a:r>
              <a:rPr lang="en-US" sz="860" b="1" dirty="0">
                <a:solidFill>
                  <a:srgbClr val="FBF8F1"/>
                </a:solidFill>
                <a:latin typeface="IBM Plex Sans" pitchFamily="34" charset="0"/>
                <a:ea typeface="IBM Plex Sans" pitchFamily="34" charset="-122"/>
                <a:cs typeface="IBM Plex Sans" pitchFamily="34" charset="-120"/>
              </a:rPr>
              <a:t>   38</a:t>
            </a:r>
            <a:endParaRPr lang="en-US" sz="860" dirty="0"/>
          </a:p>
        </p:txBody>
      </p:sp>
      <p:sp>
        <p:nvSpPr>
          <p:cNvPr id="13" name="Text 9"/>
          <p:cNvSpPr/>
          <p:nvPr/>
        </p:nvSpPr>
        <p:spPr>
          <a:xfrm>
            <a:off x="367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23   </a:t>
            </a:r>
            <a:pPr indent="0" marL="0">
              <a:buNone/>
            </a:pPr>
            <a:r>
              <a:rPr lang="en-US" sz="860" dirty="0">
                <a:solidFill>
                  <a:srgbClr val="FBF8F1"/>
                </a:solidFill>
                <a:latin typeface="IBM Plex Sans" pitchFamily="34" charset="0"/>
                <a:ea typeface="IBM Plex Sans" pitchFamily="34" charset="-122"/>
                <a:cs typeface="IBM Plex Sans" pitchFamily="34" charset="-120"/>
              </a:rPr>
              <a:t>Domaine Haut Marin</a:t>
            </a:r>
            <a:pPr indent="0" marL="0">
              <a:buNone/>
            </a:pPr>
            <a:r>
              <a:rPr lang="en-US" sz="860" b="1" dirty="0">
                <a:solidFill>
                  <a:srgbClr val="FBF8F1"/>
                </a:solidFill>
                <a:latin typeface="IBM Plex Sans" pitchFamily="34" charset="0"/>
                <a:ea typeface="IBM Plex Sans" pitchFamily="34" charset="-122"/>
                <a:cs typeface="IBM Plex Sans" pitchFamily="34" charset="-120"/>
              </a:rPr>
              <a:t>   39</a:t>
            </a:r>
            <a:endParaRPr lang="en-US" sz="860" dirty="0"/>
          </a:p>
        </p:txBody>
      </p:sp>
      <p:sp>
        <p:nvSpPr>
          <p:cNvPr id="14" name="Text 10"/>
          <p:cNvSpPr/>
          <p:nvPr/>
        </p:nvSpPr>
        <p:spPr>
          <a:xfrm>
            <a:off x="61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24   </a:t>
            </a:r>
            <a:pPr indent="0" marL="0">
              <a:buNone/>
            </a:pPr>
            <a:r>
              <a:rPr lang="en-US" sz="860" dirty="0">
                <a:solidFill>
                  <a:srgbClr val="FBF8F1"/>
                </a:solidFill>
                <a:latin typeface="IBM Plex Sans" pitchFamily="34" charset="0"/>
                <a:ea typeface="IBM Plex Sans" pitchFamily="34" charset="-122"/>
                <a:cs typeface="IBM Plex Sans" pitchFamily="34" charset="-120"/>
              </a:rPr>
              <a:t>Fabien Castaing</a:t>
            </a:r>
            <a:pPr indent="0" marL="0">
              <a:buNone/>
            </a:pPr>
            <a:r>
              <a:rPr lang="en-US" sz="860" b="1" dirty="0">
                <a:solidFill>
                  <a:srgbClr val="FBF8F1"/>
                </a:solidFill>
                <a:latin typeface="IBM Plex Sans" pitchFamily="34" charset="0"/>
                <a:ea typeface="IBM Plex Sans" pitchFamily="34" charset="-122"/>
                <a:cs typeface="IBM Plex Sans" pitchFamily="34" charset="-120"/>
              </a:rPr>
              <a:t>   41</a:t>
            </a:r>
            <a:endParaRPr lang="en-US" sz="860" dirty="0"/>
          </a:p>
        </p:txBody>
      </p:sp>
      <p:sp>
        <p:nvSpPr>
          <p:cNvPr id="15" name="Text 11"/>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37</a:t>
            </a:r>
            <a:endParaRPr lang="en-US" sz="750" dirty="0"/>
          </a:p>
        </p:txBody>
      </p:sp>
      <p:sp>
        <p:nvSpPr>
          <p:cNvPr id="16" name="Text 12"/>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sud-ouest.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SUD-OUEST</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22</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Stratéus</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SUD-OUEST</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630911" cy="180000"/>
          </a:xfrm>
          <a:prstGeom prst="roundRect">
            <a:avLst>
              <a:gd name="adj" fmla="val 10160"/>
            </a:avLst>
          </a:prstGeom>
          <a:solidFill>
            <a:srgbClr val="67067C"/>
          </a:solidFill>
          <a:ln w="8890">
            <a:solidFill>
              <a:srgbClr val="67067C"/>
            </a:solidFill>
            <a:prstDash val="solid"/>
          </a:ln>
        </p:spPr>
      </p:sp>
      <p:sp>
        <p:nvSpPr>
          <p:cNvPr id="10" name="Text 7"/>
          <p:cNvSpPr/>
          <p:nvPr/>
        </p:nvSpPr>
        <p:spPr>
          <a:xfrm>
            <a:off x="1246051"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1" name="Shape 8"/>
          <p:cNvSpPr/>
          <p:nvPr/>
        </p:nvSpPr>
        <p:spPr>
          <a:xfrm>
            <a:off x="1956162" y="1047600"/>
            <a:ext cx="1385474" cy="180000"/>
          </a:xfrm>
          <a:prstGeom prst="roundRect">
            <a:avLst>
              <a:gd name="adj" fmla="val 10160"/>
            </a:avLst>
          </a:prstGeom>
          <a:solidFill>
            <a:srgbClr val="F2EADA"/>
          </a:solidFill>
          <a:ln w="8890">
            <a:solidFill>
              <a:srgbClr val="A8515F"/>
            </a:solidFill>
            <a:prstDash val="solid"/>
          </a:ln>
        </p:spPr>
      </p:sp>
      <p:sp>
        <p:nvSpPr>
          <p:cNvPr id="12" name="Text 9"/>
          <p:cNvSpPr/>
          <p:nvPr/>
        </p:nvSpPr>
        <p:spPr>
          <a:xfrm>
            <a:off x="1956162"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3" name="Shape 10"/>
          <p:cNvSpPr/>
          <p:nvPr/>
        </p:nvSpPr>
        <p:spPr>
          <a:xfrm>
            <a:off x="3420836" y="1047600"/>
            <a:ext cx="732318" cy="180000"/>
          </a:xfrm>
          <a:prstGeom prst="roundRect">
            <a:avLst>
              <a:gd name="adj" fmla="val 10160"/>
            </a:avLst>
          </a:prstGeom>
          <a:solidFill>
            <a:srgbClr val="F2EADA"/>
          </a:solidFill>
          <a:ln w="8890">
            <a:solidFill>
              <a:srgbClr val="46606E"/>
            </a:solidFill>
            <a:prstDash val="solid"/>
          </a:ln>
        </p:spPr>
      </p:sp>
      <p:sp>
        <p:nvSpPr>
          <p:cNvPr id="14" name="Text 11"/>
          <p:cNvSpPr/>
          <p:nvPr/>
        </p:nvSpPr>
        <p:spPr>
          <a:xfrm>
            <a:off x="3420836"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6 références</a:t>
            </a:r>
            <a:endParaRPr lang="en-US" sz="720" dirty="0"/>
          </a:p>
        </p:txBody>
      </p:sp>
      <p:sp>
        <p:nvSpPr>
          <p:cNvPr id="15" name="Shape 12"/>
          <p:cNvSpPr/>
          <p:nvPr/>
        </p:nvSpPr>
        <p:spPr>
          <a:xfrm>
            <a:off x="828000" y="1357200"/>
            <a:ext cx="1440000" cy="1440000"/>
          </a:xfrm>
          <a:prstGeom prst="ellipse">
            <a:avLst/>
          </a:prstGeom>
          <a:solidFill>
            <a:srgbClr val="F2EADA"/>
          </a:solidFill>
          <a:ln w="12700">
            <a:solidFill>
              <a:srgbClr val="46606E"/>
            </a:solidFill>
            <a:prstDash val="dash"/>
          </a:ln>
        </p:spPr>
      </p:sp>
      <p:sp>
        <p:nvSpPr>
          <p:cNvPr id="16" name="Text 13"/>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7" name="Shape 14"/>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8" name="Text 15"/>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9" name="Text 16"/>
          <p:cNvSpPr/>
          <p:nvPr/>
        </p:nvSpPr>
        <p:spPr>
          <a:xfrm>
            <a:off x="2448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Né de la transmission d’une vigne de 80 ans en Madiran par son grand-père, le projet de Simon cultive la rareté : produire peu pour produire sain. Environ six hectares en Madiran et Pacherenc-du-Vic-Bilh, en symbiose avec un élevage de bœufs Angus sur la ferme.</a:t>
            </a:r>
            <a:endParaRPr lang="en-US" sz="13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Madiran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Koloss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Madiran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Strateus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Pacherenc du Vic-Bilh Sec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Strateus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VDF</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Koloss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VDF</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Strateus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Madiran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Néolitik</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1" name="Text 17"/>
          <p:cNvSpPr/>
          <p:nvPr/>
        </p:nvSpPr>
        <p:spPr>
          <a:xfrm>
            <a:off x="828000" y="6513285"/>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SUD-OUEST — SABLES FAUVES ET FOSSILES MARINS</a:t>
            </a:r>
            <a:endParaRPr lang="en-US" sz="720" dirty="0"/>
          </a:p>
        </p:txBody>
      </p:sp>
      <p:pic>
        <p:nvPicPr>
          <p:cNvPr id="22" name="Image 1" descr="/home/user/philippe1/build/deco/sol-sud-ouest.png">    </p:cNvPr>
          <p:cNvPicPr>
            <a:picLocks noChangeAspect="1"/>
          </p:cNvPicPr>
          <p:nvPr/>
        </p:nvPicPr>
        <p:blipFill>
          <a:blip r:embed="rId2"/>
          <a:stretch>
            <a:fillRect/>
          </a:stretch>
        </p:blipFill>
        <p:spPr>
          <a:xfrm>
            <a:off x="828000" y="6660885"/>
            <a:ext cx="6120000" cy="1148400"/>
          </a:xfrm>
          <a:prstGeom prst="rect">
            <a:avLst/>
          </a:prstGeom>
        </p:spPr>
      </p:pic>
      <p:sp>
        <p:nvSpPr>
          <p:cNvPr id="23" name="Shape 18"/>
          <p:cNvSpPr/>
          <p:nvPr/>
        </p:nvSpPr>
        <p:spPr>
          <a:xfrm>
            <a:off x="828000" y="8388000"/>
            <a:ext cx="6120000" cy="0"/>
          </a:xfrm>
          <a:prstGeom prst="line">
            <a:avLst/>
          </a:prstGeom>
          <a:noFill/>
          <a:ln w="8890">
            <a:solidFill>
              <a:srgbClr val="46606E"/>
            </a:solidFill>
            <a:prstDash val="solid"/>
          </a:ln>
        </p:spPr>
      </p:sp>
      <p:sp>
        <p:nvSpPr>
          <p:cNvPr id="24" name="Text 19"/>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Franco de port.</a:t>
            </a:r>
            <a:endParaRPr lang="en-US" sz="720" dirty="0"/>
          </a:p>
        </p:txBody>
      </p:sp>
      <p:sp>
        <p:nvSpPr>
          <p:cNvPr id="25" name="Text 20"/>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6" name="Text 21"/>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 Doux     pictos de l’Agence SCIO, pas les logos officiels</a:t>
            </a:r>
            <a:endParaRPr lang="en-US" sz="650" dirty="0"/>
          </a:p>
        </p:txBody>
      </p:sp>
      <p:sp>
        <p:nvSpPr>
          <p:cNvPr id="27" name="Text 22"/>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38</a:t>
            </a:r>
            <a:endParaRPr lang="en-US" sz="750" dirty="0"/>
          </a:p>
        </p:txBody>
      </p:sp>
      <p:sp>
        <p:nvSpPr>
          <p:cNvPr id="28" name="Text 23"/>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sud-ouest.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SUD-OUEST</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23</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Haut Marin</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SUD-OUEST</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63997"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63997"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IGP</a:t>
            </a:r>
            <a:endParaRPr lang="en-US" sz="720" dirty="0"/>
          </a:p>
        </p:txBody>
      </p:sp>
      <p:sp>
        <p:nvSpPr>
          <p:cNvPr id="9" name="Shape 6"/>
          <p:cNvSpPr/>
          <p:nvPr/>
        </p:nvSpPr>
        <p:spPr>
          <a:xfrm>
            <a:off x="1055197" y="1047600"/>
            <a:ext cx="380548" cy="180000"/>
          </a:xfrm>
          <a:prstGeom prst="roundRect">
            <a:avLst>
              <a:gd name="adj" fmla="val 10160"/>
            </a:avLst>
          </a:prstGeom>
          <a:solidFill>
            <a:srgbClr val="F2EADA"/>
          </a:solidFill>
          <a:ln w="8890">
            <a:solidFill>
              <a:srgbClr val="3C5B47"/>
            </a:solidFill>
            <a:prstDash val="solid"/>
          </a:ln>
        </p:spPr>
      </p:sp>
      <p:sp>
        <p:nvSpPr>
          <p:cNvPr id="10" name="Text 7"/>
          <p:cNvSpPr/>
          <p:nvPr/>
        </p:nvSpPr>
        <p:spPr>
          <a:xfrm>
            <a:off x="1055197"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1" name="Shape 8"/>
          <p:cNvSpPr/>
          <p:nvPr/>
        </p:nvSpPr>
        <p:spPr>
          <a:xfrm>
            <a:off x="1514946" y="1047600"/>
            <a:ext cx="1385474" cy="180000"/>
          </a:xfrm>
          <a:prstGeom prst="roundRect">
            <a:avLst>
              <a:gd name="adj" fmla="val 10160"/>
            </a:avLst>
          </a:prstGeom>
          <a:solidFill>
            <a:srgbClr val="F2EADA"/>
          </a:solidFill>
          <a:ln w="8890">
            <a:solidFill>
              <a:srgbClr val="A8515F"/>
            </a:solidFill>
            <a:prstDash val="solid"/>
          </a:ln>
        </p:spPr>
      </p:sp>
      <p:sp>
        <p:nvSpPr>
          <p:cNvPr id="12" name="Text 9"/>
          <p:cNvSpPr/>
          <p:nvPr/>
        </p:nvSpPr>
        <p:spPr>
          <a:xfrm>
            <a:off x="1514946"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3" name="Shape 10"/>
          <p:cNvSpPr/>
          <p:nvPr/>
        </p:nvSpPr>
        <p:spPr>
          <a:xfrm>
            <a:off x="2979619" y="1047600"/>
            <a:ext cx="864357" cy="180000"/>
          </a:xfrm>
          <a:prstGeom prst="roundRect">
            <a:avLst>
              <a:gd name="adj" fmla="val 10160"/>
            </a:avLst>
          </a:prstGeom>
          <a:solidFill>
            <a:srgbClr val="D08C3C"/>
          </a:solidFill>
          <a:ln w="8890">
            <a:solidFill>
              <a:srgbClr val="D08C3C"/>
            </a:solidFill>
            <a:prstDash val="solid"/>
          </a:ln>
        </p:spPr>
      </p:sp>
      <p:sp>
        <p:nvSpPr>
          <p:cNvPr id="14" name="Text 11"/>
          <p:cNvSpPr/>
          <p:nvPr/>
        </p:nvSpPr>
        <p:spPr>
          <a:xfrm>
            <a:off x="2979619" y="1047600"/>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5" name="Shape 12"/>
          <p:cNvSpPr/>
          <p:nvPr/>
        </p:nvSpPr>
        <p:spPr>
          <a:xfrm>
            <a:off x="3923176" y="1047600"/>
            <a:ext cx="787182" cy="180000"/>
          </a:xfrm>
          <a:prstGeom prst="roundRect">
            <a:avLst>
              <a:gd name="adj" fmla="val 10160"/>
            </a:avLst>
          </a:prstGeom>
          <a:solidFill>
            <a:srgbClr val="F2EADA"/>
          </a:solidFill>
          <a:ln w="8890">
            <a:solidFill>
              <a:srgbClr val="46606E"/>
            </a:solidFill>
            <a:prstDash val="solid"/>
          </a:ln>
        </p:spPr>
      </p:sp>
      <p:sp>
        <p:nvSpPr>
          <p:cNvPr id="16" name="Text 13"/>
          <p:cNvSpPr/>
          <p:nvPr/>
        </p:nvSpPr>
        <p:spPr>
          <a:xfrm>
            <a:off x="3923176"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21 références</a:t>
            </a:r>
            <a:endParaRPr lang="en-US" sz="720" dirty="0"/>
          </a:p>
        </p:txBody>
      </p:sp>
      <p:sp>
        <p:nvSpPr>
          <p:cNvPr id="17" name="Shape 14"/>
          <p:cNvSpPr/>
          <p:nvPr/>
        </p:nvSpPr>
        <p:spPr>
          <a:xfrm>
            <a:off x="612000" y="1357200"/>
            <a:ext cx="1440000" cy="1440000"/>
          </a:xfrm>
          <a:prstGeom prst="ellipse">
            <a:avLst/>
          </a:prstGeom>
          <a:solidFill>
            <a:srgbClr val="F2EADA"/>
          </a:solidFill>
          <a:ln w="12700">
            <a:solidFill>
              <a:srgbClr val="46606E"/>
            </a:solidFill>
            <a:prstDash val="dash"/>
          </a:ln>
        </p:spPr>
      </p:sp>
      <p:sp>
        <p:nvSpPr>
          <p:cNvPr id="18" name="Text 15"/>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9" name="Shape 16"/>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20" name="Text 17"/>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21" name="Text 18"/>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En plein cœur de la Gascogne à Gondrin, les familles Jegerlehner et Prataviera subliment sables fauves et sous-sols argilo-calcaires riches en fossiles marins. Cette fraîcheur insuffle aux cépages gascons éclat aromatique et vivacité saline. IGP Côtes de Gascogne et Bas-Armagnacs.</a:t>
            </a:r>
            <a:endParaRPr lang="en-US" sz="13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407194">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72 bouteilles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bouteilles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600 bouteilles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N°1 Littorine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2,68</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2,28</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N°2 Amande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2,79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2,38</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N°6 Fossiles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2,91</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Cuvée Denise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3,74</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3,63</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3,18</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N°7 Venus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3,08</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N°8 Grand Pavois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3,98</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3,87</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N°3 Gulf Stream</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2,91</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N°4 Triton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2,91</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Cuvée Philippe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3,31</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3,22</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2,84</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3" name="Shape 19"/>
          <p:cNvSpPr/>
          <p:nvPr/>
        </p:nvSpPr>
        <p:spPr>
          <a:xfrm>
            <a:off x="612000" y="8388000"/>
            <a:ext cx="6120000" cy="0"/>
          </a:xfrm>
          <a:prstGeom prst="line">
            <a:avLst/>
          </a:prstGeom>
          <a:noFill/>
          <a:ln w="8890">
            <a:solidFill>
              <a:srgbClr val="46606E"/>
            </a:solidFill>
            <a:prstDash val="solid"/>
          </a:ln>
        </p:spPr>
      </p:sp>
      <p:sp>
        <p:nvSpPr>
          <p:cNvPr id="24" name="Text 20"/>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5" name="Text 21"/>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16 · 17 · 44 · 79 · 85</a:t>
            </a:r>
            <a:endParaRPr lang="en-US" sz="720" dirty="0"/>
          </a:p>
        </p:txBody>
      </p:sp>
      <p:sp>
        <p:nvSpPr>
          <p:cNvPr id="26" name="Text 22"/>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Rosé    ● Rouge    ● Doux    ● Spiritueux     pictos de l’Agence SCIO, pas les logos officiels</a:t>
            </a:r>
            <a:endParaRPr lang="en-US" sz="650" dirty="0"/>
          </a:p>
        </p:txBody>
      </p:sp>
      <p:sp>
        <p:nvSpPr>
          <p:cNvPr id="27" name="Text 23"/>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39</a:t>
            </a:r>
            <a:endParaRPr lang="en-US" sz="750" dirty="0"/>
          </a:p>
        </p:txBody>
      </p:sp>
      <p:sp>
        <p:nvSpPr>
          <p:cNvPr id="28" name="Text 24"/>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sud-ouest.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SUD-OUEST</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23</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Haut Marin</a:t>
            </a:r>
            <a:pPr indent="0" marL="0">
              <a:lnSpc>
                <a:spcPct val="104000"/>
              </a:lnSpc>
              <a:buNone/>
            </a:pP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SUD-OUEST</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63997"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63997"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IGP</a:t>
            </a:r>
            <a:endParaRPr lang="en-US" sz="720" dirty="0"/>
          </a:p>
        </p:txBody>
      </p:sp>
      <p:sp>
        <p:nvSpPr>
          <p:cNvPr id="9" name="Shape 6"/>
          <p:cNvSpPr/>
          <p:nvPr/>
        </p:nvSpPr>
        <p:spPr>
          <a:xfrm>
            <a:off x="1271197" y="1047600"/>
            <a:ext cx="380548" cy="180000"/>
          </a:xfrm>
          <a:prstGeom prst="roundRect">
            <a:avLst>
              <a:gd name="adj" fmla="val 10160"/>
            </a:avLst>
          </a:prstGeom>
          <a:solidFill>
            <a:srgbClr val="F2EADA"/>
          </a:solidFill>
          <a:ln w="8890">
            <a:solidFill>
              <a:srgbClr val="3C5B47"/>
            </a:solidFill>
            <a:prstDash val="solid"/>
          </a:ln>
        </p:spPr>
      </p:sp>
      <p:sp>
        <p:nvSpPr>
          <p:cNvPr id="10" name="Text 7"/>
          <p:cNvSpPr/>
          <p:nvPr/>
        </p:nvSpPr>
        <p:spPr>
          <a:xfrm>
            <a:off x="1271197"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1" name="Shape 8"/>
          <p:cNvSpPr/>
          <p:nvPr/>
        </p:nvSpPr>
        <p:spPr>
          <a:xfrm>
            <a:off x="1730946" y="1047600"/>
            <a:ext cx="1385474" cy="180000"/>
          </a:xfrm>
          <a:prstGeom prst="roundRect">
            <a:avLst>
              <a:gd name="adj" fmla="val 10160"/>
            </a:avLst>
          </a:prstGeom>
          <a:solidFill>
            <a:srgbClr val="F2EADA"/>
          </a:solidFill>
          <a:ln w="8890">
            <a:solidFill>
              <a:srgbClr val="A8515F"/>
            </a:solidFill>
            <a:prstDash val="solid"/>
          </a:ln>
        </p:spPr>
      </p:sp>
      <p:sp>
        <p:nvSpPr>
          <p:cNvPr id="12" name="Text 9"/>
          <p:cNvSpPr/>
          <p:nvPr/>
        </p:nvSpPr>
        <p:spPr>
          <a:xfrm>
            <a:off x="1730946"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3" name="Shape 10"/>
          <p:cNvSpPr/>
          <p:nvPr/>
        </p:nvSpPr>
        <p:spPr>
          <a:xfrm>
            <a:off x="3195619" y="1047600"/>
            <a:ext cx="864357" cy="180000"/>
          </a:xfrm>
          <a:prstGeom prst="roundRect">
            <a:avLst>
              <a:gd name="adj" fmla="val 10160"/>
            </a:avLst>
          </a:prstGeom>
          <a:solidFill>
            <a:srgbClr val="D08C3C"/>
          </a:solidFill>
          <a:ln w="8890">
            <a:solidFill>
              <a:srgbClr val="D08C3C"/>
            </a:solidFill>
            <a:prstDash val="solid"/>
          </a:ln>
        </p:spPr>
      </p:sp>
      <p:sp>
        <p:nvSpPr>
          <p:cNvPr id="14" name="Text 11"/>
          <p:cNvSpPr/>
          <p:nvPr/>
        </p:nvSpPr>
        <p:spPr>
          <a:xfrm>
            <a:off x="3195619" y="1047600"/>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5" name="Shape 12"/>
          <p:cNvSpPr/>
          <p:nvPr/>
        </p:nvSpPr>
        <p:spPr>
          <a:xfrm>
            <a:off x="4139176" y="1047600"/>
            <a:ext cx="787182" cy="180000"/>
          </a:xfrm>
          <a:prstGeom prst="roundRect">
            <a:avLst>
              <a:gd name="adj" fmla="val 10160"/>
            </a:avLst>
          </a:prstGeom>
          <a:solidFill>
            <a:srgbClr val="F2EADA"/>
          </a:solidFill>
          <a:ln w="8890">
            <a:solidFill>
              <a:srgbClr val="46606E"/>
            </a:solidFill>
            <a:prstDash val="solid"/>
          </a:ln>
        </p:spPr>
      </p:sp>
      <p:sp>
        <p:nvSpPr>
          <p:cNvPr id="16" name="Text 13"/>
          <p:cNvSpPr/>
          <p:nvPr/>
        </p:nvSpPr>
        <p:spPr>
          <a:xfrm>
            <a:off x="4139176"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21 références</a:t>
            </a:r>
            <a:endParaRPr lang="en-US" sz="72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624000"/>
                <a:gridCol w="624000"/>
                <a:gridCol w="624000"/>
              </a:tblGrid>
              <a:tr h="407194">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72 bouteilles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bouteilles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600 bouteilles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N°10</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N°10</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graphicFrame>
        <p:nvGraphicFramePr>
          <p:cNvPr id="81" name="Table 1"/>
          <p:cNvGraphicFramePr>
            <a:graphicFrameLocks noGrp="1"/>
          </p:cNvGraphicFramePr>
          <p:nvPr>
            <p:extLst>
              <p:ext uri="{D42A27DB-BD31-4B8C-83A1-F6EECF244321}">
                <p14:modId xmlns:p14="http://schemas.microsoft.com/office/powerpoint/2010/main" val="1579011935"/>
              </p:ext>
            </p:extLst>
          </p:nvPr>
        </p:nvGraphicFramePr>
        <p:xfrm>
          <a:off x="828000" y="2695835"/>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 ARMAGNAC</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8A623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Bas-Armagnac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Blanche Armagnac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22,00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8A623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Bas-Armagnac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Réserve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8A623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Bas-Armagnac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V.S.O.P.</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28,00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8A623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Bas-Armagnac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X.O.</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30,00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8A623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Bas-Armagnac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Hors d'Age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8A623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Bas-Armagnac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Millésimés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2000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8A623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Bas-Armagnac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Millésimés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1990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49,00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graphicFrame>
        <p:nvGraphicFramePr>
          <p:cNvPr id="121" name="Table 2"/>
          <p:cNvGraphicFramePr>
            <a:graphicFrameLocks noGrp="1"/>
          </p:cNvGraphicFramePr>
          <p:nvPr>
            <p:extLst>
              <p:ext uri="{D42A27DB-BD31-4B8C-83A1-F6EECF244321}">
                <p14:modId xmlns:p14="http://schemas.microsoft.com/office/powerpoint/2010/main" val="1579011935"/>
              </p:ext>
            </p:extLst>
          </p:nvPr>
        </p:nvGraphicFramePr>
        <p:xfrm>
          <a:off x="828000" y="5799423"/>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BIB · BAG-IN-BOX</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Amande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3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7,75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Gulf Stream</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Triton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10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20,25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0" name="Shape 14"/>
          <p:cNvSpPr/>
          <p:nvPr/>
        </p:nvSpPr>
        <p:spPr>
          <a:xfrm>
            <a:off x="828000" y="8388000"/>
            <a:ext cx="6120000" cy="0"/>
          </a:xfrm>
          <a:prstGeom prst="line">
            <a:avLst/>
          </a:prstGeom>
          <a:noFill/>
          <a:ln w="8890">
            <a:solidFill>
              <a:srgbClr val="46606E"/>
            </a:solidFill>
            <a:prstDash val="solid"/>
          </a:ln>
        </p:spPr>
      </p:sp>
      <p:sp>
        <p:nvSpPr>
          <p:cNvPr id="21" name="Text 15"/>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2" name="Text 16"/>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16 · 17 · 44 · 79 · 85</a:t>
            </a:r>
            <a:endParaRPr lang="en-US" sz="720" dirty="0"/>
          </a:p>
        </p:txBody>
      </p:sp>
      <p:sp>
        <p:nvSpPr>
          <p:cNvPr id="23" name="Text 17"/>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Rosé    ● Rouge    ● Doux    ● Spiritueux     pictos de l’Agence SCIO, pas les logos officiels</a:t>
            </a:r>
            <a:endParaRPr lang="en-US" sz="650" dirty="0"/>
          </a:p>
        </p:txBody>
      </p:sp>
      <p:sp>
        <p:nvSpPr>
          <p:cNvPr id="24" name="Text 18"/>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40</a:t>
            </a:r>
            <a:endParaRPr lang="en-US" sz="750" dirty="0"/>
          </a:p>
        </p:txBody>
      </p:sp>
      <p:sp>
        <p:nvSpPr>
          <p:cNvPr id="25" name="Text 19"/>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sud-ouest.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SUD-OUEST</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24</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Fabien Castaing</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SUD-OUEST</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030051" y="1047600"/>
            <a:ext cx="380548" cy="180000"/>
          </a:xfrm>
          <a:prstGeom prst="roundRect">
            <a:avLst>
              <a:gd name="adj" fmla="val 10160"/>
            </a:avLst>
          </a:prstGeom>
          <a:solidFill>
            <a:srgbClr val="F2EADA"/>
          </a:solidFill>
          <a:ln w="8890">
            <a:solidFill>
              <a:srgbClr val="3C5B47"/>
            </a:solidFill>
            <a:prstDash val="solid"/>
          </a:ln>
        </p:spPr>
      </p:sp>
      <p:sp>
        <p:nvSpPr>
          <p:cNvPr id="10" name="Text 7"/>
          <p:cNvSpPr/>
          <p:nvPr/>
        </p:nvSpPr>
        <p:spPr>
          <a:xfrm>
            <a:off x="1030051"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1" name="Shape 8"/>
          <p:cNvSpPr/>
          <p:nvPr/>
        </p:nvSpPr>
        <p:spPr>
          <a:xfrm>
            <a:off x="1489800" y="1047600"/>
            <a:ext cx="1385474" cy="180000"/>
          </a:xfrm>
          <a:prstGeom prst="roundRect">
            <a:avLst>
              <a:gd name="adj" fmla="val 10160"/>
            </a:avLst>
          </a:prstGeom>
          <a:solidFill>
            <a:srgbClr val="F2EADA"/>
          </a:solidFill>
          <a:ln w="8890">
            <a:solidFill>
              <a:srgbClr val="A8515F"/>
            </a:solidFill>
            <a:prstDash val="solid"/>
          </a:ln>
        </p:spPr>
      </p:sp>
      <p:sp>
        <p:nvSpPr>
          <p:cNvPr id="12" name="Text 9"/>
          <p:cNvSpPr/>
          <p:nvPr/>
        </p:nvSpPr>
        <p:spPr>
          <a:xfrm>
            <a:off x="1489800"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3" name="Shape 10"/>
          <p:cNvSpPr/>
          <p:nvPr/>
        </p:nvSpPr>
        <p:spPr>
          <a:xfrm>
            <a:off x="2954473" y="1047600"/>
            <a:ext cx="864357" cy="180000"/>
          </a:xfrm>
          <a:prstGeom prst="roundRect">
            <a:avLst>
              <a:gd name="adj" fmla="val 10160"/>
            </a:avLst>
          </a:prstGeom>
          <a:solidFill>
            <a:srgbClr val="D08C3C"/>
          </a:solidFill>
          <a:ln w="8890">
            <a:solidFill>
              <a:srgbClr val="D08C3C"/>
            </a:solidFill>
            <a:prstDash val="solid"/>
          </a:ln>
        </p:spPr>
      </p:sp>
      <p:sp>
        <p:nvSpPr>
          <p:cNvPr id="14" name="Text 11"/>
          <p:cNvSpPr/>
          <p:nvPr/>
        </p:nvSpPr>
        <p:spPr>
          <a:xfrm>
            <a:off x="2954473" y="1047600"/>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5" name="Shape 12"/>
          <p:cNvSpPr/>
          <p:nvPr/>
        </p:nvSpPr>
        <p:spPr>
          <a:xfrm>
            <a:off x="3898030" y="1047600"/>
            <a:ext cx="787182" cy="180000"/>
          </a:xfrm>
          <a:prstGeom prst="roundRect">
            <a:avLst>
              <a:gd name="adj" fmla="val 10160"/>
            </a:avLst>
          </a:prstGeom>
          <a:solidFill>
            <a:srgbClr val="F2EADA"/>
          </a:solidFill>
          <a:ln w="8890">
            <a:solidFill>
              <a:srgbClr val="46606E"/>
            </a:solidFill>
            <a:prstDash val="solid"/>
          </a:ln>
        </p:spPr>
      </p:sp>
      <p:sp>
        <p:nvSpPr>
          <p:cNvPr id="16" name="Text 13"/>
          <p:cNvSpPr/>
          <p:nvPr/>
        </p:nvSpPr>
        <p:spPr>
          <a:xfrm>
            <a:off x="3898030"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13 références</a:t>
            </a:r>
            <a:endParaRPr lang="en-US" sz="720" dirty="0"/>
          </a:p>
        </p:txBody>
      </p:sp>
      <p:sp>
        <p:nvSpPr>
          <p:cNvPr id="17" name="Shape 14"/>
          <p:cNvSpPr/>
          <p:nvPr/>
        </p:nvSpPr>
        <p:spPr>
          <a:xfrm>
            <a:off x="612000" y="1357200"/>
            <a:ext cx="1440000" cy="1440000"/>
          </a:xfrm>
          <a:prstGeom prst="ellipse">
            <a:avLst/>
          </a:prstGeom>
          <a:solidFill>
            <a:srgbClr val="F2EADA"/>
          </a:solidFill>
          <a:ln w="12700">
            <a:solidFill>
              <a:srgbClr val="46606E"/>
            </a:solidFill>
            <a:prstDash val="dash"/>
          </a:ln>
        </p:spPr>
      </p:sp>
      <p:sp>
        <p:nvSpPr>
          <p:cNvPr id="18" name="Text 15"/>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9" name="Shape 16"/>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20" name="Text 17"/>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21" name="Text 18"/>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100" dirty="0">
                <a:solidFill>
                  <a:srgbClr val="46606E"/>
                </a:solidFill>
                <a:latin typeface="Spectral" pitchFamily="34" charset="0"/>
                <a:ea typeface="Spectral" pitchFamily="34" charset="-122"/>
                <a:cs typeface="Spectral" pitchFamily="34" charset="-120"/>
              </a:rPr>
              <a:t>Le Domaine de Moulin-Pouzy, ancré en Dordogne, est l'héritage historique des Castaing depuis 1898, résultant d'un art viticole transmis avec flamme. Fabien Castaing, digne représentant de la 5ème génération, s'engage avec ferveur à perpétuer les traditions et les valeurs familiales : une passion profonde pour le terroir, un profond respect de l'environnement et un savoir-faire vigneron authentique.</a:t>
            </a:r>
            <a:endParaRPr lang="en-US" sz="11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180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Monbazillac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Classiques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Bergerac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Classiques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4,05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Périgord</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Adn 24</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Périgord</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Adn 24</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Périgord</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Adn 24</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3" name="Text 19"/>
          <p:cNvSpPr/>
          <p:nvPr/>
        </p:nvSpPr>
        <p:spPr>
          <a:xfrm>
            <a:off x="612000" y="6067247"/>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SUD-OUEST — SABLES FAUVES ET FOSSILES MARINS</a:t>
            </a:r>
            <a:endParaRPr lang="en-US" sz="720" dirty="0"/>
          </a:p>
        </p:txBody>
      </p:sp>
      <p:pic>
        <p:nvPicPr>
          <p:cNvPr id="24" name="Image 1" descr="/home/user/philippe1/build/deco/sol-sud-ouest.png">    </p:cNvPr>
          <p:cNvPicPr>
            <a:picLocks noChangeAspect="1"/>
          </p:cNvPicPr>
          <p:nvPr/>
        </p:nvPicPr>
        <p:blipFill>
          <a:blip r:embed="rId2"/>
          <a:stretch>
            <a:fillRect/>
          </a:stretch>
        </p:blipFill>
        <p:spPr>
          <a:xfrm>
            <a:off x="612000" y="6214847"/>
            <a:ext cx="6120000" cy="1148400"/>
          </a:xfrm>
          <a:prstGeom prst="rect">
            <a:avLst/>
          </a:prstGeom>
        </p:spPr>
      </p:pic>
      <p:sp>
        <p:nvSpPr>
          <p:cNvPr id="25" name="Shape 20"/>
          <p:cNvSpPr/>
          <p:nvPr/>
        </p:nvSpPr>
        <p:spPr>
          <a:xfrm>
            <a:off x="612000" y="8388000"/>
            <a:ext cx="6120000" cy="0"/>
          </a:xfrm>
          <a:prstGeom prst="line">
            <a:avLst/>
          </a:prstGeom>
          <a:noFill/>
          <a:ln w="8890">
            <a:solidFill>
              <a:srgbClr val="46606E"/>
            </a:solidFill>
            <a:prstDash val="solid"/>
          </a:ln>
        </p:spPr>
      </p:sp>
      <p:sp>
        <p:nvSpPr>
          <p:cNvPr id="26" name="Text 21"/>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7" name="Text 22"/>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8" name="Text 23"/>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 Doux    ● Bière     pictos de l’Agence SCIO, pas les logos officiels</a:t>
            </a:r>
            <a:endParaRPr lang="en-US" sz="650" dirty="0"/>
          </a:p>
        </p:txBody>
      </p:sp>
      <p:sp>
        <p:nvSpPr>
          <p:cNvPr id="29" name="Text 24"/>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41</a:t>
            </a:r>
            <a:endParaRPr lang="en-US" sz="750" dirty="0"/>
          </a:p>
        </p:txBody>
      </p:sp>
      <p:sp>
        <p:nvSpPr>
          <p:cNvPr id="30" name="Text 25"/>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sud-ouest.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SUD-OUEST</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24</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Fabien Castaing</a:t>
            </a:r>
            <a:pPr indent="0" marL="0">
              <a:lnSpc>
                <a:spcPct val="104000"/>
              </a:lnSpc>
              <a:buNone/>
            </a:pP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SUD-OUEST</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380548" cy="180000"/>
          </a:xfrm>
          <a:prstGeom prst="roundRect">
            <a:avLst>
              <a:gd name="adj" fmla="val 10160"/>
            </a:avLst>
          </a:prstGeom>
          <a:solidFill>
            <a:srgbClr val="F2EADA"/>
          </a:solidFill>
          <a:ln w="8890">
            <a:solidFill>
              <a:srgbClr val="3C5B47"/>
            </a:solidFill>
            <a:prstDash val="solid"/>
          </a:ln>
        </p:spPr>
      </p:sp>
      <p:sp>
        <p:nvSpPr>
          <p:cNvPr id="10" name="Text 7"/>
          <p:cNvSpPr/>
          <p:nvPr/>
        </p:nvSpPr>
        <p:spPr>
          <a:xfrm>
            <a:off x="1246051"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1" name="Shape 8"/>
          <p:cNvSpPr/>
          <p:nvPr/>
        </p:nvSpPr>
        <p:spPr>
          <a:xfrm>
            <a:off x="1705800" y="1047600"/>
            <a:ext cx="1385474" cy="180000"/>
          </a:xfrm>
          <a:prstGeom prst="roundRect">
            <a:avLst>
              <a:gd name="adj" fmla="val 10160"/>
            </a:avLst>
          </a:prstGeom>
          <a:solidFill>
            <a:srgbClr val="F2EADA"/>
          </a:solidFill>
          <a:ln w="8890">
            <a:solidFill>
              <a:srgbClr val="A8515F"/>
            </a:solidFill>
            <a:prstDash val="solid"/>
          </a:ln>
        </p:spPr>
      </p:sp>
      <p:sp>
        <p:nvSpPr>
          <p:cNvPr id="12" name="Text 9"/>
          <p:cNvSpPr/>
          <p:nvPr/>
        </p:nvSpPr>
        <p:spPr>
          <a:xfrm>
            <a:off x="1705800"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3" name="Shape 10"/>
          <p:cNvSpPr/>
          <p:nvPr/>
        </p:nvSpPr>
        <p:spPr>
          <a:xfrm>
            <a:off x="3170473" y="1047600"/>
            <a:ext cx="864357" cy="180000"/>
          </a:xfrm>
          <a:prstGeom prst="roundRect">
            <a:avLst>
              <a:gd name="adj" fmla="val 10160"/>
            </a:avLst>
          </a:prstGeom>
          <a:solidFill>
            <a:srgbClr val="D08C3C"/>
          </a:solidFill>
          <a:ln w="8890">
            <a:solidFill>
              <a:srgbClr val="D08C3C"/>
            </a:solidFill>
            <a:prstDash val="solid"/>
          </a:ln>
        </p:spPr>
      </p:sp>
      <p:sp>
        <p:nvSpPr>
          <p:cNvPr id="14" name="Text 11"/>
          <p:cNvSpPr/>
          <p:nvPr/>
        </p:nvSpPr>
        <p:spPr>
          <a:xfrm>
            <a:off x="3170473" y="1047600"/>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5" name="Shape 12"/>
          <p:cNvSpPr/>
          <p:nvPr/>
        </p:nvSpPr>
        <p:spPr>
          <a:xfrm>
            <a:off x="4114030" y="1047600"/>
            <a:ext cx="787182" cy="180000"/>
          </a:xfrm>
          <a:prstGeom prst="roundRect">
            <a:avLst>
              <a:gd name="adj" fmla="val 10160"/>
            </a:avLst>
          </a:prstGeom>
          <a:solidFill>
            <a:srgbClr val="F2EADA"/>
          </a:solidFill>
          <a:ln w="8890">
            <a:solidFill>
              <a:srgbClr val="46606E"/>
            </a:solidFill>
            <a:prstDash val="solid"/>
          </a:ln>
        </p:spPr>
      </p:sp>
      <p:sp>
        <p:nvSpPr>
          <p:cNvPr id="16" name="Text 13"/>
          <p:cNvSpPr/>
          <p:nvPr/>
        </p:nvSpPr>
        <p:spPr>
          <a:xfrm>
            <a:off x="4114030"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13 références</a:t>
            </a:r>
            <a:endParaRPr lang="en-US" sz="72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180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Périgord</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Adn 24</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AOC Pécharmant</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Hauts des Olivoux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Cahors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L'esprit Sud-Ouest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3,55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Fronton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L'esprit Sud-Ouest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3,55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Blanc de Blancs 100% Chardonnay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Fines Bulles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graphicFrame>
        <p:nvGraphicFramePr>
          <p:cNvPr id="85" name="Table 1"/>
          <p:cNvGraphicFramePr>
            <a:graphicFrameLocks noGrp="1"/>
          </p:cNvGraphicFramePr>
          <p:nvPr>
            <p:extLst>
              <p:ext uri="{D42A27DB-BD31-4B8C-83A1-F6EECF244321}">
                <p14:modId xmlns:p14="http://schemas.microsoft.com/office/powerpoint/2010/main" val="1579011935"/>
              </p:ext>
            </p:extLst>
          </p:nvPr>
        </p:nvGraphicFramePr>
        <p:xfrm>
          <a:off x="828000" y="3696109"/>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 BIÈRES</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180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D08C3C"/>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La Barbe Blanche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barbe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08C3C"/>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La Barbe Blonde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barbe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D08C3C"/>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La Barbe Ambrée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barbe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Text 14"/>
          <p:cNvSpPr/>
          <p:nvPr/>
        </p:nvSpPr>
        <p:spPr>
          <a:xfrm>
            <a:off x="828000" y="5242814"/>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SUD-OUEST — SABLES FAUVES ET FOSSILES MARINS</a:t>
            </a:r>
            <a:endParaRPr lang="en-US" sz="720" dirty="0"/>
          </a:p>
        </p:txBody>
      </p:sp>
      <p:pic>
        <p:nvPicPr>
          <p:cNvPr id="20" name="Image 1" descr="/home/user/philippe1/build/deco/sol-sud-ouest.png">    </p:cNvPr>
          <p:cNvPicPr>
            <a:picLocks noChangeAspect="1"/>
          </p:cNvPicPr>
          <p:nvPr/>
        </p:nvPicPr>
        <p:blipFill>
          <a:blip r:embed="rId2"/>
          <a:stretch>
            <a:fillRect/>
          </a:stretch>
        </p:blipFill>
        <p:spPr>
          <a:xfrm>
            <a:off x="828000" y="5390414"/>
            <a:ext cx="6120000" cy="1610079"/>
          </a:xfrm>
          <a:prstGeom prst="rect">
            <a:avLst/>
          </a:prstGeom>
        </p:spPr>
      </p:pic>
      <p:sp>
        <p:nvSpPr>
          <p:cNvPr id="21" name="Shape 15"/>
          <p:cNvSpPr/>
          <p:nvPr/>
        </p:nvSpPr>
        <p:spPr>
          <a:xfrm>
            <a:off x="828000" y="8388000"/>
            <a:ext cx="6120000" cy="0"/>
          </a:xfrm>
          <a:prstGeom prst="line">
            <a:avLst/>
          </a:prstGeom>
          <a:noFill/>
          <a:ln w="8890">
            <a:solidFill>
              <a:srgbClr val="46606E"/>
            </a:solidFill>
            <a:prstDash val="solid"/>
          </a:ln>
        </p:spPr>
      </p:sp>
      <p:sp>
        <p:nvSpPr>
          <p:cNvPr id="22" name="Text 16"/>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3" name="Text 17"/>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4" name="Text 18"/>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 Doux    ● Bière     pictos de l’Agence SCIO, pas les logos officiels</a:t>
            </a:r>
            <a:endParaRPr lang="en-US" sz="650" dirty="0"/>
          </a:p>
        </p:txBody>
      </p:sp>
      <p:sp>
        <p:nvSpPr>
          <p:cNvPr id="25" name="Text 19"/>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42</a:t>
            </a:r>
            <a:endParaRPr lang="en-US" sz="750" dirty="0"/>
          </a:p>
        </p:txBody>
      </p:sp>
      <p:sp>
        <p:nvSpPr>
          <p:cNvPr id="26" name="Text 20"/>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46606E"/>
        </a:solidFill>
      </p:bgPr>
    </p:bg>
    <p:spTree>
      <p:nvGrpSpPr>
        <p:cNvPr id="1" name=""/>
        <p:cNvGrpSpPr/>
        <p:nvPr/>
      </p:nvGrpSpPr>
      <p:grpSpPr>
        <a:xfrm>
          <a:off x="0" y="0"/>
          <a:ext cx="0" cy="0"/>
          <a:chOff x="0" y="0"/>
          <a:chExt cx="0" cy="0"/>
        </a:xfrm>
      </p:grpSpPr>
      <p:pic>
        <p:nvPicPr>
          <p:cNvPr id="2" name="Image 0" descr="/home/user/philippe1/build/deco/ouverture-bordeaux.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rotte-bordeaux.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7 / 10</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Bordeaux</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graves et argilo-calcaire</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6</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59</a:t>
            </a:r>
            <a:endParaRPr lang="en-US" sz="2000" dirty="0"/>
          </a:p>
        </p:txBody>
      </p:sp>
      <p:sp>
        <p:nvSpPr>
          <p:cNvPr id="11" name="Text 7"/>
          <p:cNvSpPr/>
          <p:nvPr/>
        </p:nvSpPr>
        <p:spPr>
          <a:xfrm>
            <a:off x="1620000" y="6660000"/>
            <a:ext cx="936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25   </a:t>
            </a:r>
            <a:pPr indent="0" marL="0">
              <a:buNone/>
            </a:pPr>
            <a:r>
              <a:rPr lang="en-US" sz="860" dirty="0">
                <a:solidFill>
                  <a:srgbClr val="FBF8F1"/>
                </a:solidFill>
                <a:latin typeface="IBM Plex Sans" pitchFamily="34" charset="0"/>
                <a:ea typeface="IBM Plex Sans" pitchFamily="34" charset="-122"/>
                <a:cs typeface="IBM Plex Sans" pitchFamily="34" charset="-120"/>
              </a:rPr>
              <a:t>La Passion des Terroirs</a:t>
            </a:r>
            <a:pPr indent="0" marL="0">
              <a:buNone/>
            </a:pPr>
            <a:r>
              <a:rPr lang="en-US" sz="860" b="1" dirty="0">
                <a:solidFill>
                  <a:srgbClr val="FBF8F1"/>
                </a:solidFill>
                <a:latin typeface="IBM Plex Sans" pitchFamily="34" charset="0"/>
                <a:ea typeface="IBM Plex Sans" pitchFamily="34" charset="-122"/>
                <a:cs typeface="IBM Plex Sans" pitchFamily="34" charset="-120"/>
              </a:rPr>
              <a:t>   44</a:t>
            </a:r>
            <a:endParaRPr lang="en-US" sz="860" dirty="0"/>
          </a:p>
        </p:txBody>
      </p:sp>
      <p:sp>
        <p:nvSpPr>
          <p:cNvPr id="13" name="Text 9"/>
          <p:cNvSpPr/>
          <p:nvPr/>
        </p:nvSpPr>
        <p:spPr>
          <a:xfrm>
            <a:off x="367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26   </a:t>
            </a:r>
            <a:pPr indent="0" marL="0">
              <a:buNone/>
            </a:pPr>
            <a:r>
              <a:rPr lang="en-US" sz="860" dirty="0">
                <a:solidFill>
                  <a:srgbClr val="FBF8F1"/>
                </a:solidFill>
                <a:latin typeface="IBM Plex Sans" pitchFamily="34" charset="0"/>
                <a:ea typeface="IBM Plex Sans" pitchFamily="34" charset="-122"/>
                <a:cs typeface="IBM Plex Sans" pitchFamily="34" charset="-120"/>
              </a:rPr>
              <a:t>Château la Gorce</a:t>
            </a:r>
            <a:pPr indent="0" marL="0">
              <a:buNone/>
            </a:pPr>
            <a:r>
              <a:rPr lang="en-US" sz="860" b="1" dirty="0">
                <a:solidFill>
                  <a:srgbClr val="FBF8F1"/>
                </a:solidFill>
                <a:latin typeface="IBM Plex Sans" pitchFamily="34" charset="0"/>
                <a:ea typeface="IBM Plex Sans" pitchFamily="34" charset="-122"/>
                <a:cs typeface="IBM Plex Sans" pitchFamily="34" charset="-120"/>
              </a:rPr>
              <a:t>   47</a:t>
            </a:r>
            <a:endParaRPr lang="en-US" sz="860" dirty="0"/>
          </a:p>
        </p:txBody>
      </p:sp>
      <p:sp>
        <p:nvSpPr>
          <p:cNvPr id="14" name="Text 10"/>
          <p:cNvSpPr/>
          <p:nvPr/>
        </p:nvSpPr>
        <p:spPr>
          <a:xfrm>
            <a:off x="61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27   </a:t>
            </a:r>
            <a:pPr indent="0" marL="0">
              <a:buNone/>
            </a:pPr>
            <a:r>
              <a:rPr lang="en-US" sz="860" dirty="0">
                <a:solidFill>
                  <a:srgbClr val="FBF8F1"/>
                </a:solidFill>
                <a:latin typeface="IBM Plex Sans" pitchFamily="34" charset="0"/>
                <a:ea typeface="IBM Plex Sans" pitchFamily="34" charset="-122"/>
                <a:cs typeface="IBM Plex Sans" pitchFamily="34" charset="-120"/>
              </a:rPr>
              <a:t>Château Falfas</a:t>
            </a:r>
            <a:pPr indent="0" marL="0">
              <a:buNone/>
            </a:pPr>
            <a:r>
              <a:rPr lang="en-US" sz="860" b="1" dirty="0">
                <a:solidFill>
                  <a:srgbClr val="FBF8F1"/>
                </a:solidFill>
                <a:latin typeface="IBM Plex Sans" pitchFamily="34" charset="0"/>
                <a:ea typeface="IBM Plex Sans" pitchFamily="34" charset="-122"/>
                <a:cs typeface="IBM Plex Sans" pitchFamily="34" charset="-120"/>
              </a:rPr>
              <a:t>   49</a:t>
            </a:r>
            <a:endParaRPr lang="en-US" sz="860" dirty="0"/>
          </a:p>
        </p:txBody>
      </p:sp>
      <p:sp>
        <p:nvSpPr>
          <p:cNvPr id="15" name="Text 11"/>
          <p:cNvSpPr/>
          <p:nvPr/>
        </p:nvSpPr>
        <p:spPr>
          <a:xfrm>
            <a:off x="367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28   </a:t>
            </a:r>
            <a:pPr indent="0" marL="0">
              <a:buNone/>
            </a:pPr>
            <a:r>
              <a:rPr lang="en-US" sz="860" dirty="0">
                <a:solidFill>
                  <a:srgbClr val="FBF8F1"/>
                </a:solidFill>
                <a:latin typeface="IBM Plex Sans" pitchFamily="34" charset="0"/>
                <a:ea typeface="IBM Plex Sans" pitchFamily="34" charset="-122"/>
                <a:cs typeface="IBM Plex Sans" pitchFamily="34" charset="-120"/>
              </a:rPr>
              <a:t>Château Pré la Lande</a:t>
            </a:r>
            <a:pPr indent="0" marL="0">
              <a:buNone/>
            </a:pPr>
            <a:r>
              <a:rPr lang="en-US" sz="860" b="1" dirty="0">
                <a:solidFill>
                  <a:srgbClr val="FBF8F1"/>
                </a:solidFill>
                <a:latin typeface="IBM Plex Sans" pitchFamily="34" charset="0"/>
                <a:ea typeface="IBM Plex Sans" pitchFamily="34" charset="-122"/>
                <a:cs typeface="IBM Plex Sans" pitchFamily="34" charset="-120"/>
              </a:rPr>
              <a:t>   50</a:t>
            </a:r>
            <a:endParaRPr lang="en-US" sz="860" dirty="0"/>
          </a:p>
        </p:txBody>
      </p:sp>
      <p:sp>
        <p:nvSpPr>
          <p:cNvPr id="16" name="Text 12"/>
          <p:cNvSpPr/>
          <p:nvPr/>
        </p:nvSpPr>
        <p:spPr>
          <a:xfrm>
            <a:off x="612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29   </a:t>
            </a:r>
            <a:pPr indent="0" marL="0">
              <a:buNone/>
            </a:pPr>
            <a:r>
              <a:rPr lang="en-US" sz="860" dirty="0">
                <a:solidFill>
                  <a:srgbClr val="FBF8F1"/>
                </a:solidFill>
                <a:latin typeface="IBM Plex Sans" pitchFamily="34" charset="0"/>
                <a:ea typeface="IBM Plex Sans" pitchFamily="34" charset="-122"/>
                <a:cs typeface="IBM Plex Sans" pitchFamily="34" charset="-120"/>
              </a:rPr>
              <a:t>Château Balac</a:t>
            </a:r>
            <a:pPr indent="0" marL="0">
              <a:buNone/>
            </a:pPr>
            <a:r>
              <a:rPr lang="en-US" sz="860" b="1" dirty="0">
                <a:solidFill>
                  <a:srgbClr val="FBF8F1"/>
                </a:solidFill>
                <a:latin typeface="IBM Plex Sans" pitchFamily="34" charset="0"/>
                <a:ea typeface="IBM Plex Sans" pitchFamily="34" charset="-122"/>
                <a:cs typeface="IBM Plex Sans" pitchFamily="34" charset="-120"/>
              </a:rPr>
              <a:t>   51</a:t>
            </a:r>
            <a:endParaRPr lang="en-US" sz="860" dirty="0"/>
          </a:p>
        </p:txBody>
      </p:sp>
      <p:sp>
        <p:nvSpPr>
          <p:cNvPr id="17" name="Text 13"/>
          <p:cNvSpPr/>
          <p:nvPr/>
        </p:nvSpPr>
        <p:spPr>
          <a:xfrm>
            <a:off x="3672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30   </a:t>
            </a:r>
            <a:pPr indent="0" marL="0">
              <a:buNone/>
            </a:pPr>
            <a:r>
              <a:rPr lang="en-US" sz="860" dirty="0">
                <a:solidFill>
                  <a:srgbClr val="FBF8F1"/>
                </a:solidFill>
                <a:latin typeface="IBM Plex Sans" pitchFamily="34" charset="0"/>
                <a:ea typeface="IBM Plex Sans" pitchFamily="34" charset="-122"/>
                <a:cs typeface="IBM Plex Sans" pitchFamily="34" charset="-120"/>
              </a:rPr>
              <a:t>Château l’Escarderie</a:t>
            </a:r>
            <a:pPr indent="0" marL="0">
              <a:buNone/>
            </a:pPr>
            <a:r>
              <a:rPr lang="en-US" sz="860" b="1" dirty="0">
                <a:solidFill>
                  <a:srgbClr val="FBF8F1"/>
                </a:solidFill>
                <a:latin typeface="IBM Plex Sans" pitchFamily="34" charset="0"/>
                <a:ea typeface="IBM Plex Sans" pitchFamily="34" charset="-122"/>
                <a:cs typeface="IBM Plex Sans" pitchFamily="34" charset="-120"/>
              </a:rPr>
              <a:t>   52</a:t>
            </a:r>
            <a:endParaRPr lang="en-US" sz="860" dirty="0"/>
          </a:p>
        </p:txBody>
      </p:sp>
      <p:sp>
        <p:nvSpPr>
          <p:cNvPr id="18" name="Text 14"/>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43</a:t>
            </a:r>
            <a:endParaRPr lang="en-US" sz="750" dirty="0"/>
          </a:p>
        </p:txBody>
      </p:sp>
      <p:sp>
        <p:nvSpPr>
          <p:cNvPr id="19" name="Text 15"/>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bordeaux.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25</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La Passion des Terroirs</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2460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710725" y="1047600"/>
            <a:ext cx="864357" cy="180000"/>
          </a:xfrm>
          <a:prstGeom prst="roundRect">
            <a:avLst>
              <a:gd name="adj" fmla="val 10160"/>
            </a:avLst>
          </a:prstGeom>
          <a:solidFill>
            <a:srgbClr val="D08C3C"/>
          </a:solidFill>
          <a:ln w="8890">
            <a:solidFill>
              <a:srgbClr val="D08C3C"/>
            </a:solidFill>
            <a:prstDash val="solid"/>
          </a:ln>
        </p:spPr>
      </p:sp>
      <p:sp>
        <p:nvSpPr>
          <p:cNvPr id="12" name="Text 9"/>
          <p:cNvSpPr/>
          <p:nvPr/>
        </p:nvSpPr>
        <p:spPr>
          <a:xfrm>
            <a:off x="2710725" y="1047600"/>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3" name="Shape 10"/>
          <p:cNvSpPr/>
          <p:nvPr/>
        </p:nvSpPr>
        <p:spPr>
          <a:xfrm>
            <a:off x="3654282" y="1047600"/>
            <a:ext cx="787182" cy="180000"/>
          </a:xfrm>
          <a:prstGeom prst="roundRect">
            <a:avLst>
              <a:gd name="adj" fmla="val 10160"/>
            </a:avLst>
          </a:prstGeom>
          <a:solidFill>
            <a:srgbClr val="F2EADA"/>
          </a:solidFill>
          <a:ln w="8890">
            <a:solidFill>
              <a:srgbClr val="46606E"/>
            </a:solidFill>
            <a:prstDash val="solid"/>
          </a:ln>
        </p:spPr>
      </p:sp>
      <p:sp>
        <p:nvSpPr>
          <p:cNvPr id="14" name="Text 11"/>
          <p:cNvSpPr/>
          <p:nvPr/>
        </p:nvSpPr>
        <p:spPr>
          <a:xfrm>
            <a:off x="3654282"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31 références</a:t>
            </a:r>
            <a:endParaRPr lang="en-US" sz="720" dirty="0"/>
          </a:p>
        </p:txBody>
      </p:sp>
      <p:sp>
        <p:nvSpPr>
          <p:cNvPr id="15" name="Shape 12"/>
          <p:cNvSpPr/>
          <p:nvPr/>
        </p:nvSpPr>
        <p:spPr>
          <a:xfrm>
            <a:off x="828000" y="1357200"/>
            <a:ext cx="1440000" cy="1440000"/>
          </a:xfrm>
          <a:prstGeom prst="ellipse">
            <a:avLst/>
          </a:prstGeom>
          <a:solidFill>
            <a:srgbClr val="F2EADA"/>
          </a:solidFill>
          <a:ln w="12700">
            <a:solidFill>
              <a:srgbClr val="46606E"/>
            </a:solidFill>
            <a:prstDash val="dash"/>
          </a:ln>
        </p:spPr>
      </p:sp>
      <p:sp>
        <p:nvSpPr>
          <p:cNvPr id="16" name="Text 13"/>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7" name="Shape 14"/>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8" name="Text 15"/>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9" name="Text 16"/>
          <p:cNvSpPr/>
          <p:nvPr/>
        </p:nvSpPr>
        <p:spPr>
          <a:xfrm>
            <a:off x="2448000" y="1357200"/>
            <a:ext cx="3456000" cy="2231900"/>
          </a:xfrm>
          <a:prstGeom prst="rect">
            <a:avLst/>
          </a:prstGeom>
          <a:noFill/>
          <a:ln/>
        </p:spPr>
        <p:txBody>
          <a:bodyPr wrap="square" lIns="0" tIns="0" rIns="0" bIns="0" rtlCol="0" anchor="ctr"/>
          <a:lstStyle/>
          <a:p>
            <a:pPr indent="0" marL="0">
              <a:lnSpc>
                <a:spcPct val="142000"/>
              </a:lnSpc>
              <a:buNone/>
            </a:pPr>
            <a:r>
              <a:rPr lang="en-US" sz="1225" dirty="0">
                <a:solidFill>
                  <a:srgbClr val="46606E"/>
                </a:solidFill>
                <a:latin typeface="Spectral" pitchFamily="34" charset="0"/>
                <a:ea typeface="Spectral" pitchFamily="34" charset="-122"/>
                <a:cs typeface="Spectral" pitchFamily="34" charset="-120"/>
              </a:rPr>
              <a:t>Une recherche constante de l’excellence et de la meilleure expression des Terroirs. Depuis 3 générations, la famille Lurton est un des principaux propriétaires de Châteaux de la région de Bordeaux. Personnalité, respect de la terre, exigence, indépendance ; l’essentiel du caractère de la famille Lucien Lurton, distributrice des vins de toutes les appellations bordelaises.</a:t>
            </a:r>
            <a:endParaRPr lang="en-US" sz="1225"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Pessac-Léognan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Petit Valoux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Pessac-Léognan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Lamothe Bouscaut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Sauternes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Du Mayne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Bordeaux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Petite Echoppe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Haut-Médoc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L'Etoile de Villegeorge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Haut-Médoc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Esprit de Doyac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1" name="Text 17"/>
          <p:cNvSpPr/>
          <p:nvPr/>
        </p:nvSpPr>
        <p:spPr>
          <a:xfrm>
            <a:off x="828000" y="6451968"/>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22" name="Image 1" descr="/home/user/philippe1/build/deco/sol-bordeaux.png">    </p:cNvPr>
          <p:cNvPicPr>
            <a:picLocks noChangeAspect="1"/>
          </p:cNvPicPr>
          <p:nvPr/>
        </p:nvPicPr>
        <p:blipFill>
          <a:blip r:embed="rId2"/>
          <a:stretch>
            <a:fillRect/>
          </a:stretch>
        </p:blipFill>
        <p:spPr>
          <a:xfrm>
            <a:off x="828000" y="6599568"/>
            <a:ext cx="6120000" cy="1148400"/>
          </a:xfrm>
          <a:prstGeom prst="rect">
            <a:avLst/>
          </a:prstGeom>
        </p:spPr>
      </p:pic>
      <p:sp>
        <p:nvSpPr>
          <p:cNvPr id="23" name="Shape 18"/>
          <p:cNvSpPr/>
          <p:nvPr/>
        </p:nvSpPr>
        <p:spPr>
          <a:xfrm>
            <a:off x="828000" y="8388000"/>
            <a:ext cx="6120000" cy="0"/>
          </a:xfrm>
          <a:prstGeom prst="line">
            <a:avLst/>
          </a:prstGeom>
          <a:noFill/>
          <a:ln w="8890">
            <a:solidFill>
              <a:srgbClr val="46606E"/>
            </a:solidFill>
            <a:prstDash val="solid"/>
          </a:ln>
        </p:spPr>
      </p:sp>
      <p:sp>
        <p:nvSpPr>
          <p:cNvPr id="24" name="Text 19"/>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Demander le tarif et offre.</a:t>
            </a:r>
            <a:endParaRPr lang="en-US" sz="720" dirty="0"/>
          </a:p>
        </p:txBody>
      </p:sp>
      <p:sp>
        <p:nvSpPr>
          <p:cNvPr id="25" name="Text 20"/>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49 · 85</a:t>
            </a:r>
            <a:endParaRPr lang="en-US" sz="720" dirty="0"/>
          </a:p>
        </p:txBody>
      </p:sp>
      <p:sp>
        <p:nvSpPr>
          <p:cNvPr id="26" name="Text 21"/>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 Doux     pictos de l’Agence SCIO, pas les logos officiels</a:t>
            </a:r>
            <a:endParaRPr lang="en-US" sz="650" dirty="0"/>
          </a:p>
        </p:txBody>
      </p:sp>
      <p:sp>
        <p:nvSpPr>
          <p:cNvPr id="27" name="Text 22"/>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44</a:t>
            </a:r>
            <a:endParaRPr lang="en-US" sz="750" dirty="0"/>
          </a:p>
        </p:txBody>
      </p:sp>
      <p:sp>
        <p:nvSpPr>
          <p:cNvPr id="28" name="Text 23"/>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bordeaux.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25</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La Passion des Terroirs</a:t>
            </a:r>
            <a:pPr indent="0" marL="0">
              <a:lnSpc>
                <a:spcPct val="104000"/>
              </a:lnSpc>
              <a:buNone/>
            </a:pP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030051"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0300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494725" y="1047600"/>
            <a:ext cx="864357" cy="180000"/>
          </a:xfrm>
          <a:prstGeom prst="roundRect">
            <a:avLst>
              <a:gd name="adj" fmla="val 10160"/>
            </a:avLst>
          </a:prstGeom>
          <a:solidFill>
            <a:srgbClr val="D08C3C"/>
          </a:solidFill>
          <a:ln w="8890">
            <a:solidFill>
              <a:srgbClr val="D08C3C"/>
            </a:solidFill>
            <a:prstDash val="solid"/>
          </a:ln>
        </p:spPr>
      </p:sp>
      <p:sp>
        <p:nvSpPr>
          <p:cNvPr id="12" name="Text 9"/>
          <p:cNvSpPr/>
          <p:nvPr/>
        </p:nvSpPr>
        <p:spPr>
          <a:xfrm>
            <a:off x="2494725" y="1047600"/>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3" name="Shape 10"/>
          <p:cNvSpPr/>
          <p:nvPr/>
        </p:nvSpPr>
        <p:spPr>
          <a:xfrm>
            <a:off x="3438282" y="1047600"/>
            <a:ext cx="787182" cy="180000"/>
          </a:xfrm>
          <a:prstGeom prst="roundRect">
            <a:avLst>
              <a:gd name="adj" fmla="val 10160"/>
            </a:avLst>
          </a:prstGeom>
          <a:solidFill>
            <a:srgbClr val="F2EADA"/>
          </a:solidFill>
          <a:ln w="8890">
            <a:solidFill>
              <a:srgbClr val="46606E"/>
            </a:solidFill>
            <a:prstDash val="solid"/>
          </a:ln>
        </p:spPr>
      </p:sp>
      <p:sp>
        <p:nvSpPr>
          <p:cNvPr id="14" name="Text 11"/>
          <p:cNvSpPr/>
          <p:nvPr/>
        </p:nvSpPr>
        <p:spPr>
          <a:xfrm>
            <a:off x="3438282"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31 références</a:t>
            </a:r>
            <a:endParaRPr lang="en-US" sz="72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612000" y="13572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Haut-Médoc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Doyac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Haut-Médoc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Doyac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Haut-Médoc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de Villegeorge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Haut-Médoc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de Villegeorge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150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25,15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Listrac-Médoc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N°2 De Fourcas Dupré</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Ceres de Haut-Bages Libéral</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Saint-Estèphe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Hauts de Pez</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Saint-Estèphe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Charme de Cos Labory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Margaux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Petite Tour de Bessan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Margaux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la Tour de Bessan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2019</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Margaux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Plantes de Durfort-Vivens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2019</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Margaux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Plateau de Durfort-Vivens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22,50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Margaux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Hameau de Durfort-Vivens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22,50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6" name="Text 12"/>
          <p:cNvSpPr/>
          <p:nvPr/>
        </p:nvSpPr>
        <p:spPr>
          <a:xfrm>
            <a:off x="612000" y="6755875"/>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17" name="Image 1" descr="/home/user/philippe1/build/deco/sol-bordeaux.png">    </p:cNvPr>
          <p:cNvPicPr>
            <a:picLocks noChangeAspect="1"/>
          </p:cNvPicPr>
          <p:nvPr/>
        </p:nvPicPr>
        <p:blipFill>
          <a:blip r:embed="rId2"/>
          <a:stretch>
            <a:fillRect/>
          </a:stretch>
        </p:blipFill>
        <p:spPr>
          <a:xfrm>
            <a:off x="612000" y="6903475"/>
            <a:ext cx="6120000" cy="1148400"/>
          </a:xfrm>
          <a:prstGeom prst="rect">
            <a:avLst/>
          </a:prstGeom>
        </p:spPr>
      </p:pic>
      <p:sp>
        <p:nvSpPr>
          <p:cNvPr id="18" name="Shape 13"/>
          <p:cNvSpPr/>
          <p:nvPr/>
        </p:nvSpPr>
        <p:spPr>
          <a:xfrm>
            <a:off x="612000" y="8388000"/>
            <a:ext cx="6120000" cy="0"/>
          </a:xfrm>
          <a:prstGeom prst="line">
            <a:avLst/>
          </a:prstGeom>
          <a:noFill/>
          <a:ln w="8890">
            <a:solidFill>
              <a:srgbClr val="46606E"/>
            </a:solidFill>
            <a:prstDash val="solid"/>
          </a:ln>
        </p:spPr>
      </p:sp>
      <p:sp>
        <p:nvSpPr>
          <p:cNvPr id="19" name="Text 14"/>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Demander le tarif et offre.</a:t>
            </a:r>
            <a:endParaRPr lang="en-US" sz="720" dirty="0"/>
          </a:p>
        </p:txBody>
      </p:sp>
      <p:sp>
        <p:nvSpPr>
          <p:cNvPr id="20" name="Text 15"/>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49 · 85</a:t>
            </a:r>
            <a:endParaRPr lang="en-US" sz="720" dirty="0"/>
          </a:p>
        </p:txBody>
      </p:sp>
      <p:sp>
        <p:nvSpPr>
          <p:cNvPr id="21" name="Text 16"/>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 Doux     pictos de l’Agence SCIO, pas les logos officiels</a:t>
            </a:r>
            <a:endParaRPr lang="en-US" sz="650" dirty="0"/>
          </a:p>
        </p:txBody>
      </p:sp>
      <p:sp>
        <p:nvSpPr>
          <p:cNvPr id="22" name="Text 17"/>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45</a:t>
            </a:r>
            <a:endParaRPr lang="en-US" sz="750" dirty="0"/>
          </a:p>
        </p:txBody>
      </p:sp>
      <p:sp>
        <p:nvSpPr>
          <p:cNvPr id="23" name="Text 18"/>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bordeaux.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25</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La Passion des Terroirs</a:t>
            </a:r>
            <a:pPr indent="0" marL="0">
              <a:lnSpc>
                <a:spcPct val="104000"/>
              </a:lnSpc>
              <a:buNone/>
            </a:pP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2460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710725" y="1047600"/>
            <a:ext cx="864357" cy="180000"/>
          </a:xfrm>
          <a:prstGeom prst="roundRect">
            <a:avLst>
              <a:gd name="adj" fmla="val 10160"/>
            </a:avLst>
          </a:prstGeom>
          <a:solidFill>
            <a:srgbClr val="D08C3C"/>
          </a:solidFill>
          <a:ln w="8890">
            <a:solidFill>
              <a:srgbClr val="D08C3C"/>
            </a:solidFill>
            <a:prstDash val="solid"/>
          </a:ln>
        </p:spPr>
      </p:sp>
      <p:sp>
        <p:nvSpPr>
          <p:cNvPr id="12" name="Text 9"/>
          <p:cNvSpPr/>
          <p:nvPr/>
        </p:nvSpPr>
        <p:spPr>
          <a:xfrm>
            <a:off x="2710725" y="1047600"/>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3" name="Shape 10"/>
          <p:cNvSpPr/>
          <p:nvPr/>
        </p:nvSpPr>
        <p:spPr>
          <a:xfrm>
            <a:off x="3654282" y="1047600"/>
            <a:ext cx="787182" cy="180000"/>
          </a:xfrm>
          <a:prstGeom prst="roundRect">
            <a:avLst>
              <a:gd name="adj" fmla="val 10160"/>
            </a:avLst>
          </a:prstGeom>
          <a:solidFill>
            <a:srgbClr val="F2EADA"/>
          </a:solidFill>
          <a:ln w="8890">
            <a:solidFill>
              <a:srgbClr val="46606E"/>
            </a:solidFill>
            <a:prstDash val="solid"/>
          </a:ln>
        </p:spPr>
      </p:sp>
      <p:sp>
        <p:nvSpPr>
          <p:cNvPr id="14" name="Text 11"/>
          <p:cNvSpPr/>
          <p:nvPr/>
        </p:nvSpPr>
        <p:spPr>
          <a:xfrm>
            <a:off x="3654282"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31 références</a:t>
            </a:r>
            <a:endParaRPr lang="en-US" sz="72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Margaux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Hameau de Durfort-Vivens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150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44,50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Moulis-en-Médoc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L'Oratoire de Chasse-Spleen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Saint-Julien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Eléonore du Château Teynac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2019</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14,25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Saint-Julien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les Ormes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2017</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Pauillac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Fleur de Haut-Bages Libéral</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2019</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Graves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Graves de Bouscaut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Pessac-Léognan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Valoux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Pessac-Léognan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Lamothe Bouscaut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Saint-Georges-Saint-Emilion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Macquin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Saint-Emilion Grand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du Cauze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Lalande-de-Pomerol</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la Croix Saint-André</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Pomerol</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Feytit-Guillot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6" name="Text 12"/>
          <p:cNvSpPr/>
          <p:nvPr/>
        </p:nvSpPr>
        <p:spPr>
          <a:xfrm>
            <a:off x="828000" y="6371154"/>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17" name="Image 1" descr="/home/user/philippe1/build/deco/sol-bordeaux.png">    </p:cNvPr>
          <p:cNvPicPr>
            <a:picLocks noChangeAspect="1"/>
          </p:cNvPicPr>
          <p:nvPr/>
        </p:nvPicPr>
        <p:blipFill>
          <a:blip r:embed="rId2"/>
          <a:stretch>
            <a:fillRect/>
          </a:stretch>
        </p:blipFill>
        <p:spPr>
          <a:xfrm>
            <a:off x="828000" y="6518754"/>
            <a:ext cx="6120000" cy="1148400"/>
          </a:xfrm>
          <a:prstGeom prst="rect">
            <a:avLst/>
          </a:prstGeom>
        </p:spPr>
      </p:pic>
      <p:sp>
        <p:nvSpPr>
          <p:cNvPr id="18" name="Shape 13"/>
          <p:cNvSpPr/>
          <p:nvPr/>
        </p:nvSpPr>
        <p:spPr>
          <a:xfrm>
            <a:off x="828000" y="8388000"/>
            <a:ext cx="6120000" cy="0"/>
          </a:xfrm>
          <a:prstGeom prst="line">
            <a:avLst/>
          </a:prstGeom>
          <a:noFill/>
          <a:ln w="8890">
            <a:solidFill>
              <a:srgbClr val="46606E"/>
            </a:solidFill>
            <a:prstDash val="solid"/>
          </a:ln>
        </p:spPr>
      </p:sp>
      <p:sp>
        <p:nvSpPr>
          <p:cNvPr id="19" name="Text 14"/>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Demander le tarif et offre.</a:t>
            </a:r>
            <a:endParaRPr lang="en-US" sz="720" dirty="0"/>
          </a:p>
        </p:txBody>
      </p:sp>
      <p:sp>
        <p:nvSpPr>
          <p:cNvPr id="20" name="Text 15"/>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49 · 85</a:t>
            </a:r>
            <a:endParaRPr lang="en-US" sz="720" dirty="0"/>
          </a:p>
        </p:txBody>
      </p:sp>
      <p:sp>
        <p:nvSpPr>
          <p:cNvPr id="21" name="Text 16"/>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 Doux     pictos de l’Agence SCIO, pas les logos officiels</a:t>
            </a:r>
            <a:endParaRPr lang="en-US" sz="650" dirty="0"/>
          </a:p>
        </p:txBody>
      </p:sp>
      <p:sp>
        <p:nvSpPr>
          <p:cNvPr id="22" name="Text 17"/>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46</a:t>
            </a:r>
            <a:endParaRPr lang="en-US" sz="750" dirty="0"/>
          </a:p>
        </p:txBody>
      </p:sp>
      <p:sp>
        <p:nvSpPr>
          <p:cNvPr id="23" name="Text 18"/>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bordeaux.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26</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Château la Gorce</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030051"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0300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494725" y="1047600"/>
            <a:ext cx="787182"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494725"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11 références</a:t>
            </a:r>
            <a:endParaRPr lang="en-US" sz="720" dirty="0"/>
          </a:p>
        </p:txBody>
      </p:sp>
      <p:sp>
        <p:nvSpPr>
          <p:cNvPr id="13" name="Shape 10"/>
          <p:cNvSpPr/>
          <p:nvPr/>
        </p:nvSpPr>
        <p:spPr>
          <a:xfrm>
            <a:off x="612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En activité depuis 1822, reconnu cru bourgeois dans le classement de 1932, le domaine a été repris en 2018 par Emmanuel et Mana Martin qui initièrent immédiatement la conversion de l’intégralité des quarante-huit hectares vers l’agriculture biologique, désormais achevée sur toutes les cuvées depuis le millésime 2022.</a:t>
            </a:r>
            <a:endParaRPr lang="en-US" sz="13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90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Cru Bourgeois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la Gorce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2019</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7,05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Cru Bourgeois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la Gorce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2019</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1,5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14,15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Cru Bourgeois (AB)</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la Gorce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7,05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Cru Bourgeois (AB)</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la Gorce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1,5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14,15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 Série limitée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Préface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5,55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Text 15"/>
          <p:cNvSpPr/>
          <p:nvPr/>
        </p:nvSpPr>
        <p:spPr>
          <a:xfrm>
            <a:off x="612000" y="6128564"/>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20" name="Image 1" descr="/home/user/philippe1/build/deco/sol-bordeaux.png">    </p:cNvPr>
          <p:cNvPicPr>
            <a:picLocks noChangeAspect="1"/>
          </p:cNvPicPr>
          <p:nvPr/>
        </p:nvPicPr>
        <p:blipFill>
          <a:blip r:embed="rId2"/>
          <a:stretch>
            <a:fillRect/>
          </a:stretch>
        </p:blipFill>
        <p:spPr>
          <a:xfrm>
            <a:off x="612000" y="6276164"/>
            <a:ext cx="6120000" cy="1148400"/>
          </a:xfrm>
          <a:prstGeom prst="rect">
            <a:avLst/>
          </a:prstGeom>
        </p:spPr>
      </p:pic>
      <p:sp>
        <p:nvSpPr>
          <p:cNvPr id="21" name="Shape 16"/>
          <p:cNvSpPr/>
          <p:nvPr/>
        </p:nvSpPr>
        <p:spPr>
          <a:xfrm>
            <a:off x="612000" y="8388000"/>
            <a:ext cx="6120000" cy="0"/>
          </a:xfrm>
          <a:prstGeom prst="line">
            <a:avLst/>
          </a:prstGeom>
          <a:noFill/>
          <a:ln w="8890">
            <a:solidFill>
              <a:srgbClr val="46606E"/>
            </a:solidFill>
            <a:prstDash val="solid"/>
          </a:ln>
        </p:spPr>
      </p:sp>
      <p:sp>
        <p:nvSpPr>
          <p:cNvPr id="22" name="Text 17"/>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franco de port.</a:t>
            </a:r>
            <a:endParaRPr lang="en-US" sz="720" dirty="0"/>
          </a:p>
        </p:txBody>
      </p:sp>
      <p:sp>
        <p:nvSpPr>
          <p:cNvPr id="23" name="Text 18"/>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4" name="Text 19"/>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Rosé    ● Rouge     pictos de l’Agence SCIO, pas les logos officiels</a:t>
            </a:r>
            <a:endParaRPr lang="en-US" sz="650" dirty="0"/>
          </a:p>
        </p:txBody>
      </p:sp>
      <p:sp>
        <p:nvSpPr>
          <p:cNvPr id="25" name="Text 2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47</a:t>
            </a:r>
            <a:endParaRPr lang="en-US" sz="750" dirty="0"/>
          </a:p>
        </p:txBody>
      </p:sp>
      <p:sp>
        <p:nvSpPr>
          <p:cNvPr id="26" name="Text 2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bordeaux.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26</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Château la Gorce</a:t>
            </a:r>
            <a:pPr indent="0" marL="0">
              <a:lnSpc>
                <a:spcPct val="104000"/>
              </a:lnSpc>
              <a:buNone/>
            </a:pP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2460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710725" y="1047600"/>
            <a:ext cx="787182"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710725"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11 références</a:t>
            </a:r>
            <a:endParaRPr lang="en-US" sz="72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90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(AB)</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Prétexte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(AB)</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Rouge Intense – sans sulfites ajoutés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6,25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(AB)</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L'An 022 – élevé en amphore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9,75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9,65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Rosé DADA</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(AB)</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Bonne Résolution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6,35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(AB)</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Canteloup</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5,05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4" name="Text 10"/>
          <p:cNvSpPr/>
          <p:nvPr/>
        </p:nvSpPr>
        <p:spPr>
          <a:xfrm>
            <a:off x="828000" y="4124147"/>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15" name="Image 1" descr="/home/user/philippe1/build/deco/sol-bordeaux.png">    </p:cNvPr>
          <p:cNvPicPr>
            <a:picLocks noChangeAspect="1"/>
          </p:cNvPicPr>
          <p:nvPr/>
        </p:nvPicPr>
        <p:blipFill>
          <a:blip r:embed="rId2"/>
          <a:stretch>
            <a:fillRect/>
          </a:stretch>
        </p:blipFill>
        <p:spPr>
          <a:xfrm>
            <a:off x="828000" y="4271747"/>
            <a:ext cx="6120000" cy="2281279"/>
          </a:xfrm>
          <a:prstGeom prst="rect">
            <a:avLst/>
          </a:prstGeom>
        </p:spPr>
      </p:pic>
      <p:sp>
        <p:nvSpPr>
          <p:cNvPr id="16" name="Shape 11"/>
          <p:cNvSpPr/>
          <p:nvPr/>
        </p:nvSpPr>
        <p:spPr>
          <a:xfrm>
            <a:off x="828000" y="8388000"/>
            <a:ext cx="6120000" cy="0"/>
          </a:xfrm>
          <a:prstGeom prst="line">
            <a:avLst/>
          </a:prstGeom>
          <a:noFill/>
          <a:ln w="8890">
            <a:solidFill>
              <a:srgbClr val="46606E"/>
            </a:solidFill>
            <a:prstDash val="solid"/>
          </a:ln>
        </p:spPr>
      </p:sp>
      <p:sp>
        <p:nvSpPr>
          <p:cNvPr id="17" name="Text 12"/>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franco de port.</a:t>
            </a:r>
            <a:endParaRPr lang="en-US" sz="720" dirty="0"/>
          </a:p>
        </p:txBody>
      </p:sp>
      <p:sp>
        <p:nvSpPr>
          <p:cNvPr id="18" name="Text 13"/>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19" name="Text 14"/>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Rosé    ● Rouge     pictos de l’Agence SCIO, pas les logos officiels</a:t>
            </a:r>
            <a:endParaRPr lang="en-US" sz="650" dirty="0"/>
          </a:p>
        </p:txBody>
      </p:sp>
      <p:sp>
        <p:nvSpPr>
          <p:cNvPr id="20" name="Text 15"/>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48</a:t>
            </a:r>
            <a:endParaRPr lang="en-US" sz="750" dirty="0"/>
          </a:p>
        </p:txBody>
      </p:sp>
      <p:sp>
        <p:nvSpPr>
          <p:cNvPr id="21" name="Text 16"/>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bordeaux.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27</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Château Falfas</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030051" y="1047600"/>
            <a:ext cx="568457" cy="180000"/>
          </a:xfrm>
          <a:prstGeom prst="roundRect">
            <a:avLst>
              <a:gd name="adj" fmla="val 10160"/>
            </a:avLst>
          </a:prstGeom>
          <a:solidFill>
            <a:srgbClr val="F2EADA"/>
          </a:solidFill>
          <a:ln w="8890">
            <a:solidFill>
              <a:srgbClr val="3C5B47"/>
            </a:solidFill>
            <a:prstDash val="solid"/>
          </a:ln>
        </p:spPr>
      </p:sp>
      <p:sp>
        <p:nvSpPr>
          <p:cNvPr id="10" name="Text 7"/>
          <p:cNvSpPr/>
          <p:nvPr/>
        </p:nvSpPr>
        <p:spPr>
          <a:xfrm>
            <a:off x="1030051" y="1047600"/>
            <a:ext cx="568457"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Biodyvin</a:t>
            </a:r>
            <a:endParaRPr lang="en-US" sz="720" dirty="0"/>
          </a:p>
        </p:txBody>
      </p:sp>
      <p:sp>
        <p:nvSpPr>
          <p:cNvPr id="11" name="Shape 8"/>
          <p:cNvSpPr/>
          <p:nvPr/>
        </p:nvSpPr>
        <p:spPr>
          <a:xfrm>
            <a:off x="1677709" y="1047600"/>
            <a:ext cx="1385474" cy="180000"/>
          </a:xfrm>
          <a:prstGeom prst="roundRect">
            <a:avLst>
              <a:gd name="adj" fmla="val 10160"/>
            </a:avLst>
          </a:prstGeom>
          <a:solidFill>
            <a:srgbClr val="F2EADA"/>
          </a:solidFill>
          <a:ln w="8890">
            <a:solidFill>
              <a:srgbClr val="A8515F"/>
            </a:solidFill>
            <a:prstDash val="solid"/>
          </a:ln>
        </p:spPr>
      </p:sp>
      <p:sp>
        <p:nvSpPr>
          <p:cNvPr id="12" name="Text 9"/>
          <p:cNvSpPr/>
          <p:nvPr/>
        </p:nvSpPr>
        <p:spPr>
          <a:xfrm>
            <a:off x="1677709"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3" name="Shape 10"/>
          <p:cNvSpPr/>
          <p:nvPr/>
        </p:nvSpPr>
        <p:spPr>
          <a:xfrm>
            <a:off x="3142382" y="1047600"/>
            <a:ext cx="732318" cy="180000"/>
          </a:xfrm>
          <a:prstGeom prst="roundRect">
            <a:avLst>
              <a:gd name="adj" fmla="val 10160"/>
            </a:avLst>
          </a:prstGeom>
          <a:solidFill>
            <a:srgbClr val="F2EADA"/>
          </a:solidFill>
          <a:ln w="8890">
            <a:solidFill>
              <a:srgbClr val="46606E"/>
            </a:solidFill>
            <a:prstDash val="solid"/>
          </a:ln>
        </p:spPr>
      </p:sp>
      <p:sp>
        <p:nvSpPr>
          <p:cNvPr id="14" name="Text 11"/>
          <p:cNvSpPr/>
          <p:nvPr/>
        </p:nvSpPr>
        <p:spPr>
          <a:xfrm>
            <a:off x="3142382"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 références</a:t>
            </a:r>
            <a:endParaRPr lang="en-US" sz="720" dirty="0"/>
          </a:p>
        </p:txBody>
      </p:sp>
      <p:sp>
        <p:nvSpPr>
          <p:cNvPr id="15" name="Shape 12"/>
          <p:cNvSpPr/>
          <p:nvPr/>
        </p:nvSpPr>
        <p:spPr>
          <a:xfrm>
            <a:off x="612000" y="1357200"/>
            <a:ext cx="1440000" cy="1440000"/>
          </a:xfrm>
          <a:prstGeom prst="ellipse">
            <a:avLst/>
          </a:prstGeom>
          <a:solidFill>
            <a:srgbClr val="F2EADA"/>
          </a:solidFill>
          <a:ln w="12700">
            <a:solidFill>
              <a:srgbClr val="46606E"/>
            </a:solidFill>
            <a:prstDash val="dash"/>
          </a:ln>
        </p:spPr>
      </p:sp>
      <p:sp>
        <p:nvSpPr>
          <p:cNvPr id="16" name="Text 13"/>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7" name="Shape 14"/>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8" name="Text 15"/>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9" name="Text 16"/>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Sentinelle édifiée en 1612 sur les coteaux argilo-calcaires de Bayon, Falfas est une référence pionnière de la biodynamie bordelaise, membre fondateur de Biodyvin sous la houlette de John et Véronique Cochran. Vingt hectares vendangés à la main pour des Côtes de Bourg racés et de longue garde.</a:t>
            </a:r>
            <a:endParaRPr lang="en-US" sz="13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Côtes de Bourg</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Demoiselles de Falfas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Côtes de Bourg</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Falfas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Côtes de Bourg</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Falfas Le Chevalier (Vieilles Vignes)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22,50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Text 17"/>
          <p:cNvSpPr/>
          <p:nvPr/>
        </p:nvSpPr>
        <p:spPr>
          <a:xfrm>
            <a:off x="612000" y="5297805"/>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22" name="Image 1" descr="/home/user/philippe1/build/deco/sol-bordeaux.png">    </p:cNvPr>
          <p:cNvPicPr>
            <a:picLocks noChangeAspect="1"/>
          </p:cNvPicPr>
          <p:nvPr/>
        </p:nvPicPr>
        <p:blipFill>
          <a:blip r:embed="rId2"/>
          <a:stretch>
            <a:fillRect/>
          </a:stretch>
        </p:blipFill>
        <p:spPr>
          <a:xfrm>
            <a:off x="612000" y="5445405"/>
            <a:ext cx="6120000" cy="1577084"/>
          </a:xfrm>
          <a:prstGeom prst="rect">
            <a:avLst/>
          </a:prstGeom>
        </p:spPr>
      </p:pic>
      <p:sp>
        <p:nvSpPr>
          <p:cNvPr id="23" name="Shape 18"/>
          <p:cNvSpPr/>
          <p:nvPr/>
        </p:nvSpPr>
        <p:spPr>
          <a:xfrm>
            <a:off x="612000" y="8388000"/>
            <a:ext cx="6120000" cy="0"/>
          </a:xfrm>
          <a:prstGeom prst="line">
            <a:avLst/>
          </a:prstGeom>
          <a:noFill/>
          <a:ln w="8890">
            <a:solidFill>
              <a:srgbClr val="46606E"/>
            </a:solidFill>
            <a:prstDash val="solid"/>
          </a:ln>
        </p:spPr>
      </p:sp>
      <p:sp>
        <p:nvSpPr>
          <p:cNvPr id="24" name="Text 19"/>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5" name="Text 20"/>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6" name="Text 21"/>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Rouge     pictos de l’Agence SCIO, pas les logos officiels</a:t>
            </a:r>
            <a:endParaRPr lang="en-US" sz="650" dirty="0"/>
          </a:p>
        </p:txBody>
      </p:sp>
      <p:sp>
        <p:nvSpPr>
          <p:cNvPr id="27" name="Text 22"/>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49</a:t>
            </a:r>
            <a:endParaRPr lang="en-US" sz="750" dirty="0"/>
          </a:p>
        </p:txBody>
      </p:sp>
      <p:sp>
        <p:nvSpPr>
          <p:cNvPr id="28" name="Text 23"/>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bordeaux.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28</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Château Pré la Lande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569006" cy="180000"/>
          </a:xfrm>
          <a:prstGeom prst="roundRect">
            <a:avLst>
              <a:gd name="adj" fmla="val 10160"/>
            </a:avLst>
          </a:prstGeom>
          <a:solidFill>
            <a:srgbClr val="F2EADA"/>
          </a:solidFill>
          <a:ln w="8890">
            <a:solidFill>
              <a:srgbClr val="3C5B47"/>
            </a:solidFill>
            <a:prstDash val="solid"/>
          </a:ln>
        </p:spPr>
      </p:sp>
      <p:sp>
        <p:nvSpPr>
          <p:cNvPr id="10" name="Text 7"/>
          <p:cNvSpPr/>
          <p:nvPr/>
        </p:nvSpPr>
        <p:spPr>
          <a:xfrm>
            <a:off x="1246051" y="1047600"/>
            <a:ext cx="569006"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Demeter</a:t>
            </a:r>
            <a:endParaRPr lang="en-US" sz="720" dirty="0"/>
          </a:p>
        </p:txBody>
      </p:sp>
      <p:sp>
        <p:nvSpPr>
          <p:cNvPr id="11" name="Shape 8"/>
          <p:cNvSpPr/>
          <p:nvPr/>
        </p:nvSpPr>
        <p:spPr>
          <a:xfrm>
            <a:off x="1894257" y="1047600"/>
            <a:ext cx="1385474" cy="180000"/>
          </a:xfrm>
          <a:prstGeom prst="roundRect">
            <a:avLst>
              <a:gd name="adj" fmla="val 10160"/>
            </a:avLst>
          </a:prstGeom>
          <a:solidFill>
            <a:srgbClr val="F2EADA"/>
          </a:solidFill>
          <a:ln w="8890">
            <a:solidFill>
              <a:srgbClr val="A8515F"/>
            </a:solidFill>
            <a:prstDash val="solid"/>
          </a:ln>
        </p:spPr>
      </p:sp>
      <p:sp>
        <p:nvSpPr>
          <p:cNvPr id="12" name="Text 9"/>
          <p:cNvSpPr/>
          <p:nvPr/>
        </p:nvSpPr>
        <p:spPr>
          <a:xfrm>
            <a:off x="1894257"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3" name="Shape 10"/>
          <p:cNvSpPr/>
          <p:nvPr/>
        </p:nvSpPr>
        <p:spPr>
          <a:xfrm>
            <a:off x="3358931" y="1047600"/>
            <a:ext cx="732318" cy="180000"/>
          </a:xfrm>
          <a:prstGeom prst="roundRect">
            <a:avLst>
              <a:gd name="adj" fmla="val 10160"/>
            </a:avLst>
          </a:prstGeom>
          <a:solidFill>
            <a:srgbClr val="F2EADA"/>
          </a:solidFill>
          <a:ln w="8890">
            <a:solidFill>
              <a:srgbClr val="46606E"/>
            </a:solidFill>
            <a:prstDash val="solid"/>
          </a:ln>
        </p:spPr>
      </p:sp>
      <p:sp>
        <p:nvSpPr>
          <p:cNvPr id="14" name="Text 11"/>
          <p:cNvSpPr/>
          <p:nvPr/>
        </p:nvSpPr>
        <p:spPr>
          <a:xfrm>
            <a:off x="3358931"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 références</a:t>
            </a:r>
            <a:endParaRPr lang="en-US" sz="720" dirty="0"/>
          </a:p>
        </p:txBody>
      </p:sp>
      <p:sp>
        <p:nvSpPr>
          <p:cNvPr id="15" name="Shape 12"/>
          <p:cNvSpPr/>
          <p:nvPr/>
        </p:nvSpPr>
        <p:spPr>
          <a:xfrm>
            <a:off x="828000" y="1357200"/>
            <a:ext cx="1440000" cy="1440000"/>
          </a:xfrm>
          <a:prstGeom prst="ellipse">
            <a:avLst/>
          </a:prstGeom>
          <a:solidFill>
            <a:srgbClr val="F2EADA"/>
          </a:solidFill>
          <a:ln w="12700">
            <a:solidFill>
              <a:srgbClr val="46606E"/>
            </a:solidFill>
            <a:prstDash val="dash"/>
          </a:ln>
        </p:spPr>
      </p:sp>
      <p:sp>
        <p:nvSpPr>
          <p:cNvPr id="16" name="Text 13"/>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7" name="Shape 14"/>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8" name="Text 15"/>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9" name="Text 16"/>
          <p:cNvSpPr/>
          <p:nvPr/>
        </p:nvSpPr>
        <p:spPr>
          <a:xfrm>
            <a:off x="2448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Perchée à 120 mètres au-dessus de la vallée de la Dordogne, cette propriété de 1860 conduit une biodynamie certifiée Demeter d’une remarquable précision. Vinifications douces, sulfites au strict minimum, élevages en barriques et amphores : des vins vivants, d’une grande vibration minérale.</a:t>
            </a:r>
            <a:endParaRPr lang="en-US" sz="13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Sainte-Foy Côtes de Bordeaux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Cuvée Diane / Le Vin Cœur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Sainte-Foy Côtes de Bordeaux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Cuvée TerraCotta / L'An Fort des Haltères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Sainte-Foy Côtes de Bordeaux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Cuvée des Fontenelles / Y'a Rien qui Presse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Text 17"/>
          <p:cNvSpPr/>
          <p:nvPr/>
        </p:nvSpPr>
        <p:spPr>
          <a:xfrm>
            <a:off x="828000" y="5297805"/>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22" name="Image 1" descr="/home/user/philippe1/build/deco/sol-bordeaux.png">    </p:cNvPr>
          <p:cNvPicPr>
            <a:picLocks noChangeAspect="1"/>
          </p:cNvPicPr>
          <p:nvPr/>
        </p:nvPicPr>
        <p:blipFill>
          <a:blip r:embed="rId2"/>
          <a:stretch>
            <a:fillRect/>
          </a:stretch>
        </p:blipFill>
        <p:spPr>
          <a:xfrm>
            <a:off x="828000" y="5445405"/>
            <a:ext cx="6120000" cy="1577084"/>
          </a:xfrm>
          <a:prstGeom prst="rect">
            <a:avLst/>
          </a:prstGeom>
        </p:spPr>
      </p:pic>
      <p:sp>
        <p:nvSpPr>
          <p:cNvPr id="23" name="Shape 18"/>
          <p:cNvSpPr/>
          <p:nvPr/>
        </p:nvSpPr>
        <p:spPr>
          <a:xfrm>
            <a:off x="828000" y="8388000"/>
            <a:ext cx="6120000" cy="0"/>
          </a:xfrm>
          <a:prstGeom prst="line">
            <a:avLst/>
          </a:prstGeom>
          <a:noFill/>
          <a:ln w="8890">
            <a:solidFill>
              <a:srgbClr val="46606E"/>
            </a:solidFill>
            <a:prstDash val="solid"/>
          </a:ln>
        </p:spPr>
      </p:sp>
      <p:sp>
        <p:nvSpPr>
          <p:cNvPr id="24" name="Text 19"/>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départ chai.</a:t>
            </a:r>
            <a:endParaRPr lang="en-US" sz="720" dirty="0"/>
          </a:p>
        </p:txBody>
      </p:sp>
      <p:sp>
        <p:nvSpPr>
          <p:cNvPr id="25" name="Text 20"/>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6" name="Text 21"/>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Rouge     pictos de l’Agence SCIO, pas les logos officiels</a:t>
            </a:r>
            <a:endParaRPr lang="en-US" sz="650" dirty="0"/>
          </a:p>
        </p:txBody>
      </p:sp>
      <p:sp>
        <p:nvSpPr>
          <p:cNvPr id="27" name="Text 22"/>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50</a:t>
            </a:r>
            <a:endParaRPr lang="en-US" sz="750" dirty="0"/>
          </a:p>
        </p:txBody>
      </p:sp>
      <p:sp>
        <p:nvSpPr>
          <p:cNvPr id="28" name="Text 23"/>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bordeaux.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29</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Château Balac</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030051"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0300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494725"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4947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 références</a:t>
            </a:r>
            <a:endParaRPr lang="en-US" sz="720" dirty="0"/>
          </a:p>
        </p:txBody>
      </p:sp>
      <p:sp>
        <p:nvSpPr>
          <p:cNvPr id="13" name="Shape 10"/>
          <p:cNvSpPr/>
          <p:nvPr/>
        </p:nvSpPr>
        <p:spPr>
          <a:xfrm>
            <a:off x="612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Au cœur d’une forêt de deux cents hectares, la famille Touchais veille depuis 1964 sur dix hectares de vignes à Saint-Laurent-Médoc. Classé Cru Bourgeois Supérieur et certifié bio, Balac cultive autour de sa chartreuse du XVIIIe siècle des vins de caractère et d’élégance.</a:t>
            </a:r>
            <a:endParaRPr lang="en-US" sz="13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180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Inopine (100 % Merlot)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Balac Sans Sulfites (100 % Merlot)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Syrah de Balac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Text 15"/>
          <p:cNvSpPr/>
          <p:nvPr/>
        </p:nvSpPr>
        <p:spPr>
          <a:xfrm>
            <a:off x="612000" y="5359123"/>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20" name="Image 1" descr="/home/user/philippe1/build/deco/sol-bordeaux.png">    </p:cNvPr>
          <p:cNvPicPr>
            <a:picLocks noChangeAspect="1"/>
          </p:cNvPicPr>
          <p:nvPr/>
        </p:nvPicPr>
        <p:blipFill>
          <a:blip r:embed="rId2"/>
          <a:stretch>
            <a:fillRect/>
          </a:stretch>
        </p:blipFill>
        <p:spPr>
          <a:xfrm>
            <a:off x="612000" y="5506723"/>
            <a:ext cx="6120000" cy="1540294"/>
          </a:xfrm>
          <a:prstGeom prst="rect">
            <a:avLst/>
          </a:prstGeom>
        </p:spPr>
      </p:pic>
      <p:sp>
        <p:nvSpPr>
          <p:cNvPr id="21" name="Shape 16"/>
          <p:cNvSpPr/>
          <p:nvPr/>
        </p:nvSpPr>
        <p:spPr>
          <a:xfrm>
            <a:off x="612000" y="8388000"/>
            <a:ext cx="6120000" cy="0"/>
          </a:xfrm>
          <a:prstGeom prst="line">
            <a:avLst/>
          </a:prstGeom>
          <a:noFill/>
          <a:ln w="8890">
            <a:solidFill>
              <a:srgbClr val="46606E"/>
            </a:solidFill>
            <a:prstDash val="solid"/>
          </a:ln>
        </p:spPr>
      </p:sp>
      <p:sp>
        <p:nvSpPr>
          <p:cNvPr id="22" name="Text 17"/>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3" name="Text 18"/>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4" name="Text 19"/>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Rouge     pictos de l’Agence SCIO, pas les logos officiels</a:t>
            </a:r>
            <a:endParaRPr lang="en-US" sz="650" dirty="0"/>
          </a:p>
        </p:txBody>
      </p:sp>
      <p:sp>
        <p:nvSpPr>
          <p:cNvPr id="25" name="Text 2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51</a:t>
            </a:r>
            <a:endParaRPr lang="en-US" sz="750" dirty="0"/>
          </a:p>
        </p:txBody>
      </p:sp>
      <p:sp>
        <p:nvSpPr>
          <p:cNvPr id="26" name="Text 2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bordeaux.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30</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Château l’Escarderie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2460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710725"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7107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8 références</a:t>
            </a:r>
            <a:endParaRPr lang="en-US" sz="720" dirty="0"/>
          </a:p>
        </p:txBody>
      </p:sp>
      <p:sp>
        <p:nvSpPr>
          <p:cNvPr id="13" name="Shape 10"/>
          <p:cNvSpPr/>
          <p:nvPr/>
        </p:nvSpPr>
        <p:spPr>
          <a:xfrm>
            <a:off x="828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448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Joyau intimiste à Saint-Germain-de-la-Rivière, en AOP Fronsac, qui renaît sous la conduite de Mélanie et Thomas. Vendanges manuelles, fermentations spontanées, sulfites mesurés et élevage sur-mesure (barriques, béton, amphores) pour des Merlots et Cabernets Francs veloutés et floraux.</a:t>
            </a:r>
            <a:endParaRPr lang="en-US" sz="13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Fronsac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Passion de Château l'Escarderie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Fronsac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Passion de Château l'Escarderie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Fronsac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l'Escarderie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Fronsac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Amphora de Château l'Escarderie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Bordeaux Clairet</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Clair de Lune de l'Escarderie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6,77</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Pétillant de l'Escarderie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6,77</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Confiance de l'Escarderie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Demoiselle de Saint-Germain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Text 15"/>
          <p:cNvSpPr/>
          <p:nvPr/>
        </p:nvSpPr>
        <p:spPr>
          <a:xfrm>
            <a:off x="828000" y="7221409"/>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20" name="Image 1" descr="/home/user/philippe1/build/deco/sol-bordeaux.png">    </p:cNvPr>
          <p:cNvPicPr>
            <a:picLocks noChangeAspect="1"/>
          </p:cNvPicPr>
          <p:nvPr/>
        </p:nvPicPr>
        <p:blipFill>
          <a:blip r:embed="rId2"/>
          <a:stretch>
            <a:fillRect/>
          </a:stretch>
        </p:blipFill>
        <p:spPr>
          <a:xfrm>
            <a:off x="828000" y="7369009"/>
            <a:ext cx="6120000" cy="719270"/>
          </a:xfrm>
          <a:prstGeom prst="rect">
            <a:avLst/>
          </a:prstGeom>
        </p:spPr>
      </p:pic>
      <p:sp>
        <p:nvSpPr>
          <p:cNvPr id="21" name="Shape 16"/>
          <p:cNvSpPr/>
          <p:nvPr/>
        </p:nvSpPr>
        <p:spPr>
          <a:xfrm>
            <a:off x="828000" y="8388000"/>
            <a:ext cx="6120000" cy="0"/>
          </a:xfrm>
          <a:prstGeom prst="line">
            <a:avLst/>
          </a:prstGeom>
          <a:noFill/>
          <a:ln w="8890">
            <a:solidFill>
              <a:srgbClr val="46606E"/>
            </a:solidFill>
            <a:prstDash val="solid"/>
          </a:ln>
        </p:spPr>
      </p:sp>
      <p:sp>
        <p:nvSpPr>
          <p:cNvPr id="22" name="Text 17"/>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départ, franco à partir de 180 bouteilles.</a:t>
            </a:r>
            <a:endParaRPr lang="en-US" sz="720" dirty="0"/>
          </a:p>
        </p:txBody>
      </p:sp>
      <p:sp>
        <p:nvSpPr>
          <p:cNvPr id="23" name="Text 18"/>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4" name="Text 19"/>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Rosé    ● Rouge     pictos de l’Agence SCIO, pas les logos officiels</a:t>
            </a:r>
            <a:endParaRPr lang="en-US" sz="650" dirty="0"/>
          </a:p>
        </p:txBody>
      </p:sp>
      <p:sp>
        <p:nvSpPr>
          <p:cNvPr id="25"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52</a:t>
            </a:r>
            <a:endParaRPr lang="en-US" sz="750" dirty="0"/>
          </a:p>
        </p:txBody>
      </p:sp>
      <p:sp>
        <p:nvSpPr>
          <p:cNvPr id="26"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46606E"/>
        </a:solidFill>
      </p:bgPr>
    </p:bg>
    <p:spTree>
      <p:nvGrpSpPr>
        <p:cNvPr id="1" name=""/>
        <p:cNvGrpSpPr/>
        <p:nvPr/>
      </p:nvGrpSpPr>
      <p:grpSpPr>
        <a:xfrm>
          <a:off x="0" y="0"/>
          <a:ext cx="0" cy="0"/>
          <a:chOff x="0" y="0"/>
          <a:chExt cx="0" cy="0"/>
        </a:xfrm>
      </p:grpSpPr>
      <p:pic>
        <p:nvPicPr>
          <p:cNvPr id="2" name="Image 0" descr="/home/user/philippe1/build/deco/ouverture-provence.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rotte-provence.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PROVENCE</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8 / 10</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Provence</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la Provence Verte</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1</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8</a:t>
            </a:r>
            <a:endParaRPr lang="en-US" sz="2000" dirty="0"/>
          </a:p>
        </p:txBody>
      </p:sp>
      <p:sp>
        <p:nvSpPr>
          <p:cNvPr id="11" name="Text 7"/>
          <p:cNvSpPr/>
          <p:nvPr/>
        </p:nvSpPr>
        <p:spPr>
          <a:xfrm>
            <a:off x="1620000" y="6660000"/>
            <a:ext cx="936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31   </a:t>
            </a:r>
            <a:pPr indent="0" marL="0">
              <a:buNone/>
            </a:pPr>
            <a:r>
              <a:rPr lang="en-US" sz="860" dirty="0">
                <a:solidFill>
                  <a:srgbClr val="FBF8F1"/>
                </a:solidFill>
                <a:latin typeface="IBM Plex Sans" pitchFamily="34" charset="0"/>
                <a:ea typeface="IBM Plex Sans" pitchFamily="34" charset="-122"/>
                <a:cs typeface="IBM Plex Sans" pitchFamily="34" charset="-120"/>
              </a:rPr>
              <a:t>Bastide de Blacailloux</a:t>
            </a:r>
            <a:pPr indent="0" marL="0">
              <a:buNone/>
            </a:pPr>
            <a:r>
              <a:rPr lang="en-US" sz="860" b="1" dirty="0">
                <a:solidFill>
                  <a:srgbClr val="FBF8F1"/>
                </a:solidFill>
                <a:latin typeface="IBM Plex Sans" pitchFamily="34" charset="0"/>
                <a:ea typeface="IBM Plex Sans" pitchFamily="34" charset="-122"/>
                <a:cs typeface="IBM Plex Sans" pitchFamily="34" charset="-120"/>
              </a:rPr>
              <a:t>   54</a:t>
            </a:r>
            <a:endParaRPr lang="en-US" sz="860" dirty="0"/>
          </a:p>
        </p:txBody>
      </p:sp>
      <p:sp>
        <p:nvSpPr>
          <p:cNvPr id="13" name="Text 9"/>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53</a:t>
            </a:r>
            <a:endParaRPr lang="en-US" sz="750" dirty="0"/>
          </a:p>
        </p:txBody>
      </p:sp>
      <p:sp>
        <p:nvSpPr>
          <p:cNvPr id="14" name="Text 10"/>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provenc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PROVENCE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31</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Bastide de Blacailloux</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PROVENCE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2460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710725"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7107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8 références</a:t>
            </a:r>
            <a:endParaRPr lang="en-US" sz="720" dirty="0"/>
          </a:p>
        </p:txBody>
      </p:sp>
      <p:sp>
        <p:nvSpPr>
          <p:cNvPr id="13" name="Shape 10"/>
          <p:cNvSpPr/>
          <p:nvPr/>
        </p:nvSpPr>
        <p:spPr>
          <a:xfrm>
            <a:off x="828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448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Écrin préservé à Tourves, Blacailloux incarne la Provence Verte depuis plus d’un siècle, conduit par la quatrième génération de la famille Chamoin. Chai bioclimatique à toit végétalisé et énergie photovoltaïque. Cuvées AOP Coteaux Varois et IGP Var, fraîches et aériennes.</a:t>
            </a:r>
            <a:endParaRPr lang="en-US" sz="13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180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Var Sainte Baume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SAINT PROBACE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5,15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Var Sainte Baume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SAINT PROBACE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5,35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Coteaux Varois en Provence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JOIO</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Coteaux Varois en Provence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JOIO</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150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14,15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Coteaux Varois en Provence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JOIO</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Coteaux Varois en Provence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JOIO</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150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14,15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Coteaux Varois en Provence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JOIO</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graphicFrame>
        <p:nvGraphicFramePr>
          <p:cNvPr id="109" name="Table 1"/>
          <p:cNvGraphicFramePr>
            <a:graphicFrameLocks noGrp="1"/>
          </p:cNvGraphicFramePr>
          <p:nvPr>
            <p:extLst>
              <p:ext uri="{D42A27DB-BD31-4B8C-83A1-F6EECF244321}">
                <p14:modId xmlns:p14="http://schemas.microsoft.com/office/powerpoint/2010/main" val="1579011935"/>
              </p:ext>
            </p:extLst>
          </p:nvPr>
        </p:nvGraphicFramePr>
        <p:xfrm>
          <a:off x="828000" y="6916005"/>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BIB · BAG-IN-BOX</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Var</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BLACAILLOUX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0" name="Shape 15"/>
          <p:cNvSpPr/>
          <p:nvPr/>
        </p:nvSpPr>
        <p:spPr>
          <a:xfrm>
            <a:off x="828000" y="8388000"/>
            <a:ext cx="6120000" cy="0"/>
          </a:xfrm>
          <a:prstGeom prst="line">
            <a:avLst/>
          </a:prstGeom>
          <a:noFill/>
          <a:ln w="8890">
            <a:solidFill>
              <a:srgbClr val="46606E"/>
            </a:solidFill>
            <a:prstDash val="solid"/>
          </a:ln>
        </p:spPr>
      </p:sp>
      <p:sp>
        <p:nvSpPr>
          <p:cNvPr id="21" name="Text 16"/>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franco de port.</a:t>
            </a:r>
            <a:endParaRPr lang="en-US" sz="720" dirty="0"/>
          </a:p>
        </p:txBody>
      </p:sp>
      <p:sp>
        <p:nvSpPr>
          <p:cNvPr id="22" name="Text 17"/>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56 · 85</a:t>
            </a:r>
            <a:endParaRPr lang="en-US" sz="720" dirty="0"/>
          </a:p>
        </p:txBody>
      </p:sp>
      <p:sp>
        <p:nvSpPr>
          <p:cNvPr id="23" name="Text 18"/>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pictos de l’Agence SCIO, pas les logos officiels</a:t>
            </a:r>
            <a:endParaRPr lang="en-US" sz="650" dirty="0"/>
          </a:p>
        </p:txBody>
      </p:sp>
      <p:sp>
        <p:nvSpPr>
          <p:cNvPr id="24" name="Text 19"/>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54</a:t>
            </a:r>
            <a:endParaRPr lang="en-US" sz="750" dirty="0"/>
          </a:p>
        </p:txBody>
      </p:sp>
      <p:sp>
        <p:nvSpPr>
          <p:cNvPr id="25" name="Text 20"/>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46606E"/>
        </a:solidFill>
      </p:bgPr>
    </p:bg>
    <p:spTree>
      <p:nvGrpSpPr>
        <p:cNvPr id="1" name=""/>
        <p:cNvGrpSpPr/>
        <p:nvPr/>
      </p:nvGrpSpPr>
      <p:grpSpPr>
        <a:xfrm>
          <a:off x="0" y="0"/>
          <a:ext cx="0" cy="0"/>
          <a:chOff x="0" y="0"/>
          <a:chExt cx="0" cy="0"/>
        </a:xfrm>
      </p:grpSpPr>
      <p:pic>
        <p:nvPicPr>
          <p:cNvPr id="2" name="Image 0" descr="/home/user/philippe1/build/deco/ouverture-languedoc.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rotte-languedoc.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9 / 10</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Languedoc</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terrasses et garrigue</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5</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57</a:t>
            </a:r>
            <a:endParaRPr lang="en-US" sz="2000" dirty="0"/>
          </a:p>
        </p:txBody>
      </p:sp>
      <p:sp>
        <p:nvSpPr>
          <p:cNvPr id="11" name="Text 7"/>
          <p:cNvSpPr/>
          <p:nvPr/>
        </p:nvSpPr>
        <p:spPr>
          <a:xfrm>
            <a:off x="1620000" y="6660000"/>
            <a:ext cx="936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32   </a:t>
            </a:r>
            <a:pPr indent="0" marL="0">
              <a:buNone/>
            </a:pPr>
            <a:r>
              <a:rPr lang="en-US" sz="860" dirty="0">
                <a:solidFill>
                  <a:srgbClr val="FBF8F1"/>
                </a:solidFill>
                <a:latin typeface="IBM Plex Sans" pitchFamily="34" charset="0"/>
                <a:ea typeface="IBM Plex Sans" pitchFamily="34" charset="-122"/>
                <a:cs typeface="IBM Plex Sans" pitchFamily="34" charset="-120"/>
              </a:rPr>
              <a:t>Famille d’Exea</a:t>
            </a:r>
            <a:pPr indent="0" marL="0">
              <a:buNone/>
            </a:pPr>
            <a:r>
              <a:rPr lang="en-US" sz="860" b="1" dirty="0">
                <a:solidFill>
                  <a:srgbClr val="FBF8F1"/>
                </a:solidFill>
                <a:latin typeface="IBM Plex Sans" pitchFamily="34" charset="0"/>
                <a:ea typeface="IBM Plex Sans" pitchFamily="34" charset="-122"/>
                <a:cs typeface="IBM Plex Sans" pitchFamily="34" charset="-120"/>
              </a:rPr>
              <a:t>   56</a:t>
            </a:r>
            <a:endParaRPr lang="en-US" sz="860" dirty="0"/>
          </a:p>
        </p:txBody>
      </p:sp>
      <p:sp>
        <p:nvSpPr>
          <p:cNvPr id="13" name="Text 9"/>
          <p:cNvSpPr/>
          <p:nvPr/>
        </p:nvSpPr>
        <p:spPr>
          <a:xfrm>
            <a:off x="367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33   </a:t>
            </a:r>
            <a:pPr indent="0" marL="0">
              <a:buNone/>
            </a:pPr>
            <a:r>
              <a:rPr lang="en-US" sz="860" dirty="0">
                <a:solidFill>
                  <a:srgbClr val="FBF8F1"/>
                </a:solidFill>
                <a:latin typeface="IBM Plex Sans" pitchFamily="34" charset="0"/>
                <a:ea typeface="IBM Plex Sans" pitchFamily="34" charset="-122"/>
                <a:cs typeface="IBM Plex Sans" pitchFamily="34" charset="-120"/>
              </a:rPr>
              <a:t>Famille d’Exea — Jus de Cépages</a:t>
            </a:r>
            <a:pPr indent="0" marL="0">
              <a:buNone/>
            </a:pPr>
            <a:r>
              <a:rPr lang="en-US" sz="860" b="1" dirty="0">
                <a:solidFill>
                  <a:srgbClr val="FBF8F1"/>
                </a:solidFill>
                <a:latin typeface="IBM Plex Sans" pitchFamily="34" charset="0"/>
                <a:ea typeface="IBM Plex Sans" pitchFamily="34" charset="-122"/>
                <a:cs typeface="IBM Plex Sans" pitchFamily="34" charset="-120"/>
              </a:rPr>
              <a:t>   58</a:t>
            </a:r>
            <a:endParaRPr lang="en-US" sz="860" dirty="0"/>
          </a:p>
        </p:txBody>
      </p:sp>
      <p:sp>
        <p:nvSpPr>
          <p:cNvPr id="14" name="Text 10"/>
          <p:cNvSpPr/>
          <p:nvPr/>
        </p:nvSpPr>
        <p:spPr>
          <a:xfrm>
            <a:off x="61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34   </a:t>
            </a:r>
            <a:pPr indent="0" marL="0">
              <a:buNone/>
            </a:pPr>
            <a:r>
              <a:rPr lang="en-US" sz="860" dirty="0">
                <a:solidFill>
                  <a:srgbClr val="FBF8F1"/>
                </a:solidFill>
                <a:latin typeface="IBM Plex Sans" pitchFamily="34" charset="0"/>
                <a:ea typeface="IBM Plex Sans" pitchFamily="34" charset="-122"/>
                <a:cs typeface="IBM Plex Sans" pitchFamily="34" charset="-120"/>
              </a:rPr>
              <a:t>Château de Gragnos</a:t>
            </a:r>
            <a:pPr indent="0" marL="0">
              <a:buNone/>
            </a:pPr>
            <a:r>
              <a:rPr lang="en-US" sz="860" b="1" dirty="0">
                <a:solidFill>
                  <a:srgbClr val="FBF8F1"/>
                </a:solidFill>
                <a:latin typeface="IBM Plex Sans" pitchFamily="34" charset="0"/>
                <a:ea typeface="IBM Plex Sans" pitchFamily="34" charset="-122"/>
                <a:cs typeface="IBM Plex Sans" pitchFamily="34" charset="-120"/>
              </a:rPr>
              <a:t>   59</a:t>
            </a:r>
            <a:endParaRPr lang="en-US" sz="860" dirty="0"/>
          </a:p>
        </p:txBody>
      </p:sp>
      <p:sp>
        <p:nvSpPr>
          <p:cNvPr id="15" name="Text 11"/>
          <p:cNvSpPr/>
          <p:nvPr/>
        </p:nvSpPr>
        <p:spPr>
          <a:xfrm>
            <a:off x="367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35   </a:t>
            </a:r>
            <a:pPr indent="0" marL="0">
              <a:buNone/>
            </a:pPr>
            <a:r>
              <a:rPr lang="en-US" sz="860" dirty="0">
                <a:solidFill>
                  <a:srgbClr val="FBF8F1"/>
                </a:solidFill>
                <a:latin typeface="IBM Plex Sans" pitchFamily="34" charset="0"/>
                <a:ea typeface="IBM Plex Sans" pitchFamily="34" charset="-122"/>
                <a:cs typeface="IBM Plex Sans" pitchFamily="34" charset="-120"/>
              </a:rPr>
              <a:t>Domaine Les Lys</a:t>
            </a:r>
            <a:pPr indent="0" marL="0">
              <a:buNone/>
            </a:pPr>
            <a:r>
              <a:rPr lang="en-US" sz="860" b="1" dirty="0">
                <a:solidFill>
                  <a:srgbClr val="FBF8F1"/>
                </a:solidFill>
                <a:latin typeface="IBM Plex Sans" pitchFamily="34" charset="0"/>
                <a:ea typeface="IBM Plex Sans" pitchFamily="34" charset="-122"/>
                <a:cs typeface="IBM Plex Sans" pitchFamily="34" charset="-120"/>
              </a:rPr>
              <a:t>   60</a:t>
            </a:r>
            <a:endParaRPr lang="en-US" sz="860" dirty="0"/>
          </a:p>
        </p:txBody>
      </p:sp>
      <p:sp>
        <p:nvSpPr>
          <p:cNvPr id="16" name="Text 12"/>
          <p:cNvSpPr/>
          <p:nvPr/>
        </p:nvSpPr>
        <p:spPr>
          <a:xfrm>
            <a:off x="612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36   </a:t>
            </a:r>
            <a:pPr indent="0" marL="0">
              <a:buNone/>
            </a:pPr>
            <a:r>
              <a:rPr lang="en-US" sz="860" dirty="0">
                <a:solidFill>
                  <a:srgbClr val="FBF8F1"/>
                </a:solidFill>
                <a:latin typeface="IBM Plex Sans" pitchFamily="34" charset="0"/>
                <a:ea typeface="IBM Plex Sans" pitchFamily="34" charset="-122"/>
                <a:cs typeface="IBM Plex Sans" pitchFamily="34" charset="-120"/>
              </a:rPr>
              <a:t>Prieuré Sainte-Marie d’Albas</a:t>
            </a:r>
            <a:pPr indent="0" marL="0">
              <a:buNone/>
            </a:pPr>
            <a:r>
              <a:rPr lang="en-US" sz="860" b="1" dirty="0">
                <a:solidFill>
                  <a:srgbClr val="FBF8F1"/>
                </a:solidFill>
                <a:latin typeface="IBM Plex Sans" pitchFamily="34" charset="0"/>
                <a:ea typeface="IBM Plex Sans" pitchFamily="34" charset="-122"/>
                <a:cs typeface="IBM Plex Sans" pitchFamily="34" charset="-120"/>
              </a:rPr>
              <a:t>   61</a:t>
            </a:r>
            <a:endParaRPr lang="en-US" sz="860" dirty="0"/>
          </a:p>
        </p:txBody>
      </p:sp>
      <p:sp>
        <p:nvSpPr>
          <p:cNvPr id="17" name="Text 13"/>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55</a:t>
            </a:r>
            <a:endParaRPr lang="en-US" sz="750" dirty="0"/>
          </a:p>
        </p:txBody>
      </p:sp>
      <p:sp>
        <p:nvSpPr>
          <p:cNvPr id="18" name="Text 14"/>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languedoc.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32</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Famille d’Exea</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LANGUEDOC</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1352190"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246051"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1" name="Shape 8"/>
          <p:cNvSpPr/>
          <p:nvPr/>
        </p:nvSpPr>
        <p:spPr>
          <a:xfrm>
            <a:off x="2677441" y="1047600"/>
            <a:ext cx="787182"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677441"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21 références</a:t>
            </a:r>
            <a:endParaRPr lang="en-US" sz="720" dirty="0"/>
          </a:p>
        </p:txBody>
      </p:sp>
      <p:sp>
        <p:nvSpPr>
          <p:cNvPr id="13" name="Shape 10"/>
          <p:cNvSpPr/>
          <p:nvPr/>
        </p:nvSpPr>
        <p:spPr>
          <a:xfrm>
            <a:off x="828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448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Depuis plusieurs générations, la famille d’Exea façonne sur les terroirs solaires du Languedoc des vins biologiques vibrants et sincères, alliant pureté du fruit et convivialité.</a:t>
            </a:r>
            <a:endParaRPr lang="en-US" sz="13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144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Pays 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PETIT JARDIN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3,43</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2,71</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Pays 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PETIT JARDIN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3,43</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2,71</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Pays 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PETIT JARDIN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3,43</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2,71</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JARDINS DE CORBIÈRES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4,74</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4,36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4,08</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JARDINS DE CORBIÈRES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4,74</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4,36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4,08</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BLANC SÉRAME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7,78</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7,16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6,13</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ROSE SÉRAME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7,78</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7,16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6,13</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ROUGE SÉRAME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7,78</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7,16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6,13</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Text 15"/>
          <p:cNvSpPr/>
          <p:nvPr/>
        </p:nvSpPr>
        <p:spPr>
          <a:xfrm>
            <a:off x="828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pPr indent="0" marL="0">
              <a:buNone/>
            </a:pPr>
            <a:r>
              <a:rPr lang="en-US" sz="740" dirty="0">
                <a:solidFill>
                  <a:srgbClr val="46606E"/>
                </a:solidFill>
                <a:latin typeface="IBM Plex Sans" pitchFamily="34" charset="0"/>
                <a:ea typeface="IBM Plex Sans" pitchFamily="34" charset="-122"/>
                <a:cs typeface="IBM Plex Sans" pitchFamily="34" charset="-120"/>
              </a:rPr>
              <a:t>Famille d’Exea : les vins et les jus de cépages — n°33 p. 58</a:t>
            </a:r>
            <a:endParaRPr lang="en-US" sz="740" dirty="0"/>
          </a:p>
        </p:txBody>
      </p:sp>
      <p:sp>
        <p:nvSpPr>
          <p:cNvPr id="20" name="Shape 16"/>
          <p:cNvSpPr/>
          <p:nvPr/>
        </p:nvSpPr>
        <p:spPr>
          <a:xfrm>
            <a:off x="828000" y="8388000"/>
            <a:ext cx="6120000" cy="0"/>
          </a:xfrm>
          <a:prstGeom prst="line">
            <a:avLst/>
          </a:prstGeom>
          <a:noFill/>
          <a:ln w="8890">
            <a:solidFill>
              <a:srgbClr val="46606E"/>
            </a:solidFill>
            <a:prstDash val="solid"/>
          </a:ln>
        </p:spPr>
      </p:sp>
      <p:sp>
        <p:nvSpPr>
          <p:cNvPr id="21" name="Text 17"/>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Franco de port à partir de 72 bouteilles</a:t>
            </a:r>
            <a:endParaRPr lang="en-US" sz="720" dirty="0"/>
          </a:p>
        </p:txBody>
      </p:sp>
      <p:sp>
        <p:nvSpPr>
          <p:cNvPr id="22" name="Text 18"/>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85</a:t>
            </a:r>
            <a:endParaRPr lang="en-US" sz="720" dirty="0"/>
          </a:p>
        </p:txBody>
      </p:sp>
      <p:sp>
        <p:nvSpPr>
          <p:cNvPr id="23" name="Text 19"/>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 Autre     pictos de l’Agence SCIO, pas les logos officiels</a:t>
            </a:r>
            <a:endParaRPr lang="en-US" sz="650" dirty="0"/>
          </a:p>
        </p:txBody>
      </p:sp>
      <p:sp>
        <p:nvSpPr>
          <p:cNvPr id="24"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56</a:t>
            </a:r>
            <a:endParaRPr lang="en-US" sz="750" dirty="0"/>
          </a:p>
        </p:txBody>
      </p:sp>
      <p:sp>
        <p:nvSpPr>
          <p:cNvPr id="25"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languedoc.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32</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Famille d’Exea</a:t>
            </a:r>
            <a:pPr indent="0" marL="0">
              <a:lnSpc>
                <a:spcPct val="104000"/>
              </a:lnSpc>
              <a:buNone/>
            </a:pP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LANGUEDOC</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030051" y="1047600"/>
            <a:ext cx="1352190"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030051"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1" name="Shape 8"/>
          <p:cNvSpPr/>
          <p:nvPr/>
        </p:nvSpPr>
        <p:spPr>
          <a:xfrm>
            <a:off x="2461441" y="1047600"/>
            <a:ext cx="787182"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461441"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21 références</a:t>
            </a:r>
            <a:endParaRPr lang="en-US" sz="72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612000" y="13572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144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 *</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LULLULA</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9,57</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7,54</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 *</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CARDUELIS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 *</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OENA</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Minervois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CHANT DE LUNE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7,78</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7,16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6,13</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Minervois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CHANT LIBRE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9,57</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7,54</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Minervois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CHANT DE LUMIÈRE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MUSCARIS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SOUVIGNIER GRIS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SAUVIGNON 9,5°</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GRENACHE GRIS 9,5°</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graphicFrame>
        <p:nvGraphicFramePr>
          <p:cNvPr id="115" name="Table 1"/>
          <p:cNvGraphicFramePr>
            <a:graphicFrameLocks noGrp="1"/>
          </p:cNvGraphicFramePr>
          <p:nvPr>
            <p:extLst>
              <p:ext uri="{D42A27DB-BD31-4B8C-83A1-F6EECF244321}">
                <p14:modId xmlns:p14="http://schemas.microsoft.com/office/powerpoint/2010/main" val="1579011935"/>
              </p:ext>
            </p:extLst>
          </p:nvPr>
        </p:nvGraphicFramePr>
        <p:xfrm>
          <a:off x="612000" y="5681030"/>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BIB · BAG-IN-BOX</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50 BIB demi pal</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100 BIB palette</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Pays 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Pergola D'Exea</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11,65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Pays 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Pergola D'Exea</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11,65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Pays 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Pergola D'Exea</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11,65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5" name="Text 10"/>
          <p:cNvSpPr/>
          <p:nvPr/>
        </p:nvSpPr>
        <p:spPr>
          <a:xfrm>
            <a:off x="612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pPr indent="0" marL="0">
              <a:buNone/>
            </a:pPr>
            <a:r>
              <a:rPr lang="en-US" sz="740" dirty="0">
                <a:solidFill>
                  <a:srgbClr val="46606E"/>
                </a:solidFill>
                <a:latin typeface="IBM Plex Sans" pitchFamily="34" charset="0"/>
                <a:ea typeface="IBM Plex Sans" pitchFamily="34" charset="-122"/>
                <a:cs typeface="IBM Plex Sans" pitchFamily="34" charset="-120"/>
              </a:rPr>
              <a:t>Famille d’Exea : les vins et les jus de cépages — n°33 p. 58</a:t>
            </a:r>
            <a:endParaRPr lang="en-US" sz="740" dirty="0"/>
          </a:p>
        </p:txBody>
      </p:sp>
      <p:sp>
        <p:nvSpPr>
          <p:cNvPr id="16" name="Shape 11"/>
          <p:cNvSpPr/>
          <p:nvPr/>
        </p:nvSpPr>
        <p:spPr>
          <a:xfrm>
            <a:off x="612000" y="8388000"/>
            <a:ext cx="6120000" cy="0"/>
          </a:xfrm>
          <a:prstGeom prst="line">
            <a:avLst/>
          </a:prstGeom>
          <a:noFill/>
          <a:ln w="8890">
            <a:solidFill>
              <a:srgbClr val="46606E"/>
            </a:solidFill>
            <a:prstDash val="solid"/>
          </a:ln>
        </p:spPr>
      </p:sp>
      <p:sp>
        <p:nvSpPr>
          <p:cNvPr id="17" name="Text 12"/>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Franco de port à partir de 72 bouteilles</a:t>
            </a:r>
            <a:endParaRPr lang="en-US" sz="720" dirty="0"/>
          </a:p>
        </p:txBody>
      </p:sp>
      <p:sp>
        <p:nvSpPr>
          <p:cNvPr id="18" name="Text 13"/>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85</a:t>
            </a:r>
            <a:endParaRPr lang="en-US" sz="720" dirty="0"/>
          </a:p>
        </p:txBody>
      </p:sp>
      <p:sp>
        <p:nvSpPr>
          <p:cNvPr id="19" name="Text 14"/>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 Autre     pictos de l’Agence SCIO, pas les logos officiels</a:t>
            </a:r>
            <a:endParaRPr lang="en-US" sz="650" dirty="0"/>
          </a:p>
        </p:txBody>
      </p:sp>
      <p:sp>
        <p:nvSpPr>
          <p:cNvPr id="20" name="Text 15"/>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57</a:t>
            </a:r>
            <a:endParaRPr lang="en-US" sz="750" dirty="0"/>
          </a:p>
        </p:txBody>
      </p:sp>
      <p:sp>
        <p:nvSpPr>
          <p:cNvPr id="21" name="Text 16"/>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languedoc.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33</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Famille d’Exea — Jus de Cépages</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LANGUEDOC</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1352190"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246051"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1" name="Shape 8"/>
          <p:cNvSpPr/>
          <p:nvPr/>
        </p:nvSpPr>
        <p:spPr>
          <a:xfrm>
            <a:off x="2677441"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677441"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8 références</a:t>
            </a:r>
            <a:endParaRPr lang="en-US" sz="720" dirty="0"/>
          </a:p>
        </p:txBody>
      </p:sp>
      <p:sp>
        <p:nvSpPr>
          <p:cNvPr id="13" name="Shape 10"/>
          <p:cNvSpPr/>
          <p:nvPr/>
        </p:nvSpPr>
        <p:spPr>
          <a:xfrm>
            <a:off x="828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448000" y="1357200"/>
            <a:ext cx="3456000" cy="2231900"/>
          </a:xfrm>
          <a:prstGeom prst="rect">
            <a:avLst/>
          </a:prstGeom>
          <a:noFill/>
          <a:ln/>
        </p:spPr>
        <p:txBody>
          <a:bodyPr wrap="square" lIns="0" tIns="0" rIns="0" bIns="0" rtlCol="0" anchor="ctr"/>
          <a:lstStyle/>
          <a:p>
            <a:pPr indent="0" marL="0">
              <a:lnSpc>
                <a:spcPct val="142000"/>
              </a:lnSpc>
              <a:buNone/>
            </a:pPr>
            <a:r>
              <a:rPr lang="en-US" sz="1225" dirty="0">
                <a:solidFill>
                  <a:srgbClr val="46606E"/>
                </a:solidFill>
                <a:latin typeface="Spectral" pitchFamily="34" charset="0"/>
                <a:ea typeface="Spectral" pitchFamily="34" charset="-122"/>
                <a:cs typeface="Spectral" pitchFamily="34" charset="-120"/>
              </a:rPr>
              <a:t>Issu des plus belles vignes du domaine, ces pur jus sont une expression authentique du terroir. Élaborés sans filtration ni additif, ils préservent la pureté des arômes du cépage, offrant une expérience de dégustation fruitée, fraîche et élégante. Parfait pour les amateurs de boissons saines et raffinées, ils se dégustent à tout moment de la journée.</a:t>
            </a:r>
            <a:endParaRPr lang="en-US" sz="1225"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 JUS DE CÉPAGES</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144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3C5B47"/>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Carton de 6 unités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SAUVIGNON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2,19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3C5B47"/>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Carton de 6 unités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CARIGNAN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2,19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3C5B47"/>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Carton de 6 unités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CHARDONNAY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2,19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3C5B47"/>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Carton de 6 unités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GRENACHE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2,19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3C5B47"/>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Carton de 6 unités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SYRAH</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2,19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graphicFrame>
        <p:nvGraphicFramePr>
          <p:cNvPr id="117" name="Table 1"/>
          <p:cNvGraphicFramePr>
            <a:graphicFrameLocks noGrp="1"/>
          </p:cNvGraphicFramePr>
          <p:nvPr>
            <p:extLst>
              <p:ext uri="{D42A27DB-BD31-4B8C-83A1-F6EECF244321}">
                <p14:modId xmlns:p14="http://schemas.microsoft.com/office/powerpoint/2010/main" val="1579011935"/>
              </p:ext>
            </p:extLst>
          </p:nvPr>
        </p:nvGraphicFramePr>
        <p:xfrm>
          <a:off x="828000" y="6085247"/>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 JUS DE CÉPAGES</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144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3C5B47"/>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Carton de 6 unités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CHARDONNAY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1,84</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1,74</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3C5B47"/>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Carton de 6 unités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GRENACHE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1,84</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1,74</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3C5B47"/>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Carton de 6 unités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SYRAH</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1,84</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1,74</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0" name="Text 15"/>
          <p:cNvSpPr/>
          <p:nvPr/>
        </p:nvSpPr>
        <p:spPr>
          <a:xfrm>
            <a:off x="828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pPr indent="0" marL="0">
              <a:buNone/>
            </a:pPr>
            <a:r>
              <a:rPr lang="en-US" sz="740" dirty="0">
                <a:solidFill>
                  <a:srgbClr val="46606E"/>
                </a:solidFill>
                <a:latin typeface="IBM Plex Sans" pitchFamily="34" charset="0"/>
                <a:ea typeface="IBM Plex Sans" pitchFamily="34" charset="-122"/>
                <a:cs typeface="IBM Plex Sans" pitchFamily="34" charset="-120"/>
              </a:rPr>
              <a:t>Famille d’Exea : les vins et les jus de cépages — n°32 p. 56</a:t>
            </a:r>
            <a:endParaRPr lang="en-US" sz="740" dirty="0"/>
          </a:p>
        </p:txBody>
      </p:sp>
      <p:sp>
        <p:nvSpPr>
          <p:cNvPr id="21" name="Shape 16"/>
          <p:cNvSpPr/>
          <p:nvPr/>
        </p:nvSpPr>
        <p:spPr>
          <a:xfrm>
            <a:off x="828000" y="8388000"/>
            <a:ext cx="6120000" cy="0"/>
          </a:xfrm>
          <a:prstGeom prst="line">
            <a:avLst/>
          </a:prstGeom>
          <a:noFill/>
          <a:ln w="8890">
            <a:solidFill>
              <a:srgbClr val="46606E"/>
            </a:solidFill>
            <a:prstDash val="solid"/>
          </a:ln>
        </p:spPr>
      </p:sp>
      <p:sp>
        <p:nvSpPr>
          <p:cNvPr id="22" name="Text 17"/>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Franco de port à partir de 72 bouteilles</a:t>
            </a:r>
            <a:endParaRPr lang="en-US" sz="720" dirty="0"/>
          </a:p>
        </p:txBody>
      </p:sp>
      <p:sp>
        <p:nvSpPr>
          <p:cNvPr id="23" name="Text 18"/>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85</a:t>
            </a:r>
            <a:endParaRPr lang="en-US" sz="720" dirty="0"/>
          </a:p>
        </p:txBody>
      </p:sp>
      <p:sp>
        <p:nvSpPr>
          <p:cNvPr id="24" name="Text 19"/>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Jus de cépages     pictos de l’Agence SCIO, pas les logos officiels</a:t>
            </a:r>
            <a:endParaRPr lang="en-US" sz="650" dirty="0"/>
          </a:p>
        </p:txBody>
      </p:sp>
      <p:sp>
        <p:nvSpPr>
          <p:cNvPr id="25"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58</a:t>
            </a:r>
            <a:endParaRPr lang="en-US" sz="750" dirty="0"/>
          </a:p>
        </p:txBody>
      </p:sp>
      <p:sp>
        <p:nvSpPr>
          <p:cNvPr id="26"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languedoc.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34</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Château de Gragnos</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LANGUEDOC</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030051"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0300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494725"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4947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8 références</a:t>
            </a:r>
            <a:endParaRPr lang="en-US" sz="720" dirty="0"/>
          </a:p>
        </p:txBody>
      </p:sp>
      <p:sp>
        <p:nvSpPr>
          <p:cNvPr id="13" name="Shape 10"/>
          <p:cNvSpPr/>
          <p:nvPr/>
        </p:nvSpPr>
        <p:spPr>
          <a:xfrm>
            <a:off x="612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Alain, Patricia et leurs fils révèlent l’âme de Gragnos par un soin méticuleux apporté à chaque pied de vigne. Engagé dans une conversion biologique, le domaine privilégie un accompagnement doux du végétal pour laisser rayonner l’identité du terroir sans le contraindre.</a:t>
            </a:r>
            <a:endParaRPr lang="en-US" sz="13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 Chinian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Henri</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Léon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 Chinian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Cosmos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 Chinian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Lou Daro</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 Chinian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Grain de Blanc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 Chinian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BDM</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Syrah Nature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 Chinian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Dolmen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Text 15"/>
          <p:cNvSpPr/>
          <p:nvPr/>
        </p:nvSpPr>
        <p:spPr>
          <a:xfrm>
            <a:off x="612000" y="7221409"/>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LANGUEDOC — TERRASSES ET GARRIGUE</a:t>
            </a:r>
            <a:endParaRPr lang="en-US" sz="720" dirty="0"/>
          </a:p>
        </p:txBody>
      </p:sp>
      <p:pic>
        <p:nvPicPr>
          <p:cNvPr id="20" name="Image 1" descr="/home/user/philippe1/build/deco/sol-languedoc.png">    </p:cNvPr>
          <p:cNvPicPr>
            <a:picLocks noChangeAspect="1"/>
          </p:cNvPicPr>
          <p:nvPr/>
        </p:nvPicPr>
        <p:blipFill>
          <a:blip r:embed="rId2"/>
          <a:stretch>
            <a:fillRect/>
          </a:stretch>
        </p:blipFill>
        <p:spPr>
          <a:xfrm>
            <a:off x="612000" y="7369009"/>
            <a:ext cx="6120000" cy="719270"/>
          </a:xfrm>
          <a:prstGeom prst="rect">
            <a:avLst/>
          </a:prstGeom>
        </p:spPr>
      </p:pic>
      <p:sp>
        <p:nvSpPr>
          <p:cNvPr id="21" name="Shape 16"/>
          <p:cNvSpPr/>
          <p:nvPr/>
        </p:nvSpPr>
        <p:spPr>
          <a:xfrm>
            <a:off x="612000" y="8388000"/>
            <a:ext cx="6120000" cy="0"/>
          </a:xfrm>
          <a:prstGeom prst="line">
            <a:avLst/>
          </a:prstGeom>
          <a:noFill/>
          <a:ln w="8890">
            <a:solidFill>
              <a:srgbClr val="46606E"/>
            </a:solidFill>
            <a:prstDash val="solid"/>
          </a:ln>
        </p:spPr>
      </p:sp>
      <p:sp>
        <p:nvSpPr>
          <p:cNvPr id="22" name="Text 17"/>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franco de port à partir de 180 bouteilles.</a:t>
            </a:r>
            <a:endParaRPr lang="en-US" sz="720" dirty="0"/>
          </a:p>
        </p:txBody>
      </p:sp>
      <p:sp>
        <p:nvSpPr>
          <p:cNvPr id="23" name="Text 18"/>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4" name="Text 19"/>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pictos de l’Agence SCIO, pas les logos officiels</a:t>
            </a:r>
            <a:endParaRPr lang="en-US" sz="650" dirty="0"/>
          </a:p>
        </p:txBody>
      </p:sp>
      <p:sp>
        <p:nvSpPr>
          <p:cNvPr id="25" name="Text 2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59</a:t>
            </a:r>
            <a:endParaRPr lang="en-US" sz="750" dirty="0"/>
          </a:p>
        </p:txBody>
      </p:sp>
      <p:sp>
        <p:nvSpPr>
          <p:cNvPr id="26" name="Text 2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languedoc.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35</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Domaine Les Lys</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LANGUEDOC</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2460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710725"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7107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7 références</a:t>
            </a:r>
            <a:endParaRPr lang="en-US" sz="720" dirty="0"/>
          </a:p>
        </p:txBody>
      </p:sp>
      <p:sp>
        <p:nvSpPr>
          <p:cNvPr id="13" name="Shape 10"/>
          <p:cNvSpPr/>
          <p:nvPr/>
        </p:nvSpPr>
        <p:spPr>
          <a:xfrm>
            <a:off x="828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448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Situé entre vignes et garrigues, le domaine près d'Uzès, face aux Cévennes, produit des vins d'une fraîcheur minérale incomparable. En respectant la biodiversité, ces parcelles sont reconnues par les appellations AOP Duché d’Uzès et IGP Cévennes.</a:t>
            </a:r>
            <a:endParaRPr lang="en-US" sz="13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Cévennes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Aillargues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Cévennes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Saint Anastasie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Cévennes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Petite Syrah</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Duché d'Uzès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Duché</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5,95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Duché d'Uzès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Librotte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2019</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Cévennes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Caillasses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Cévennes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Soif</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Text 15"/>
          <p:cNvSpPr/>
          <p:nvPr/>
        </p:nvSpPr>
        <p:spPr>
          <a:xfrm>
            <a:off x="828000" y="6836688"/>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LANGUEDOC — TERRASSES ET GARRIGUE</a:t>
            </a:r>
            <a:endParaRPr lang="en-US" sz="720" dirty="0"/>
          </a:p>
        </p:txBody>
      </p:sp>
      <p:pic>
        <p:nvPicPr>
          <p:cNvPr id="20" name="Image 1" descr="/home/user/philippe1/build/deco/sol-languedoc.png">    </p:cNvPr>
          <p:cNvPicPr>
            <a:picLocks noChangeAspect="1"/>
          </p:cNvPicPr>
          <p:nvPr/>
        </p:nvPicPr>
        <p:blipFill>
          <a:blip r:embed="rId2"/>
          <a:stretch>
            <a:fillRect/>
          </a:stretch>
        </p:blipFill>
        <p:spPr>
          <a:xfrm>
            <a:off x="828000" y="6984288"/>
            <a:ext cx="6120000" cy="1103991"/>
          </a:xfrm>
          <a:prstGeom prst="rect">
            <a:avLst/>
          </a:prstGeom>
        </p:spPr>
      </p:pic>
      <p:sp>
        <p:nvSpPr>
          <p:cNvPr id="21" name="Shape 16"/>
          <p:cNvSpPr/>
          <p:nvPr/>
        </p:nvSpPr>
        <p:spPr>
          <a:xfrm>
            <a:off x="828000" y="8388000"/>
            <a:ext cx="6120000" cy="0"/>
          </a:xfrm>
          <a:prstGeom prst="line">
            <a:avLst/>
          </a:prstGeom>
          <a:noFill/>
          <a:ln w="8890">
            <a:solidFill>
              <a:srgbClr val="46606E"/>
            </a:solidFill>
            <a:prstDash val="solid"/>
          </a:ln>
        </p:spPr>
      </p:sp>
      <p:sp>
        <p:nvSpPr>
          <p:cNvPr id="22" name="Text 17"/>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hors frais de transport.</a:t>
            </a:r>
            <a:endParaRPr lang="en-US" sz="720" dirty="0"/>
          </a:p>
        </p:txBody>
      </p:sp>
      <p:sp>
        <p:nvSpPr>
          <p:cNvPr id="23" name="Text 18"/>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4" name="Text 19"/>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5"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60</a:t>
            </a:r>
            <a:endParaRPr lang="en-US" sz="750" dirty="0"/>
          </a:p>
        </p:txBody>
      </p:sp>
      <p:sp>
        <p:nvSpPr>
          <p:cNvPr id="26"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languedoc.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36</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Prieuré Sainte-Marie d’Albas</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LANGUEDOC</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1385474" cy="180000"/>
          </a:xfrm>
          <a:prstGeom prst="roundRect">
            <a:avLst>
              <a:gd name="adj" fmla="val 10160"/>
            </a:avLst>
          </a:prstGeom>
          <a:solidFill>
            <a:srgbClr val="F2EADA"/>
          </a:solidFill>
          <a:ln w="8890">
            <a:solidFill>
              <a:srgbClr val="A8515F"/>
            </a:solidFill>
            <a:prstDash val="solid"/>
          </a:ln>
        </p:spPr>
      </p:sp>
      <p:sp>
        <p:nvSpPr>
          <p:cNvPr id="8" name="Text 5"/>
          <p:cNvSpPr/>
          <p:nvPr/>
        </p:nvSpPr>
        <p:spPr>
          <a:xfrm>
            <a:off x="612000"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9" name="Shape 6"/>
          <p:cNvSpPr/>
          <p:nvPr/>
        </p:nvSpPr>
        <p:spPr>
          <a:xfrm>
            <a:off x="2076674" y="1047600"/>
            <a:ext cx="787182" cy="180000"/>
          </a:xfrm>
          <a:prstGeom prst="roundRect">
            <a:avLst>
              <a:gd name="adj" fmla="val 10160"/>
            </a:avLst>
          </a:prstGeom>
          <a:solidFill>
            <a:srgbClr val="F2EADA"/>
          </a:solidFill>
          <a:ln w="8890">
            <a:solidFill>
              <a:srgbClr val="46606E"/>
            </a:solidFill>
            <a:prstDash val="solid"/>
          </a:ln>
        </p:spPr>
      </p:sp>
      <p:sp>
        <p:nvSpPr>
          <p:cNvPr id="10" name="Text 7"/>
          <p:cNvSpPr/>
          <p:nvPr/>
        </p:nvSpPr>
        <p:spPr>
          <a:xfrm>
            <a:off x="2076674"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13 références</a:t>
            </a:r>
            <a:endParaRPr lang="en-US" sz="720" dirty="0"/>
          </a:p>
        </p:txBody>
      </p:sp>
      <p:sp>
        <p:nvSpPr>
          <p:cNvPr id="11" name="Shape 8"/>
          <p:cNvSpPr/>
          <p:nvPr/>
        </p:nvSpPr>
        <p:spPr>
          <a:xfrm>
            <a:off x="612000" y="1357200"/>
            <a:ext cx="1440000" cy="1440000"/>
          </a:xfrm>
          <a:prstGeom prst="ellipse">
            <a:avLst/>
          </a:prstGeom>
          <a:solidFill>
            <a:srgbClr val="F2EADA"/>
          </a:solidFill>
          <a:ln w="12700">
            <a:solidFill>
              <a:srgbClr val="46606E"/>
            </a:solidFill>
            <a:prstDash val="dash"/>
          </a:ln>
        </p:spPr>
      </p:sp>
      <p:sp>
        <p:nvSpPr>
          <p:cNvPr id="12" name="Text 9"/>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3" name="Shape 10"/>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4" name="Text 11"/>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5" name="Text 12"/>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225" dirty="0">
                <a:solidFill>
                  <a:srgbClr val="46606E"/>
                </a:solidFill>
                <a:latin typeface="Spectral" pitchFamily="34" charset="0"/>
                <a:ea typeface="Spectral" pitchFamily="34" charset="-122"/>
                <a:cs typeface="Spectral" pitchFamily="34" charset="-120"/>
              </a:rPr>
              <a:t>Au pied de la Montagne d’Alaric, au cœur des Corbières, Laurence et Vincent Licciardi-Pirot cultivent des vignes plantées en terrasses et balayées par le vent du Cers. Les vins sont élevés dans une ancienne cave de village à demi enterrée : des rouges chaleureux du Midi, des blancs et des rosés tout en fraîcheur. AOP Corbières et IGP Pays d’Oc.</a:t>
            </a:r>
            <a:endParaRPr lang="en-US" sz="1225"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Clos de Cassis – élevé en fûts de chêne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Clos de Cassis – élevé en fûts de chêne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Magnum 1,5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Tempo – élevé en fûts de chêne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Terre Rouge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Terre Rouge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Magnum 1,5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7" name="Text 13"/>
          <p:cNvSpPr/>
          <p:nvPr/>
        </p:nvSpPr>
        <p:spPr>
          <a:xfrm>
            <a:off x="612000" y="6067247"/>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LANGUEDOC — TERRASSES ET GARRIGUE</a:t>
            </a:r>
            <a:endParaRPr lang="en-US" sz="720" dirty="0"/>
          </a:p>
        </p:txBody>
      </p:sp>
      <p:pic>
        <p:nvPicPr>
          <p:cNvPr id="18" name="Image 1" descr="/home/user/philippe1/build/deco/sol-languedoc.png">    </p:cNvPr>
          <p:cNvPicPr>
            <a:picLocks noChangeAspect="1"/>
          </p:cNvPicPr>
          <p:nvPr/>
        </p:nvPicPr>
        <p:blipFill>
          <a:blip r:embed="rId2"/>
          <a:stretch>
            <a:fillRect/>
          </a:stretch>
        </p:blipFill>
        <p:spPr>
          <a:xfrm>
            <a:off x="612000" y="6214847"/>
            <a:ext cx="6120000" cy="1148400"/>
          </a:xfrm>
          <a:prstGeom prst="rect">
            <a:avLst/>
          </a:prstGeom>
        </p:spPr>
      </p:pic>
      <p:sp>
        <p:nvSpPr>
          <p:cNvPr id="19" name="Shape 14"/>
          <p:cNvSpPr/>
          <p:nvPr/>
        </p:nvSpPr>
        <p:spPr>
          <a:xfrm>
            <a:off x="612000" y="8388000"/>
            <a:ext cx="6120000" cy="0"/>
          </a:xfrm>
          <a:prstGeom prst="line">
            <a:avLst/>
          </a:prstGeom>
          <a:noFill/>
          <a:ln w="8890">
            <a:solidFill>
              <a:srgbClr val="46606E"/>
            </a:solidFill>
            <a:prstDash val="solid"/>
          </a:ln>
        </p:spPr>
      </p:sp>
      <p:sp>
        <p:nvSpPr>
          <p:cNvPr id="20" name="Text 15"/>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départ cave.</a:t>
            </a:r>
            <a:endParaRPr lang="en-US" sz="720" dirty="0"/>
          </a:p>
        </p:txBody>
      </p:sp>
      <p:sp>
        <p:nvSpPr>
          <p:cNvPr id="21" name="Text 16"/>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2" name="Text 17"/>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pictos de l’Agence SCIO, pas les logos officiels</a:t>
            </a:r>
            <a:endParaRPr lang="en-US" sz="650" dirty="0"/>
          </a:p>
        </p:txBody>
      </p:sp>
      <p:sp>
        <p:nvSpPr>
          <p:cNvPr id="23" name="Text 18"/>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61</a:t>
            </a:r>
            <a:endParaRPr lang="en-US" sz="750" dirty="0"/>
          </a:p>
        </p:txBody>
      </p:sp>
      <p:sp>
        <p:nvSpPr>
          <p:cNvPr id="24" name="Text 19"/>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languedoc.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36</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Prieuré Sainte-Marie d’Albas</a:t>
            </a:r>
            <a:pPr indent="0" marL="0">
              <a:lnSpc>
                <a:spcPct val="104000"/>
              </a:lnSpc>
              <a:buNone/>
            </a:pP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LANGUEDOC</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1385474" cy="180000"/>
          </a:xfrm>
          <a:prstGeom prst="roundRect">
            <a:avLst>
              <a:gd name="adj" fmla="val 10160"/>
            </a:avLst>
          </a:prstGeom>
          <a:solidFill>
            <a:srgbClr val="F2EADA"/>
          </a:solidFill>
          <a:ln w="8890">
            <a:solidFill>
              <a:srgbClr val="A8515F"/>
            </a:solidFill>
            <a:prstDash val="solid"/>
          </a:ln>
        </p:spPr>
      </p:sp>
      <p:sp>
        <p:nvSpPr>
          <p:cNvPr id="8" name="Text 5"/>
          <p:cNvSpPr/>
          <p:nvPr/>
        </p:nvSpPr>
        <p:spPr>
          <a:xfrm>
            <a:off x="828000"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9" name="Shape 6"/>
          <p:cNvSpPr/>
          <p:nvPr/>
        </p:nvSpPr>
        <p:spPr>
          <a:xfrm>
            <a:off x="2292674" y="1047600"/>
            <a:ext cx="787182" cy="180000"/>
          </a:xfrm>
          <a:prstGeom prst="roundRect">
            <a:avLst>
              <a:gd name="adj" fmla="val 10160"/>
            </a:avLst>
          </a:prstGeom>
          <a:solidFill>
            <a:srgbClr val="F2EADA"/>
          </a:solidFill>
          <a:ln w="8890">
            <a:solidFill>
              <a:srgbClr val="46606E"/>
            </a:solidFill>
            <a:prstDash val="solid"/>
          </a:ln>
        </p:spPr>
      </p:sp>
      <p:sp>
        <p:nvSpPr>
          <p:cNvPr id="10" name="Text 7"/>
          <p:cNvSpPr/>
          <p:nvPr/>
        </p:nvSpPr>
        <p:spPr>
          <a:xfrm>
            <a:off x="2292674"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13 références</a:t>
            </a:r>
            <a:endParaRPr lang="en-US" sz="72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4 Saisons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4 Saisons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Magnum 1,5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Sonate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Potion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Arlequin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Pays 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Pinot 100 % – vinification égrappée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Pays 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Blanc Albas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Corbières Rouge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BIB 3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2" name="Text 8"/>
          <p:cNvSpPr/>
          <p:nvPr/>
        </p:nvSpPr>
        <p:spPr>
          <a:xfrm>
            <a:off x="828000" y="4832271"/>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LANGUEDOC — TERRASSES ET GARRIGUE</a:t>
            </a:r>
            <a:endParaRPr lang="en-US" sz="720" dirty="0"/>
          </a:p>
        </p:txBody>
      </p:sp>
      <p:pic>
        <p:nvPicPr>
          <p:cNvPr id="13" name="Image 1" descr="/home/user/philippe1/build/deco/sol-languedoc.png">    </p:cNvPr>
          <p:cNvPicPr>
            <a:picLocks noChangeAspect="1"/>
          </p:cNvPicPr>
          <p:nvPr/>
        </p:nvPicPr>
        <p:blipFill>
          <a:blip r:embed="rId2"/>
          <a:stretch>
            <a:fillRect/>
          </a:stretch>
        </p:blipFill>
        <p:spPr>
          <a:xfrm>
            <a:off x="828000" y="4979871"/>
            <a:ext cx="6120000" cy="1856405"/>
          </a:xfrm>
          <a:prstGeom prst="rect">
            <a:avLst/>
          </a:prstGeom>
        </p:spPr>
      </p:pic>
      <p:sp>
        <p:nvSpPr>
          <p:cNvPr id="14" name="Shape 9"/>
          <p:cNvSpPr/>
          <p:nvPr/>
        </p:nvSpPr>
        <p:spPr>
          <a:xfrm>
            <a:off x="828000" y="8388000"/>
            <a:ext cx="6120000" cy="0"/>
          </a:xfrm>
          <a:prstGeom prst="line">
            <a:avLst/>
          </a:prstGeom>
          <a:noFill/>
          <a:ln w="8890">
            <a:solidFill>
              <a:srgbClr val="46606E"/>
            </a:solidFill>
            <a:prstDash val="solid"/>
          </a:ln>
        </p:spPr>
      </p:sp>
      <p:sp>
        <p:nvSpPr>
          <p:cNvPr id="15" name="Text 10"/>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départ cave.</a:t>
            </a:r>
            <a:endParaRPr lang="en-US" sz="720" dirty="0"/>
          </a:p>
        </p:txBody>
      </p:sp>
      <p:sp>
        <p:nvSpPr>
          <p:cNvPr id="16" name="Text 11"/>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17" name="Text 12"/>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pictos de l’Agence SCIO, pas les logos officiels</a:t>
            </a:r>
            <a:endParaRPr lang="en-US" sz="650" dirty="0"/>
          </a:p>
        </p:txBody>
      </p:sp>
      <p:sp>
        <p:nvSpPr>
          <p:cNvPr id="18" name="Text 13"/>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62</a:t>
            </a:r>
            <a:endParaRPr lang="en-US" sz="750" dirty="0"/>
          </a:p>
        </p:txBody>
      </p:sp>
      <p:sp>
        <p:nvSpPr>
          <p:cNvPr id="19" name="Text 14"/>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46606E"/>
        </a:solidFill>
      </p:bgPr>
    </p:bg>
    <p:spTree>
      <p:nvGrpSpPr>
        <p:cNvPr id="1" name=""/>
        <p:cNvGrpSpPr/>
        <p:nvPr/>
      </p:nvGrpSpPr>
      <p:grpSpPr>
        <a:xfrm>
          <a:off x="0" y="0"/>
          <a:ext cx="0" cy="0"/>
          <a:chOff x="0" y="0"/>
          <a:chExt cx="0" cy="0"/>
        </a:xfrm>
      </p:grpSpPr>
      <p:pic>
        <p:nvPicPr>
          <p:cNvPr id="2" name="Image 0" descr="/home/user/philippe1/build/deco/ouverture-champagne.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rotte-champagne.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CHAMPAGNE</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46606E"/>
                </a:solidFill>
                <a:latin typeface="IBM Plex Sans" pitchFamily="34" charset="0"/>
                <a:ea typeface="IBM Plex Sans" pitchFamily="34" charset="-122"/>
                <a:cs typeface="IBM Plex Sans" pitchFamily="34" charset="-120"/>
              </a:rPr>
              <a:t>10 / 10</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46606E"/>
                </a:solidFill>
                <a:latin typeface="Young Serif" pitchFamily="34" charset="0"/>
                <a:ea typeface="Young Serif" pitchFamily="34" charset="-122"/>
                <a:cs typeface="Young Serif" pitchFamily="34" charset="-120"/>
              </a:rPr>
              <a:t>Champagne</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46606E"/>
                </a:solidFill>
                <a:latin typeface="Spectral" pitchFamily="34" charset="0"/>
                <a:ea typeface="Spectral" pitchFamily="34" charset="-122"/>
                <a:cs typeface="Spectral" pitchFamily="34" charset="-120"/>
              </a:rPr>
              <a:t>la craie</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46606E"/>
                </a:solidFill>
                <a:latin typeface="Young Serif" pitchFamily="34" charset="0"/>
                <a:ea typeface="Young Serif" pitchFamily="34" charset="-122"/>
                <a:cs typeface="Young Serif" pitchFamily="34" charset="-120"/>
              </a:rPr>
              <a:t>4</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46606E"/>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46606E"/>
                </a:solidFill>
                <a:latin typeface="Young Serif" pitchFamily="34" charset="0"/>
                <a:ea typeface="Young Serif" pitchFamily="34" charset="-122"/>
                <a:cs typeface="Young Serif" pitchFamily="34" charset="-120"/>
              </a:rPr>
              <a:t>26</a:t>
            </a:r>
            <a:endParaRPr lang="en-US" sz="2000" dirty="0"/>
          </a:p>
        </p:txBody>
      </p:sp>
      <p:sp>
        <p:nvSpPr>
          <p:cNvPr id="11" name="Text 7"/>
          <p:cNvSpPr/>
          <p:nvPr/>
        </p:nvSpPr>
        <p:spPr>
          <a:xfrm>
            <a:off x="1620000" y="6660000"/>
            <a:ext cx="936000" cy="180000"/>
          </a:xfrm>
          <a:prstGeom prst="rect">
            <a:avLst/>
          </a:prstGeom>
          <a:noFill/>
          <a:ln/>
        </p:spPr>
        <p:txBody>
          <a:bodyPr wrap="square" lIns="0" tIns="0" rIns="0" bIns="0" rtlCol="0" anchor="ctr"/>
          <a:lstStyle/>
          <a:p>
            <a:pPr indent="0" marL="0">
              <a:buNone/>
            </a:pPr>
            <a:r>
              <a:rPr lang="en-US" sz="850" dirty="0">
                <a:solidFill>
                  <a:srgbClr val="46606E"/>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46606E"/>
                </a:solidFill>
                <a:latin typeface="Young Serif" pitchFamily="34" charset="0"/>
                <a:ea typeface="Young Serif" pitchFamily="34" charset="-122"/>
                <a:cs typeface="Young Serif" pitchFamily="34" charset="-120"/>
              </a:rPr>
              <a:t>37   </a:t>
            </a:r>
            <a:pPr indent="0" marL="0">
              <a:buNone/>
            </a:pPr>
            <a:r>
              <a:rPr lang="en-US" sz="860" dirty="0">
                <a:solidFill>
                  <a:srgbClr val="46606E"/>
                </a:solidFill>
                <a:latin typeface="IBM Plex Sans" pitchFamily="34" charset="0"/>
                <a:ea typeface="IBM Plex Sans" pitchFamily="34" charset="-122"/>
                <a:cs typeface="IBM Plex Sans" pitchFamily="34" charset="-120"/>
              </a:rPr>
              <a:t>Champagne Dekeyne</a:t>
            </a:r>
            <a:pPr indent="0" marL="0">
              <a:buNone/>
            </a:pPr>
            <a:r>
              <a:rPr lang="en-US" sz="860" b="1" dirty="0">
                <a:solidFill>
                  <a:srgbClr val="46606E"/>
                </a:solidFill>
                <a:latin typeface="IBM Plex Sans" pitchFamily="34" charset="0"/>
                <a:ea typeface="IBM Plex Sans" pitchFamily="34" charset="-122"/>
                <a:cs typeface="IBM Plex Sans" pitchFamily="34" charset="-120"/>
              </a:rPr>
              <a:t>   64</a:t>
            </a:r>
            <a:endParaRPr lang="en-US" sz="860" dirty="0"/>
          </a:p>
        </p:txBody>
      </p:sp>
      <p:sp>
        <p:nvSpPr>
          <p:cNvPr id="13" name="Text 9"/>
          <p:cNvSpPr/>
          <p:nvPr/>
        </p:nvSpPr>
        <p:spPr>
          <a:xfrm>
            <a:off x="3672000" y="7128000"/>
            <a:ext cx="2916000" cy="216000"/>
          </a:xfrm>
          <a:prstGeom prst="rect">
            <a:avLst/>
          </a:prstGeom>
          <a:noFill/>
          <a:ln/>
        </p:spPr>
        <p:txBody>
          <a:bodyPr wrap="square" lIns="0" tIns="0" rIns="0" bIns="0" rtlCol="0" anchor="ctr"/>
          <a:lstStyle/>
          <a:p>
            <a:pPr indent="0" marL="0">
              <a:buNone/>
            </a:pPr>
            <a:r>
              <a:rPr lang="en-US" sz="1100" dirty="0">
                <a:solidFill>
                  <a:srgbClr val="46606E"/>
                </a:solidFill>
                <a:latin typeface="Young Serif" pitchFamily="34" charset="0"/>
                <a:ea typeface="Young Serif" pitchFamily="34" charset="-122"/>
                <a:cs typeface="Young Serif" pitchFamily="34" charset="-120"/>
              </a:rPr>
              <a:t>38   </a:t>
            </a:r>
            <a:pPr indent="0" marL="0">
              <a:buNone/>
            </a:pPr>
            <a:r>
              <a:rPr lang="en-US" sz="860" dirty="0">
                <a:solidFill>
                  <a:srgbClr val="46606E"/>
                </a:solidFill>
                <a:latin typeface="IBM Plex Sans" pitchFamily="34" charset="0"/>
                <a:ea typeface="IBM Plex Sans" pitchFamily="34" charset="-122"/>
                <a:cs typeface="IBM Plex Sans" pitchFamily="34" charset="-120"/>
              </a:rPr>
              <a:t>Champagne Denis Frézier</a:t>
            </a:r>
            <a:pPr indent="0" marL="0">
              <a:buNone/>
            </a:pPr>
            <a:r>
              <a:rPr lang="en-US" sz="860" b="1" dirty="0">
                <a:solidFill>
                  <a:srgbClr val="46606E"/>
                </a:solidFill>
                <a:latin typeface="IBM Plex Sans" pitchFamily="34" charset="0"/>
                <a:ea typeface="IBM Plex Sans" pitchFamily="34" charset="-122"/>
                <a:cs typeface="IBM Plex Sans" pitchFamily="34" charset="-120"/>
              </a:rPr>
              <a:t>   65</a:t>
            </a:r>
            <a:endParaRPr lang="en-US" sz="860" dirty="0"/>
          </a:p>
        </p:txBody>
      </p:sp>
      <p:sp>
        <p:nvSpPr>
          <p:cNvPr id="14" name="Text 10"/>
          <p:cNvSpPr/>
          <p:nvPr/>
        </p:nvSpPr>
        <p:spPr>
          <a:xfrm>
            <a:off x="612000" y="7380000"/>
            <a:ext cx="2916000" cy="216000"/>
          </a:xfrm>
          <a:prstGeom prst="rect">
            <a:avLst/>
          </a:prstGeom>
          <a:noFill/>
          <a:ln/>
        </p:spPr>
        <p:txBody>
          <a:bodyPr wrap="square" lIns="0" tIns="0" rIns="0" bIns="0" rtlCol="0" anchor="ctr"/>
          <a:lstStyle/>
          <a:p>
            <a:pPr indent="0" marL="0">
              <a:buNone/>
            </a:pPr>
            <a:r>
              <a:rPr lang="en-US" sz="1100" dirty="0">
                <a:solidFill>
                  <a:srgbClr val="46606E"/>
                </a:solidFill>
                <a:latin typeface="Young Serif" pitchFamily="34" charset="0"/>
                <a:ea typeface="Young Serif" pitchFamily="34" charset="-122"/>
                <a:cs typeface="Young Serif" pitchFamily="34" charset="-120"/>
              </a:rPr>
              <a:t>39   </a:t>
            </a:r>
            <a:pPr indent="0" marL="0">
              <a:buNone/>
            </a:pPr>
            <a:r>
              <a:rPr lang="en-US" sz="860" dirty="0">
                <a:solidFill>
                  <a:srgbClr val="46606E"/>
                </a:solidFill>
                <a:latin typeface="IBM Plex Sans" pitchFamily="34" charset="0"/>
                <a:ea typeface="IBM Plex Sans" pitchFamily="34" charset="-122"/>
                <a:cs typeface="IBM Plex Sans" pitchFamily="34" charset="-120"/>
              </a:rPr>
              <a:t>Champagne Solemme</a:t>
            </a:r>
            <a:pPr indent="0" marL="0">
              <a:buNone/>
            </a:pPr>
            <a:r>
              <a:rPr lang="en-US" sz="860" b="1" dirty="0">
                <a:solidFill>
                  <a:srgbClr val="46606E"/>
                </a:solidFill>
                <a:latin typeface="IBM Plex Sans" pitchFamily="34" charset="0"/>
                <a:ea typeface="IBM Plex Sans" pitchFamily="34" charset="-122"/>
                <a:cs typeface="IBM Plex Sans" pitchFamily="34" charset="-120"/>
              </a:rPr>
              <a:t>   66</a:t>
            </a:r>
            <a:endParaRPr lang="en-US" sz="860" dirty="0"/>
          </a:p>
        </p:txBody>
      </p:sp>
      <p:sp>
        <p:nvSpPr>
          <p:cNvPr id="15" name="Text 11"/>
          <p:cNvSpPr/>
          <p:nvPr/>
        </p:nvSpPr>
        <p:spPr>
          <a:xfrm>
            <a:off x="3672000" y="7380000"/>
            <a:ext cx="2916000" cy="216000"/>
          </a:xfrm>
          <a:prstGeom prst="rect">
            <a:avLst/>
          </a:prstGeom>
          <a:noFill/>
          <a:ln/>
        </p:spPr>
        <p:txBody>
          <a:bodyPr wrap="square" lIns="0" tIns="0" rIns="0" bIns="0" rtlCol="0" anchor="ctr"/>
          <a:lstStyle/>
          <a:p>
            <a:pPr indent="0" marL="0">
              <a:buNone/>
            </a:pPr>
            <a:r>
              <a:rPr lang="en-US" sz="1100" dirty="0">
                <a:solidFill>
                  <a:srgbClr val="46606E"/>
                </a:solidFill>
                <a:latin typeface="Young Serif" pitchFamily="34" charset="0"/>
                <a:ea typeface="Young Serif" pitchFamily="34" charset="-122"/>
                <a:cs typeface="Young Serif" pitchFamily="34" charset="-120"/>
              </a:rPr>
              <a:t>40   </a:t>
            </a:r>
            <a:pPr indent="0" marL="0">
              <a:buNone/>
            </a:pPr>
            <a:r>
              <a:rPr lang="en-US" sz="860" dirty="0">
                <a:solidFill>
                  <a:srgbClr val="46606E"/>
                </a:solidFill>
                <a:latin typeface="IBM Plex Sans" pitchFamily="34" charset="0"/>
                <a:ea typeface="IBM Plex Sans" pitchFamily="34" charset="-122"/>
                <a:cs typeface="IBM Plex Sans" pitchFamily="34" charset="-120"/>
              </a:rPr>
              <a:t>Vazart-Coquart &amp; Fils</a:t>
            </a:r>
            <a:pPr indent="0" marL="0">
              <a:buNone/>
            </a:pPr>
            <a:r>
              <a:rPr lang="en-US" sz="860" b="1" dirty="0">
                <a:solidFill>
                  <a:srgbClr val="46606E"/>
                </a:solidFill>
                <a:latin typeface="IBM Plex Sans" pitchFamily="34" charset="0"/>
                <a:ea typeface="IBM Plex Sans" pitchFamily="34" charset="-122"/>
                <a:cs typeface="IBM Plex Sans" pitchFamily="34" charset="-120"/>
              </a:rPr>
              <a:t>   67</a:t>
            </a:r>
            <a:endParaRPr lang="en-US" sz="860" dirty="0"/>
          </a:p>
        </p:txBody>
      </p:sp>
      <p:sp>
        <p:nvSpPr>
          <p:cNvPr id="16" name="Text 12"/>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63</a:t>
            </a:r>
            <a:endParaRPr lang="en-US" sz="750" dirty="0"/>
          </a:p>
        </p:txBody>
      </p:sp>
      <p:sp>
        <p:nvSpPr>
          <p:cNvPr id="17" name="Text 13"/>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champag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CHAMPAGNE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37</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Champagne Dekeyne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CHAMPAGNE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630911" cy="180000"/>
          </a:xfrm>
          <a:prstGeom prst="roundRect">
            <a:avLst>
              <a:gd name="adj" fmla="val 10160"/>
            </a:avLst>
          </a:prstGeom>
          <a:solidFill>
            <a:srgbClr val="67067C"/>
          </a:solidFill>
          <a:ln w="8890">
            <a:solidFill>
              <a:srgbClr val="67067C"/>
            </a:solidFill>
            <a:prstDash val="solid"/>
          </a:ln>
        </p:spPr>
      </p:sp>
      <p:sp>
        <p:nvSpPr>
          <p:cNvPr id="10" name="Text 7"/>
          <p:cNvSpPr/>
          <p:nvPr/>
        </p:nvSpPr>
        <p:spPr>
          <a:xfrm>
            <a:off x="1246051"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1" name="Shape 8"/>
          <p:cNvSpPr/>
          <p:nvPr/>
        </p:nvSpPr>
        <p:spPr>
          <a:xfrm>
            <a:off x="1956162" y="1047600"/>
            <a:ext cx="1385474" cy="180000"/>
          </a:xfrm>
          <a:prstGeom prst="roundRect">
            <a:avLst>
              <a:gd name="adj" fmla="val 10160"/>
            </a:avLst>
          </a:prstGeom>
          <a:solidFill>
            <a:srgbClr val="F2EADA"/>
          </a:solidFill>
          <a:ln w="8890">
            <a:solidFill>
              <a:srgbClr val="A8515F"/>
            </a:solidFill>
            <a:prstDash val="solid"/>
          </a:ln>
        </p:spPr>
      </p:sp>
      <p:sp>
        <p:nvSpPr>
          <p:cNvPr id="12" name="Text 9"/>
          <p:cNvSpPr/>
          <p:nvPr/>
        </p:nvSpPr>
        <p:spPr>
          <a:xfrm>
            <a:off x="1956162"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3" name="Shape 10"/>
          <p:cNvSpPr/>
          <p:nvPr/>
        </p:nvSpPr>
        <p:spPr>
          <a:xfrm>
            <a:off x="3420836" y="1047600"/>
            <a:ext cx="732318" cy="180000"/>
          </a:xfrm>
          <a:prstGeom prst="roundRect">
            <a:avLst>
              <a:gd name="adj" fmla="val 10160"/>
            </a:avLst>
          </a:prstGeom>
          <a:solidFill>
            <a:srgbClr val="F2EADA"/>
          </a:solidFill>
          <a:ln w="8890">
            <a:solidFill>
              <a:srgbClr val="46606E"/>
            </a:solidFill>
            <a:prstDash val="solid"/>
          </a:ln>
        </p:spPr>
      </p:sp>
      <p:sp>
        <p:nvSpPr>
          <p:cNvPr id="14" name="Text 11"/>
          <p:cNvSpPr/>
          <p:nvPr/>
        </p:nvSpPr>
        <p:spPr>
          <a:xfrm>
            <a:off x="3420836"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4 références</a:t>
            </a:r>
            <a:endParaRPr lang="en-US" sz="720" dirty="0"/>
          </a:p>
        </p:txBody>
      </p:sp>
      <p:sp>
        <p:nvSpPr>
          <p:cNvPr id="15" name="Shape 12"/>
          <p:cNvSpPr/>
          <p:nvPr/>
        </p:nvSpPr>
        <p:spPr>
          <a:xfrm>
            <a:off x="828000" y="1357200"/>
            <a:ext cx="1440000" cy="1440000"/>
          </a:xfrm>
          <a:prstGeom prst="ellipse">
            <a:avLst/>
          </a:prstGeom>
          <a:solidFill>
            <a:srgbClr val="F2EADA"/>
          </a:solidFill>
          <a:ln w="12700">
            <a:solidFill>
              <a:srgbClr val="46606E"/>
            </a:solidFill>
            <a:prstDash val="dash"/>
          </a:ln>
        </p:spPr>
      </p:sp>
      <p:sp>
        <p:nvSpPr>
          <p:cNvPr id="16" name="Text 13"/>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7" name="Shape 14"/>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8" name="Text 15"/>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9" name="Text 16"/>
          <p:cNvSpPr/>
          <p:nvPr/>
        </p:nvSpPr>
        <p:spPr>
          <a:xfrm>
            <a:off x="2448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Fidèle à la ferme de La Voglonière depuis 1919, la famille Dekeyne cultive une relation intime avec la terre champenoise. Engagé en conversion biologique, ce domaine de quatre générations élabore des champagnes d’artisan à la vibrante énergie de sol.</a:t>
            </a:r>
            <a:endParaRPr lang="en-US" sz="13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48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Chardonnay Vignes de 1962</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26,48</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Nature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25,41</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Voglonniers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19,96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8A623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Ratafia Champenois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Vieux Ratafia</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27,07</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1" name="Text 17"/>
          <p:cNvSpPr/>
          <p:nvPr/>
        </p:nvSpPr>
        <p:spPr>
          <a:xfrm>
            <a:off x="828000" y="5682526"/>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CHAMPAGNE — LA CRAIE</a:t>
            </a:r>
            <a:endParaRPr lang="en-US" sz="720" dirty="0"/>
          </a:p>
        </p:txBody>
      </p:sp>
      <p:pic>
        <p:nvPicPr>
          <p:cNvPr id="22" name="Image 1" descr="/home/user/philippe1/build/deco/sol-champagne.png">    </p:cNvPr>
          <p:cNvPicPr>
            <a:picLocks noChangeAspect="1"/>
          </p:cNvPicPr>
          <p:nvPr/>
        </p:nvPicPr>
        <p:blipFill>
          <a:blip r:embed="rId2"/>
          <a:stretch>
            <a:fillRect/>
          </a:stretch>
        </p:blipFill>
        <p:spPr>
          <a:xfrm>
            <a:off x="828000" y="5830126"/>
            <a:ext cx="6120000" cy="1346252"/>
          </a:xfrm>
          <a:prstGeom prst="rect">
            <a:avLst/>
          </a:prstGeom>
        </p:spPr>
      </p:pic>
      <p:sp>
        <p:nvSpPr>
          <p:cNvPr id="23" name="Shape 18"/>
          <p:cNvSpPr/>
          <p:nvPr/>
        </p:nvSpPr>
        <p:spPr>
          <a:xfrm>
            <a:off x="828000" y="8388000"/>
            <a:ext cx="6120000" cy="0"/>
          </a:xfrm>
          <a:prstGeom prst="line">
            <a:avLst/>
          </a:prstGeom>
          <a:noFill/>
          <a:ln w="8890">
            <a:solidFill>
              <a:srgbClr val="46606E"/>
            </a:solidFill>
            <a:prstDash val="solid"/>
          </a:ln>
        </p:spPr>
      </p:sp>
      <p:sp>
        <p:nvSpPr>
          <p:cNvPr id="24" name="Text 19"/>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franco de port à partir de 48 bouteilles.</a:t>
            </a:r>
            <a:endParaRPr lang="en-US" sz="720" dirty="0"/>
          </a:p>
        </p:txBody>
      </p:sp>
      <p:sp>
        <p:nvSpPr>
          <p:cNvPr id="25" name="Text 20"/>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44 · 85</a:t>
            </a:r>
            <a:endParaRPr lang="en-US" sz="720" dirty="0"/>
          </a:p>
        </p:txBody>
      </p:sp>
      <p:sp>
        <p:nvSpPr>
          <p:cNvPr id="26" name="Text 21"/>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Spiritueux     pictos de l’Agence SCIO, pas les logos officiels</a:t>
            </a:r>
            <a:endParaRPr lang="en-US" sz="650" dirty="0"/>
          </a:p>
        </p:txBody>
      </p:sp>
      <p:sp>
        <p:nvSpPr>
          <p:cNvPr id="27" name="Text 22"/>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64</a:t>
            </a:r>
            <a:endParaRPr lang="en-US" sz="750" dirty="0"/>
          </a:p>
        </p:txBody>
      </p:sp>
      <p:sp>
        <p:nvSpPr>
          <p:cNvPr id="28" name="Text 23"/>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champag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CHAMPAGNE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38</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Champagne Denis Frézier</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CHAMPAGNE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030051" y="1047600"/>
            <a:ext cx="380548" cy="180000"/>
          </a:xfrm>
          <a:prstGeom prst="roundRect">
            <a:avLst>
              <a:gd name="adj" fmla="val 10160"/>
            </a:avLst>
          </a:prstGeom>
          <a:solidFill>
            <a:srgbClr val="F2EADA"/>
          </a:solidFill>
          <a:ln w="8890">
            <a:solidFill>
              <a:srgbClr val="3C5B47"/>
            </a:solidFill>
            <a:prstDash val="solid"/>
          </a:ln>
        </p:spPr>
      </p:sp>
      <p:sp>
        <p:nvSpPr>
          <p:cNvPr id="10" name="Text 7"/>
          <p:cNvSpPr/>
          <p:nvPr/>
        </p:nvSpPr>
        <p:spPr>
          <a:xfrm>
            <a:off x="1030051"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1" name="Shape 8"/>
          <p:cNvSpPr/>
          <p:nvPr/>
        </p:nvSpPr>
        <p:spPr>
          <a:xfrm>
            <a:off x="1489800" y="1047600"/>
            <a:ext cx="630911" cy="180000"/>
          </a:xfrm>
          <a:prstGeom prst="roundRect">
            <a:avLst>
              <a:gd name="adj" fmla="val 10160"/>
            </a:avLst>
          </a:prstGeom>
          <a:solidFill>
            <a:srgbClr val="67067C"/>
          </a:solidFill>
          <a:ln w="8890">
            <a:solidFill>
              <a:srgbClr val="67067C"/>
            </a:solidFill>
            <a:prstDash val="solid"/>
          </a:ln>
        </p:spPr>
      </p:sp>
      <p:sp>
        <p:nvSpPr>
          <p:cNvPr id="12" name="Text 9"/>
          <p:cNvSpPr/>
          <p:nvPr/>
        </p:nvSpPr>
        <p:spPr>
          <a:xfrm>
            <a:off x="1489800"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3" name="Shape 10"/>
          <p:cNvSpPr/>
          <p:nvPr/>
        </p:nvSpPr>
        <p:spPr>
          <a:xfrm>
            <a:off x="2199910" y="1047600"/>
            <a:ext cx="1385474" cy="180000"/>
          </a:xfrm>
          <a:prstGeom prst="roundRect">
            <a:avLst>
              <a:gd name="adj" fmla="val 10160"/>
            </a:avLst>
          </a:prstGeom>
          <a:solidFill>
            <a:srgbClr val="F2EADA"/>
          </a:solidFill>
          <a:ln w="8890">
            <a:solidFill>
              <a:srgbClr val="A8515F"/>
            </a:solidFill>
            <a:prstDash val="solid"/>
          </a:ln>
        </p:spPr>
      </p:sp>
      <p:sp>
        <p:nvSpPr>
          <p:cNvPr id="14" name="Text 11"/>
          <p:cNvSpPr/>
          <p:nvPr/>
        </p:nvSpPr>
        <p:spPr>
          <a:xfrm>
            <a:off x="2199910"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5" name="Shape 12"/>
          <p:cNvSpPr/>
          <p:nvPr/>
        </p:nvSpPr>
        <p:spPr>
          <a:xfrm>
            <a:off x="3664584" y="1047600"/>
            <a:ext cx="787182" cy="180000"/>
          </a:xfrm>
          <a:prstGeom prst="roundRect">
            <a:avLst>
              <a:gd name="adj" fmla="val 10160"/>
            </a:avLst>
          </a:prstGeom>
          <a:solidFill>
            <a:srgbClr val="F2EADA"/>
          </a:solidFill>
          <a:ln w="8890">
            <a:solidFill>
              <a:srgbClr val="46606E"/>
            </a:solidFill>
            <a:prstDash val="solid"/>
          </a:ln>
        </p:spPr>
      </p:sp>
      <p:sp>
        <p:nvSpPr>
          <p:cNvPr id="16" name="Text 13"/>
          <p:cNvSpPr/>
          <p:nvPr/>
        </p:nvSpPr>
        <p:spPr>
          <a:xfrm>
            <a:off x="3664584"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10 références</a:t>
            </a:r>
            <a:endParaRPr lang="en-US" sz="720" dirty="0"/>
          </a:p>
        </p:txBody>
      </p:sp>
      <p:sp>
        <p:nvSpPr>
          <p:cNvPr id="17" name="Shape 14"/>
          <p:cNvSpPr/>
          <p:nvPr/>
        </p:nvSpPr>
        <p:spPr>
          <a:xfrm>
            <a:off x="612000" y="1357200"/>
            <a:ext cx="1440000" cy="1440000"/>
          </a:xfrm>
          <a:prstGeom prst="ellipse">
            <a:avLst/>
          </a:prstGeom>
          <a:solidFill>
            <a:srgbClr val="F2EADA"/>
          </a:solidFill>
          <a:ln w="12700">
            <a:solidFill>
              <a:srgbClr val="46606E"/>
            </a:solidFill>
            <a:prstDash val="dash"/>
          </a:ln>
        </p:spPr>
      </p:sp>
      <p:sp>
        <p:nvSpPr>
          <p:cNvPr id="18" name="Text 15"/>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9" name="Shape 16"/>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20" name="Text 17"/>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21" name="Text 18"/>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Enracinée depuis 7 générations à Monthelon, entre Côte des Blancs et Vallée de la Marne, la Maison Denis Frézier conjugue mémoire et durabilité. Certifiée HVE et VDC, engagée en conversion biologique, elle sculpte les cuvées Trois Crus, Terroir Noir et Terroir Blanc.</a:t>
            </a:r>
            <a:endParaRPr lang="en-US" sz="13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186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Grand Cru Exception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2016</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24,09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23,62</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23,17</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Terroir Blanc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17,54</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16,87</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Terroir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17,54</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16,87</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Terroir Meunier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17,54</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16,87</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Esprit Rose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16,87</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16,54</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16,23</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Trois Crus Brut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15,76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15,16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Trois Crus Brut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37,5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9,37</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9,19</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9,02</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Trois Crus Extra-Dry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15,76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15,16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Trois Crus Demi-Sec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15,76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15,45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15,16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graphicFrame>
        <p:nvGraphicFramePr>
          <p:cNvPr id="131" name="Table 1"/>
          <p:cNvGraphicFramePr>
            <a:graphicFrameLocks noGrp="1"/>
          </p:cNvGraphicFramePr>
          <p:nvPr>
            <p:extLst>
              <p:ext uri="{D42A27DB-BD31-4B8C-83A1-F6EECF244321}">
                <p14:modId xmlns:p14="http://schemas.microsoft.com/office/powerpoint/2010/main" val="1579011935"/>
              </p:ext>
            </p:extLst>
          </p:nvPr>
        </p:nvGraphicFramePr>
        <p:xfrm>
          <a:off x="612000" y="7685447"/>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RATAFIA · RATAFIA</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186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53008">
                <a:tc>
                  <a:txBody>
                    <a:bodyPr/>
                    <a:lstStyle/>
                    <a:p>
                      <a:pPr algn="ctr" indent="0" marL="0">
                        <a:buNone/>
                      </a:pPr>
                      <a:r>
                        <a:rPr lang="en-US" sz="900" dirty="0">
                          <a:solidFill>
                            <a:srgbClr val="8A623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Vieux Ratafia Champenois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14,16</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13,88</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13,62</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4" name="Shape 19"/>
          <p:cNvSpPr/>
          <p:nvPr/>
        </p:nvSpPr>
        <p:spPr>
          <a:xfrm>
            <a:off x="612000" y="8388000"/>
            <a:ext cx="6120000" cy="0"/>
          </a:xfrm>
          <a:prstGeom prst="line">
            <a:avLst/>
          </a:prstGeom>
          <a:noFill/>
          <a:ln w="8890">
            <a:solidFill>
              <a:srgbClr val="46606E"/>
            </a:solidFill>
            <a:prstDash val="solid"/>
          </a:ln>
        </p:spPr>
      </p:sp>
      <p:sp>
        <p:nvSpPr>
          <p:cNvPr id="25" name="Text 20"/>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franco de port.</a:t>
            </a:r>
            <a:endParaRPr lang="en-US" sz="720" dirty="0"/>
          </a:p>
        </p:txBody>
      </p:sp>
      <p:sp>
        <p:nvSpPr>
          <p:cNvPr id="26" name="Text 21"/>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7" name="Text 22"/>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Spiritueux     pictos de l’Agence SCIO, pas les logos officiels</a:t>
            </a:r>
            <a:endParaRPr lang="en-US" sz="650" dirty="0"/>
          </a:p>
        </p:txBody>
      </p:sp>
      <p:sp>
        <p:nvSpPr>
          <p:cNvPr id="28" name="Text 23"/>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65</a:t>
            </a:r>
            <a:endParaRPr lang="en-US" sz="750" dirty="0"/>
          </a:p>
        </p:txBody>
      </p:sp>
      <p:sp>
        <p:nvSpPr>
          <p:cNvPr id="29" name="Text 24"/>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champag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CHAMPAGNE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39</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Champagne Solemme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CHAMPAGNE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38851"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9" name="Shape 6"/>
          <p:cNvSpPr/>
          <p:nvPr/>
        </p:nvSpPr>
        <p:spPr>
          <a:xfrm>
            <a:off x="1246051"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2460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710725"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7107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6 références</a:t>
            </a:r>
            <a:endParaRPr lang="en-US" sz="720" dirty="0"/>
          </a:p>
        </p:txBody>
      </p:sp>
      <p:sp>
        <p:nvSpPr>
          <p:cNvPr id="13" name="Shape 10"/>
          <p:cNvSpPr/>
          <p:nvPr/>
        </p:nvSpPr>
        <p:spPr>
          <a:xfrm>
            <a:off x="828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828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6084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6084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448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À Villers-aux-Nœuds, sur les terroirs Premier Cru de la Montagne de Reims, Olivier Langlais conduit 6 hectares en biodynamie. En cave, vinifications douces, sans chaptalisation, sans filtration et sans dosage : une Champagne d’émotion, minérale et d’une lumineuse franchise de terroir.</a:t>
            </a:r>
            <a:endParaRPr lang="en-US" sz="13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240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Premier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Terre de Solemme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BSA</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21,20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Premier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Plénitude de Solemme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22,10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21,60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21,10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Premier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Esprit de Solemme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24,50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Premier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Nature de Solemme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2018</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32,00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30,50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Premier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Ambre de Solemme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2018</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32,60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31,85</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Premier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Rose de Solemme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36,00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35,10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Text 15"/>
          <p:cNvSpPr/>
          <p:nvPr/>
        </p:nvSpPr>
        <p:spPr>
          <a:xfrm>
            <a:off x="828000" y="6513285"/>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CHAMPAGNE — LA CRAIE</a:t>
            </a:r>
            <a:endParaRPr lang="en-US" sz="720" dirty="0"/>
          </a:p>
        </p:txBody>
      </p:sp>
      <p:pic>
        <p:nvPicPr>
          <p:cNvPr id="20" name="Image 1" descr="/home/user/philippe1/build/deco/sol-champagne.png">    </p:cNvPr>
          <p:cNvPicPr>
            <a:picLocks noChangeAspect="1"/>
          </p:cNvPicPr>
          <p:nvPr/>
        </p:nvPicPr>
        <p:blipFill>
          <a:blip r:embed="rId2"/>
          <a:stretch>
            <a:fillRect/>
          </a:stretch>
        </p:blipFill>
        <p:spPr>
          <a:xfrm>
            <a:off x="828000" y="6660885"/>
            <a:ext cx="6120000" cy="1148400"/>
          </a:xfrm>
          <a:prstGeom prst="rect">
            <a:avLst/>
          </a:prstGeom>
        </p:spPr>
      </p:pic>
      <p:sp>
        <p:nvSpPr>
          <p:cNvPr id="21" name="Shape 16"/>
          <p:cNvSpPr/>
          <p:nvPr/>
        </p:nvSpPr>
        <p:spPr>
          <a:xfrm>
            <a:off x="828000" y="8388000"/>
            <a:ext cx="6120000" cy="0"/>
          </a:xfrm>
          <a:prstGeom prst="line">
            <a:avLst/>
          </a:prstGeom>
          <a:noFill/>
          <a:ln w="8890">
            <a:solidFill>
              <a:srgbClr val="46606E"/>
            </a:solidFill>
            <a:prstDash val="solid"/>
          </a:ln>
        </p:spPr>
      </p:sp>
      <p:sp>
        <p:nvSpPr>
          <p:cNvPr id="22" name="Text 17"/>
          <p:cNvSpPr/>
          <p:nvPr/>
        </p:nvSpPr>
        <p:spPr>
          <a:xfrm>
            <a:off x="828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franco de port.</a:t>
            </a:r>
            <a:endParaRPr lang="en-US" sz="720" dirty="0"/>
          </a:p>
        </p:txBody>
      </p:sp>
      <p:sp>
        <p:nvSpPr>
          <p:cNvPr id="23" name="Text 18"/>
          <p:cNvSpPr/>
          <p:nvPr/>
        </p:nvSpPr>
        <p:spPr>
          <a:xfrm>
            <a:off x="3582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4" name="Text 19"/>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pictos de l’Agence SCIO, pas les logos officiels</a:t>
            </a:r>
            <a:endParaRPr lang="en-US" sz="650" dirty="0"/>
          </a:p>
        </p:txBody>
      </p:sp>
      <p:sp>
        <p:nvSpPr>
          <p:cNvPr id="25"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66</a:t>
            </a:r>
            <a:endParaRPr lang="en-US" sz="750" dirty="0"/>
          </a:p>
        </p:txBody>
      </p:sp>
      <p:sp>
        <p:nvSpPr>
          <p:cNvPr id="26"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2EADA"/>
        </a:solidFill>
      </p:bgPr>
    </p:bg>
    <p:spTree>
      <p:nvGrpSpPr>
        <p:cNvPr id="1" name=""/>
        <p:cNvGrpSpPr/>
        <p:nvPr/>
      </p:nvGrpSpPr>
      <p:grpSpPr>
        <a:xfrm>
          <a:off x="0" y="0"/>
          <a:ext cx="0" cy="0"/>
          <a:chOff x="0" y="0"/>
          <a:chExt cx="0" cy="0"/>
        </a:xfrm>
      </p:grpSpPr>
      <p:pic>
        <p:nvPicPr>
          <p:cNvPr id="2" name="Image 0" descr="/home/user/philippe1/build/deco/carotte-champag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CHAMPAGNE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40</a:t>
            </a:r>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   Vazart-Coquart &amp; Fils</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CHAMPAGNE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380548"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612000"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9" name="Shape 6"/>
          <p:cNvSpPr/>
          <p:nvPr/>
        </p:nvSpPr>
        <p:spPr>
          <a:xfrm>
            <a:off x="1071748" y="1047600"/>
            <a:ext cx="1385474"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1071748"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1" name="Shape 8"/>
          <p:cNvSpPr/>
          <p:nvPr/>
        </p:nvSpPr>
        <p:spPr>
          <a:xfrm>
            <a:off x="2536422" y="1047600"/>
            <a:ext cx="732318"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536422"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6 références</a:t>
            </a:r>
            <a:endParaRPr lang="en-US" sz="720" dirty="0"/>
          </a:p>
        </p:txBody>
      </p:sp>
      <p:sp>
        <p:nvSpPr>
          <p:cNvPr id="13" name="Shape 10"/>
          <p:cNvSpPr/>
          <p:nvPr/>
        </p:nvSpPr>
        <p:spPr>
          <a:xfrm>
            <a:off x="612000" y="1357200"/>
            <a:ext cx="1440000" cy="1440000"/>
          </a:xfrm>
          <a:prstGeom prst="ellipse">
            <a:avLst/>
          </a:prstGeom>
          <a:solidFill>
            <a:srgbClr val="F2EADA"/>
          </a:solidFill>
          <a:ln w="12700">
            <a:solidFill>
              <a:srgbClr val="46606E"/>
            </a:solidFill>
            <a:prstDash val="dash"/>
          </a:ln>
        </p:spPr>
      </p:sp>
      <p:sp>
        <p:nvSpPr>
          <p:cNvPr id="14" name="Text 11"/>
          <p:cNvSpPr/>
          <p:nvPr/>
        </p:nvSpPr>
        <p:spPr>
          <a:xfrm>
            <a:off x="612000" y="1357200"/>
            <a:ext cx="1440000" cy="1440000"/>
          </a:xfrm>
          <a:prstGeom prst="rect">
            <a:avLst/>
          </a:prstGeom>
          <a:noFill/>
          <a:ln/>
        </p:spPr>
        <p:txBody>
          <a:bodyPr wrap="square" lIns="0" tIns="0" rIns="0" bIns="0" rtlCol="0" anchor="ctr"/>
          <a:lstStyle/>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ROND</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VIGNERON</a:t>
            </a:r>
            <a:endParaRPr lang="en-US" sz="620" dirty="0"/>
          </a:p>
          <a:p>
            <a:pPr algn="ctr" indent="0" marL="0">
              <a:lnSpc>
                <a:spcPct val="125000"/>
              </a:lnSpc>
              <a:buNone/>
            </a:pPr>
            <a:r>
              <a:rPr lang="en-US" sz="620" b="1" dirty="0">
                <a:solidFill>
                  <a:srgbClr val="46606E">
                    <a:alpha val="50000"/>
                  </a:srgbClr>
                </a:solidFill>
                <a:latin typeface="IBM Plex Sans" pitchFamily="34" charset="0"/>
                <a:ea typeface="IBM Plex Sans" pitchFamily="34" charset="-122"/>
                <a:cs typeface="IBM Plex Sans" pitchFamily="34" charset="-120"/>
              </a:rPr>
              <a:t>OU LOGO</a:t>
            </a:r>
            <a:endParaRPr lang="en-US" sz="620" dirty="0"/>
          </a:p>
        </p:txBody>
      </p:sp>
      <p:sp>
        <p:nvSpPr>
          <p:cNvPr id="15" name="Shape 12"/>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6" name="Text 13"/>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4"/>
          <p:cNvSpPr/>
          <p:nvPr/>
        </p:nvSpPr>
        <p:spPr>
          <a:xfrm>
            <a:off x="2232000" y="1357200"/>
            <a:ext cx="3456000" cy="2231900"/>
          </a:xfrm>
          <a:prstGeom prst="rect">
            <a:avLst/>
          </a:prstGeom>
          <a:noFill/>
          <a:ln/>
        </p:spPr>
        <p:txBody>
          <a:bodyPr wrap="square" lIns="0" tIns="0" rIns="0" bIns="0" rtlCol="0" anchor="ctr"/>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Maison de référence à Chouilly, Grand Cru de la Côte des Blancs, Vazart-Coquart célèbre le Chardonnay depuis 1954. Jean-Pierre et Caroline veillent sur trente parcelles (11 ha) où la craie révèle toute la finesse du cépage. Troisième domaine certifié HVE de France.</a:t>
            </a:r>
            <a:endParaRPr lang="en-US" sz="13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48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78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96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Grand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Cuvée Camille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Base 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Grand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Brut Réserve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Base 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20,30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Grand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Extra Brut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Base 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25,00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24,80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24,50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Grand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Special Club</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2017</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41,10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40,90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40,60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Grand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2018</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46,40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46,20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45,90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Grand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Parcellaire AD 191</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2016</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49,10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48,90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48,60</a:t>
                      </a:r>
                      <a:pPr algn="r" indent="0" marL="0">
                        <a:buNone/>
                      </a:pP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Text 15"/>
          <p:cNvSpPr/>
          <p:nvPr/>
        </p:nvSpPr>
        <p:spPr>
          <a:xfrm>
            <a:off x="612000" y="6513285"/>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CHAMPAGNE — LA CRAIE</a:t>
            </a:r>
            <a:endParaRPr lang="en-US" sz="720" dirty="0"/>
          </a:p>
        </p:txBody>
      </p:sp>
      <p:pic>
        <p:nvPicPr>
          <p:cNvPr id="20" name="Image 1" descr="/home/user/philippe1/build/deco/sol-champagne.png">    </p:cNvPr>
          <p:cNvPicPr>
            <a:picLocks noChangeAspect="1"/>
          </p:cNvPicPr>
          <p:nvPr/>
        </p:nvPicPr>
        <p:blipFill>
          <a:blip r:embed="rId2"/>
          <a:stretch>
            <a:fillRect/>
          </a:stretch>
        </p:blipFill>
        <p:spPr>
          <a:xfrm>
            <a:off x="612000" y="6660885"/>
            <a:ext cx="6120000" cy="1148400"/>
          </a:xfrm>
          <a:prstGeom prst="rect">
            <a:avLst/>
          </a:prstGeom>
        </p:spPr>
      </p:pic>
      <p:sp>
        <p:nvSpPr>
          <p:cNvPr id="21" name="Shape 16"/>
          <p:cNvSpPr/>
          <p:nvPr/>
        </p:nvSpPr>
        <p:spPr>
          <a:xfrm>
            <a:off x="612000" y="8388000"/>
            <a:ext cx="6120000" cy="0"/>
          </a:xfrm>
          <a:prstGeom prst="line">
            <a:avLst/>
          </a:prstGeom>
          <a:noFill/>
          <a:ln w="8890">
            <a:solidFill>
              <a:srgbClr val="46606E"/>
            </a:solidFill>
            <a:prstDash val="solid"/>
          </a:ln>
        </p:spPr>
      </p:sp>
      <p:sp>
        <p:nvSpPr>
          <p:cNvPr id="22" name="Text 17"/>
          <p:cNvSpPr/>
          <p:nvPr/>
        </p:nvSpPr>
        <p:spPr>
          <a:xfrm>
            <a:off x="612000" y="8424000"/>
            <a:ext cx="3366000" cy="180000"/>
          </a:xfrm>
          <a:prstGeom prst="rect">
            <a:avLst/>
          </a:prstGeom>
          <a:noFill/>
          <a:ln/>
        </p:spPr>
        <p:txBody>
          <a:bodyPr wrap="square" lIns="0" tIns="0" rIns="0" bIns="0" rtlCol="0" anchor="ctr"/>
          <a:lstStyle/>
          <a:p>
            <a:pPr indent="0" marL="0">
              <a:buNone/>
            </a:pPr>
            <a:r>
              <a:rPr lang="en-US" sz="720" dirty="0">
                <a:solidFill>
                  <a:srgbClr val="46606E"/>
                </a:solidFill>
                <a:latin typeface="IBM Plex Sans" pitchFamily="34" charset="0"/>
                <a:ea typeface="IBM Plex Sans" pitchFamily="34" charset="-122"/>
                <a:cs typeface="IBM Plex Sans" pitchFamily="34" charset="-120"/>
              </a:rPr>
              <a:t>* Prix de la bouteille H.T. franco de port.</a:t>
            </a:r>
            <a:endParaRPr lang="en-US" sz="720" dirty="0"/>
          </a:p>
        </p:txBody>
      </p:sp>
      <p:sp>
        <p:nvSpPr>
          <p:cNvPr id="23" name="Text 18"/>
          <p:cNvSpPr/>
          <p:nvPr/>
        </p:nvSpPr>
        <p:spPr>
          <a:xfrm>
            <a:off x="3366000" y="8424000"/>
            <a:ext cx="3366000" cy="180000"/>
          </a:xfrm>
          <a:prstGeom prst="rect">
            <a:avLst/>
          </a:prstGeom>
          <a:noFill/>
          <a:ln/>
        </p:spPr>
        <p:txBody>
          <a:bodyPr wrap="square" lIns="0" tIns="0" rIns="0" bIns="0" rtlCol="0" anchor="ctr"/>
          <a:lstStyle/>
          <a:p>
            <a:pPr algn="r"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pPr algn="r" indent="0" marL="0">
              <a:buNone/>
            </a:pP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4" name="Text 19"/>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pictos de l’Agence SCIO, pas les logos officiels</a:t>
            </a:r>
            <a:endParaRPr lang="en-US" sz="650" dirty="0"/>
          </a:p>
        </p:txBody>
      </p:sp>
      <p:sp>
        <p:nvSpPr>
          <p:cNvPr id="25" name="Text 2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67</a:t>
            </a:r>
            <a:endParaRPr lang="en-US" sz="750" dirty="0"/>
          </a:p>
        </p:txBody>
      </p:sp>
      <p:sp>
        <p:nvSpPr>
          <p:cNvPr id="26" name="Text 2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828000" y="540000"/>
            <a:ext cx="6120000" cy="432000"/>
          </a:xfrm>
          <a:prstGeom prst="rect">
            <a:avLst/>
          </a:prstGeom>
          <a:noFill/>
          <a:ln/>
        </p:spPr>
        <p:txBody>
          <a:bodyPr wrap="square" lIns="0" tIns="0" rIns="0" bIns="0" rtlCol="0" anchor="b"/>
          <a:lstStyle/>
          <a:p>
            <a:pPr indent="0" marL="0">
              <a:buNone/>
            </a:pPr>
            <a:r>
              <a:rPr lang="en-US" sz="2400" dirty="0">
                <a:solidFill>
                  <a:srgbClr val="67067C"/>
                </a:solidFill>
                <a:latin typeface="Young Serif" pitchFamily="34" charset="0"/>
                <a:ea typeface="Young Serif" pitchFamily="34" charset="-122"/>
                <a:cs typeface="Young Serif" pitchFamily="34" charset="-120"/>
              </a:rPr>
              <a:t>Index des vins</a:t>
            </a:r>
            <a:endParaRPr lang="en-US" sz="2400" dirty="0"/>
          </a:p>
        </p:txBody>
      </p:sp>
      <p:sp>
        <p:nvSpPr>
          <p:cNvPr id="3" name="Text 1"/>
          <p:cNvSpPr/>
          <p:nvPr/>
        </p:nvSpPr>
        <p:spPr>
          <a:xfrm>
            <a:off x="828000" y="990000"/>
            <a:ext cx="612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PAR TYPE, DE A À Z</a:t>
            </a:r>
            <a:endParaRPr lang="en-US" sz="800" dirty="0"/>
          </a:p>
        </p:txBody>
      </p:sp>
      <p:sp>
        <p:nvSpPr>
          <p:cNvPr id="4" name="Text 2"/>
          <p:cNvSpPr/>
          <p:nvPr/>
        </p:nvSpPr>
        <p:spPr>
          <a:xfrm>
            <a:off x="828000" y="1368000"/>
            <a:ext cx="6120000" cy="180000"/>
          </a:xfrm>
          <a:prstGeom prst="rect">
            <a:avLst/>
          </a:prstGeom>
          <a:noFill/>
          <a:ln/>
        </p:spPr>
        <p:txBody>
          <a:bodyPr wrap="square" lIns="0" tIns="0" rIns="0" bIns="0" rtlCol="0" anchor="ctr"/>
          <a:lstStyle/>
          <a:p>
            <a:pPr indent="0" marL="0">
              <a:buNone/>
            </a:pPr>
            <a:r>
              <a:rPr lang="en-US" sz="860" dirty="0">
                <a:solidFill>
                  <a:srgbClr val="46606E"/>
                </a:solidFill>
                <a:latin typeface="Spectral" pitchFamily="34" charset="0"/>
                <a:ea typeface="Spectral" pitchFamily="34" charset="-122"/>
                <a:cs typeface="Spectral" pitchFamily="34" charset="-120"/>
              </a:rPr>
              <a:t>Le numéro en violet est celui du domaine, le dernier chiffre est la page.</a:t>
            </a:r>
            <a:endParaRPr lang="en-US" sz="860" dirty="0"/>
          </a:p>
        </p:txBody>
      </p:sp>
      <p:sp>
        <p:nvSpPr>
          <p:cNvPr id="5" name="Text 3"/>
          <p:cNvSpPr/>
          <p:nvPr/>
        </p:nvSpPr>
        <p:spPr>
          <a:xfrm>
            <a:off x="828000" y="1620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BULLES</a:t>
            </a:r>
            <a:endParaRPr lang="en-US" sz="800" dirty="0"/>
          </a:p>
        </p:txBody>
      </p:sp>
      <p:sp>
        <p:nvSpPr>
          <p:cNvPr id="6" name="Text 4"/>
          <p:cNvSpPr/>
          <p:nvPr/>
        </p:nvSpPr>
        <p:spPr>
          <a:xfrm>
            <a:off x="828000" y="17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Ambre de Solemme</a:t>
            </a:r>
            <a:pPr indent="0" marL="0">
              <a:buNone/>
            </a:pPr>
            <a:r>
              <a:rPr lang="en-US" sz="690" b="1" dirty="0">
                <a:solidFill>
                  <a:srgbClr val="67067C"/>
                </a:solidFill>
                <a:latin typeface="IBM Plex Sans" pitchFamily="34" charset="0"/>
                <a:ea typeface="IBM Plex Sans" pitchFamily="34" charset="-122"/>
                <a:cs typeface="IBM Plex Sans" pitchFamily="34" charset="-120"/>
              </a:rPr>
              <a:t>  39</a:t>
            </a:r>
            <a:pPr indent="0" marL="0">
              <a:buNone/>
            </a:pPr>
            <a:r>
              <a:rPr lang="en-US" sz="690" dirty="0">
                <a:solidFill>
                  <a:srgbClr val="46606E"/>
                </a:solidFill>
                <a:latin typeface="IBM Plex Sans" pitchFamily="34" charset="0"/>
                <a:ea typeface="IBM Plex Sans" pitchFamily="34" charset="-122"/>
                <a:cs typeface="IBM Plex Sans" pitchFamily="34" charset="-120"/>
              </a:rPr>
              <a:t>  66</a:t>
            </a:r>
            <a:endParaRPr lang="en-US" sz="690" dirty="0"/>
          </a:p>
        </p:txBody>
      </p:sp>
      <p:sp>
        <p:nvSpPr>
          <p:cNvPr id="7" name="Text 5"/>
          <p:cNvSpPr/>
          <p:nvPr/>
        </p:nvSpPr>
        <p:spPr>
          <a:xfrm>
            <a:off x="828000" y="18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Brut Nature</a:t>
            </a:r>
            <a:pPr indent="0" marL="0">
              <a:buNone/>
            </a:pPr>
            <a:r>
              <a:rPr lang="en-US" sz="690" b="1" dirty="0">
                <a:solidFill>
                  <a:srgbClr val="67067C"/>
                </a:solidFill>
                <a:latin typeface="IBM Plex Sans" pitchFamily="34" charset="0"/>
                <a:ea typeface="IBM Plex Sans" pitchFamily="34" charset="-122"/>
                <a:cs typeface="IBM Plex Sans" pitchFamily="34" charset="-120"/>
              </a:rPr>
              <a:t>  8</a:t>
            </a:r>
            <a:pPr indent="0" marL="0">
              <a:buNone/>
            </a:pPr>
            <a:r>
              <a:rPr lang="en-US" sz="690" dirty="0">
                <a:solidFill>
                  <a:srgbClr val="46606E"/>
                </a:solidFill>
                <a:latin typeface="IBM Plex Sans" pitchFamily="34" charset="0"/>
                <a:ea typeface="IBM Plex Sans" pitchFamily="34" charset="-122"/>
                <a:cs typeface="IBM Plex Sans" pitchFamily="34" charset="-120"/>
              </a:rPr>
              <a:t>  17</a:t>
            </a:r>
            <a:endParaRPr lang="en-US" sz="690" dirty="0"/>
          </a:p>
        </p:txBody>
      </p:sp>
      <p:sp>
        <p:nvSpPr>
          <p:cNvPr id="8" name="Text 6"/>
          <p:cNvSpPr/>
          <p:nvPr/>
        </p:nvSpPr>
        <p:spPr>
          <a:xfrm>
            <a:off x="828000" y="19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Brut Réserve</a:t>
            </a:r>
            <a:pPr indent="0" marL="0">
              <a:buNone/>
            </a:pPr>
            <a:r>
              <a:rPr lang="en-US" sz="690" b="1" dirty="0">
                <a:solidFill>
                  <a:srgbClr val="67067C"/>
                </a:solidFill>
                <a:latin typeface="IBM Plex Sans" pitchFamily="34" charset="0"/>
                <a:ea typeface="IBM Plex Sans" pitchFamily="34" charset="-122"/>
                <a:cs typeface="IBM Plex Sans" pitchFamily="34" charset="-120"/>
              </a:rPr>
              <a:t>  40</a:t>
            </a:r>
            <a:pPr indent="0" marL="0">
              <a:buNone/>
            </a:pPr>
            <a:r>
              <a:rPr lang="en-US" sz="690" dirty="0">
                <a:solidFill>
                  <a:srgbClr val="46606E"/>
                </a:solidFill>
                <a:latin typeface="IBM Plex Sans" pitchFamily="34" charset="0"/>
                <a:ea typeface="IBM Plex Sans" pitchFamily="34" charset="-122"/>
                <a:cs typeface="IBM Plex Sans" pitchFamily="34" charset="-120"/>
              </a:rPr>
              <a:t>  67</a:t>
            </a:r>
            <a:endParaRPr lang="en-US" sz="690" dirty="0"/>
          </a:p>
        </p:txBody>
      </p:sp>
      <p:sp>
        <p:nvSpPr>
          <p:cNvPr id="9" name="Text 7"/>
          <p:cNvSpPr/>
          <p:nvPr/>
        </p:nvSpPr>
        <p:spPr>
          <a:xfrm>
            <a:off x="828000" y="21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Chardonnay Vignes de 1962</a:t>
            </a:r>
            <a:pPr indent="0" marL="0">
              <a:buNone/>
            </a:pPr>
            <a:r>
              <a:rPr lang="en-US" sz="690" b="1" dirty="0">
                <a:solidFill>
                  <a:srgbClr val="67067C"/>
                </a:solidFill>
                <a:latin typeface="IBM Plex Sans" pitchFamily="34" charset="0"/>
                <a:ea typeface="IBM Plex Sans" pitchFamily="34" charset="-122"/>
                <a:cs typeface="IBM Plex Sans" pitchFamily="34" charset="-120"/>
              </a:rPr>
              <a:t>  37</a:t>
            </a:r>
            <a:pPr indent="0" marL="0">
              <a:buNone/>
            </a:pPr>
            <a:r>
              <a:rPr lang="en-US" sz="690" dirty="0">
                <a:solidFill>
                  <a:srgbClr val="46606E"/>
                </a:solidFill>
                <a:latin typeface="IBM Plex Sans" pitchFamily="34" charset="0"/>
                <a:ea typeface="IBM Plex Sans" pitchFamily="34" charset="-122"/>
                <a:cs typeface="IBM Plex Sans" pitchFamily="34" charset="-120"/>
              </a:rPr>
              <a:t>  64</a:t>
            </a:r>
            <a:endParaRPr lang="en-US" sz="690" dirty="0"/>
          </a:p>
        </p:txBody>
      </p:sp>
      <p:sp>
        <p:nvSpPr>
          <p:cNvPr id="10" name="Text 8"/>
          <p:cNvSpPr/>
          <p:nvPr/>
        </p:nvSpPr>
        <p:spPr>
          <a:xfrm>
            <a:off x="828000" y="22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Crémant de Loire</a:t>
            </a:r>
            <a:pPr indent="0" marL="0">
              <a:buNone/>
            </a:pPr>
            <a:r>
              <a:rPr lang="en-US" sz="690" b="1" dirty="0">
                <a:solidFill>
                  <a:srgbClr val="67067C"/>
                </a:solidFill>
                <a:latin typeface="IBM Plex Sans" pitchFamily="34" charset="0"/>
                <a:ea typeface="IBM Plex Sans" pitchFamily="34" charset="-122"/>
                <a:cs typeface="IBM Plex Sans" pitchFamily="34" charset="-120"/>
              </a:rPr>
              <a:t>  4</a:t>
            </a:r>
            <a:pPr indent="0" marL="0">
              <a:buNone/>
            </a:pP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11" name="Text 9"/>
          <p:cNvSpPr/>
          <p:nvPr/>
        </p:nvSpPr>
        <p:spPr>
          <a:xfrm>
            <a:off x="828000" y="23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Camille</a:t>
            </a:r>
            <a:pPr indent="0" marL="0">
              <a:buNone/>
            </a:pPr>
            <a:r>
              <a:rPr lang="en-US" sz="690" b="1" dirty="0">
                <a:solidFill>
                  <a:srgbClr val="67067C"/>
                </a:solidFill>
                <a:latin typeface="IBM Plex Sans" pitchFamily="34" charset="0"/>
                <a:ea typeface="IBM Plex Sans" pitchFamily="34" charset="-122"/>
                <a:cs typeface="IBM Plex Sans" pitchFamily="34" charset="-120"/>
              </a:rPr>
              <a:t>  40</a:t>
            </a:r>
            <a:pPr indent="0" marL="0">
              <a:buNone/>
            </a:pPr>
            <a:r>
              <a:rPr lang="en-US" sz="690" dirty="0">
                <a:solidFill>
                  <a:srgbClr val="46606E"/>
                </a:solidFill>
                <a:latin typeface="IBM Plex Sans" pitchFamily="34" charset="0"/>
                <a:ea typeface="IBM Plex Sans" pitchFamily="34" charset="-122"/>
                <a:cs typeface="IBM Plex Sans" pitchFamily="34" charset="-120"/>
              </a:rPr>
              <a:t>  67</a:t>
            </a:r>
            <a:endParaRPr lang="en-US" sz="690" dirty="0"/>
          </a:p>
        </p:txBody>
      </p:sp>
      <p:sp>
        <p:nvSpPr>
          <p:cNvPr id="12" name="Text 10"/>
          <p:cNvSpPr/>
          <p:nvPr/>
        </p:nvSpPr>
        <p:spPr>
          <a:xfrm>
            <a:off x="828000" y="25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Prestige</a:t>
            </a:r>
            <a:pPr indent="0" marL="0">
              <a:buNone/>
            </a:pPr>
            <a:r>
              <a:rPr lang="en-US" sz="690" b="1" dirty="0">
                <a:solidFill>
                  <a:srgbClr val="67067C"/>
                </a:solidFill>
                <a:latin typeface="IBM Plex Sans" pitchFamily="34" charset="0"/>
                <a:ea typeface="IBM Plex Sans" pitchFamily="34" charset="-122"/>
                <a:cs typeface="IBM Plex Sans" pitchFamily="34" charset="-120"/>
              </a:rPr>
              <a:t>  4</a:t>
            </a:r>
            <a:pPr indent="0" marL="0">
              <a:buNone/>
            </a:pP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13" name="Text 11"/>
          <p:cNvSpPr/>
          <p:nvPr/>
        </p:nvSpPr>
        <p:spPr>
          <a:xfrm>
            <a:off x="828000" y="26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Esprit de Solemme</a:t>
            </a:r>
            <a:pPr indent="0" marL="0">
              <a:buNone/>
            </a:pPr>
            <a:r>
              <a:rPr lang="en-US" sz="690" b="1" dirty="0">
                <a:solidFill>
                  <a:srgbClr val="67067C"/>
                </a:solidFill>
                <a:latin typeface="IBM Plex Sans" pitchFamily="34" charset="0"/>
                <a:ea typeface="IBM Plex Sans" pitchFamily="34" charset="-122"/>
                <a:cs typeface="IBM Plex Sans" pitchFamily="34" charset="-120"/>
              </a:rPr>
              <a:t>  39</a:t>
            </a:r>
            <a:pPr indent="0" marL="0">
              <a:buNone/>
            </a:pPr>
            <a:r>
              <a:rPr lang="en-US" sz="690" dirty="0">
                <a:solidFill>
                  <a:srgbClr val="46606E"/>
                </a:solidFill>
                <a:latin typeface="IBM Plex Sans" pitchFamily="34" charset="0"/>
                <a:ea typeface="IBM Plex Sans" pitchFamily="34" charset="-122"/>
                <a:cs typeface="IBM Plex Sans" pitchFamily="34" charset="-120"/>
              </a:rPr>
              <a:t>  66</a:t>
            </a:r>
            <a:endParaRPr lang="en-US" sz="690" dirty="0"/>
          </a:p>
        </p:txBody>
      </p:sp>
      <p:sp>
        <p:nvSpPr>
          <p:cNvPr id="14" name="Text 12"/>
          <p:cNvSpPr/>
          <p:nvPr/>
        </p:nvSpPr>
        <p:spPr>
          <a:xfrm>
            <a:off x="828000" y="27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Esprit Rose</a:t>
            </a:r>
            <a:pPr indent="0" marL="0">
              <a:buNone/>
            </a:pPr>
            <a:r>
              <a:rPr lang="en-US" sz="690" b="1" dirty="0">
                <a:solidFill>
                  <a:srgbClr val="67067C"/>
                </a:solidFill>
                <a:latin typeface="IBM Plex Sans" pitchFamily="34" charset="0"/>
                <a:ea typeface="IBM Plex Sans" pitchFamily="34" charset="-122"/>
                <a:cs typeface="IBM Plex Sans" pitchFamily="34" charset="-120"/>
              </a:rPr>
              <a:t>  38</a:t>
            </a:r>
            <a:pPr indent="0" marL="0">
              <a:buNone/>
            </a:pPr>
            <a:r>
              <a:rPr lang="en-US" sz="690" dirty="0">
                <a:solidFill>
                  <a:srgbClr val="46606E"/>
                </a:solidFill>
                <a:latin typeface="IBM Plex Sans" pitchFamily="34" charset="0"/>
                <a:ea typeface="IBM Plex Sans" pitchFamily="34" charset="-122"/>
                <a:cs typeface="IBM Plex Sans" pitchFamily="34" charset="-120"/>
              </a:rPr>
              <a:t>  65</a:t>
            </a:r>
            <a:endParaRPr lang="en-US" sz="690" dirty="0"/>
          </a:p>
        </p:txBody>
      </p:sp>
      <p:sp>
        <p:nvSpPr>
          <p:cNvPr id="15" name="Text 13"/>
          <p:cNvSpPr/>
          <p:nvPr/>
        </p:nvSpPr>
        <p:spPr>
          <a:xfrm>
            <a:off x="828000" y="28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Extra Brut</a:t>
            </a:r>
            <a:pPr indent="0" marL="0">
              <a:buNone/>
            </a:pPr>
            <a:r>
              <a:rPr lang="en-US" sz="690" b="1" dirty="0">
                <a:solidFill>
                  <a:srgbClr val="67067C"/>
                </a:solidFill>
                <a:latin typeface="IBM Plex Sans" pitchFamily="34" charset="0"/>
                <a:ea typeface="IBM Plex Sans" pitchFamily="34" charset="-122"/>
                <a:cs typeface="IBM Plex Sans" pitchFamily="34" charset="-120"/>
              </a:rPr>
              <a:t>  40</a:t>
            </a:r>
            <a:pPr indent="0" marL="0">
              <a:buNone/>
            </a:pPr>
            <a:r>
              <a:rPr lang="en-US" sz="690" dirty="0">
                <a:solidFill>
                  <a:srgbClr val="46606E"/>
                </a:solidFill>
                <a:latin typeface="IBM Plex Sans" pitchFamily="34" charset="0"/>
                <a:ea typeface="IBM Plex Sans" pitchFamily="34" charset="-122"/>
                <a:cs typeface="IBM Plex Sans" pitchFamily="34" charset="-120"/>
              </a:rPr>
              <a:t>  67</a:t>
            </a:r>
            <a:endParaRPr lang="en-US" sz="690" dirty="0"/>
          </a:p>
        </p:txBody>
      </p:sp>
      <p:sp>
        <p:nvSpPr>
          <p:cNvPr id="16" name="Text 14"/>
          <p:cNvSpPr/>
          <p:nvPr/>
        </p:nvSpPr>
        <p:spPr>
          <a:xfrm>
            <a:off x="828000" y="300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Grand Cru Exception</a:t>
            </a:r>
            <a:pPr indent="0" marL="0">
              <a:buNone/>
            </a:pPr>
            <a:r>
              <a:rPr lang="en-US" sz="690" b="1" dirty="0">
                <a:solidFill>
                  <a:srgbClr val="67067C"/>
                </a:solidFill>
                <a:latin typeface="IBM Plex Sans" pitchFamily="34" charset="0"/>
                <a:ea typeface="IBM Plex Sans" pitchFamily="34" charset="-122"/>
                <a:cs typeface="IBM Plex Sans" pitchFamily="34" charset="-120"/>
              </a:rPr>
              <a:t>  38</a:t>
            </a:r>
            <a:pPr indent="0" marL="0">
              <a:buNone/>
            </a:pPr>
            <a:r>
              <a:rPr lang="en-US" sz="690" dirty="0">
                <a:solidFill>
                  <a:srgbClr val="46606E"/>
                </a:solidFill>
                <a:latin typeface="IBM Plex Sans" pitchFamily="34" charset="0"/>
                <a:ea typeface="IBM Plex Sans" pitchFamily="34" charset="-122"/>
                <a:cs typeface="IBM Plex Sans" pitchFamily="34" charset="-120"/>
              </a:rPr>
              <a:t>  65</a:t>
            </a:r>
            <a:endParaRPr lang="en-US" sz="690" dirty="0"/>
          </a:p>
        </p:txBody>
      </p:sp>
      <p:sp>
        <p:nvSpPr>
          <p:cNvPr id="17" name="Text 15"/>
          <p:cNvSpPr/>
          <p:nvPr/>
        </p:nvSpPr>
        <p:spPr>
          <a:xfrm>
            <a:off x="828000" y="313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L’O*** Brut</a:t>
            </a:r>
            <a:pPr indent="0" marL="0">
              <a:buNone/>
            </a:pPr>
            <a:r>
              <a:rPr lang="en-US" sz="690" b="1" dirty="0">
                <a:solidFill>
                  <a:srgbClr val="67067C"/>
                </a:solidFill>
                <a:latin typeface="IBM Plex Sans" pitchFamily="34" charset="0"/>
                <a:ea typeface="IBM Plex Sans" pitchFamily="34" charset="-122"/>
                <a:cs typeface="IBM Plex Sans" pitchFamily="34" charset="-120"/>
              </a:rPr>
              <a:t>  2</a:t>
            </a:r>
            <a:pPr indent="0" marL="0">
              <a:buNone/>
            </a:pPr>
            <a:r>
              <a:rPr lang="en-US" sz="690" dirty="0">
                <a:solidFill>
                  <a:srgbClr val="46606E"/>
                </a:solidFill>
                <a:latin typeface="IBM Plex Sans" pitchFamily="34" charset="0"/>
                <a:ea typeface="IBM Plex Sans" pitchFamily="34" charset="-122"/>
                <a:cs typeface="IBM Plex Sans" pitchFamily="34" charset="-120"/>
              </a:rPr>
              <a:t>  8</a:t>
            </a:r>
            <a:endParaRPr lang="en-US" sz="690" dirty="0"/>
          </a:p>
        </p:txBody>
      </p:sp>
      <p:sp>
        <p:nvSpPr>
          <p:cNvPr id="18" name="Text 16"/>
          <p:cNvSpPr/>
          <p:nvPr/>
        </p:nvSpPr>
        <p:spPr>
          <a:xfrm>
            <a:off x="828000" y="325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perle</a:t>
            </a:r>
            <a:pPr indent="0" marL="0">
              <a:buNone/>
            </a:pPr>
            <a:r>
              <a:rPr lang="en-US" sz="690" b="1" dirty="0">
                <a:solidFill>
                  <a:srgbClr val="67067C"/>
                </a:solidFill>
                <a:latin typeface="IBM Plex Sans" pitchFamily="34" charset="0"/>
                <a:ea typeface="IBM Plex Sans" pitchFamily="34" charset="-122"/>
                <a:cs typeface="IBM Plex Sans" pitchFamily="34" charset="-120"/>
              </a:rPr>
              <a:t>  3</a:t>
            </a:r>
            <a:pPr indent="0" marL="0">
              <a:buNone/>
            </a:pP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19" name="Text 17"/>
          <p:cNvSpPr/>
          <p:nvPr/>
        </p:nvSpPr>
        <p:spPr>
          <a:xfrm>
            <a:off x="828000" y="338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N°10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20" name="Text 18"/>
          <p:cNvSpPr/>
          <p:nvPr/>
        </p:nvSpPr>
        <p:spPr>
          <a:xfrm>
            <a:off x="828000" y="351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N°10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21" name="Text 19"/>
          <p:cNvSpPr/>
          <p:nvPr/>
        </p:nvSpPr>
        <p:spPr>
          <a:xfrm>
            <a:off x="828000" y="363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Nature</a:t>
            </a:r>
            <a:pPr indent="0" marL="0">
              <a:buNone/>
            </a:pPr>
            <a:r>
              <a:rPr lang="en-US" sz="690" b="1" dirty="0">
                <a:solidFill>
                  <a:srgbClr val="67067C"/>
                </a:solidFill>
                <a:latin typeface="IBM Plex Sans" pitchFamily="34" charset="0"/>
                <a:ea typeface="IBM Plex Sans" pitchFamily="34" charset="-122"/>
                <a:cs typeface="IBM Plex Sans" pitchFamily="34" charset="-120"/>
              </a:rPr>
              <a:t>  37</a:t>
            </a:r>
            <a:pPr indent="0" marL="0">
              <a:buNone/>
            </a:pPr>
            <a:r>
              <a:rPr lang="en-US" sz="690" dirty="0">
                <a:solidFill>
                  <a:srgbClr val="46606E"/>
                </a:solidFill>
                <a:latin typeface="IBM Plex Sans" pitchFamily="34" charset="0"/>
                <a:ea typeface="IBM Plex Sans" pitchFamily="34" charset="-122"/>
                <a:cs typeface="IBM Plex Sans" pitchFamily="34" charset="-120"/>
              </a:rPr>
              <a:t>  64</a:t>
            </a:r>
            <a:endParaRPr lang="en-US" sz="690" dirty="0"/>
          </a:p>
        </p:txBody>
      </p:sp>
      <p:sp>
        <p:nvSpPr>
          <p:cNvPr id="22" name="Text 20"/>
          <p:cNvSpPr/>
          <p:nvPr/>
        </p:nvSpPr>
        <p:spPr>
          <a:xfrm>
            <a:off x="828000" y="376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Nature de Solemme</a:t>
            </a:r>
            <a:pPr indent="0" marL="0">
              <a:buNone/>
            </a:pPr>
            <a:r>
              <a:rPr lang="en-US" sz="690" b="1" dirty="0">
                <a:solidFill>
                  <a:srgbClr val="67067C"/>
                </a:solidFill>
                <a:latin typeface="IBM Plex Sans" pitchFamily="34" charset="0"/>
                <a:ea typeface="IBM Plex Sans" pitchFamily="34" charset="-122"/>
                <a:cs typeface="IBM Plex Sans" pitchFamily="34" charset="-120"/>
              </a:rPr>
              <a:t>  39</a:t>
            </a:r>
            <a:pPr indent="0" marL="0">
              <a:buNone/>
            </a:pPr>
            <a:r>
              <a:rPr lang="en-US" sz="690" dirty="0">
                <a:solidFill>
                  <a:srgbClr val="46606E"/>
                </a:solidFill>
                <a:latin typeface="IBM Plex Sans" pitchFamily="34" charset="0"/>
                <a:ea typeface="IBM Plex Sans" pitchFamily="34" charset="-122"/>
                <a:cs typeface="IBM Plex Sans" pitchFamily="34" charset="-120"/>
              </a:rPr>
              <a:t>  66</a:t>
            </a:r>
            <a:endParaRPr lang="en-US" sz="690" dirty="0"/>
          </a:p>
        </p:txBody>
      </p:sp>
      <p:sp>
        <p:nvSpPr>
          <p:cNvPr id="23" name="Text 21"/>
          <p:cNvSpPr/>
          <p:nvPr/>
        </p:nvSpPr>
        <p:spPr>
          <a:xfrm>
            <a:off x="828000" y="388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Parcellaire AD 191</a:t>
            </a:r>
            <a:pPr indent="0" marL="0">
              <a:buNone/>
            </a:pPr>
            <a:r>
              <a:rPr lang="en-US" sz="690" b="1" dirty="0">
                <a:solidFill>
                  <a:srgbClr val="67067C"/>
                </a:solidFill>
                <a:latin typeface="IBM Plex Sans" pitchFamily="34" charset="0"/>
                <a:ea typeface="IBM Plex Sans" pitchFamily="34" charset="-122"/>
                <a:cs typeface="IBM Plex Sans" pitchFamily="34" charset="-120"/>
              </a:rPr>
              <a:t>  40</a:t>
            </a:r>
            <a:pPr indent="0" marL="0">
              <a:buNone/>
            </a:pPr>
            <a:r>
              <a:rPr lang="en-US" sz="690" dirty="0">
                <a:solidFill>
                  <a:srgbClr val="46606E"/>
                </a:solidFill>
                <a:latin typeface="IBM Plex Sans" pitchFamily="34" charset="0"/>
                <a:ea typeface="IBM Plex Sans" pitchFamily="34" charset="-122"/>
                <a:cs typeface="IBM Plex Sans" pitchFamily="34" charset="-120"/>
              </a:rPr>
              <a:t>  67</a:t>
            </a:r>
            <a:endParaRPr lang="en-US" sz="690" dirty="0"/>
          </a:p>
        </p:txBody>
      </p:sp>
      <p:sp>
        <p:nvSpPr>
          <p:cNvPr id="24" name="Text 22"/>
          <p:cNvSpPr/>
          <p:nvPr/>
        </p:nvSpPr>
        <p:spPr>
          <a:xfrm>
            <a:off x="828000" y="401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Pétillant de l'Escarderie</a:t>
            </a:r>
            <a:pPr indent="0" marL="0">
              <a:buNone/>
            </a:pPr>
            <a:r>
              <a:rPr lang="en-US" sz="690" b="1" dirty="0">
                <a:solidFill>
                  <a:srgbClr val="67067C"/>
                </a:solidFill>
                <a:latin typeface="IBM Plex Sans" pitchFamily="34" charset="0"/>
                <a:ea typeface="IBM Plex Sans" pitchFamily="34" charset="-122"/>
                <a:cs typeface="IBM Plex Sans" pitchFamily="34" charset="-120"/>
              </a:rPr>
              <a:t>  30</a:t>
            </a:r>
            <a:pPr indent="0" marL="0">
              <a:buNone/>
            </a:pPr>
            <a:r>
              <a:rPr lang="en-US" sz="690" dirty="0">
                <a:solidFill>
                  <a:srgbClr val="46606E"/>
                </a:solidFill>
                <a:latin typeface="IBM Plex Sans" pitchFamily="34" charset="0"/>
                <a:ea typeface="IBM Plex Sans" pitchFamily="34" charset="-122"/>
                <a:cs typeface="IBM Plex Sans" pitchFamily="34" charset="-120"/>
              </a:rPr>
              <a:t>  52</a:t>
            </a:r>
            <a:endParaRPr lang="en-US" sz="690" dirty="0"/>
          </a:p>
        </p:txBody>
      </p:sp>
      <p:sp>
        <p:nvSpPr>
          <p:cNvPr id="25" name="Text 23"/>
          <p:cNvSpPr/>
          <p:nvPr/>
        </p:nvSpPr>
        <p:spPr>
          <a:xfrm>
            <a:off x="828000" y="41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Plénitude de Solemme</a:t>
            </a:r>
            <a:pPr indent="0" marL="0">
              <a:buNone/>
            </a:pPr>
            <a:r>
              <a:rPr lang="en-US" sz="690" b="1" dirty="0">
                <a:solidFill>
                  <a:srgbClr val="67067C"/>
                </a:solidFill>
                <a:latin typeface="IBM Plex Sans" pitchFamily="34" charset="0"/>
                <a:ea typeface="IBM Plex Sans" pitchFamily="34" charset="-122"/>
                <a:cs typeface="IBM Plex Sans" pitchFamily="34" charset="-120"/>
              </a:rPr>
              <a:t>  39</a:t>
            </a:r>
            <a:pPr indent="0" marL="0">
              <a:buNone/>
            </a:pPr>
            <a:r>
              <a:rPr lang="en-US" sz="690" dirty="0">
                <a:solidFill>
                  <a:srgbClr val="46606E"/>
                </a:solidFill>
                <a:latin typeface="IBM Plex Sans" pitchFamily="34" charset="0"/>
                <a:ea typeface="IBM Plex Sans" pitchFamily="34" charset="-122"/>
                <a:cs typeface="IBM Plex Sans" pitchFamily="34" charset="-120"/>
              </a:rPr>
              <a:t>  66</a:t>
            </a:r>
            <a:endParaRPr lang="en-US" sz="690" dirty="0"/>
          </a:p>
        </p:txBody>
      </p:sp>
      <p:sp>
        <p:nvSpPr>
          <p:cNvPr id="26" name="Text 24"/>
          <p:cNvSpPr/>
          <p:nvPr/>
        </p:nvSpPr>
        <p:spPr>
          <a:xfrm>
            <a:off x="828000" y="42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Rose de Solemme</a:t>
            </a:r>
            <a:pPr indent="0" marL="0">
              <a:buNone/>
            </a:pPr>
            <a:r>
              <a:rPr lang="en-US" sz="690" b="1" dirty="0">
                <a:solidFill>
                  <a:srgbClr val="67067C"/>
                </a:solidFill>
                <a:latin typeface="IBM Plex Sans" pitchFamily="34" charset="0"/>
                <a:ea typeface="IBM Plex Sans" pitchFamily="34" charset="-122"/>
                <a:cs typeface="IBM Plex Sans" pitchFamily="34" charset="-120"/>
              </a:rPr>
              <a:t>  39</a:t>
            </a:r>
            <a:pPr indent="0" marL="0">
              <a:buNone/>
            </a:pPr>
            <a:r>
              <a:rPr lang="en-US" sz="690" dirty="0">
                <a:solidFill>
                  <a:srgbClr val="46606E"/>
                </a:solidFill>
                <a:latin typeface="IBM Plex Sans" pitchFamily="34" charset="0"/>
                <a:ea typeface="IBM Plex Sans" pitchFamily="34" charset="-122"/>
                <a:cs typeface="IBM Plex Sans" pitchFamily="34" charset="-120"/>
              </a:rPr>
              <a:t>  66</a:t>
            </a:r>
            <a:endParaRPr lang="en-US" sz="690" dirty="0"/>
          </a:p>
        </p:txBody>
      </p:sp>
      <p:sp>
        <p:nvSpPr>
          <p:cNvPr id="27" name="Text 25"/>
          <p:cNvSpPr/>
          <p:nvPr/>
        </p:nvSpPr>
        <p:spPr>
          <a:xfrm>
            <a:off x="828000" y="43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Special Club</a:t>
            </a:r>
            <a:pPr indent="0" marL="0">
              <a:buNone/>
            </a:pPr>
            <a:r>
              <a:rPr lang="en-US" sz="690" b="1" dirty="0">
                <a:solidFill>
                  <a:srgbClr val="67067C"/>
                </a:solidFill>
                <a:latin typeface="IBM Plex Sans" pitchFamily="34" charset="0"/>
                <a:ea typeface="IBM Plex Sans" pitchFamily="34" charset="-122"/>
                <a:cs typeface="IBM Plex Sans" pitchFamily="34" charset="-120"/>
              </a:rPr>
              <a:t>  40</a:t>
            </a:r>
            <a:pPr indent="0" marL="0">
              <a:buNone/>
            </a:pPr>
            <a:r>
              <a:rPr lang="en-US" sz="690" dirty="0">
                <a:solidFill>
                  <a:srgbClr val="46606E"/>
                </a:solidFill>
                <a:latin typeface="IBM Plex Sans" pitchFamily="34" charset="0"/>
                <a:ea typeface="IBM Plex Sans" pitchFamily="34" charset="-122"/>
                <a:cs typeface="IBM Plex Sans" pitchFamily="34" charset="-120"/>
              </a:rPr>
              <a:t>  67</a:t>
            </a:r>
            <a:endParaRPr lang="en-US" sz="690" dirty="0"/>
          </a:p>
        </p:txBody>
      </p:sp>
      <p:sp>
        <p:nvSpPr>
          <p:cNvPr id="28" name="Text 26"/>
          <p:cNvSpPr/>
          <p:nvPr/>
        </p:nvSpPr>
        <p:spPr>
          <a:xfrm>
            <a:off x="828000" y="45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TC</a:t>
            </a:r>
            <a:pPr indent="0" marL="0">
              <a:buNone/>
            </a:pPr>
            <a:r>
              <a:rPr lang="en-US" sz="690" b="1" dirty="0">
                <a:solidFill>
                  <a:srgbClr val="67067C"/>
                </a:solidFill>
                <a:latin typeface="IBM Plex Sans" pitchFamily="34" charset="0"/>
                <a:ea typeface="IBM Plex Sans" pitchFamily="34" charset="-122"/>
                <a:cs typeface="IBM Plex Sans" pitchFamily="34" charset="-120"/>
              </a:rPr>
              <a:t>  40</a:t>
            </a:r>
            <a:pPr indent="0" marL="0">
              <a:buNone/>
            </a:pPr>
            <a:r>
              <a:rPr lang="en-US" sz="690" dirty="0">
                <a:solidFill>
                  <a:srgbClr val="46606E"/>
                </a:solidFill>
                <a:latin typeface="IBM Plex Sans" pitchFamily="34" charset="0"/>
                <a:ea typeface="IBM Plex Sans" pitchFamily="34" charset="-122"/>
                <a:cs typeface="IBM Plex Sans" pitchFamily="34" charset="-120"/>
              </a:rPr>
              <a:t>  67</a:t>
            </a:r>
            <a:endParaRPr lang="en-US" sz="690" dirty="0"/>
          </a:p>
        </p:txBody>
      </p:sp>
      <p:sp>
        <p:nvSpPr>
          <p:cNvPr id="29" name="Text 27"/>
          <p:cNvSpPr/>
          <p:nvPr/>
        </p:nvSpPr>
        <p:spPr>
          <a:xfrm>
            <a:off x="828000" y="46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Terre de Solemme</a:t>
            </a:r>
            <a:pPr indent="0" marL="0">
              <a:buNone/>
            </a:pPr>
            <a:r>
              <a:rPr lang="en-US" sz="690" b="1" dirty="0">
                <a:solidFill>
                  <a:srgbClr val="67067C"/>
                </a:solidFill>
                <a:latin typeface="IBM Plex Sans" pitchFamily="34" charset="0"/>
                <a:ea typeface="IBM Plex Sans" pitchFamily="34" charset="-122"/>
                <a:cs typeface="IBM Plex Sans" pitchFamily="34" charset="-120"/>
              </a:rPr>
              <a:t>  39</a:t>
            </a:r>
            <a:pPr indent="0" marL="0">
              <a:buNone/>
            </a:pPr>
            <a:r>
              <a:rPr lang="en-US" sz="690" dirty="0">
                <a:solidFill>
                  <a:srgbClr val="46606E"/>
                </a:solidFill>
                <a:latin typeface="IBM Plex Sans" pitchFamily="34" charset="0"/>
                <a:ea typeface="IBM Plex Sans" pitchFamily="34" charset="-122"/>
                <a:cs typeface="IBM Plex Sans" pitchFamily="34" charset="-120"/>
              </a:rPr>
              <a:t>  66</a:t>
            </a:r>
            <a:endParaRPr lang="en-US" sz="690" dirty="0"/>
          </a:p>
        </p:txBody>
      </p:sp>
      <p:sp>
        <p:nvSpPr>
          <p:cNvPr id="30" name="Text 28"/>
          <p:cNvSpPr/>
          <p:nvPr/>
        </p:nvSpPr>
        <p:spPr>
          <a:xfrm>
            <a:off x="828000" y="47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Terroir Blanc</a:t>
            </a:r>
            <a:pPr indent="0" marL="0">
              <a:buNone/>
            </a:pPr>
            <a:r>
              <a:rPr lang="en-US" sz="690" b="1" dirty="0">
                <a:solidFill>
                  <a:srgbClr val="67067C"/>
                </a:solidFill>
                <a:latin typeface="IBM Plex Sans" pitchFamily="34" charset="0"/>
                <a:ea typeface="IBM Plex Sans" pitchFamily="34" charset="-122"/>
                <a:cs typeface="IBM Plex Sans" pitchFamily="34" charset="-120"/>
              </a:rPr>
              <a:t>  38</a:t>
            </a:r>
            <a:pPr indent="0" marL="0">
              <a:buNone/>
            </a:pPr>
            <a:r>
              <a:rPr lang="en-US" sz="690" dirty="0">
                <a:solidFill>
                  <a:srgbClr val="46606E"/>
                </a:solidFill>
                <a:latin typeface="IBM Plex Sans" pitchFamily="34" charset="0"/>
                <a:ea typeface="IBM Plex Sans" pitchFamily="34" charset="-122"/>
                <a:cs typeface="IBM Plex Sans" pitchFamily="34" charset="-120"/>
              </a:rPr>
              <a:t>  65</a:t>
            </a:r>
            <a:endParaRPr lang="en-US" sz="690" dirty="0"/>
          </a:p>
        </p:txBody>
      </p:sp>
      <p:sp>
        <p:nvSpPr>
          <p:cNvPr id="31" name="Text 29"/>
          <p:cNvSpPr/>
          <p:nvPr/>
        </p:nvSpPr>
        <p:spPr>
          <a:xfrm>
            <a:off x="828000" y="48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Terroir Meunier</a:t>
            </a:r>
            <a:pPr indent="0" marL="0">
              <a:buNone/>
            </a:pPr>
            <a:r>
              <a:rPr lang="en-US" sz="690" b="1" dirty="0">
                <a:solidFill>
                  <a:srgbClr val="67067C"/>
                </a:solidFill>
                <a:latin typeface="IBM Plex Sans" pitchFamily="34" charset="0"/>
                <a:ea typeface="IBM Plex Sans" pitchFamily="34" charset="-122"/>
                <a:cs typeface="IBM Plex Sans" pitchFamily="34" charset="-120"/>
              </a:rPr>
              <a:t>  38</a:t>
            </a:r>
            <a:pPr indent="0" marL="0">
              <a:buNone/>
            </a:pPr>
            <a:r>
              <a:rPr lang="en-US" sz="690" dirty="0">
                <a:solidFill>
                  <a:srgbClr val="46606E"/>
                </a:solidFill>
                <a:latin typeface="IBM Plex Sans" pitchFamily="34" charset="0"/>
                <a:ea typeface="IBM Plex Sans" pitchFamily="34" charset="-122"/>
                <a:cs typeface="IBM Plex Sans" pitchFamily="34" charset="-120"/>
              </a:rPr>
              <a:t>  65</a:t>
            </a:r>
            <a:endParaRPr lang="en-US" sz="690" dirty="0"/>
          </a:p>
        </p:txBody>
      </p:sp>
      <p:sp>
        <p:nvSpPr>
          <p:cNvPr id="32" name="Text 30"/>
          <p:cNvSpPr/>
          <p:nvPr/>
        </p:nvSpPr>
        <p:spPr>
          <a:xfrm>
            <a:off x="828000" y="50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Terroir Noir</a:t>
            </a:r>
            <a:pPr indent="0" marL="0">
              <a:buNone/>
            </a:pPr>
            <a:r>
              <a:rPr lang="en-US" sz="690" b="1" dirty="0">
                <a:solidFill>
                  <a:srgbClr val="67067C"/>
                </a:solidFill>
                <a:latin typeface="IBM Plex Sans" pitchFamily="34" charset="0"/>
                <a:ea typeface="IBM Plex Sans" pitchFamily="34" charset="-122"/>
                <a:cs typeface="IBM Plex Sans" pitchFamily="34" charset="-120"/>
              </a:rPr>
              <a:t>  38</a:t>
            </a:r>
            <a:pPr indent="0" marL="0">
              <a:buNone/>
            </a:pPr>
            <a:r>
              <a:rPr lang="en-US" sz="690" dirty="0">
                <a:solidFill>
                  <a:srgbClr val="46606E"/>
                </a:solidFill>
                <a:latin typeface="IBM Plex Sans" pitchFamily="34" charset="0"/>
                <a:ea typeface="IBM Plex Sans" pitchFamily="34" charset="-122"/>
                <a:cs typeface="IBM Plex Sans" pitchFamily="34" charset="-120"/>
              </a:rPr>
              <a:t>  65</a:t>
            </a:r>
            <a:endParaRPr lang="en-US" sz="690" dirty="0"/>
          </a:p>
        </p:txBody>
      </p:sp>
      <p:sp>
        <p:nvSpPr>
          <p:cNvPr id="33" name="Text 31"/>
          <p:cNvSpPr/>
          <p:nvPr/>
        </p:nvSpPr>
        <p:spPr>
          <a:xfrm>
            <a:off x="828000" y="51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Trois Crus Brut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38</a:t>
            </a:r>
            <a:pPr indent="0" marL="0">
              <a:buNone/>
            </a:pPr>
            <a:r>
              <a:rPr lang="en-US" sz="690" dirty="0">
                <a:solidFill>
                  <a:srgbClr val="46606E"/>
                </a:solidFill>
                <a:latin typeface="IBM Plex Sans" pitchFamily="34" charset="0"/>
                <a:ea typeface="IBM Plex Sans" pitchFamily="34" charset="-122"/>
                <a:cs typeface="IBM Plex Sans" pitchFamily="34" charset="-120"/>
              </a:rPr>
              <a:t>  65</a:t>
            </a:r>
            <a:endParaRPr lang="en-US" sz="690" dirty="0"/>
          </a:p>
        </p:txBody>
      </p:sp>
      <p:sp>
        <p:nvSpPr>
          <p:cNvPr id="34" name="Text 32"/>
          <p:cNvSpPr/>
          <p:nvPr/>
        </p:nvSpPr>
        <p:spPr>
          <a:xfrm>
            <a:off x="828000" y="52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Trois Crus Brut  37,5 cl</a:t>
            </a:r>
            <a:pPr indent="0" marL="0">
              <a:buNone/>
            </a:pPr>
            <a:r>
              <a:rPr lang="en-US" sz="690" b="1" dirty="0">
                <a:solidFill>
                  <a:srgbClr val="67067C"/>
                </a:solidFill>
                <a:latin typeface="IBM Plex Sans" pitchFamily="34" charset="0"/>
                <a:ea typeface="IBM Plex Sans" pitchFamily="34" charset="-122"/>
                <a:cs typeface="IBM Plex Sans" pitchFamily="34" charset="-120"/>
              </a:rPr>
              <a:t>  38</a:t>
            </a:r>
            <a:pPr indent="0" marL="0">
              <a:buNone/>
            </a:pPr>
            <a:r>
              <a:rPr lang="en-US" sz="690" dirty="0">
                <a:solidFill>
                  <a:srgbClr val="46606E"/>
                </a:solidFill>
                <a:latin typeface="IBM Plex Sans" pitchFamily="34" charset="0"/>
                <a:ea typeface="IBM Plex Sans" pitchFamily="34" charset="-122"/>
                <a:cs typeface="IBM Plex Sans" pitchFamily="34" charset="-120"/>
              </a:rPr>
              <a:t>  65</a:t>
            </a:r>
            <a:endParaRPr lang="en-US" sz="690" dirty="0"/>
          </a:p>
        </p:txBody>
      </p:sp>
      <p:sp>
        <p:nvSpPr>
          <p:cNvPr id="35" name="Text 33"/>
          <p:cNvSpPr/>
          <p:nvPr/>
        </p:nvSpPr>
        <p:spPr>
          <a:xfrm>
            <a:off x="828000" y="54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Trois Crus Demi-Sec</a:t>
            </a:r>
            <a:pPr indent="0" marL="0">
              <a:buNone/>
            </a:pPr>
            <a:r>
              <a:rPr lang="en-US" sz="690" b="1" dirty="0">
                <a:solidFill>
                  <a:srgbClr val="67067C"/>
                </a:solidFill>
                <a:latin typeface="IBM Plex Sans" pitchFamily="34" charset="0"/>
                <a:ea typeface="IBM Plex Sans" pitchFamily="34" charset="-122"/>
                <a:cs typeface="IBM Plex Sans" pitchFamily="34" charset="-120"/>
              </a:rPr>
              <a:t>  38</a:t>
            </a:r>
            <a:pPr indent="0" marL="0">
              <a:buNone/>
            </a:pPr>
            <a:r>
              <a:rPr lang="en-US" sz="690" dirty="0">
                <a:solidFill>
                  <a:srgbClr val="46606E"/>
                </a:solidFill>
                <a:latin typeface="IBM Plex Sans" pitchFamily="34" charset="0"/>
                <a:ea typeface="IBM Plex Sans" pitchFamily="34" charset="-122"/>
                <a:cs typeface="IBM Plex Sans" pitchFamily="34" charset="-120"/>
              </a:rPr>
              <a:t>  65</a:t>
            </a:r>
            <a:endParaRPr lang="en-US" sz="690" dirty="0"/>
          </a:p>
        </p:txBody>
      </p:sp>
      <p:sp>
        <p:nvSpPr>
          <p:cNvPr id="36" name="Text 34"/>
          <p:cNvSpPr/>
          <p:nvPr/>
        </p:nvSpPr>
        <p:spPr>
          <a:xfrm>
            <a:off x="828000" y="55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Trois Crus Extra-Dry</a:t>
            </a:r>
            <a:pPr indent="0" marL="0">
              <a:buNone/>
            </a:pPr>
            <a:r>
              <a:rPr lang="en-US" sz="690" b="1" dirty="0">
                <a:solidFill>
                  <a:srgbClr val="67067C"/>
                </a:solidFill>
                <a:latin typeface="IBM Plex Sans" pitchFamily="34" charset="0"/>
                <a:ea typeface="IBM Plex Sans" pitchFamily="34" charset="-122"/>
                <a:cs typeface="IBM Plex Sans" pitchFamily="34" charset="-120"/>
              </a:rPr>
              <a:t>  38</a:t>
            </a:r>
            <a:pPr indent="0" marL="0">
              <a:buNone/>
            </a:pPr>
            <a:r>
              <a:rPr lang="en-US" sz="690" dirty="0">
                <a:solidFill>
                  <a:srgbClr val="46606E"/>
                </a:solidFill>
                <a:latin typeface="IBM Plex Sans" pitchFamily="34" charset="0"/>
                <a:ea typeface="IBM Plex Sans" pitchFamily="34" charset="-122"/>
                <a:cs typeface="IBM Plex Sans" pitchFamily="34" charset="-120"/>
              </a:rPr>
              <a:t>  65</a:t>
            </a:r>
            <a:endParaRPr lang="en-US" sz="690" dirty="0"/>
          </a:p>
        </p:txBody>
      </p:sp>
      <p:sp>
        <p:nvSpPr>
          <p:cNvPr id="37" name="Text 35"/>
          <p:cNvSpPr/>
          <p:nvPr/>
        </p:nvSpPr>
        <p:spPr>
          <a:xfrm>
            <a:off x="828000" y="56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Voglonniers</a:t>
            </a:r>
            <a:pPr indent="0" marL="0">
              <a:buNone/>
            </a:pPr>
            <a:r>
              <a:rPr lang="en-US" sz="690" b="1" dirty="0">
                <a:solidFill>
                  <a:srgbClr val="67067C"/>
                </a:solidFill>
                <a:latin typeface="IBM Plex Sans" pitchFamily="34" charset="0"/>
                <a:ea typeface="IBM Plex Sans" pitchFamily="34" charset="-122"/>
                <a:cs typeface="IBM Plex Sans" pitchFamily="34" charset="-120"/>
              </a:rPr>
              <a:t>  37</a:t>
            </a:r>
            <a:pPr indent="0" marL="0">
              <a:buNone/>
            </a:pPr>
            <a:r>
              <a:rPr lang="en-US" sz="690" dirty="0">
                <a:solidFill>
                  <a:srgbClr val="46606E"/>
                </a:solidFill>
                <a:latin typeface="IBM Plex Sans" pitchFamily="34" charset="0"/>
                <a:ea typeface="IBM Plex Sans" pitchFamily="34" charset="-122"/>
                <a:cs typeface="IBM Plex Sans" pitchFamily="34" charset="-120"/>
              </a:rPr>
              <a:t>  64</a:t>
            </a:r>
            <a:endParaRPr lang="en-US" sz="690" dirty="0"/>
          </a:p>
        </p:txBody>
      </p:sp>
      <p:sp>
        <p:nvSpPr>
          <p:cNvPr id="38" name="Text 36"/>
          <p:cNvSpPr/>
          <p:nvPr/>
        </p:nvSpPr>
        <p:spPr>
          <a:xfrm>
            <a:off x="828000" y="5778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BLANC</a:t>
            </a:r>
            <a:endParaRPr lang="en-US" sz="800" dirty="0"/>
          </a:p>
        </p:txBody>
      </p:sp>
      <p:sp>
        <p:nvSpPr>
          <p:cNvPr id="39" name="Text 37"/>
          <p:cNvSpPr/>
          <p:nvPr/>
        </p:nvSpPr>
        <p:spPr>
          <a:xfrm>
            <a:off x="828000" y="59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Adn 24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24</a:t>
            </a:r>
            <a:pPr indent="0" marL="0">
              <a:buNone/>
            </a:pPr>
            <a:r>
              <a:rPr lang="en-US" sz="690" dirty="0">
                <a:solidFill>
                  <a:srgbClr val="46606E"/>
                </a:solidFill>
                <a:latin typeface="IBM Plex Sans" pitchFamily="34" charset="0"/>
                <a:ea typeface="IBM Plex Sans" pitchFamily="34" charset="-122"/>
                <a:cs typeface="IBM Plex Sans" pitchFamily="34" charset="-120"/>
              </a:rPr>
              <a:t>  41</a:t>
            </a:r>
            <a:endParaRPr lang="en-US" sz="690" dirty="0"/>
          </a:p>
        </p:txBody>
      </p:sp>
      <p:sp>
        <p:nvSpPr>
          <p:cNvPr id="40" name="Text 38"/>
          <p:cNvSpPr/>
          <p:nvPr/>
        </p:nvSpPr>
        <p:spPr>
          <a:xfrm>
            <a:off x="828000" y="60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Aillargues</a:t>
            </a:r>
            <a:pPr indent="0" marL="0">
              <a:buNone/>
            </a:pPr>
            <a:r>
              <a:rPr lang="en-US" sz="690" b="1" dirty="0">
                <a:solidFill>
                  <a:srgbClr val="67067C"/>
                </a:solidFill>
                <a:latin typeface="IBM Plex Sans" pitchFamily="34" charset="0"/>
                <a:ea typeface="IBM Plex Sans" pitchFamily="34" charset="-122"/>
                <a:cs typeface="IBM Plex Sans" pitchFamily="34" charset="-120"/>
              </a:rPr>
              <a:t>  35</a:t>
            </a:r>
            <a:pPr indent="0" marL="0">
              <a:buNone/>
            </a:pPr>
            <a:r>
              <a:rPr lang="en-US" sz="690" dirty="0">
                <a:solidFill>
                  <a:srgbClr val="46606E"/>
                </a:solidFill>
                <a:latin typeface="IBM Plex Sans" pitchFamily="34" charset="0"/>
                <a:ea typeface="IBM Plex Sans" pitchFamily="34" charset="-122"/>
                <a:cs typeface="IBM Plex Sans" pitchFamily="34" charset="-120"/>
              </a:rPr>
              <a:t>  60</a:t>
            </a:r>
            <a:endParaRPr lang="en-US" sz="690" dirty="0"/>
          </a:p>
        </p:txBody>
      </p:sp>
      <p:sp>
        <p:nvSpPr>
          <p:cNvPr id="41" name="Text 39"/>
          <p:cNvSpPr/>
          <p:nvPr/>
        </p:nvSpPr>
        <p:spPr>
          <a:xfrm>
            <a:off x="828000" y="61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Beaujolais-Lancié</a:t>
            </a:r>
            <a:pPr indent="0" marL="0">
              <a:buNone/>
            </a:pPr>
            <a:r>
              <a:rPr lang="en-US" sz="690" b="1" dirty="0">
                <a:solidFill>
                  <a:srgbClr val="67067C"/>
                </a:solidFill>
                <a:latin typeface="IBM Plex Sans" pitchFamily="34" charset="0"/>
                <a:ea typeface="IBM Plex Sans" pitchFamily="34" charset="-122"/>
                <a:cs typeface="IBM Plex Sans" pitchFamily="34" charset="-120"/>
              </a:rPr>
              <a:t>  9</a:t>
            </a:r>
            <a:pPr indent="0" marL="0">
              <a:buNone/>
            </a:pP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42" name="Text 40"/>
          <p:cNvSpPr/>
          <p:nvPr/>
        </p:nvSpPr>
        <p:spPr>
          <a:xfrm>
            <a:off x="828000" y="62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Bourgogne Chardonnay</a:t>
            </a:r>
            <a:pPr indent="0" marL="0">
              <a:buNone/>
            </a:pPr>
            <a:r>
              <a:rPr lang="en-US" sz="690" b="1" dirty="0">
                <a:solidFill>
                  <a:srgbClr val="67067C"/>
                </a:solidFill>
                <a:latin typeface="IBM Plex Sans" pitchFamily="34" charset="0"/>
                <a:ea typeface="IBM Plex Sans" pitchFamily="34" charset="-122"/>
                <a:cs typeface="IBM Plex Sans" pitchFamily="34" charset="-120"/>
              </a:rPr>
              <a:t>  9</a:t>
            </a:r>
            <a:pPr indent="0" marL="0">
              <a:buNone/>
            </a:pP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43" name="Text 41"/>
          <p:cNvSpPr/>
          <p:nvPr/>
        </p:nvSpPr>
        <p:spPr>
          <a:xfrm>
            <a:off x="828000" y="64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CDR villages Sablet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20</a:t>
            </a:r>
            <a:pPr indent="0" marL="0">
              <a:buNone/>
            </a:pPr>
            <a:r>
              <a:rPr lang="en-US" sz="690" dirty="0">
                <a:solidFill>
                  <a:srgbClr val="46606E"/>
                </a:solidFill>
                <a:latin typeface="IBM Plex Sans" pitchFamily="34" charset="0"/>
                <a:ea typeface="IBM Plex Sans" pitchFamily="34" charset="-122"/>
                <a:cs typeface="IBM Plex Sans" pitchFamily="34" charset="-120"/>
              </a:rPr>
              <a:t>  35</a:t>
            </a:r>
            <a:endParaRPr lang="en-US" sz="690" dirty="0"/>
          </a:p>
        </p:txBody>
      </p:sp>
      <p:sp>
        <p:nvSpPr>
          <p:cNvPr id="44" name="Text 42"/>
          <p:cNvSpPr/>
          <p:nvPr/>
        </p:nvSpPr>
        <p:spPr>
          <a:xfrm>
            <a:off x="2868000" y="162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Chablis</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45" name="Text 43"/>
          <p:cNvSpPr/>
          <p:nvPr/>
        </p:nvSpPr>
        <p:spPr>
          <a:xfrm>
            <a:off x="2868000" y="17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Chablis 1er Cru</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46" name="Text 44"/>
          <p:cNvSpPr/>
          <p:nvPr/>
        </p:nvSpPr>
        <p:spPr>
          <a:xfrm>
            <a:off x="2868000" y="18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Mâcon</a:t>
            </a:r>
            <a:pPr indent="0" marL="0">
              <a:buNone/>
            </a:pPr>
            <a:r>
              <a:rPr lang="en-US" sz="690" b="1" dirty="0">
                <a:solidFill>
                  <a:srgbClr val="67067C"/>
                </a:solidFill>
                <a:latin typeface="IBM Plex Sans" pitchFamily="34" charset="0"/>
                <a:ea typeface="IBM Plex Sans" pitchFamily="34" charset="-122"/>
                <a:cs typeface="IBM Plex Sans" pitchFamily="34" charset="-120"/>
              </a:rPr>
              <a:t>  11</a:t>
            </a:r>
            <a:pPr indent="0" marL="0">
              <a:buNone/>
            </a:pPr>
            <a:r>
              <a:rPr lang="en-US" sz="690" dirty="0">
                <a:solidFill>
                  <a:srgbClr val="46606E"/>
                </a:solidFill>
                <a:latin typeface="IBM Plex Sans" pitchFamily="34" charset="0"/>
                <a:ea typeface="IBM Plex Sans" pitchFamily="34" charset="-122"/>
                <a:cs typeface="IBM Plex Sans" pitchFamily="34" charset="-120"/>
              </a:rPr>
              <a:t>  24</a:t>
            </a:r>
            <a:endParaRPr lang="en-US" sz="690" dirty="0"/>
          </a:p>
        </p:txBody>
      </p:sp>
      <p:sp>
        <p:nvSpPr>
          <p:cNvPr id="47" name="Text 45"/>
          <p:cNvSpPr/>
          <p:nvPr/>
        </p:nvSpPr>
        <p:spPr>
          <a:xfrm>
            <a:off x="2868000" y="19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Mâcon Solutré-Pouilly</a:t>
            </a:r>
            <a:pPr indent="0" marL="0">
              <a:buNone/>
            </a:pPr>
            <a:r>
              <a:rPr lang="en-US" sz="690" b="1" dirty="0">
                <a:solidFill>
                  <a:srgbClr val="67067C"/>
                </a:solidFill>
                <a:latin typeface="IBM Plex Sans" pitchFamily="34" charset="0"/>
                <a:ea typeface="IBM Plex Sans" pitchFamily="34" charset="-122"/>
                <a:cs typeface="IBM Plex Sans" pitchFamily="34" charset="-120"/>
              </a:rPr>
              <a:t>  11</a:t>
            </a:r>
            <a:pPr indent="0" marL="0">
              <a:buNone/>
            </a:pPr>
            <a:r>
              <a:rPr lang="en-US" sz="690" dirty="0">
                <a:solidFill>
                  <a:srgbClr val="46606E"/>
                </a:solidFill>
                <a:latin typeface="IBM Plex Sans" pitchFamily="34" charset="0"/>
                <a:ea typeface="IBM Plex Sans" pitchFamily="34" charset="-122"/>
                <a:cs typeface="IBM Plex Sans" pitchFamily="34" charset="-120"/>
              </a:rPr>
              <a:t>  24</a:t>
            </a:r>
            <a:endParaRPr lang="en-US" sz="690" dirty="0"/>
          </a:p>
        </p:txBody>
      </p:sp>
      <p:sp>
        <p:nvSpPr>
          <p:cNvPr id="48" name="Text 46"/>
          <p:cNvSpPr/>
          <p:nvPr/>
        </p:nvSpPr>
        <p:spPr>
          <a:xfrm>
            <a:off x="2868000" y="21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Mâcon-Villages</a:t>
            </a:r>
            <a:pPr indent="0" marL="0">
              <a:buNone/>
            </a:pPr>
            <a:r>
              <a:rPr lang="en-US" sz="690" b="1" dirty="0">
                <a:solidFill>
                  <a:srgbClr val="67067C"/>
                </a:solidFill>
                <a:latin typeface="IBM Plex Sans" pitchFamily="34" charset="0"/>
                <a:ea typeface="IBM Plex Sans" pitchFamily="34" charset="-122"/>
                <a:cs typeface="IBM Plex Sans" pitchFamily="34" charset="-120"/>
              </a:rPr>
              <a:t>  9</a:t>
            </a:r>
            <a:pPr indent="0" marL="0">
              <a:buNone/>
            </a:pP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49" name="Text 47"/>
          <p:cNvSpPr/>
          <p:nvPr/>
        </p:nvSpPr>
        <p:spPr>
          <a:xfrm>
            <a:off x="2868000" y="22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Menetou-Salon</a:t>
            </a:r>
            <a:pPr indent="0" marL="0">
              <a:buNone/>
            </a:pPr>
            <a:r>
              <a:rPr lang="en-US" sz="690" b="1" dirty="0">
                <a:solidFill>
                  <a:srgbClr val="67067C"/>
                </a:solidFill>
                <a:latin typeface="IBM Plex Sans" pitchFamily="34" charset="0"/>
                <a:ea typeface="IBM Plex Sans" pitchFamily="34" charset="-122"/>
                <a:cs typeface="IBM Plex Sans" pitchFamily="34" charset="-120"/>
              </a:rPr>
              <a:t>  6</a:t>
            </a:r>
            <a:pPr indent="0" marL="0">
              <a:buNone/>
            </a:pP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50" name="Text 48"/>
          <p:cNvSpPr/>
          <p:nvPr/>
        </p:nvSpPr>
        <p:spPr>
          <a:xfrm>
            <a:off x="2868000" y="23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Muscadet</a:t>
            </a:r>
            <a:pPr indent="0" marL="0">
              <a:buNone/>
            </a:pPr>
            <a:r>
              <a:rPr lang="en-US" sz="690" b="1" dirty="0">
                <a:solidFill>
                  <a:srgbClr val="67067C"/>
                </a:solidFill>
                <a:latin typeface="IBM Plex Sans" pitchFamily="34" charset="0"/>
                <a:ea typeface="IBM Plex Sans" pitchFamily="34" charset="-122"/>
                <a:cs typeface="IBM Plex Sans" pitchFamily="34" charset="-120"/>
              </a:rPr>
              <a:t>  3</a:t>
            </a:r>
            <a:pPr indent="0" marL="0">
              <a:buNone/>
            </a:pP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51" name="Text 49"/>
          <p:cNvSpPr/>
          <p:nvPr/>
        </p:nvSpPr>
        <p:spPr>
          <a:xfrm>
            <a:off x="2868000" y="25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Pacherenc du Vic-Bilh Sec</a:t>
            </a:r>
            <a:pPr indent="0" marL="0">
              <a:buNone/>
            </a:pPr>
            <a:r>
              <a:rPr lang="en-US" sz="690" b="1" dirty="0">
                <a:solidFill>
                  <a:srgbClr val="67067C"/>
                </a:solidFill>
                <a:latin typeface="IBM Plex Sans" pitchFamily="34" charset="0"/>
                <a:ea typeface="IBM Plex Sans" pitchFamily="34" charset="-122"/>
                <a:cs typeface="IBM Plex Sans" pitchFamily="34" charset="-120"/>
              </a:rPr>
              <a:t>  22</a:t>
            </a:r>
            <a:pPr indent="0" marL="0">
              <a:buNone/>
            </a:pPr>
            <a:r>
              <a:rPr lang="en-US" sz="690" dirty="0">
                <a:solidFill>
                  <a:srgbClr val="46606E"/>
                </a:solidFill>
                <a:latin typeface="IBM Plex Sans" pitchFamily="34" charset="0"/>
                <a:ea typeface="IBM Plex Sans" pitchFamily="34" charset="-122"/>
                <a:cs typeface="IBM Plex Sans" pitchFamily="34" charset="-120"/>
              </a:rPr>
              <a:t>  38</a:t>
            </a:r>
            <a:endParaRPr lang="en-US" sz="690" dirty="0"/>
          </a:p>
        </p:txBody>
      </p:sp>
      <p:sp>
        <p:nvSpPr>
          <p:cNvPr id="52" name="Text 50"/>
          <p:cNvSpPr/>
          <p:nvPr/>
        </p:nvSpPr>
        <p:spPr>
          <a:xfrm>
            <a:off x="2868000" y="26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Petit Chablis</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53" name="Text 51"/>
          <p:cNvSpPr/>
          <p:nvPr/>
        </p:nvSpPr>
        <p:spPr>
          <a:xfrm>
            <a:off x="2868000" y="27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Pouilly-Fumé</a:t>
            </a:r>
            <a:pPr indent="0" marL="0">
              <a:buNone/>
            </a:pPr>
            <a:r>
              <a:rPr lang="en-US" sz="690" b="1" dirty="0">
                <a:solidFill>
                  <a:srgbClr val="67067C"/>
                </a:solidFill>
                <a:latin typeface="IBM Plex Sans" pitchFamily="34" charset="0"/>
                <a:ea typeface="IBM Plex Sans" pitchFamily="34" charset="-122"/>
                <a:cs typeface="IBM Plex Sans" pitchFamily="34" charset="-120"/>
              </a:rPr>
              <a:t>  6</a:t>
            </a:r>
            <a:pPr indent="0" marL="0">
              <a:buNone/>
            </a:pP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54" name="Text 52"/>
          <p:cNvSpPr/>
          <p:nvPr/>
        </p:nvSpPr>
        <p:spPr>
          <a:xfrm>
            <a:off x="2868000" y="28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Quincy</a:t>
            </a:r>
            <a:pPr indent="0" marL="0">
              <a:buNone/>
            </a:pPr>
            <a:r>
              <a:rPr lang="en-US" sz="690" b="1" dirty="0">
                <a:solidFill>
                  <a:srgbClr val="67067C"/>
                </a:solidFill>
                <a:latin typeface="IBM Plex Sans" pitchFamily="34" charset="0"/>
                <a:ea typeface="IBM Plex Sans" pitchFamily="34" charset="-122"/>
                <a:cs typeface="IBM Plex Sans" pitchFamily="34" charset="-120"/>
              </a:rPr>
              <a:t>  6</a:t>
            </a:r>
            <a:pPr indent="0" marL="0">
              <a:buNone/>
            </a:pP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55" name="Text 53"/>
          <p:cNvSpPr/>
          <p:nvPr/>
        </p:nvSpPr>
        <p:spPr>
          <a:xfrm>
            <a:off x="2868000" y="300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Saint-Bris</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56" name="Text 54"/>
          <p:cNvSpPr/>
          <p:nvPr/>
        </p:nvSpPr>
        <p:spPr>
          <a:xfrm>
            <a:off x="2868000" y="313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Saint-Véran</a:t>
            </a:r>
            <a:pPr indent="0" marL="0">
              <a:buNone/>
            </a:pPr>
            <a:r>
              <a:rPr lang="en-US" sz="690" b="1" dirty="0">
                <a:solidFill>
                  <a:srgbClr val="67067C"/>
                </a:solidFill>
                <a:latin typeface="IBM Plex Sans" pitchFamily="34" charset="0"/>
                <a:ea typeface="IBM Plex Sans" pitchFamily="34" charset="-122"/>
                <a:cs typeface="IBM Plex Sans" pitchFamily="34" charset="-120"/>
              </a:rPr>
              <a:t>  11</a:t>
            </a:r>
            <a:pPr indent="0" marL="0">
              <a:buNone/>
            </a:pPr>
            <a:r>
              <a:rPr lang="en-US" sz="690" dirty="0">
                <a:solidFill>
                  <a:srgbClr val="46606E"/>
                </a:solidFill>
                <a:latin typeface="IBM Plex Sans" pitchFamily="34" charset="0"/>
                <a:ea typeface="IBM Plex Sans" pitchFamily="34" charset="-122"/>
                <a:cs typeface="IBM Plex Sans" pitchFamily="34" charset="-120"/>
              </a:rPr>
              <a:t>  24</a:t>
            </a:r>
            <a:endParaRPr lang="en-US" sz="690" dirty="0"/>
          </a:p>
        </p:txBody>
      </p:sp>
      <p:sp>
        <p:nvSpPr>
          <p:cNvPr id="57" name="Text 55"/>
          <p:cNvSpPr/>
          <p:nvPr/>
        </p:nvSpPr>
        <p:spPr>
          <a:xfrm>
            <a:off x="2868000" y="325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Saint-Véran</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58" name="Text 56"/>
          <p:cNvSpPr/>
          <p:nvPr/>
        </p:nvSpPr>
        <p:spPr>
          <a:xfrm>
            <a:off x="2868000" y="338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Sancerre  2024/2025</a:t>
            </a:r>
            <a:pPr indent="0" marL="0">
              <a:buNone/>
            </a:pPr>
            <a:r>
              <a:rPr lang="en-US" sz="690" b="1" dirty="0">
                <a:solidFill>
                  <a:srgbClr val="67067C"/>
                </a:solidFill>
                <a:latin typeface="IBM Plex Sans" pitchFamily="34" charset="0"/>
                <a:ea typeface="IBM Plex Sans" pitchFamily="34" charset="-122"/>
                <a:cs typeface="IBM Plex Sans" pitchFamily="34" charset="-120"/>
              </a:rPr>
              <a:t>  6</a:t>
            </a:r>
            <a:pPr indent="0" marL="0">
              <a:buNone/>
            </a:pP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59" name="Text 57"/>
          <p:cNvSpPr/>
          <p:nvPr/>
        </p:nvSpPr>
        <p:spPr>
          <a:xfrm>
            <a:off x="2868000" y="351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Touraine Chenonceaux</a:t>
            </a:r>
            <a:pPr indent="0" marL="0">
              <a:buNone/>
            </a:pPr>
            <a:r>
              <a:rPr lang="en-US" sz="690" b="1" dirty="0">
                <a:solidFill>
                  <a:srgbClr val="67067C"/>
                </a:solidFill>
                <a:latin typeface="IBM Plex Sans" pitchFamily="34" charset="0"/>
                <a:ea typeface="IBM Plex Sans" pitchFamily="34" charset="-122"/>
                <a:cs typeface="IBM Plex Sans" pitchFamily="34" charset="-120"/>
              </a:rPr>
              <a:t>  6</a:t>
            </a:r>
            <a:pPr indent="0" marL="0">
              <a:buNone/>
            </a:pP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60" name="Text 58"/>
          <p:cNvSpPr/>
          <p:nvPr/>
        </p:nvSpPr>
        <p:spPr>
          <a:xfrm>
            <a:off x="2868000" y="363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Viré-Clessé</a:t>
            </a:r>
            <a:pPr indent="0" marL="0">
              <a:buNone/>
            </a:pPr>
            <a:r>
              <a:rPr lang="en-US" sz="690" b="1" dirty="0">
                <a:solidFill>
                  <a:srgbClr val="67067C"/>
                </a:solidFill>
                <a:latin typeface="IBM Plex Sans" pitchFamily="34" charset="0"/>
                <a:ea typeface="IBM Plex Sans" pitchFamily="34" charset="-122"/>
                <a:cs typeface="IBM Plex Sans" pitchFamily="34" charset="-120"/>
              </a:rPr>
              <a:t>  11</a:t>
            </a:r>
            <a:pPr indent="0" marL="0">
              <a:buNone/>
            </a:pPr>
            <a:r>
              <a:rPr lang="en-US" sz="690" dirty="0">
                <a:solidFill>
                  <a:srgbClr val="46606E"/>
                </a:solidFill>
                <a:latin typeface="IBM Plex Sans" pitchFamily="34" charset="0"/>
                <a:ea typeface="IBM Plex Sans" pitchFamily="34" charset="-122"/>
                <a:cs typeface="IBM Plex Sans" pitchFamily="34" charset="-120"/>
              </a:rPr>
              <a:t>  24</a:t>
            </a:r>
            <a:endParaRPr lang="en-US" sz="690" dirty="0"/>
          </a:p>
        </p:txBody>
      </p:sp>
      <p:sp>
        <p:nvSpPr>
          <p:cNvPr id="61" name="Text 59"/>
          <p:cNvSpPr/>
          <p:nvPr/>
        </p:nvSpPr>
        <p:spPr>
          <a:xfrm>
            <a:off x="2868000" y="376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Beaune 1er Cru</a:t>
            </a:r>
            <a:pPr indent="0" marL="0">
              <a:buNone/>
            </a:pPr>
            <a:r>
              <a:rPr lang="en-US" sz="690" b="1" dirty="0">
                <a:solidFill>
                  <a:srgbClr val="67067C"/>
                </a:solidFill>
                <a:latin typeface="IBM Plex Sans" pitchFamily="34" charset="0"/>
                <a:ea typeface="IBM Plex Sans" pitchFamily="34" charset="-122"/>
                <a:cs typeface="IBM Plex Sans" pitchFamily="34" charset="-120"/>
              </a:rPr>
              <a:t>  10</a:t>
            </a:r>
            <a:pPr indent="0" marL="0">
              <a:buNone/>
            </a:pP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62" name="Text 60"/>
          <p:cNvSpPr/>
          <p:nvPr/>
        </p:nvSpPr>
        <p:spPr>
          <a:xfrm>
            <a:off x="2868000" y="388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Blanc Albas</a:t>
            </a:r>
            <a:pPr indent="0" marL="0">
              <a:buNone/>
            </a:pPr>
            <a:r>
              <a:rPr lang="en-US" sz="690" b="1" dirty="0">
                <a:solidFill>
                  <a:srgbClr val="67067C"/>
                </a:solidFill>
                <a:latin typeface="IBM Plex Sans" pitchFamily="34" charset="0"/>
                <a:ea typeface="IBM Plex Sans" pitchFamily="34" charset="-122"/>
                <a:cs typeface="IBM Plex Sans" pitchFamily="34" charset="-120"/>
              </a:rPr>
              <a:t>  36</a:t>
            </a:r>
            <a:pPr indent="0" marL="0">
              <a:buNone/>
            </a:pPr>
            <a:r>
              <a:rPr lang="en-US" sz="690" dirty="0">
                <a:solidFill>
                  <a:srgbClr val="46606E"/>
                </a:solidFill>
                <a:latin typeface="IBM Plex Sans" pitchFamily="34" charset="0"/>
                <a:ea typeface="IBM Plex Sans" pitchFamily="34" charset="-122"/>
                <a:cs typeface="IBM Plex Sans" pitchFamily="34" charset="-120"/>
              </a:rPr>
              <a:t>  61</a:t>
            </a:r>
            <a:endParaRPr lang="en-US" sz="690" dirty="0"/>
          </a:p>
        </p:txBody>
      </p:sp>
      <p:sp>
        <p:nvSpPr>
          <p:cNvPr id="63" name="Text 61"/>
          <p:cNvSpPr/>
          <p:nvPr/>
        </p:nvSpPr>
        <p:spPr>
          <a:xfrm>
            <a:off x="2868000" y="401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BLANC SÉRAME</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64" name="Text 62"/>
          <p:cNvSpPr/>
          <p:nvPr/>
        </p:nvSpPr>
        <p:spPr>
          <a:xfrm>
            <a:off x="2868000" y="41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Bourgogne Aligoté</a:t>
            </a:r>
            <a:pPr indent="0" marL="0">
              <a:buNone/>
            </a:pPr>
            <a:r>
              <a:rPr lang="en-US" sz="690" b="1" dirty="0">
                <a:solidFill>
                  <a:srgbClr val="67067C"/>
                </a:solidFill>
                <a:latin typeface="IBM Plex Sans" pitchFamily="34" charset="0"/>
                <a:ea typeface="IBM Plex Sans" pitchFamily="34" charset="-122"/>
                <a:cs typeface="IBM Plex Sans" pitchFamily="34" charset="-120"/>
              </a:rPr>
              <a:t>  10</a:t>
            </a:r>
            <a:pPr indent="0" marL="0">
              <a:buNone/>
            </a:pP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65" name="Text 63"/>
          <p:cNvSpPr/>
          <p:nvPr/>
        </p:nvSpPr>
        <p:spPr>
          <a:xfrm>
            <a:off x="2868000" y="42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Bourgogne Aligoté</a:t>
            </a:r>
            <a:pPr indent="0" marL="0">
              <a:buNone/>
            </a:pPr>
            <a:r>
              <a:rPr lang="en-US" sz="690" b="1" dirty="0">
                <a:solidFill>
                  <a:srgbClr val="67067C"/>
                </a:solidFill>
                <a:latin typeface="IBM Plex Sans" pitchFamily="34" charset="0"/>
                <a:ea typeface="IBM Plex Sans" pitchFamily="34" charset="-122"/>
                <a:cs typeface="IBM Plex Sans" pitchFamily="34" charset="-120"/>
              </a:rPr>
              <a:t>  13</a:t>
            </a:r>
            <a:pPr indent="0" marL="0">
              <a:buNone/>
            </a:pPr>
            <a:r>
              <a:rPr lang="en-US" sz="690" dirty="0">
                <a:solidFill>
                  <a:srgbClr val="46606E"/>
                </a:solidFill>
                <a:latin typeface="IBM Plex Sans" pitchFamily="34" charset="0"/>
                <a:ea typeface="IBM Plex Sans" pitchFamily="34" charset="-122"/>
                <a:cs typeface="IBM Plex Sans" pitchFamily="34" charset="-120"/>
              </a:rPr>
              <a:t>  27</a:t>
            </a:r>
            <a:endParaRPr lang="en-US" sz="690" dirty="0"/>
          </a:p>
        </p:txBody>
      </p:sp>
      <p:sp>
        <p:nvSpPr>
          <p:cNvPr id="66" name="Text 64"/>
          <p:cNvSpPr/>
          <p:nvPr/>
        </p:nvSpPr>
        <p:spPr>
          <a:xfrm>
            <a:off x="2868000" y="43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Bourgogne Aligoté</a:t>
            </a:r>
            <a:pPr indent="0" marL="0">
              <a:buNone/>
            </a:pPr>
            <a:r>
              <a:rPr lang="en-US" sz="690" b="1" dirty="0">
                <a:solidFill>
                  <a:srgbClr val="67067C"/>
                </a:solidFill>
                <a:latin typeface="IBM Plex Sans" pitchFamily="34" charset="0"/>
                <a:ea typeface="IBM Plex Sans" pitchFamily="34" charset="-122"/>
                <a:cs typeface="IBM Plex Sans" pitchFamily="34" charset="-120"/>
              </a:rPr>
              <a:t>  14</a:t>
            </a:r>
            <a:pPr indent="0" marL="0">
              <a:buNone/>
            </a:pPr>
            <a:r>
              <a:rPr lang="en-US" sz="690" dirty="0">
                <a:solidFill>
                  <a:srgbClr val="46606E"/>
                </a:solidFill>
                <a:latin typeface="IBM Plex Sans" pitchFamily="34" charset="0"/>
                <a:ea typeface="IBM Plex Sans" pitchFamily="34" charset="-122"/>
                <a:cs typeface="IBM Plex Sans" pitchFamily="34" charset="-120"/>
              </a:rPr>
              <a:t>  28</a:t>
            </a:r>
            <a:endParaRPr lang="en-US" sz="690" dirty="0"/>
          </a:p>
        </p:txBody>
      </p:sp>
      <p:sp>
        <p:nvSpPr>
          <p:cNvPr id="67" name="Text 65"/>
          <p:cNvSpPr/>
          <p:nvPr/>
        </p:nvSpPr>
        <p:spPr>
          <a:xfrm>
            <a:off x="2868000" y="45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Bourgogne Chardonnay</a:t>
            </a:r>
            <a:pPr indent="0" marL="0">
              <a:buNone/>
            </a:pPr>
            <a:r>
              <a:rPr lang="en-US" sz="690" b="1" dirty="0">
                <a:solidFill>
                  <a:srgbClr val="67067C"/>
                </a:solidFill>
                <a:latin typeface="IBM Plex Sans" pitchFamily="34" charset="0"/>
                <a:ea typeface="IBM Plex Sans" pitchFamily="34" charset="-122"/>
                <a:cs typeface="IBM Plex Sans" pitchFamily="34" charset="-120"/>
              </a:rPr>
              <a:t>  13</a:t>
            </a:r>
            <a:pPr indent="0" marL="0">
              <a:buNone/>
            </a:pPr>
            <a:r>
              <a:rPr lang="en-US" sz="690" dirty="0">
                <a:solidFill>
                  <a:srgbClr val="46606E"/>
                </a:solidFill>
                <a:latin typeface="IBM Plex Sans" pitchFamily="34" charset="0"/>
                <a:ea typeface="IBM Plex Sans" pitchFamily="34" charset="-122"/>
                <a:cs typeface="IBM Plex Sans" pitchFamily="34" charset="-120"/>
              </a:rPr>
              <a:t>  27</a:t>
            </a:r>
            <a:endParaRPr lang="en-US" sz="690" dirty="0"/>
          </a:p>
        </p:txBody>
      </p:sp>
      <p:sp>
        <p:nvSpPr>
          <p:cNvPr id="68" name="Text 66"/>
          <p:cNvSpPr/>
          <p:nvPr/>
        </p:nvSpPr>
        <p:spPr>
          <a:xfrm>
            <a:off x="2868000" y="46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Bourgogne Chardonnay</a:t>
            </a:r>
            <a:pPr indent="0" marL="0">
              <a:buNone/>
            </a:pPr>
            <a:r>
              <a:rPr lang="en-US" sz="690" b="1" dirty="0">
                <a:solidFill>
                  <a:srgbClr val="67067C"/>
                </a:solidFill>
                <a:latin typeface="IBM Plex Sans" pitchFamily="34" charset="0"/>
                <a:ea typeface="IBM Plex Sans" pitchFamily="34" charset="-122"/>
                <a:cs typeface="IBM Plex Sans" pitchFamily="34" charset="-120"/>
              </a:rPr>
              <a:t>  14</a:t>
            </a:r>
            <a:pPr indent="0" marL="0">
              <a:buNone/>
            </a:pPr>
            <a:r>
              <a:rPr lang="en-US" sz="690" dirty="0">
                <a:solidFill>
                  <a:srgbClr val="46606E"/>
                </a:solidFill>
                <a:latin typeface="IBM Plex Sans" pitchFamily="34" charset="0"/>
                <a:ea typeface="IBM Plex Sans" pitchFamily="34" charset="-122"/>
                <a:cs typeface="IBM Plex Sans" pitchFamily="34" charset="-120"/>
              </a:rPr>
              <a:t>  28</a:t>
            </a:r>
            <a:endParaRPr lang="en-US" sz="690" dirty="0"/>
          </a:p>
        </p:txBody>
      </p:sp>
      <p:sp>
        <p:nvSpPr>
          <p:cNvPr id="69" name="Text 67"/>
          <p:cNvSpPr/>
          <p:nvPr/>
        </p:nvSpPr>
        <p:spPr>
          <a:xfrm>
            <a:off x="2868000" y="47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Bruderthal (Gewurztraminer)</a:t>
            </a:r>
            <a:pPr indent="0" marL="0">
              <a:buNone/>
            </a:pPr>
            <a:r>
              <a:rPr lang="en-US" sz="690" b="1" dirty="0">
                <a:solidFill>
                  <a:srgbClr val="67067C"/>
                </a:solidFill>
                <a:latin typeface="IBM Plex Sans" pitchFamily="34" charset="0"/>
                <a:ea typeface="IBM Plex Sans" pitchFamily="34" charset="-122"/>
                <a:cs typeface="IBM Plex Sans" pitchFamily="34" charset="-120"/>
              </a:rPr>
              <a:t>  8</a:t>
            </a:r>
            <a:pPr indent="0" marL="0">
              <a:buNone/>
            </a:pPr>
            <a:r>
              <a:rPr lang="en-US" sz="690" dirty="0">
                <a:solidFill>
                  <a:srgbClr val="46606E"/>
                </a:solidFill>
                <a:latin typeface="IBM Plex Sans" pitchFamily="34" charset="0"/>
                <a:ea typeface="IBM Plex Sans" pitchFamily="34" charset="-122"/>
                <a:cs typeface="IBM Plex Sans" pitchFamily="34" charset="-120"/>
              </a:rPr>
              <a:t>  17</a:t>
            </a:r>
            <a:endParaRPr lang="en-US" sz="690" dirty="0"/>
          </a:p>
        </p:txBody>
      </p:sp>
      <p:sp>
        <p:nvSpPr>
          <p:cNvPr id="70" name="Text 68"/>
          <p:cNvSpPr/>
          <p:nvPr/>
        </p:nvSpPr>
        <p:spPr>
          <a:xfrm>
            <a:off x="2868000" y="48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Bruderthal (Riesling)</a:t>
            </a:r>
            <a:pPr indent="0" marL="0">
              <a:buNone/>
            </a:pPr>
            <a:r>
              <a:rPr lang="en-US" sz="690" b="1" dirty="0">
                <a:solidFill>
                  <a:srgbClr val="67067C"/>
                </a:solidFill>
                <a:latin typeface="IBM Plex Sans" pitchFamily="34" charset="0"/>
                <a:ea typeface="IBM Plex Sans" pitchFamily="34" charset="-122"/>
                <a:cs typeface="IBM Plex Sans" pitchFamily="34" charset="-120"/>
              </a:rPr>
              <a:t>  8</a:t>
            </a:r>
            <a:pPr indent="0" marL="0">
              <a:buNone/>
            </a:pPr>
            <a:r>
              <a:rPr lang="en-US" sz="690" dirty="0">
                <a:solidFill>
                  <a:srgbClr val="46606E"/>
                </a:solidFill>
                <a:latin typeface="IBM Plex Sans" pitchFamily="34" charset="0"/>
                <a:ea typeface="IBM Plex Sans" pitchFamily="34" charset="-122"/>
                <a:cs typeface="IBM Plex Sans" pitchFamily="34" charset="-120"/>
              </a:rPr>
              <a:t>  17</a:t>
            </a:r>
            <a:endParaRPr lang="en-US" sz="690" dirty="0"/>
          </a:p>
        </p:txBody>
      </p:sp>
      <p:sp>
        <p:nvSpPr>
          <p:cNvPr id="71" name="Text 69"/>
          <p:cNvSpPr/>
          <p:nvPr/>
        </p:nvSpPr>
        <p:spPr>
          <a:xfrm>
            <a:off x="2868000" y="50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CARDUELIS</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72" name="Text 70"/>
          <p:cNvSpPr/>
          <p:nvPr/>
        </p:nvSpPr>
        <p:spPr>
          <a:xfrm>
            <a:off x="2868000" y="51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Chardonnay</a:t>
            </a:r>
            <a:pPr indent="0" marL="0">
              <a:buNone/>
            </a:pPr>
            <a:r>
              <a:rPr lang="en-US" sz="690" b="1" dirty="0">
                <a:solidFill>
                  <a:srgbClr val="67067C"/>
                </a:solidFill>
                <a:latin typeface="IBM Plex Sans" pitchFamily="34" charset="0"/>
                <a:ea typeface="IBM Plex Sans" pitchFamily="34" charset="-122"/>
                <a:cs typeface="IBM Plex Sans" pitchFamily="34" charset="-120"/>
              </a:rPr>
              <a:t>  10</a:t>
            </a:r>
            <a:pPr indent="0" marL="0">
              <a:buNone/>
            </a:pP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73" name="Text 71"/>
          <p:cNvSpPr/>
          <p:nvPr/>
        </p:nvSpPr>
        <p:spPr>
          <a:xfrm>
            <a:off x="2868000" y="52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Lamothe Bouscaut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74" name="Text 72"/>
          <p:cNvSpPr/>
          <p:nvPr/>
        </p:nvSpPr>
        <p:spPr>
          <a:xfrm>
            <a:off x="2868000" y="54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Chêne à la Rouline</a:t>
            </a:r>
            <a:pPr indent="0" marL="0">
              <a:buNone/>
            </a:pPr>
            <a:r>
              <a:rPr lang="en-US" sz="690" b="1" dirty="0">
                <a:solidFill>
                  <a:srgbClr val="67067C"/>
                </a:solidFill>
                <a:latin typeface="IBM Plex Sans" pitchFamily="34" charset="0"/>
                <a:ea typeface="IBM Plex Sans" pitchFamily="34" charset="-122"/>
                <a:cs typeface="IBM Plex Sans" pitchFamily="34" charset="-120"/>
              </a:rPr>
              <a:t>  6</a:t>
            </a:r>
            <a:pPr indent="0" marL="0">
              <a:buNone/>
            </a:pP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75" name="Text 73"/>
          <p:cNvSpPr/>
          <p:nvPr/>
        </p:nvSpPr>
        <p:spPr>
          <a:xfrm>
            <a:off x="2868000" y="55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Chêne Marchand</a:t>
            </a:r>
            <a:pPr indent="0" marL="0">
              <a:buNone/>
            </a:pPr>
            <a:r>
              <a:rPr lang="en-US" sz="690" b="1" dirty="0">
                <a:solidFill>
                  <a:srgbClr val="67067C"/>
                </a:solidFill>
                <a:latin typeface="IBM Plex Sans" pitchFamily="34" charset="0"/>
                <a:ea typeface="IBM Plex Sans" pitchFamily="34" charset="-122"/>
                <a:cs typeface="IBM Plex Sans" pitchFamily="34" charset="-120"/>
              </a:rPr>
              <a:t>  6</a:t>
            </a:r>
            <a:pPr indent="0" marL="0">
              <a:buNone/>
            </a:pP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76" name="Text 74"/>
          <p:cNvSpPr/>
          <p:nvPr/>
        </p:nvSpPr>
        <p:spPr>
          <a:xfrm>
            <a:off x="2868000" y="56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Clos Reyssier</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77" name="Text 75"/>
          <p:cNvSpPr/>
          <p:nvPr/>
        </p:nvSpPr>
        <p:spPr>
          <a:xfrm>
            <a:off x="2868000" y="57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Côtes du Rhône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18</a:t>
            </a:r>
            <a:pPr indent="0" marL="0">
              <a:buNone/>
            </a:pPr>
            <a:r>
              <a:rPr lang="en-US" sz="690" dirty="0">
                <a:solidFill>
                  <a:srgbClr val="46606E"/>
                </a:solidFill>
                <a:latin typeface="IBM Plex Sans" pitchFamily="34" charset="0"/>
                <a:ea typeface="IBM Plex Sans" pitchFamily="34" charset="-122"/>
                <a:cs typeface="IBM Plex Sans" pitchFamily="34" charset="-120"/>
              </a:rPr>
              <a:t>  33</a:t>
            </a:r>
            <a:endParaRPr lang="en-US" sz="690" dirty="0"/>
          </a:p>
        </p:txBody>
      </p:sp>
      <p:sp>
        <p:nvSpPr>
          <p:cNvPr id="78" name="Text 76"/>
          <p:cNvSpPr/>
          <p:nvPr/>
        </p:nvSpPr>
        <p:spPr>
          <a:xfrm>
            <a:off x="2868000" y="59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Courant – Chenin</a:t>
            </a:r>
            <a:pPr indent="0" marL="0">
              <a:buNone/>
            </a:pPr>
            <a:r>
              <a:rPr lang="en-US" sz="690" b="1" dirty="0">
                <a:solidFill>
                  <a:srgbClr val="67067C"/>
                </a:solidFill>
                <a:latin typeface="IBM Plex Sans" pitchFamily="34" charset="0"/>
                <a:ea typeface="IBM Plex Sans" pitchFamily="34" charset="-122"/>
                <a:cs typeface="IBM Plex Sans" pitchFamily="34" charset="-120"/>
              </a:rPr>
              <a:t>  5</a:t>
            </a:r>
            <a:pPr indent="0" marL="0">
              <a:buNone/>
            </a:pPr>
            <a:r>
              <a:rPr lang="en-US" sz="690" dirty="0">
                <a:solidFill>
                  <a:srgbClr val="46606E"/>
                </a:solidFill>
                <a:latin typeface="IBM Plex Sans" pitchFamily="34" charset="0"/>
                <a:ea typeface="IBM Plex Sans" pitchFamily="34" charset="-122"/>
                <a:cs typeface="IBM Plex Sans" pitchFamily="34" charset="-120"/>
              </a:rPr>
              <a:t>  12</a:t>
            </a:r>
            <a:endParaRPr lang="en-US" sz="690" dirty="0"/>
          </a:p>
        </p:txBody>
      </p:sp>
      <p:sp>
        <p:nvSpPr>
          <p:cNvPr id="79" name="Text 77"/>
          <p:cNvSpPr/>
          <p:nvPr/>
        </p:nvSpPr>
        <p:spPr>
          <a:xfrm>
            <a:off x="2868000" y="60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CRU Mouzillon – Tillières</a:t>
            </a:r>
            <a:pPr indent="0" marL="0">
              <a:buNone/>
            </a:pPr>
            <a:r>
              <a:rPr lang="en-US" sz="690" b="1" dirty="0">
                <a:solidFill>
                  <a:srgbClr val="67067C"/>
                </a:solidFill>
                <a:latin typeface="IBM Plex Sans" pitchFamily="34" charset="0"/>
                <a:ea typeface="IBM Plex Sans" pitchFamily="34" charset="-122"/>
                <a:cs typeface="IBM Plex Sans" pitchFamily="34" charset="-120"/>
              </a:rPr>
              <a:t>  3</a:t>
            </a:r>
            <a:pPr indent="0" marL="0">
              <a:buNone/>
            </a:pP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80" name="Text 78"/>
          <p:cNvSpPr/>
          <p:nvPr/>
        </p:nvSpPr>
        <p:spPr>
          <a:xfrm>
            <a:off x="2868000" y="61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Denise</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81" name="Text 79"/>
          <p:cNvSpPr/>
          <p:nvPr/>
        </p:nvSpPr>
        <p:spPr>
          <a:xfrm>
            <a:off x="2868000" y="62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des deux Colombes</a:t>
            </a:r>
            <a:pPr indent="0" marL="0">
              <a:buNone/>
            </a:pPr>
            <a:r>
              <a:rPr lang="en-US" sz="690" b="1" dirty="0">
                <a:solidFill>
                  <a:srgbClr val="67067C"/>
                </a:solidFill>
                <a:latin typeface="IBM Plex Sans" pitchFamily="34" charset="0"/>
                <a:ea typeface="IBM Plex Sans" pitchFamily="34" charset="-122"/>
                <a:cs typeface="IBM Plex Sans" pitchFamily="34" charset="-120"/>
              </a:rPr>
              <a:t>  3</a:t>
            </a:r>
            <a:pPr indent="0" marL="0">
              <a:buNone/>
            </a:pP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82" name="Text 80"/>
          <p:cNvSpPr/>
          <p:nvPr/>
        </p:nvSpPr>
        <p:spPr>
          <a:xfrm>
            <a:off x="2868000" y="64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domaine</a:t>
            </a:r>
            <a:pPr indent="0" marL="0">
              <a:buNone/>
            </a:pPr>
            <a:r>
              <a:rPr lang="en-US" sz="690" b="1" dirty="0">
                <a:solidFill>
                  <a:srgbClr val="67067C"/>
                </a:solidFill>
                <a:latin typeface="IBM Plex Sans" pitchFamily="34" charset="0"/>
                <a:ea typeface="IBM Plex Sans" pitchFamily="34" charset="-122"/>
                <a:cs typeface="IBM Plex Sans" pitchFamily="34" charset="-120"/>
              </a:rPr>
              <a:t>  3</a:t>
            </a:r>
            <a:pPr indent="0" marL="0">
              <a:buNone/>
            </a:pP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83" name="Text 81"/>
          <p:cNvSpPr/>
          <p:nvPr/>
        </p:nvSpPr>
        <p:spPr>
          <a:xfrm>
            <a:off x="4908000" y="162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Fines Bulles</a:t>
            </a:r>
            <a:pPr indent="0" marL="0">
              <a:buNone/>
            </a:pPr>
            <a:r>
              <a:rPr lang="en-US" sz="690" b="1" dirty="0">
                <a:solidFill>
                  <a:srgbClr val="67067C"/>
                </a:solidFill>
                <a:latin typeface="IBM Plex Sans" pitchFamily="34" charset="0"/>
                <a:ea typeface="IBM Plex Sans" pitchFamily="34" charset="-122"/>
                <a:cs typeface="IBM Plex Sans" pitchFamily="34" charset="-120"/>
              </a:rPr>
              <a:t>  24</a:t>
            </a:r>
            <a:pPr indent="0" marL="0">
              <a:buNone/>
            </a:pPr>
            <a:r>
              <a:rPr lang="en-US" sz="690" dirty="0">
                <a:solidFill>
                  <a:srgbClr val="46606E"/>
                </a:solidFill>
                <a:latin typeface="IBM Plex Sans" pitchFamily="34" charset="0"/>
                <a:ea typeface="IBM Plex Sans" pitchFamily="34" charset="-122"/>
                <a:cs typeface="IBM Plex Sans" pitchFamily="34" charset="-120"/>
              </a:rPr>
              <a:t>  41</a:t>
            </a:r>
            <a:endParaRPr lang="en-US" sz="690" dirty="0"/>
          </a:p>
        </p:txBody>
      </p:sp>
      <p:sp>
        <p:nvSpPr>
          <p:cNvPr id="84" name="Text 82"/>
          <p:cNvSpPr/>
          <p:nvPr/>
        </p:nvSpPr>
        <p:spPr>
          <a:xfrm>
            <a:off x="4908000" y="17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François Reverdy – Graves Argileuses</a:t>
            </a:r>
            <a:pPr indent="0" marL="0">
              <a:buNone/>
            </a:pPr>
            <a:r>
              <a:rPr lang="en-US" sz="690" b="1" dirty="0">
                <a:solidFill>
                  <a:srgbClr val="67067C"/>
                </a:solidFill>
                <a:latin typeface="IBM Plex Sans" pitchFamily="34" charset="0"/>
                <a:ea typeface="IBM Plex Sans" pitchFamily="34" charset="-122"/>
                <a:cs typeface="IBM Plex Sans" pitchFamily="34" charset="-120"/>
              </a:rPr>
              <a:t>  1</a:t>
            </a:r>
            <a:pPr indent="0" marL="0">
              <a:buNone/>
            </a:pP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85" name="Text 83"/>
          <p:cNvSpPr/>
          <p:nvPr/>
        </p:nvSpPr>
        <p:spPr>
          <a:xfrm>
            <a:off x="4908000" y="18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François Reverdy – Les Villaudes</a:t>
            </a:r>
            <a:pPr indent="0" marL="0">
              <a:buNone/>
            </a:pPr>
            <a:r>
              <a:rPr lang="en-US" sz="690" b="1" dirty="0">
                <a:solidFill>
                  <a:srgbClr val="67067C"/>
                </a:solidFill>
                <a:latin typeface="IBM Plex Sans" pitchFamily="34" charset="0"/>
                <a:ea typeface="IBM Plex Sans" pitchFamily="34" charset="-122"/>
                <a:cs typeface="IBM Plex Sans" pitchFamily="34" charset="-120"/>
              </a:rPr>
              <a:t>  1</a:t>
            </a:r>
            <a:pPr indent="0" marL="0">
              <a:buNone/>
            </a:pP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86" name="Text 84"/>
          <p:cNvSpPr/>
          <p:nvPr/>
        </p:nvSpPr>
        <p:spPr>
          <a:xfrm>
            <a:off x="4908000" y="19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François Reverdy – Schistes Vert</a:t>
            </a:r>
            <a:pPr indent="0" marL="0">
              <a:buNone/>
            </a:pPr>
            <a:r>
              <a:rPr lang="en-US" sz="690" b="1" dirty="0">
                <a:solidFill>
                  <a:srgbClr val="67067C"/>
                </a:solidFill>
                <a:latin typeface="IBM Plex Sans" pitchFamily="34" charset="0"/>
                <a:ea typeface="IBM Plex Sans" pitchFamily="34" charset="-122"/>
                <a:cs typeface="IBM Plex Sans" pitchFamily="34" charset="-120"/>
              </a:rPr>
              <a:t>  1</a:t>
            </a:r>
            <a:pPr indent="0" marL="0">
              <a:buNone/>
            </a:pP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87" name="Text 85"/>
          <p:cNvSpPr/>
          <p:nvPr/>
        </p:nvSpPr>
        <p:spPr>
          <a:xfrm>
            <a:off x="4908000" y="21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François Reverdy – Tuffeau</a:t>
            </a:r>
            <a:pPr indent="0" marL="0">
              <a:buNone/>
            </a:pPr>
            <a:r>
              <a:rPr lang="en-US" sz="690" b="1" dirty="0">
                <a:solidFill>
                  <a:srgbClr val="67067C"/>
                </a:solidFill>
                <a:latin typeface="IBM Plex Sans" pitchFamily="34" charset="0"/>
                <a:ea typeface="IBM Plex Sans" pitchFamily="34" charset="-122"/>
                <a:cs typeface="IBM Plex Sans" pitchFamily="34" charset="-120"/>
              </a:rPr>
              <a:t>  1</a:t>
            </a:r>
            <a:pPr indent="0" marL="0">
              <a:buNone/>
            </a:pP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88" name="Text 86"/>
          <p:cNvSpPr/>
          <p:nvPr/>
        </p:nvSpPr>
        <p:spPr>
          <a:xfrm>
            <a:off x="4908000" y="22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Grain de Blanc</a:t>
            </a:r>
            <a:pPr indent="0" marL="0">
              <a:buNone/>
            </a:pPr>
            <a:r>
              <a:rPr lang="en-US" sz="690" b="1" dirty="0">
                <a:solidFill>
                  <a:srgbClr val="67067C"/>
                </a:solidFill>
                <a:latin typeface="IBM Plex Sans" pitchFamily="34" charset="0"/>
                <a:ea typeface="IBM Plex Sans" pitchFamily="34" charset="-122"/>
                <a:cs typeface="IBM Plex Sans" pitchFamily="34" charset="-120"/>
              </a:rPr>
              <a:t>  34</a:t>
            </a:r>
            <a:pPr indent="0" marL="0">
              <a:buNone/>
            </a:pP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89" name="Text 87"/>
          <p:cNvSpPr/>
          <p:nvPr/>
        </p:nvSpPr>
        <p:spPr>
          <a:xfrm>
            <a:off x="4908000" y="23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Hahnenberg (Riesling)</a:t>
            </a:r>
            <a:pPr indent="0" marL="0">
              <a:buNone/>
            </a:pPr>
            <a:r>
              <a:rPr lang="en-US" sz="690" b="1" dirty="0">
                <a:solidFill>
                  <a:srgbClr val="67067C"/>
                </a:solidFill>
                <a:latin typeface="IBM Plex Sans" pitchFamily="34" charset="0"/>
                <a:ea typeface="IBM Plex Sans" pitchFamily="34" charset="-122"/>
                <a:cs typeface="IBM Plex Sans" pitchFamily="34" charset="-120"/>
              </a:rPr>
              <a:t>  8</a:t>
            </a:r>
            <a:pPr indent="0" marL="0">
              <a:buNone/>
            </a:pPr>
            <a:r>
              <a:rPr lang="en-US" sz="690" dirty="0">
                <a:solidFill>
                  <a:srgbClr val="46606E"/>
                </a:solidFill>
                <a:latin typeface="IBM Plex Sans" pitchFamily="34" charset="0"/>
                <a:ea typeface="IBM Plex Sans" pitchFamily="34" charset="-122"/>
                <a:cs typeface="IBM Plex Sans" pitchFamily="34" charset="-120"/>
              </a:rPr>
              <a:t>  17</a:t>
            </a:r>
            <a:endParaRPr lang="en-US" sz="690" dirty="0"/>
          </a:p>
        </p:txBody>
      </p:sp>
      <p:sp>
        <p:nvSpPr>
          <p:cNvPr id="90" name="Text 88"/>
          <p:cNvSpPr/>
          <p:nvPr/>
        </p:nvSpPr>
        <p:spPr>
          <a:xfrm>
            <a:off x="4908000" y="25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Hautes-Côtes</a:t>
            </a:r>
            <a:pPr indent="0" marL="0">
              <a:buNone/>
            </a:pPr>
            <a:r>
              <a:rPr lang="en-US" sz="690" b="1" dirty="0">
                <a:solidFill>
                  <a:srgbClr val="67067C"/>
                </a:solidFill>
                <a:latin typeface="IBM Plex Sans" pitchFamily="34" charset="0"/>
                <a:ea typeface="IBM Plex Sans" pitchFamily="34" charset="-122"/>
                <a:cs typeface="IBM Plex Sans" pitchFamily="34" charset="-120"/>
              </a:rPr>
              <a:t>  10</a:t>
            </a:r>
            <a:pPr indent="0" marL="0">
              <a:buNone/>
            </a:pP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91" name="Text 89"/>
          <p:cNvSpPr/>
          <p:nvPr/>
        </p:nvSpPr>
        <p:spPr>
          <a:xfrm>
            <a:off x="4908000" y="26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Holderhurst (Riesling)</a:t>
            </a:r>
            <a:pPr indent="0" marL="0">
              <a:buNone/>
            </a:pPr>
            <a:r>
              <a:rPr lang="en-US" sz="690" b="1" dirty="0">
                <a:solidFill>
                  <a:srgbClr val="67067C"/>
                </a:solidFill>
                <a:latin typeface="IBM Plex Sans" pitchFamily="34" charset="0"/>
                <a:ea typeface="IBM Plex Sans" pitchFamily="34" charset="-122"/>
                <a:cs typeface="IBM Plex Sans" pitchFamily="34" charset="-120"/>
              </a:rPr>
              <a:t>  8</a:t>
            </a:r>
            <a:pPr indent="0" marL="0">
              <a:buNone/>
            </a:pPr>
            <a:r>
              <a:rPr lang="en-US" sz="690" dirty="0">
                <a:solidFill>
                  <a:srgbClr val="46606E"/>
                </a:solidFill>
                <a:latin typeface="IBM Plex Sans" pitchFamily="34" charset="0"/>
                <a:ea typeface="IBM Plex Sans" pitchFamily="34" charset="-122"/>
                <a:cs typeface="IBM Plex Sans" pitchFamily="34" charset="-120"/>
              </a:rPr>
              <a:t>  17</a:t>
            </a:r>
            <a:endParaRPr lang="en-US" sz="690" dirty="0"/>
          </a:p>
        </p:txBody>
      </p:sp>
      <p:sp>
        <p:nvSpPr>
          <p:cNvPr id="92" name="Text 90"/>
          <p:cNvSpPr/>
          <p:nvPr/>
        </p:nvSpPr>
        <p:spPr>
          <a:xfrm>
            <a:off x="4908000" y="27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IGP Chardonnay</a:t>
            </a:r>
            <a:pPr indent="0" marL="0">
              <a:buNone/>
            </a:pPr>
            <a:r>
              <a:rPr lang="en-US" sz="690" b="1" dirty="0">
                <a:solidFill>
                  <a:srgbClr val="67067C"/>
                </a:solidFill>
                <a:latin typeface="IBM Plex Sans" pitchFamily="34" charset="0"/>
                <a:ea typeface="IBM Plex Sans" pitchFamily="34" charset="-122"/>
                <a:cs typeface="IBM Plex Sans" pitchFamily="34" charset="-120"/>
              </a:rPr>
              <a:t>  3</a:t>
            </a:r>
            <a:pPr indent="0" marL="0">
              <a:buNone/>
            </a:pP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93" name="Text 91"/>
          <p:cNvSpPr/>
          <p:nvPr/>
        </p:nvSpPr>
        <p:spPr>
          <a:xfrm>
            <a:off x="4908000" y="28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IGP Sauvignon</a:t>
            </a:r>
            <a:pPr indent="0" marL="0">
              <a:buNone/>
            </a:pPr>
            <a:r>
              <a:rPr lang="en-US" sz="690" b="1" dirty="0">
                <a:solidFill>
                  <a:srgbClr val="67067C"/>
                </a:solidFill>
                <a:latin typeface="IBM Plex Sans" pitchFamily="34" charset="0"/>
                <a:ea typeface="IBM Plex Sans" pitchFamily="34" charset="-122"/>
                <a:cs typeface="IBM Plex Sans" pitchFamily="34" charset="-120"/>
              </a:rPr>
              <a:t>  3</a:t>
            </a:r>
            <a:pPr indent="0" marL="0">
              <a:buNone/>
            </a:pP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94" name="Text 92"/>
          <p:cNvSpPr/>
          <p:nvPr/>
        </p:nvSpPr>
        <p:spPr>
          <a:xfrm>
            <a:off x="4908000" y="300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IGP Val de Loire Chenin</a:t>
            </a:r>
            <a:pPr indent="0" marL="0">
              <a:buNone/>
            </a:pPr>
            <a:r>
              <a:rPr lang="en-US" sz="690" b="1" dirty="0">
                <a:solidFill>
                  <a:srgbClr val="67067C"/>
                </a:solidFill>
                <a:latin typeface="IBM Plex Sans" pitchFamily="34" charset="0"/>
                <a:ea typeface="IBM Plex Sans" pitchFamily="34" charset="-122"/>
                <a:cs typeface="IBM Plex Sans" pitchFamily="34" charset="-120"/>
              </a:rPr>
              <a:t>  6</a:t>
            </a:r>
            <a:pPr indent="0" marL="0">
              <a:buNone/>
            </a:pP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95" name="Text 93"/>
          <p:cNvSpPr/>
          <p:nvPr/>
        </p:nvSpPr>
        <p:spPr>
          <a:xfrm>
            <a:off x="4908000" y="313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IGP Val de Loire Sauvignon</a:t>
            </a:r>
            <a:pPr indent="0" marL="0">
              <a:buNone/>
            </a:pPr>
            <a:r>
              <a:rPr lang="en-US" sz="690" b="1" dirty="0">
                <a:solidFill>
                  <a:srgbClr val="67067C"/>
                </a:solidFill>
                <a:latin typeface="IBM Plex Sans" pitchFamily="34" charset="0"/>
                <a:ea typeface="IBM Plex Sans" pitchFamily="34" charset="-122"/>
                <a:cs typeface="IBM Plex Sans" pitchFamily="34" charset="-120"/>
              </a:rPr>
              <a:t>  6</a:t>
            </a:r>
            <a:pPr indent="0" marL="0">
              <a:buNone/>
            </a:pP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96" name="Text 94"/>
          <p:cNvSpPr/>
          <p:nvPr/>
        </p:nvSpPr>
        <p:spPr>
          <a:xfrm>
            <a:off x="4908000" y="325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JARDINS DE CORBIÈRES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97" name="Text 95"/>
          <p:cNvSpPr/>
          <p:nvPr/>
        </p:nvSpPr>
        <p:spPr>
          <a:xfrm>
            <a:off x="4908000" y="338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JOIO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31</a:t>
            </a:r>
            <a:pPr indent="0" marL="0">
              <a:buNone/>
            </a:pP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98" name="Text 96"/>
          <p:cNvSpPr/>
          <p:nvPr/>
        </p:nvSpPr>
        <p:spPr>
          <a:xfrm>
            <a:off x="4908000" y="351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JOIO  150 cl</a:t>
            </a:r>
            <a:pPr indent="0" marL="0">
              <a:buNone/>
            </a:pPr>
            <a:r>
              <a:rPr lang="en-US" sz="690" b="1" dirty="0">
                <a:solidFill>
                  <a:srgbClr val="67067C"/>
                </a:solidFill>
                <a:latin typeface="IBM Plex Sans" pitchFamily="34" charset="0"/>
                <a:ea typeface="IBM Plex Sans" pitchFamily="34" charset="-122"/>
                <a:cs typeface="IBM Plex Sans" pitchFamily="34" charset="-120"/>
              </a:rPr>
              <a:t>  31</a:t>
            </a:r>
            <a:pPr indent="0" marL="0">
              <a:buNone/>
            </a:pP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99" name="Text 97"/>
          <p:cNvSpPr/>
          <p:nvPr/>
        </p:nvSpPr>
        <p:spPr>
          <a:xfrm>
            <a:off x="4908000" y="363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Grange Jaumain – Chenin Blanc</a:t>
            </a:r>
            <a:pPr indent="0" marL="0">
              <a:buNone/>
            </a:pPr>
            <a:r>
              <a:rPr lang="en-US" sz="690" b="1" dirty="0">
                <a:solidFill>
                  <a:srgbClr val="67067C"/>
                </a:solidFill>
                <a:latin typeface="IBM Plex Sans" pitchFamily="34" charset="0"/>
                <a:ea typeface="IBM Plex Sans" pitchFamily="34" charset="-122"/>
                <a:cs typeface="IBM Plex Sans" pitchFamily="34" charset="-120"/>
              </a:rPr>
              <a:t>  1</a:t>
            </a:r>
            <a:pPr indent="0" marL="0">
              <a:buNone/>
            </a:pP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100" name="Text 98"/>
          <p:cNvSpPr/>
          <p:nvPr/>
        </p:nvSpPr>
        <p:spPr>
          <a:xfrm>
            <a:off x="4908000" y="376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MUSCARIS</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101" name="Text 99"/>
          <p:cNvSpPr/>
          <p:nvPr/>
        </p:nvSpPr>
        <p:spPr>
          <a:xfrm>
            <a:off x="4908000" y="388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Prestige de Beaulieu</a:t>
            </a:r>
            <a:pPr indent="0" marL="0">
              <a:buNone/>
            </a:pPr>
            <a:r>
              <a:rPr lang="en-US" sz="690" b="1" dirty="0">
                <a:solidFill>
                  <a:srgbClr val="67067C"/>
                </a:solidFill>
                <a:latin typeface="IBM Plex Sans" pitchFamily="34" charset="0"/>
                <a:ea typeface="IBM Plex Sans" pitchFamily="34" charset="-122"/>
                <a:cs typeface="IBM Plex Sans" pitchFamily="34" charset="-120"/>
              </a:rPr>
              <a:t>  3</a:t>
            </a:r>
            <a:pPr indent="0" marL="0">
              <a:buNone/>
            </a:pP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102" name="Text 100"/>
          <p:cNvSpPr/>
          <p:nvPr/>
        </p:nvSpPr>
        <p:spPr>
          <a:xfrm>
            <a:off x="4908000" y="401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Leimen (Sylvaner)</a:t>
            </a:r>
            <a:pPr indent="0" marL="0">
              <a:buNone/>
            </a:pPr>
            <a:r>
              <a:rPr lang="en-US" sz="690" b="1" dirty="0">
                <a:solidFill>
                  <a:srgbClr val="67067C"/>
                </a:solidFill>
                <a:latin typeface="IBM Plex Sans" pitchFamily="34" charset="0"/>
                <a:ea typeface="IBM Plex Sans" pitchFamily="34" charset="-122"/>
                <a:cs typeface="IBM Plex Sans" pitchFamily="34" charset="-120"/>
              </a:rPr>
              <a:t>  8</a:t>
            </a:r>
            <a:pPr indent="0" marL="0">
              <a:buNone/>
            </a:pPr>
            <a:r>
              <a:rPr lang="en-US" sz="690" dirty="0">
                <a:solidFill>
                  <a:srgbClr val="46606E"/>
                </a:solidFill>
                <a:latin typeface="IBM Plex Sans" pitchFamily="34" charset="0"/>
                <a:ea typeface="IBM Plex Sans" pitchFamily="34" charset="-122"/>
                <a:cs typeface="IBM Plex Sans" pitchFamily="34" charset="-120"/>
              </a:rPr>
              <a:t>  17</a:t>
            </a:r>
            <a:endParaRPr lang="en-US" sz="690" dirty="0"/>
          </a:p>
        </p:txBody>
      </p:sp>
      <p:sp>
        <p:nvSpPr>
          <p:cNvPr id="103" name="Text 101"/>
          <p:cNvSpPr/>
          <p:nvPr/>
        </p:nvSpPr>
        <p:spPr>
          <a:xfrm>
            <a:off x="4908000" y="41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Amphibol</a:t>
            </a:r>
            <a:pPr indent="0" marL="0">
              <a:buNone/>
            </a:pPr>
            <a:r>
              <a:rPr lang="en-US" sz="690" b="1" dirty="0">
                <a:solidFill>
                  <a:srgbClr val="67067C"/>
                </a:solidFill>
                <a:latin typeface="IBM Plex Sans" pitchFamily="34" charset="0"/>
                <a:ea typeface="IBM Plex Sans" pitchFamily="34" charset="-122"/>
                <a:cs typeface="IBM Plex Sans" pitchFamily="34" charset="-120"/>
              </a:rPr>
              <a:t>  2</a:t>
            </a:r>
            <a:pPr indent="0" marL="0">
              <a:buNone/>
            </a:pPr>
            <a:r>
              <a:rPr lang="en-US" sz="690" dirty="0">
                <a:solidFill>
                  <a:srgbClr val="46606E"/>
                </a:solidFill>
                <a:latin typeface="IBM Plex Sans" pitchFamily="34" charset="0"/>
                <a:ea typeface="IBM Plex Sans" pitchFamily="34" charset="-122"/>
                <a:cs typeface="IBM Plex Sans" pitchFamily="34" charset="-120"/>
              </a:rPr>
              <a:t>  8</a:t>
            </a:r>
            <a:endParaRPr lang="en-US" sz="690" dirty="0"/>
          </a:p>
        </p:txBody>
      </p:sp>
      <p:sp>
        <p:nvSpPr>
          <p:cNvPr id="104" name="Text 102"/>
          <p:cNvSpPr/>
          <p:nvPr/>
        </p:nvSpPr>
        <p:spPr>
          <a:xfrm>
            <a:off x="4908000" y="42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Folatières</a:t>
            </a:r>
            <a:pPr indent="0" marL="0">
              <a:buNone/>
            </a:pPr>
            <a:r>
              <a:rPr lang="en-US" sz="690" b="1" dirty="0">
                <a:solidFill>
                  <a:srgbClr val="67067C"/>
                </a:solidFill>
                <a:latin typeface="IBM Plex Sans" pitchFamily="34" charset="0"/>
                <a:ea typeface="IBM Plex Sans" pitchFamily="34" charset="-122"/>
                <a:cs typeface="IBM Plex Sans" pitchFamily="34" charset="-120"/>
              </a:rPr>
              <a:t>  10</a:t>
            </a:r>
            <a:pPr indent="0" marL="0">
              <a:buNone/>
            </a:pP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105" name="Text 103"/>
          <p:cNvSpPr/>
          <p:nvPr/>
        </p:nvSpPr>
        <p:spPr>
          <a:xfrm>
            <a:off x="4908000" y="43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Genièvres</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106" name="Text 104"/>
          <p:cNvSpPr/>
          <p:nvPr/>
        </p:nvSpPr>
        <p:spPr>
          <a:xfrm>
            <a:off x="4908000" y="45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Gorinières</a:t>
            </a:r>
            <a:pPr indent="0" marL="0">
              <a:buNone/>
            </a:pPr>
            <a:r>
              <a:rPr lang="en-US" sz="690" b="1" dirty="0">
                <a:solidFill>
                  <a:srgbClr val="67067C"/>
                </a:solidFill>
                <a:latin typeface="IBM Plex Sans" pitchFamily="34" charset="0"/>
                <a:ea typeface="IBM Plex Sans" pitchFamily="34" charset="-122"/>
                <a:cs typeface="IBM Plex Sans" pitchFamily="34" charset="-120"/>
              </a:rPr>
              <a:t>  2</a:t>
            </a:r>
            <a:pPr indent="0" marL="0">
              <a:buNone/>
            </a:pPr>
            <a:r>
              <a:rPr lang="en-US" sz="690" dirty="0">
                <a:solidFill>
                  <a:srgbClr val="46606E"/>
                </a:solidFill>
                <a:latin typeface="IBM Plex Sans" pitchFamily="34" charset="0"/>
                <a:ea typeface="IBM Plex Sans" pitchFamily="34" charset="-122"/>
                <a:cs typeface="IBM Plex Sans" pitchFamily="34" charset="-120"/>
              </a:rPr>
              <a:t>  8</a:t>
            </a:r>
            <a:endParaRPr lang="en-US" sz="690" dirty="0"/>
          </a:p>
        </p:txBody>
      </p:sp>
      <p:sp>
        <p:nvSpPr>
          <p:cNvPr id="107" name="Text 105"/>
          <p:cNvSpPr/>
          <p:nvPr/>
        </p:nvSpPr>
        <p:spPr>
          <a:xfrm>
            <a:off x="4908000" y="46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Grands Charrons</a:t>
            </a:r>
            <a:pPr indent="0" marL="0">
              <a:buNone/>
            </a:pPr>
            <a:r>
              <a:rPr lang="en-US" sz="690" b="1" dirty="0">
                <a:solidFill>
                  <a:srgbClr val="67067C"/>
                </a:solidFill>
                <a:latin typeface="IBM Plex Sans" pitchFamily="34" charset="0"/>
                <a:ea typeface="IBM Plex Sans" pitchFamily="34" charset="-122"/>
                <a:cs typeface="IBM Plex Sans" pitchFamily="34" charset="-120"/>
              </a:rPr>
              <a:t>  10</a:t>
            </a:r>
            <a:pPr indent="0" marL="0">
              <a:buNone/>
            </a:pP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108" name="Text 106"/>
          <p:cNvSpPr/>
          <p:nvPr/>
        </p:nvSpPr>
        <p:spPr>
          <a:xfrm>
            <a:off x="4908000" y="47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Meix Chavaux</a:t>
            </a:r>
            <a:pPr indent="0" marL="0">
              <a:buNone/>
            </a:pPr>
            <a:r>
              <a:rPr lang="en-US" sz="690" b="1" dirty="0">
                <a:solidFill>
                  <a:srgbClr val="67067C"/>
                </a:solidFill>
                <a:latin typeface="IBM Plex Sans" pitchFamily="34" charset="0"/>
                <a:ea typeface="IBM Plex Sans" pitchFamily="34" charset="-122"/>
                <a:cs typeface="IBM Plex Sans" pitchFamily="34" charset="-120"/>
              </a:rPr>
              <a:t>  10</a:t>
            </a:r>
            <a:pPr indent="0" marL="0">
              <a:buNone/>
            </a:pP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109" name="Text 107"/>
          <p:cNvSpPr/>
          <p:nvPr/>
        </p:nvSpPr>
        <p:spPr>
          <a:xfrm>
            <a:off x="4908000" y="48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Silex  2024</a:t>
            </a:r>
            <a:pPr indent="0" marL="0">
              <a:buNone/>
            </a:pPr>
            <a:r>
              <a:rPr lang="en-US" sz="690" b="1" dirty="0">
                <a:solidFill>
                  <a:srgbClr val="67067C"/>
                </a:solidFill>
                <a:latin typeface="IBM Plex Sans" pitchFamily="34" charset="0"/>
                <a:ea typeface="IBM Plex Sans" pitchFamily="34" charset="-122"/>
                <a:cs typeface="IBM Plex Sans" pitchFamily="34" charset="-120"/>
              </a:rPr>
              <a:t>  2</a:t>
            </a:r>
            <a:pPr indent="0" marL="0">
              <a:buNone/>
            </a:pPr>
            <a:r>
              <a:rPr lang="en-US" sz="690" dirty="0">
                <a:solidFill>
                  <a:srgbClr val="46606E"/>
                </a:solidFill>
                <a:latin typeface="IBM Plex Sans" pitchFamily="34" charset="0"/>
                <a:ea typeface="IBM Plex Sans" pitchFamily="34" charset="-122"/>
                <a:cs typeface="IBM Plex Sans" pitchFamily="34" charset="-120"/>
              </a:rPr>
              <a:t>  8</a:t>
            </a:r>
            <a:endParaRPr lang="en-US" sz="690" dirty="0"/>
          </a:p>
        </p:txBody>
      </p:sp>
      <p:sp>
        <p:nvSpPr>
          <p:cNvPr id="110" name="Text 108"/>
          <p:cNvSpPr/>
          <p:nvPr/>
        </p:nvSpPr>
        <p:spPr>
          <a:xfrm>
            <a:off x="4908000" y="50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Silex Blancs</a:t>
            </a:r>
            <a:pPr indent="0" marL="0">
              <a:buNone/>
            </a:pPr>
            <a:r>
              <a:rPr lang="en-US" sz="690" b="1" dirty="0">
                <a:solidFill>
                  <a:srgbClr val="67067C"/>
                </a:solidFill>
                <a:latin typeface="IBM Plex Sans" pitchFamily="34" charset="0"/>
                <a:ea typeface="IBM Plex Sans" pitchFamily="34" charset="-122"/>
                <a:cs typeface="IBM Plex Sans" pitchFamily="34" charset="-120"/>
              </a:rPr>
              <a:t>  6</a:t>
            </a:r>
            <a:pPr indent="0" marL="0">
              <a:buNone/>
            </a:pP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111" name="Text 109"/>
          <p:cNvSpPr/>
          <p:nvPr/>
        </p:nvSpPr>
        <p:spPr>
          <a:xfrm>
            <a:off x="4908000" y="51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Vireuils</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112" name="Text 110"/>
          <p:cNvSpPr/>
          <p:nvPr/>
        </p:nvSpPr>
        <p:spPr>
          <a:xfrm>
            <a:off x="4908000" y="52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Lise-Marie</a:t>
            </a:r>
            <a:pPr indent="0" marL="0">
              <a:buNone/>
            </a:pPr>
            <a:r>
              <a:rPr lang="en-US" sz="690" b="1" dirty="0">
                <a:solidFill>
                  <a:srgbClr val="67067C"/>
                </a:solidFill>
                <a:latin typeface="IBM Plex Sans" pitchFamily="34" charset="0"/>
                <a:ea typeface="IBM Plex Sans" pitchFamily="34" charset="-122"/>
                <a:cs typeface="IBM Plex Sans" pitchFamily="34" charset="-120"/>
              </a:rPr>
              <a:t>  11</a:t>
            </a:r>
            <a:pPr indent="0" marL="0">
              <a:buNone/>
            </a:pPr>
            <a:r>
              <a:rPr lang="en-US" sz="690" dirty="0">
                <a:solidFill>
                  <a:srgbClr val="46606E"/>
                </a:solidFill>
                <a:latin typeface="IBM Plex Sans" pitchFamily="34" charset="0"/>
                <a:ea typeface="IBM Plex Sans" pitchFamily="34" charset="-122"/>
                <a:cs typeface="IBM Plex Sans" pitchFamily="34" charset="-120"/>
              </a:rPr>
              <a:t>  24</a:t>
            </a:r>
            <a:endParaRPr lang="en-US" sz="690" dirty="0"/>
          </a:p>
        </p:txBody>
      </p:sp>
      <p:sp>
        <p:nvSpPr>
          <p:cNvPr id="113" name="Text 111"/>
          <p:cNvSpPr/>
          <p:nvPr/>
        </p:nvSpPr>
        <p:spPr>
          <a:xfrm>
            <a:off x="4908000" y="54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Mâcon Chardonnay</a:t>
            </a:r>
            <a:pPr indent="0" marL="0">
              <a:buNone/>
            </a:pPr>
            <a:r>
              <a:rPr lang="en-US" sz="690" b="1" dirty="0">
                <a:solidFill>
                  <a:srgbClr val="67067C"/>
                </a:solidFill>
                <a:latin typeface="IBM Plex Sans" pitchFamily="34" charset="0"/>
                <a:ea typeface="IBM Plex Sans" pitchFamily="34" charset="-122"/>
                <a:cs typeface="IBM Plex Sans" pitchFamily="34" charset="-120"/>
              </a:rPr>
              <a:t>  15</a:t>
            </a:r>
            <a:pPr indent="0" marL="0">
              <a:buNone/>
            </a:pPr>
            <a:r>
              <a:rPr lang="en-US" sz="690" dirty="0">
                <a:solidFill>
                  <a:srgbClr val="46606E"/>
                </a:solidFill>
                <a:latin typeface="IBM Plex Sans" pitchFamily="34" charset="0"/>
                <a:ea typeface="IBM Plex Sans" pitchFamily="34" charset="-122"/>
                <a:cs typeface="IBM Plex Sans" pitchFamily="34" charset="-120"/>
              </a:rPr>
              <a:t>  29</a:t>
            </a:r>
            <a:endParaRPr lang="en-US" sz="690" dirty="0"/>
          </a:p>
        </p:txBody>
      </p:sp>
      <p:sp>
        <p:nvSpPr>
          <p:cNvPr id="114" name="Text 112"/>
          <p:cNvSpPr/>
          <p:nvPr/>
        </p:nvSpPr>
        <p:spPr>
          <a:xfrm>
            <a:off x="4908000" y="55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Mâcon Mancey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15</a:t>
            </a:r>
            <a:pPr indent="0" marL="0">
              <a:buNone/>
            </a:pPr>
            <a:r>
              <a:rPr lang="en-US" sz="690" dirty="0">
                <a:solidFill>
                  <a:srgbClr val="46606E"/>
                </a:solidFill>
                <a:latin typeface="IBM Plex Sans" pitchFamily="34" charset="0"/>
                <a:ea typeface="IBM Plex Sans" pitchFamily="34" charset="-122"/>
                <a:cs typeface="IBM Plex Sans" pitchFamily="34" charset="-120"/>
              </a:rPr>
              <a:t>  29</a:t>
            </a:r>
            <a:endParaRPr lang="en-US" sz="690" dirty="0"/>
          </a:p>
        </p:txBody>
      </p:sp>
      <p:sp>
        <p:nvSpPr>
          <p:cNvPr id="115" name="Text 113"/>
          <p:cNvSpPr/>
          <p:nvPr/>
        </p:nvSpPr>
        <p:spPr>
          <a:xfrm>
            <a:off x="4908000" y="56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Marnes Kimméridgiennes</a:t>
            </a:r>
            <a:pPr indent="0" marL="0">
              <a:buNone/>
            </a:pPr>
            <a:r>
              <a:rPr lang="en-US" sz="690" b="1" dirty="0">
                <a:solidFill>
                  <a:srgbClr val="67067C"/>
                </a:solidFill>
                <a:latin typeface="IBM Plex Sans" pitchFamily="34" charset="0"/>
                <a:ea typeface="IBM Plex Sans" pitchFamily="34" charset="-122"/>
                <a:cs typeface="IBM Plex Sans" pitchFamily="34" charset="-120"/>
              </a:rPr>
              <a:t>  6</a:t>
            </a:r>
            <a:pPr indent="0" marL="0">
              <a:buNone/>
            </a:pP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116" name="Text 114"/>
          <p:cNvSpPr/>
          <p:nvPr/>
        </p:nvSpPr>
        <p:spPr>
          <a:xfrm>
            <a:off x="4908000" y="57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Molse Blanc (Assemblage)</a:t>
            </a:r>
            <a:pPr indent="0" marL="0">
              <a:buNone/>
            </a:pPr>
            <a:r>
              <a:rPr lang="en-US" sz="690" b="1" dirty="0">
                <a:solidFill>
                  <a:srgbClr val="67067C"/>
                </a:solidFill>
                <a:latin typeface="IBM Plex Sans" pitchFamily="34" charset="0"/>
                <a:ea typeface="IBM Plex Sans" pitchFamily="34" charset="-122"/>
                <a:cs typeface="IBM Plex Sans" pitchFamily="34" charset="-120"/>
              </a:rPr>
              <a:t>  8</a:t>
            </a:r>
            <a:pPr indent="0" marL="0">
              <a:buNone/>
            </a:pPr>
            <a:r>
              <a:rPr lang="en-US" sz="690" dirty="0">
                <a:solidFill>
                  <a:srgbClr val="46606E"/>
                </a:solidFill>
                <a:latin typeface="IBM Plex Sans" pitchFamily="34" charset="0"/>
                <a:ea typeface="IBM Plex Sans" pitchFamily="34" charset="-122"/>
                <a:cs typeface="IBM Plex Sans" pitchFamily="34" charset="-120"/>
              </a:rPr>
              <a:t>  17</a:t>
            </a:r>
            <a:endParaRPr lang="en-US" sz="690" dirty="0"/>
          </a:p>
        </p:txBody>
      </p:sp>
      <p:sp>
        <p:nvSpPr>
          <p:cNvPr id="117" name="Text 115"/>
          <p:cNvSpPr/>
          <p:nvPr/>
        </p:nvSpPr>
        <p:spPr>
          <a:xfrm>
            <a:off x="4908000" y="59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N°1 Littorine</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118" name="Text 116"/>
          <p:cNvSpPr/>
          <p:nvPr/>
        </p:nvSpPr>
        <p:spPr>
          <a:xfrm>
            <a:off x="4908000" y="60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N°2 Amande</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119" name="Text 117"/>
          <p:cNvSpPr/>
          <p:nvPr/>
        </p:nvSpPr>
        <p:spPr>
          <a:xfrm>
            <a:off x="4908000" y="61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N°6 Fossiles</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120" name="Text 118"/>
          <p:cNvSpPr/>
          <p:nvPr/>
        </p:nvSpPr>
        <p:spPr>
          <a:xfrm>
            <a:off x="4908000" y="62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OENA</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121" name="Text 119"/>
          <p:cNvSpPr/>
          <p:nvPr/>
        </p:nvSpPr>
        <p:spPr>
          <a:xfrm>
            <a:off x="4908000" y="64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PETIT JARDIN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122" name="Text 1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68</a:t>
            </a:r>
            <a:endParaRPr lang="en-US" sz="750" dirty="0"/>
          </a:p>
        </p:txBody>
      </p:sp>
      <p:sp>
        <p:nvSpPr>
          <p:cNvPr id="123" name="Text 1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612000" y="5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Petit Valoux</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3" name="Text 1"/>
          <p:cNvSpPr/>
          <p:nvPr/>
        </p:nvSpPr>
        <p:spPr>
          <a:xfrm>
            <a:off x="612000" y="6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Pfann (Pinot Gris)</a:t>
            </a:r>
            <a:pPr indent="0" marL="0">
              <a:buNone/>
            </a:pPr>
            <a:r>
              <a:rPr lang="en-US" sz="690" b="1" dirty="0">
                <a:solidFill>
                  <a:srgbClr val="67067C"/>
                </a:solidFill>
                <a:latin typeface="IBM Plex Sans" pitchFamily="34" charset="0"/>
                <a:ea typeface="IBM Plex Sans" pitchFamily="34" charset="-122"/>
                <a:cs typeface="IBM Plex Sans" pitchFamily="34" charset="-120"/>
              </a:rPr>
              <a:t>  8</a:t>
            </a:r>
            <a:pPr indent="0" marL="0">
              <a:buNone/>
            </a:pPr>
            <a:r>
              <a:rPr lang="en-US" sz="690" dirty="0">
                <a:solidFill>
                  <a:srgbClr val="46606E"/>
                </a:solidFill>
                <a:latin typeface="IBM Plex Sans" pitchFamily="34" charset="0"/>
                <a:ea typeface="IBM Plex Sans" pitchFamily="34" charset="-122"/>
                <a:cs typeface="IBM Plex Sans" pitchFamily="34" charset="-120"/>
              </a:rPr>
              <a:t>  17</a:t>
            </a:r>
            <a:endParaRPr lang="en-US" sz="690" dirty="0"/>
          </a:p>
        </p:txBody>
      </p:sp>
      <p:sp>
        <p:nvSpPr>
          <p:cNvPr id="4" name="Text 2"/>
          <p:cNvSpPr/>
          <p:nvPr/>
        </p:nvSpPr>
        <p:spPr>
          <a:xfrm>
            <a:off x="612000" y="7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Pouilly</a:t>
            </a:r>
            <a:pPr indent="0" marL="0">
              <a:buNone/>
            </a:pPr>
            <a:r>
              <a:rPr lang="en-US" sz="690" b="1" dirty="0">
                <a:solidFill>
                  <a:srgbClr val="67067C"/>
                </a:solidFill>
                <a:latin typeface="IBM Plex Sans" pitchFamily="34" charset="0"/>
                <a:ea typeface="IBM Plex Sans" pitchFamily="34" charset="-122"/>
                <a:cs typeface="IBM Plex Sans" pitchFamily="34" charset="-120"/>
              </a:rPr>
              <a:t>  11</a:t>
            </a:r>
            <a:pPr indent="0" marL="0">
              <a:buNone/>
            </a:pPr>
            <a:r>
              <a:rPr lang="en-US" sz="690" dirty="0">
                <a:solidFill>
                  <a:srgbClr val="46606E"/>
                </a:solidFill>
                <a:latin typeface="IBM Plex Sans" pitchFamily="34" charset="0"/>
                <a:ea typeface="IBM Plex Sans" pitchFamily="34" charset="-122"/>
                <a:cs typeface="IBM Plex Sans" pitchFamily="34" charset="-120"/>
              </a:rPr>
              <a:t>  24</a:t>
            </a:r>
            <a:endParaRPr lang="en-US" sz="690" dirty="0"/>
          </a:p>
        </p:txBody>
      </p:sp>
      <p:sp>
        <p:nvSpPr>
          <p:cNvPr id="5" name="Text 3"/>
          <p:cNvSpPr/>
          <p:nvPr/>
        </p:nvSpPr>
        <p:spPr>
          <a:xfrm>
            <a:off x="612000" y="9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Première Fleur</a:t>
            </a:r>
            <a:pPr indent="0" marL="0">
              <a:buNone/>
            </a:pPr>
            <a:r>
              <a:rPr lang="en-US" sz="690" b="1" dirty="0">
                <a:solidFill>
                  <a:srgbClr val="67067C"/>
                </a:solidFill>
                <a:latin typeface="IBM Plex Sans" pitchFamily="34" charset="0"/>
                <a:ea typeface="IBM Plex Sans" pitchFamily="34" charset="-122"/>
                <a:cs typeface="IBM Plex Sans" pitchFamily="34" charset="-120"/>
              </a:rPr>
              <a:t>  17</a:t>
            </a:r>
            <a:pPr indent="0" marL="0">
              <a:buNone/>
            </a:pPr>
            <a:r>
              <a:rPr lang="en-US" sz="690" dirty="0">
                <a:solidFill>
                  <a:srgbClr val="46606E"/>
                </a:solidFill>
                <a:latin typeface="IBM Plex Sans" pitchFamily="34" charset="0"/>
                <a:ea typeface="IBM Plex Sans" pitchFamily="34" charset="-122"/>
                <a:cs typeface="IBM Plex Sans" pitchFamily="34" charset="-120"/>
              </a:rPr>
              <a:t>  32</a:t>
            </a:r>
            <a:endParaRPr lang="en-US" sz="690" dirty="0"/>
          </a:p>
        </p:txBody>
      </p:sp>
      <p:sp>
        <p:nvSpPr>
          <p:cNvPr id="6" name="Text 4"/>
          <p:cNvSpPr/>
          <p:nvPr/>
        </p:nvSpPr>
        <p:spPr>
          <a:xfrm>
            <a:off x="612000" y="10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Promenade des Noëls</a:t>
            </a:r>
            <a:pPr indent="0" marL="0">
              <a:buNone/>
            </a:pPr>
            <a:r>
              <a:rPr lang="en-US" sz="690" b="1" dirty="0">
                <a:solidFill>
                  <a:srgbClr val="67067C"/>
                </a:solidFill>
                <a:latin typeface="IBM Plex Sans" pitchFamily="34" charset="0"/>
                <a:ea typeface="IBM Plex Sans" pitchFamily="34" charset="-122"/>
                <a:cs typeface="IBM Plex Sans" pitchFamily="34" charset="-120"/>
              </a:rPr>
              <a:t>  4</a:t>
            </a:r>
            <a:pPr indent="0" marL="0">
              <a:buNone/>
            </a:pP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7" name="Text 5"/>
          <p:cNvSpPr/>
          <p:nvPr/>
        </p:nvSpPr>
        <p:spPr>
          <a:xfrm>
            <a:off x="612000" y="11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Saint Anastasie</a:t>
            </a:r>
            <a:pPr indent="0" marL="0">
              <a:buNone/>
            </a:pPr>
            <a:r>
              <a:rPr lang="en-US" sz="690" b="1" dirty="0">
                <a:solidFill>
                  <a:srgbClr val="67067C"/>
                </a:solidFill>
                <a:latin typeface="IBM Plex Sans" pitchFamily="34" charset="0"/>
                <a:ea typeface="IBM Plex Sans" pitchFamily="34" charset="-122"/>
                <a:cs typeface="IBM Plex Sans" pitchFamily="34" charset="-120"/>
              </a:rPr>
              <a:t>  35</a:t>
            </a:r>
            <a:pPr indent="0" marL="0">
              <a:buNone/>
            </a:pPr>
            <a:r>
              <a:rPr lang="en-US" sz="690" dirty="0">
                <a:solidFill>
                  <a:srgbClr val="46606E"/>
                </a:solidFill>
                <a:latin typeface="IBM Plex Sans" pitchFamily="34" charset="0"/>
                <a:ea typeface="IBM Plex Sans" pitchFamily="34" charset="-122"/>
                <a:cs typeface="IBM Plex Sans" pitchFamily="34" charset="-120"/>
              </a:rPr>
              <a:t>  60</a:t>
            </a:r>
            <a:endParaRPr lang="en-US" sz="690" dirty="0"/>
          </a:p>
        </p:txBody>
      </p:sp>
      <p:sp>
        <p:nvSpPr>
          <p:cNvPr id="8" name="Text 6"/>
          <p:cNvSpPr/>
          <p:nvPr/>
        </p:nvSpPr>
        <p:spPr>
          <a:xfrm>
            <a:off x="612000" y="12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SAINT PROBACE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31</a:t>
            </a:r>
            <a:pPr indent="0" marL="0">
              <a:buNone/>
            </a:pP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9" name="Text 7"/>
          <p:cNvSpPr/>
          <p:nvPr/>
        </p:nvSpPr>
        <p:spPr>
          <a:xfrm>
            <a:off x="612000" y="14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Sauvignon</a:t>
            </a:r>
            <a:pPr indent="0" marL="0">
              <a:buNone/>
            </a:pPr>
            <a:r>
              <a:rPr lang="en-US" sz="690" b="1" dirty="0">
                <a:solidFill>
                  <a:srgbClr val="67067C"/>
                </a:solidFill>
                <a:latin typeface="IBM Plex Sans" pitchFamily="34" charset="0"/>
                <a:ea typeface="IBM Plex Sans" pitchFamily="34" charset="-122"/>
                <a:cs typeface="IBM Plex Sans" pitchFamily="34" charset="-120"/>
              </a:rPr>
              <a:t>  4</a:t>
            </a:r>
            <a:pPr indent="0" marL="0">
              <a:buNone/>
            </a:pP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10" name="Text 8"/>
          <p:cNvSpPr/>
          <p:nvPr/>
        </p:nvSpPr>
        <p:spPr>
          <a:xfrm>
            <a:off x="612000" y="15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SAUVIGNON 9,5°</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11" name="Text 9"/>
          <p:cNvSpPr/>
          <p:nvPr/>
        </p:nvSpPr>
        <p:spPr>
          <a:xfrm>
            <a:off x="612000" y="16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Signature</a:t>
            </a:r>
            <a:pPr indent="0" marL="0">
              <a:buNone/>
            </a:pPr>
            <a:r>
              <a:rPr lang="en-US" sz="690" b="1" dirty="0">
                <a:solidFill>
                  <a:srgbClr val="67067C"/>
                </a:solidFill>
                <a:latin typeface="IBM Plex Sans" pitchFamily="34" charset="0"/>
                <a:ea typeface="IBM Plex Sans" pitchFamily="34" charset="-122"/>
                <a:cs typeface="IBM Plex Sans" pitchFamily="34" charset="-120"/>
              </a:rPr>
              <a:t>  11</a:t>
            </a:r>
            <a:pPr indent="0" marL="0">
              <a:buNone/>
            </a:pPr>
            <a:r>
              <a:rPr lang="en-US" sz="690" dirty="0">
                <a:solidFill>
                  <a:srgbClr val="46606E"/>
                </a:solidFill>
                <a:latin typeface="IBM Plex Sans" pitchFamily="34" charset="0"/>
                <a:ea typeface="IBM Plex Sans" pitchFamily="34" charset="-122"/>
                <a:cs typeface="IBM Plex Sans" pitchFamily="34" charset="-120"/>
              </a:rPr>
              <a:t>  24</a:t>
            </a:r>
            <a:endParaRPr lang="en-US" sz="690" dirty="0"/>
          </a:p>
        </p:txBody>
      </p:sp>
      <p:sp>
        <p:nvSpPr>
          <p:cNvPr id="12" name="Text 10"/>
          <p:cNvSpPr/>
          <p:nvPr/>
        </p:nvSpPr>
        <p:spPr>
          <a:xfrm>
            <a:off x="612000" y="18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Silex</a:t>
            </a:r>
            <a:pPr indent="0" marL="0">
              <a:buNone/>
            </a:pPr>
            <a:r>
              <a:rPr lang="en-US" sz="690" b="1" dirty="0">
                <a:solidFill>
                  <a:srgbClr val="67067C"/>
                </a:solidFill>
                <a:latin typeface="IBM Plex Sans" pitchFamily="34" charset="0"/>
                <a:ea typeface="IBM Plex Sans" pitchFamily="34" charset="-122"/>
                <a:cs typeface="IBM Plex Sans" pitchFamily="34" charset="-120"/>
              </a:rPr>
              <a:t>  6</a:t>
            </a:r>
            <a:pPr indent="0" marL="0">
              <a:buNone/>
            </a:pP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13" name="Text 11"/>
          <p:cNvSpPr/>
          <p:nvPr/>
        </p:nvSpPr>
        <p:spPr>
          <a:xfrm>
            <a:off x="612000" y="19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Solera</a:t>
            </a:r>
            <a:pPr indent="0" marL="0">
              <a:buNone/>
            </a:pPr>
            <a:r>
              <a:rPr lang="en-US" sz="690" b="1" dirty="0">
                <a:solidFill>
                  <a:srgbClr val="67067C"/>
                </a:solidFill>
                <a:latin typeface="IBM Plex Sans" pitchFamily="34" charset="0"/>
                <a:ea typeface="IBM Plex Sans" pitchFamily="34" charset="-122"/>
                <a:cs typeface="IBM Plex Sans" pitchFamily="34" charset="-120"/>
              </a:rPr>
              <a:t>  17</a:t>
            </a:r>
            <a:pPr indent="0" marL="0">
              <a:buNone/>
            </a:pPr>
            <a:r>
              <a:rPr lang="en-US" sz="690" dirty="0">
                <a:solidFill>
                  <a:srgbClr val="46606E"/>
                </a:solidFill>
                <a:latin typeface="IBM Plex Sans" pitchFamily="34" charset="0"/>
                <a:ea typeface="IBM Plex Sans" pitchFamily="34" charset="-122"/>
                <a:cs typeface="IBM Plex Sans" pitchFamily="34" charset="-120"/>
              </a:rPr>
              <a:t>  32</a:t>
            </a:r>
            <a:endParaRPr lang="en-US" sz="690" dirty="0"/>
          </a:p>
        </p:txBody>
      </p:sp>
      <p:sp>
        <p:nvSpPr>
          <p:cNvPr id="14" name="Text 12"/>
          <p:cNvSpPr/>
          <p:nvPr/>
        </p:nvSpPr>
        <p:spPr>
          <a:xfrm>
            <a:off x="612000" y="20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Source – Melon B.</a:t>
            </a:r>
            <a:pPr indent="0" marL="0">
              <a:buNone/>
            </a:pPr>
            <a:r>
              <a:rPr lang="en-US" sz="690" b="1" dirty="0">
                <a:solidFill>
                  <a:srgbClr val="67067C"/>
                </a:solidFill>
                <a:latin typeface="IBM Plex Sans" pitchFamily="34" charset="0"/>
                <a:ea typeface="IBM Plex Sans" pitchFamily="34" charset="-122"/>
                <a:cs typeface="IBM Plex Sans" pitchFamily="34" charset="-120"/>
              </a:rPr>
              <a:t>  5</a:t>
            </a:r>
            <a:pPr indent="0" marL="0">
              <a:buNone/>
            </a:pPr>
            <a:r>
              <a:rPr lang="en-US" sz="690" dirty="0">
                <a:solidFill>
                  <a:srgbClr val="46606E"/>
                </a:solidFill>
                <a:latin typeface="IBM Plex Sans" pitchFamily="34" charset="0"/>
                <a:ea typeface="IBM Plex Sans" pitchFamily="34" charset="-122"/>
                <a:cs typeface="IBM Plex Sans" pitchFamily="34" charset="-120"/>
              </a:rPr>
              <a:t>  12</a:t>
            </a:r>
            <a:endParaRPr lang="en-US" sz="690" dirty="0"/>
          </a:p>
        </p:txBody>
      </p:sp>
      <p:sp>
        <p:nvSpPr>
          <p:cNvPr id="15" name="Text 13"/>
          <p:cNvSpPr/>
          <p:nvPr/>
        </p:nvSpPr>
        <p:spPr>
          <a:xfrm>
            <a:off x="612000" y="21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Sous le Château</a:t>
            </a:r>
            <a:pPr indent="0" marL="0">
              <a:buNone/>
            </a:pPr>
            <a:r>
              <a:rPr lang="en-US" sz="690" b="1" dirty="0">
                <a:solidFill>
                  <a:srgbClr val="67067C"/>
                </a:solidFill>
                <a:latin typeface="IBM Plex Sans" pitchFamily="34" charset="0"/>
                <a:ea typeface="IBM Plex Sans" pitchFamily="34" charset="-122"/>
                <a:cs typeface="IBM Plex Sans" pitchFamily="34" charset="-120"/>
              </a:rPr>
              <a:t>  10</a:t>
            </a:r>
            <a:pPr indent="0" marL="0">
              <a:buNone/>
            </a:pP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16" name="Text 14"/>
          <p:cNvSpPr/>
          <p:nvPr/>
        </p:nvSpPr>
        <p:spPr>
          <a:xfrm>
            <a:off x="612000" y="23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Taubenstein (Pinot Blanc)</a:t>
            </a:r>
            <a:pPr indent="0" marL="0">
              <a:buNone/>
            </a:pPr>
            <a:r>
              <a:rPr lang="en-US" sz="690" b="1" dirty="0">
                <a:solidFill>
                  <a:srgbClr val="67067C"/>
                </a:solidFill>
                <a:latin typeface="IBM Plex Sans" pitchFamily="34" charset="0"/>
                <a:ea typeface="IBM Plex Sans" pitchFamily="34" charset="-122"/>
                <a:cs typeface="IBM Plex Sans" pitchFamily="34" charset="-120"/>
              </a:rPr>
              <a:t>  8</a:t>
            </a:r>
            <a:pPr indent="0" marL="0">
              <a:buNone/>
            </a:pPr>
            <a:r>
              <a:rPr lang="en-US" sz="690" dirty="0">
                <a:solidFill>
                  <a:srgbClr val="46606E"/>
                </a:solidFill>
                <a:latin typeface="IBM Plex Sans" pitchFamily="34" charset="0"/>
                <a:ea typeface="IBM Plex Sans" pitchFamily="34" charset="-122"/>
                <a:cs typeface="IBM Plex Sans" pitchFamily="34" charset="-120"/>
              </a:rPr>
              <a:t>  17</a:t>
            </a:r>
            <a:endParaRPr lang="en-US" sz="690" dirty="0"/>
          </a:p>
        </p:txBody>
      </p:sp>
      <p:sp>
        <p:nvSpPr>
          <p:cNvPr id="17" name="Text 15"/>
          <p:cNvSpPr/>
          <p:nvPr/>
        </p:nvSpPr>
        <p:spPr>
          <a:xfrm>
            <a:off x="612000" y="24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Terroir d'Ansouis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19</a:t>
            </a:r>
            <a:pPr indent="0" marL="0">
              <a:buNone/>
            </a:pPr>
            <a:r>
              <a:rPr lang="en-US" sz="690" dirty="0">
                <a:solidFill>
                  <a:srgbClr val="46606E"/>
                </a:solidFill>
                <a:latin typeface="IBM Plex Sans" pitchFamily="34" charset="0"/>
                <a:ea typeface="IBM Plex Sans" pitchFamily="34" charset="-122"/>
                <a:cs typeface="IBM Plex Sans" pitchFamily="34" charset="-120"/>
              </a:rPr>
              <a:t>  34</a:t>
            </a:r>
            <a:endParaRPr lang="en-US" sz="690" dirty="0"/>
          </a:p>
        </p:txBody>
      </p:sp>
      <p:sp>
        <p:nvSpPr>
          <p:cNvPr id="18" name="Text 16"/>
          <p:cNvSpPr/>
          <p:nvPr/>
        </p:nvSpPr>
        <p:spPr>
          <a:xfrm>
            <a:off x="612000" y="25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Thomen (Assemblage)</a:t>
            </a:r>
            <a:pPr indent="0" marL="0">
              <a:buNone/>
            </a:pPr>
            <a:r>
              <a:rPr lang="en-US" sz="690" b="1" dirty="0">
                <a:solidFill>
                  <a:srgbClr val="67067C"/>
                </a:solidFill>
                <a:latin typeface="IBM Plex Sans" pitchFamily="34" charset="0"/>
                <a:ea typeface="IBM Plex Sans" pitchFamily="34" charset="-122"/>
                <a:cs typeface="IBM Plex Sans" pitchFamily="34" charset="-120"/>
              </a:rPr>
              <a:t>  8</a:t>
            </a:r>
            <a:pPr indent="0" marL="0">
              <a:buNone/>
            </a:pPr>
            <a:r>
              <a:rPr lang="en-US" sz="690" dirty="0">
                <a:solidFill>
                  <a:srgbClr val="46606E"/>
                </a:solidFill>
                <a:latin typeface="IBM Plex Sans" pitchFamily="34" charset="0"/>
                <a:ea typeface="IBM Plex Sans" pitchFamily="34" charset="-122"/>
                <a:cs typeface="IBM Plex Sans" pitchFamily="34" charset="-120"/>
              </a:rPr>
              <a:t>  17</a:t>
            </a:r>
            <a:endParaRPr lang="en-US" sz="690" dirty="0"/>
          </a:p>
        </p:txBody>
      </p:sp>
      <p:sp>
        <p:nvSpPr>
          <p:cNvPr id="19" name="Text 17"/>
          <p:cNvSpPr/>
          <p:nvPr/>
        </p:nvSpPr>
        <p:spPr>
          <a:xfrm>
            <a:off x="612000" y="26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Vacqueyras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21</a:t>
            </a:r>
            <a:pPr indent="0" marL="0">
              <a:buNone/>
            </a:pPr>
            <a:r>
              <a:rPr lang="en-US" sz="690" dirty="0">
                <a:solidFill>
                  <a:srgbClr val="46606E"/>
                </a:solidFill>
                <a:latin typeface="IBM Plex Sans" pitchFamily="34" charset="0"/>
                <a:ea typeface="IBM Plex Sans" pitchFamily="34" charset="-122"/>
                <a:cs typeface="IBM Plex Sans" pitchFamily="34" charset="-120"/>
              </a:rPr>
              <a:t>  36</a:t>
            </a:r>
            <a:endParaRPr lang="en-US" sz="690" dirty="0"/>
          </a:p>
        </p:txBody>
      </p:sp>
      <p:sp>
        <p:nvSpPr>
          <p:cNvPr id="20" name="Text 18"/>
          <p:cNvSpPr/>
          <p:nvPr/>
        </p:nvSpPr>
        <p:spPr>
          <a:xfrm>
            <a:off x="612000" y="28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Vieilles Vignes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16</a:t>
            </a:r>
            <a:pPr indent="0" marL="0">
              <a:buNone/>
            </a:pPr>
            <a:r>
              <a:rPr lang="en-US" sz="690" dirty="0">
                <a:solidFill>
                  <a:srgbClr val="46606E"/>
                </a:solidFill>
                <a:latin typeface="IBM Plex Sans" pitchFamily="34" charset="0"/>
                <a:ea typeface="IBM Plex Sans" pitchFamily="34" charset="-122"/>
                <a:cs typeface="IBM Plex Sans" pitchFamily="34" charset="-120"/>
              </a:rPr>
              <a:t>  31</a:t>
            </a:r>
            <a:endParaRPr lang="en-US" sz="690" dirty="0"/>
          </a:p>
        </p:txBody>
      </p:sp>
      <p:sp>
        <p:nvSpPr>
          <p:cNvPr id="21" name="Text 19"/>
          <p:cNvSpPr/>
          <p:nvPr/>
        </p:nvSpPr>
        <p:spPr>
          <a:xfrm>
            <a:off x="612000" y="293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 de France</a:t>
            </a:r>
            <a:pPr indent="0" marL="0">
              <a:buNone/>
            </a:pPr>
            <a:r>
              <a:rPr lang="en-US" sz="690" b="1" dirty="0">
                <a:solidFill>
                  <a:srgbClr val="67067C"/>
                </a:solidFill>
                <a:latin typeface="IBM Plex Sans" pitchFamily="34" charset="0"/>
                <a:ea typeface="IBM Plex Sans" pitchFamily="34" charset="-122"/>
                <a:cs typeface="IBM Plex Sans" pitchFamily="34" charset="-120"/>
              </a:rPr>
              <a:t>  19</a:t>
            </a:r>
            <a:pPr indent="0" marL="0">
              <a:buNone/>
            </a:pPr>
            <a:r>
              <a:rPr lang="en-US" sz="690" dirty="0">
                <a:solidFill>
                  <a:srgbClr val="46606E"/>
                </a:solidFill>
                <a:latin typeface="IBM Plex Sans" pitchFamily="34" charset="0"/>
                <a:ea typeface="IBM Plex Sans" pitchFamily="34" charset="-122"/>
                <a:cs typeface="IBM Plex Sans" pitchFamily="34" charset="-120"/>
              </a:rPr>
              <a:t>  34</a:t>
            </a:r>
            <a:endParaRPr lang="en-US" sz="690" dirty="0"/>
          </a:p>
        </p:txBody>
      </p:sp>
      <p:sp>
        <p:nvSpPr>
          <p:cNvPr id="22" name="Text 20"/>
          <p:cNvSpPr/>
          <p:nvPr/>
        </p:nvSpPr>
        <p:spPr>
          <a:xfrm>
            <a:off x="612000" y="306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Vins du Val de Loire</a:t>
            </a:r>
            <a:pPr indent="0" marL="0">
              <a:buNone/>
            </a:pPr>
            <a:r>
              <a:rPr lang="en-US" sz="690" b="1" dirty="0">
                <a:solidFill>
                  <a:srgbClr val="67067C"/>
                </a:solidFill>
                <a:latin typeface="IBM Plex Sans" pitchFamily="34" charset="0"/>
                <a:ea typeface="IBM Plex Sans" pitchFamily="34" charset="-122"/>
                <a:cs typeface="IBM Plex Sans" pitchFamily="34" charset="-120"/>
              </a:rPr>
              <a:t>  3</a:t>
            </a:r>
            <a:pPr indent="0" marL="0">
              <a:buNone/>
            </a:pP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23" name="Text 21"/>
          <p:cNvSpPr/>
          <p:nvPr/>
        </p:nvSpPr>
        <p:spPr>
          <a:xfrm>
            <a:off x="612000" y="318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Vintage</a:t>
            </a:r>
            <a:pPr indent="0" marL="0">
              <a:buNone/>
            </a:pPr>
            <a:r>
              <a:rPr lang="en-US" sz="690" b="1" dirty="0">
                <a:solidFill>
                  <a:srgbClr val="67067C"/>
                </a:solidFill>
                <a:latin typeface="IBM Plex Sans" pitchFamily="34" charset="0"/>
                <a:ea typeface="IBM Plex Sans" pitchFamily="34" charset="-122"/>
                <a:cs typeface="IBM Plex Sans" pitchFamily="34" charset="-120"/>
              </a:rPr>
              <a:t>  17</a:t>
            </a:r>
            <a:pPr indent="0" marL="0">
              <a:buNone/>
            </a:pPr>
            <a:r>
              <a:rPr lang="en-US" sz="690" dirty="0">
                <a:solidFill>
                  <a:srgbClr val="46606E"/>
                </a:solidFill>
                <a:latin typeface="IBM Plex Sans" pitchFamily="34" charset="0"/>
                <a:ea typeface="IBM Plex Sans" pitchFamily="34" charset="-122"/>
                <a:cs typeface="IBM Plex Sans" pitchFamily="34" charset="-120"/>
              </a:rPr>
              <a:t>  32</a:t>
            </a:r>
            <a:endParaRPr lang="en-US" sz="690" dirty="0"/>
          </a:p>
        </p:txBody>
      </p:sp>
      <p:sp>
        <p:nvSpPr>
          <p:cNvPr id="24" name="Text 22"/>
          <p:cNvSpPr/>
          <p:nvPr/>
        </p:nvSpPr>
        <p:spPr>
          <a:xfrm>
            <a:off x="612000" y="3312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ROSÉ</a:t>
            </a:r>
            <a:endParaRPr lang="en-US" sz="800" dirty="0"/>
          </a:p>
        </p:txBody>
      </p:sp>
      <p:sp>
        <p:nvSpPr>
          <p:cNvPr id="25" name="Text 23"/>
          <p:cNvSpPr/>
          <p:nvPr/>
        </p:nvSpPr>
        <p:spPr>
          <a:xfrm>
            <a:off x="612000" y="343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Adn 24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24</a:t>
            </a:r>
            <a:pPr indent="0" marL="0">
              <a:buNone/>
            </a:pPr>
            <a:r>
              <a:rPr lang="en-US" sz="690" dirty="0">
                <a:solidFill>
                  <a:srgbClr val="46606E"/>
                </a:solidFill>
                <a:latin typeface="IBM Plex Sans" pitchFamily="34" charset="0"/>
                <a:ea typeface="IBM Plex Sans" pitchFamily="34" charset="-122"/>
                <a:cs typeface="IBM Plex Sans" pitchFamily="34" charset="-120"/>
              </a:rPr>
              <a:t>  41</a:t>
            </a:r>
            <a:endParaRPr lang="en-US" sz="690" dirty="0"/>
          </a:p>
        </p:txBody>
      </p:sp>
      <p:sp>
        <p:nvSpPr>
          <p:cNvPr id="26" name="Text 24"/>
          <p:cNvSpPr/>
          <p:nvPr/>
        </p:nvSpPr>
        <p:spPr>
          <a:xfrm>
            <a:off x="612000" y="356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Amande</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27" name="Text 25"/>
          <p:cNvSpPr/>
          <p:nvPr/>
        </p:nvSpPr>
        <p:spPr>
          <a:xfrm>
            <a:off x="612000" y="369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Arlequin</a:t>
            </a:r>
            <a:pPr indent="0" marL="0">
              <a:buNone/>
            </a:pPr>
            <a:r>
              <a:rPr lang="en-US" sz="690" b="1" dirty="0">
                <a:solidFill>
                  <a:srgbClr val="67067C"/>
                </a:solidFill>
                <a:latin typeface="IBM Plex Sans" pitchFamily="34" charset="0"/>
                <a:ea typeface="IBM Plex Sans" pitchFamily="34" charset="-122"/>
                <a:cs typeface="IBM Plex Sans" pitchFamily="34" charset="-120"/>
              </a:rPr>
              <a:t>  36</a:t>
            </a:r>
            <a:pPr indent="0" marL="0">
              <a:buNone/>
            </a:pPr>
            <a:r>
              <a:rPr lang="en-US" sz="690" dirty="0">
                <a:solidFill>
                  <a:srgbClr val="46606E"/>
                </a:solidFill>
                <a:latin typeface="IBM Plex Sans" pitchFamily="34" charset="0"/>
                <a:ea typeface="IBM Plex Sans" pitchFamily="34" charset="-122"/>
                <a:cs typeface="IBM Plex Sans" pitchFamily="34" charset="-120"/>
              </a:rPr>
              <a:t>  61</a:t>
            </a:r>
            <a:endParaRPr lang="en-US" sz="690" dirty="0"/>
          </a:p>
        </p:txBody>
      </p:sp>
      <p:sp>
        <p:nvSpPr>
          <p:cNvPr id="28" name="Text 26"/>
          <p:cNvSpPr/>
          <p:nvPr/>
        </p:nvSpPr>
        <p:spPr>
          <a:xfrm>
            <a:off x="612000" y="381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BLACAILLOUX</a:t>
            </a:r>
            <a:pPr indent="0" marL="0">
              <a:buNone/>
            </a:pPr>
            <a:r>
              <a:rPr lang="en-US" sz="690" b="1" dirty="0">
                <a:solidFill>
                  <a:srgbClr val="67067C"/>
                </a:solidFill>
                <a:latin typeface="IBM Plex Sans" pitchFamily="34" charset="0"/>
                <a:ea typeface="IBM Plex Sans" pitchFamily="34" charset="-122"/>
                <a:cs typeface="IBM Plex Sans" pitchFamily="34" charset="-120"/>
              </a:rPr>
              <a:t>  31</a:t>
            </a:r>
            <a:pPr indent="0" marL="0">
              <a:buNone/>
            </a:pP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29" name="Text 27"/>
          <p:cNvSpPr/>
          <p:nvPr/>
        </p:nvSpPr>
        <p:spPr>
          <a:xfrm>
            <a:off x="612000" y="394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Cabernet Franc</a:t>
            </a:r>
            <a:pPr indent="0" marL="0">
              <a:buNone/>
            </a:pPr>
            <a:r>
              <a:rPr lang="en-US" sz="690" b="1" dirty="0">
                <a:solidFill>
                  <a:srgbClr val="67067C"/>
                </a:solidFill>
                <a:latin typeface="IBM Plex Sans" pitchFamily="34" charset="0"/>
                <a:ea typeface="IBM Plex Sans" pitchFamily="34" charset="-122"/>
                <a:cs typeface="IBM Plex Sans" pitchFamily="34" charset="-120"/>
              </a:rPr>
              <a:t>  3</a:t>
            </a:r>
            <a:pPr indent="0" marL="0">
              <a:buNone/>
            </a:pP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30" name="Text 28"/>
          <p:cNvSpPr/>
          <p:nvPr/>
        </p:nvSpPr>
        <p:spPr>
          <a:xfrm>
            <a:off x="612000" y="406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Clair de Lune de l'Escarderie</a:t>
            </a:r>
            <a:pPr indent="0" marL="0">
              <a:buNone/>
            </a:pPr>
            <a:r>
              <a:rPr lang="en-US" sz="690" b="1" dirty="0">
                <a:solidFill>
                  <a:srgbClr val="67067C"/>
                </a:solidFill>
                <a:latin typeface="IBM Plex Sans" pitchFamily="34" charset="0"/>
                <a:ea typeface="IBM Plex Sans" pitchFamily="34" charset="-122"/>
                <a:cs typeface="IBM Plex Sans" pitchFamily="34" charset="-120"/>
              </a:rPr>
              <a:t>  30</a:t>
            </a:r>
            <a:pPr indent="0" marL="0">
              <a:buNone/>
            </a:pPr>
            <a:r>
              <a:rPr lang="en-US" sz="690" dirty="0">
                <a:solidFill>
                  <a:srgbClr val="46606E"/>
                </a:solidFill>
                <a:latin typeface="IBM Plex Sans" pitchFamily="34" charset="0"/>
                <a:ea typeface="IBM Plex Sans" pitchFamily="34" charset="-122"/>
                <a:cs typeface="IBM Plex Sans" pitchFamily="34" charset="-120"/>
              </a:rPr>
              <a:t>  52</a:t>
            </a:r>
            <a:endParaRPr lang="en-US" sz="690" dirty="0"/>
          </a:p>
        </p:txBody>
      </p:sp>
      <p:sp>
        <p:nvSpPr>
          <p:cNvPr id="31" name="Text 29"/>
          <p:cNvSpPr/>
          <p:nvPr/>
        </p:nvSpPr>
        <p:spPr>
          <a:xfrm>
            <a:off x="612000" y="419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Cosmos</a:t>
            </a:r>
            <a:pPr indent="0" marL="0">
              <a:buNone/>
            </a:pPr>
            <a:r>
              <a:rPr lang="en-US" sz="690" b="1" dirty="0">
                <a:solidFill>
                  <a:srgbClr val="67067C"/>
                </a:solidFill>
                <a:latin typeface="IBM Plex Sans" pitchFamily="34" charset="0"/>
                <a:ea typeface="IBM Plex Sans" pitchFamily="34" charset="-122"/>
                <a:cs typeface="IBM Plex Sans" pitchFamily="34" charset="-120"/>
              </a:rPr>
              <a:t>  34</a:t>
            </a:r>
            <a:pPr indent="0" marL="0">
              <a:buNone/>
            </a:pP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32" name="Text 30"/>
          <p:cNvSpPr/>
          <p:nvPr/>
        </p:nvSpPr>
        <p:spPr>
          <a:xfrm>
            <a:off x="612000" y="432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GRENACHE GRIS 9,5°</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33" name="Text 31"/>
          <p:cNvSpPr/>
          <p:nvPr/>
        </p:nvSpPr>
        <p:spPr>
          <a:xfrm>
            <a:off x="612000" y="44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Gulf Stream</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34" name="Text 32"/>
          <p:cNvSpPr/>
          <p:nvPr/>
        </p:nvSpPr>
        <p:spPr>
          <a:xfrm>
            <a:off x="612000" y="45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IGP Cabernet</a:t>
            </a:r>
            <a:pPr indent="0" marL="0">
              <a:buNone/>
            </a:pPr>
            <a:r>
              <a:rPr lang="en-US" sz="690" b="1" dirty="0">
                <a:solidFill>
                  <a:srgbClr val="67067C"/>
                </a:solidFill>
                <a:latin typeface="IBM Plex Sans" pitchFamily="34" charset="0"/>
                <a:ea typeface="IBM Plex Sans" pitchFamily="34" charset="-122"/>
                <a:cs typeface="IBM Plex Sans" pitchFamily="34" charset="-120"/>
              </a:rPr>
              <a:t>  3</a:t>
            </a:r>
            <a:pPr indent="0" marL="0">
              <a:buNone/>
            </a:pP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35" name="Text 33"/>
          <p:cNvSpPr/>
          <p:nvPr/>
        </p:nvSpPr>
        <p:spPr>
          <a:xfrm>
            <a:off x="612000" y="46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JOIO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31</a:t>
            </a:r>
            <a:pPr indent="0" marL="0">
              <a:buNone/>
            </a:pP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36" name="Text 34"/>
          <p:cNvSpPr/>
          <p:nvPr/>
        </p:nvSpPr>
        <p:spPr>
          <a:xfrm>
            <a:off x="612000" y="48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JOIO  150 cl</a:t>
            </a:r>
            <a:pPr indent="0" marL="0">
              <a:buNone/>
            </a:pPr>
            <a:r>
              <a:rPr lang="en-US" sz="690" b="1" dirty="0">
                <a:solidFill>
                  <a:srgbClr val="67067C"/>
                </a:solidFill>
                <a:latin typeface="IBM Plex Sans" pitchFamily="34" charset="0"/>
                <a:ea typeface="IBM Plex Sans" pitchFamily="34" charset="-122"/>
                <a:cs typeface="IBM Plex Sans" pitchFamily="34" charset="-120"/>
              </a:rPr>
              <a:t>  31</a:t>
            </a:r>
            <a:pPr indent="0" marL="0">
              <a:buNone/>
            </a:pP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37" name="Text 35"/>
          <p:cNvSpPr/>
          <p:nvPr/>
        </p:nvSpPr>
        <p:spPr>
          <a:xfrm>
            <a:off x="612000" y="49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SOUVIGNIER GRIS</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38" name="Text 36"/>
          <p:cNvSpPr/>
          <p:nvPr/>
        </p:nvSpPr>
        <p:spPr>
          <a:xfrm>
            <a:off x="612000" y="50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Silex  2024</a:t>
            </a:r>
            <a:pPr indent="0" marL="0">
              <a:buNone/>
            </a:pPr>
            <a:r>
              <a:rPr lang="en-US" sz="690" b="1" dirty="0">
                <a:solidFill>
                  <a:srgbClr val="67067C"/>
                </a:solidFill>
                <a:latin typeface="IBM Plex Sans" pitchFamily="34" charset="0"/>
                <a:ea typeface="IBM Plex Sans" pitchFamily="34" charset="-122"/>
                <a:cs typeface="IBM Plex Sans" pitchFamily="34" charset="-120"/>
              </a:rPr>
              <a:t>  2</a:t>
            </a:r>
            <a:pPr indent="0" marL="0">
              <a:buNone/>
            </a:pPr>
            <a:r>
              <a:rPr lang="en-US" sz="690" dirty="0">
                <a:solidFill>
                  <a:srgbClr val="46606E"/>
                </a:solidFill>
                <a:latin typeface="IBM Plex Sans" pitchFamily="34" charset="0"/>
                <a:ea typeface="IBM Plex Sans" pitchFamily="34" charset="-122"/>
                <a:cs typeface="IBM Plex Sans" pitchFamily="34" charset="-120"/>
              </a:rPr>
              <a:t>  8</a:t>
            </a:r>
            <a:endParaRPr lang="en-US" sz="690" dirty="0"/>
          </a:p>
        </p:txBody>
      </p:sp>
      <p:sp>
        <p:nvSpPr>
          <p:cNvPr id="39" name="Text 37"/>
          <p:cNvSpPr/>
          <p:nvPr/>
        </p:nvSpPr>
        <p:spPr>
          <a:xfrm>
            <a:off x="612000" y="52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N°3 Gulf Stream</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40" name="Text 38"/>
          <p:cNvSpPr/>
          <p:nvPr/>
        </p:nvSpPr>
        <p:spPr>
          <a:xfrm>
            <a:off x="612000" y="53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PETIT JARDIN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41" name="Text 39"/>
          <p:cNvSpPr/>
          <p:nvPr/>
        </p:nvSpPr>
        <p:spPr>
          <a:xfrm>
            <a:off x="612000" y="54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Pop’s</a:t>
            </a:r>
            <a:pPr indent="0" marL="0">
              <a:buNone/>
            </a:pPr>
            <a:r>
              <a:rPr lang="en-US" sz="690" b="1" dirty="0">
                <a:solidFill>
                  <a:srgbClr val="67067C"/>
                </a:solidFill>
                <a:latin typeface="IBM Plex Sans" pitchFamily="34" charset="0"/>
                <a:ea typeface="IBM Plex Sans" pitchFamily="34" charset="-122"/>
                <a:cs typeface="IBM Plex Sans" pitchFamily="34" charset="-120"/>
              </a:rPr>
              <a:t>  2</a:t>
            </a:r>
            <a:pPr indent="0" marL="0">
              <a:buNone/>
            </a:pPr>
            <a:r>
              <a:rPr lang="en-US" sz="690" dirty="0">
                <a:solidFill>
                  <a:srgbClr val="46606E"/>
                </a:solidFill>
                <a:latin typeface="IBM Plex Sans" pitchFamily="34" charset="0"/>
                <a:ea typeface="IBM Plex Sans" pitchFamily="34" charset="-122"/>
                <a:cs typeface="IBM Plex Sans" pitchFamily="34" charset="-120"/>
              </a:rPr>
              <a:t>  8</a:t>
            </a:r>
            <a:endParaRPr lang="en-US" sz="690" dirty="0"/>
          </a:p>
        </p:txBody>
      </p:sp>
      <p:sp>
        <p:nvSpPr>
          <p:cNvPr id="42" name="Text 40"/>
          <p:cNvSpPr/>
          <p:nvPr/>
        </p:nvSpPr>
        <p:spPr>
          <a:xfrm>
            <a:off x="612000" y="55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Rosé d’Anjou</a:t>
            </a:r>
            <a:pPr indent="0" marL="0">
              <a:buNone/>
            </a:pPr>
            <a:r>
              <a:rPr lang="en-US" sz="690" b="1" dirty="0">
                <a:solidFill>
                  <a:srgbClr val="67067C"/>
                </a:solidFill>
                <a:latin typeface="IBM Plex Sans" pitchFamily="34" charset="0"/>
                <a:ea typeface="IBM Plex Sans" pitchFamily="34" charset="-122"/>
                <a:cs typeface="IBM Plex Sans" pitchFamily="34" charset="-120"/>
              </a:rPr>
              <a:t>  4</a:t>
            </a:r>
            <a:pPr indent="0" marL="0">
              <a:buNone/>
            </a:pP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43" name="Text 41"/>
          <p:cNvSpPr/>
          <p:nvPr/>
        </p:nvSpPr>
        <p:spPr>
          <a:xfrm>
            <a:off x="612000" y="570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Rosé DADA</a:t>
            </a:r>
            <a:pPr indent="0" marL="0">
              <a:buNone/>
            </a:pPr>
            <a:r>
              <a:rPr lang="en-US" sz="690" b="1" dirty="0">
                <a:solidFill>
                  <a:srgbClr val="67067C"/>
                </a:solidFill>
                <a:latin typeface="IBM Plex Sans" pitchFamily="34" charset="0"/>
                <a:ea typeface="IBM Plex Sans" pitchFamily="34" charset="-122"/>
                <a:cs typeface="IBM Plex Sans" pitchFamily="34" charset="-120"/>
              </a:rPr>
              <a:t>  26</a:t>
            </a:r>
            <a:pPr indent="0" marL="0">
              <a:buNone/>
            </a:pPr>
            <a:r>
              <a:rPr lang="en-US" sz="690" dirty="0">
                <a:solidFill>
                  <a:srgbClr val="46606E"/>
                </a:solidFill>
                <a:latin typeface="IBM Plex Sans" pitchFamily="34" charset="0"/>
                <a:ea typeface="IBM Plex Sans" pitchFamily="34" charset="-122"/>
                <a:cs typeface="IBM Plex Sans" pitchFamily="34" charset="-120"/>
              </a:rPr>
              <a:t>  47</a:t>
            </a:r>
            <a:endParaRPr lang="en-US" sz="690" dirty="0"/>
          </a:p>
        </p:txBody>
      </p:sp>
      <p:sp>
        <p:nvSpPr>
          <p:cNvPr id="44" name="Text 42"/>
          <p:cNvSpPr/>
          <p:nvPr/>
        </p:nvSpPr>
        <p:spPr>
          <a:xfrm>
            <a:off x="612000" y="583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Rosé de Loire</a:t>
            </a:r>
            <a:pPr indent="0" marL="0">
              <a:buNone/>
            </a:pPr>
            <a:r>
              <a:rPr lang="en-US" sz="690" b="1" dirty="0">
                <a:solidFill>
                  <a:srgbClr val="67067C"/>
                </a:solidFill>
                <a:latin typeface="IBM Plex Sans" pitchFamily="34" charset="0"/>
                <a:ea typeface="IBM Plex Sans" pitchFamily="34" charset="-122"/>
                <a:cs typeface="IBM Plex Sans" pitchFamily="34" charset="-120"/>
              </a:rPr>
              <a:t>  4</a:t>
            </a:r>
            <a:pPr indent="0" marL="0">
              <a:buNone/>
            </a:pP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45" name="Text 43"/>
          <p:cNvSpPr/>
          <p:nvPr/>
        </p:nvSpPr>
        <p:spPr>
          <a:xfrm>
            <a:off x="612000" y="595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ROSE SÉRAME</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46" name="Text 44"/>
          <p:cNvSpPr/>
          <p:nvPr/>
        </p:nvSpPr>
        <p:spPr>
          <a:xfrm>
            <a:off x="612000" y="608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SAINT PROBACE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31</a:t>
            </a:r>
            <a:pPr indent="0" marL="0">
              <a:buNone/>
            </a:pP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47" name="Text 45"/>
          <p:cNvSpPr/>
          <p:nvPr/>
        </p:nvSpPr>
        <p:spPr>
          <a:xfrm>
            <a:off x="2652000" y="5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Tavel</a:t>
            </a:r>
            <a:pPr indent="0" marL="0">
              <a:buNone/>
            </a:pPr>
            <a:r>
              <a:rPr lang="en-US" sz="690" b="1" dirty="0">
                <a:solidFill>
                  <a:srgbClr val="67067C"/>
                </a:solidFill>
                <a:latin typeface="IBM Plex Sans" pitchFamily="34" charset="0"/>
                <a:ea typeface="IBM Plex Sans" pitchFamily="34" charset="-122"/>
                <a:cs typeface="IBM Plex Sans" pitchFamily="34" charset="-120"/>
              </a:rPr>
              <a:t>  18</a:t>
            </a:r>
            <a:pPr indent="0" marL="0">
              <a:buNone/>
            </a:pPr>
            <a:r>
              <a:rPr lang="en-US" sz="690" dirty="0">
                <a:solidFill>
                  <a:srgbClr val="46606E"/>
                </a:solidFill>
                <a:latin typeface="IBM Plex Sans" pitchFamily="34" charset="0"/>
                <a:ea typeface="IBM Plex Sans" pitchFamily="34" charset="-122"/>
                <a:cs typeface="IBM Plex Sans" pitchFamily="34" charset="-120"/>
              </a:rPr>
              <a:t>  33</a:t>
            </a:r>
            <a:endParaRPr lang="en-US" sz="690" dirty="0"/>
          </a:p>
        </p:txBody>
      </p:sp>
      <p:sp>
        <p:nvSpPr>
          <p:cNvPr id="48" name="Text 46"/>
          <p:cNvSpPr/>
          <p:nvPr/>
        </p:nvSpPr>
        <p:spPr>
          <a:xfrm>
            <a:off x="2652000" y="6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Terroir d'Ansouis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19</a:t>
            </a:r>
            <a:pPr indent="0" marL="0">
              <a:buNone/>
            </a:pPr>
            <a:r>
              <a:rPr lang="en-US" sz="690" dirty="0">
                <a:solidFill>
                  <a:srgbClr val="46606E"/>
                </a:solidFill>
                <a:latin typeface="IBM Plex Sans" pitchFamily="34" charset="0"/>
                <a:ea typeface="IBM Plex Sans" pitchFamily="34" charset="-122"/>
                <a:cs typeface="IBM Plex Sans" pitchFamily="34" charset="-120"/>
              </a:rPr>
              <a:t>  34</a:t>
            </a:r>
            <a:endParaRPr lang="en-US" sz="690" dirty="0"/>
          </a:p>
        </p:txBody>
      </p:sp>
      <p:sp>
        <p:nvSpPr>
          <p:cNvPr id="49" name="Text 47"/>
          <p:cNvSpPr/>
          <p:nvPr/>
        </p:nvSpPr>
        <p:spPr>
          <a:xfrm>
            <a:off x="2652000" y="7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VDF</a:t>
            </a:r>
            <a:pPr indent="0" marL="0">
              <a:buNone/>
            </a:pPr>
            <a:r>
              <a:rPr lang="en-US" sz="690" b="1" dirty="0">
                <a:solidFill>
                  <a:srgbClr val="67067C"/>
                </a:solidFill>
                <a:latin typeface="IBM Plex Sans" pitchFamily="34" charset="0"/>
                <a:ea typeface="IBM Plex Sans" pitchFamily="34" charset="-122"/>
                <a:cs typeface="IBM Plex Sans" pitchFamily="34" charset="-120"/>
              </a:rPr>
              <a:t>  22</a:t>
            </a:r>
            <a:pPr indent="0" marL="0">
              <a:buNone/>
            </a:pPr>
            <a:r>
              <a:rPr lang="en-US" sz="690" dirty="0">
                <a:solidFill>
                  <a:srgbClr val="46606E"/>
                </a:solidFill>
                <a:latin typeface="IBM Plex Sans" pitchFamily="34" charset="0"/>
                <a:ea typeface="IBM Plex Sans" pitchFamily="34" charset="-122"/>
                <a:cs typeface="IBM Plex Sans" pitchFamily="34" charset="-120"/>
              </a:rPr>
              <a:t>  38</a:t>
            </a:r>
            <a:endParaRPr lang="en-US" sz="690" dirty="0"/>
          </a:p>
        </p:txBody>
      </p:sp>
      <p:sp>
        <p:nvSpPr>
          <p:cNvPr id="50" name="Text 48"/>
          <p:cNvSpPr/>
          <p:nvPr/>
        </p:nvSpPr>
        <p:spPr>
          <a:xfrm>
            <a:off x="2652000" y="9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 de France Pinot Noir  2023</a:t>
            </a:r>
            <a:pPr indent="0" marL="0">
              <a:buNone/>
            </a:pPr>
            <a:r>
              <a:rPr lang="en-US" sz="690" b="1" dirty="0">
                <a:solidFill>
                  <a:srgbClr val="67067C"/>
                </a:solidFill>
                <a:latin typeface="IBM Plex Sans" pitchFamily="34" charset="0"/>
                <a:ea typeface="IBM Plex Sans" pitchFamily="34" charset="-122"/>
                <a:cs typeface="IBM Plex Sans" pitchFamily="34" charset="-120"/>
              </a:rPr>
              <a:t>  6</a:t>
            </a:r>
            <a:pPr indent="0" marL="0">
              <a:buNone/>
            </a:pP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51" name="Text 49"/>
          <p:cNvSpPr/>
          <p:nvPr/>
        </p:nvSpPr>
        <p:spPr>
          <a:xfrm>
            <a:off x="2652000" y="1044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ROUGE</a:t>
            </a:r>
            <a:endParaRPr lang="en-US" sz="800" dirty="0"/>
          </a:p>
        </p:txBody>
      </p:sp>
      <p:sp>
        <p:nvSpPr>
          <p:cNvPr id="52" name="Text 50"/>
          <p:cNvSpPr/>
          <p:nvPr/>
        </p:nvSpPr>
        <p:spPr>
          <a:xfrm>
            <a:off x="2652000" y="11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4 Saisons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36</a:t>
            </a:r>
            <a:pPr indent="0" marL="0">
              <a:buNone/>
            </a:pPr>
            <a:r>
              <a:rPr lang="en-US" sz="690" dirty="0">
                <a:solidFill>
                  <a:srgbClr val="46606E"/>
                </a:solidFill>
                <a:latin typeface="IBM Plex Sans" pitchFamily="34" charset="0"/>
                <a:ea typeface="IBM Plex Sans" pitchFamily="34" charset="-122"/>
                <a:cs typeface="IBM Plex Sans" pitchFamily="34" charset="-120"/>
              </a:rPr>
              <a:t>  61</a:t>
            </a:r>
            <a:endParaRPr lang="en-US" sz="690" dirty="0"/>
          </a:p>
        </p:txBody>
      </p:sp>
      <p:sp>
        <p:nvSpPr>
          <p:cNvPr id="53" name="Text 51"/>
          <p:cNvSpPr/>
          <p:nvPr/>
        </p:nvSpPr>
        <p:spPr>
          <a:xfrm>
            <a:off x="2652000" y="12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4 Saisons  Magnum 1,5 L</a:t>
            </a:r>
            <a:pPr indent="0" marL="0">
              <a:buNone/>
            </a:pPr>
            <a:r>
              <a:rPr lang="en-US" sz="690" b="1" dirty="0">
                <a:solidFill>
                  <a:srgbClr val="67067C"/>
                </a:solidFill>
                <a:latin typeface="IBM Plex Sans" pitchFamily="34" charset="0"/>
                <a:ea typeface="IBM Plex Sans" pitchFamily="34" charset="-122"/>
                <a:cs typeface="IBM Plex Sans" pitchFamily="34" charset="-120"/>
              </a:rPr>
              <a:t>  36</a:t>
            </a:r>
            <a:pPr indent="0" marL="0">
              <a:buNone/>
            </a:pPr>
            <a:r>
              <a:rPr lang="en-US" sz="690" dirty="0">
                <a:solidFill>
                  <a:srgbClr val="46606E"/>
                </a:solidFill>
                <a:latin typeface="IBM Plex Sans" pitchFamily="34" charset="0"/>
                <a:ea typeface="IBM Plex Sans" pitchFamily="34" charset="-122"/>
                <a:cs typeface="IBM Plex Sans" pitchFamily="34" charset="-120"/>
              </a:rPr>
              <a:t>  61</a:t>
            </a:r>
            <a:endParaRPr lang="en-US" sz="690" dirty="0"/>
          </a:p>
        </p:txBody>
      </p:sp>
      <p:sp>
        <p:nvSpPr>
          <p:cNvPr id="54" name="Text 52"/>
          <p:cNvSpPr/>
          <p:nvPr/>
        </p:nvSpPr>
        <p:spPr>
          <a:xfrm>
            <a:off x="2652000" y="14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Adn 24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24</a:t>
            </a:r>
            <a:pPr indent="0" marL="0">
              <a:buNone/>
            </a:pPr>
            <a:r>
              <a:rPr lang="en-US" sz="690" dirty="0">
                <a:solidFill>
                  <a:srgbClr val="46606E"/>
                </a:solidFill>
                <a:latin typeface="IBM Plex Sans" pitchFamily="34" charset="0"/>
                <a:ea typeface="IBM Plex Sans" pitchFamily="34" charset="-122"/>
                <a:cs typeface="IBM Plex Sans" pitchFamily="34" charset="-120"/>
              </a:rPr>
              <a:t>  41</a:t>
            </a:r>
            <a:endParaRPr lang="en-US" sz="690" dirty="0"/>
          </a:p>
        </p:txBody>
      </p:sp>
      <p:sp>
        <p:nvSpPr>
          <p:cNvPr id="55" name="Text 53"/>
          <p:cNvSpPr/>
          <p:nvPr/>
        </p:nvSpPr>
        <p:spPr>
          <a:xfrm>
            <a:off x="2652000" y="15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Amphora de Château l'Escarderie</a:t>
            </a:r>
            <a:pPr indent="0" marL="0">
              <a:buNone/>
            </a:pPr>
            <a:r>
              <a:rPr lang="en-US" sz="690" b="1" dirty="0">
                <a:solidFill>
                  <a:srgbClr val="67067C"/>
                </a:solidFill>
                <a:latin typeface="IBM Plex Sans" pitchFamily="34" charset="0"/>
                <a:ea typeface="IBM Plex Sans" pitchFamily="34" charset="-122"/>
                <a:cs typeface="IBM Plex Sans" pitchFamily="34" charset="-120"/>
              </a:rPr>
              <a:t>  30</a:t>
            </a:r>
            <a:pPr indent="0" marL="0">
              <a:buNone/>
            </a:pPr>
            <a:r>
              <a:rPr lang="en-US" sz="690" dirty="0">
                <a:solidFill>
                  <a:srgbClr val="46606E"/>
                </a:solidFill>
                <a:latin typeface="IBM Plex Sans" pitchFamily="34" charset="0"/>
                <a:ea typeface="IBM Plex Sans" pitchFamily="34" charset="-122"/>
                <a:cs typeface="IBM Plex Sans" pitchFamily="34" charset="-120"/>
              </a:rPr>
              <a:t>  52</a:t>
            </a:r>
            <a:endParaRPr lang="en-US" sz="690" dirty="0"/>
          </a:p>
        </p:txBody>
      </p:sp>
      <p:sp>
        <p:nvSpPr>
          <p:cNvPr id="56" name="Text 54"/>
          <p:cNvSpPr/>
          <p:nvPr/>
        </p:nvSpPr>
        <p:spPr>
          <a:xfrm>
            <a:off x="2652000" y="16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Aloxe-Corton</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57" name="Text 55"/>
          <p:cNvSpPr/>
          <p:nvPr/>
        </p:nvSpPr>
        <p:spPr>
          <a:xfrm>
            <a:off x="2652000" y="18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Auxey-Duresses</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58" name="Text 56"/>
          <p:cNvSpPr/>
          <p:nvPr/>
        </p:nvSpPr>
        <p:spPr>
          <a:xfrm>
            <a:off x="2652000" y="19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Beaujolais-Lancié</a:t>
            </a:r>
            <a:pPr indent="0" marL="0">
              <a:buNone/>
            </a:pPr>
            <a:r>
              <a:rPr lang="en-US" sz="690" b="1" dirty="0">
                <a:solidFill>
                  <a:srgbClr val="67067C"/>
                </a:solidFill>
                <a:latin typeface="IBM Plex Sans" pitchFamily="34" charset="0"/>
                <a:ea typeface="IBM Plex Sans" pitchFamily="34" charset="-122"/>
                <a:cs typeface="IBM Plex Sans" pitchFamily="34" charset="-120"/>
              </a:rPr>
              <a:t>  9</a:t>
            </a:r>
            <a:pPr indent="0" marL="0">
              <a:buNone/>
            </a:pP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59" name="Text 57"/>
          <p:cNvSpPr/>
          <p:nvPr/>
        </p:nvSpPr>
        <p:spPr>
          <a:xfrm>
            <a:off x="2652000" y="20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Bergerac</a:t>
            </a:r>
            <a:pPr indent="0" marL="0">
              <a:buNone/>
            </a:pPr>
            <a:r>
              <a:rPr lang="en-US" sz="690" b="1" dirty="0">
                <a:solidFill>
                  <a:srgbClr val="67067C"/>
                </a:solidFill>
                <a:latin typeface="IBM Plex Sans" pitchFamily="34" charset="0"/>
                <a:ea typeface="IBM Plex Sans" pitchFamily="34" charset="-122"/>
                <a:cs typeface="IBM Plex Sans" pitchFamily="34" charset="-120"/>
              </a:rPr>
              <a:t>  24</a:t>
            </a:r>
            <a:pPr indent="0" marL="0">
              <a:buNone/>
            </a:pPr>
            <a:r>
              <a:rPr lang="en-US" sz="690" dirty="0">
                <a:solidFill>
                  <a:srgbClr val="46606E"/>
                </a:solidFill>
                <a:latin typeface="IBM Plex Sans" pitchFamily="34" charset="0"/>
                <a:ea typeface="IBM Plex Sans" pitchFamily="34" charset="-122"/>
                <a:cs typeface="IBM Plex Sans" pitchFamily="34" charset="-120"/>
              </a:rPr>
              <a:t>  41</a:t>
            </a:r>
            <a:endParaRPr lang="en-US" sz="690" dirty="0"/>
          </a:p>
        </p:txBody>
      </p:sp>
      <p:sp>
        <p:nvSpPr>
          <p:cNvPr id="60" name="Text 58"/>
          <p:cNvSpPr/>
          <p:nvPr/>
        </p:nvSpPr>
        <p:spPr>
          <a:xfrm>
            <a:off x="2652000" y="21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Bourgogne Hautes-Côtes de Beaune</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61" name="Text 59"/>
          <p:cNvSpPr/>
          <p:nvPr/>
        </p:nvSpPr>
        <p:spPr>
          <a:xfrm>
            <a:off x="2652000" y="23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Cahors</a:t>
            </a:r>
            <a:pPr indent="0" marL="0">
              <a:buNone/>
            </a:pPr>
            <a:r>
              <a:rPr lang="en-US" sz="690" b="1" dirty="0">
                <a:solidFill>
                  <a:srgbClr val="67067C"/>
                </a:solidFill>
                <a:latin typeface="IBM Plex Sans" pitchFamily="34" charset="0"/>
                <a:ea typeface="IBM Plex Sans" pitchFamily="34" charset="-122"/>
                <a:cs typeface="IBM Plex Sans" pitchFamily="34" charset="-120"/>
              </a:rPr>
              <a:t>  24</a:t>
            </a:r>
            <a:pPr indent="0" marL="0">
              <a:buNone/>
            </a:pPr>
            <a:r>
              <a:rPr lang="en-US" sz="690" dirty="0">
                <a:solidFill>
                  <a:srgbClr val="46606E"/>
                </a:solidFill>
                <a:latin typeface="IBM Plex Sans" pitchFamily="34" charset="0"/>
                <a:ea typeface="IBM Plex Sans" pitchFamily="34" charset="-122"/>
                <a:cs typeface="IBM Plex Sans" pitchFamily="34" charset="-120"/>
              </a:rPr>
              <a:t>  41</a:t>
            </a:r>
            <a:endParaRPr lang="en-US" sz="690" dirty="0"/>
          </a:p>
        </p:txBody>
      </p:sp>
      <p:sp>
        <p:nvSpPr>
          <p:cNvPr id="62" name="Text 60"/>
          <p:cNvSpPr/>
          <p:nvPr/>
        </p:nvSpPr>
        <p:spPr>
          <a:xfrm>
            <a:off x="2652000" y="24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CDR villages Plan de Dieu</a:t>
            </a:r>
            <a:pPr indent="0" marL="0">
              <a:buNone/>
            </a:pPr>
            <a:r>
              <a:rPr lang="en-US" sz="690" b="1" dirty="0">
                <a:solidFill>
                  <a:srgbClr val="67067C"/>
                </a:solidFill>
                <a:latin typeface="IBM Plex Sans" pitchFamily="34" charset="0"/>
                <a:ea typeface="IBM Plex Sans" pitchFamily="34" charset="-122"/>
                <a:cs typeface="IBM Plex Sans" pitchFamily="34" charset="-120"/>
              </a:rPr>
              <a:t>  20</a:t>
            </a:r>
            <a:pPr indent="0" marL="0">
              <a:buNone/>
            </a:pPr>
            <a:r>
              <a:rPr lang="en-US" sz="690" dirty="0">
                <a:solidFill>
                  <a:srgbClr val="46606E"/>
                </a:solidFill>
                <a:latin typeface="IBM Plex Sans" pitchFamily="34" charset="0"/>
                <a:ea typeface="IBM Plex Sans" pitchFamily="34" charset="-122"/>
                <a:cs typeface="IBM Plex Sans" pitchFamily="34" charset="-120"/>
              </a:rPr>
              <a:t>  35</a:t>
            </a:r>
            <a:endParaRPr lang="en-US" sz="690" dirty="0"/>
          </a:p>
        </p:txBody>
      </p:sp>
      <p:sp>
        <p:nvSpPr>
          <p:cNvPr id="63" name="Text 61"/>
          <p:cNvSpPr/>
          <p:nvPr/>
        </p:nvSpPr>
        <p:spPr>
          <a:xfrm>
            <a:off x="2652000" y="25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CDR villages Sablet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20</a:t>
            </a:r>
            <a:pPr indent="0" marL="0">
              <a:buNone/>
            </a:pPr>
            <a:r>
              <a:rPr lang="en-US" sz="690" dirty="0">
                <a:solidFill>
                  <a:srgbClr val="46606E"/>
                </a:solidFill>
                <a:latin typeface="IBM Plex Sans" pitchFamily="34" charset="0"/>
                <a:ea typeface="IBM Plex Sans" pitchFamily="34" charset="-122"/>
                <a:cs typeface="IBM Plex Sans" pitchFamily="34" charset="-120"/>
              </a:rPr>
              <a:t>  35</a:t>
            </a:r>
            <a:endParaRPr lang="en-US" sz="690" dirty="0"/>
          </a:p>
        </p:txBody>
      </p:sp>
      <p:sp>
        <p:nvSpPr>
          <p:cNvPr id="64" name="Text 62"/>
          <p:cNvSpPr/>
          <p:nvPr/>
        </p:nvSpPr>
        <p:spPr>
          <a:xfrm>
            <a:off x="2652000" y="26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Chassagne-Montrachet</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65" name="Text 63"/>
          <p:cNvSpPr/>
          <p:nvPr/>
        </p:nvSpPr>
        <p:spPr>
          <a:xfrm>
            <a:off x="2652000" y="28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Clos Vougeot Grand Cru</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66" name="Text 64"/>
          <p:cNvSpPr/>
          <p:nvPr/>
        </p:nvSpPr>
        <p:spPr>
          <a:xfrm>
            <a:off x="2652000" y="293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Coteaux Bourguignons</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67" name="Text 65"/>
          <p:cNvSpPr/>
          <p:nvPr/>
        </p:nvSpPr>
        <p:spPr>
          <a:xfrm>
            <a:off x="2652000" y="306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Côtes du Rhône</a:t>
            </a:r>
            <a:pPr indent="0" marL="0">
              <a:buNone/>
            </a:pPr>
            <a:r>
              <a:rPr lang="en-US" sz="690" b="1" dirty="0">
                <a:solidFill>
                  <a:srgbClr val="67067C"/>
                </a:solidFill>
                <a:latin typeface="IBM Plex Sans" pitchFamily="34" charset="0"/>
                <a:ea typeface="IBM Plex Sans" pitchFamily="34" charset="-122"/>
                <a:cs typeface="IBM Plex Sans" pitchFamily="34" charset="-120"/>
              </a:rPr>
              <a:t>  20</a:t>
            </a:r>
            <a:pPr indent="0" marL="0">
              <a:buNone/>
            </a:pPr>
            <a:r>
              <a:rPr lang="en-US" sz="690" dirty="0">
                <a:solidFill>
                  <a:srgbClr val="46606E"/>
                </a:solidFill>
                <a:latin typeface="IBM Plex Sans" pitchFamily="34" charset="0"/>
                <a:ea typeface="IBM Plex Sans" pitchFamily="34" charset="-122"/>
                <a:cs typeface="IBM Plex Sans" pitchFamily="34" charset="-120"/>
              </a:rPr>
              <a:t>  35</a:t>
            </a:r>
            <a:endParaRPr lang="en-US" sz="690" dirty="0"/>
          </a:p>
        </p:txBody>
      </p:sp>
      <p:sp>
        <p:nvSpPr>
          <p:cNvPr id="68" name="Text 66"/>
          <p:cNvSpPr/>
          <p:nvPr/>
        </p:nvSpPr>
        <p:spPr>
          <a:xfrm>
            <a:off x="2652000" y="318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Fixin</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69" name="Text 67"/>
          <p:cNvSpPr/>
          <p:nvPr/>
        </p:nvSpPr>
        <p:spPr>
          <a:xfrm>
            <a:off x="2652000" y="331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Fleurie</a:t>
            </a:r>
            <a:pPr indent="0" marL="0">
              <a:buNone/>
            </a:pPr>
            <a:r>
              <a:rPr lang="en-US" sz="690" b="1" dirty="0">
                <a:solidFill>
                  <a:srgbClr val="67067C"/>
                </a:solidFill>
                <a:latin typeface="IBM Plex Sans" pitchFamily="34" charset="0"/>
                <a:ea typeface="IBM Plex Sans" pitchFamily="34" charset="-122"/>
                <a:cs typeface="IBM Plex Sans" pitchFamily="34" charset="-120"/>
              </a:rPr>
              <a:t>  9</a:t>
            </a:r>
            <a:pPr indent="0" marL="0">
              <a:buNone/>
            </a:pP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70" name="Text 68"/>
          <p:cNvSpPr/>
          <p:nvPr/>
        </p:nvSpPr>
        <p:spPr>
          <a:xfrm>
            <a:off x="2652000" y="343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Fronton</a:t>
            </a:r>
            <a:pPr indent="0" marL="0">
              <a:buNone/>
            </a:pPr>
            <a:r>
              <a:rPr lang="en-US" sz="690" b="1" dirty="0">
                <a:solidFill>
                  <a:srgbClr val="67067C"/>
                </a:solidFill>
                <a:latin typeface="IBM Plex Sans" pitchFamily="34" charset="0"/>
                <a:ea typeface="IBM Plex Sans" pitchFamily="34" charset="-122"/>
                <a:cs typeface="IBM Plex Sans" pitchFamily="34" charset="-120"/>
              </a:rPr>
              <a:t>  24</a:t>
            </a:r>
            <a:pPr indent="0" marL="0">
              <a:buNone/>
            </a:pPr>
            <a:r>
              <a:rPr lang="en-US" sz="690" dirty="0">
                <a:solidFill>
                  <a:srgbClr val="46606E"/>
                </a:solidFill>
                <a:latin typeface="IBM Plex Sans" pitchFamily="34" charset="0"/>
                <a:ea typeface="IBM Plex Sans" pitchFamily="34" charset="-122"/>
                <a:cs typeface="IBM Plex Sans" pitchFamily="34" charset="-120"/>
              </a:rPr>
              <a:t>  41</a:t>
            </a:r>
            <a:endParaRPr lang="en-US" sz="690" dirty="0"/>
          </a:p>
        </p:txBody>
      </p:sp>
      <p:sp>
        <p:nvSpPr>
          <p:cNvPr id="71" name="Text 69"/>
          <p:cNvSpPr/>
          <p:nvPr/>
        </p:nvSpPr>
        <p:spPr>
          <a:xfrm>
            <a:off x="2652000" y="356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Gevrey-Chambertin</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72" name="Text 70"/>
          <p:cNvSpPr/>
          <p:nvPr/>
        </p:nvSpPr>
        <p:spPr>
          <a:xfrm>
            <a:off x="2652000" y="369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Gigondas</a:t>
            </a:r>
            <a:pPr indent="0" marL="0">
              <a:buNone/>
            </a:pPr>
            <a:r>
              <a:rPr lang="en-US" sz="690" b="1" dirty="0">
                <a:solidFill>
                  <a:srgbClr val="67067C"/>
                </a:solidFill>
                <a:latin typeface="IBM Plex Sans" pitchFamily="34" charset="0"/>
                <a:ea typeface="IBM Plex Sans" pitchFamily="34" charset="-122"/>
                <a:cs typeface="IBM Plex Sans" pitchFamily="34" charset="-120"/>
              </a:rPr>
              <a:t>  20</a:t>
            </a:r>
            <a:pPr indent="0" marL="0">
              <a:buNone/>
            </a:pPr>
            <a:r>
              <a:rPr lang="en-US" sz="690" dirty="0">
                <a:solidFill>
                  <a:srgbClr val="46606E"/>
                </a:solidFill>
                <a:latin typeface="IBM Plex Sans" pitchFamily="34" charset="0"/>
                <a:ea typeface="IBM Plex Sans" pitchFamily="34" charset="-122"/>
                <a:cs typeface="IBM Plex Sans" pitchFamily="34" charset="-120"/>
              </a:rPr>
              <a:t>  35</a:t>
            </a:r>
            <a:endParaRPr lang="en-US" sz="690" dirty="0"/>
          </a:p>
        </p:txBody>
      </p:sp>
      <p:sp>
        <p:nvSpPr>
          <p:cNvPr id="73" name="Text 71"/>
          <p:cNvSpPr/>
          <p:nvPr/>
        </p:nvSpPr>
        <p:spPr>
          <a:xfrm>
            <a:off x="2652000" y="381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Givry 1er Cru</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74" name="Text 72"/>
          <p:cNvSpPr/>
          <p:nvPr/>
        </p:nvSpPr>
        <p:spPr>
          <a:xfrm>
            <a:off x="2652000" y="394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Madiran</a:t>
            </a:r>
            <a:pPr indent="0" marL="0">
              <a:buNone/>
            </a:pPr>
            <a:r>
              <a:rPr lang="en-US" sz="690" b="1" dirty="0">
                <a:solidFill>
                  <a:srgbClr val="67067C"/>
                </a:solidFill>
                <a:latin typeface="IBM Plex Sans" pitchFamily="34" charset="0"/>
                <a:ea typeface="IBM Plex Sans" pitchFamily="34" charset="-122"/>
                <a:cs typeface="IBM Plex Sans" pitchFamily="34" charset="-120"/>
              </a:rPr>
              <a:t>  22</a:t>
            </a:r>
            <a:pPr indent="0" marL="0">
              <a:buNone/>
            </a:pPr>
            <a:r>
              <a:rPr lang="en-US" sz="690" dirty="0">
                <a:solidFill>
                  <a:srgbClr val="46606E"/>
                </a:solidFill>
                <a:latin typeface="IBM Plex Sans" pitchFamily="34" charset="0"/>
                <a:ea typeface="IBM Plex Sans" pitchFamily="34" charset="-122"/>
                <a:cs typeface="IBM Plex Sans" pitchFamily="34" charset="-120"/>
              </a:rPr>
              <a:t>  38</a:t>
            </a:r>
            <a:endParaRPr lang="en-US" sz="690" dirty="0"/>
          </a:p>
        </p:txBody>
      </p:sp>
      <p:sp>
        <p:nvSpPr>
          <p:cNvPr id="75" name="Text 73"/>
          <p:cNvSpPr/>
          <p:nvPr/>
        </p:nvSpPr>
        <p:spPr>
          <a:xfrm>
            <a:off x="2652000" y="406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Madiran</a:t>
            </a:r>
            <a:pPr indent="0" marL="0">
              <a:buNone/>
            </a:pPr>
            <a:r>
              <a:rPr lang="en-US" sz="690" b="1" dirty="0">
                <a:solidFill>
                  <a:srgbClr val="67067C"/>
                </a:solidFill>
                <a:latin typeface="IBM Plex Sans" pitchFamily="34" charset="0"/>
                <a:ea typeface="IBM Plex Sans" pitchFamily="34" charset="-122"/>
                <a:cs typeface="IBM Plex Sans" pitchFamily="34" charset="-120"/>
              </a:rPr>
              <a:t>  22</a:t>
            </a:r>
            <a:pPr indent="0" marL="0">
              <a:buNone/>
            </a:pPr>
            <a:r>
              <a:rPr lang="en-US" sz="690" dirty="0">
                <a:solidFill>
                  <a:srgbClr val="46606E"/>
                </a:solidFill>
                <a:latin typeface="IBM Plex Sans" pitchFamily="34" charset="0"/>
                <a:ea typeface="IBM Plex Sans" pitchFamily="34" charset="-122"/>
                <a:cs typeface="IBM Plex Sans" pitchFamily="34" charset="-120"/>
              </a:rPr>
              <a:t>  38</a:t>
            </a:r>
            <a:endParaRPr lang="en-US" sz="690" dirty="0"/>
          </a:p>
        </p:txBody>
      </p:sp>
      <p:sp>
        <p:nvSpPr>
          <p:cNvPr id="76" name="Text 74"/>
          <p:cNvSpPr/>
          <p:nvPr/>
        </p:nvSpPr>
        <p:spPr>
          <a:xfrm>
            <a:off x="2652000" y="419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Médoc Cru Bourgeois</a:t>
            </a:r>
            <a:pPr indent="0" marL="0">
              <a:buNone/>
            </a:pPr>
            <a:r>
              <a:rPr lang="en-US" sz="690" b="1" dirty="0">
                <a:solidFill>
                  <a:srgbClr val="67067C"/>
                </a:solidFill>
                <a:latin typeface="IBM Plex Sans" pitchFamily="34" charset="0"/>
                <a:ea typeface="IBM Plex Sans" pitchFamily="34" charset="-122"/>
                <a:cs typeface="IBM Plex Sans" pitchFamily="34" charset="-120"/>
              </a:rPr>
              <a:t>  26</a:t>
            </a:r>
            <a:pPr indent="0" marL="0">
              <a:buNone/>
            </a:pPr>
            <a:r>
              <a:rPr lang="en-US" sz="690" dirty="0">
                <a:solidFill>
                  <a:srgbClr val="46606E"/>
                </a:solidFill>
                <a:latin typeface="IBM Plex Sans" pitchFamily="34" charset="0"/>
                <a:ea typeface="IBM Plex Sans" pitchFamily="34" charset="-122"/>
                <a:cs typeface="IBM Plex Sans" pitchFamily="34" charset="-120"/>
              </a:rPr>
              <a:t>  47</a:t>
            </a:r>
            <a:endParaRPr lang="en-US" sz="690" dirty="0"/>
          </a:p>
        </p:txBody>
      </p:sp>
      <p:sp>
        <p:nvSpPr>
          <p:cNvPr id="77" name="Text 75"/>
          <p:cNvSpPr/>
          <p:nvPr/>
        </p:nvSpPr>
        <p:spPr>
          <a:xfrm>
            <a:off x="2652000" y="432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Médoc Cru Bourgeois</a:t>
            </a:r>
            <a:pPr indent="0" marL="0">
              <a:buNone/>
            </a:pPr>
            <a:r>
              <a:rPr lang="en-US" sz="690" b="1" dirty="0">
                <a:solidFill>
                  <a:srgbClr val="67067C"/>
                </a:solidFill>
                <a:latin typeface="IBM Plex Sans" pitchFamily="34" charset="0"/>
                <a:ea typeface="IBM Plex Sans" pitchFamily="34" charset="-122"/>
                <a:cs typeface="IBM Plex Sans" pitchFamily="34" charset="-120"/>
              </a:rPr>
              <a:t>  26</a:t>
            </a:r>
            <a:pPr indent="0" marL="0">
              <a:buNone/>
            </a:pPr>
            <a:r>
              <a:rPr lang="en-US" sz="690" dirty="0">
                <a:solidFill>
                  <a:srgbClr val="46606E"/>
                </a:solidFill>
                <a:latin typeface="IBM Plex Sans" pitchFamily="34" charset="0"/>
                <a:ea typeface="IBM Plex Sans" pitchFamily="34" charset="-122"/>
                <a:cs typeface="IBM Plex Sans" pitchFamily="34" charset="-120"/>
              </a:rPr>
              <a:t>  47</a:t>
            </a:r>
            <a:endParaRPr lang="en-US" sz="690" dirty="0"/>
          </a:p>
        </p:txBody>
      </p:sp>
      <p:sp>
        <p:nvSpPr>
          <p:cNvPr id="78" name="Text 76"/>
          <p:cNvSpPr/>
          <p:nvPr/>
        </p:nvSpPr>
        <p:spPr>
          <a:xfrm>
            <a:off x="2652000" y="44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Médoc Cru Bourgeois (AB)</a:t>
            </a:r>
            <a:pPr indent="0" marL="0">
              <a:buNone/>
            </a:pPr>
            <a:r>
              <a:rPr lang="en-US" sz="690" b="1" dirty="0">
                <a:solidFill>
                  <a:srgbClr val="67067C"/>
                </a:solidFill>
                <a:latin typeface="IBM Plex Sans" pitchFamily="34" charset="0"/>
                <a:ea typeface="IBM Plex Sans" pitchFamily="34" charset="-122"/>
                <a:cs typeface="IBM Plex Sans" pitchFamily="34" charset="-120"/>
              </a:rPr>
              <a:t>  26</a:t>
            </a:r>
            <a:pPr indent="0" marL="0">
              <a:buNone/>
            </a:pPr>
            <a:r>
              <a:rPr lang="en-US" sz="690" dirty="0">
                <a:solidFill>
                  <a:srgbClr val="46606E"/>
                </a:solidFill>
                <a:latin typeface="IBM Plex Sans" pitchFamily="34" charset="0"/>
                <a:ea typeface="IBM Plex Sans" pitchFamily="34" charset="-122"/>
                <a:cs typeface="IBM Plex Sans" pitchFamily="34" charset="-120"/>
              </a:rPr>
              <a:t>  47</a:t>
            </a:r>
            <a:endParaRPr lang="en-US" sz="690" dirty="0"/>
          </a:p>
        </p:txBody>
      </p:sp>
      <p:sp>
        <p:nvSpPr>
          <p:cNvPr id="79" name="Text 77"/>
          <p:cNvSpPr/>
          <p:nvPr/>
        </p:nvSpPr>
        <p:spPr>
          <a:xfrm>
            <a:off x="2652000" y="45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Médoc Cru Bourgeois (AB)</a:t>
            </a:r>
            <a:pPr indent="0" marL="0">
              <a:buNone/>
            </a:pPr>
            <a:r>
              <a:rPr lang="en-US" sz="690" b="1" dirty="0">
                <a:solidFill>
                  <a:srgbClr val="67067C"/>
                </a:solidFill>
                <a:latin typeface="IBM Plex Sans" pitchFamily="34" charset="0"/>
                <a:ea typeface="IBM Plex Sans" pitchFamily="34" charset="-122"/>
                <a:cs typeface="IBM Plex Sans" pitchFamily="34" charset="-120"/>
              </a:rPr>
              <a:t>  26</a:t>
            </a:r>
            <a:pPr indent="0" marL="0">
              <a:buNone/>
            </a:pPr>
            <a:r>
              <a:rPr lang="en-US" sz="690" dirty="0">
                <a:solidFill>
                  <a:srgbClr val="46606E"/>
                </a:solidFill>
                <a:latin typeface="IBM Plex Sans" pitchFamily="34" charset="0"/>
                <a:ea typeface="IBM Plex Sans" pitchFamily="34" charset="-122"/>
                <a:cs typeface="IBM Plex Sans" pitchFamily="34" charset="-120"/>
              </a:rPr>
              <a:t>  47</a:t>
            </a:r>
            <a:endParaRPr lang="en-US" sz="690" dirty="0"/>
          </a:p>
        </p:txBody>
      </p:sp>
      <p:sp>
        <p:nvSpPr>
          <p:cNvPr id="80" name="Text 78"/>
          <p:cNvSpPr/>
          <p:nvPr/>
        </p:nvSpPr>
        <p:spPr>
          <a:xfrm>
            <a:off x="2652000" y="46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Mercurey</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81" name="Text 79"/>
          <p:cNvSpPr/>
          <p:nvPr/>
        </p:nvSpPr>
        <p:spPr>
          <a:xfrm>
            <a:off x="2652000" y="48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Monthélie</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82" name="Text 80"/>
          <p:cNvSpPr/>
          <p:nvPr/>
        </p:nvSpPr>
        <p:spPr>
          <a:xfrm>
            <a:off x="2652000" y="49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Moulin-à-Vent</a:t>
            </a:r>
            <a:pPr indent="0" marL="0">
              <a:buNone/>
            </a:pPr>
            <a:r>
              <a:rPr lang="en-US" sz="690" b="1" dirty="0">
                <a:solidFill>
                  <a:srgbClr val="67067C"/>
                </a:solidFill>
                <a:latin typeface="IBM Plex Sans" pitchFamily="34" charset="0"/>
                <a:ea typeface="IBM Plex Sans" pitchFamily="34" charset="-122"/>
                <a:cs typeface="IBM Plex Sans" pitchFamily="34" charset="-120"/>
              </a:rPr>
              <a:t>  9</a:t>
            </a:r>
            <a:pPr indent="0" marL="0">
              <a:buNone/>
            </a:pP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83" name="Text 81"/>
          <p:cNvSpPr/>
          <p:nvPr/>
        </p:nvSpPr>
        <p:spPr>
          <a:xfrm>
            <a:off x="2652000" y="50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Moulin-à-Vent</a:t>
            </a:r>
            <a:pPr indent="0" marL="0">
              <a:buNone/>
            </a:pPr>
            <a:r>
              <a:rPr lang="en-US" sz="690" b="1" dirty="0">
                <a:solidFill>
                  <a:srgbClr val="67067C"/>
                </a:solidFill>
                <a:latin typeface="IBM Plex Sans" pitchFamily="34" charset="0"/>
                <a:ea typeface="IBM Plex Sans" pitchFamily="34" charset="-122"/>
                <a:cs typeface="IBM Plex Sans" pitchFamily="34" charset="-120"/>
              </a:rPr>
              <a:t>  9</a:t>
            </a:r>
            <a:pPr indent="0" marL="0">
              <a:buNone/>
            </a:pP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84" name="Text 82"/>
          <p:cNvSpPr/>
          <p:nvPr/>
        </p:nvSpPr>
        <p:spPr>
          <a:xfrm>
            <a:off x="2652000" y="52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Rully</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85" name="Text 83"/>
          <p:cNvSpPr/>
          <p:nvPr/>
        </p:nvSpPr>
        <p:spPr>
          <a:xfrm>
            <a:off x="2652000" y="53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Saint-Romain</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86" name="Text 84"/>
          <p:cNvSpPr/>
          <p:nvPr/>
        </p:nvSpPr>
        <p:spPr>
          <a:xfrm>
            <a:off x="2652000" y="54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Sancerre  2022</a:t>
            </a:r>
            <a:pPr indent="0" marL="0">
              <a:buNone/>
            </a:pPr>
            <a:r>
              <a:rPr lang="en-US" sz="690" b="1" dirty="0">
                <a:solidFill>
                  <a:srgbClr val="67067C"/>
                </a:solidFill>
                <a:latin typeface="IBM Plex Sans" pitchFamily="34" charset="0"/>
                <a:ea typeface="IBM Plex Sans" pitchFamily="34" charset="-122"/>
                <a:cs typeface="IBM Plex Sans" pitchFamily="34" charset="-120"/>
              </a:rPr>
              <a:t>  6</a:t>
            </a:r>
            <a:pPr indent="0" marL="0">
              <a:buNone/>
            </a:pP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87" name="Text 85"/>
          <p:cNvSpPr/>
          <p:nvPr/>
        </p:nvSpPr>
        <p:spPr>
          <a:xfrm>
            <a:off x="2652000" y="55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Balac Sans Sulfites (100 % Merlot)</a:t>
            </a:r>
            <a:pPr indent="0" marL="0">
              <a:buNone/>
            </a:pPr>
            <a:r>
              <a:rPr lang="en-US" sz="690" b="1" dirty="0">
                <a:solidFill>
                  <a:srgbClr val="67067C"/>
                </a:solidFill>
                <a:latin typeface="IBM Plex Sans" pitchFamily="34" charset="0"/>
                <a:ea typeface="IBM Plex Sans" pitchFamily="34" charset="-122"/>
                <a:cs typeface="IBM Plex Sans" pitchFamily="34" charset="-120"/>
              </a:rPr>
              <a:t>  29</a:t>
            </a:r>
            <a:pPr indent="0" marL="0">
              <a:buNone/>
            </a:pPr>
            <a:r>
              <a:rPr lang="en-US" sz="690" dirty="0">
                <a:solidFill>
                  <a:srgbClr val="46606E"/>
                </a:solidFill>
                <a:latin typeface="IBM Plex Sans" pitchFamily="34" charset="0"/>
                <a:ea typeface="IBM Plex Sans" pitchFamily="34" charset="-122"/>
                <a:cs typeface="IBM Plex Sans" pitchFamily="34" charset="-120"/>
              </a:rPr>
              <a:t>  51</a:t>
            </a:r>
            <a:endParaRPr lang="en-US" sz="690" dirty="0"/>
          </a:p>
        </p:txBody>
      </p:sp>
      <p:sp>
        <p:nvSpPr>
          <p:cNvPr id="88" name="Text 86"/>
          <p:cNvSpPr/>
          <p:nvPr/>
        </p:nvSpPr>
        <p:spPr>
          <a:xfrm>
            <a:off x="2652000" y="570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BDM</a:t>
            </a:r>
            <a:pPr indent="0" marL="0">
              <a:buNone/>
            </a:pPr>
            <a:r>
              <a:rPr lang="en-US" sz="690" b="1" dirty="0">
                <a:solidFill>
                  <a:srgbClr val="67067C"/>
                </a:solidFill>
                <a:latin typeface="IBM Plex Sans" pitchFamily="34" charset="0"/>
                <a:ea typeface="IBM Plex Sans" pitchFamily="34" charset="-122"/>
                <a:cs typeface="IBM Plex Sans" pitchFamily="34" charset="-120"/>
              </a:rPr>
              <a:t>  34</a:t>
            </a:r>
            <a:pPr indent="0" marL="0">
              <a:buNone/>
            </a:pP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89" name="Text 87"/>
          <p:cNvSpPr/>
          <p:nvPr/>
        </p:nvSpPr>
        <p:spPr>
          <a:xfrm>
            <a:off x="2652000" y="583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Bourgogne</a:t>
            </a:r>
            <a:pPr indent="0" marL="0">
              <a:buNone/>
            </a:pPr>
            <a:r>
              <a:rPr lang="en-US" sz="690" b="1" dirty="0">
                <a:solidFill>
                  <a:srgbClr val="67067C"/>
                </a:solidFill>
                <a:latin typeface="IBM Plex Sans" pitchFamily="34" charset="0"/>
                <a:ea typeface="IBM Plex Sans" pitchFamily="34" charset="-122"/>
                <a:cs typeface="IBM Plex Sans" pitchFamily="34" charset="-120"/>
              </a:rPr>
              <a:t>  15</a:t>
            </a:r>
            <a:pPr indent="0" marL="0">
              <a:buNone/>
            </a:pPr>
            <a:r>
              <a:rPr lang="en-US" sz="690" dirty="0">
                <a:solidFill>
                  <a:srgbClr val="46606E"/>
                </a:solidFill>
                <a:latin typeface="IBM Plex Sans" pitchFamily="34" charset="0"/>
                <a:ea typeface="IBM Plex Sans" pitchFamily="34" charset="-122"/>
                <a:cs typeface="IBM Plex Sans" pitchFamily="34" charset="-120"/>
              </a:rPr>
              <a:t>  29</a:t>
            </a:r>
            <a:endParaRPr lang="en-US" sz="690" dirty="0"/>
          </a:p>
        </p:txBody>
      </p:sp>
      <p:sp>
        <p:nvSpPr>
          <p:cNvPr id="90" name="Text 88"/>
          <p:cNvSpPr/>
          <p:nvPr/>
        </p:nvSpPr>
        <p:spPr>
          <a:xfrm>
            <a:off x="2652000" y="595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Bourgogne Pinot Noir</a:t>
            </a:r>
            <a:pPr indent="0" marL="0">
              <a:buNone/>
            </a:pPr>
            <a:r>
              <a:rPr lang="en-US" sz="690" b="1" dirty="0">
                <a:solidFill>
                  <a:srgbClr val="67067C"/>
                </a:solidFill>
                <a:latin typeface="IBM Plex Sans" pitchFamily="34" charset="0"/>
                <a:ea typeface="IBM Plex Sans" pitchFamily="34" charset="-122"/>
                <a:cs typeface="IBM Plex Sans" pitchFamily="34" charset="-120"/>
              </a:rPr>
              <a:t>  14</a:t>
            </a:r>
            <a:pPr indent="0" marL="0">
              <a:buNone/>
            </a:pPr>
            <a:r>
              <a:rPr lang="en-US" sz="690" dirty="0">
                <a:solidFill>
                  <a:srgbClr val="46606E"/>
                </a:solidFill>
                <a:latin typeface="IBM Plex Sans" pitchFamily="34" charset="0"/>
                <a:ea typeface="IBM Plex Sans" pitchFamily="34" charset="-122"/>
                <a:cs typeface="IBM Plex Sans" pitchFamily="34" charset="-120"/>
              </a:rPr>
              <a:t>  28</a:t>
            </a:r>
            <a:endParaRPr lang="en-US" sz="690" dirty="0"/>
          </a:p>
        </p:txBody>
      </p:sp>
      <p:sp>
        <p:nvSpPr>
          <p:cNvPr id="91" name="Text 89"/>
          <p:cNvSpPr/>
          <p:nvPr/>
        </p:nvSpPr>
        <p:spPr>
          <a:xfrm>
            <a:off x="2652000" y="608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Caillasses</a:t>
            </a:r>
            <a:pPr indent="0" marL="0">
              <a:buNone/>
            </a:pPr>
            <a:r>
              <a:rPr lang="en-US" sz="690" b="1" dirty="0">
                <a:solidFill>
                  <a:srgbClr val="67067C"/>
                </a:solidFill>
                <a:latin typeface="IBM Plex Sans" pitchFamily="34" charset="0"/>
                <a:ea typeface="IBM Plex Sans" pitchFamily="34" charset="-122"/>
                <a:cs typeface="IBM Plex Sans" pitchFamily="34" charset="-120"/>
              </a:rPr>
              <a:t>  35</a:t>
            </a:r>
            <a:pPr indent="0" marL="0">
              <a:buNone/>
            </a:pPr>
            <a:r>
              <a:rPr lang="en-US" sz="690" dirty="0">
                <a:solidFill>
                  <a:srgbClr val="46606E"/>
                </a:solidFill>
                <a:latin typeface="IBM Plex Sans" pitchFamily="34" charset="0"/>
                <a:ea typeface="IBM Plex Sans" pitchFamily="34" charset="-122"/>
                <a:cs typeface="IBM Plex Sans" pitchFamily="34" charset="-120"/>
              </a:rPr>
              <a:t>  60</a:t>
            </a:r>
            <a:endParaRPr lang="en-US" sz="690" dirty="0"/>
          </a:p>
        </p:txBody>
      </p:sp>
      <p:sp>
        <p:nvSpPr>
          <p:cNvPr id="92" name="Text 90"/>
          <p:cNvSpPr/>
          <p:nvPr/>
        </p:nvSpPr>
        <p:spPr>
          <a:xfrm>
            <a:off x="4692000" y="5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Ceres de Haut-Bages Libéral</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93" name="Text 91"/>
          <p:cNvSpPr/>
          <p:nvPr/>
        </p:nvSpPr>
        <p:spPr>
          <a:xfrm>
            <a:off x="4692000" y="6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Champ La Dame</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94" name="Text 92"/>
          <p:cNvSpPr/>
          <p:nvPr/>
        </p:nvSpPr>
        <p:spPr>
          <a:xfrm>
            <a:off x="4692000" y="7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CHANT DE LUMIÈRE</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95" name="Text 93"/>
          <p:cNvSpPr/>
          <p:nvPr/>
        </p:nvSpPr>
        <p:spPr>
          <a:xfrm>
            <a:off x="4692000" y="9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CHANT DE LUNE</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96" name="Text 94"/>
          <p:cNvSpPr/>
          <p:nvPr/>
        </p:nvSpPr>
        <p:spPr>
          <a:xfrm>
            <a:off x="4692000" y="10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CHANT LIBRE</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97" name="Text 95"/>
          <p:cNvSpPr/>
          <p:nvPr/>
        </p:nvSpPr>
        <p:spPr>
          <a:xfrm>
            <a:off x="4692000" y="11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Charme de Cos Labory</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98" name="Text 96"/>
          <p:cNvSpPr/>
          <p:nvPr/>
        </p:nvSpPr>
        <p:spPr>
          <a:xfrm>
            <a:off x="4692000" y="12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Canteloup</a:t>
            </a:r>
            <a:pPr indent="0" marL="0">
              <a:buNone/>
            </a:pPr>
            <a:r>
              <a:rPr lang="en-US" sz="690" b="1" dirty="0">
                <a:solidFill>
                  <a:srgbClr val="67067C"/>
                </a:solidFill>
                <a:latin typeface="IBM Plex Sans" pitchFamily="34" charset="0"/>
                <a:ea typeface="IBM Plex Sans" pitchFamily="34" charset="-122"/>
                <a:cs typeface="IBM Plex Sans" pitchFamily="34" charset="-120"/>
              </a:rPr>
              <a:t>  26</a:t>
            </a:r>
            <a:pPr indent="0" marL="0">
              <a:buNone/>
            </a:pPr>
            <a:r>
              <a:rPr lang="en-US" sz="690" dirty="0">
                <a:solidFill>
                  <a:srgbClr val="46606E"/>
                </a:solidFill>
                <a:latin typeface="IBM Plex Sans" pitchFamily="34" charset="0"/>
                <a:ea typeface="IBM Plex Sans" pitchFamily="34" charset="-122"/>
                <a:cs typeface="IBM Plex Sans" pitchFamily="34" charset="-120"/>
              </a:rPr>
              <a:t>  47</a:t>
            </a:r>
            <a:endParaRPr lang="en-US" sz="690" dirty="0"/>
          </a:p>
        </p:txBody>
      </p:sp>
      <p:sp>
        <p:nvSpPr>
          <p:cNvPr id="99" name="Text 97"/>
          <p:cNvSpPr/>
          <p:nvPr/>
        </p:nvSpPr>
        <p:spPr>
          <a:xfrm>
            <a:off x="4692000" y="14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de Villegeorge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00" name="Text 98"/>
          <p:cNvSpPr/>
          <p:nvPr/>
        </p:nvSpPr>
        <p:spPr>
          <a:xfrm>
            <a:off x="4692000" y="15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de Villegeorge  150 cl</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01" name="Text 99"/>
          <p:cNvSpPr/>
          <p:nvPr/>
        </p:nvSpPr>
        <p:spPr>
          <a:xfrm>
            <a:off x="4692000" y="16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Doyac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02" name="Text 100"/>
          <p:cNvSpPr/>
          <p:nvPr/>
        </p:nvSpPr>
        <p:spPr>
          <a:xfrm>
            <a:off x="4692000" y="18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Doyac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03" name="Text 101"/>
          <p:cNvSpPr/>
          <p:nvPr/>
        </p:nvSpPr>
        <p:spPr>
          <a:xfrm>
            <a:off x="4692000" y="19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du Cauze</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04" name="Text 102"/>
          <p:cNvSpPr/>
          <p:nvPr/>
        </p:nvSpPr>
        <p:spPr>
          <a:xfrm>
            <a:off x="4692000" y="20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Falfas</a:t>
            </a:r>
            <a:pPr indent="0" marL="0">
              <a:buNone/>
            </a:pPr>
            <a:r>
              <a:rPr lang="en-US" sz="690" b="1" dirty="0">
                <a:solidFill>
                  <a:srgbClr val="67067C"/>
                </a:solidFill>
                <a:latin typeface="IBM Plex Sans" pitchFamily="34" charset="0"/>
                <a:ea typeface="IBM Plex Sans" pitchFamily="34" charset="-122"/>
                <a:cs typeface="IBM Plex Sans" pitchFamily="34" charset="-120"/>
              </a:rPr>
              <a:t>  27</a:t>
            </a:r>
            <a:pPr indent="0" marL="0">
              <a:buNone/>
            </a:pPr>
            <a:r>
              <a:rPr lang="en-US" sz="690" dirty="0">
                <a:solidFill>
                  <a:srgbClr val="46606E"/>
                </a:solidFill>
                <a:latin typeface="IBM Plex Sans" pitchFamily="34" charset="0"/>
                <a:ea typeface="IBM Plex Sans" pitchFamily="34" charset="-122"/>
                <a:cs typeface="IBM Plex Sans" pitchFamily="34" charset="-120"/>
              </a:rPr>
              <a:t>  49</a:t>
            </a:r>
            <a:endParaRPr lang="en-US" sz="690" dirty="0"/>
          </a:p>
        </p:txBody>
      </p:sp>
      <p:sp>
        <p:nvSpPr>
          <p:cNvPr id="105" name="Text 103"/>
          <p:cNvSpPr/>
          <p:nvPr/>
        </p:nvSpPr>
        <p:spPr>
          <a:xfrm>
            <a:off x="4692000" y="21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Falfas Le Chevalier (Vieilles Vignes)</a:t>
            </a:r>
            <a:pPr indent="0" marL="0">
              <a:buNone/>
            </a:pPr>
            <a:r>
              <a:rPr lang="en-US" sz="690" b="1" dirty="0">
                <a:solidFill>
                  <a:srgbClr val="67067C"/>
                </a:solidFill>
                <a:latin typeface="IBM Plex Sans" pitchFamily="34" charset="0"/>
                <a:ea typeface="IBM Plex Sans" pitchFamily="34" charset="-122"/>
                <a:cs typeface="IBM Plex Sans" pitchFamily="34" charset="-120"/>
              </a:rPr>
              <a:t>  27</a:t>
            </a:r>
            <a:pPr indent="0" marL="0">
              <a:buNone/>
            </a:pPr>
            <a:r>
              <a:rPr lang="en-US" sz="690" dirty="0">
                <a:solidFill>
                  <a:srgbClr val="46606E"/>
                </a:solidFill>
                <a:latin typeface="IBM Plex Sans" pitchFamily="34" charset="0"/>
                <a:ea typeface="IBM Plex Sans" pitchFamily="34" charset="-122"/>
                <a:cs typeface="IBM Plex Sans" pitchFamily="34" charset="-120"/>
              </a:rPr>
              <a:t>  49</a:t>
            </a:r>
            <a:endParaRPr lang="en-US" sz="690" dirty="0"/>
          </a:p>
        </p:txBody>
      </p:sp>
      <p:sp>
        <p:nvSpPr>
          <p:cNvPr id="106" name="Text 104"/>
          <p:cNvSpPr/>
          <p:nvPr/>
        </p:nvSpPr>
        <p:spPr>
          <a:xfrm>
            <a:off x="4692000" y="23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Feytit-Guillot</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07" name="Text 105"/>
          <p:cNvSpPr/>
          <p:nvPr/>
        </p:nvSpPr>
        <p:spPr>
          <a:xfrm>
            <a:off x="4692000" y="24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l'Escarderie</a:t>
            </a:r>
            <a:pPr indent="0" marL="0">
              <a:buNone/>
            </a:pPr>
            <a:r>
              <a:rPr lang="en-US" sz="690" b="1" dirty="0">
                <a:solidFill>
                  <a:srgbClr val="67067C"/>
                </a:solidFill>
                <a:latin typeface="IBM Plex Sans" pitchFamily="34" charset="0"/>
                <a:ea typeface="IBM Plex Sans" pitchFamily="34" charset="-122"/>
                <a:cs typeface="IBM Plex Sans" pitchFamily="34" charset="-120"/>
              </a:rPr>
              <a:t>  30</a:t>
            </a:r>
            <a:pPr indent="0" marL="0">
              <a:buNone/>
            </a:pPr>
            <a:r>
              <a:rPr lang="en-US" sz="690" dirty="0">
                <a:solidFill>
                  <a:srgbClr val="46606E"/>
                </a:solidFill>
                <a:latin typeface="IBM Plex Sans" pitchFamily="34" charset="0"/>
                <a:ea typeface="IBM Plex Sans" pitchFamily="34" charset="-122"/>
                <a:cs typeface="IBM Plex Sans" pitchFamily="34" charset="-120"/>
              </a:rPr>
              <a:t>  52</a:t>
            </a:r>
            <a:endParaRPr lang="en-US" sz="690" dirty="0"/>
          </a:p>
        </p:txBody>
      </p:sp>
      <p:sp>
        <p:nvSpPr>
          <p:cNvPr id="108" name="Text 106"/>
          <p:cNvSpPr/>
          <p:nvPr/>
        </p:nvSpPr>
        <p:spPr>
          <a:xfrm>
            <a:off x="4692000" y="25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la Croix Saint-André</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09" name="Text 107"/>
          <p:cNvSpPr/>
          <p:nvPr/>
        </p:nvSpPr>
        <p:spPr>
          <a:xfrm>
            <a:off x="4692000" y="26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la Tour de Bessan</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10" name="Text 108"/>
          <p:cNvSpPr/>
          <p:nvPr/>
        </p:nvSpPr>
        <p:spPr>
          <a:xfrm>
            <a:off x="4692000" y="28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Lamothe Bouscaut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11" name="Text 109"/>
          <p:cNvSpPr/>
          <p:nvPr/>
        </p:nvSpPr>
        <p:spPr>
          <a:xfrm>
            <a:off x="4692000" y="293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les Ormes</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12" name="Text 110"/>
          <p:cNvSpPr/>
          <p:nvPr/>
        </p:nvSpPr>
        <p:spPr>
          <a:xfrm>
            <a:off x="4692000" y="306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Macquin</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13" name="Text 111"/>
          <p:cNvSpPr/>
          <p:nvPr/>
        </p:nvSpPr>
        <p:spPr>
          <a:xfrm>
            <a:off x="4692000" y="318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Valoux</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14" name="Text 112"/>
          <p:cNvSpPr/>
          <p:nvPr/>
        </p:nvSpPr>
        <p:spPr>
          <a:xfrm>
            <a:off x="4692000" y="331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Clos de Cassis – élevé en fûts de chêne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36</a:t>
            </a:r>
            <a:pPr indent="0" marL="0">
              <a:buNone/>
            </a:pPr>
            <a:r>
              <a:rPr lang="en-US" sz="690" dirty="0">
                <a:solidFill>
                  <a:srgbClr val="46606E"/>
                </a:solidFill>
                <a:latin typeface="IBM Plex Sans" pitchFamily="34" charset="0"/>
                <a:ea typeface="IBM Plex Sans" pitchFamily="34" charset="-122"/>
                <a:cs typeface="IBM Plex Sans" pitchFamily="34" charset="-120"/>
              </a:rPr>
              <a:t>  61</a:t>
            </a:r>
            <a:endParaRPr lang="en-US" sz="690" dirty="0"/>
          </a:p>
        </p:txBody>
      </p:sp>
      <p:sp>
        <p:nvSpPr>
          <p:cNvPr id="115" name="Text 113"/>
          <p:cNvSpPr/>
          <p:nvPr/>
        </p:nvSpPr>
        <p:spPr>
          <a:xfrm>
            <a:off x="4692000" y="343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Clos de Cassis – élevé en fûts de chêne  Magnum 1,5 L</a:t>
            </a:r>
            <a:pPr indent="0" marL="0">
              <a:buNone/>
            </a:pPr>
            <a:r>
              <a:rPr lang="en-US" sz="690" b="1" dirty="0">
                <a:solidFill>
                  <a:srgbClr val="67067C"/>
                </a:solidFill>
                <a:latin typeface="IBM Plex Sans" pitchFamily="34" charset="0"/>
                <a:ea typeface="IBM Plex Sans" pitchFamily="34" charset="-122"/>
                <a:cs typeface="IBM Plex Sans" pitchFamily="34" charset="-120"/>
              </a:rPr>
              <a:t>  36</a:t>
            </a:r>
            <a:pPr indent="0" marL="0">
              <a:buNone/>
            </a:pPr>
            <a:r>
              <a:rPr lang="en-US" sz="690" dirty="0">
                <a:solidFill>
                  <a:srgbClr val="46606E"/>
                </a:solidFill>
                <a:latin typeface="IBM Plex Sans" pitchFamily="34" charset="0"/>
                <a:ea typeface="IBM Plex Sans" pitchFamily="34" charset="-122"/>
                <a:cs typeface="IBM Plex Sans" pitchFamily="34" charset="-120"/>
              </a:rPr>
              <a:t>  61</a:t>
            </a:r>
            <a:endParaRPr lang="en-US" sz="690" dirty="0"/>
          </a:p>
        </p:txBody>
      </p:sp>
      <p:sp>
        <p:nvSpPr>
          <p:cNvPr id="116" name="Text 114"/>
          <p:cNvSpPr/>
          <p:nvPr/>
        </p:nvSpPr>
        <p:spPr>
          <a:xfrm>
            <a:off x="4692000" y="356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Clos de la Perrière</a:t>
            </a:r>
            <a:pPr indent="0" marL="0">
              <a:buNone/>
            </a:pPr>
            <a:r>
              <a:rPr lang="en-US" sz="690" b="1" dirty="0">
                <a:solidFill>
                  <a:srgbClr val="67067C"/>
                </a:solidFill>
                <a:latin typeface="IBM Plex Sans" pitchFamily="34" charset="0"/>
                <a:ea typeface="IBM Plex Sans" pitchFamily="34" charset="-122"/>
                <a:cs typeface="IBM Plex Sans" pitchFamily="34" charset="-120"/>
              </a:rPr>
              <a:t>  10</a:t>
            </a:r>
            <a:pPr indent="0" marL="0">
              <a:buNone/>
            </a:pP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117" name="Text 115"/>
          <p:cNvSpPr/>
          <p:nvPr/>
        </p:nvSpPr>
        <p:spPr>
          <a:xfrm>
            <a:off x="4692000" y="369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Corbières Rouge</a:t>
            </a:r>
            <a:pPr indent="0" marL="0">
              <a:buNone/>
            </a:pPr>
            <a:r>
              <a:rPr lang="en-US" sz="690" b="1" dirty="0">
                <a:solidFill>
                  <a:srgbClr val="67067C"/>
                </a:solidFill>
                <a:latin typeface="IBM Plex Sans" pitchFamily="34" charset="0"/>
                <a:ea typeface="IBM Plex Sans" pitchFamily="34" charset="-122"/>
                <a:cs typeface="IBM Plex Sans" pitchFamily="34" charset="-120"/>
              </a:rPr>
              <a:t>  36</a:t>
            </a:r>
            <a:pPr indent="0" marL="0">
              <a:buNone/>
            </a:pPr>
            <a:r>
              <a:rPr lang="en-US" sz="690" dirty="0">
                <a:solidFill>
                  <a:srgbClr val="46606E"/>
                </a:solidFill>
                <a:latin typeface="IBM Plex Sans" pitchFamily="34" charset="0"/>
                <a:ea typeface="IBM Plex Sans" pitchFamily="34" charset="-122"/>
                <a:cs typeface="IBM Plex Sans" pitchFamily="34" charset="-120"/>
              </a:rPr>
              <a:t>  61</a:t>
            </a:r>
            <a:endParaRPr lang="en-US" sz="690" dirty="0"/>
          </a:p>
        </p:txBody>
      </p:sp>
      <p:sp>
        <p:nvSpPr>
          <p:cNvPr id="118" name="Text 116"/>
          <p:cNvSpPr/>
          <p:nvPr/>
        </p:nvSpPr>
        <p:spPr>
          <a:xfrm>
            <a:off x="4692000" y="381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Côtes du Rhône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18</a:t>
            </a:r>
            <a:pPr indent="0" marL="0">
              <a:buNone/>
            </a:pPr>
            <a:r>
              <a:rPr lang="en-US" sz="690" dirty="0">
                <a:solidFill>
                  <a:srgbClr val="46606E"/>
                </a:solidFill>
                <a:latin typeface="IBM Plex Sans" pitchFamily="34" charset="0"/>
                <a:ea typeface="IBM Plex Sans" pitchFamily="34" charset="-122"/>
                <a:cs typeface="IBM Plex Sans" pitchFamily="34" charset="-120"/>
              </a:rPr>
              <a:t>  33</a:t>
            </a:r>
            <a:endParaRPr lang="en-US" sz="690" dirty="0"/>
          </a:p>
        </p:txBody>
      </p:sp>
      <p:sp>
        <p:nvSpPr>
          <p:cNvPr id="119" name="Text 117"/>
          <p:cNvSpPr/>
          <p:nvPr/>
        </p:nvSpPr>
        <p:spPr>
          <a:xfrm>
            <a:off x="4692000" y="394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Côtes du Rhône</a:t>
            </a:r>
            <a:pPr indent="0" marL="0">
              <a:buNone/>
            </a:pPr>
            <a:r>
              <a:rPr lang="en-US" sz="690" b="1" dirty="0">
                <a:solidFill>
                  <a:srgbClr val="67067C"/>
                </a:solidFill>
                <a:latin typeface="IBM Plex Sans" pitchFamily="34" charset="0"/>
                <a:ea typeface="IBM Plex Sans" pitchFamily="34" charset="-122"/>
                <a:cs typeface="IBM Plex Sans" pitchFamily="34" charset="-120"/>
              </a:rPr>
              <a:t>  21</a:t>
            </a:r>
            <a:pPr indent="0" marL="0">
              <a:buNone/>
            </a:pPr>
            <a:r>
              <a:rPr lang="en-US" sz="690" dirty="0">
                <a:solidFill>
                  <a:srgbClr val="46606E"/>
                </a:solidFill>
                <a:latin typeface="IBM Plex Sans" pitchFamily="34" charset="0"/>
                <a:ea typeface="IBM Plex Sans" pitchFamily="34" charset="-122"/>
                <a:cs typeface="IBM Plex Sans" pitchFamily="34" charset="-120"/>
              </a:rPr>
              <a:t>  36</a:t>
            </a:r>
            <a:endParaRPr lang="en-US" sz="690" dirty="0"/>
          </a:p>
        </p:txBody>
      </p:sp>
      <p:sp>
        <p:nvSpPr>
          <p:cNvPr id="120" name="Text 118"/>
          <p:cNvSpPr/>
          <p:nvPr/>
        </p:nvSpPr>
        <p:spPr>
          <a:xfrm>
            <a:off x="4692000" y="406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Coyeux</a:t>
            </a:r>
            <a:pPr indent="0" marL="0">
              <a:buNone/>
            </a:pPr>
            <a:r>
              <a:rPr lang="en-US" sz="690" b="1" dirty="0">
                <a:solidFill>
                  <a:srgbClr val="67067C"/>
                </a:solidFill>
                <a:latin typeface="IBM Plex Sans" pitchFamily="34" charset="0"/>
                <a:ea typeface="IBM Plex Sans" pitchFamily="34" charset="-122"/>
                <a:cs typeface="IBM Plex Sans" pitchFamily="34" charset="-120"/>
              </a:rPr>
              <a:t>  17</a:t>
            </a:r>
            <a:pPr indent="0" marL="0">
              <a:buNone/>
            </a:pPr>
            <a:r>
              <a:rPr lang="en-US" sz="690" dirty="0">
                <a:solidFill>
                  <a:srgbClr val="46606E"/>
                </a:solidFill>
                <a:latin typeface="IBM Plex Sans" pitchFamily="34" charset="0"/>
                <a:ea typeface="IBM Plex Sans" pitchFamily="34" charset="-122"/>
                <a:cs typeface="IBM Plex Sans" pitchFamily="34" charset="-120"/>
              </a:rPr>
              <a:t>  32</a:t>
            </a:r>
            <a:endParaRPr lang="en-US" sz="690" dirty="0"/>
          </a:p>
        </p:txBody>
      </p:sp>
      <p:sp>
        <p:nvSpPr>
          <p:cNvPr id="121" name="Text 119"/>
          <p:cNvSpPr/>
          <p:nvPr/>
        </p:nvSpPr>
        <p:spPr>
          <a:xfrm>
            <a:off x="4692000" y="419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des Fontenelles / Y'a Rien qui Presse</a:t>
            </a:r>
            <a:pPr indent="0" marL="0">
              <a:buNone/>
            </a:pPr>
            <a:r>
              <a:rPr lang="en-US" sz="690" b="1" dirty="0">
                <a:solidFill>
                  <a:srgbClr val="67067C"/>
                </a:solidFill>
                <a:latin typeface="IBM Plex Sans" pitchFamily="34" charset="0"/>
                <a:ea typeface="IBM Plex Sans" pitchFamily="34" charset="-122"/>
                <a:cs typeface="IBM Plex Sans" pitchFamily="34" charset="-120"/>
              </a:rPr>
              <a:t>  28</a:t>
            </a:r>
            <a:pPr indent="0" marL="0">
              <a:buNone/>
            </a:pPr>
            <a:r>
              <a:rPr lang="en-US" sz="690" dirty="0">
                <a:solidFill>
                  <a:srgbClr val="46606E"/>
                </a:solidFill>
                <a:latin typeface="IBM Plex Sans" pitchFamily="34" charset="0"/>
                <a:ea typeface="IBM Plex Sans" pitchFamily="34" charset="-122"/>
                <a:cs typeface="IBM Plex Sans" pitchFamily="34" charset="-120"/>
              </a:rPr>
              <a:t>  50</a:t>
            </a:r>
            <a:endParaRPr lang="en-US" sz="690" dirty="0"/>
          </a:p>
        </p:txBody>
      </p:sp>
      <p:sp>
        <p:nvSpPr>
          <p:cNvPr id="122" name="Text 120"/>
          <p:cNvSpPr/>
          <p:nvPr/>
        </p:nvSpPr>
        <p:spPr>
          <a:xfrm>
            <a:off x="4692000" y="432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Diane / Le Vin Cœur</a:t>
            </a:r>
            <a:pPr indent="0" marL="0">
              <a:buNone/>
            </a:pPr>
            <a:r>
              <a:rPr lang="en-US" sz="690" b="1" dirty="0">
                <a:solidFill>
                  <a:srgbClr val="67067C"/>
                </a:solidFill>
                <a:latin typeface="IBM Plex Sans" pitchFamily="34" charset="0"/>
                <a:ea typeface="IBM Plex Sans" pitchFamily="34" charset="-122"/>
                <a:cs typeface="IBM Plex Sans" pitchFamily="34" charset="-120"/>
              </a:rPr>
              <a:t>  28</a:t>
            </a:r>
            <a:pPr indent="0" marL="0">
              <a:buNone/>
            </a:pPr>
            <a:r>
              <a:rPr lang="en-US" sz="690" dirty="0">
                <a:solidFill>
                  <a:srgbClr val="46606E"/>
                </a:solidFill>
                <a:latin typeface="IBM Plex Sans" pitchFamily="34" charset="0"/>
                <a:ea typeface="IBM Plex Sans" pitchFamily="34" charset="-122"/>
                <a:cs typeface="IBM Plex Sans" pitchFamily="34" charset="-120"/>
              </a:rPr>
              <a:t>  50</a:t>
            </a:r>
            <a:endParaRPr lang="en-US" sz="690" dirty="0"/>
          </a:p>
        </p:txBody>
      </p:sp>
      <p:sp>
        <p:nvSpPr>
          <p:cNvPr id="123" name="Text 121"/>
          <p:cNvSpPr/>
          <p:nvPr/>
        </p:nvSpPr>
        <p:spPr>
          <a:xfrm>
            <a:off x="4692000" y="44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Philippe</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124" name="Text 122"/>
          <p:cNvSpPr/>
          <p:nvPr/>
        </p:nvSpPr>
        <p:spPr>
          <a:xfrm>
            <a:off x="4692000" y="45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TerraCotta / L'An Fort des Haltères</a:t>
            </a:r>
            <a:pPr indent="0" marL="0">
              <a:buNone/>
            </a:pPr>
            <a:r>
              <a:rPr lang="en-US" sz="690" b="1" dirty="0">
                <a:solidFill>
                  <a:srgbClr val="67067C"/>
                </a:solidFill>
                <a:latin typeface="IBM Plex Sans" pitchFamily="34" charset="0"/>
                <a:ea typeface="IBM Plex Sans" pitchFamily="34" charset="-122"/>
                <a:cs typeface="IBM Plex Sans" pitchFamily="34" charset="-120"/>
              </a:rPr>
              <a:t>  28</a:t>
            </a:r>
            <a:pPr indent="0" marL="0">
              <a:buNone/>
            </a:pPr>
            <a:r>
              <a:rPr lang="en-US" sz="690" dirty="0">
                <a:solidFill>
                  <a:srgbClr val="46606E"/>
                </a:solidFill>
                <a:latin typeface="IBM Plex Sans" pitchFamily="34" charset="0"/>
                <a:ea typeface="IBM Plex Sans" pitchFamily="34" charset="-122"/>
                <a:cs typeface="IBM Plex Sans" pitchFamily="34" charset="-120"/>
              </a:rPr>
              <a:t>  50</a:t>
            </a:r>
            <a:endParaRPr lang="en-US" sz="690" dirty="0"/>
          </a:p>
        </p:txBody>
      </p:sp>
      <p:sp>
        <p:nvSpPr>
          <p:cNvPr id="125" name="Text 123"/>
          <p:cNvSpPr/>
          <p:nvPr/>
        </p:nvSpPr>
        <p:spPr>
          <a:xfrm>
            <a:off x="4692000" y="46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Dolmen</a:t>
            </a:r>
            <a:pPr indent="0" marL="0">
              <a:buNone/>
            </a:pPr>
            <a:r>
              <a:rPr lang="en-US" sz="690" b="1" dirty="0">
                <a:solidFill>
                  <a:srgbClr val="67067C"/>
                </a:solidFill>
                <a:latin typeface="IBM Plex Sans" pitchFamily="34" charset="0"/>
                <a:ea typeface="IBM Plex Sans" pitchFamily="34" charset="-122"/>
                <a:cs typeface="IBM Plex Sans" pitchFamily="34" charset="-120"/>
              </a:rPr>
              <a:t>  34</a:t>
            </a:r>
            <a:pPr indent="0" marL="0">
              <a:buNone/>
            </a:pP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126" name="Text 124"/>
          <p:cNvSpPr/>
          <p:nvPr/>
        </p:nvSpPr>
        <p:spPr>
          <a:xfrm>
            <a:off x="4692000" y="48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Duché</a:t>
            </a:r>
            <a:pPr indent="0" marL="0">
              <a:buNone/>
            </a:pPr>
            <a:r>
              <a:rPr lang="en-US" sz="690" b="1" dirty="0">
                <a:solidFill>
                  <a:srgbClr val="67067C"/>
                </a:solidFill>
                <a:latin typeface="IBM Plex Sans" pitchFamily="34" charset="0"/>
                <a:ea typeface="IBM Plex Sans" pitchFamily="34" charset="-122"/>
                <a:cs typeface="IBM Plex Sans" pitchFamily="34" charset="-120"/>
              </a:rPr>
              <a:t>  35</a:t>
            </a:r>
            <a:pPr indent="0" marL="0">
              <a:buNone/>
            </a:pPr>
            <a:r>
              <a:rPr lang="en-US" sz="690" dirty="0">
                <a:solidFill>
                  <a:srgbClr val="46606E"/>
                </a:solidFill>
                <a:latin typeface="IBM Plex Sans" pitchFamily="34" charset="0"/>
                <a:ea typeface="IBM Plex Sans" pitchFamily="34" charset="-122"/>
                <a:cs typeface="IBM Plex Sans" pitchFamily="34" charset="-120"/>
              </a:rPr>
              <a:t>  60</a:t>
            </a:r>
            <a:endParaRPr lang="en-US" sz="690" dirty="0"/>
          </a:p>
        </p:txBody>
      </p:sp>
      <p:sp>
        <p:nvSpPr>
          <p:cNvPr id="127" name="Text 125"/>
          <p:cNvSpPr/>
          <p:nvPr/>
        </p:nvSpPr>
        <p:spPr>
          <a:xfrm>
            <a:off x="4692000" y="49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Eléonore du Château Teynac</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28" name="Text 126"/>
          <p:cNvSpPr/>
          <p:nvPr/>
        </p:nvSpPr>
        <p:spPr>
          <a:xfrm>
            <a:off x="4692000" y="50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Esprit de Doyac</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29" name="Text 127"/>
          <p:cNvSpPr/>
          <p:nvPr/>
        </p:nvSpPr>
        <p:spPr>
          <a:xfrm>
            <a:off x="4692000" y="52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François Reverdy – Franc / Graves</a:t>
            </a:r>
            <a:pPr indent="0" marL="0">
              <a:buNone/>
            </a:pPr>
            <a:r>
              <a:rPr lang="en-US" sz="690" b="1" dirty="0">
                <a:solidFill>
                  <a:srgbClr val="67067C"/>
                </a:solidFill>
                <a:latin typeface="IBM Plex Sans" pitchFamily="34" charset="0"/>
                <a:ea typeface="IBM Plex Sans" pitchFamily="34" charset="-122"/>
                <a:cs typeface="IBM Plex Sans" pitchFamily="34" charset="-120"/>
              </a:rPr>
              <a:t>  1</a:t>
            </a:r>
            <a:pPr indent="0" marL="0">
              <a:buNone/>
            </a:pP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130" name="Text 128"/>
          <p:cNvSpPr/>
          <p:nvPr/>
        </p:nvSpPr>
        <p:spPr>
          <a:xfrm>
            <a:off x="4692000" y="53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François Reverdy – Grolleau Noir</a:t>
            </a:r>
            <a:pPr indent="0" marL="0">
              <a:buNone/>
            </a:pPr>
            <a:r>
              <a:rPr lang="en-US" sz="690" b="1" dirty="0">
                <a:solidFill>
                  <a:srgbClr val="67067C"/>
                </a:solidFill>
                <a:latin typeface="IBM Plex Sans" pitchFamily="34" charset="0"/>
                <a:ea typeface="IBM Plex Sans" pitchFamily="34" charset="-122"/>
                <a:cs typeface="IBM Plex Sans" pitchFamily="34" charset="-120"/>
              </a:rPr>
              <a:t>  1</a:t>
            </a:r>
            <a:pPr indent="0" marL="0">
              <a:buNone/>
            </a:pP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131" name="Text 129"/>
          <p:cNvSpPr/>
          <p:nvPr/>
        </p:nvSpPr>
        <p:spPr>
          <a:xfrm>
            <a:off x="4692000" y="54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Graves de Bouscaut</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32" name="Text 130"/>
          <p:cNvSpPr/>
          <p:nvPr/>
        </p:nvSpPr>
        <p:spPr>
          <a:xfrm>
            <a:off x="4692000" y="55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Hahnenberg (Pinot Noir)</a:t>
            </a:r>
            <a:pPr indent="0" marL="0">
              <a:buNone/>
            </a:pPr>
            <a:r>
              <a:rPr lang="en-US" sz="690" b="1" dirty="0">
                <a:solidFill>
                  <a:srgbClr val="67067C"/>
                </a:solidFill>
                <a:latin typeface="IBM Plex Sans" pitchFamily="34" charset="0"/>
                <a:ea typeface="IBM Plex Sans" pitchFamily="34" charset="-122"/>
                <a:cs typeface="IBM Plex Sans" pitchFamily="34" charset="-120"/>
              </a:rPr>
              <a:t>  8</a:t>
            </a:r>
            <a:pPr indent="0" marL="0">
              <a:buNone/>
            </a:pPr>
            <a:r>
              <a:rPr lang="en-US" sz="690" dirty="0">
                <a:solidFill>
                  <a:srgbClr val="46606E"/>
                </a:solidFill>
                <a:latin typeface="IBM Plex Sans" pitchFamily="34" charset="0"/>
                <a:ea typeface="IBM Plex Sans" pitchFamily="34" charset="-122"/>
                <a:cs typeface="IBM Plex Sans" pitchFamily="34" charset="-120"/>
              </a:rPr>
              <a:t>  17</a:t>
            </a:r>
            <a:endParaRPr lang="en-US" sz="690" dirty="0"/>
          </a:p>
        </p:txBody>
      </p:sp>
      <p:sp>
        <p:nvSpPr>
          <p:cNvPr id="133" name="Text 131"/>
          <p:cNvSpPr/>
          <p:nvPr/>
        </p:nvSpPr>
        <p:spPr>
          <a:xfrm>
            <a:off x="4692000" y="570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Henri</a:t>
            </a:r>
            <a:pPr indent="0" marL="0">
              <a:buNone/>
            </a:pPr>
            <a:r>
              <a:rPr lang="en-US" sz="690" b="1" dirty="0">
                <a:solidFill>
                  <a:srgbClr val="67067C"/>
                </a:solidFill>
                <a:latin typeface="IBM Plex Sans" pitchFamily="34" charset="0"/>
                <a:ea typeface="IBM Plex Sans" pitchFamily="34" charset="-122"/>
                <a:cs typeface="IBM Plex Sans" pitchFamily="34" charset="-120"/>
              </a:rPr>
              <a:t>  34</a:t>
            </a:r>
            <a:pPr indent="0" marL="0">
              <a:buNone/>
            </a:pP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134" name="Text 132"/>
          <p:cNvSpPr/>
          <p:nvPr/>
        </p:nvSpPr>
        <p:spPr>
          <a:xfrm>
            <a:off x="4692000" y="583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IGP Cabernet</a:t>
            </a:r>
            <a:pPr indent="0" marL="0">
              <a:buNone/>
            </a:pPr>
            <a:r>
              <a:rPr lang="en-US" sz="690" b="1" dirty="0">
                <a:solidFill>
                  <a:srgbClr val="67067C"/>
                </a:solidFill>
                <a:latin typeface="IBM Plex Sans" pitchFamily="34" charset="0"/>
                <a:ea typeface="IBM Plex Sans" pitchFamily="34" charset="-122"/>
                <a:cs typeface="IBM Plex Sans" pitchFamily="34" charset="-120"/>
              </a:rPr>
              <a:t>  3</a:t>
            </a:r>
            <a:pPr indent="0" marL="0">
              <a:buNone/>
            </a:pP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135" name="Text 133"/>
          <p:cNvSpPr/>
          <p:nvPr/>
        </p:nvSpPr>
        <p:spPr>
          <a:xfrm>
            <a:off x="4692000" y="595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IGP Méditerranée</a:t>
            </a:r>
            <a:pPr indent="0" marL="0">
              <a:buNone/>
            </a:pPr>
            <a:r>
              <a:rPr lang="en-US" sz="690" b="1" dirty="0">
                <a:solidFill>
                  <a:srgbClr val="67067C"/>
                </a:solidFill>
                <a:latin typeface="IBM Plex Sans" pitchFamily="34" charset="0"/>
                <a:ea typeface="IBM Plex Sans" pitchFamily="34" charset="-122"/>
                <a:cs typeface="IBM Plex Sans" pitchFamily="34" charset="-120"/>
              </a:rPr>
              <a:t>  17</a:t>
            </a:r>
            <a:pPr indent="0" marL="0">
              <a:buNone/>
            </a:pPr>
            <a:r>
              <a:rPr lang="en-US" sz="690" dirty="0">
                <a:solidFill>
                  <a:srgbClr val="46606E"/>
                </a:solidFill>
                <a:latin typeface="IBM Plex Sans" pitchFamily="34" charset="0"/>
                <a:ea typeface="IBM Plex Sans" pitchFamily="34" charset="-122"/>
                <a:cs typeface="IBM Plex Sans" pitchFamily="34" charset="-120"/>
              </a:rPr>
              <a:t>  32</a:t>
            </a:r>
            <a:endParaRPr lang="en-US" sz="690" dirty="0"/>
          </a:p>
        </p:txBody>
      </p:sp>
      <p:sp>
        <p:nvSpPr>
          <p:cNvPr id="136" name="Text 134"/>
          <p:cNvSpPr/>
          <p:nvPr/>
        </p:nvSpPr>
        <p:spPr>
          <a:xfrm>
            <a:off x="4692000" y="608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IGP Merlot</a:t>
            </a:r>
            <a:pPr indent="0" marL="0">
              <a:buNone/>
            </a:pPr>
            <a:r>
              <a:rPr lang="en-US" sz="690" b="1" dirty="0">
                <a:solidFill>
                  <a:srgbClr val="67067C"/>
                </a:solidFill>
                <a:latin typeface="IBM Plex Sans" pitchFamily="34" charset="0"/>
                <a:ea typeface="IBM Plex Sans" pitchFamily="34" charset="-122"/>
                <a:cs typeface="IBM Plex Sans" pitchFamily="34" charset="-120"/>
              </a:rPr>
              <a:t>  3</a:t>
            </a:r>
            <a:pPr indent="0" marL="0">
              <a:buNone/>
            </a:pP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137" name="Text 135"/>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69</a:t>
            </a:r>
            <a:endParaRPr lang="en-US" sz="750" dirty="0"/>
          </a:p>
        </p:txBody>
      </p:sp>
      <p:sp>
        <p:nvSpPr>
          <p:cNvPr id="138" name="Text 136"/>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828000" y="5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Inopine (100 % Merlot)</a:t>
            </a:r>
            <a:pPr indent="0" marL="0">
              <a:buNone/>
            </a:pPr>
            <a:r>
              <a:rPr lang="en-US" sz="690" b="1" dirty="0">
                <a:solidFill>
                  <a:srgbClr val="67067C"/>
                </a:solidFill>
                <a:latin typeface="IBM Plex Sans" pitchFamily="34" charset="0"/>
                <a:ea typeface="IBM Plex Sans" pitchFamily="34" charset="-122"/>
                <a:cs typeface="IBM Plex Sans" pitchFamily="34" charset="-120"/>
              </a:rPr>
              <a:t>  29</a:t>
            </a:r>
            <a:pPr indent="0" marL="0">
              <a:buNone/>
            </a:pPr>
            <a:r>
              <a:rPr lang="en-US" sz="690" dirty="0">
                <a:solidFill>
                  <a:srgbClr val="46606E"/>
                </a:solidFill>
                <a:latin typeface="IBM Plex Sans" pitchFamily="34" charset="0"/>
                <a:ea typeface="IBM Plex Sans" pitchFamily="34" charset="-122"/>
                <a:cs typeface="IBM Plex Sans" pitchFamily="34" charset="-120"/>
              </a:rPr>
              <a:t>  51</a:t>
            </a:r>
            <a:endParaRPr lang="en-US" sz="690" dirty="0"/>
          </a:p>
        </p:txBody>
      </p:sp>
      <p:sp>
        <p:nvSpPr>
          <p:cNvPr id="3" name="Text 1"/>
          <p:cNvSpPr/>
          <p:nvPr/>
        </p:nvSpPr>
        <p:spPr>
          <a:xfrm>
            <a:off x="828000" y="6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JARDINS DE CORBIÈRES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4" name="Text 2"/>
          <p:cNvSpPr/>
          <p:nvPr/>
        </p:nvSpPr>
        <p:spPr>
          <a:xfrm>
            <a:off x="828000" y="7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JOIO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31</a:t>
            </a:r>
            <a:pPr indent="0" marL="0">
              <a:buNone/>
            </a:pP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5" name="Text 3"/>
          <p:cNvSpPr/>
          <p:nvPr/>
        </p:nvSpPr>
        <p:spPr>
          <a:xfrm>
            <a:off x="828000" y="9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L'An 022 – élevé en amphore</a:t>
            </a:r>
            <a:pPr indent="0" marL="0">
              <a:buNone/>
            </a:pPr>
            <a:r>
              <a:rPr lang="en-US" sz="690" b="1" dirty="0">
                <a:solidFill>
                  <a:srgbClr val="67067C"/>
                </a:solidFill>
                <a:latin typeface="IBM Plex Sans" pitchFamily="34" charset="0"/>
                <a:ea typeface="IBM Plex Sans" pitchFamily="34" charset="-122"/>
                <a:cs typeface="IBM Plex Sans" pitchFamily="34" charset="-120"/>
              </a:rPr>
              <a:t>  26</a:t>
            </a:r>
            <a:pPr indent="0" marL="0">
              <a:buNone/>
            </a:pPr>
            <a:r>
              <a:rPr lang="en-US" sz="690" dirty="0">
                <a:solidFill>
                  <a:srgbClr val="46606E"/>
                </a:solidFill>
                <a:latin typeface="IBM Plex Sans" pitchFamily="34" charset="0"/>
                <a:ea typeface="IBM Plex Sans" pitchFamily="34" charset="-122"/>
                <a:cs typeface="IBM Plex Sans" pitchFamily="34" charset="-120"/>
              </a:rPr>
              <a:t>  47</a:t>
            </a:r>
            <a:endParaRPr lang="en-US" sz="690" dirty="0"/>
          </a:p>
        </p:txBody>
      </p:sp>
      <p:sp>
        <p:nvSpPr>
          <p:cNvPr id="6" name="Text 4"/>
          <p:cNvSpPr/>
          <p:nvPr/>
        </p:nvSpPr>
        <p:spPr>
          <a:xfrm>
            <a:off x="828000" y="10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L'Etoile de Villegeorge</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7" name="Text 5"/>
          <p:cNvSpPr/>
          <p:nvPr/>
        </p:nvSpPr>
        <p:spPr>
          <a:xfrm>
            <a:off x="828000" y="11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L'Oratoire de Chasse-Spleen</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8" name="Text 6"/>
          <p:cNvSpPr/>
          <p:nvPr/>
        </p:nvSpPr>
        <p:spPr>
          <a:xfrm>
            <a:off x="828000" y="12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Bonne Résolution</a:t>
            </a:r>
            <a:pPr indent="0" marL="0">
              <a:buNone/>
            </a:pPr>
            <a:r>
              <a:rPr lang="en-US" sz="690" b="1" dirty="0">
                <a:solidFill>
                  <a:srgbClr val="67067C"/>
                </a:solidFill>
                <a:latin typeface="IBM Plex Sans" pitchFamily="34" charset="0"/>
                <a:ea typeface="IBM Plex Sans" pitchFamily="34" charset="-122"/>
                <a:cs typeface="IBM Plex Sans" pitchFamily="34" charset="-120"/>
              </a:rPr>
              <a:t>  26</a:t>
            </a:r>
            <a:pPr indent="0" marL="0">
              <a:buNone/>
            </a:pPr>
            <a:r>
              <a:rPr lang="en-US" sz="690" dirty="0">
                <a:solidFill>
                  <a:srgbClr val="46606E"/>
                </a:solidFill>
                <a:latin typeface="IBM Plex Sans" pitchFamily="34" charset="0"/>
                <a:ea typeface="IBM Plex Sans" pitchFamily="34" charset="-122"/>
                <a:cs typeface="IBM Plex Sans" pitchFamily="34" charset="-120"/>
              </a:rPr>
              <a:t>  47</a:t>
            </a:r>
            <a:endParaRPr lang="en-US" sz="690" dirty="0"/>
          </a:p>
        </p:txBody>
      </p:sp>
      <p:sp>
        <p:nvSpPr>
          <p:cNvPr id="9" name="Text 7"/>
          <p:cNvSpPr/>
          <p:nvPr/>
        </p:nvSpPr>
        <p:spPr>
          <a:xfrm>
            <a:off x="828000" y="14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Confiance de l'Escarderie</a:t>
            </a:r>
            <a:pPr indent="0" marL="0">
              <a:buNone/>
            </a:pPr>
            <a:r>
              <a:rPr lang="en-US" sz="690" b="1" dirty="0">
                <a:solidFill>
                  <a:srgbClr val="67067C"/>
                </a:solidFill>
                <a:latin typeface="IBM Plex Sans" pitchFamily="34" charset="0"/>
                <a:ea typeface="IBM Plex Sans" pitchFamily="34" charset="-122"/>
                <a:cs typeface="IBM Plex Sans" pitchFamily="34" charset="-120"/>
              </a:rPr>
              <a:t>  30</a:t>
            </a:r>
            <a:pPr indent="0" marL="0">
              <a:buNone/>
            </a:pPr>
            <a:r>
              <a:rPr lang="en-US" sz="690" dirty="0">
                <a:solidFill>
                  <a:srgbClr val="46606E"/>
                </a:solidFill>
                <a:latin typeface="IBM Plex Sans" pitchFamily="34" charset="0"/>
                <a:ea typeface="IBM Plex Sans" pitchFamily="34" charset="-122"/>
                <a:cs typeface="IBM Plex Sans" pitchFamily="34" charset="-120"/>
              </a:rPr>
              <a:t>  52</a:t>
            </a:r>
            <a:endParaRPr lang="en-US" sz="690" dirty="0"/>
          </a:p>
        </p:txBody>
      </p:sp>
      <p:sp>
        <p:nvSpPr>
          <p:cNvPr id="10" name="Text 8"/>
          <p:cNvSpPr/>
          <p:nvPr/>
        </p:nvSpPr>
        <p:spPr>
          <a:xfrm>
            <a:off x="828000" y="15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Demoiselle de Saint-Germain</a:t>
            </a:r>
            <a:pPr indent="0" marL="0">
              <a:buNone/>
            </a:pPr>
            <a:r>
              <a:rPr lang="en-US" sz="690" b="1" dirty="0">
                <a:solidFill>
                  <a:srgbClr val="67067C"/>
                </a:solidFill>
                <a:latin typeface="IBM Plex Sans" pitchFamily="34" charset="0"/>
                <a:ea typeface="IBM Plex Sans" pitchFamily="34" charset="-122"/>
                <a:cs typeface="IBM Plex Sans" pitchFamily="34" charset="-120"/>
              </a:rPr>
              <a:t>  30</a:t>
            </a:r>
            <a:pPr indent="0" marL="0">
              <a:buNone/>
            </a:pPr>
            <a:r>
              <a:rPr lang="en-US" sz="690" dirty="0">
                <a:solidFill>
                  <a:srgbClr val="46606E"/>
                </a:solidFill>
                <a:latin typeface="IBM Plex Sans" pitchFamily="34" charset="0"/>
                <a:ea typeface="IBM Plex Sans" pitchFamily="34" charset="-122"/>
                <a:cs typeface="IBM Plex Sans" pitchFamily="34" charset="-120"/>
              </a:rPr>
              <a:t>  52</a:t>
            </a:r>
            <a:endParaRPr lang="en-US" sz="690" dirty="0"/>
          </a:p>
        </p:txBody>
      </p:sp>
      <p:sp>
        <p:nvSpPr>
          <p:cNvPr id="11" name="Text 9"/>
          <p:cNvSpPr/>
          <p:nvPr/>
        </p:nvSpPr>
        <p:spPr>
          <a:xfrm>
            <a:off x="828000" y="16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Fleur de Haut-Bages Libéral</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2" name="Text 10"/>
          <p:cNvSpPr/>
          <p:nvPr/>
        </p:nvSpPr>
        <p:spPr>
          <a:xfrm>
            <a:off x="828000" y="18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Grange Jaumain – Les Soudannes</a:t>
            </a:r>
            <a:pPr indent="0" marL="0">
              <a:buNone/>
            </a:pPr>
            <a:r>
              <a:rPr lang="en-US" sz="690" b="1" dirty="0">
                <a:solidFill>
                  <a:srgbClr val="67067C"/>
                </a:solidFill>
                <a:latin typeface="IBM Plex Sans" pitchFamily="34" charset="0"/>
                <a:ea typeface="IBM Plex Sans" pitchFamily="34" charset="-122"/>
                <a:cs typeface="IBM Plex Sans" pitchFamily="34" charset="-120"/>
              </a:rPr>
              <a:t>  1</a:t>
            </a:r>
            <a:pPr indent="0" marL="0">
              <a:buNone/>
            </a:pP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13" name="Text 11"/>
          <p:cNvSpPr/>
          <p:nvPr/>
        </p:nvSpPr>
        <p:spPr>
          <a:xfrm>
            <a:off x="828000" y="19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Louisonne</a:t>
            </a:r>
            <a:pPr indent="0" marL="0">
              <a:buNone/>
            </a:pPr>
            <a:r>
              <a:rPr lang="en-US" sz="690" b="1" dirty="0">
                <a:solidFill>
                  <a:srgbClr val="67067C"/>
                </a:solidFill>
                <a:latin typeface="IBM Plex Sans" pitchFamily="34" charset="0"/>
                <a:ea typeface="IBM Plex Sans" pitchFamily="34" charset="-122"/>
                <a:cs typeface="IBM Plex Sans" pitchFamily="34" charset="-120"/>
              </a:rPr>
              <a:t>  6</a:t>
            </a:r>
            <a:pPr indent="0" marL="0">
              <a:buNone/>
            </a:pP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14" name="Text 12"/>
          <p:cNvSpPr/>
          <p:nvPr/>
        </p:nvSpPr>
        <p:spPr>
          <a:xfrm>
            <a:off x="828000" y="20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Petite Echoppe</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5" name="Text 13"/>
          <p:cNvSpPr/>
          <p:nvPr/>
        </p:nvSpPr>
        <p:spPr>
          <a:xfrm>
            <a:off x="828000" y="21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Petite Syrah</a:t>
            </a:r>
            <a:pPr indent="0" marL="0">
              <a:buNone/>
            </a:pPr>
            <a:r>
              <a:rPr lang="en-US" sz="690" b="1" dirty="0">
                <a:solidFill>
                  <a:srgbClr val="67067C"/>
                </a:solidFill>
                <a:latin typeface="IBM Plex Sans" pitchFamily="34" charset="0"/>
                <a:ea typeface="IBM Plex Sans" pitchFamily="34" charset="-122"/>
                <a:cs typeface="IBM Plex Sans" pitchFamily="34" charset="-120"/>
              </a:rPr>
              <a:t>  35</a:t>
            </a:r>
            <a:pPr indent="0" marL="0">
              <a:buNone/>
            </a:pPr>
            <a:r>
              <a:rPr lang="en-US" sz="690" dirty="0">
                <a:solidFill>
                  <a:srgbClr val="46606E"/>
                </a:solidFill>
                <a:latin typeface="IBM Plex Sans" pitchFamily="34" charset="0"/>
                <a:ea typeface="IBM Plex Sans" pitchFamily="34" charset="-122"/>
                <a:cs typeface="IBM Plex Sans" pitchFamily="34" charset="-120"/>
              </a:rPr>
              <a:t>  60</a:t>
            </a:r>
            <a:endParaRPr lang="en-US" sz="690" dirty="0"/>
          </a:p>
        </p:txBody>
      </p:sp>
      <p:sp>
        <p:nvSpPr>
          <p:cNvPr id="16" name="Text 14"/>
          <p:cNvSpPr/>
          <p:nvPr/>
        </p:nvSpPr>
        <p:spPr>
          <a:xfrm>
            <a:off x="828000" y="23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Petite Tour de Bessan</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7" name="Text 15"/>
          <p:cNvSpPr/>
          <p:nvPr/>
        </p:nvSpPr>
        <p:spPr>
          <a:xfrm>
            <a:off x="828000" y="24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Potion</a:t>
            </a:r>
            <a:pPr indent="0" marL="0">
              <a:buNone/>
            </a:pPr>
            <a:r>
              <a:rPr lang="en-US" sz="690" b="1" dirty="0">
                <a:solidFill>
                  <a:srgbClr val="67067C"/>
                </a:solidFill>
                <a:latin typeface="IBM Plex Sans" pitchFamily="34" charset="0"/>
                <a:ea typeface="IBM Plex Sans" pitchFamily="34" charset="-122"/>
                <a:cs typeface="IBM Plex Sans" pitchFamily="34" charset="-120"/>
              </a:rPr>
              <a:t>  36</a:t>
            </a:r>
            <a:pPr indent="0" marL="0">
              <a:buNone/>
            </a:pPr>
            <a:r>
              <a:rPr lang="en-US" sz="690" dirty="0">
                <a:solidFill>
                  <a:srgbClr val="46606E"/>
                </a:solidFill>
                <a:latin typeface="IBM Plex Sans" pitchFamily="34" charset="0"/>
                <a:ea typeface="IBM Plex Sans" pitchFamily="34" charset="-122"/>
                <a:cs typeface="IBM Plex Sans" pitchFamily="34" charset="-120"/>
              </a:rPr>
              <a:t>  61</a:t>
            </a:r>
            <a:endParaRPr lang="en-US" sz="690" dirty="0"/>
          </a:p>
        </p:txBody>
      </p:sp>
      <p:sp>
        <p:nvSpPr>
          <p:cNvPr id="18" name="Text 16"/>
          <p:cNvSpPr/>
          <p:nvPr/>
        </p:nvSpPr>
        <p:spPr>
          <a:xfrm>
            <a:off x="828000" y="25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Soif</a:t>
            </a:r>
            <a:pPr indent="0" marL="0">
              <a:buNone/>
            </a:pPr>
            <a:r>
              <a:rPr lang="en-US" sz="690" b="1" dirty="0">
                <a:solidFill>
                  <a:srgbClr val="67067C"/>
                </a:solidFill>
                <a:latin typeface="IBM Plex Sans" pitchFamily="34" charset="0"/>
                <a:ea typeface="IBM Plex Sans" pitchFamily="34" charset="-122"/>
                <a:cs typeface="IBM Plex Sans" pitchFamily="34" charset="-120"/>
              </a:rPr>
              <a:t>  35</a:t>
            </a:r>
            <a:pPr indent="0" marL="0">
              <a:buNone/>
            </a:pPr>
            <a:r>
              <a:rPr lang="en-US" sz="690" dirty="0">
                <a:solidFill>
                  <a:srgbClr val="46606E"/>
                </a:solidFill>
                <a:latin typeface="IBM Plex Sans" pitchFamily="34" charset="0"/>
                <a:ea typeface="IBM Plex Sans" pitchFamily="34" charset="-122"/>
                <a:cs typeface="IBM Plex Sans" pitchFamily="34" charset="-120"/>
              </a:rPr>
              <a:t>  60</a:t>
            </a:r>
            <a:endParaRPr lang="en-US" sz="690" dirty="0"/>
          </a:p>
        </p:txBody>
      </p:sp>
      <p:sp>
        <p:nvSpPr>
          <p:cNvPr id="19" name="Text 17"/>
          <p:cNvSpPr/>
          <p:nvPr/>
        </p:nvSpPr>
        <p:spPr>
          <a:xfrm>
            <a:off x="828000" y="26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Bois Bouquet</a:t>
            </a:r>
            <a:pPr indent="0" marL="0">
              <a:buNone/>
            </a:pPr>
            <a:r>
              <a:rPr lang="en-US" sz="690" b="1" dirty="0">
                <a:solidFill>
                  <a:srgbClr val="67067C"/>
                </a:solidFill>
                <a:latin typeface="IBM Plex Sans" pitchFamily="34" charset="0"/>
                <a:ea typeface="IBM Plex Sans" pitchFamily="34" charset="-122"/>
                <a:cs typeface="IBM Plex Sans" pitchFamily="34" charset="-120"/>
              </a:rPr>
              <a:t>  2</a:t>
            </a:r>
            <a:pPr indent="0" marL="0">
              <a:buNone/>
            </a:pPr>
            <a:r>
              <a:rPr lang="en-US" sz="690" dirty="0">
                <a:solidFill>
                  <a:srgbClr val="46606E"/>
                </a:solidFill>
                <a:latin typeface="IBM Plex Sans" pitchFamily="34" charset="0"/>
                <a:ea typeface="IBM Plex Sans" pitchFamily="34" charset="-122"/>
                <a:cs typeface="IBM Plex Sans" pitchFamily="34" charset="-120"/>
              </a:rPr>
              <a:t>  8</a:t>
            </a:r>
            <a:endParaRPr lang="en-US" sz="690" dirty="0"/>
          </a:p>
        </p:txBody>
      </p:sp>
      <p:sp>
        <p:nvSpPr>
          <p:cNvPr id="20" name="Text 18"/>
          <p:cNvSpPr/>
          <p:nvPr/>
        </p:nvSpPr>
        <p:spPr>
          <a:xfrm>
            <a:off x="828000" y="28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Cornevent MONOPOLE</a:t>
            </a:r>
            <a:pPr indent="0" marL="0">
              <a:buNone/>
            </a:pPr>
            <a:r>
              <a:rPr lang="en-US" sz="690" b="1" dirty="0">
                <a:solidFill>
                  <a:srgbClr val="67067C"/>
                </a:solidFill>
                <a:latin typeface="IBM Plex Sans" pitchFamily="34" charset="0"/>
                <a:ea typeface="IBM Plex Sans" pitchFamily="34" charset="-122"/>
                <a:cs typeface="IBM Plex Sans" pitchFamily="34" charset="-120"/>
              </a:rPr>
              <a:t>  13</a:t>
            </a:r>
            <a:pPr indent="0" marL="0">
              <a:buNone/>
            </a:pPr>
            <a:r>
              <a:rPr lang="en-US" sz="690" dirty="0">
                <a:solidFill>
                  <a:srgbClr val="46606E"/>
                </a:solidFill>
                <a:latin typeface="IBM Plex Sans" pitchFamily="34" charset="0"/>
                <a:ea typeface="IBM Plex Sans" pitchFamily="34" charset="-122"/>
                <a:cs typeface="IBM Plex Sans" pitchFamily="34" charset="-120"/>
              </a:rPr>
              <a:t>  27</a:t>
            </a:r>
            <a:endParaRPr lang="en-US" sz="690" dirty="0"/>
          </a:p>
        </p:txBody>
      </p:sp>
      <p:sp>
        <p:nvSpPr>
          <p:cNvPr id="21" name="Text 19"/>
          <p:cNvSpPr/>
          <p:nvPr/>
        </p:nvSpPr>
        <p:spPr>
          <a:xfrm>
            <a:off x="828000" y="293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Hameau de Durfort-Vivens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22" name="Text 20"/>
          <p:cNvSpPr/>
          <p:nvPr/>
        </p:nvSpPr>
        <p:spPr>
          <a:xfrm>
            <a:off x="828000" y="306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Hameau de Durfort-Vivens  150 cl</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23" name="Text 21"/>
          <p:cNvSpPr/>
          <p:nvPr/>
        </p:nvSpPr>
        <p:spPr>
          <a:xfrm>
            <a:off x="828000" y="318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Plateau de Durfort-Vivens</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24" name="Text 22"/>
          <p:cNvSpPr/>
          <p:nvPr/>
        </p:nvSpPr>
        <p:spPr>
          <a:xfrm>
            <a:off x="828000" y="331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Prieuré</a:t>
            </a:r>
            <a:pPr indent="0" marL="0">
              <a:buNone/>
            </a:pPr>
            <a:r>
              <a:rPr lang="en-US" sz="690" b="1" dirty="0">
                <a:solidFill>
                  <a:srgbClr val="67067C"/>
                </a:solidFill>
                <a:latin typeface="IBM Plex Sans" pitchFamily="34" charset="0"/>
                <a:ea typeface="IBM Plex Sans" pitchFamily="34" charset="-122"/>
                <a:cs typeface="IBM Plex Sans" pitchFamily="34" charset="-120"/>
              </a:rPr>
              <a:t>  16</a:t>
            </a:r>
            <a:pPr indent="0" marL="0">
              <a:buNone/>
            </a:pPr>
            <a:r>
              <a:rPr lang="en-US" sz="690" dirty="0">
                <a:solidFill>
                  <a:srgbClr val="46606E"/>
                </a:solidFill>
                <a:latin typeface="IBM Plex Sans" pitchFamily="34" charset="0"/>
                <a:ea typeface="IBM Plex Sans" pitchFamily="34" charset="-122"/>
                <a:cs typeface="IBM Plex Sans" pitchFamily="34" charset="-120"/>
              </a:rPr>
              <a:t>  31</a:t>
            </a:r>
            <a:endParaRPr lang="en-US" sz="690" dirty="0"/>
          </a:p>
        </p:txBody>
      </p:sp>
      <p:sp>
        <p:nvSpPr>
          <p:cNvPr id="25" name="Text 23"/>
          <p:cNvSpPr/>
          <p:nvPr/>
        </p:nvSpPr>
        <p:spPr>
          <a:xfrm>
            <a:off x="828000" y="343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Saugeot</a:t>
            </a:r>
            <a:pPr indent="0" marL="0">
              <a:buNone/>
            </a:pPr>
            <a:r>
              <a:rPr lang="en-US" sz="690" b="1" dirty="0">
                <a:solidFill>
                  <a:srgbClr val="67067C"/>
                </a:solidFill>
                <a:latin typeface="IBM Plex Sans" pitchFamily="34" charset="0"/>
                <a:ea typeface="IBM Plex Sans" pitchFamily="34" charset="-122"/>
                <a:cs typeface="IBM Plex Sans" pitchFamily="34" charset="-120"/>
              </a:rPr>
              <a:t>  14</a:t>
            </a:r>
            <a:pPr indent="0" marL="0">
              <a:buNone/>
            </a:pPr>
            <a:r>
              <a:rPr lang="en-US" sz="690" dirty="0">
                <a:solidFill>
                  <a:srgbClr val="46606E"/>
                </a:solidFill>
                <a:latin typeface="IBM Plex Sans" pitchFamily="34" charset="0"/>
                <a:ea typeface="IBM Plex Sans" pitchFamily="34" charset="-122"/>
                <a:cs typeface="IBM Plex Sans" pitchFamily="34" charset="-120"/>
              </a:rPr>
              <a:t>  28</a:t>
            </a:r>
            <a:endParaRPr lang="en-US" sz="690" dirty="0"/>
          </a:p>
        </p:txBody>
      </p:sp>
      <p:sp>
        <p:nvSpPr>
          <p:cNvPr id="26" name="Text 24"/>
          <p:cNvSpPr/>
          <p:nvPr/>
        </p:nvSpPr>
        <p:spPr>
          <a:xfrm>
            <a:off x="828000" y="356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Léon</a:t>
            </a:r>
            <a:pPr indent="0" marL="0">
              <a:buNone/>
            </a:pPr>
            <a:r>
              <a:rPr lang="en-US" sz="690" b="1" dirty="0">
                <a:solidFill>
                  <a:srgbClr val="67067C"/>
                </a:solidFill>
                <a:latin typeface="IBM Plex Sans" pitchFamily="34" charset="0"/>
                <a:ea typeface="IBM Plex Sans" pitchFamily="34" charset="-122"/>
                <a:cs typeface="IBM Plex Sans" pitchFamily="34" charset="-120"/>
              </a:rPr>
              <a:t>  34</a:t>
            </a:r>
            <a:pPr indent="0" marL="0">
              <a:buNone/>
            </a:pP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27" name="Text 25"/>
          <p:cNvSpPr/>
          <p:nvPr/>
        </p:nvSpPr>
        <p:spPr>
          <a:xfrm>
            <a:off x="828000" y="369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Aigrots</a:t>
            </a:r>
            <a:pPr indent="0" marL="0">
              <a:buNone/>
            </a:pPr>
            <a:r>
              <a:rPr lang="en-US" sz="690" b="1" dirty="0">
                <a:solidFill>
                  <a:srgbClr val="67067C"/>
                </a:solidFill>
                <a:latin typeface="IBM Plex Sans" pitchFamily="34" charset="0"/>
                <a:ea typeface="IBM Plex Sans" pitchFamily="34" charset="-122"/>
                <a:cs typeface="IBM Plex Sans" pitchFamily="34" charset="-120"/>
              </a:rPr>
              <a:t>  10</a:t>
            </a:r>
            <a:pPr indent="0" marL="0">
              <a:buNone/>
            </a:pP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28" name="Text 26"/>
          <p:cNvSpPr/>
          <p:nvPr/>
        </p:nvSpPr>
        <p:spPr>
          <a:xfrm>
            <a:off x="828000" y="381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banquettes</a:t>
            </a:r>
            <a:pPr indent="0" marL="0">
              <a:buNone/>
            </a:pPr>
            <a:r>
              <a:rPr lang="en-US" sz="690" b="1" dirty="0">
                <a:solidFill>
                  <a:srgbClr val="67067C"/>
                </a:solidFill>
                <a:latin typeface="IBM Plex Sans" pitchFamily="34" charset="0"/>
                <a:ea typeface="IBM Plex Sans" pitchFamily="34" charset="-122"/>
                <a:cs typeface="IBM Plex Sans" pitchFamily="34" charset="-120"/>
              </a:rPr>
              <a:t>  17</a:t>
            </a:r>
            <a:pPr indent="0" marL="0">
              <a:buNone/>
            </a:pPr>
            <a:r>
              <a:rPr lang="en-US" sz="690" dirty="0">
                <a:solidFill>
                  <a:srgbClr val="46606E"/>
                </a:solidFill>
                <a:latin typeface="IBM Plex Sans" pitchFamily="34" charset="0"/>
                <a:ea typeface="IBM Plex Sans" pitchFamily="34" charset="-122"/>
                <a:cs typeface="IBM Plex Sans" pitchFamily="34" charset="-120"/>
              </a:rPr>
              <a:t>  32</a:t>
            </a:r>
            <a:endParaRPr lang="en-US" sz="690" dirty="0"/>
          </a:p>
        </p:txBody>
      </p:sp>
      <p:sp>
        <p:nvSpPr>
          <p:cNvPr id="29" name="Text 27"/>
          <p:cNvSpPr/>
          <p:nvPr/>
        </p:nvSpPr>
        <p:spPr>
          <a:xfrm>
            <a:off x="828000" y="394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Bons Feuvres</a:t>
            </a:r>
            <a:pPr indent="0" marL="0">
              <a:buNone/>
            </a:pPr>
            <a:r>
              <a:rPr lang="en-US" sz="690" b="1" dirty="0">
                <a:solidFill>
                  <a:srgbClr val="67067C"/>
                </a:solidFill>
                <a:latin typeface="IBM Plex Sans" pitchFamily="34" charset="0"/>
                <a:ea typeface="IBM Plex Sans" pitchFamily="34" charset="-122"/>
                <a:cs typeface="IBM Plex Sans" pitchFamily="34" charset="-120"/>
              </a:rPr>
              <a:t>  10</a:t>
            </a:r>
            <a:pPr indent="0" marL="0">
              <a:buNone/>
            </a:pP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30" name="Text 28"/>
          <p:cNvSpPr/>
          <p:nvPr/>
        </p:nvSpPr>
        <p:spPr>
          <a:xfrm>
            <a:off x="828000" y="406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Coups de Folies</a:t>
            </a:r>
            <a:pPr indent="0" marL="0">
              <a:buNone/>
            </a:pPr>
            <a:r>
              <a:rPr lang="en-US" sz="690" b="1" dirty="0">
                <a:solidFill>
                  <a:srgbClr val="67067C"/>
                </a:solidFill>
                <a:latin typeface="IBM Plex Sans" pitchFamily="34" charset="0"/>
                <a:ea typeface="IBM Plex Sans" pitchFamily="34" charset="-122"/>
                <a:cs typeface="IBM Plex Sans" pitchFamily="34" charset="-120"/>
              </a:rPr>
              <a:t>  9</a:t>
            </a:r>
            <a:pPr indent="0" marL="0">
              <a:buNone/>
            </a:pP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31" name="Text 29"/>
          <p:cNvSpPr/>
          <p:nvPr/>
        </p:nvSpPr>
        <p:spPr>
          <a:xfrm>
            <a:off x="828000" y="419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Courbes</a:t>
            </a:r>
            <a:pPr indent="0" marL="0">
              <a:buNone/>
            </a:pPr>
            <a:r>
              <a:rPr lang="en-US" sz="690" b="1" dirty="0">
                <a:solidFill>
                  <a:srgbClr val="67067C"/>
                </a:solidFill>
                <a:latin typeface="IBM Plex Sans" pitchFamily="34" charset="0"/>
                <a:ea typeface="IBM Plex Sans" pitchFamily="34" charset="-122"/>
                <a:cs typeface="IBM Plex Sans" pitchFamily="34" charset="-120"/>
              </a:rPr>
              <a:t>  2</a:t>
            </a:r>
            <a:pPr indent="0" marL="0">
              <a:buNone/>
            </a:pPr>
            <a:r>
              <a:rPr lang="en-US" sz="690" dirty="0">
                <a:solidFill>
                  <a:srgbClr val="46606E"/>
                </a:solidFill>
                <a:latin typeface="IBM Plex Sans" pitchFamily="34" charset="0"/>
                <a:ea typeface="IBM Plex Sans" pitchFamily="34" charset="-122"/>
                <a:cs typeface="IBM Plex Sans" pitchFamily="34" charset="-120"/>
              </a:rPr>
              <a:t>  8</a:t>
            </a:r>
            <a:endParaRPr lang="en-US" sz="690" dirty="0"/>
          </a:p>
        </p:txBody>
      </p:sp>
      <p:sp>
        <p:nvSpPr>
          <p:cNvPr id="32" name="Text 30"/>
          <p:cNvSpPr/>
          <p:nvPr/>
        </p:nvSpPr>
        <p:spPr>
          <a:xfrm>
            <a:off x="828000" y="432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Demoiselles de Falfas</a:t>
            </a:r>
            <a:pPr indent="0" marL="0">
              <a:buNone/>
            </a:pPr>
            <a:r>
              <a:rPr lang="en-US" sz="690" b="1" dirty="0">
                <a:solidFill>
                  <a:srgbClr val="67067C"/>
                </a:solidFill>
                <a:latin typeface="IBM Plex Sans" pitchFamily="34" charset="0"/>
                <a:ea typeface="IBM Plex Sans" pitchFamily="34" charset="-122"/>
                <a:cs typeface="IBM Plex Sans" pitchFamily="34" charset="-120"/>
              </a:rPr>
              <a:t>  27</a:t>
            </a:r>
            <a:pPr indent="0" marL="0">
              <a:buNone/>
            </a:pPr>
            <a:r>
              <a:rPr lang="en-US" sz="690" dirty="0">
                <a:solidFill>
                  <a:srgbClr val="46606E"/>
                </a:solidFill>
                <a:latin typeface="IBM Plex Sans" pitchFamily="34" charset="0"/>
                <a:ea typeface="IBM Plex Sans" pitchFamily="34" charset="-122"/>
                <a:cs typeface="IBM Plex Sans" pitchFamily="34" charset="-120"/>
              </a:rPr>
              <a:t>  49</a:t>
            </a:r>
            <a:endParaRPr lang="en-US" sz="690" dirty="0"/>
          </a:p>
        </p:txBody>
      </p:sp>
      <p:sp>
        <p:nvSpPr>
          <p:cNvPr id="33" name="Text 31"/>
          <p:cNvSpPr/>
          <p:nvPr/>
        </p:nvSpPr>
        <p:spPr>
          <a:xfrm>
            <a:off x="828000" y="44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Gneiss</a:t>
            </a:r>
            <a:pPr indent="0" marL="0">
              <a:buNone/>
            </a:pPr>
            <a:r>
              <a:rPr lang="en-US" sz="690" b="1" dirty="0">
                <a:solidFill>
                  <a:srgbClr val="67067C"/>
                </a:solidFill>
                <a:latin typeface="IBM Plex Sans" pitchFamily="34" charset="0"/>
                <a:ea typeface="IBM Plex Sans" pitchFamily="34" charset="-122"/>
                <a:cs typeface="IBM Plex Sans" pitchFamily="34" charset="-120"/>
              </a:rPr>
              <a:t>  2</a:t>
            </a:r>
            <a:pPr indent="0" marL="0">
              <a:buNone/>
            </a:pPr>
            <a:r>
              <a:rPr lang="en-US" sz="690" dirty="0">
                <a:solidFill>
                  <a:srgbClr val="46606E"/>
                </a:solidFill>
                <a:latin typeface="IBM Plex Sans" pitchFamily="34" charset="0"/>
                <a:ea typeface="IBM Plex Sans" pitchFamily="34" charset="-122"/>
                <a:cs typeface="IBM Plex Sans" pitchFamily="34" charset="-120"/>
              </a:rPr>
              <a:t>  8</a:t>
            </a:r>
            <a:endParaRPr lang="en-US" sz="690" dirty="0"/>
          </a:p>
        </p:txBody>
      </p:sp>
      <p:sp>
        <p:nvSpPr>
          <p:cNvPr id="34" name="Text 32"/>
          <p:cNvSpPr/>
          <p:nvPr/>
        </p:nvSpPr>
        <p:spPr>
          <a:xfrm>
            <a:off x="828000" y="45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Hauts de Pez</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35" name="Text 33"/>
          <p:cNvSpPr/>
          <p:nvPr/>
        </p:nvSpPr>
        <p:spPr>
          <a:xfrm>
            <a:off x="828000" y="46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Hauts des Olivoux</a:t>
            </a:r>
            <a:pPr indent="0" marL="0">
              <a:buNone/>
            </a:pPr>
            <a:r>
              <a:rPr lang="en-US" sz="690" b="1" dirty="0">
                <a:solidFill>
                  <a:srgbClr val="67067C"/>
                </a:solidFill>
                <a:latin typeface="IBM Plex Sans" pitchFamily="34" charset="0"/>
                <a:ea typeface="IBM Plex Sans" pitchFamily="34" charset="-122"/>
                <a:cs typeface="IBM Plex Sans" pitchFamily="34" charset="-120"/>
              </a:rPr>
              <a:t>  24</a:t>
            </a:r>
            <a:pPr indent="0" marL="0">
              <a:buNone/>
            </a:pPr>
            <a:r>
              <a:rPr lang="en-US" sz="690" dirty="0">
                <a:solidFill>
                  <a:srgbClr val="46606E"/>
                </a:solidFill>
                <a:latin typeface="IBM Plex Sans" pitchFamily="34" charset="0"/>
                <a:ea typeface="IBM Plex Sans" pitchFamily="34" charset="-122"/>
                <a:cs typeface="IBM Plex Sans" pitchFamily="34" charset="-120"/>
              </a:rPr>
              <a:t>  41</a:t>
            </a:r>
            <a:endParaRPr lang="en-US" sz="690" dirty="0"/>
          </a:p>
        </p:txBody>
      </p:sp>
      <p:sp>
        <p:nvSpPr>
          <p:cNvPr id="36" name="Text 34"/>
          <p:cNvSpPr/>
          <p:nvPr/>
        </p:nvSpPr>
        <p:spPr>
          <a:xfrm>
            <a:off x="828000" y="48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Jumelles</a:t>
            </a:r>
            <a:pPr indent="0" marL="0">
              <a:buNone/>
            </a:pPr>
            <a:r>
              <a:rPr lang="en-US" sz="690" b="1" dirty="0">
                <a:solidFill>
                  <a:srgbClr val="67067C"/>
                </a:solidFill>
                <a:latin typeface="IBM Plex Sans" pitchFamily="34" charset="0"/>
                <a:ea typeface="IBM Plex Sans" pitchFamily="34" charset="-122"/>
                <a:cs typeface="IBM Plex Sans" pitchFamily="34" charset="-120"/>
              </a:rPr>
              <a:t>  17</a:t>
            </a:r>
            <a:pPr indent="0" marL="0">
              <a:buNone/>
            </a:pPr>
            <a:r>
              <a:rPr lang="en-US" sz="690" dirty="0">
                <a:solidFill>
                  <a:srgbClr val="46606E"/>
                </a:solidFill>
                <a:latin typeface="IBM Plex Sans" pitchFamily="34" charset="0"/>
                <a:ea typeface="IBM Plex Sans" pitchFamily="34" charset="-122"/>
                <a:cs typeface="IBM Plex Sans" pitchFamily="34" charset="-120"/>
              </a:rPr>
              <a:t>  32</a:t>
            </a:r>
            <a:endParaRPr lang="en-US" sz="690" dirty="0"/>
          </a:p>
        </p:txBody>
      </p:sp>
      <p:sp>
        <p:nvSpPr>
          <p:cNvPr id="37" name="Text 35"/>
          <p:cNvSpPr/>
          <p:nvPr/>
        </p:nvSpPr>
        <p:spPr>
          <a:xfrm>
            <a:off x="828000" y="49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Maréchaudes</a:t>
            </a:r>
            <a:pPr indent="0" marL="0">
              <a:buNone/>
            </a:pPr>
            <a:r>
              <a:rPr lang="en-US" sz="690" b="1" dirty="0">
                <a:solidFill>
                  <a:srgbClr val="67067C"/>
                </a:solidFill>
                <a:latin typeface="IBM Plex Sans" pitchFamily="34" charset="0"/>
                <a:ea typeface="IBM Plex Sans" pitchFamily="34" charset="-122"/>
                <a:cs typeface="IBM Plex Sans" pitchFamily="34" charset="-120"/>
              </a:rPr>
              <a:t>  12</a:t>
            </a:r>
            <a:pPr indent="0" marL="0">
              <a:buNone/>
            </a:pP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38" name="Text 36"/>
          <p:cNvSpPr/>
          <p:nvPr/>
        </p:nvSpPr>
        <p:spPr>
          <a:xfrm>
            <a:off x="828000" y="50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Perrières</a:t>
            </a:r>
            <a:pPr indent="0" marL="0">
              <a:buNone/>
            </a:pPr>
            <a:r>
              <a:rPr lang="en-US" sz="690" b="1" dirty="0">
                <a:solidFill>
                  <a:srgbClr val="67067C"/>
                </a:solidFill>
                <a:latin typeface="IBM Plex Sans" pitchFamily="34" charset="0"/>
                <a:ea typeface="IBM Plex Sans" pitchFamily="34" charset="-122"/>
                <a:cs typeface="IBM Plex Sans" pitchFamily="34" charset="-120"/>
              </a:rPr>
              <a:t>  10</a:t>
            </a:r>
            <a:pPr indent="0" marL="0">
              <a:buNone/>
            </a:pP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39" name="Text 37"/>
          <p:cNvSpPr/>
          <p:nvPr/>
        </p:nvSpPr>
        <p:spPr>
          <a:xfrm>
            <a:off x="828000" y="52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Petits Noizons</a:t>
            </a:r>
            <a:pPr indent="0" marL="0">
              <a:buNone/>
            </a:pPr>
            <a:r>
              <a:rPr lang="en-US" sz="690" b="1" dirty="0">
                <a:solidFill>
                  <a:srgbClr val="67067C"/>
                </a:solidFill>
                <a:latin typeface="IBM Plex Sans" pitchFamily="34" charset="0"/>
                <a:ea typeface="IBM Plex Sans" pitchFamily="34" charset="-122"/>
                <a:cs typeface="IBM Plex Sans" pitchFamily="34" charset="-120"/>
              </a:rPr>
              <a:t>  10</a:t>
            </a:r>
            <a:pPr indent="0" marL="0">
              <a:buNone/>
            </a:pP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40" name="Text 38"/>
          <p:cNvSpPr/>
          <p:nvPr/>
        </p:nvSpPr>
        <p:spPr>
          <a:xfrm>
            <a:off x="828000" y="53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Plantes de Durfort-Vivens</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41" name="Text 39"/>
          <p:cNvSpPr/>
          <p:nvPr/>
        </p:nvSpPr>
        <p:spPr>
          <a:xfrm>
            <a:off x="828000" y="54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Silex  2023</a:t>
            </a:r>
            <a:pPr indent="0" marL="0">
              <a:buNone/>
            </a:pPr>
            <a:r>
              <a:rPr lang="en-US" sz="690" b="1" dirty="0">
                <a:solidFill>
                  <a:srgbClr val="67067C"/>
                </a:solidFill>
                <a:latin typeface="IBM Plex Sans" pitchFamily="34" charset="0"/>
                <a:ea typeface="IBM Plex Sans" pitchFamily="34" charset="-122"/>
                <a:cs typeface="IBM Plex Sans" pitchFamily="34" charset="-120"/>
              </a:rPr>
              <a:t>  2</a:t>
            </a:r>
            <a:pPr indent="0" marL="0">
              <a:buNone/>
            </a:pPr>
            <a:r>
              <a:rPr lang="en-US" sz="690" dirty="0">
                <a:solidFill>
                  <a:srgbClr val="46606E"/>
                </a:solidFill>
                <a:latin typeface="IBM Plex Sans" pitchFamily="34" charset="0"/>
                <a:ea typeface="IBM Plex Sans" pitchFamily="34" charset="-122"/>
                <a:cs typeface="IBM Plex Sans" pitchFamily="34" charset="-120"/>
              </a:rPr>
              <a:t>  8</a:t>
            </a:r>
            <a:endParaRPr lang="en-US" sz="690" dirty="0"/>
          </a:p>
        </p:txBody>
      </p:sp>
      <p:sp>
        <p:nvSpPr>
          <p:cNvPr id="42" name="Text 40"/>
          <p:cNvSpPr/>
          <p:nvPr/>
        </p:nvSpPr>
        <p:spPr>
          <a:xfrm>
            <a:off x="828000" y="55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Vaux Dessus</a:t>
            </a:r>
            <a:pPr indent="0" marL="0">
              <a:buNone/>
            </a:pPr>
            <a:r>
              <a:rPr lang="en-US" sz="690" b="1" dirty="0">
                <a:solidFill>
                  <a:srgbClr val="67067C"/>
                </a:solidFill>
                <a:latin typeface="IBM Plex Sans" pitchFamily="34" charset="0"/>
                <a:ea typeface="IBM Plex Sans" pitchFamily="34" charset="-122"/>
                <a:cs typeface="IBM Plex Sans" pitchFamily="34" charset="-120"/>
              </a:rPr>
              <a:t>  14</a:t>
            </a:r>
            <a:pPr indent="0" marL="0">
              <a:buNone/>
            </a:pPr>
            <a:r>
              <a:rPr lang="en-US" sz="690" dirty="0">
                <a:solidFill>
                  <a:srgbClr val="46606E"/>
                </a:solidFill>
                <a:latin typeface="IBM Plex Sans" pitchFamily="34" charset="0"/>
                <a:ea typeface="IBM Plex Sans" pitchFamily="34" charset="-122"/>
                <a:cs typeface="IBM Plex Sans" pitchFamily="34" charset="-120"/>
              </a:rPr>
              <a:t>  28</a:t>
            </a:r>
            <a:endParaRPr lang="en-US" sz="690" dirty="0"/>
          </a:p>
        </p:txBody>
      </p:sp>
      <p:sp>
        <p:nvSpPr>
          <p:cNvPr id="43" name="Text 41"/>
          <p:cNvSpPr/>
          <p:nvPr/>
        </p:nvSpPr>
        <p:spPr>
          <a:xfrm>
            <a:off x="2868000" y="5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Librotte</a:t>
            </a:r>
            <a:pPr indent="0" marL="0">
              <a:buNone/>
            </a:pPr>
            <a:r>
              <a:rPr lang="en-US" sz="690" b="1" dirty="0">
                <a:solidFill>
                  <a:srgbClr val="67067C"/>
                </a:solidFill>
                <a:latin typeface="IBM Plex Sans" pitchFamily="34" charset="0"/>
                <a:ea typeface="IBM Plex Sans" pitchFamily="34" charset="-122"/>
                <a:cs typeface="IBM Plex Sans" pitchFamily="34" charset="-120"/>
              </a:rPr>
              <a:t>  35</a:t>
            </a:r>
            <a:pPr indent="0" marL="0">
              <a:buNone/>
            </a:pPr>
            <a:r>
              <a:rPr lang="en-US" sz="690" dirty="0">
                <a:solidFill>
                  <a:srgbClr val="46606E"/>
                </a:solidFill>
                <a:latin typeface="IBM Plex Sans" pitchFamily="34" charset="0"/>
                <a:ea typeface="IBM Plex Sans" pitchFamily="34" charset="-122"/>
                <a:cs typeface="IBM Plex Sans" pitchFamily="34" charset="-120"/>
              </a:rPr>
              <a:t>  60</a:t>
            </a:r>
            <a:endParaRPr lang="en-US" sz="690" dirty="0"/>
          </a:p>
        </p:txBody>
      </p:sp>
      <p:sp>
        <p:nvSpPr>
          <p:cNvPr id="44" name="Text 42"/>
          <p:cNvSpPr/>
          <p:nvPr/>
        </p:nvSpPr>
        <p:spPr>
          <a:xfrm>
            <a:off x="2868000" y="6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Lou Daro</a:t>
            </a:r>
            <a:pPr indent="0" marL="0">
              <a:buNone/>
            </a:pPr>
            <a:r>
              <a:rPr lang="en-US" sz="690" b="1" dirty="0">
                <a:solidFill>
                  <a:srgbClr val="67067C"/>
                </a:solidFill>
                <a:latin typeface="IBM Plex Sans" pitchFamily="34" charset="0"/>
                <a:ea typeface="IBM Plex Sans" pitchFamily="34" charset="-122"/>
                <a:cs typeface="IBM Plex Sans" pitchFamily="34" charset="-120"/>
              </a:rPr>
              <a:t>  34</a:t>
            </a:r>
            <a:pPr indent="0" marL="0">
              <a:buNone/>
            </a:pP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45" name="Text 43"/>
          <p:cNvSpPr/>
          <p:nvPr/>
        </p:nvSpPr>
        <p:spPr>
          <a:xfrm>
            <a:off x="2868000" y="7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LULLULA</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46" name="Text 44"/>
          <p:cNvSpPr/>
          <p:nvPr/>
        </p:nvSpPr>
        <p:spPr>
          <a:xfrm>
            <a:off x="2868000" y="9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Mâcon Mancey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15</a:t>
            </a:r>
            <a:pPr indent="0" marL="0">
              <a:buNone/>
            </a:pPr>
            <a:r>
              <a:rPr lang="en-US" sz="690" dirty="0">
                <a:solidFill>
                  <a:srgbClr val="46606E"/>
                </a:solidFill>
                <a:latin typeface="IBM Plex Sans" pitchFamily="34" charset="0"/>
                <a:ea typeface="IBM Plex Sans" pitchFamily="34" charset="-122"/>
                <a:cs typeface="IBM Plex Sans" pitchFamily="34" charset="-120"/>
              </a:rPr>
              <a:t>  29</a:t>
            </a:r>
            <a:endParaRPr lang="en-US" sz="690" dirty="0"/>
          </a:p>
        </p:txBody>
      </p:sp>
      <p:sp>
        <p:nvSpPr>
          <p:cNvPr id="47" name="Text 45"/>
          <p:cNvSpPr/>
          <p:nvPr/>
        </p:nvSpPr>
        <p:spPr>
          <a:xfrm>
            <a:off x="2868000" y="10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Molse Rouge (Pinot Noir)</a:t>
            </a:r>
            <a:pPr indent="0" marL="0">
              <a:buNone/>
            </a:pPr>
            <a:r>
              <a:rPr lang="en-US" sz="690" b="1" dirty="0">
                <a:solidFill>
                  <a:srgbClr val="67067C"/>
                </a:solidFill>
                <a:latin typeface="IBM Plex Sans" pitchFamily="34" charset="0"/>
                <a:ea typeface="IBM Plex Sans" pitchFamily="34" charset="-122"/>
                <a:cs typeface="IBM Plex Sans" pitchFamily="34" charset="-120"/>
              </a:rPr>
              <a:t>  8</a:t>
            </a:r>
            <a:pPr indent="0" marL="0">
              <a:buNone/>
            </a:pPr>
            <a:r>
              <a:rPr lang="en-US" sz="690" dirty="0">
                <a:solidFill>
                  <a:srgbClr val="46606E"/>
                </a:solidFill>
                <a:latin typeface="IBM Plex Sans" pitchFamily="34" charset="0"/>
                <a:ea typeface="IBM Plex Sans" pitchFamily="34" charset="-122"/>
                <a:cs typeface="IBM Plex Sans" pitchFamily="34" charset="-120"/>
              </a:rPr>
              <a:t>  17</a:t>
            </a:r>
            <a:endParaRPr lang="en-US" sz="690" dirty="0"/>
          </a:p>
        </p:txBody>
      </p:sp>
      <p:sp>
        <p:nvSpPr>
          <p:cNvPr id="48" name="Text 46"/>
          <p:cNvSpPr/>
          <p:nvPr/>
        </p:nvSpPr>
        <p:spPr>
          <a:xfrm>
            <a:off x="2868000" y="11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N°2 De Fourcas Dupré</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49" name="Text 47"/>
          <p:cNvSpPr/>
          <p:nvPr/>
        </p:nvSpPr>
        <p:spPr>
          <a:xfrm>
            <a:off x="2868000" y="12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N°4 Triton</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50" name="Text 48"/>
          <p:cNvSpPr/>
          <p:nvPr/>
        </p:nvSpPr>
        <p:spPr>
          <a:xfrm>
            <a:off x="2868000" y="14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Néolitik</a:t>
            </a:r>
            <a:pPr indent="0" marL="0">
              <a:buNone/>
            </a:pPr>
            <a:r>
              <a:rPr lang="en-US" sz="690" b="1" dirty="0">
                <a:solidFill>
                  <a:srgbClr val="67067C"/>
                </a:solidFill>
                <a:latin typeface="IBM Plex Sans" pitchFamily="34" charset="0"/>
                <a:ea typeface="IBM Plex Sans" pitchFamily="34" charset="-122"/>
                <a:cs typeface="IBM Plex Sans" pitchFamily="34" charset="-120"/>
              </a:rPr>
              <a:t>  22</a:t>
            </a:r>
            <a:pPr indent="0" marL="0">
              <a:buNone/>
            </a:pPr>
            <a:r>
              <a:rPr lang="en-US" sz="690" dirty="0">
                <a:solidFill>
                  <a:srgbClr val="46606E"/>
                </a:solidFill>
                <a:latin typeface="IBM Plex Sans" pitchFamily="34" charset="0"/>
                <a:ea typeface="IBM Plex Sans" pitchFamily="34" charset="-122"/>
                <a:cs typeface="IBM Plex Sans" pitchFamily="34" charset="-120"/>
              </a:rPr>
              <a:t>  38</a:t>
            </a:r>
            <a:endParaRPr lang="en-US" sz="690" dirty="0"/>
          </a:p>
        </p:txBody>
      </p:sp>
      <p:sp>
        <p:nvSpPr>
          <p:cNvPr id="51" name="Text 49"/>
          <p:cNvSpPr/>
          <p:nvPr/>
        </p:nvSpPr>
        <p:spPr>
          <a:xfrm>
            <a:off x="2868000" y="15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Passion de Château l'Escarderie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30</a:t>
            </a:r>
            <a:pPr indent="0" marL="0">
              <a:buNone/>
            </a:pPr>
            <a:r>
              <a:rPr lang="en-US" sz="690" dirty="0">
                <a:solidFill>
                  <a:srgbClr val="46606E"/>
                </a:solidFill>
                <a:latin typeface="IBM Plex Sans" pitchFamily="34" charset="0"/>
                <a:ea typeface="IBM Plex Sans" pitchFamily="34" charset="-122"/>
                <a:cs typeface="IBM Plex Sans" pitchFamily="34" charset="-120"/>
              </a:rPr>
              <a:t>  52</a:t>
            </a:r>
            <a:endParaRPr lang="en-US" sz="690" dirty="0"/>
          </a:p>
        </p:txBody>
      </p:sp>
      <p:sp>
        <p:nvSpPr>
          <p:cNvPr id="52" name="Text 50"/>
          <p:cNvSpPr/>
          <p:nvPr/>
        </p:nvSpPr>
        <p:spPr>
          <a:xfrm>
            <a:off x="2868000" y="16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Passion de Château l'Escarderie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30</a:t>
            </a:r>
            <a:pPr indent="0" marL="0">
              <a:buNone/>
            </a:pPr>
            <a:r>
              <a:rPr lang="en-US" sz="690" dirty="0">
                <a:solidFill>
                  <a:srgbClr val="46606E"/>
                </a:solidFill>
                <a:latin typeface="IBM Plex Sans" pitchFamily="34" charset="0"/>
                <a:ea typeface="IBM Plex Sans" pitchFamily="34" charset="-122"/>
                <a:cs typeface="IBM Plex Sans" pitchFamily="34" charset="-120"/>
              </a:rPr>
              <a:t>  52</a:t>
            </a:r>
            <a:endParaRPr lang="en-US" sz="690" dirty="0"/>
          </a:p>
        </p:txBody>
      </p:sp>
      <p:sp>
        <p:nvSpPr>
          <p:cNvPr id="53" name="Text 51"/>
          <p:cNvSpPr/>
          <p:nvPr/>
        </p:nvSpPr>
        <p:spPr>
          <a:xfrm>
            <a:off x="2868000" y="18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PETIT JARDIN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54" name="Text 52"/>
          <p:cNvSpPr/>
          <p:nvPr/>
        </p:nvSpPr>
        <p:spPr>
          <a:xfrm>
            <a:off x="2868000" y="19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Pinot 100 % – vinification égrappée</a:t>
            </a:r>
            <a:pPr indent="0" marL="0">
              <a:buNone/>
            </a:pPr>
            <a:r>
              <a:rPr lang="en-US" sz="690" b="1" dirty="0">
                <a:solidFill>
                  <a:srgbClr val="67067C"/>
                </a:solidFill>
                <a:latin typeface="IBM Plex Sans" pitchFamily="34" charset="0"/>
                <a:ea typeface="IBM Plex Sans" pitchFamily="34" charset="-122"/>
                <a:cs typeface="IBM Plex Sans" pitchFamily="34" charset="-120"/>
              </a:rPr>
              <a:t>  36</a:t>
            </a:r>
            <a:pPr indent="0" marL="0">
              <a:buNone/>
            </a:pPr>
            <a:r>
              <a:rPr lang="en-US" sz="690" dirty="0">
                <a:solidFill>
                  <a:srgbClr val="46606E"/>
                </a:solidFill>
                <a:latin typeface="IBM Plex Sans" pitchFamily="34" charset="0"/>
                <a:ea typeface="IBM Plex Sans" pitchFamily="34" charset="-122"/>
                <a:cs typeface="IBM Plex Sans" pitchFamily="34" charset="-120"/>
              </a:rPr>
              <a:t>  61</a:t>
            </a:r>
            <a:endParaRPr lang="en-US" sz="690" dirty="0"/>
          </a:p>
        </p:txBody>
      </p:sp>
      <p:sp>
        <p:nvSpPr>
          <p:cNvPr id="55" name="Text 53"/>
          <p:cNvSpPr/>
          <p:nvPr/>
        </p:nvSpPr>
        <p:spPr>
          <a:xfrm>
            <a:off x="2868000" y="20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Pinot Noir</a:t>
            </a:r>
            <a:pPr indent="0" marL="0">
              <a:buNone/>
            </a:pPr>
            <a:r>
              <a:rPr lang="en-US" sz="690" b="1" dirty="0">
                <a:solidFill>
                  <a:srgbClr val="67067C"/>
                </a:solidFill>
                <a:latin typeface="IBM Plex Sans" pitchFamily="34" charset="0"/>
                <a:ea typeface="IBM Plex Sans" pitchFamily="34" charset="-122"/>
                <a:cs typeface="IBM Plex Sans" pitchFamily="34" charset="-120"/>
              </a:rPr>
              <a:t>  10</a:t>
            </a:r>
            <a:pPr indent="0" marL="0">
              <a:buNone/>
            </a:pP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56" name="Text 54"/>
          <p:cNvSpPr/>
          <p:nvPr/>
        </p:nvSpPr>
        <p:spPr>
          <a:xfrm>
            <a:off x="2868000" y="21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Préface</a:t>
            </a:r>
            <a:pPr indent="0" marL="0">
              <a:buNone/>
            </a:pPr>
            <a:r>
              <a:rPr lang="en-US" sz="690" b="1" dirty="0">
                <a:solidFill>
                  <a:srgbClr val="67067C"/>
                </a:solidFill>
                <a:latin typeface="IBM Plex Sans" pitchFamily="34" charset="0"/>
                <a:ea typeface="IBM Plex Sans" pitchFamily="34" charset="-122"/>
                <a:cs typeface="IBM Plex Sans" pitchFamily="34" charset="-120"/>
              </a:rPr>
              <a:t>  26</a:t>
            </a:r>
            <a:pPr indent="0" marL="0">
              <a:buNone/>
            </a:pPr>
            <a:r>
              <a:rPr lang="en-US" sz="690" dirty="0">
                <a:solidFill>
                  <a:srgbClr val="46606E"/>
                </a:solidFill>
                <a:latin typeface="IBM Plex Sans" pitchFamily="34" charset="0"/>
                <a:ea typeface="IBM Plex Sans" pitchFamily="34" charset="-122"/>
                <a:cs typeface="IBM Plex Sans" pitchFamily="34" charset="-120"/>
              </a:rPr>
              <a:t>  47</a:t>
            </a:r>
            <a:endParaRPr lang="en-US" sz="690" dirty="0"/>
          </a:p>
        </p:txBody>
      </p:sp>
      <p:sp>
        <p:nvSpPr>
          <p:cNvPr id="57" name="Text 55"/>
          <p:cNvSpPr/>
          <p:nvPr/>
        </p:nvSpPr>
        <p:spPr>
          <a:xfrm>
            <a:off x="2868000" y="23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Prétexte</a:t>
            </a:r>
            <a:pPr indent="0" marL="0">
              <a:buNone/>
            </a:pPr>
            <a:r>
              <a:rPr lang="en-US" sz="690" b="1" dirty="0">
                <a:solidFill>
                  <a:srgbClr val="67067C"/>
                </a:solidFill>
                <a:latin typeface="IBM Plex Sans" pitchFamily="34" charset="0"/>
                <a:ea typeface="IBM Plex Sans" pitchFamily="34" charset="-122"/>
                <a:cs typeface="IBM Plex Sans" pitchFamily="34" charset="-120"/>
              </a:rPr>
              <a:t>  26</a:t>
            </a:r>
            <a:pPr indent="0" marL="0">
              <a:buNone/>
            </a:pPr>
            <a:r>
              <a:rPr lang="en-US" sz="690" dirty="0">
                <a:solidFill>
                  <a:srgbClr val="46606E"/>
                </a:solidFill>
                <a:latin typeface="IBM Plex Sans" pitchFamily="34" charset="0"/>
                <a:ea typeface="IBM Plex Sans" pitchFamily="34" charset="-122"/>
                <a:cs typeface="IBM Plex Sans" pitchFamily="34" charset="-120"/>
              </a:rPr>
              <a:t>  47</a:t>
            </a:r>
            <a:endParaRPr lang="en-US" sz="690" dirty="0"/>
          </a:p>
        </p:txBody>
      </p:sp>
      <p:sp>
        <p:nvSpPr>
          <p:cNvPr id="58" name="Text 56"/>
          <p:cNvSpPr/>
          <p:nvPr/>
        </p:nvSpPr>
        <p:spPr>
          <a:xfrm>
            <a:off x="2868000" y="24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Reflet – Gamay</a:t>
            </a:r>
            <a:pPr indent="0" marL="0">
              <a:buNone/>
            </a:pPr>
            <a:r>
              <a:rPr lang="en-US" sz="690" b="1" dirty="0">
                <a:solidFill>
                  <a:srgbClr val="67067C"/>
                </a:solidFill>
                <a:latin typeface="IBM Plex Sans" pitchFamily="34" charset="0"/>
                <a:ea typeface="IBM Plex Sans" pitchFamily="34" charset="-122"/>
                <a:cs typeface="IBM Plex Sans" pitchFamily="34" charset="-120"/>
              </a:rPr>
              <a:t>  5</a:t>
            </a:r>
            <a:pPr indent="0" marL="0">
              <a:buNone/>
            </a:pPr>
            <a:r>
              <a:rPr lang="en-US" sz="690" dirty="0">
                <a:solidFill>
                  <a:srgbClr val="46606E"/>
                </a:solidFill>
                <a:latin typeface="IBM Plex Sans" pitchFamily="34" charset="0"/>
                <a:ea typeface="IBM Plex Sans" pitchFamily="34" charset="-122"/>
                <a:cs typeface="IBM Plex Sans" pitchFamily="34" charset="-120"/>
              </a:rPr>
              <a:t>  12</a:t>
            </a:r>
            <a:endParaRPr lang="en-US" sz="690" dirty="0"/>
          </a:p>
        </p:txBody>
      </p:sp>
      <p:sp>
        <p:nvSpPr>
          <p:cNvPr id="59" name="Text 57"/>
          <p:cNvSpPr/>
          <p:nvPr/>
        </p:nvSpPr>
        <p:spPr>
          <a:xfrm>
            <a:off x="2868000" y="25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Rouge au lèvres</a:t>
            </a:r>
            <a:pPr indent="0" marL="0">
              <a:buNone/>
            </a:pPr>
            <a:r>
              <a:rPr lang="en-US" sz="690" b="1" dirty="0">
                <a:solidFill>
                  <a:srgbClr val="67067C"/>
                </a:solidFill>
                <a:latin typeface="IBM Plex Sans" pitchFamily="34" charset="0"/>
                <a:ea typeface="IBM Plex Sans" pitchFamily="34" charset="-122"/>
                <a:cs typeface="IBM Plex Sans" pitchFamily="34" charset="-120"/>
              </a:rPr>
              <a:t>  3</a:t>
            </a:r>
            <a:pPr indent="0" marL="0">
              <a:buNone/>
            </a:pP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60" name="Text 58"/>
          <p:cNvSpPr/>
          <p:nvPr/>
        </p:nvSpPr>
        <p:spPr>
          <a:xfrm>
            <a:off x="2868000" y="26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Rouge Intense – sans sulfites ajoutés</a:t>
            </a:r>
            <a:pPr indent="0" marL="0">
              <a:buNone/>
            </a:pPr>
            <a:r>
              <a:rPr lang="en-US" sz="690" b="1" dirty="0">
                <a:solidFill>
                  <a:srgbClr val="67067C"/>
                </a:solidFill>
                <a:latin typeface="IBM Plex Sans" pitchFamily="34" charset="0"/>
                <a:ea typeface="IBM Plex Sans" pitchFamily="34" charset="-122"/>
                <a:cs typeface="IBM Plex Sans" pitchFamily="34" charset="-120"/>
              </a:rPr>
              <a:t>  26</a:t>
            </a:r>
            <a:pPr indent="0" marL="0">
              <a:buNone/>
            </a:pPr>
            <a:r>
              <a:rPr lang="en-US" sz="690" dirty="0">
                <a:solidFill>
                  <a:srgbClr val="46606E"/>
                </a:solidFill>
                <a:latin typeface="IBM Plex Sans" pitchFamily="34" charset="0"/>
                <a:ea typeface="IBM Plex Sans" pitchFamily="34" charset="-122"/>
                <a:cs typeface="IBM Plex Sans" pitchFamily="34" charset="-120"/>
              </a:rPr>
              <a:t>  47</a:t>
            </a:r>
            <a:endParaRPr lang="en-US" sz="690" dirty="0"/>
          </a:p>
        </p:txBody>
      </p:sp>
      <p:sp>
        <p:nvSpPr>
          <p:cNvPr id="61" name="Text 59"/>
          <p:cNvSpPr/>
          <p:nvPr/>
        </p:nvSpPr>
        <p:spPr>
          <a:xfrm>
            <a:off x="2868000" y="28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ROUGE SÉRAME</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62" name="Text 60"/>
          <p:cNvSpPr/>
          <p:nvPr/>
        </p:nvSpPr>
        <p:spPr>
          <a:xfrm>
            <a:off x="2868000" y="293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Seiler (Pinot Noir)</a:t>
            </a:r>
            <a:pPr indent="0" marL="0">
              <a:buNone/>
            </a:pPr>
            <a:r>
              <a:rPr lang="en-US" sz="690" b="1" dirty="0">
                <a:solidFill>
                  <a:srgbClr val="67067C"/>
                </a:solidFill>
                <a:latin typeface="IBM Plex Sans" pitchFamily="34" charset="0"/>
                <a:ea typeface="IBM Plex Sans" pitchFamily="34" charset="-122"/>
                <a:cs typeface="IBM Plex Sans" pitchFamily="34" charset="-120"/>
              </a:rPr>
              <a:t>  8</a:t>
            </a:r>
            <a:pPr indent="0" marL="0">
              <a:buNone/>
            </a:pPr>
            <a:r>
              <a:rPr lang="en-US" sz="690" dirty="0">
                <a:solidFill>
                  <a:srgbClr val="46606E"/>
                </a:solidFill>
                <a:latin typeface="IBM Plex Sans" pitchFamily="34" charset="0"/>
                <a:ea typeface="IBM Plex Sans" pitchFamily="34" charset="-122"/>
                <a:cs typeface="IBM Plex Sans" pitchFamily="34" charset="-120"/>
              </a:rPr>
              <a:t>  17</a:t>
            </a:r>
            <a:endParaRPr lang="en-US" sz="690" dirty="0"/>
          </a:p>
        </p:txBody>
      </p:sp>
      <p:sp>
        <p:nvSpPr>
          <p:cNvPr id="63" name="Text 61"/>
          <p:cNvSpPr/>
          <p:nvPr/>
        </p:nvSpPr>
        <p:spPr>
          <a:xfrm>
            <a:off x="2868000" y="306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Sonate</a:t>
            </a:r>
            <a:pPr indent="0" marL="0">
              <a:buNone/>
            </a:pPr>
            <a:r>
              <a:rPr lang="en-US" sz="690" b="1" dirty="0">
                <a:solidFill>
                  <a:srgbClr val="67067C"/>
                </a:solidFill>
                <a:latin typeface="IBM Plex Sans" pitchFamily="34" charset="0"/>
                <a:ea typeface="IBM Plex Sans" pitchFamily="34" charset="-122"/>
                <a:cs typeface="IBM Plex Sans" pitchFamily="34" charset="-120"/>
              </a:rPr>
              <a:t>  36</a:t>
            </a:r>
            <a:pPr indent="0" marL="0">
              <a:buNone/>
            </a:pPr>
            <a:r>
              <a:rPr lang="en-US" sz="690" dirty="0">
                <a:solidFill>
                  <a:srgbClr val="46606E"/>
                </a:solidFill>
                <a:latin typeface="IBM Plex Sans" pitchFamily="34" charset="0"/>
                <a:ea typeface="IBM Plex Sans" pitchFamily="34" charset="-122"/>
                <a:cs typeface="IBM Plex Sans" pitchFamily="34" charset="-120"/>
              </a:rPr>
              <a:t>  61</a:t>
            </a:r>
            <a:endParaRPr lang="en-US" sz="690" dirty="0"/>
          </a:p>
        </p:txBody>
      </p:sp>
      <p:sp>
        <p:nvSpPr>
          <p:cNvPr id="64" name="Text 62"/>
          <p:cNvSpPr/>
          <p:nvPr/>
        </p:nvSpPr>
        <p:spPr>
          <a:xfrm>
            <a:off x="2868000" y="318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Syrah de Balac</a:t>
            </a:r>
            <a:pPr indent="0" marL="0">
              <a:buNone/>
            </a:pPr>
            <a:r>
              <a:rPr lang="en-US" sz="690" b="1" dirty="0">
                <a:solidFill>
                  <a:srgbClr val="67067C"/>
                </a:solidFill>
                <a:latin typeface="IBM Plex Sans" pitchFamily="34" charset="0"/>
                <a:ea typeface="IBM Plex Sans" pitchFamily="34" charset="-122"/>
                <a:cs typeface="IBM Plex Sans" pitchFamily="34" charset="-120"/>
              </a:rPr>
              <a:t>  29</a:t>
            </a:r>
            <a:pPr indent="0" marL="0">
              <a:buNone/>
            </a:pPr>
            <a:r>
              <a:rPr lang="en-US" sz="690" dirty="0">
                <a:solidFill>
                  <a:srgbClr val="46606E"/>
                </a:solidFill>
                <a:latin typeface="IBM Plex Sans" pitchFamily="34" charset="0"/>
                <a:ea typeface="IBM Plex Sans" pitchFamily="34" charset="-122"/>
                <a:cs typeface="IBM Plex Sans" pitchFamily="34" charset="-120"/>
              </a:rPr>
              <a:t>  51</a:t>
            </a:r>
            <a:endParaRPr lang="en-US" sz="690" dirty="0"/>
          </a:p>
        </p:txBody>
      </p:sp>
      <p:sp>
        <p:nvSpPr>
          <p:cNvPr id="65" name="Text 63"/>
          <p:cNvSpPr/>
          <p:nvPr/>
        </p:nvSpPr>
        <p:spPr>
          <a:xfrm>
            <a:off x="2868000" y="331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Syrah Nature</a:t>
            </a:r>
            <a:pPr indent="0" marL="0">
              <a:buNone/>
            </a:pPr>
            <a:r>
              <a:rPr lang="en-US" sz="690" b="1" dirty="0">
                <a:solidFill>
                  <a:srgbClr val="67067C"/>
                </a:solidFill>
                <a:latin typeface="IBM Plex Sans" pitchFamily="34" charset="0"/>
                <a:ea typeface="IBM Plex Sans" pitchFamily="34" charset="-122"/>
                <a:cs typeface="IBM Plex Sans" pitchFamily="34" charset="-120"/>
              </a:rPr>
              <a:t>  34</a:t>
            </a:r>
            <a:pPr indent="0" marL="0">
              <a:buNone/>
            </a:pP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66" name="Text 64"/>
          <p:cNvSpPr/>
          <p:nvPr/>
        </p:nvSpPr>
        <p:spPr>
          <a:xfrm>
            <a:off x="2868000" y="343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Tempo – élevé en fûts de chêne</a:t>
            </a:r>
            <a:pPr indent="0" marL="0">
              <a:buNone/>
            </a:pPr>
            <a:r>
              <a:rPr lang="en-US" sz="690" b="1" dirty="0">
                <a:solidFill>
                  <a:srgbClr val="67067C"/>
                </a:solidFill>
                <a:latin typeface="IBM Plex Sans" pitchFamily="34" charset="0"/>
                <a:ea typeface="IBM Plex Sans" pitchFamily="34" charset="-122"/>
                <a:cs typeface="IBM Plex Sans" pitchFamily="34" charset="-120"/>
              </a:rPr>
              <a:t>  36</a:t>
            </a:r>
            <a:pPr indent="0" marL="0">
              <a:buNone/>
            </a:pPr>
            <a:r>
              <a:rPr lang="en-US" sz="690" dirty="0">
                <a:solidFill>
                  <a:srgbClr val="46606E"/>
                </a:solidFill>
                <a:latin typeface="IBM Plex Sans" pitchFamily="34" charset="0"/>
                <a:ea typeface="IBM Plex Sans" pitchFamily="34" charset="-122"/>
                <a:cs typeface="IBM Plex Sans" pitchFamily="34" charset="-120"/>
              </a:rPr>
              <a:t>  61</a:t>
            </a:r>
            <a:endParaRPr lang="en-US" sz="690" dirty="0"/>
          </a:p>
        </p:txBody>
      </p:sp>
      <p:sp>
        <p:nvSpPr>
          <p:cNvPr id="67" name="Text 65"/>
          <p:cNvSpPr/>
          <p:nvPr/>
        </p:nvSpPr>
        <p:spPr>
          <a:xfrm>
            <a:off x="2868000" y="356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Terre Rouge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36</a:t>
            </a:r>
            <a:pPr indent="0" marL="0">
              <a:buNone/>
            </a:pPr>
            <a:r>
              <a:rPr lang="en-US" sz="690" dirty="0">
                <a:solidFill>
                  <a:srgbClr val="46606E"/>
                </a:solidFill>
                <a:latin typeface="IBM Plex Sans" pitchFamily="34" charset="0"/>
                <a:ea typeface="IBM Plex Sans" pitchFamily="34" charset="-122"/>
                <a:cs typeface="IBM Plex Sans" pitchFamily="34" charset="-120"/>
              </a:rPr>
              <a:t>  61</a:t>
            </a:r>
            <a:endParaRPr lang="en-US" sz="690" dirty="0"/>
          </a:p>
        </p:txBody>
      </p:sp>
      <p:sp>
        <p:nvSpPr>
          <p:cNvPr id="68" name="Text 66"/>
          <p:cNvSpPr/>
          <p:nvPr/>
        </p:nvSpPr>
        <p:spPr>
          <a:xfrm>
            <a:off x="2868000" y="369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Terre Rouge  Magnum 1,5 L</a:t>
            </a:r>
            <a:pPr indent="0" marL="0">
              <a:buNone/>
            </a:pPr>
            <a:r>
              <a:rPr lang="en-US" sz="690" b="1" dirty="0">
                <a:solidFill>
                  <a:srgbClr val="67067C"/>
                </a:solidFill>
                <a:latin typeface="IBM Plex Sans" pitchFamily="34" charset="0"/>
                <a:ea typeface="IBM Plex Sans" pitchFamily="34" charset="-122"/>
                <a:cs typeface="IBM Plex Sans" pitchFamily="34" charset="-120"/>
              </a:rPr>
              <a:t>  36</a:t>
            </a:r>
            <a:pPr indent="0" marL="0">
              <a:buNone/>
            </a:pPr>
            <a:r>
              <a:rPr lang="en-US" sz="690" dirty="0">
                <a:solidFill>
                  <a:srgbClr val="46606E"/>
                </a:solidFill>
                <a:latin typeface="IBM Plex Sans" pitchFamily="34" charset="0"/>
                <a:ea typeface="IBM Plex Sans" pitchFamily="34" charset="-122"/>
                <a:cs typeface="IBM Plex Sans" pitchFamily="34" charset="-120"/>
              </a:rPr>
              <a:t>  61</a:t>
            </a:r>
            <a:endParaRPr lang="en-US" sz="690" dirty="0"/>
          </a:p>
        </p:txBody>
      </p:sp>
      <p:sp>
        <p:nvSpPr>
          <p:cNvPr id="69" name="Text 67"/>
          <p:cNvSpPr/>
          <p:nvPr/>
        </p:nvSpPr>
        <p:spPr>
          <a:xfrm>
            <a:off x="2868000" y="381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Terroir d'Ansouis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19</a:t>
            </a:r>
            <a:pPr indent="0" marL="0">
              <a:buNone/>
            </a:pPr>
            <a:r>
              <a:rPr lang="en-US" sz="690" dirty="0">
                <a:solidFill>
                  <a:srgbClr val="46606E"/>
                </a:solidFill>
                <a:latin typeface="IBM Plex Sans" pitchFamily="34" charset="0"/>
                <a:ea typeface="IBM Plex Sans" pitchFamily="34" charset="-122"/>
                <a:cs typeface="IBM Plex Sans" pitchFamily="34" charset="-120"/>
              </a:rPr>
              <a:t>  34</a:t>
            </a:r>
            <a:endParaRPr lang="en-US" sz="690" dirty="0"/>
          </a:p>
        </p:txBody>
      </p:sp>
      <p:sp>
        <p:nvSpPr>
          <p:cNvPr id="70" name="Text 68"/>
          <p:cNvSpPr/>
          <p:nvPr/>
        </p:nvSpPr>
        <p:spPr>
          <a:xfrm>
            <a:off x="2868000" y="394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Triton</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71" name="Text 69"/>
          <p:cNvSpPr/>
          <p:nvPr/>
        </p:nvSpPr>
        <p:spPr>
          <a:xfrm>
            <a:off x="2868000" y="406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Vacqueyras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21</a:t>
            </a:r>
            <a:pPr indent="0" marL="0">
              <a:buNone/>
            </a:pPr>
            <a:r>
              <a:rPr lang="en-US" sz="690" dirty="0">
                <a:solidFill>
                  <a:srgbClr val="46606E"/>
                </a:solidFill>
                <a:latin typeface="IBM Plex Sans" pitchFamily="34" charset="0"/>
                <a:ea typeface="IBM Plex Sans" pitchFamily="34" charset="-122"/>
                <a:cs typeface="IBM Plex Sans" pitchFamily="34" charset="-120"/>
              </a:rPr>
              <a:t>  36</a:t>
            </a:r>
            <a:endParaRPr lang="en-US" sz="690" dirty="0"/>
          </a:p>
        </p:txBody>
      </p:sp>
      <p:sp>
        <p:nvSpPr>
          <p:cNvPr id="72" name="Text 70"/>
          <p:cNvSpPr/>
          <p:nvPr/>
        </p:nvSpPr>
        <p:spPr>
          <a:xfrm>
            <a:off x="2868000" y="419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Vieilles Vignes</a:t>
            </a:r>
            <a:pPr indent="0" marL="0">
              <a:buNone/>
            </a:pPr>
            <a:r>
              <a:rPr lang="en-US" sz="690" b="1" dirty="0">
                <a:solidFill>
                  <a:srgbClr val="67067C"/>
                </a:solidFill>
                <a:latin typeface="IBM Plex Sans" pitchFamily="34" charset="0"/>
                <a:ea typeface="IBM Plex Sans" pitchFamily="34" charset="-122"/>
                <a:cs typeface="IBM Plex Sans" pitchFamily="34" charset="-120"/>
              </a:rPr>
              <a:t>  10</a:t>
            </a:r>
            <a:pPr indent="0" marL="0">
              <a:buNone/>
            </a:pP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73" name="Text 71"/>
          <p:cNvSpPr/>
          <p:nvPr/>
        </p:nvSpPr>
        <p:spPr>
          <a:xfrm>
            <a:off x="2868000" y="432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Vieilles Vignes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16</a:t>
            </a:r>
            <a:pPr indent="0" marL="0">
              <a:buNone/>
            </a:pPr>
            <a:r>
              <a:rPr lang="en-US" sz="690" dirty="0">
                <a:solidFill>
                  <a:srgbClr val="46606E"/>
                </a:solidFill>
                <a:latin typeface="IBM Plex Sans" pitchFamily="34" charset="0"/>
                <a:ea typeface="IBM Plex Sans" pitchFamily="34" charset="-122"/>
                <a:cs typeface="IBM Plex Sans" pitchFamily="34" charset="-120"/>
              </a:rPr>
              <a:t>  31</a:t>
            </a:r>
            <a:endParaRPr lang="en-US" sz="690" dirty="0"/>
          </a:p>
        </p:txBody>
      </p:sp>
      <p:sp>
        <p:nvSpPr>
          <p:cNvPr id="74" name="Text 72"/>
          <p:cNvSpPr/>
          <p:nvPr/>
        </p:nvSpPr>
        <p:spPr>
          <a:xfrm>
            <a:off x="2868000" y="44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 de France Pinot Noir  2024/2025</a:t>
            </a:r>
            <a:pPr indent="0" marL="0">
              <a:buNone/>
            </a:pPr>
            <a:r>
              <a:rPr lang="en-US" sz="690" b="1" dirty="0">
                <a:solidFill>
                  <a:srgbClr val="67067C"/>
                </a:solidFill>
                <a:latin typeface="IBM Plex Sans" pitchFamily="34" charset="0"/>
                <a:ea typeface="IBM Plex Sans" pitchFamily="34" charset="-122"/>
                <a:cs typeface="IBM Plex Sans" pitchFamily="34" charset="-120"/>
              </a:rPr>
              <a:t>  6</a:t>
            </a:r>
            <a:pPr indent="0" marL="0">
              <a:buNone/>
            </a:pP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75" name="Text 73"/>
          <p:cNvSpPr/>
          <p:nvPr/>
        </p:nvSpPr>
        <p:spPr>
          <a:xfrm>
            <a:off x="2868000" y="45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 de France-Syrah</a:t>
            </a:r>
            <a:pPr indent="0" marL="0">
              <a:buNone/>
            </a:pPr>
            <a:r>
              <a:rPr lang="en-US" sz="690" b="1" dirty="0">
                <a:solidFill>
                  <a:srgbClr val="67067C"/>
                </a:solidFill>
                <a:latin typeface="IBM Plex Sans" pitchFamily="34" charset="0"/>
                <a:ea typeface="IBM Plex Sans" pitchFamily="34" charset="-122"/>
                <a:cs typeface="IBM Plex Sans" pitchFamily="34" charset="-120"/>
              </a:rPr>
              <a:t>  19</a:t>
            </a:r>
            <a:pPr indent="0" marL="0">
              <a:buNone/>
            </a:pPr>
            <a:r>
              <a:rPr lang="en-US" sz="690" dirty="0">
                <a:solidFill>
                  <a:srgbClr val="46606E"/>
                </a:solidFill>
                <a:latin typeface="IBM Plex Sans" pitchFamily="34" charset="0"/>
                <a:ea typeface="IBM Plex Sans" pitchFamily="34" charset="-122"/>
                <a:cs typeface="IBM Plex Sans" pitchFamily="34" charset="-120"/>
              </a:rPr>
              <a:t>  34</a:t>
            </a:r>
            <a:endParaRPr lang="en-US" sz="690" dirty="0"/>
          </a:p>
        </p:txBody>
      </p:sp>
      <p:sp>
        <p:nvSpPr>
          <p:cNvPr id="76" name="Text 74"/>
          <p:cNvSpPr/>
          <p:nvPr/>
        </p:nvSpPr>
        <p:spPr>
          <a:xfrm>
            <a:off x="2868000" y="46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 de Pays de Vaucluse</a:t>
            </a:r>
            <a:pPr indent="0" marL="0">
              <a:buNone/>
            </a:pPr>
            <a:r>
              <a:rPr lang="en-US" sz="690" b="1" dirty="0">
                <a:solidFill>
                  <a:srgbClr val="67067C"/>
                </a:solidFill>
                <a:latin typeface="IBM Plex Sans" pitchFamily="34" charset="0"/>
                <a:ea typeface="IBM Plex Sans" pitchFamily="34" charset="-122"/>
                <a:cs typeface="IBM Plex Sans" pitchFamily="34" charset="-120"/>
              </a:rPr>
              <a:t>  20</a:t>
            </a:r>
            <a:pPr indent="0" marL="0">
              <a:buNone/>
            </a:pPr>
            <a:r>
              <a:rPr lang="en-US" sz="690" dirty="0">
                <a:solidFill>
                  <a:srgbClr val="46606E"/>
                </a:solidFill>
                <a:latin typeface="IBM Plex Sans" pitchFamily="34" charset="0"/>
                <a:ea typeface="IBM Plex Sans" pitchFamily="34" charset="-122"/>
                <a:cs typeface="IBM Plex Sans" pitchFamily="34" charset="-120"/>
              </a:rPr>
              <a:t>  35</a:t>
            </a:r>
            <a:endParaRPr lang="en-US" sz="690" dirty="0"/>
          </a:p>
        </p:txBody>
      </p:sp>
      <p:sp>
        <p:nvSpPr>
          <p:cNvPr id="77" name="Text 75"/>
          <p:cNvSpPr/>
          <p:nvPr/>
        </p:nvSpPr>
        <p:spPr>
          <a:xfrm>
            <a:off x="2868000" y="4824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DOUX</a:t>
            </a:r>
            <a:endParaRPr lang="en-US" sz="800" dirty="0"/>
          </a:p>
        </p:txBody>
      </p:sp>
      <p:sp>
        <p:nvSpPr>
          <p:cNvPr id="78" name="Text 76"/>
          <p:cNvSpPr/>
          <p:nvPr/>
        </p:nvSpPr>
        <p:spPr>
          <a:xfrm>
            <a:off x="2868000" y="49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Adn 24  75 cl</a:t>
            </a:r>
            <a:pPr indent="0" marL="0">
              <a:buNone/>
            </a:pPr>
            <a:r>
              <a:rPr lang="en-US" sz="690" b="1" dirty="0">
                <a:solidFill>
                  <a:srgbClr val="67067C"/>
                </a:solidFill>
                <a:latin typeface="IBM Plex Sans" pitchFamily="34" charset="0"/>
                <a:ea typeface="IBM Plex Sans" pitchFamily="34" charset="-122"/>
                <a:cs typeface="IBM Plex Sans" pitchFamily="34" charset="-120"/>
              </a:rPr>
              <a:t>  24</a:t>
            </a:r>
            <a:pPr indent="0" marL="0">
              <a:buNone/>
            </a:pPr>
            <a:r>
              <a:rPr lang="en-US" sz="690" dirty="0">
                <a:solidFill>
                  <a:srgbClr val="46606E"/>
                </a:solidFill>
                <a:latin typeface="IBM Plex Sans" pitchFamily="34" charset="0"/>
                <a:ea typeface="IBM Plex Sans" pitchFamily="34" charset="-122"/>
                <a:cs typeface="IBM Plex Sans" pitchFamily="34" charset="-120"/>
              </a:rPr>
              <a:t>  41</a:t>
            </a:r>
            <a:endParaRPr lang="en-US" sz="690" dirty="0"/>
          </a:p>
        </p:txBody>
      </p:sp>
      <p:sp>
        <p:nvSpPr>
          <p:cNvPr id="79" name="Text 77"/>
          <p:cNvSpPr/>
          <p:nvPr/>
        </p:nvSpPr>
        <p:spPr>
          <a:xfrm>
            <a:off x="2868000" y="50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Monbazillac</a:t>
            </a:r>
            <a:pPr indent="0" marL="0">
              <a:buNone/>
            </a:pPr>
            <a:r>
              <a:rPr lang="en-US" sz="690" b="1" dirty="0">
                <a:solidFill>
                  <a:srgbClr val="67067C"/>
                </a:solidFill>
                <a:latin typeface="IBM Plex Sans" pitchFamily="34" charset="0"/>
                <a:ea typeface="IBM Plex Sans" pitchFamily="34" charset="-122"/>
                <a:cs typeface="IBM Plex Sans" pitchFamily="34" charset="-120"/>
              </a:rPr>
              <a:t>  24</a:t>
            </a:r>
            <a:pPr indent="0" marL="0">
              <a:buNone/>
            </a:pPr>
            <a:r>
              <a:rPr lang="en-US" sz="690" dirty="0">
                <a:solidFill>
                  <a:srgbClr val="46606E"/>
                </a:solidFill>
                <a:latin typeface="IBM Plex Sans" pitchFamily="34" charset="0"/>
                <a:ea typeface="IBM Plex Sans" pitchFamily="34" charset="-122"/>
                <a:cs typeface="IBM Plex Sans" pitchFamily="34" charset="-120"/>
              </a:rPr>
              <a:t>  41</a:t>
            </a:r>
            <a:endParaRPr lang="en-US" sz="690" dirty="0"/>
          </a:p>
        </p:txBody>
      </p:sp>
      <p:sp>
        <p:nvSpPr>
          <p:cNvPr id="80" name="Text 78"/>
          <p:cNvSpPr/>
          <p:nvPr/>
        </p:nvSpPr>
        <p:spPr>
          <a:xfrm>
            <a:off x="2868000" y="52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Cabernet d’Anjou</a:t>
            </a:r>
            <a:pPr indent="0" marL="0">
              <a:buNone/>
            </a:pPr>
            <a:r>
              <a:rPr lang="en-US" sz="690" b="1" dirty="0">
                <a:solidFill>
                  <a:srgbClr val="67067C"/>
                </a:solidFill>
                <a:latin typeface="IBM Plex Sans" pitchFamily="34" charset="0"/>
                <a:ea typeface="IBM Plex Sans" pitchFamily="34" charset="-122"/>
                <a:cs typeface="IBM Plex Sans" pitchFamily="34" charset="-120"/>
              </a:rPr>
              <a:t>  4</a:t>
            </a:r>
            <a:pPr indent="0" marL="0">
              <a:buNone/>
            </a:pP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81" name="Text 79"/>
          <p:cNvSpPr/>
          <p:nvPr/>
        </p:nvSpPr>
        <p:spPr>
          <a:xfrm>
            <a:off x="2868000" y="53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Du Mayne</a:t>
            </a:r>
            <a:pPr indent="0" marL="0">
              <a:buNone/>
            </a:pPr>
            <a:r>
              <a:rPr lang="en-US" sz="690" b="1" dirty="0">
                <a:solidFill>
                  <a:srgbClr val="67067C"/>
                </a:solidFill>
                <a:latin typeface="IBM Plex Sans" pitchFamily="34" charset="0"/>
                <a:ea typeface="IBM Plex Sans" pitchFamily="34" charset="-122"/>
                <a:cs typeface="IBM Plex Sans" pitchFamily="34" charset="-120"/>
              </a:rPr>
              <a:t>  25</a:t>
            </a:r>
            <a:pPr indent="0" marL="0">
              <a:buNone/>
            </a:pP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82" name="Text 80"/>
          <p:cNvSpPr/>
          <p:nvPr/>
        </p:nvSpPr>
        <p:spPr>
          <a:xfrm>
            <a:off x="2868000" y="54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Coteaux du Layon</a:t>
            </a:r>
            <a:pPr indent="0" marL="0">
              <a:buNone/>
            </a:pPr>
            <a:r>
              <a:rPr lang="en-US" sz="690" b="1" dirty="0">
                <a:solidFill>
                  <a:srgbClr val="67067C"/>
                </a:solidFill>
                <a:latin typeface="IBM Plex Sans" pitchFamily="34" charset="0"/>
                <a:ea typeface="IBM Plex Sans" pitchFamily="34" charset="-122"/>
                <a:cs typeface="IBM Plex Sans" pitchFamily="34" charset="-120"/>
              </a:rPr>
              <a:t>  4</a:t>
            </a:r>
            <a:pPr indent="0" marL="0">
              <a:buNone/>
            </a:pP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83" name="Text 81"/>
          <p:cNvSpPr/>
          <p:nvPr/>
        </p:nvSpPr>
        <p:spPr>
          <a:xfrm>
            <a:off x="2868000" y="55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Coteaux du Layon Faye</a:t>
            </a:r>
            <a:pPr indent="0" marL="0">
              <a:buNone/>
            </a:pPr>
            <a:r>
              <a:rPr lang="en-US" sz="690" b="1" dirty="0">
                <a:solidFill>
                  <a:srgbClr val="67067C"/>
                </a:solidFill>
                <a:latin typeface="IBM Plex Sans" pitchFamily="34" charset="0"/>
                <a:ea typeface="IBM Plex Sans" pitchFamily="34" charset="-122"/>
                <a:cs typeface="IBM Plex Sans" pitchFamily="34" charset="-120"/>
              </a:rPr>
              <a:t>  4</a:t>
            </a:r>
            <a:pPr indent="0" marL="0">
              <a:buNone/>
            </a:pP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84" name="Text 82"/>
          <p:cNvSpPr/>
          <p:nvPr/>
        </p:nvSpPr>
        <p:spPr>
          <a:xfrm>
            <a:off x="4908000" y="5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N°7 Venus</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85" name="Text 83"/>
          <p:cNvSpPr/>
          <p:nvPr/>
        </p:nvSpPr>
        <p:spPr>
          <a:xfrm>
            <a:off x="4908000" y="6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N°8 Grand Pavois</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86" name="Text 84"/>
          <p:cNvSpPr/>
          <p:nvPr/>
        </p:nvSpPr>
        <p:spPr>
          <a:xfrm>
            <a:off x="4908000" y="7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Saint-Georges (Gewurztraminer)</a:t>
            </a:r>
            <a:pPr indent="0" marL="0">
              <a:buNone/>
            </a:pPr>
            <a:r>
              <a:rPr lang="en-US" sz="690" b="1" dirty="0">
                <a:solidFill>
                  <a:srgbClr val="67067C"/>
                </a:solidFill>
                <a:latin typeface="IBM Plex Sans" pitchFamily="34" charset="0"/>
                <a:ea typeface="IBM Plex Sans" pitchFamily="34" charset="-122"/>
                <a:cs typeface="IBM Plex Sans" pitchFamily="34" charset="-120"/>
              </a:rPr>
              <a:t>  8</a:t>
            </a:r>
            <a:pPr indent="0" marL="0">
              <a:buNone/>
            </a:pPr>
            <a:r>
              <a:rPr lang="en-US" sz="690" dirty="0">
                <a:solidFill>
                  <a:srgbClr val="46606E"/>
                </a:solidFill>
                <a:latin typeface="IBM Plex Sans" pitchFamily="34" charset="0"/>
                <a:ea typeface="IBM Plex Sans" pitchFamily="34" charset="-122"/>
                <a:cs typeface="IBM Plex Sans" pitchFamily="34" charset="-120"/>
              </a:rPr>
              <a:t>  17</a:t>
            </a:r>
            <a:endParaRPr lang="en-US" sz="690" dirty="0"/>
          </a:p>
        </p:txBody>
      </p:sp>
      <p:sp>
        <p:nvSpPr>
          <p:cNvPr id="87" name="Text 85"/>
          <p:cNvSpPr/>
          <p:nvPr/>
        </p:nvSpPr>
        <p:spPr>
          <a:xfrm>
            <a:off x="4908000" y="9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Saint-Georges (Pinot Gris)</a:t>
            </a:r>
            <a:pPr indent="0" marL="0">
              <a:buNone/>
            </a:pPr>
            <a:r>
              <a:rPr lang="en-US" sz="690" b="1" dirty="0">
                <a:solidFill>
                  <a:srgbClr val="67067C"/>
                </a:solidFill>
                <a:latin typeface="IBM Plex Sans" pitchFamily="34" charset="0"/>
                <a:ea typeface="IBM Plex Sans" pitchFamily="34" charset="-122"/>
                <a:cs typeface="IBM Plex Sans" pitchFamily="34" charset="-120"/>
              </a:rPr>
              <a:t>  8</a:t>
            </a:r>
            <a:pPr indent="0" marL="0">
              <a:buNone/>
            </a:pPr>
            <a:r>
              <a:rPr lang="en-US" sz="690" dirty="0">
                <a:solidFill>
                  <a:srgbClr val="46606E"/>
                </a:solidFill>
                <a:latin typeface="IBM Plex Sans" pitchFamily="34" charset="0"/>
                <a:ea typeface="IBM Plex Sans" pitchFamily="34" charset="-122"/>
                <a:cs typeface="IBM Plex Sans" pitchFamily="34" charset="-120"/>
              </a:rPr>
              <a:t>  17</a:t>
            </a:r>
            <a:endParaRPr lang="en-US" sz="690" dirty="0"/>
          </a:p>
        </p:txBody>
      </p:sp>
      <p:sp>
        <p:nvSpPr>
          <p:cNvPr id="88" name="Text 86"/>
          <p:cNvSpPr/>
          <p:nvPr/>
        </p:nvSpPr>
        <p:spPr>
          <a:xfrm>
            <a:off x="4908000" y="10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VDF</a:t>
            </a:r>
            <a:pPr indent="0" marL="0">
              <a:buNone/>
            </a:pPr>
            <a:r>
              <a:rPr lang="en-US" sz="690" b="1" dirty="0">
                <a:solidFill>
                  <a:srgbClr val="67067C"/>
                </a:solidFill>
                <a:latin typeface="IBM Plex Sans" pitchFamily="34" charset="0"/>
                <a:ea typeface="IBM Plex Sans" pitchFamily="34" charset="-122"/>
                <a:cs typeface="IBM Plex Sans" pitchFamily="34" charset="-120"/>
              </a:rPr>
              <a:t>  22</a:t>
            </a:r>
            <a:pPr indent="0" marL="0">
              <a:buNone/>
            </a:pPr>
            <a:r>
              <a:rPr lang="en-US" sz="690" dirty="0">
                <a:solidFill>
                  <a:srgbClr val="46606E"/>
                </a:solidFill>
                <a:latin typeface="IBM Plex Sans" pitchFamily="34" charset="0"/>
                <a:ea typeface="IBM Plex Sans" pitchFamily="34" charset="-122"/>
                <a:cs typeface="IBM Plex Sans" pitchFamily="34" charset="-120"/>
              </a:rPr>
              <a:t>  38</a:t>
            </a:r>
            <a:endParaRPr lang="en-US" sz="690" dirty="0"/>
          </a:p>
        </p:txBody>
      </p:sp>
      <p:sp>
        <p:nvSpPr>
          <p:cNvPr id="89" name="Text 87"/>
          <p:cNvSpPr/>
          <p:nvPr/>
        </p:nvSpPr>
        <p:spPr>
          <a:xfrm>
            <a:off x="4908000" y="1170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SANS ALCOOL</a:t>
            </a:r>
            <a:endParaRPr lang="en-US" sz="800" dirty="0"/>
          </a:p>
        </p:txBody>
      </p:sp>
      <p:sp>
        <p:nvSpPr>
          <p:cNvPr id="90" name="Text 88"/>
          <p:cNvSpPr/>
          <p:nvPr/>
        </p:nvSpPr>
        <p:spPr>
          <a:xfrm>
            <a:off x="4908000" y="12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Chenin Blanc</a:t>
            </a:r>
            <a:pPr indent="0" marL="0">
              <a:buNone/>
            </a:pPr>
            <a:r>
              <a:rPr lang="en-US" sz="690" b="1" dirty="0">
                <a:solidFill>
                  <a:srgbClr val="67067C"/>
                </a:solidFill>
                <a:latin typeface="IBM Plex Sans" pitchFamily="34" charset="0"/>
                <a:ea typeface="IBM Plex Sans" pitchFamily="34" charset="-122"/>
                <a:cs typeface="IBM Plex Sans" pitchFamily="34" charset="-120"/>
              </a:rPr>
              <a:t>  7</a:t>
            </a:r>
            <a:pPr indent="0" marL="0">
              <a:buNone/>
            </a:pP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91" name="Text 89"/>
          <p:cNvSpPr/>
          <p:nvPr/>
        </p:nvSpPr>
        <p:spPr>
          <a:xfrm>
            <a:off x="4908000" y="14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Rosé</a:t>
            </a:r>
            <a:pPr indent="0" marL="0">
              <a:buNone/>
            </a:pPr>
            <a:r>
              <a:rPr lang="en-US" sz="690" b="1" dirty="0">
                <a:solidFill>
                  <a:srgbClr val="67067C"/>
                </a:solidFill>
                <a:latin typeface="IBM Plex Sans" pitchFamily="34" charset="0"/>
                <a:ea typeface="IBM Plex Sans" pitchFamily="34" charset="-122"/>
                <a:cs typeface="IBM Plex Sans" pitchFamily="34" charset="-120"/>
              </a:rPr>
              <a:t>  7</a:t>
            </a:r>
            <a:pPr indent="0" marL="0">
              <a:buNone/>
            </a:pP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92" name="Text 90"/>
          <p:cNvSpPr/>
          <p:nvPr/>
        </p:nvSpPr>
        <p:spPr>
          <a:xfrm>
            <a:off x="4908000" y="15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Sauvignon</a:t>
            </a:r>
            <a:pPr indent="0" marL="0">
              <a:buNone/>
            </a:pPr>
            <a:r>
              <a:rPr lang="en-US" sz="690" b="1" dirty="0">
                <a:solidFill>
                  <a:srgbClr val="67067C"/>
                </a:solidFill>
                <a:latin typeface="IBM Plex Sans" pitchFamily="34" charset="0"/>
                <a:ea typeface="IBM Plex Sans" pitchFamily="34" charset="-122"/>
                <a:cs typeface="IBM Plex Sans" pitchFamily="34" charset="-120"/>
              </a:rPr>
              <a:t>  7</a:t>
            </a:r>
            <a:pPr indent="0" marL="0">
              <a:buNone/>
            </a:pP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93" name="Text 91"/>
          <p:cNvSpPr/>
          <p:nvPr/>
        </p:nvSpPr>
        <p:spPr>
          <a:xfrm>
            <a:off x="4908000" y="16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Sauvignon Blanc Blush</a:t>
            </a:r>
            <a:pPr indent="0" marL="0">
              <a:buNone/>
            </a:pPr>
            <a:r>
              <a:rPr lang="en-US" sz="690" b="1" dirty="0">
                <a:solidFill>
                  <a:srgbClr val="67067C"/>
                </a:solidFill>
                <a:latin typeface="IBM Plex Sans" pitchFamily="34" charset="0"/>
                <a:ea typeface="IBM Plex Sans" pitchFamily="34" charset="-122"/>
                <a:cs typeface="IBM Plex Sans" pitchFamily="34" charset="-120"/>
              </a:rPr>
              <a:t>  7</a:t>
            </a:r>
            <a:pPr indent="0" marL="0">
              <a:buNone/>
            </a:pP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94" name="Text 92"/>
          <p:cNvSpPr/>
          <p:nvPr/>
        </p:nvSpPr>
        <p:spPr>
          <a:xfrm>
            <a:off x="4908000" y="18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 sans alcool</a:t>
            </a:r>
            <a:pPr indent="0" marL="0">
              <a:buNone/>
            </a:pPr>
            <a:r>
              <a:rPr lang="en-US" sz="690" b="1" dirty="0">
                <a:solidFill>
                  <a:srgbClr val="67067C"/>
                </a:solidFill>
                <a:latin typeface="IBM Plex Sans" pitchFamily="34" charset="0"/>
                <a:ea typeface="IBM Plex Sans" pitchFamily="34" charset="-122"/>
                <a:cs typeface="IBM Plex Sans" pitchFamily="34" charset="-120"/>
              </a:rPr>
              <a:t>  7</a:t>
            </a:r>
            <a:pPr indent="0" marL="0">
              <a:buNone/>
            </a:pP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95" name="Text 93"/>
          <p:cNvSpPr/>
          <p:nvPr/>
        </p:nvSpPr>
        <p:spPr>
          <a:xfrm>
            <a:off x="4908000" y="19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 sans alcool 0,5 %</a:t>
            </a:r>
            <a:pPr indent="0" marL="0">
              <a:buNone/>
            </a:pPr>
            <a:r>
              <a:rPr lang="en-US" sz="690" b="1" dirty="0">
                <a:solidFill>
                  <a:srgbClr val="67067C"/>
                </a:solidFill>
                <a:latin typeface="IBM Plex Sans" pitchFamily="34" charset="0"/>
                <a:ea typeface="IBM Plex Sans" pitchFamily="34" charset="-122"/>
                <a:cs typeface="IBM Plex Sans" pitchFamily="34" charset="-120"/>
              </a:rPr>
              <a:t>  7</a:t>
            </a:r>
            <a:pPr indent="0" marL="0">
              <a:buNone/>
            </a:pP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96" name="Text 94"/>
          <p:cNvSpPr/>
          <p:nvPr/>
        </p:nvSpPr>
        <p:spPr>
          <a:xfrm>
            <a:off x="4908000" y="20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 sans alcool 0,5 %</a:t>
            </a:r>
            <a:pPr indent="0" marL="0">
              <a:buNone/>
            </a:pPr>
            <a:r>
              <a:rPr lang="en-US" sz="690" b="1" dirty="0">
                <a:solidFill>
                  <a:srgbClr val="67067C"/>
                </a:solidFill>
                <a:latin typeface="IBM Plex Sans" pitchFamily="34" charset="0"/>
                <a:ea typeface="IBM Plex Sans" pitchFamily="34" charset="-122"/>
                <a:cs typeface="IBM Plex Sans" pitchFamily="34" charset="-120"/>
              </a:rPr>
              <a:t>  7</a:t>
            </a:r>
            <a:pPr indent="0" marL="0">
              <a:buNone/>
            </a:pP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97" name="Text 95"/>
          <p:cNvSpPr/>
          <p:nvPr/>
        </p:nvSpPr>
        <p:spPr>
          <a:xfrm>
            <a:off x="4908000" y="21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 sans alcool pétillant</a:t>
            </a:r>
            <a:pPr indent="0" marL="0">
              <a:buNone/>
            </a:pPr>
            <a:r>
              <a:rPr lang="en-US" sz="690" b="1" dirty="0">
                <a:solidFill>
                  <a:srgbClr val="67067C"/>
                </a:solidFill>
                <a:latin typeface="IBM Plex Sans" pitchFamily="34" charset="0"/>
                <a:ea typeface="IBM Plex Sans" pitchFamily="34" charset="-122"/>
                <a:cs typeface="IBM Plex Sans" pitchFamily="34" charset="-120"/>
              </a:rPr>
              <a:t>  7</a:t>
            </a:r>
            <a:pPr indent="0" marL="0">
              <a:buNone/>
            </a:pP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98" name="Text 96"/>
          <p:cNvSpPr/>
          <p:nvPr/>
        </p:nvSpPr>
        <p:spPr>
          <a:xfrm>
            <a:off x="4908000" y="2304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JUS DE CÉPAGES</a:t>
            </a:r>
            <a:endParaRPr lang="en-US" sz="800" dirty="0"/>
          </a:p>
        </p:txBody>
      </p:sp>
      <p:sp>
        <p:nvSpPr>
          <p:cNvPr id="99" name="Text 97"/>
          <p:cNvSpPr/>
          <p:nvPr/>
        </p:nvSpPr>
        <p:spPr>
          <a:xfrm>
            <a:off x="4908000" y="24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SYRAH  50 cl</a:t>
            </a:r>
            <a:pPr indent="0" marL="0">
              <a:buNone/>
            </a:pPr>
            <a:r>
              <a:rPr lang="en-US" sz="690" b="1" dirty="0">
                <a:solidFill>
                  <a:srgbClr val="67067C"/>
                </a:solidFill>
                <a:latin typeface="IBM Plex Sans" pitchFamily="34" charset="0"/>
                <a:ea typeface="IBM Plex Sans" pitchFamily="34" charset="-122"/>
                <a:cs typeface="IBM Plex Sans" pitchFamily="34" charset="-120"/>
              </a:rPr>
              <a:t>  33</a:t>
            </a:r>
            <a:pPr indent="0" marL="0">
              <a:buNone/>
            </a:pPr>
            <a:r>
              <a:rPr lang="en-US" sz="690" dirty="0">
                <a:solidFill>
                  <a:srgbClr val="46606E"/>
                </a:solidFill>
                <a:latin typeface="IBM Plex Sans" pitchFamily="34" charset="0"/>
                <a:ea typeface="IBM Plex Sans" pitchFamily="34" charset="-122"/>
                <a:cs typeface="IBM Plex Sans" pitchFamily="34" charset="-120"/>
              </a:rPr>
              <a:t>  58</a:t>
            </a:r>
            <a:endParaRPr lang="en-US" sz="690" dirty="0"/>
          </a:p>
        </p:txBody>
      </p:sp>
      <p:sp>
        <p:nvSpPr>
          <p:cNvPr id="100" name="Text 98"/>
          <p:cNvSpPr/>
          <p:nvPr/>
        </p:nvSpPr>
        <p:spPr>
          <a:xfrm>
            <a:off x="4908000" y="25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SYRAH  25 cl</a:t>
            </a:r>
            <a:pPr indent="0" marL="0">
              <a:buNone/>
            </a:pPr>
            <a:r>
              <a:rPr lang="en-US" sz="690" b="1" dirty="0">
                <a:solidFill>
                  <a:srgbClr val="67067C"/>
                </a:solidFill>
                <a:latin typeface="IBM Plex Sans" pitchFamily="34" charset="0"/>
                <a:ea typeface="IBM Plex Sans" pitchFamily="34" charset="-122"/>
                <a:cs typeface="IBM Plex Sans" pitchFamily="34" charset="-120"/>
              </a:rPr>
              <a:t>  33</a:t>
            </a:r>
            <a:pPr indent="0" marL="0">
              <a:buNone/>
            </a:pPr>
            <a:r>
              <a:rPr lang="en-US" sz="690" dirty="0">
                <a:solidFill>
                  <a:srgbClr val="46606E"/>
                </a:solidFill>
                <a:latin typeface="IBM Plex Sans" pitchFamily="34" charset="0"/>
                <a:ea typeface="IBM Plex Sans" pitchFamily="34" charset="-122"/>
                <a:cs typeface="IBM Plex Sans" pitchFamily="34" charset="-120"/>
              </a:rPr>
              <a:t>  58</a:t>
            </a:r>
            <a:endParaRPr lang="en-US" sz="690" dirty="0"/>
          </a:p>
        </p:txBody>
      </p:sp>
      <p:sp>
        <p:nvSpPr>
          <p:cNvPr id="101" name="Text 99"/>
          <p:cNvSpPr/>
          <p:nvPr/>
        </p:nvSpPr>
        <p:spPr>
          <a:xfrm>
            <a:off x="4908000" y="26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CARIGNAN</a:t>
            </a:r>
            <a:pPr indent="0" marL="0">
              <a:buNone/>
            </a:pPr>
            <a:r>
              <a:rPr lang="en-US" sz="690" b="1" dirty="0">
                <a:solidFill>
                  <a:srgbClr val="67067C"/>
                </a:solidFill>
                <a:latin typeface="IBM Plex Sans" pitchFamily="34" charset="0"/>
                <a:ea typeface="IBM Plex Sans" pitchFamily="34" charset="-122"/>
                <a:cs typeface="IBM Plex Sans" pitchFamily="34" charset="-120"/>
              </a:rPr>
              <a:t>  33</a:t>
            </a:r>
            <a:pPr indent="0" marL="0">
              <a:buNone/>
            </a:pPr>
            <a:r>
              <a:rPr lang="en-US" sz="690" dirty="0">
                <a:solidFill>
                  <a:srgbClr val="46606E"/>
                </a:solidFill>
                <a:latin typeface="IBM Plex Sans" pitchFamily="34" charset="0"/>
                <a:ea typeface="IBM Plex Sans" pitchFamily="34" charset="-122"/>
                <a:cs typeface="IBM Plex Sans" pitchFamily="34" charset="-120"/>
              </a:rPr>
              <a:t>  58</a:t>
            </a:r>
            <a:endParaRPr lang="en-US" sz="690" dirty="0"/>
          </a:p>
        </p:txBody>
      </p:sp>
      <p:sp>
        <p:nvSpPr>
          <p:cNvPr id="102" name="Text 100"/>
          <p:cNvSpPr/>
          <p:nvPr/>
        </p:nvSpPr>
        <p:spPr>
          <a:xfrm>
            <a:off x="4908000" y="28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CHARDONNAY  50 cl</a:t>
            </a:r>
            <a:pPr indent="0" marL="0">
              <a:buNone/>
            </a:pPr>
            <a:r>
              <a:rPr lang="en-US" sz="690" b="1" dirty="0">
                <a:solidFill>
                  <a:srgbClr val="67067C"/>
                </a:solidFill>
                <a:latin typeface="IBM Plex Sans" pitchFamily="34" charset="0"/>
                <a:ea typeface="IBM Plex Sans" pitchFamily="34" charset="-122"/>
                <a:cs typeface="IBM Plex Sans" pitchFamily="34" charset="-120"/>
              </a:rPr>
              <a:t>  33</a:t>
            </a:r>
            <a:pPr indent="0" marL="0">
              <a:buNone/>
            </a:pPr>
            <a:r>
              <a:rPr lang="en-US" sz="690" dirty="0">
                <a:solidFill>
                  <a:srgbClr val="46606E"/>
                </a:solidFill>
                <a:latin typeface="IBM Plex Sans" pitchFamily="34" charset="0"/>
                <a:ea typeface="IBM Plex Sans" pitchFamily="34" charset="-122"/>
                <a:cs typeface="IBM Plex Sans" pitchFamily="34" charset="-120"/>
              </a:rPr>
              <a:t>  58</a:t>
            </a:r>
            <a:endParaRPr lang="en-US" sz="690" dirty="0"/>
          </a:p>
        </p:txBody>
      </p:sp>
      <p:sp>
        <p:nvSpPr>
          <p:cNvPr id="103" name="Text 101"/>
          <p:cNvSpPr/>
          <p:nvPr/>
        </p:nvSpPr>
        <p:spPr>
          <a:xfrm>
            <a:off x="4908000" y="293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CHARDONNAY  25 cl</a:t>
            </a:r>
            <a:pPr indent="0" marL="0">
              <a:buNone/>
            </a:pPr>
            <a:r>
              <a:rPr lang="en-US" sz="690" b="1" dirty="0">
                <a:solidFill>
                  <a:srgbClr val="67067C"/>
                </a:solidFill>
                <a:latin typeface="IBM Plex Sans" pitchFamily="34" charset="0"/>
                <a:ea typeface="IBM Plex Sans" pitchFamily="34" charset="-122"/>
                <a:cs typeface="IBM Plex Sans" pitchFamily="34" charset="-120"/>
              </a:rPr>
              <a:t>  33</a:t>
            </a:r>
            <a:pPr indent="0" marL="0">
              <a:buNone/>
            </a:pPr>
            <a:r>
              <a:rPr lang="en-US" sz="690" dirty="0">
                <a:solidFill>
                  <a:srgbClr val="46606E"/>
                </a:solidFill>
                <a:latin typeface="IBM Plex Sans" pitchFamily="34" charset="0"/>
                <a:ea typeface="IBM Plex Sans" pitchFamily="34" charset="-122"/>
                <a:cs typeface="IBM Plex Sans" pitchFamily="34" charset="-120"/>
              </a:rPr>
              <a:t>  58</a:t>
            </a:r>
            <a:endParaRPr lang="en-US" sz="690" dirty="0"/>
          </a:p>
        </p:txBody>
      </p:sp>
      <p:sp>
        <p:nvSpPr>
          <p:cNvPr id="104" name="Text 102"/>
          <p:cNvSpPr/>
          <p:nvPr/>
        </p:nvSpPr>
        <p:spPr>
          <a:xfrm>
            <a:off x="4908000" y="306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GRENACHE  50 cl</a:t>
            </a:r>
            <a:pPr indent="0" marL="0">
              <a:buNone/>
            </a:pPr>
            <a:r>
              <a:rPr lang="en-US" sz="690" b="1" dirty="0">
                <a:solidFill>
                  <a:srgbClr val="67067C"/>
                </a:solidFill>
                <a:latin typeface="IBM Plex Sans" pitchFamily="34" charset="0"/>
                <a:ea typeface="IBM Plex Sans" pitchFamily="34" charset="-122"/>
                <a:cs typeface="IBM Plex Sans" pitchFamily="34" charset="-120"/>
              </a:rPr>
              <a:t>  33</a:t>
            </a:r>
            <a:pPr indent="0" marL="0">
              <a:buNone/>
            </a:pPr>
            <a:r>
              <a:rPr lang="en-US" sz="690" dirty="0">
                <a:solidFill>
                  <a:srgbClr val="46606E"/>
                </a:solidFill>
                <a:latin typeface="IBM Plex Sans" pitchFamily="34" charset="0"/>
                <a:ea typeface="IBM Plex Sans" pitchFamily="34" charset="-122"/>
                <a:cs typeface="IBM Plex Sans" pitchFamily="34" charset="-120"/>
              </a:rPr>
              <a:t>  58</a:t>
            </a:r>
            <a:endParaRPr lang="en-US" sz="690" dirty="0"/>
          </a:p>
        </p:txBody>
      </p:sp>
      <p:sp>
        <p:nvSpPr>
          <p:cNvPr id="105" name="Text 103"/>
          <p:cNvSpPr/>
          <p:nvPr/>
        </p:nvSpPr>
        <p:spPr>
          <a:xfrm>
            <a:off x="4908000" y="318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GRENACHE  25 cl</a:t>
            </a:r>
            <a:pPr indent="0" marL="0">
              <a:buNone/>
            </a:pPr>
            <a:r>
              <a:rPr lang="en-US" sz="690" b="1" dirty="0">
                <a:solidFill>
                  <a:srgbClr val="67067C"/>
                </a:solidFill>
                <a:latin typeface="IBM Plex Sans" pitchFamily="34" charset="0"/>
                <a:ea typeface="IBM Plex Sans" pitchFamily="34" charset="-122"/>
                <a:cs typeface="IBM Plex Sans" pitchFamily="34" charset="-120"/>
              </a:rPr>
              <a:t>  33</a:t>
            </a:r>
            <a:pPr indent="0" marL="0">
              <a:buNone/>
            </a:pPr>
            <a:r>
              <a:rPr lang="en-US" sz="690" dirty="0">
                <a:solidFill>
                  <a:srgbClr val="46606E"/>
                </a:solidFill>
                <a:latin typeface="IBM Plex Sans" pitchFamily="34" charset="0"/>
                <a:ea typeface="IBM Plex Sans" pitchFamily="34" charset="-122"/>
                <a:cs typeface="IBM Plex Sans" pitchFamily="34" charset="-120"/>
              </a:rPr>
              <a:t>  58</a:t>
            </a:r>
            <a:endParaRPr lang="en-US" sz="690" dirty="0"/>
          </a:p>
        </p:txBody>
      </p:sp>
      <p:sp>
        <p:nvSpPr>
          <p:cNvPr id="106" name="Text 104"/>
          <p:cNvSpPr/>
          <p:nvPr/>
        </p:nvSpPr>
        <p:spPr>
          <a:xfrm>
            <a:off x="4908000" y="331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SAUVIGNON</a:t>
            </a:r>
            <a:pPr indent="0" marL="0">
              <a:buNone/>
            </a:pPr>
            <a:r>
              <a:rPr lang="en-US" sz="690" b="1" dirty="0">
                <a:solidFill>
                  <a:srgbClr val="67067C"/>
                </a:solidFill>
                <a:latin typeface="IBM Plex Sans" pitchFamily="34" charset="0"/>
                <a:ea typeface="IBM Plex Sans" pitchFamily="34" charset="-122"/>
                <a:cs typeface="IBM Plex Sans" pitchFamily="34" charset="-120"/>
              </a:rPr>
              <a:t>  33</a:t>
            </a:r>
            <a:pPr indent="0" marL="0">
              <a:buNone/>
            </a:pPr>
            <a:r>
              <a:rPr lang="en-US" sz="690" dirty="0">
                <a:solidFill>
                  <a:srgbClr val="46606E"/>
                </a:solidFill>
                <a:latin typeface="IBM Plex Sans" pitchFamily="34" charset="0"/>
                <a:ea typeface="IBM Plex Sans" pitchFamily="34" charset="-122"/>
                <a:cs typeface="IBM Plex Sans" pitchFamily="34" charset="-120"/>
              </a:rPr>
              <a:t>  58</a:t>
            </a:r>
            <a:endParaRPr lang="en-US" sz="690" dirty="0"/>
          </a:p>
        </p:txBody>
      </p:sp>
      <p:sp>
        <p:nvSpPr>
          <p:cNvPr id="107" name="Text 105"/>
          <p:cNvSpPr/>
          <p:nvPr/>
        </p:nvSpPr>
        <p:spPr>
          <a:xfrm>
            <a:off x="4908000" y="3438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BIÈRE</a:t>
            </a:r>
            <a:endParaRPr lang="en-US" sz="800" dirty="0"/>
          </a:p>
        </p:txBody>
      </p:sp>
      <p:sp>
        <p:nvSpPr>
          <p:cNvPr id="108" name="Text 106"/>
          <p:cNvSpPr/>
          <p:nvPr/>
        </p:nvSpPr>
        <p:spPr>
          <a:xfrm>
            <a:off x="4908000" y="356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Barbe Ambrée</a:t>
            </a:r>
            <a:pPr indent="0" marL="0">
              <a:buNone/>
            </a:pPr>
            <a:r>
              <a:rPr lang="en-US" sz="690" b="1" dirty="0">
                <a:solidFill>
                  <a:srgbClr val="67067C"/>
                </a:solidFill>
                <a:latin typeface="IBM Plex Sans" pitchFamily="34" charset="0"/>
                <a:ea typeface="IBM Plex Sans" pitchFamily="34" charset="-122"/>
                <a:cs typeface="IBM Plex Sans" pitchFamily="34" charset="-120"/>
              </a:rPr>
              <a:t>  24</a:t>
            </a:r>
            <a:pPr indent="0" marL="0">
              <a:buNone/>
            </a:pPr>
            <a:r>
              <a:rPr lang="en-US" sz="690" dirty="0">
                <a:solidFill>
                  <a:srgbClr val="46606E"/>
                </a:solidFill>
                <a:latin typeface="IBM Plex Sans" pitchFamily="34" charset="0"/>
                <a:ea typeface="IBM Plex Sans" pitchFamily="34" charset="-122"/>
                <a:cs typeface="IBM Plex Sans" pitchFamily="34" charset="-120"/>
              </a:rPr>
              <a:t>  41</a:t>
            </a:r>
            <a:endParaRPr lang="en-US" sz="690" dirty="0"/>
          </a:p>
        </p:txBody>
      </p:sp>
      <p:sp>
        <p:nvSpPr>
          <p:cNvPr id="109" name="Text 107"/>
          <p:cNvSpPr/>
          <p:nvPr/>
        </p:nvSpPr>
        <p:spPr>
          <a:xfrm>
            <a:off x="4908000" y="369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Barbe Blanche</a:t>
            </a:r>
            <a:pPr indent="0" marL="0">
              <a:buNone/>
            </a:pPr>
            <a:r>
              <a:rPr lang="en-US" sz="690" b="1" dirty="0">
                <a:solidFill>
                  <a:srgbClr val="67067C"/>
                </a:solidFill>
                <a:latin typeface="IBM Plex Sans" pitchFamily="34" charset="0"/>
                <a:ea typeface="IBM Plex Sans" pitchFamily="34" charset="-122"/>
                <a:cs typeface="IBM Plex Sans" pitchFamily="34" charset="-120"/>
              </a:rPr>
              <a:t>  24</a:t>
            </a:r>
            <a:pPr indent="0" marL="0">
              <a:buNone/>
            </a:pPr>
            <a:r>
              <a:rPr lang="en-US" sz="690" dirty="0">
                <a:solidFill>
                  <a:srgbClr val="46606E"/>
                </a:solidFill>
                <a:latin typeface="IBM Plex Sans" pitchFamily="34" charset="0"/>
                <a:ea typeface="IBM Plex Sans" pitchFamily="34" charset="-122"/>
                <a:cs typeface="IBM Plex Sans" pitchFamily="34" charset="-120"/>
              </a:rPr>
              <a:t>  41</a:t>
            </a:r>
            <a:endParaRPr lang="en-US" sz="690" dirty="0"/>
          </a:p>
        </p:txBody>
      </p:sp>
      <p:sp>
        <p:nvSpPr>
          <p:cNvPr id="110" name="Text 108"/>
          <p:cNvSpPr/>
          <p:nvPr/>
        </p:nvSpPr>
        <p:spPr>
          <a:xfrm>
            <a:off x="4908000" y="381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Barbe Blonde</a:t>
            </a:r>
            <a:pPr indent="0" marL="0">
              <a:buNone/>
            </a:pPr>
            <a:r>
              <a:rPr lang="en-US" sz="690" b="1" dirty="0">
                <a:solidFill>
                  <a:srgbClr val="67067C"/>
                </a:solidFill>
                <a:latin typeface="IBM Plex Sans" pitchFamily="34" charset="0"/>
                <a:ea typeface="IBM Plex Sans" pitchFamily="34" charset="-122"/>
                <a:cs typeface="IBM Plex Sans" pitchFamily="34" charset="-120"/>
              </a:rPr>
              <a:t>  24</a:t>
            </a:r>
            <a:pPr indent="0" marL="0">
              <a:buNone/>
            </a:pPr>
            <a:r>
              <a:rPr lang="en-US" sz="690" dirty="0">
                <a:solidFill>
                  <a:srgbClr val="46606E"/>
                </a:solidFill>
                <a:latin typeface="IBM Plex Sans" pitchFamily="34" charset="0"/>
                <a:ea typeface="IBM Plex Sans" pitchFamily="34" charset="-122"/>
                <a:cs typeface="IBM Plex Sans" pitchFamily="34" charset="-120"/>
              </a:rPr>
              <a:t>  41</a:t>
            </a:r>
            <a:endParaRPr lang="en-US" sz="690" dirty="0"/>
          </a:p>
        </p:txBody>
      </p:sp>
      <p:sp>
        <p:nvSpPr>
          <p:cNvPr id="111" name="Text 109"/>
          <p:cNvSpPr/>
          <p:nvPr/>
        </p:nvSpPr>
        <p:spPr>
          <a:xfrm>
            <a:off x="4908000" y="3942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SPIRITUEUX</a:t>
            </a:r>
            <a:endParaRPr lang="en-US" sz="800" dirty="0"/>
          </a:p>
        </p:txBody>
      </p:sp>
      <p:sp>
        <p:nvSpPr>
          <p:cNvPr id="112" name="Text 110"/>
          <p:cNvSpPr/>
          <p:nvPr/>
        </p:nvSpPr>
        <p:spPr>
          <a:xfrm>
            <a:off x="4908000" y="406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Blanche Armagnac</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113" name="Text 111"/>
          <p:cNvSpPr/>
          <p:nvPr/>
        </p:nvSpPr>
        <p:spPr>
          <a:xfrm>
            <a:off x="4908000" y="419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Hors d'Age</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114" name="Text 112"/>
          <p:cNvSpPr/>
          <p:nvPr/>
        </p:nvSpPr>
        <p:spPr>
          <a:xfrm>
            <a:off x="4908000" y="432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IGP Vieux Ratafia Champenois</a:t>
            </a:r>
            <a:pPr indent="0" marL="0">
              <a:buNone/>
            </a:pPr>
            <a:r>
              <a:rPr lang="en-US" sz="690" b="1" dirty="0">
                <a:solidFill>
                  <a:srgbClr val="67067C"/>
                </a:solidFill>
                <a:latin typeface="IBM Plex Sans" pitchFamily="34" charset="0"/>
                <a:ea typeface="IBM Plex Sans" pitchFamily="34" charset="-122"/>
                <a:cs typeface="IBM Plex Sans" pitchFamily="34" charset="-120"/>
              </a:rPr>
              <a:t>  38</a:t>
            </a:r>
            <a:pPr indent="0" marL="0">
              <a:buNone/>
            </a:pPr>
            <a:r>
              <a:rPr lang="en-US" sz="690" dirty="0">
                <a:solidFill>
                  <a:srgbClr val="46606E"/>
                </a:solidFill>
                <a:latin typeface="IBM Plex Sans" pitchFamily="34" charset="0"/>
                <a:ea typeface="IBM Plex Sans" pitchFamily="34" charset="-122"/>
                <a:cs typeface="IBM Plex Sans" pitchFamily="34" charset="-120"/>
              </a:rPr>
              <a:t>  65</a:t>
            </a:r>
            <a:endParaRPr lang="en-US" sz="690" dirty="0"/>
          </a:p>
        </p:txBody>
      </p:sp>
      <p:sp>
        <p:nvSpPr>
          <p:cNvPr id="115" name="Text 113"/>
          <p:cNvSpPr/>
          <p:nvPr/>
        </p:nvSpPr>
        <p:spPr>
          <a:xfrm>
            <a:off x="4908000" y="44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Millésimés  70 cl</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116" name="Text 114"/>
          <p:cNvSpPr/>
          <p:nvPr/>
        </p:nvSpPr>
        <p:spPr>
          <a:xfrm>
            <a:off x="4908000" y="45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Millésimés  70 cl</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117" name="Text 115"/>
          <p:cNvSpPr/>
          <p:nvPr/>
        </p:nvSpPr>
        <p:spPr>
          <a:xfrm>
            <a:off x="4908000" y="46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Réserve</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118" name="Text 116"/>
          <p:cNvSpPr/>
          <p:nvPr/>
        </p:nvSpPr>
        <p:spPr>
          <a:xfrm>
            <a:off x="4908000" y="48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V.S.O.P.</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119" name="Text 117"/>
          <p:cNvSpPr/>
          <p:nvPr/>
        </p:nvSpPr>
        <p:spPr>
          <a:xfrm>
            <a:off x="4908000" y="49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Vieux Ratafia</a:t>
            </a:r>
            <a:pPr indent="0" marL="0">
              <a:buNone/>
            </a:pPr>
            <a:r>
              <a:rPr lang="en-US" sz="690" b="1" dirty="0">
                <a:solidFill>
                  <a:srgbClr val="67067C"/>
                </a:solidFill>
                <a:latin typeface="IBM Plex Sans" pitchFamily="34" charset="0"/>
                <a:ea typeface="IBM Plex Sans" pitchFamily="34" charset="-122"/>
                <a:cs typeface="IBM Plex Sans" pitchFamily="34" charset="-120"/>
              </a:rPr>
              <a:t>  37</a:t>
            </a:r>
            <a:pPr indent="0" marL="0">
              <a:buNone/>
            </a:pPr>
            <a:r>
              <a:rPr lang="en-US" sz="690" dirty="0">
                <a:solidFill>
                  <a:srgbClr val="46606E"/>
                </a:solidFill>
                <a:latin typeface="IBM Plex Sans" pitchFamily="34" charset="0"/>
                <a:ea typeface="IBM Plex Sans" pitchFamily="34" charset="-122"/>
                <a:cs typeface="IBM Plex Sans" pitchFamily="34" charset="-120"/>
              </a:rPr>
              <a:t>  64</a:t>
            </a:r>
            <a:endParaRPr lang="en-US" sz="690" dirty="0"/>
          </a:p>
        </p:txBody>
      </p:sp>
      <p:sp>
        <p:nvSpPr>
          <p:cNvPr id="120" name="Text 118"/>
          <p:cNvSpPr/>
          <p:nvPr/>
        </p:nvSpPr>
        <p:spPr>
          <a:xfrm>
            <a:off x="4908000" y="50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X.O.</a:t>
            </a:r>
            <a:pPr indent="0" marL="0">
              <a:buNone/>
            </a:pPr>
            <a:r>
              <a:rPr lang="en-US" sz="690" b="1" dirty="0">
                <a:solidFill>
                  <a:srgbClr val="67067C"/>
                </a:solidFill>
                <a:latin typeface="IBM Plex Sans" pitchFamily="34" charset="0"/>
                <a:ea typeface="IBM Plex Sans" pitchFamily="34" charset="-122"/>
                <a:cs typeface="IBM Plex Sans" pitchFamily="34" charset="-120"/>
              </a:rPr>
              <a:t>  23</a:t>
            </a:r>
            <a:pPr indent="0" marL="0">
              <a:buNone/>
            </a:pP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121" name="Text 119"/>
          <p:cNvSpPr/>
          <p:nvPr/>
        </p:nvSpPr>
        <p:spPr>
          <a:xfrm>
            <a:off x="4908000" y="5202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AUTRE</a:t>
            </a:r>
            <a:endParaRPr lang="en-US" sz="800" dirty="0"/>
          </a:p>
        </p:txBody>
      </p:sp>
      <p:sp>
        <p:nvSpPr>
          <p:cNvPr id="122" name="Text 120"/>
          <p:cNvSpPr/>
          <p:nvPr/>
        </p:nvSpPr>
        <p:spPr>
          <a:xfrm>
            <a:off x="4908000" y="53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Pergola D'Exea  5 L</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123" name="Text 121"/>
          <p:cNvSpPr/>
          <p:nvPr/>
        </p:nvSpPr>
        <p:spPr>
          <a:xfrm>
            <a:off x="4908000" y="54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Pergola D'Exea  5 L</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124" name="Text 122"/>
          <p:cNvSpPr/>
          <p:nvPr/>
        </p:nvSpPr>
        <p:spPr>
          <a:xfrm>
            <a:off x="4908000" y="55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Pergola D'Exea  5 L</a:t>
            </a:r>
            <a:pPr indent="0" marL="0">
              <a:buNone/>
            </a:pPr>
            <a:r>
              <a:rPr lang="en-US" sz="690" b="1" dirty="0">
                <a:solidFill>
                  <a:srgbClr val="67067C"/>
                </a:solidFill>
                <a:latin typeface="IBM Plex Sans" pitchFamily="34" charset="0"/>
                <a:ea typeface="IBM Plex Sans" pitchFamily="34" charset="-122"/>
                <a:cs typeface="IBM Plex Sans" pitchFamily="34" charset="-120"/>
              </a:rPr>
              <a:t>  32</a:t>
            </a:r>
            <a:pPr indent="0" marL="0">
              <a:buNone/>
            </a:pP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125" name="Text 123"/>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70</a:t>
            </a:r>
            <a:endParaRPr lang="en-US" sz="750" dirty="0"/>
          </a:p>
        </p:txBody>
      </p:sp>
      <p:sp>
        <p:nvSpPr>
          <p:cNvPr id="126" name="Text 124"/>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612000" y="540000"/>
            <a:ext cx="6120000" cy="432000"/>
          </a:xfrm>
          <a:prstGeom prst="rect">
            <a:avLst/>
          </a:prstGeom>
          <a:noFill/>
          <a:ln/>
        </p:spPr>
        <p:txBody>
          <a:bodyPr wrap="square" lIns="0" tIns="0" rIns="0" bIns="0" rtlCol="0" anchor="b"/>
          <a:lstStyle/>
          <a:p>
            <a:pPr indent="0" marL="0">
              <a:buNone/>
            </a:pPr>
            <a:r>
              <a:rPr lang="en-US" sz="2400" dirty="0">
                <a:solidFill>
                  <a:srgbClr val="67067C"/>
                </a:solidFill>
                <a:latin typeface="Young Serif" pitchFamily="34" charset="0"/>
                <a:ea typeface="Young Serif" pitchFamily="34" charset="-122"/>
                <a:cs typeface="Young Serif" pitchFamily="34" charset="-120"/>
              </a:rPr>
              <a:t>Les produits à part</a:t>
            </a:r>
            <a:endParaRPr lang="en-US" sz="2400" dirty="0"/>
          </a:p>
        </p:txBody>
      </p:sp>
      <p:sp>
        <p:nvSpPr>
          <p:cNvPr id="3" name="Text 1"/>
          <p:cNvSpPr/>
          <p:nvPr/>
        </p:nvSpPr>
        <p:spPr>
          <a:xfrm>
            <a:off x="612000" y="990000"/>
            <a:ext cx="612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CE QUI N'EST PAS UNE BOUTEILLE DE 75 CL</a:t>
            </a:r>
            <a:endParaRPr lang="en-US" sz="800" dirty="0"/>
          </a:p>
        </p:txBody>
      </p:sp>
      <p:sp>
        <p:nvSpPr>
          <p:cNvPr id="4" name="Text 2"/>
          <p:cNvSpPr/>
          <p:nvPr/>
        </p:nvSpPr>
        <p:spPr>
          <a:xfrm>
            <a:off x="612000" y="1296000"/>
            <a:ext cx="6120000" cy="216000"/>
          </a:xfrm>
          <a:prstGeom prst="rect">
            <a:avLst/>
          </a:prstGeom>
          <a:noFill/>
          <a:ln/>
        </p:spPr>
        <p:txBody>
          <a:bodyPr wrap="square" lIns="0" tIns="0" rIns="0" bIns="0" rtlCol="0" anchor="ctr"/>
          <a:lstStyle/>
          <a:p>
            <a:pPr indent="0" marL="0">
              <a:buNone/>
            </a:pPr>
            <a:r>
              <a:rPr lang="en-US" sz="1200" dirty="0">
                <a:solidFill>
                  <a:srgbClr val="67067C"/>
                </a:solidFill>
                <a:latin typeface="Young Serif" pitchFamily="34" charset="0"/>
                <a:ea typeface="Young Serif" pitchFamily="34" charset="-122"/>
                <a:cs typeface="Young Serif" pitchFamily="34" charset="-120"/>
              </a:rPr>
              <a:t>Bag-in-box   (14)</a:t>
            </a:r>
            <a:endParaRPr lang="en-US" sz="1200" dirty="0"/>
          </a:p>
        </p:txBody>
      </p:sp>
      <p:sp>
        <p:nvSpPr>
          <p:cNvPr id="5" name="Shape 3"/>
          <p:cNvSpPr/>
          <p:nvPr/>
        </p:nvSpPr>
        <p:spPr>
          <a:xfrm>
            <a:off x="612000" y="1512000"/>
            <a:ext cx="6120000" cy="0"/>
          </a:xfrm>
          <a:prstGeom prst="line">
            <a:avLst/>
          </a:prstGeom>
          <a:noFill/>
          <a:ln w="10160">
            <a:solidFill>
              <a:srgbClr val="67067C"/>
            </a:solidFill>
            <a:prstDash val="solid"/>
          </a:ln>
        </p:spPr>
      </p:sp>
      <p:sp>
        <p:nvSpPr>
          <p:cNvPr id="6" name="Text 4"/>
          <p:cNvSpPr/>
          <p:nvPr/>
        </p:nvSpPr>
        <p:spPr>
          <a:xfrm>
            <a:off x="612000" y="158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  </a:t>
            </a:r>
            <a:pPr indent="0" marL="0">
              <a:buNone/>
            </a:pPr>
            <a:r>
              <a:rPr lang="en-US" sz="740" b="1" dirty="0">
                <a:solidFill>
                  <a:srgbClr val="46606E"/>
                </a:solidFill>
                <a:latin typeface="IBM Plex Sans" pitchFamily="34" charset="0"/>
                <a:ea typeface="IBM Plex Sans" pitchFamily="34" charset="-122"/>
                <a:cs typeface="IBM Plex Sans" pitchFamily="34" charset="-120"/>
              </a:rPr>
              <a:t>AOP Muscadet  </a:t>
            </a:r>
            <a:pPr indent="0" marL="0">
              <a:buNone/>
            </a:pPr>
            <a:r>
              <a:rPr lang="en-US" sz="680" dirty="0">
                <a:solidFill>
                  <a:srgbClr val="46606E"/>
                </a:solidFill>
                <a:latin typeface="IBM Plex Sans" pitchFamily="34" charset="0"/>
                <a:ea typeface="IBM Plex Sans" pitchFamily="34" charset="-122"/>
                <a:cs typeface="IBM Plex Sans" pitchFamily="34" charset="-120"/>
              </a:rPr>
              <a:t>Domaine du Colombier / J.Y Bretaudeau  </a:t>
            </a:r>
            <a:pPr indent="0" marL="0">
              <a:buNone/>
            </a:pPr>
            <a:r>
              <a:rPr lang="en-US" sz="680" dirty="0">
                <a:solidFill>
                  <a:srgbClr val="A8515F"/>
                </a:solidFill>
                <a:latin typeface="IBM Plex Sans" pitchFamily="34" charset="0"/>
                <a:ea typeface="IBM Plex Sans" pitchFamily="34" charset="-122"/>
                <a:cs typeface="IBM Plex Sans" pitchFamily="34" charset="-120"/>
              </a:rPr>
              <a:t>5 Litres · 10 Litres   p. 9</a:t>
            </a:r>
            <a:endParaRPr lang="en-US" sz="740" dirty="0"/>
          </a:p>
        </p:txBody>
      </p:sp>
      <p:sp>
        <p:nvSpPr>
          <p:cNvPr id="7" name="Text 5"/>
          <p:cNvSpPr/>
          <p:nvPr/>
        </p:nvSpPr>
        <p:spPr>
          <a:xfrm>
            <a:off x="612000" y="172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  </a:t>
            </a:r>
            <a:pPr indent="0" marL="0">
              <a:buNone/>
            </a:pPr>
            <a:r>
              <a:rPr lang="en-US" sz="740" b="1" dirty="0">
                <a:solidFill>
                  <a:srgbClr val="46606E"/>
                </a:solidFill>
                <a:latin typeface="IBM Plex Sans" pitchFamily="34" charset="0"/>
                <a:ea typeface="IBM Plex Sans" pitchFamily="34" charset="-122"/>
                <a:cs typeface="IBM Plex Sans" pitchFamily="34" charset="-120"/>
              </a:rPr>
              <a:t>IGP Sauvignon  </a:t>
            </a:r>
            <a:pPr indent="0" marL="0">
              <a:buNone/>
            </a:pPr>
            <a:r>
              <a:rPr lang="en-US" sz="680" dirty="0">
                <a:solidFill>
                  <a:srgbClr val="46606E"/>
                </a:solidFill>
                <a:latin typeface="IBM Plex Sans" pitchFamily="34" charset="0"/>
                <a:ea typeface="IBM Plex Sans" pitchFamily="34" charset="-122"/>
                <a:cs typeface="IBM Plex Sans" pitchFamily="34" charset="-120"/>
              </a:rPr>
              <a:t>Domaine du Colombier / J.Y Bretaudeau  </a:t>
            </a:r>
            <a:pPr indent="0" marL="0">
              <a:buNone/>
            </a:pPr>
            <a:r>
              <a:rPr lang="en-US" sz="680" dirty="0">
                <a:solidFill>
                  <a:srgbClr val="A8515F"/>
                </a:solidFill>
                <a:latin typeface="IBM Plex Sans" pitchFamily="34" charset="0"/>
                <a:ea typeface="IBM Plex Sans" pitchFamily="34" charset="-122"/>
                <a:cs typeface="IBM Plex Sans" pitchFamily="34" charset="-120"/>
              </a:rPr>
              <a:t>5 Litres · 10 Litres   p. 9</a:t>
            </a:r>
            <a:endParaRPr lang="en-US" sz="740" dirty="0"/>
          </a:p>
        </p:txBody>
      </p:sp>
      <p:sp>
        <p:nvSpPr>
          <p:cNvPr id="8" name="Text 6"/>
          <p:cNvSpPr/>
          <p:nvPr/>
        </p:nvSpPr>
        <p:spPr>
          <a:xfrm>
            <a:off x="612000" y="1872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  </a:t>
            </a:r>
            <a:pPr indent="0" marL="0">
              <a:buNone/>
            </a:pPr>
            <a:r>
              <a:rPr lang="en-US" sz="740" b="1" dirty="0">
                <a:solidFill>
                  <a:srgbClr val="46606E"/>
                </a:solidFill>
                <a:latin typeface="IBM Plex Sans" pitchFamily="34" charset="0"/>
                <a:ea typeface="IBM Plex Sans" pitchFamily="34" charset="-122"/>
                <a:cs typeface="IBM Plex Sans" pitchFamily="34" charset="-120"/>
              </a:rPr>
              <a:t>IGP Chardonnay  </a:t>
            </a:r>
            <a:pPr indent="0" marL="0">
              <a:buNone/>
            </a:pPr>
            <a:r>
              <a:rPr lang="en-US" sz="680" dirty="0">
                <a:solidFill>
                  <a:srgbClr val="46606E"/>
                </a:solidFill>
                <a:latin typeface="IBM Plex Sans" pitchFamily="34" charset="0"/>
                <a:ea typeface="IBM Plex Sans" pitchFamily="34" charset="-122"/>
                <a:cs typeface="IBM Plex Sans" pitchFamily="34" charset="-120"/>
              </a:rPr>
              <a:t>Domaine du Colombier / J.Y Bretaudeau  </a:t>
            </a:r>
            <a:pPr indent="0" marL="0">
              <a:buNone/>
            </a:pPr>
            <a:r>
              <a:rPr lang="en-US" sz="680" dirty="0">
                <a:solidFill>
                  <a:srgbClr val="A8515F"/>
                </a:solidFill>
                <a:latin typeface="IBM Plex Sans" pitchFamily="34" charset="0"/>
                <a:ea typeface="IBM Plex Sans" pitchFamily="34" charset="-122"/>
                <a:cs typeface="IBM Plex Sans" pitchFamily="34" charset="-120"/>
              </a:rPr>
              <a:t>5 Litres · 10 Litres   p. 9</a:t>
            </a:r>
            <a:endParaRPr lang="en-US" sz="740" dirty="0"/>
          </a:p>
        </p:txBody>
      </p:sp>
      <p:sp>
        <p:nvSpPr>
          <p:cNvPr id="9" name="Text 7"/>
          <p:cNvSpPr/>
          <p:nvPr/>
        </p:nvSpPr>
        <p:spPr>
          <a:xfrm>
            <a:off x="612000" y="2016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  </a:t>
            </a:r>
            <a:pPr indent="0" marL="0">
              <a:buNone/>
            </a:pPr>
            <a:r>
              <a:rPr lang="en-US" sz="740" b="1" dirty="0">
                <a:solidFill>
                  <a:srgbClr val="46606E"/>
                </a:solidFill>
                <a:latin typeface="IBM Plex Sans" pitchFamily="34" charset="0"/>
                <a:ea typeface="IBM Plex Sans" pitchFamily="34" charset="-122"/>
                <a:cs typeface="IBM Plex Sans" pitchFamily="34" charset="-120"/>
              </a:rPr>
              <a:t>IGP Merlot  </a:t>
            </a:r>
            <a:pPr indent="0" marL="0">
              <a:buNone/>
            </a:pPr>
            <a:r>
              <a:rPr lang="en-US" sz="680" dirty="0">
                <a:solidFill>
                  <a:srgbClr val="46606E"/>
                </a:solidFill>
                <a:latin typeface="IBM Plex Sans" pitchFamily="34" charset="0"/>
                <a:ea typeface="IBM Plex Sans" pitchFamily="34" charset="-122"/>
                <a:cs typeface="IBM Plex Sans" pitchFamily="34" charset="-120"/>
              </a:rPr>
              <a:t>Domaine du Colombier / J.Y Bretaudeau  </a:t>
            </a:r>
            <a:pPr indent="0" marL="0">
              <a:buNone/>
            </a:pPr>
            <a:r>
              <a:rPr lang="en-US" sz="680" dirty="0">
                <a:solidFill>
                  <a:srgbClr val="A8515F"/>
                </a:solidFill>
                <a:latin typeface="IBM Plex Sans" pitchFamily="34" charset="0"/>
                <a:ea typeface="IBM Plex Sans" pitchFamily="34" charset="-122"/>
                <a:cs typeface="IBM Plex Sans" pitchFamily="34" charset="-120"/>
              </a:rPr>
              <a:t>5 Litres · 10 Litres   p. 9</a:t>
            </a:r>
            <a:endParaRPr lang="en-US" sz="740" dirty="0"/>
          </a:p>
        </p:txBody>
      </p:sp>
      <p:sp>
        <p:nvSpPr>
          <p:cNvPr id="10" name="Text 8"/>
          <p:cNvSpPr/>
          <p:nvPr/>
        </p:nvSpPr>
        <p:spPr>
          <a:xfrm>
            <a:off x="612000" y="2160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  </a:t>
            </a:r>
            <a:pPr indent="0" marL="0">
              <a:buNone/>
            </a:pPr>
            <a:r>
              <a:rPr lang="en-US" sz="740" b="1" dirty="0">
                <a:solidFill>
                  <a:srgbClr val="46606E"/>
                </a:solidFill>
                <a:latin typeface="IBM Plex Sans" pitchFamily="34" charset="0"/>
                <a:ea typeface="IBM Plex Sans" pitchFamily="34" charset="-122"/>
                <a:cs typeface="IBM Plex Sans" pitchFamily="34" charset="-120"/>
              </a:rPr>
              <a:t>IGP Cabernet  </a:t>
            </a:r>
            <a:pPr indent="0" marL="0">
              <a:buNone/>
            </a:pPr>
            <a:r>
              <a:rPr lang="en-US" sz="680" dirty="0">
                <a:solidFill>
                  <a:srgbClr val="46606E"/>
                </a:solidFill>
                <a:latin typeface="IBM Plex Sans" pitchFamily="34" charset="0"/>
                <a:ea typeface="IBM Plex Sans" pitchFamily="34" charset="-122"/>
                <a:cs typeface="IBM Plex Sans" pitchFamily="34" charset="-120"/>
              </a:rPr>
              <a:t>Domaine du Colombier / J.Y Bretaudeau  </a:t>
            </a:r>
            <a:pPr indent="0" marL="0">
              <a:buNone/>
            </a:pPr>
            <a:r>
              <a:rPr lang="en-US" sz="680" dirty="0">
                <a:solidFill>
                  <a:srgbClr val="A8515F"/>
                </a:solidFill>
                <a:latin typeface="IBM Plex Sans" pitchFamily="34" charset="0"/>
                <a:ea typeface="IBM Plex Sans" pitchFamily="34" charset="-122"/>
                <a:cs typeface="IBM Plex Sans" pitchFamily="34" charset="-120"/>
              </a:rPr>
              <a:t>5 Litres · 10 Litres   p. 9</a:t>
            </a:r>
            <a:endParaRPr lang="en-US" sz="740" dirty="0"/>
          </a:p>
        </p:txBody>
      </p:sp>
      <p:sp>
        <p:nvSpPr>
          <p:cNvPr id="11" name="Text 9"/>
          <p:cNvSpPr/>
          <p:nvPr/>
        </p:nvSpPr>
        <p:spPr>
          <a:xfrm>
            <a:off x="612000" y="230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  </a:t>
            </a:r>
            <a:pPr indent="0" marL="0">
              <a:buNone/>
            </a:pPr>
            <a:r>
              <a:rPr lang="en-US" sz="740" b="1" dirty="0">
                <a:solidFill>
                  <a:srgbClr val="46606E"/>
                </a:solidFill>
                <a:latin typeface="IBM Plex Sans" pitchFamily="34" charset="0"/>
                <a:ea typeface="IBM Plex Sans" pitchFamily="34" charset="-122"/>
                <a:cs typeface="IBM Plex Sans" pitchFamily="34" charset="-120"/>
              </a:rPr>
              <a:t>IGP Cabernet  </a:t>
            </a:r>
            <a:pPr indent="0" marL="0">
              <a:buNone/>
            </a:pPr>
            <a:r>
              <a:rPr lang="en-US" sz="680" dirty="0">
                <a:solidFill>
                  <a:srgbClr val="46606E"/>
                </a:solidFill>
                <a:latin typeface="IBM Plex Sans" pitchFamily="34" charset="0"/>
                <a:ea typeface="IBM Plex Sans" pitchFamily="34" charset="-122"/>
                <a:cs typeface="IBM Plex Sans" pitchFamily="34" charset="-120"/>
              </a:rPr>
              <a:t>Domaine du Colombier / J.Y Bretaudeau  </a:t>
            </a:r>
            <a:pPr indent="0" marL="0">
              <a:buNone/>
            </a:pPr>
            <a:r>
              <a:rPr lang="en-US" sz="680" dirty="0">
                <a:solidFill>
                  <a:srgbClr val="A8515F"/>
                </a:solidFill>
                <a:latin typeface="IBM Plex Sans" pitchFamily="34" charset="0"/>
                <a:ea typeface="IBM Plex Sans" pitchFamily="34" charset="-122"/>
                <a:cs typeface="IBM Plex Sans" pitchFamily="34" charset="-120"/>
              </a:rPr>
              <a:t>5 Litres · 10 Litres   p. 9</a:t>
            </a:r>
            <a:endParaRPr lang="en-US" sz="740" dirty="0"/>
          </a:p>
        </p:txBody>
      </p:sp>
      <p:sp>
        <p:nvSpPr>
          <p:cNvPr id="12" name="Text 10"/>
          <p:cNvSpPr/>
          <p:nvPr/>
        </p:nvSpPr>
        <p:spPr>
          <a:xfrm>
            <a:off x="612000" y="24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pPr indent="0" marL="0">
              <a:buNone/>
            </a:pPr>
            <a:r>
              <a:rPr lang="en-US" sz="740" b="1" dirty="0">
                <a:solidFill>
                  <a:srgbClr val="46606E"/>
                </a:solidFill>
                <a:latin typeface="IBM Plex Sans" pitchFamily="34" charset="0"/>
                <a:ea typeface="IBM Plex Sans" pitchFamily="34" charset="-122"/>
                <a:cs typeface="IBM Plex Sans" pitchFamily="34" charset="-120"/>
              </a:rPr>
              <a:t>Amande  </a:t>
            </a:r>
            <a:pPr indent="0" marL="0">
              <a:buNone/>
            </a:pPr>
            <a:r>
              <a:rPr lang="en-US" sz="680" dirty="0">
                <a:solidFill>
                  <a:srgbClr val="46606E"/>
                </a:solidFill>
                <a:latin typeface="IBM Plex Sans" pitchFamily="34" charset="0"/>
                <a:ea typeface="IBM Plex Sans" pitchFamily="34" charset="-122"/>
                <a:cs typeface="IBM Plex Sans" pitchFamily="34" charset="-120"/>
              </a:rPr>
              <a:t>Domaine Haut Marin  </a:t>
            </a:r>
            <a:pPr indent="0" marL="0">
              <a:buNone/>
            </a:pPr>
            <a:r>
              <a:rPr lang="en-US" sz="680" dirty="0">
                <a:solidFill>
                  <a:srgbClr val="A8515F"/>
                </a:solidFill>
                <a:latin typeface="IBM Plex Sans" pitchFamily="34" charset="0"/>
                <a:ea typeface="IBM Plex Sans" pitchFamily="34" charset="-122"/>
                <a:cs typeface="IBM Plex Sans" pitchFamily="34" charset="-120"/>
              </a:rPr>
              <a:t>3 L   p. 39</a:t>
            </a:r>
            <a:endParaRPr lang="en-US" sz="740" dirty="0"/>
          </a:p>
        </p:txBody>
      </p:sp>
      <p:sp>
        <p:nvSpPr>
          <p:cNvPr id="13" name="Text 11"/>
          <p:cNvSpPr/>
          <p:nvPr/>
        </p:nvSpPr>
        <p:spPr>
          <a:xfrm>
            <a:off x="3672000" y="158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pPr indent="0" marL="0">
              <a:buNone/>
            </a:pPr>
            <a:r>
              <a:rPr lang="en-US" sz="740" b="1" dirty="0">
                <a:solidFill>
                  <a:srgbClr val="46606E"/>
                </a:solidFill>
                <a:latin typeface="IBM Plex Sans" pitchFamily="34" charset="0"/>
                <a:ea typeface="IBM Plex Sans" pitchFamily="34" charset="-122"/>
                <a:cs typeface="IBM Plex Sans" pitchFamily="34" charset="-120"/>
              </a:rPr>
              <a:t>Gulf Stream  </a:t>
            </a:r>
            <a:pPr indent="0" marL="0">
              <a:buNone/>
            </a:pPr>
            <a:r>
              <a:rPr lang="en-US" sz="680" dirty="0">
                <a:solidFill>
                  <a:srgbClr val="46606E"/>
                </a:solidFill>
                <a:latin typeface="IBM Plex Sans" pitchFamily="34" charset="0"/>
                <a:ea typeface="IBM Plex Sans" pitchFamily="34" charset="-122"/>
                <a:cs typeface="IBM Plex Sans" pitchFamily="34" charset="-120"/>
              </a:rPr>
              <a:t>Domaine Haut Marin  </a:t>
            </a:r>
            <a:pPr indent="0" marL="0">
              <a:buNone/>
            </a:pPr>
            <a:r>
              <a:rPr lang="en-US" sz="680" dirty="0">
                <a:solidFill>
                  <a:srgbClr val="A8515F"/>
                </a:solidFill>
                <a:latin typeface="IBM Plex Sans" pitchFamily="34" charset="0"/>
                <a:ea typeface="IBM Plex Sans" pitchFamily="34" charset="-122"/>
                <a:cs typeface="IBM Plex Sans" pitchFamily="34" charset="-120"/>
              </a:rPr>
              <a:t>5 L   p. 39</a:t>
            </a:r>
            <a:endParaRPr lang="en-US" sz="740" dirty="0"/>
          </a:p>
        </p:txBody>
      </p:sp>
      <p:sp>
        <p:nvSpPr>
          <p:cNvPr id="14" name="Text 12"/>
          <p:cNvSpPr/>
          <p:nvPr/>
        </p:nvSpPr>
        <p:spPr>
          <a:xfrm>
            <a:off x="3672000" y="172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pPr indent="0" marL="0">
              <a:buNone/>
            </a:pPr>
            <a:r>
              <a:rPr lang="en-US" sz="740" b="1" dirty="0">
                <a:solidFill>
                  <a:srgbClr val="46606E"/>
                </a:solidFill>
                <a:latin typeface="IBM Plex Sans" pitchFamily="34" charset="0"/>
                <a:ea typeface="IBM Plex Sans" pitchFamily="34" charset="-122"/>
                <a:cs typeface="IBM Plex Sans" pitchFamily="34" charset="-120"/>
              </a:rPr>
              <a:t>Triton  </a:t>
            </a:r>
            <a:pPr indent="0" marL="0">
              <a:buNone/>
            </a:pPr>
            <a:r>
              <a:rPr lang="en-US" sz="680" dirty="0">
                <a:solidFill>
                  <a:srgbClr val="46606E"/>
                </a:solidFill>
                <a:latin typeface="IBM Plex Sans" pitchFamily="34" charset="0"/>
                <a:ea typeface="IBM Plex Sans" pitchFamily="34" charset="-122"/>
                <a:cs typeface="IBM Plex Sans" pitchFamily="34" charset="-120"/>
              </a:rPr>
              <a:t>Domaine Haut Marin  </a:t>
            </a:r>
            <a:pPr indent="0" marL="0">
              <a:buNone/>
            </a:pPr>
            <a:r>
              <a:rPr lang="en-US" sz="680" dirty="0">
                <a:solidFill>
                  <a:srgbClr val="A8515F"/>
                </a:solidFill>
                <a:latin typeface="IBM Plex Sans" pitchFamily="34" charset="0"/>
                <a:ea typeface="IBM Plex Sans" pitchFamily="34" charset="-122"/>
                <a:cs typeface="IBM Plex Sans" pitchFamily="34" charset="-120"/>
              </a:rPr>
              <a:t>10 L   p. 39</a:t>
            </a:r>
            <a:endParaRPr lang="en-US" sz="740" dirty="0"/>
          </a:p>
        </p:txBody>
      </p:sp>
      <p:sp>
        <p:nvSpPr>
          <p:cNvPr id="15" name="Text 13"/>
          <p:cNvSpPr/>
          <p:nvPr/>
        </p:nvSpPr>
        <p:spPr>
          <a:xfrm>
            <a:off x="3672000" y="1872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31  </a:t>
            </a:r>
            <a:pPr indent="0" marL="0">
              <a:buNone/>
            </a:pPr>
            <a:r>
              <a:rPr lang="en-US" sz="740" b="1" dirty="0">
                <a:solidFill>
                  <a:srgbClr val="46606E"/>
                </a:solidFill>
                <a:latin typeface="IBM Plex Sans" pitchFamily="34" charset="0"/>
                <a:ea typeface="IBM Plex Sans" pitchFamily="34" charset="-122"/>
                <a:cs typeface="IBM Plex Sans" pitchFamily="34" charset="-120"/>
              </a:rPr>
              <a:t>BLACAILLOUX  </a:t>
            </a:r>
            <a:pPr indent="0" marL="0">
              <a:buNone/>
            </a:pPr>
            <a:r>
              <a:rPr lang="en-US" sz="680" dirty="0">
                <a:solidFill>
                  <a:srgbClr val="46606E"/>
                </a:solidFill>
                <a:latin typeface="IBM Plex Sans" pitchFamily="34" charset="0"/>
                <a:ea typeface="IBM Plex Sans" pitchFamily="34" charset="-122"/>
                <a:cs typeface="IBM Plex Sans" pitchFamily="34" charset="-120"/>
              </a:rPr>
              <a:t>Bastide de Blacailloux  </a:t>
            </a:r>
            <a:pPr indent="0" marL="0">
              <a:buNone/>
            </a:pPr>
            <a:r>
              <a:rPr lang="en-US" sz="680" dirty="0">
                <a:solidFill>
                  <a:srgbClr val="A8515F"/>
                </a:solidFill>
                <a:latin typeface="IBM Plex Sans" pitchFamily="34" charset="0"/>
                <a:ea typeface="IBM Plex Sans" pitchFamily="34" charset="-122"/>
                <a:cs typeface="IBM Plex Sans" pitchFamily="34" charset="-120"/>
              </a:rPr>
              <a:t>5 L   p. 54</a:t>
            </a:r>
            <a:endParaRPr lang="en-US" sz="740" dirty="0"/>
          </a:p>
        </p:txBody>
      </p:sp>
      <p:sp>
        <p:nvSpPr>
          <p:cNvPr id="16" name="Text 14"/>
          <p:cNvSpPr/>
          <p:nvPr/>
        </p:nvSpPr>
        <p:spPr>
          <a:xfrm>
            <a:off x="3672000" y="2016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32  </a:t>
            </a:r>
            <a:pPr indent="0" marL="0">
              <a:buNone/>
            </a:pPr>
            <a:r>
              <a:rPr lang="en-US" sz="740" b="1" dirty="0">
                <a:solidFill>
                  <a:srgbClr val="46606E"/>
                </a:solidFill>
                <a:latin typeface="IBM Plex Sans" pitchFamily="34" charset="0"/>
                <a:ea typeface="IBM Plex Sans" pitchFamily="34" charset="-122"/>
                <a:cs typeface="IBM Plex Sans" pitchFamily="34" charset="-120"/>
              </a:rPr>
              <a:t>Pergola D'Exea  </a:t>
            </a:r>
            <a:pPr indent="0" marL="0">
              <a:buNone/>
            </a:pPr>
            <a:r>
              <a:rPr lang="en-US" sz="680" dirty="0">
                <a:solidFill>
                  <a:srgbClr val="46606E"/>
                </a:solidFill>
                <a:latin typeface="IBM Plex Sans" pitchFamily="34" charset="0"/>
                <a:ea typeface="IBM Plex Sans" pitchFamily="34" charset="-122"/>
                <a:cs typeface="IBM Plex Sans" pitchFamily="34" charset="-120"/>
              </a:rPr>
              <a:t>Famille d’Exea  </a:t>
            </a:r>
            <a:pPr indent="0" marL="0">
              <a:buNone/>
            </a:pPr>
            <a:r>
              <a:rPr lang="en-US" sz="680" dirty="0">
                <a:solidFill>
                  <a:srgbClr val="A8515F"/>
                </a:solidFill>
                <a:latin typeface="IBM Plex Sans" pitchFamily="34" charset="0"/>
                <a:ea typeface="IBM Plex Sans" pitchFamily="34" charset="-122"/>
                <a:cs typeface="IBM Plex Sans" pitchFamily="34" charset="-120"/>
              </a:rPr>
              <a:t>5 L   p. 56</a:t>
            </a:r>
            <a:endParaRPr lang="en-US" sz="740" dirty="0"/>
          </a:p>
        </p:txBody>
      </p:sp>
      <p:sp>
        <p:nvSpPr>
          <p:cNvPr id="17" name="Text 15"/>
          <p:cNvSpPr/>
          <p:nvPr/>
        </p:nvSpPr>
        <p:spPr>
          <a:xfrm>
            <a:off x="3672000" y="2160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32  </a:t>
            </a:r>
            <a:pPr indent="0" marL="0">
              <a:buNone/>
            </a:pPr>
            <a:r>
              <a:rPr lang="en-US" sz="740" b="1" dirty="0">
                <a:solidFill>
                  <a:srgbClr val="46606E"/>
                </a:solidFill>
                <a:latin typeface="IBM Plex Sans" pitchFamily="34" charset="0"/>
                <a:ea typeface="IBM Plex Sans" pitchFamily="34" charset="-122"/>
                <a:cs typeface="IBM Plex Sans" pitchFamily="34" charset="-120"/>
              </a:rPr>
              <a:t>Pergola D'Exea  </a:t>
            </a:r>
            <a:pPr indent="0" marL="0">
              <a:buNone/>
            </a:pPr>
            <a:r>
              <a:rPr lang="en-US" sz="680" dirty="0">
                <a:solidFill>
                  <a:srgbClr val="46606E"/>
                </a:solidFill>
                <a:latin typeface="IBM Plex Sans" pitchFamily="34" charset="0"/>
                <a:ea typeface="IBM Plex Sans" pitchFamily="34" charset="-122"/>
                <a:cs typeface="IBM Plex Sans" pitchFamily="34" charset="-120"/>
              </a:rPr>
              <a:t>Famille d’Exea  </a:t>
            </a:r>
            <a:pPr indent="0" marL="0">
              <a:buNone/>
            </a:pPr>
            <a:r>
              <a:rPr lang="en-US" sz="680" dirty="0">
                <a:solidFill>
                  <a:srgbClr val="A8515F"/>
                </a:solidFill>
                <a:latin typeface="IBM Plex Sans" pitchFamily="34" charset="0"/>
                <a:ea typeface="IBM Plex Sans" pitchFamily="34" charset="-122"/>
                <a:cs typeface="IBM Plex Sans" pitchFamily="34" charset="-120"/>
              </a:rPr>
              <a:t>5 L   p. 56</a:t>
            </a:r>
            <a:endParaRPr lang="en-US" sz="740" dirty="0"/>
          </a:p>
        </p:txBody>
      </p:sp>
      <p:sp>
        <p:nvSpPr>
          <p:cNvPr id="18" name="Text 16"/>
          <p:cNvSpPr/>
          <p:nvPr/>
        </p:nvSpPr>
        <p:spPr>
          <a:xfrm>
            <a:off x="3672000" y="230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32  </a:t>
            </a:r>
            <a:pPr indent="0" marL="0">
              <a:buNone/>
            </a:pPr>
            <a:r>
              <a:rPr lang="en-US" sz="740" b="1" dirty="0">
                <a:solidFill>
                  <a:srgbClr val="46606E"/>
                </a:solidFill>
                <a:latin typeface="IBM Plex Sans" pitchFamily="34" charset="0"/>
                <a:ea typeface="IBM Plex Sans" pitchFamily="34" charset="-122"/>
                <a:cs typeface="IBM Plex Sans" pitchFamily="34" charset="-120"/>
              </a:rPr>
              <a:t>Pergola D'Exea  </a:t>
            </a:r>
            <a:pPr indent="0" marL="0">
              <a:buNone/>
            </a:pPr>
            <a:r>
              <a:rPr lang="en-US" sz="680" dirty="0">
                <a:solidFill>
                  <a:srgbClr val="46606E"/>
                </a:solidFill>
                <a:latin typeface="IBM Plex Sans" pitchFamily="34" charset="0"/>
                <a:ea typeface="IBM Plex Sans" pitchFamily="34" charset="-122"/>
                <a:cs typeface="IBM Plex Sans" pitchFamily="34" charset="-120"/>
              </a:rPr>
              <a:t>Famille d’Exea  </a:t>
            </a:r>
            <a:pPr indent="0" marL="0">
              <a:buNone/>
            </a:pPr>
            <a:r>
              <a:rPr lang="en-US" sz="680" dirty="0">
                <a:solidFill>
                  <a:srgbClr val="A8515F"/>
                </a:solidFill>
                <a:latin typeface="IBM Plex Sans" pitchFamily="34" charset="0"/>
                <a:ea typeface="IBM Plex Sans" pitchFamily="34" charset="-122"/>
                <a:cs typeface="IBM Plex Sans" pitchFamily="34" charset="-120"/>
              </a:rPr>
              <a:t>5 L   p. 56</a:t>
            </a:r>
            <a:endParaRPr lang="en-US" sz="740" dirty="0"/>
          </a:p>
        </p:txBody>
      </p:sp>
      <p:sp>
        <p:nvSpPr>
          <p:cNvPr id="19" name="Text 17"/>
          <p:cNvSpPr/>
          <p:nvPr/>
        </p:nvSpPr>
        <p:spPr>
          <a:xfrm>
            <a:off x="3672000" y="24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36  </a:t>
            </a:r>
            <a:pPr indent="0" marL="0">
              <a:buNone/>
            </a:pPr>
            <a:r>
              <a:rPr lang="en-US" sz="740" b="1" dirty="0">
                <a:solidFill>
                  <a:srgbClr val="46606E"/>
                </a:solidFill>
                <a:latin typeface="IBM Plex Sans" pitchFamily="34" charset="0"/>
                <a:ea typeface="IBM Plex Sans" pitchFamily="34" charset="-122"/>
                <a:cs typeface="IBM Plex Sans" pitchFamily="34" charset="-120"/>
              </a:rPr>
              <a:t>Corbières Rouge  </a:t>
            </a:r>
            <a:pPr indent="0" marL="0">
              <a:buNone/>
            </a:pPr>
            <a:r>
              <a:rPr lang="en-US" sz="680" dirty="0">
                <a:solidFill>
                  <a:srgbClr val="46606E"/>
                </a:solidFill>
                <a:latin typeface="IBM Plex Sans" pitchFamily="34" charset="0"/>
                <a:ea typeface="IBM Plex Sans" pitchFamily="34" charset="-122"/>
                <a:cs typeface="IBM Plex Sans" pitchFamily="34" charset="-120"/>
              </a:rPr>
              <a:t>Prieuré Sainte-Marie d’Albas  </a:t>
            </a:r>
            <a:pPr indent="0" marL="0">
              <a:buNone/>
            </a:pPr>
            <a:r>
              <a:rPr lang="en-US" sz="680" dirty="0">
                <a:solidFill>
                  <a:srgbClr val="A8515F"/>
                </a:solidFill>
                <a:latin typeface="IBM Plex Sans" pitchFamily="34" charset="0"/>
                <a:ea typeface="IBM Plex Sans" pitchFamily="34" charset="-122"/>
                <a:cs typeface="IBM Plex Sans" pitchFamily="34" charset="-120"/>
              </a:rPr>
              <a:t>BIB 3 L   p. 61</a:t>
            </a:r>
            <a:endParaRPr lang="en-US" sz="740" dirty="0"/>
          </a:p>
        </p:txBody>
      </p:sp>
      <p:sp>
        <p:nvSpPr>
          <p:cNvPr id="20" name="Text 18"/>
          <p:cNvSpPr/>
          <p:nvPr/>
        </p:nvSpPr>
        <p:spPr>
          <a:xfrm>
            <a:off x="612000" y="2772000"/>
            <a:ext cx="6120000" cy="216000"/>
          </a:xfrm>
          <a:prstGeom prst="rect">
            <a:avLst/>
          </a:prstGeom>
          <a:noFill/>
          <a:ln/>
        </p:spPr>
        <p:txBody>
          <a:bodyPr wrap="square" lIns="0" tIns="0" rIns="0" bIns="0" rtlCol="0" anchor="ctr"/>
          <a:lstStyle/>
          <a:p>
            <a:pPr indent="0" marL="0">
              <a:buNone/>
            </a:pPr>
            <a:r>
              <a:rPr lang="en-US" sz="1200" dirty="0">
                <a:solidFill>
                  <a:srgbClr val="67067C"/>
                </a:solidFill>
                <a:latin typeface="Young Serif" pitchFamily="34" charset="0"/>
                <a:ea typeface="Young Serif" pitchFamily="34" charset="-122"/>
                <a:cs typeface="Young Serif" pitchFamily="34" charset="-120"/>
              </a:rPr>
              <a:t>Vins sans alcool   (8)</a:t>
            </a:r>
            <a:endParaRPr lang="en-US" sz="1200" dirty="0"/>
          </a:p>
        </p:txBody>
      </p:sp>
      <p:sp>
        <p:nvSpPr>
          <p:cNvPr id="21" name="Shape 19"/>
          <p:cNvSpPr/>
          <p:nvPr/>
        </p:nvSpPr>
        <p:spPr>
          <a:xfrm>
            <a:off x="612000" y="2988000"/>
            <a:ext cx="6120000" cy="0"/>
          </a:xfrm>
          <a:prstGeom prst="line">
            <a:avLst/>
          </a:prstGeom>
          <a:noFill/>
          <a:ln w="10160">
            <a:solidFill>
              <a:srgbClr val="67067C"/>
            </a:solidFill>
            <a:prstDash val="solid"/>
          </a:ln>
        </p:spPr>
      </p:sp>
      <p:sp>
        <p:nvSpPr>
          <p:cNvPr id="22" name="Text 20"/>
          <p:cNvSpPr/>
          <p:nvPr/>
        </p:nvSpPr>
        <p:spPr>
          <a:xfrm>
            <a:off x="612000" y="3060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7  </a:t>
            </a:r>
            <a:pPr indent="0" marL="0">
              <a:buNone/>
            </a:pPr>
            <a:r>
              <a:rPr lang="en-US" sz="740" b="1" dirty="0">
                <a:solidFill>
                  <a:srgbClr val="46606E"/>
                </a:solidFill>
                <a:latin typeface="IBM Plex Sans" pitchFamily="34" charset="0"/>
                <a:ea typeface="IBM Plex Sans" pitchFamily="34" charset="-122"/>
                <a:cs typeface="IBM Plex Sans" pitchFamily="34" charset="-120"/>
              </a:rPr>
              <a:t>Pinot Noir  </a:t>
            </a:r>
            <a:pPr indent="0" marL="0">
              <a:buNone/>
            </a:pPr>
            <a:r>
              <a:rPr lang="en-US" sz="680" dirty="0">
                <a:solidFill>
                  <a:srgbClr val="46606E"/>
                </a:solidFill>
                <a:latin typeface="IBM Plex Sans" pitchFamily="34" charset="0"/>
                <a:ea typeface="IBM Plex Sans" pitchFamily="34" charset="-122"/>
                <a:cs typeface="IBM Plex Sans" pitchFamily="34" charset="-120"/>
              </a:rPr>
              <a:t>Divin No Low  </a:t>
            </a:r>
            <a:pPr indent="0" marL="0">
              <a:buNone/>
            </a:pPr>
            <a:r>
              <a:rPr lang="en-US" sz="680" dirty="0">
                <a:solidFill>
                  <a:srgbClr val="A8515F"/>
                </a:solidFill>
                <a:latin typeface="IBM Plex Sans" pitchFamily="34" charset="0"/>
                <a:ea typeface="IBM Plex Sans" pitchFamily="34" charset="-122"/>
                <a:cs typeface="IBM Plex Sans" pitchFamily="34" charset="-120"/>
              </a:rPr>
              <a:t>75 cl   p. 15</a:t>
            </a:r>
            <a:endParaRPr lang="en-US" sz="740" dirty="0"/>
          </a:p>
        </p:txBody>
      </p:sp>
      <p:sp>
        <p:nvSpPr>
          <p:cNvPr id="23" name="Text 21"/>
          <p:cNvSpPr/>
          <p:nvPr/>
        </p:nvSpPr>
        <p:spPr>
          <a:xfrm>
            <a:off x="612000" y="320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7  </a:t>
            </a:r>
            <a:pPr indent="0" marL="0">
              <a:buNone/>
            </a:pPr>
            <a:r>
              <a:rPr lang="en-US" sz="740" b="1" dirty="0">
                <a:solidFill>
                  <a:srgbClr val="46606E"/>
                </a:solidFill>
                <a:latin typeface="IBM Plex Sans" pitchFamily="34" charset="0"/>
                <a:ea typeface="IBM Plex Sans" pitchFamily="34" charset="-122"/>
                <a:cs typeface="IBM Plex Sans" pitchFamily="34" charset="-120"/>
              </a:rPr>
              <a:t>Sauvignon Blanc  </a:t>
            </a:r>
            <a:pPr indent="0" marL="0">
              <a:buNone/>
            </a:pPr>
            <a:r>
              <a:rPr lang="en-US" sz="680" dirty="0">
                <a:solidFill>
                  <a:srgbClr val="46606E"/>
                </a:solidFill>
                <a:latin typeface="IBM Plex Sans" pitchFamily="34" charset="0"/>
                <a:ea typeface="IBM Plex Sans" pitchFamily="34" charset="-122"/>
                <a:cs typeface="IBM Plex Sans" pitchFamily="34" charset="-120"/>
              </a:rPr>
              <a:t>Divin No Low  </a:t>
            </a:r>
            <a:pPr indent="0" marL="0">
              <a:buNone/>
            </a:pPr>
            <a:r>
              <a:rPr lang="en-US" sz="680" dirty="0">
                <a:solidFill>
                  <a:srgbClr val="A8515F"/>
                </a:solidFill>
                <a:latin typeface="IBM Plex Sans" pitchFamily="34" charset="0"/>
                <a:ea typeface="IBM Plex Sans" pitchFamily="34" charset="-122"/>
                <a:cs typeface="IBM Plex Sans" pitchFamily="34" charset="-120"/>
              </a:rPr>
              <a:t>75 cl   p. 15</a:t>
            </a:r>
            <a:endParaRPr lang="en-US" sz="740" dirty="0"/>
          </a:p>
        </p:txBody>
      </p:sp>
      <p:sp>
        <p:nvSpPr>
          <p:cNvPr id="24" name="Text 22"/>
          <p:cNvSpPr/>
          <p:nvPr/>
        </p:nvSpPr>
        <p:spPr>
          <a:xfrm>
            <a:off x="612000" y="33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7  </a:t>
            </a:r>
            <a:pPr indent="0" marL="0">
              <a:buNone/>
            </a:pPr>
            <a:r>
              <a:rPr lang="en-US" sz="740" b="1" dirty="0">
                <a:solidFill>
                  <a:srgbClr val="46606E"/>
                </a:solidFill>
                <a:latin typeface="IBM Plex Sans" pitchFamily="34" charset="0"/>
                <a:ea typeface="IBM Plex Sans" pitchFamily="34" charset="-122"/>
                <a:cs typeface="IBM Plex Sans" pitchFamily="34" charset="-120"/>
              </a:rPr>
              <a:t>Sauvignon  </a:t>
            </a:r>
            <a:pPr indent="0" marL="0">
              <a:buNone/>
            </a:pPr>
            <a:r>
              <a:rPr lang="en-US" sz="680" dirty="0">
                <a:solidFill>
                  <a:srgbClr val="46606E"/>
                </a:solidFill>
                <a:latin typeface="IBM Plex Sans" pitchFamily="34" charset="0"/>
                <a:ea typeface="IBM Plex Sans" pitchFamily="34" charset="-122"/>
                <a:cs typeface="IBM Plex Sans" pitchFamily="34" charset="-120"/>
              </a:rPr>
              <a:t>Divin No Low  </a:t>
            </a:r>
            <a:pPr indent="0" marL="0">
              <a:buNone/>
            </a:pPr>
            <a:r>
              <a:rPr lang="en-US" sz="680" dirty="0">
                <a:solidFill>
                  <a:srgbClr val="A8515F"/>
                </a:solidFill>
                <a:latin typeface="IBM Plex Sans" pitchFamily="34" charset="0"/>
                <a:ea typeface="IBM Plex Sans" pitchFamily="34" charset="-122"/>
                <a:cs typeface="IBM Plex Sans" pitchFamily="34" charset="-120"/>
              </a:rPr>
              <a:t>75 cl   p. 15</a:t>
            </a:r>
            <a:endParaRPr lang="en-US" sz="740" dirty="0"/>
          </a:p>
        </p:txBody>
      </p:sp>
      <p:sp>
        <p:nvSpPr>
          <p:cNvPr id="25" name="Text 23"/>
          <p:cNvSpPr/>
          <p:nvPr/>
        </p:nvSpPr>
        <p:spPr>
          <a:xfrm>
            <a:off x="612000" y="3492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7  </a:t>
            </a:r>
            <a:pPr indent="0" marL="0">
              <a:buNone/>
            </a:pPr>
            <a:r>
              <a:rPr lang="en-US" sz="740" b="1" dirty="0">
                <a:solidFill>
                  <a:srgbClr val="46606E"/>
                </a:solidFill>
                <a:latin typeface="IBM Plex Sans" pitchFamily="34" charset="0"/>
                <a:ea typeface="IBM Plex Sans" pitchFamily="34" charset="-122"/>
                <a:cs typeface="IBM Plex Sans" pitchFamily="34" charset="-120"/>
              </a:rPr>
              <a:t>Chenin Blanc  </a:t>
            </a:r>
            <a:pPr indent="0" marL="0">
              <a:buNone/>
            </a:pPr>
            <a:r>
              <a:rPr lang="en-US" sz="680" dirty="0">
                <a:solidFill>
                  <a:srgbClr val="46606E"/>
                </a:solidFill>
                <a:latin typeface="IBM Plex Sans" pitchFamily="34" charset="0"/>
                <a:ea typeface="IBM Plex Sans" pitchFamily="34" charset="-122"/>
                <a:cs typeface="IBM Plex Sans" pitchFamily="34" charset="-120"/>
              </a:rPr>
              <a:t>Divin No Low  </a:t>
            </a:r>
            <a:pPr indent="0" marL="0">
              <a:buNone/>
            </a:pPr>
            <a:r>
              <a:rPr lang="en-US" sz="680" dirty="0">
                <a:solidFill>
                  <a:srgbClr val="A8515F"/>
                </a:solidFill>
                <a:latin typeface="IBM Plex Sans" pitchFamily="34" charset="0"/>
                <a:ea typeface="IBM Plex Sans" pitchFamily="34" charset="-122"/>
                <a:cs typeface="IBM Plex Sans" pitchFamily="34" charset="-120"/>
              </a:rPr>
              <a:t>75 cl   p. 15</a:t>
            </a:r>
            <a:endParaRPr lang="en-US" sz="740" dirty="0"/>
          </a:p>
        </p:txBody>
      </p:sp>
      <p:sp>
        <p:nvSpPr>
          <p:cNvPr id="26" name="Text 24"/>
          <p:cNvSpPr/>
          <p:nvPr/>
        </p:nvSpPr>
        <p:spPr>
          <a:xfrm>
            <a:off x="3672000" y="3060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7  </a:t>
            </a:r>
            <a:pPr indent="0" marL="0">
              <a:buNone/>
            </a:pPr>
            <a:r>
              <a:rPr lang="en-US" sz="740" b="1" dirty="0">
                <a:solidFill>
                  <a:srgbClr val="46606E"/>
                </a:solidFill>
                <a:latin typeface="IBM Plex Sans" pitchFamily="34" charset="0"/>
                <a:ea typeface="IBM Plex Sans" pitchFamily="34" charset="-122"/>
                <a:cs typeface="IBM Plex Sans" pitchFamily="34" charset="-120"/>
              </a:rPr>
              <a:t>Rosé  </a:t>
            </a:r>
            <a:pPr indent="0" marL="0">
              <a:buNone/>
            </a:pPr>
            <a:r>
              <a:rPr lang="en-US" sz="680" dirty="0">
                <a:solidFill>
                  <a:srgbClr val="46606E"/>
                </a:solidFill>
                <a:latin typeface="IBM Plex Sans" pitchFamily="34" charset="0"/>
                <a:ea typeface="IBM Plex Sans" pitchFamily="34" charset="-122"/>
                <a:cs typeface="IBM Plex Sans" pitchFamily="34" charset="-120"/>
              </a:rPr>
              <a:t>Divin No Low  </a:t>
            </a:r>
            <a:pPr indent="0" marL="0">
              <a:buNone/>
            </a:pPr>
            <a:r>
              <a:rPr lang="en-US" sz="680" dirty="0">
                <a:solidFill>
                  <a:srgbClr val="A8515F"/>
                </a:solidFill>
                <a:latin typeface="IBM Plex Sans" pitchFamily="34" charset="0"/>
                <a:ea typeface="IBM Plex Sans" pitchFamily="34" charset="-122"/>
                <a:cs typeface="IBM Plex Sans" pitchFamily="34" charset="-120"/>
              </a:rPr>
              <a:t>75 cl   p. 15</a:t>
            </a:r>
            <a:endParaRPr lang="en-US" sz="740" dirty="0"/>
          </a:p>
        </p:txBody>
      </p:sp>
      <p:sp>
        <p:nvSpPr>
          <p:cNvPr id="27" name="Text 25"/>
          <p:cNvSpPr/>
          <p:nvPr/>
        </p:nvSpPr>
        <p:spPr>
          <a:xfrm>
            <a:off x="3672000" y="320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7  </a:t>
            </a:r>
            <a:pPr indent="0" marL="0">
              <a:buNone/>
            </a:pPr>
            <a:r>
              <a:rPr lang="en-US" sz="740" b="1" dirty="0">
                <a:solidFill>
                  <a:srgbClr val="46606E"/>
                </a:solidFill>
                <a:latin typeface="IBM Plex Sans" pitchFamily="34" charset="0"/>
                <a:ea typeface="IBM Plex Sans" pitchFamily="34" charset="-122"/>
                <a:cs typeface="IBM Plex Sans" pitchFamily="34" charset="-120"/>
              </a:rPr>
              <a:t>Pinot Noir  </a:t>
            </a:r>
            <a:pPr indent="0" marL="0">
              <a:buNone/>
            </a:pPr>
            <a:r>
              <a:rPr lang="en-US" sz="680" dirty="0">
                <a:solidFill>
                  <a:srgbClr val="46606E"/>
                </a:solidFill>
                <a:latin typeface="IBM Plex Sans" pitchFamily="34" charset="0"/>
                <a:ea typeface="IBM Plex Sans" pitchFamily="34" charset="-122"/>
                <a:cs typeface="IBM Plex Sans" pitchFamily="34" charset="-120"/>
              </a:rPr>
              <a:t>Divin No Low  </a:t>
            </a:r>
            <a:pPr indent="0" marL="0">
              <a:buNone/>
            </a:pPr>
            <a:r>
              <a:rPr lang="en-US" sz="680" dirty="0">
                <a:solidFill>
                  <a:srgbClr val="A8515F"/>
                </a:solidFill>
                <a:latin typeface="IBM Plex Sans" pitchFamily="34" charset="0"/>
                <a:ea typeface="IBM Plex Sans" pitchFamily="34" charset="-122"/>
                <a:cs typeface="IBM Plex Sans" pitchFamily="34" charset="-120"/>
              </a:rPr>
              <a:t>75 cl   p. 15</a:t>
            </a:r>
            <a:endParaRPr lang="en-US" sz="740" dirty="0"/>
          </a:p>
        </p:txBody>
      </p:sp>
      <p:sp>
        <p:nvSpPr>
          <p:cNvPr id="28" name="Text 26"/>
          <p:cNvSpPr/>
          <p:nvPr/>
        </p:nvSpPr>
        <p:spPr>
          <a:xfrm>
            <a:off x="3672000" y="33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7  </a:t>
            </a:r>
            <a:pPr indent="0" marL="0">
              <a:buNone/>
            </a:pPr>
            <a:r>
              <a:rPr lang="en-US" sz="740" b="1" dirty="0">
                <a:solidFill>
                  <a:srgbClr val="46606E"/>
                </a:solidFill>
                <a:latin typeface="IBM Plex Sans" pitchFamily="34" charset="0"/>
                <a:ea typeface="IBM Plex Sans" pitchFamily="34" charset="-122"/>
                <a:cs typeface="IBM Plex Sans" pitchFamily="34" charset="-120"/>
              </a:rPr>
              <a:t>Sauvignon Blanc  </a:t>
            </a:r>
            <a:pPr indent="0" marL="0">
              <a:buNone/>
            </a:pPr>
            <a:r>
              <a:rPr lang="en-US" sz="680" dirty="0">
                <a:solidFill>
                  <a:srgbClr val="46606E"/>
                </a:solidFill>
                <a:latin typeface="IBM Plex Sans" pitchFamily="34" charset="0"/>
                <a:ea typeface="IBM Plex Sans" pitchFamily="34" charset="-122"/>
                <a:cs typeface="IBM Plex Sans" pitchFamily="34" charset="-120"/>
              </a:rPr>
              <a:t>Divin No Low  </a:t>
            </a:r>
            <a:pPr indent="0" marL="0">
              <a:buNone/>
            </a:pPr>
            <a:r>
              <a:rPr lang="en-US" sz="680" dirty="0">
                <a:solidFill>
                  <a:srgbClr val="A8515F"/>
                </a:solidFill>
                <a:latin typeface="IBM Plex Sans" pitchFamily="34" charset="0"/>
                <a:ea typeface="IBM Plex Sans" pitchFamily="34" charset="-122"/>
                <a:cs typeface="IBM Plex Sans" pitchFamily="34" charset="-120"/>
              </a:rPr>
              <a:t>75 cl   p. 15</a:t>
            </a:r>
            <a:endParaRPr lang="en-US" sz="740" dirty="0"/>
          </a:p>
        </p:txBody>
      </p:sp>
      <p:sp>
        <p:nvSpPr>
          <p:cNvPr id="29" name="Text 27"/>
          <p:cNvSpPr/>
          <p:nvPr/>
        </p:nvSpPr>
        <p:spPr>
          <a:xfrm>
            <a:off x="3672000" y="3492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7  </a:t>
            </a:r>
            <a:pPr indent="0" marL="0">
              <a:buNone/>
            </a:pPr>
            <a:r>
              <a:rPr lang="en-US" sz="740" b="1" dirty="0">
                <a:solidFill>
                  <a:srgbClr val="46606E"/>
                </a:solidFill>
                <a:latin typeface="IBM Plex Sans" pitchFamily="34" charset="0"/>
                <a:ea typeface="IBM Plex Sans" pitchFamily="34" charset="-122"/>
                <a:cs typeface="IBM Plex Sans" pitchFamily="34" charset="-120"/>
              </a:rPr>
              <a:t>Sauvignon Blanc Blush  </a:t>
            </a:r>
            <a:pPr indent="0" marL="0">
              <a:buNone/>
            </a:pPr>
            <a:r>
              <a:rPr lang="en-US" sz="680" dirty="0">
                <a:solidFill>
                  <a:srgbClr val="46606E"/>
                </a:solidFill>
                <a:latin typeface="IBM Plex Sans" pitchFamily="34" charset="0"/>
                <a:ea typeface="IBM Plex Sans" pitchFamily="34" charset="-122"/>
                <a:cs typeface="IBM Plex Sans" pitchFamily="34" charset="-120"/>
              </a:rPr>
              <a:t>Divin No Low  </a:t>
            </a:r>
            <a:pPr indent="0" marL="0">
              <a:buNone/>
            </a:pPr>
            <a:r>
              <a:rPr lang="en-US" sz="680" dirty="0">
                <a:solidFill>
                  <a:srgbClr val="A8515F"/>
                </a:solidFill>
                <a:latin typeface="IBM Plex Sans" pitchFamily="34" charset="0"/>
                <a:ea typeface="IBM Plex Sans" pitchFamily="34" charset="-122"/>
                <a:cs typeface="IBM Plex Sans" pitchFamily="34" charset="-120"/>
              </a:rPr>
              <a:t>75 cl   p. 15</a:t>
            </a:r>
            <a:endParaRPr lang="en-US" sz="740" dirty="0"/>
          </a:p>
        </p:txBody>
      </p:sp>
      <p:sp>
        <p:nvSpPr>
          <p:cNvPr id="30" name="Text 28"/>
          <p:cNvSpPr/>
          <p:nvPr/>
        </p:nvSpPr>
        <p:spPr>
          <a:xfrm>
            <a:off x="612000" y="3816000"/>
            <a:ext cx="6120000" cy="216000"/>
          </a:xfrm>
          <a:prstGeom prst="rect">
            <a:avLst/>
          </a:prstGeom>
          <a:noFill/>
          <a:ln/>
        </p:spPr>
        <p:txBody>
          <a:bodyPr wrap="square" lIns="0" tIns="0" rIns="0" bIns="0" rtlCol="0" anchor="ctr"/>
          <a:lstStyle/>
          <a:p>
            <a:pPr indent="0" marL="0">
              <a:buNone/>
            </a:pPr>
            <a:r>
              <a:rPr lang="en-US" sz="1200" dirty="0">
                <a:solidFill>
                  <a:srgbClr val="67067C"/>
                </a:solidFill>
                <a:latin typeface="Young Serif" pitchFamily="34" charset="0"/>
                <a:ea typeface="Young Serif" pitchFamily="34" charset="-122"/>
                <a:cs typeface="Young Serif" pitchFamily="34" charset="-120"/>
              </a:rPr>
              <a:t>Jus de cépages   (8)</a:t>
            </a:r>
            <a:endParaRPr lang="en-US" sz="1200" dirty="0"/>
          </a:p>
        </p:txBody>
      </p:sp>
      <p:sp>
        <p:nvSpPr>
          <p:cNvPr id="31" name="Shape 29"/>
          <p:cNvSpPr/>
          <p:nvPr/>
        </p:nvSpPr>
        <p:spPr>
          <a:xfrm>
            <a:off x="612000" y="4032000"/>
            <a:ext cx="6120000" cy="0"/>
          </a:xfrm>
          <a:prstGeom prst="line">
            <a:avLst/>
          </a:prstGeom>
          <a:noFill/>
          <a:ln w="10160">
            <a:solidFill>
              <a:srgbClr val="67067C"/>
            </a:solidFill>
            <a:prstDash val="solid"/>
          </a:ln>
        </p:spPr>
      </p:sp>
      <p:sp>
        <p:nvSpPr>
          <p:cNvPr id="32" name="Text 30"/>
          <p:cNvSpPr/>
          <p:nvPr/>
        </p:nvSpPr>
        <p:spPr>
          <a:xfrm>
            <a:off x="612000" y="410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33  </a:t>
            </a:r>
            <a:pPr indent="0" marL="0">
              <a:buNone/>
            </a:pPr>
            <a:r>
              <a:rPr lang="en-US" sz="740" b="1" dirty="0">
                <a:solidFill>
                  <a:srgbClr val="46606E"/>
                </a:solidFill>
                <a:latin typeface="IBM Plex Sans" pitchFamily="34" charset="0"/>
                <a:ea typeface="IBM Plex Sans" pitchFamily="34" charset="-122"/>
                <a:cs typeface="IBM Plex Sans" pitchFamily="34" charset="-120"/>
              </a:rPr>
              <a:t>LE SAUVIGNON  </a:t>
            </a:r>
            <a:pPr indent="0" marL="0">
              <a:buNone/>
            </a:pPr>
            <a:r>
              <a:rPr lang="en-US" sz="680" dirty="0">
                <a:solidFill>
                  <a:srgbClr val="46606E"/>
                </a:solidFill>
                <a:latin typeface="IBM Plex Sans" pitchFamily="34" charset="0"/>
                <a:ea typeface="IBM Plex Sans" pitchFamily="34" charset="-122"/>
                <a:cs typeface="IBM Plex Sans" pitchFamily="34" charset="-120"/>
              </a:rPr>
              <a:t>Famille d’Exea — Jus de Cépages  </a:t>
            </a:r>
            <a:pPr indent="0" marL="0">
              <a:buNone/>
            </a:pPr>
            <a:r>
              <a:rPr lang="en-US" sz="680" dirty="0">
                <a:solidFill>
                  <a:srgbClr val="A8515F"/>
                </a:solidFill>
                <a:latin typeface="IBM Plex Sans" pitchFamily="34" charset="0"/>
                <a:ea typeface="IBM Plex Sans" pitchFamily="34" charset="-122"/>
                <a:cs typeface="IBM Plex Sans" pitchFamily="34" charset="-120"/>
              </a:rPr>
              <a:t>50 cl   p. 58</a:t>
            </a:r>
            <a:endParaRPr lang="en-US" sz="740" dirty="0"/>
          </a:p>
        </p:txBody>
      </p:sp>
      <p:sp>
        <p:nvSpPr>
          <p:cNvPr id="33" name="Text 31"/>
          <p:cNvSpPr/>
          <p:nvPr/>
        </p:nvSpPr>
        <p:spPr>
          <a:xfrm>
            <a:off x="612000" y="42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33  </a:t>
            </a:r>
            <a:pPr indent="0" marL="0">
              <a:buNone/>
            </a:pPr>
            <a:r>
              <a:rPr lang="en-US" sz="740" b="1" dirty="0">
                <a:solidFill>
                  <a:srgbClr val="46606E"/>
                </a:solidFill>
                <a:latin typeface="IBM Plex Sans" pitchFamily="34" charset="0"/>
                <a:ea typeface="IBM Plex Sans" pitchFamily="34" charset="-122"/>
                <a:cs typeface="IBM Plex Sans" pitchFamily="34" charset="-120"/>
              </a:rPr>
              <a:t>LE CARIGNAN  </a:t>
            </a:r>
            <a:pPr indent="0" marL="0">
              <a:buNone/>
            </a:pPr>
            <a:r>
              <a:rPr lang="en-US" sz="680" dirty="0">
                <a:solidFill>
                  <a:srgbClr val="46606E"/>
                </a:solidFill>
                <a:latin typeface="IBM Plex Sans" pitchFamily="34" charset="0"/>
                <a:ea typeface="IBM Plex Sans" pitchFamily="34" charset="-122"/>
                <a:cs typeface="IBM Plex Sans" pitchFamily="34" charset="-120"/>
              </a:rPr>
              <a:t>Famille d’Exea — Jus de Cépages  </a:t>
            </a:r>
            <a:pPr indent="0" marL="0">
              <a:buNone/>
            </a:pPr>
            <a:r>
              <a:rPr lang="en-US" sz="680" dirty="0">
                <a:solidFill>
                  <a:srgbClr val="A8515F"/>
                </a:solidFill>
                <a:latin typeface="IBM Plex Sans" pitchFamily="34" charset="0"/>
                <a:ea typeface="IBM Plex Sans" pitchFamily="34" charset="-122"/>
                <a:cs typeface="IBM Plex Sans" pitchFamily="34" charset="-120"/>
              </a:rPr>
              <a:t>50 cl   p. 58</a:t>
            </a:r>
            <a:endParaRPr lang="en-US" sz="740" dirty="0"/>
          </a:p>
        </p:txBody>
      </p:sp>
      <p:sp>
        <p:nvSpPr>
          <p:cNvPr id="34" name="Text 32"/>
          <p:cNvSpPr/>
          <p:nvPr/>
        </p:nvSpPr>
        <p:spPr>
          <a:xfrm>
            <a:off x="612000" y="4392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33  </a:t>
            </a:r>
            <a:pPr indent="0" marL="0">
              <a:buNone/>
            </a:pPr>
            <a:r>
              <a:rPr lang="en-US" sz="740" b="1" dirty="0">
                <a:solidFill>
                  <a:srgbClr val="46606E"/>
                </a:solidFill>
                <a:latin typeface="IBM Plex Sans" pitchFamily="34" charset="0"/>
                <a:ea typeface="IBM Plex Sans" pitchFamily="34" charset="-122"/>
                <a:cs typeface="IBM Plex Sans" pitchFamily="34" charset="-120"/>
              </a:rPr>
              <a:t>LE CHARDONNAY  </a:t>
            </a:r>
            <a:pPr indent="0" marL="0">
              <a:buNone/>
            </a:pPr>
            <a:r>
              <a:rPr lang="en-US" sz="680" dirty="0">
                <a:solidFill>
                  <a:srgbClr val="46606E"/>
                </a:solidFill>
                <a:latin typeface="IBM Plex Sans" pitchFamily="34" charset="0"/>
                <a:ea typeface="IBM Plex Sans" pitchFamily="34" charset="-122"/>
                <a:cs typeface="IBM Plex Sans" pitchFamily="34" charset="-120"/>
              </a:rPr>
              <a:t>Famille d’Exea — Jus de Cépages  </a:t>
            </a:r>
            <a:pPr indent="0" marL="0">
              <a:buNone/>
            </a:pPr>
            <a:r>
              <a:rPr lang="en-US" sz="680" dirty="0">
                <a:solidFill>
                  <a:srgbClr val="A8515F"/>
                </a:solidFill>
                <a:latin typeface="IBM Plex Sans" pitchFamily="34" charset="0"/>
                <a:ea typeface="IBM Plex Sans" pitchFamily="34" charset="-122"/>
                <a:cs typeface="IBM Plex Sans" pitchFamily="34" charset="-120"/>
              </a:rPr>
              <a:t>50 cl   p. 58</a:t>
            </a:r>
            <a:endParaRPr lang="en-US" sz="740" dirty="0"/>
          </a:p>
        </p:txBody>
      </p:sp>
      <p:sp>
        <p:nvSpPr>
          <p:cNvPr id="35" name="Text 33"/>
          <p:cNvSpPr/>
          <p:nvPr/>
        </p:nvSpPr>
        <p:spPr>
          <a:xfrm>
            <a:off x="612000" y="4536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33  </a:t>
            </a:r>
            <a:pPr indent="0" marL="0">
              <a:buNone/>
            </a:pPr>
            <a:r>
              <a:rPr lang="en-US" sz="740" b="1" dirty="0">
                <a:solidFill>
                  <a:srgbClr val="46606E"/>
                </a:solidFill>
                <a:latin typeface="IBM Plex Sans" pitchFamily="34" charset="0"/>
                <a:ea typeface="IBM Plex Sans" pitchFamily="34" charset="-122"/>
                <a:cs typeface="IBM Plex Sans" pitchFamily="34" charset="-120"/>
              </a:rPr>
              <a:t>LE GRENACHE  </a:t>
            </a:r>
            <a:pPr indent="0" marL="0">
              <a:buNone/>
            </a:pPr>
            <a:r>
              <a:rPr lang="en-US" sz="680" dirty="0">
                <a:solidFill>
                  <a:srgbClr val="46606E"/>
                </a:solidFill>
                <a:latin typeface="IBM Plex Sans" pitchFamily="34" charset="0"/>
                <a:ea typeface="IBM Plex Sans" pitchFamily="34" charset="-122"/>
                <a:cs typeface="IBM Plex Sans" pitchFamily="34" charset="-120"/>
              </a:rPr>
              <a:t>Famille d’Exea — Jus de Cépages  </a:t>
            </a:r>
            <a:pPr indent="0" marL="0">
              <a:buNone/>
            </a:pPr>
            <a:r>
              <a:rPr lang="en-US" sz="680" dirty="0">
                <a:solidFill>
                  <a:srgbClr val="A8515F"/>
                </a:solidFill>
                <a:latin typeface="IBM Plex Sans" pitchFamily="34" charset="0"/>
                <a:ea typeface="IBM Plex Sans" pitchFamily="34" charset="-122"/>
                <a:cs typeface="IBM Plex Sans" pitchFamily="34" charset="-120"/>
              </a:rPr>
              <a:t>50 cl   p. 58</a:t>
            </a:r>
            <a:endParaRPr lang="en-US" sz="740" dirty="0"/>
          </a:p>
        </p:txBody>
      </p:sp>
      <p:sp>
        <p:nvSpPr>
          <p:cNvPr id="36" name="Text 34"/>
          <p:cNvSpPr/>
          <p:nvPr/>
        </p:nvSpPr>
        <p:spPr>
          <a:xfrm>
            <a:off x="3672000" y="410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33  </a:t>
            </a:r>
            <a:pPr indent="0" marL="0">
              <a:buNone/>
            </a:pPr>
            <a:r>
              <a:rPr lang="en-US" sz="740" b="1" dirty="0">
                <a:solidFill>
                  <a:srgbClr val="46606E"/>
                </a:solidFill>
                <a:latin typeface="IBM Plex Sans" pitchFamily="34" charset="0"/>
                <a:ea typeface="IBM Plex Sans" pitchFamily="34" charset="-122"/>
                <a:cs typeface="IBM Plex Sans" pitchFamily="34" charset="-120"/>
              </a:rPr>
              <a:t>LA SYRAH  </a:t>
            </a:r>
            <a:pPr indent="0" marL="0">
              <a:buNone/>
            </a:pPr>
            <a:r>
              <a:rPr lang="en-US" sz="680" dirty="0">
                <a:solidFill>
                  <a:srgbClr val="46606E"/>
                </a:solidFill>
                <a:latin typeface="IBM Plex Sans" pitchFamily="34" charset="0"/>
                <a:ea typeface="IBM Plex Sans" pitchFamily="34" charset="-122"/>
                <a:cs typeface="IBM Plex Sans" pitchFamily="34" charset="-120"/>
              </a:rPr>
              <a:t>Famille d’Exea — Jus de Cépages  </a:t>
            </a:r>
            <a:pPr indent="0" marL="0">
              <a:buNone/>
            </a:pPr>
            <a:r>
              <a:rPr lang="en-US" sz="680" dirty="0">
                <a:solidFill>
                  <a:srgbClr val="A8515F"/>
                </a:solidFill>
                <a:latin typeface="IBM Plex Sans" pitchFamily="34" charset="0"/>
                <a:ea typeface="IBM Plex Sans" pitchFamily="34" charset="-122"/>
                <a:cs typeface="IBM Plex Sans" pitchFamily="34" charset="-120"/>
              </a:rPr>
              <a:t>50 cl   p. 58</a:t>
            </a:r>
            <a:endParaRPr lang="en-US" sz="740" dirty="0"/>
          </a:p>
        </p:txBody>
      </p:sp>
      <p:sp>
        <p:nvSpPr>
          <p:cNvPr id="37" name="Text 35"/>
          <p:cNvSpPr/>
          <p:nvPr/>
        </p:nvSpPr>
        <p:spPr>
          <a:xfrm>
            <a:off x="3672000" y="42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33  </a:t>
            </a:r>
            <a:pPr indent="0" marL="0">
              <a:buNone/>
            </a:pPr>
            <a:r>
              <a:rPr lang="en-US" sz="740" b="1" dirty="0">
                <a:solidFill>
                  <a:srgbClr val="46606E"/>
                </a:solidFill>
                <a:latin typeface="IBM Plex Sans" pitchFamily="34" charset="0"/>
                <a:ea typeface="IBM Plex Sans" pitchFamily="34" charset="-122"/>
                <a:cs typeface="IBM Plex Sans" pitchFamily="34" charset="-120"/>
              </a:rPr>
              <a:t>LE CHARDONNAY  </a:t>
            </a:r>
            <a:pPr indent="0" marL="0">
              <a:buNone/>
            </a:pPr>
            <a:r>
              <a:rPr lang="en-US" sz="680" dirty="0">
                <a:solidFill>
                  <a:srgbClr val="46606E"/>
                </a:solidFill>
                <a:latin typeface="IBM Plex Sans" pitchFamily="34" charset="0"/>
                <a:ea typeface="IBM Plex Sans" pitchFamily="34" charset="-122"/>
                <a:cs typeface="IBM Plex Sans" pitchFamily="34" charset="-120"/>
              </a:rPr>
              <a:t>Famille d’Exea — Jus de Cépages  </a:t>
            </a:r>
            <a:pPr indent="0" marL="0">
              <a:buNone/>
            </a:pPr>
            <a:r>
              <a:rPr lang="en-US" sz="680" dirty="0">
                <a:solidFill>
                  <a:srgbClr val="A8515F"/>
                </a:solidFill>
                <a:latin typeface="IBM Plex Sans" pitchFamily="34" charset="0"/>
                <a:ea typeface="IBM Plex Sans" pitchFamily="34" charset="-122"/>
                <a:cs typeface="IBM Plex Sans" pitchFamily="34" charset="-120"/>
              </a:rPr>
              <a:t>25 cl   p. 58</a:t>
            </a:r>
            <a:endParaRPr lang="en-US" sz="740" dirty="0"/>
          </a:p>
        </p:txBody>
      </p:sp>
      <p:sp>
        <p:nvSpPr>
          <p:cNvPr id="38" name="Text 36"/>
          <p:cNvSpPr/>
          <p:nvPr/>
        </p:nvSpPr>
        <p:spPr>
          <a:xfrm>
            <a:off x="3672000" y="4392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33  </a:t>
            </a:r>
            <a:pPr indent="0" marL="0">
              <a:buNone/>
            </a:pPr>
            <a:r>
              <a:rPr lang="en-US" sz="740" b="1" dirty="0">
                <a:solidFill>
                  <a:srgbClr val="46606E"/>
                </a:solidFill>
                <a:latin typeface="IBM Plex Sans" pitchFamily="34" charset="0"/>
                <a:ea typeface="IBM Plex Sans" pitchFamily="34" charset="-122"/>
                <a:cs typeface="IBM Plex Sans" pitchFamily="34" charset="-120"/>
              </a:rPr>
              <a:t>LE GRENACHE  </a:t>
            </a:r>
            <a:pPr indent="0" marL="0">
              <a:buNone/>
            </a:pPr>
            <a:r>
              <a:rPr lang="en-US" sz="680" dirty="0">
                <a:solidFill>
                  <a:srgbClr val="46606E"/>
                </a:solidFill>
                <a:latin typeface="IBM Plex Sans" pitchFamily="34" charset="0"/>
                <a:ea typeface="IBM Plex Sans" pitchFamily="34" charset="-122"/>
                <a:cs typeface="IBM Plex Sans" pitchFamily="34" charset="-120"/>
              </a:rPr>
              <a:t>Famille d’Exea — Jus de Cépages  </a:t>
            </a:r>
            <a:pPr indent="0" marL="0">
              <a:buNone/>
            </a:pPr>
            <a:r>
              <a:rPr lang="en-US" sz="680" dirty="0">
                <a:solidFill>
                  <a:srgbClr val="A8515F"/>
                </a:solidFill>
                <a:latin typeface="IBM Plex Sans" pitchFamily="34" charset="0"/>
                <a:ea typeface="IBM Plex Sans" pitchFamily="34" charset="-122"/>
                <a:cs typeface="IBM Plex Sans" pitchFamily="34" charset="-120"/>
              </a:rPr>
              <a:t>25 cl   p. 58</a:t>
            </a:r>
            <a:endParaRPr lang="en-US" sz="740" dirty="0"/>
          </a:p>
        </p:txBody>
      </p:sp>
      <p:sp>
        <p:nvSpPr>
          <p:cNvPr id="39" name="Text 37"/>
          <p:cNvSpPr/>
          <p:nvPr/>
        </p:nvSpPr>
        <p:spPr>
          <a:xfrm>
            <a:off x="3672000" y="4536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33  </a:t>
            </a:r>
            <a:pPr indent="0" marL="0">
              <a:buNone/>
            </a:pPr>
            <a:r>
              <a:rPr lang="en-US" sz="740" b="1" dirty="0">
                <a:solidFill>
                  <a:srgbClr val="46606E"/>
                </a:solidFill>
                <a:latin typeface="IBM Plex Sans" pitchFamily="34" charset="0"/>
                <a:ea typeface="IBM Plex Sans" pitchFamily="34" charset="-122"/>
                <a:cs typeface="IBM Plex Sans" pitchFamily="34" charset="-120"/>
              </a:rPr>
              <a:t>LA SYRAH  </a:t>
            </a:r>
            <a:pPr indent="0" marL="0">
              <a:buNone/>
            </a:pPr>
            <a:r>
              <a:rPr lang="en-US" sz="680" dirty="0">
                <a:solidFill>
                  <a:srgbClr val="46606E"/>
                </a:solidFill>
                <a:latin typeface="IBM Plex Sans" pitchFamily="34" charset="0"/>
                <a:ea typeface="IBM Plex Sans" pitchFamily="34" charset="-122"/>
                <a:cs typeface="IBM Plex Sans" pitchFamily="34" charset="-120"/>
              </a:rPr>
              <a:t>Famille d’Exea — Jus de Cépages  </a:t>
            </a:r>
            <a:pPr indent="0" marL="0">
              <a:buNone/>
            </a:pPr>
            <a:r>
              <a:rPr lang="en-US" sz="680" dirty="0">
                <a:solidFill>
                  <a:srgbClr val="A8515F"/>
                </a:solidFill>
                <a:latin typeface="IBM Plex Sans" pitchFamily="34" charset="0"/>
                <a:ea typeface="IBM Plex Sans" pitchFamily="34" charset="-122"/>
                <a:cs typeface="IBM Plex Sans" pitchFamily="34" charset="-120"/>
              </a:rPr>
              <a:t>25 cl   p. 58</a:t>
            </a:r>
            <a:endParaRPr lang="en-US" sz="740" dirty="0"/>
          </a:p>
        </p:txBody>
      </p:sp>
      <p:sp>
        <p:nvSpPr>
          <p:cNvPr id="40" name="Text 38"/>
          <p:cNvSpPr/>
          <p:nvPr/>
        </p:nvSpPr>
        <p:spPr>
          <a:xfrm>
            <a:off x="612000" y="4860000"/>
            <a:ext cx="6120000" cy="216000"/>
          </a:xfrm>
          <a:prstGeom prst="rect">
            <a:avLst/>
          </a:prstGeom>
          <a:noFill/>
          <a:ln/>
        </p:spPr>
        <p:txBody>
          <a:bodyPr wrap="square" lIns="0" tIns="0" rIns="0" bIns="0" rtlCol="0" anchor="ctr"/>
          <a:lstStyle/>
          <a:p>
            <a:pPr indent="0" marL="0">
              <a:buNone/>
            </a:pPr>
            <a:r>
              <a:rPr lang="en-US" sz="1200" dirty="0">
                <a:solidFill>
                  <a:srgbClr val="67067C"/>
                </a:solidFill>
                <a:latin typeface="Young Serif" pitchFamily="34" charset="0"/>
                <a:ea typeface="Young Serif" pitchFamily="34" charset="-122"/>
                <a:cs typeface="Young Serif" pitchFamily="34" charset="-120"/>
              </a:rPr>
              <a:t>Bières   (3)</a:t>
            </a:r>
            <a:endParaRPr lang="en-US" sz="1200" dirty="0"/>
          </a:p>
        </p:txBody>
      </p:sp>
      <p:sp>
        <p:nvSpPr>
          <p:cNvPr id="41" name="Shape 39"/>
          <p:cNvSpPr/>
          <p:nvPr/>
        </p:nvSpPr>
        <p:spPr>
          <a:xfrm>
            <a:off x="612000" y="5076000"/>
            <a:ext cx="6120000" cy="0"/>
          </a:xfrm>
          <a:prstGeom prst="line">
            <a:avLst/>
          </a:prstGeom>
          <a:noFill/>
          <a:ln w="10160">
            <a:solidFill>
              <a:srgbClr val="67067C"/>
            </a:solidFill>
            <a:prstDash val="solid"/>
          </a:ln>
        </p:spPr>
      </p:sp>
      <p:sp>
        <p:nvSpPr>
          <p:cNvPr id="42" name="Text 40"/>
          <p:cNvSpPr/>
          <p:nvPr/>
        </p:nvSpPr>
        <p:spPr>
          <a:xfrm>
            <a:off x="612000" y="51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24  </a:t>
            </a:r>
            <a:pPr indent="0" marL="0">
              <a:buNone/>
            </a:pPr>
            <a:r>
              <a:rPr lang="en-US" sz="740" b="1" dirty="0">
                <a:solidFill>
                  <a:srgbClr val="46606E"/>
                </a:solidFill>
                <a:latin typeface="IBM Plex Sans" pitchFamily="34" charset="0"/>
                <a:ea typeface="IBM Plex Sans" pitchFamily="34" charset="-122"/>
                <a:cs typeface="IBM Plex Sans" pitchFamily="34" charset="-120"/>
              </a:rPr>
              <a:t>la barbe  </a:t>
            </a:r>
            <a:pPr indent="0" marL="0">
              <a:buNone/>
            </a:pPr>
            <a:r>
              <a:rPr lang="en-US" sz="680" dirty="0">
                <a:solidFill>
                  <a:srgbClr val="46606E"/>
                </a:solidFill>
                <a:latin typeface="IBM Plex Sans" pitchFamily="34" charset="0"/>
                <a:ea typeface="IBM Plex Sans" pitchFamily="34" charset="-122"/>
                <a:cs typeface="IBM Plex Sans" pitchFamily="34" charset="-120"/>
              </a:rPr>
              <a:t>Fabien Castaing  </a:t>
            </a:r>
            <a:pPr indent="0" marL="0">
              <a:buNone/>
            </a:pPr>
            <a:r>
              <a:rPr lang="en-US" sz="680" dirty="0">
                <a:solidFill>
                  <a:srgbClr val="A8515F"/>
                </a:solidFill>
                <a:latin typeface="IBM Plex Sans" pitchFamily="34" charset="0"/>
                <a:ea typeface="IBM Plex Sans" pitchFamily="34" charset="-122"/>
                <a:cs typeface="IBM Plex Sans" pitchFamily="34" charset="-120"/>
              </a:rPr>
              <a:t>À partir de 120 bts · À partir de 180 bts   p. 41</a:t>
            </a:r>
            <a:endParaRPr lang="en-US" sz="740" dirty="0"/>
          </a:p>
        </p:txBody>
      </p:sp>
      <p:sp>
        <p:nvSpPr>
          <p:cNvPr id="43" name="Text 41"/>
          <p:cNvSpPr/>
          <p:nvPr/>
        </p:nvSpPr>
        <p:spPr>
          <a:xfrm>
            <a:off x="612000" y="5292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24  </a:t>
            </a:r>
            <a:pPr indent="0" marL="0">
              <a:buNone/>
            </a:pPr>
            <a:r>
              <a:rPr lang="en-US" sz="740" b="1" dirty="0">
                <a:solidFill>
                  <a:srgbClr val="46606E"/>
                </a:solidFill>
                <a:latin typeface="IBM Plex Sans" pitchFamily="34" charset="0"/>
                <a:ea typeface="IBM Plex Sans" pitchFamily="34" charset="-122"/>
                <a:cs typeface="IBM Plex Sans" pitchFamily="34" charset="-120"/>
              </a:rPr>
              <a:t>la barbe  </a:t>
            </a:r>
            <a:pPr indent="0" marL="0">
              <a:buNone/>
            </a:pPr>
            <a:r>
              <a:rPr lang="en-US" sz="680" dirty="0">
                <a:solidFill>
                  <a:srgbClr val="46606E"/>
                </a:solidFill>
                <a:latin typeface="IBM Plex Sans" pitchFamily="34" charset="0"/>
                <a:ea typeface="IBM Plex Sans" pitchFamily="34" charset="-122"/>
                <a:cs typeface="IBM Plex Sans" pitchFamily="34" charset="-120"/>
              </a:rPr>
              <a:t>Fabien Castaing  </a:t>
            </a:r>
            <a:pPr indent="0" marL="0">
              <a:buNone/>
            </a:pPr>
            <a:r>
              <a:rPr lang="en-US" sz="680" dirty="0">
                <a:solidFill>
                  <a:srgbClr val="A8515F"/>
                </a:solidFill>
                <a:latin typeface="IBM Plex Sans" pitchFamily="34" charset="0"/>
                <a:ea typeface="IBM Plex Sans" pitchFamily="34" charset="-122"/>
                <a:cs typeface="IBM Plex Sans" pitchFamily="34" charset="-120"/>
              </a:rPr>
              <a:t>À partir de 120 bts · À partir de 180 bts   p. 41</a:t>
            </a:r>
            <a:endParaRPr lang="en-US" sz="740" dirty="0"/>
          </a:p>
        </p:txBody>
      </p:sp>
      <p:sp>
        <p:nvSpPr>
          <p:cNvPr id="44" name="Text 42"/>
          <p:cNvSpPr/>
          <p:nvPr/>
        </p:nvSpPr>
        <p:spPr>
          <a:xfrm>
            <a:off x="3672000" y="51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24  </a:t>
            </a:r>
            <a:pPr indent="0" marL="0">
              <a:buNone/>
            </a:pPr>
            <a:r>
              <a:rPr lang="en-US" sz="740" b="1" dirty="0">
                <a:solidFill>
                  <a:srgbClr val="46606E"/>
                </a:solidFill>
                <a:latin typeface="IBM Plex Sans" pitchFamily="34" charset="0"/>
                <a:ea typeface="IBM Plex Sans" pitchFamily="34" charset="-122"/>
                <a:cs typeface="IBM Plex Sans" pitchFamily="34" charset="-120"/>
              </a:rPr>
              <a:t>la barbe  </a:t>
            </a:r>
            <a:pPr indent="0" marL="0">
              <a:buNone/>
            </a:pPr>
            <a:r>
              <a:rPr lang="en-US" sz="680" dirty="0">
                <a:solidFill>
                  <a:srgbClr val="46606E"/>
                </a:solidFill>
                <a:latin typeface="IBM Plex Sans" pitchFamily="34" charset="0"/>
                <a:ea typeface="IBM Plex Sans" pitchFamily="34" charset="-122"/>
                <a:cs typeface="IBM Plex Sans" pitchFamily="34" charset="-120"/>
              </a:rPr>
              <a:t>Fabien Castaing  </a:t>
            </a:r>
            <a:pPr indent="0" marL="0">
              <a:buNone/>
            </a:pPr>
            <a:r>
              <a:rPr lang="en-US" sz="680" dirty="0">
                <a:solidFill>
                  <a:srgbClr val="A8515F"/>
                </a:solidFill>
                <a:latin typeface="IBM Plex Sans" pitchFamily="34" charset="0"/>
                <a:ea typeface="IBM Plex Sans" pitchFamily="34" charset="-122"/>
                <a:cs typeface="IBM Plex Sans" pitchFamily="34" charset="-120"/>
              </a:rPr>
              <a:t>À partir de 120 bts · À partir de 180 bts   p. 41</a:t>
            </a:r>
            <a:endParaRPr lang="en-US" sz="740" dirty="0"/>
          </a:p>
        </p:txBody>
      </p:sp>
      <p:sp>
        <p:nvSpPr>
          <p:cNvPr id="45" name="Text 43"/>
          <p:cNvSpPr/>
          <p:nvPr/>
        </p:nvSpPr>
        <p:spPr>
          <a:xfrm>
            <a:off x="612000" y="5616000"/>
            <a:ext cx="6120000" cy="216000"/>
          </a:xfrm>
          <a:prstGeom prst="rect">
            <a:avLst/>
          </a:prstGeom>
          <a:noFill/>
          <a:ln/>
        </p:spPr>
        <p:txBody>
          <a:bodyPr wrap="square" lIns="0" tIns="0" rIns="0" bIns="0" rtlCol="0" anchor="ctr"/>
          <a:lstStyle/>
          <a:p>
            <a:pPr indent="0" marL="0">
              <a:buNone/>
            </a:pPr>
            <a:r>
              <a:rPr lang="en-US" sz="1200" dirty="0">
                <a:solidFill>
                  <a:srgbClr val="67067C"/>
                </a:solidFill>
                <a:latin typeface="Young Serif" pitchFamily="34" charset="0"/>
                <a:ea typeface="Young Serif" pitchFamily="34" charset="-122"/>
                <a:cs typeface="Young Serif" pitchFamily="34" charset="-120"/>
              </a:rPr>
              <a:t>Armagnacs et ratafias   (9)</a:t>
            </a:r>
            <a:endParaRPr lang="en-US" sz="1200" dirty="0"/>
          </a:p>
        </p:txBody>
      </p:sp>
      <p:sp>
        <p:nvSpPr>
          <p:cNvPr id="46" name="Shape 44"/>
          <p:cNvSpPr/>
          <p:nvPr/>
        </p:nvSpPr>
        <p:spPr>
          <a:xfrm>
            <a:off x="612000" y="5832000"/>
            <a:ext cx="6120000" cy="0"/>
          </a:xfrm>
          <a:prstGeom prst="line">
            <a:avLst/>
          </a:prstGeom>
          <a:noFill/>
          <a:ln w="10160">
            <a:solidFill>
              <a:srgbClr val="67067C"/>
            </a:solidFill>
            <a:prstDash val="solid"/>
          </a:ln>
        </p:spPr>
      </p:sp>
      <p:sp>
        <p:nvSpPr>
          <p:cNvPr id="47" name="Text 45"/>
          <p:cNvSpPr/>
          <p:nvPr/>
        </p:nvSpPr>
        <p:spPr>
          <a:xfrm>
            <a:off x="612000" y="590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pPr indent="0" marL="0">
              <a:buNone/>
            </a:pPr>
            <a:r>
              <a:rPr lang="en-US" sz="740" b="1" dirty="0">
                <a:solidFill>
                  <a:srgbClr val="46606E"/>
                </a:solidFill>
                <a:latin typeface="IBM Plex Sans" pitchFamily="34" charset="0"/>
                <a:ea typeface="IBM Plex Sans" pitchFamily="34" charset="-122"/>
                <a:cs typeface="IBM Plex Sans" pitchFamily="34" charset="-120"/>
              </a:rPr>
              <a:t>Blanche Armagnac  </a:t>
            </a:r>
            <a:pPr indent="0" marL="0">
              <a:buNone/>
            </a:pPr>
            <a:r>
              <a:rPr lang="en-US" sz="680" dirty="0">
                <a:solidFill>
                  <a:srgbClr val="46606E"/>
                </a:solidFill>
                <a:latin typeface="IBM Plex Sans" pitchFamily="34" charset="0"/>
                <a:ea typeface="IBM Plex Sans" pitchFamily="34" charset="-122"/>
                <a:cs typeface="IBM Plex Sans" pitchFamily="34" charset="-120"/>
              </a:rPr>
              <a:t>Domaine Haut Marin  </a:t>
            </a:r>
            <a:pPr indent="0" marL="0">
              <a:buNone/>
            </a:pPr>
            <a:r>
              <a:rPr lang="en-US" sz="680" dirty="0">
                <a:solidFill>
                  <a:srgbClr val="A8515F"/>
                </a:solidFill>
                <a:latin typeface="IBM Plex Sans" pitchFamily="34" charset="0"/>
                <a:ea typeface="IBM Plex Sans" pitchFamily="34" charset="-122"/>
                <a:cs typeface="IBM Plex Sans" pitchFamily="34" charset="-120"/>
              </a:rPr>
              <a:t>70 cl   p. 39</a:t>
            </a:r>
            <a:endParaRPr lang="en-US" sz="740" dirty="0"/>
          </a:p>
        </p:txBody>
      </p:sp>
      <p:sp>
        <p:nvSpPr>
          <p:cNvPr id="48" name="Text 46"/>
          <p:cNvSpPr/>
          <p:nvPr/>
        </p:nvSpPr>
        <p:spPr>
          <a:xfrm>
            <a:off x="612000" y="60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pPr indent="0" marL="0">
              <a:buNone/>
            </a:pPr>
            <a:r>
              <a:rPr lang="en-US" sz="740" b="1" dirty="0">
                <a:solidFill>
                  <a:srgbClr val="46606E"/>
                </a:solidFill>
                <a:latin typeface="IBM Plex Sans" pitchFamily="34" charset="0"/>
                <a:ea typeface="IBM Plex Sans" pitchFamily="34" charset="-122"/>
                <a:cs typeface="IBM Plex Sans" pitchFamily="34" charset="-120"/>
              </a:rPr>
              <a:t>Réserve  </a:t>
            </a:r>
            <a:pPr indent="0" marL="0">
              <a:buNone/>
            </a:pPr>
            <a:r>
              <a:rPr lang="en-US" sz="680" dirty="0">
                <a:solidFill>
                  <a:srgbClr val="46606E"/>
                </a:solidFill>
                <a:latin typeface="IBM Plex Sans" pitchFamily="34" charset="0"/>
                <a:ea typeface="IBM Plex Sans" pitchFamily="34" charset="-122"/>
                <a:cs typeface="IBM Plex Sans" pitchFamily="34" charset="-120"/>
              </a:rPr>
              <a:t>Domaine Haut Marin  </a:t>
            </a:r>
            <a:pPr indent="0" marL="0">
              <a:buNone/>
            </a:pPr>
            <a:r>
              <a:rPr lang="en-US" sz="680" dirty="0">
                <a:solidFill>
                  <a:srgbClr val="A8515F"/>
                </a:solidFill>
                <a:latin typeface="IBM Plex Sans" pitchFamily="34" charset="0"/>
                <a:ea typeface="IBM Plex Sans" pitchFamily="34" charset="-122"/>
                <a:cs typeface="IBM Plex Sans" pitchFamily="34" charset="-120"/>
              </a:rPr>
              <a:t>70 cl   p. 39</a:t>
            </a:r>
            <a:endParaRPr lang="en-US" sz="740" dirty="0"/>
          </a:p>
        </p:txBody>
      </p:sp>
      <p:sp>
        <p:nvSpPr>
          <p:cNvPr id="49" name="Text 47"/>
          <p:cNvSpPr/>
          <p:nvPr/>
        </p:nvSpPr>
        <p:spPr>
          <a:xfrm>
            <a:off x="612000" y="6192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pPr indent="0" marL="0">
              <a:buNone/>
            </a:pPr>
            <a:r>
              <a:rPr lang="en-US" sz="740" b="1" dirty="0">
                <a:solidFill>
                  <a:srgbClr val="46606E"/>
                </a:solidFill>
                <a:latin typeface="IBM Plex Sans" pitchFamily="34" charset="0"/>
                <a:ea typeface="IBM Plex Sans" pitchFamily="34" charset="-122"/>
                <a:cs typeface="IBM Plex Sans" pitchFamily="34" charset="-120"/>
              </a:rPr>
              <a:t>V.S.O.P.  </a:t>
            </a:r>
            <a:pPr indent="0" marL="0">
              <a:buNone/>
            </a:pPr>
            <a:r>
              <a:rPr lang="en-US" sz="680" dirty="0">
                <a:solidFill>
                  <a:srgbClr val="46606E"/>
                </a:solidFill>
                <a:latin typeface="IBM Plex Sans" pitchFamily="34" charset="0"/>
                <a:ea typeface="IBM Plex Sans" pitchFamily="34" charset="-122"/>
                <a:cs typeface="IBM Plex Sans" pitchFamily="34" charset="-120"/>
              </a:rPr>
              <a:t>Domaine Haut Marin  </a:t>
            </a:r>
            <a:pPr indent="0" marL="0">
              <a:buNone/>
            </a:pPr>
            <a:r>
              <a:rPr lang="en-US" sz="680" dirty="0">
                <a:solidFill>
                  <a:srgbClr val="A8515F"/>
                </a:solidFill>
                <a:latin typeface="IBM Plex Sans" pitchFamily="34" charset="0"/>
                <a:ea typeface="IBM Plex Sans" pitchFamily="34" charset="-122"/>
                <a:cs typeface="IBM Plex Sans" pitchFamily="34" charset="-120"/>
              </a:rPr>
              <a:t>70 cl   p. 39</a:t>
            </a:r>
            <a:endParaRPr lang="en-US" sz="740" dirty="0"/>
          </a:p>
        </p:txBody>
      </p:sp>
      <p:sp>
        <p:nvSpPr>
          <p:cNvPr id="50" name="Text 48"/>
          <p:cNvSpPr/>
          <p:nvPr/>
        </p:nvSpPr>
        <p:spPr>
          <a:xfrm>
            <a:off x="612000" y="6336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pPr indent="0" marL="0">
              <a:buNone/>
            </a:pPr>
            <a:r>
              <a:rPr lang="en-US" sz="740" b="1" dirty="0">
                <a:solidFill>
                  <a:srgbClr val="46606E"/>
                </a:solidFill>
                <a:latin typeface="IBM Plex Sans" pitchFamily="34" charset="0"/>
                <a:ea typeface="IBM Plex Sans" pitchFamily="34" charset="-122"/>
                <a:cs typeface="IBM Plex Sans" pitchFamily="34" charset="-120"/>
              </a:rPr>
              <a:t>X.O.  </a:t>
            </a:r>
            <a:pPr indent="0" marL="0">
              <a:buNone/>
            </a:pPr>
            <a:r>
              <a:rPr lang="en-US" sz="680" dirty="0">
                <a:solidFill>
                  <a:srgbClr val="46606E"/>
                </a:solidFill>
                <a:latin typeface="IBM Plex Sans" pitchFamily="34" charset="0"/>
                <a:ea typeface="IBM Plex Sans" pitchFamily="34" charset="-122"/>
                <a:cs typeface="IBM Plex Sans" pitchFamily="34" charset="-120"/>
              </a:rPr>
              <a:t>Domaine Haut Marin  </a:t>
            </a:r>
            <a:pPr indent="0" marL="0">
              <a:buNone/>
            </a:pPr>
            <a:r>
              <a:rPr lang="en-US" sz="680" dirty="0">
                <a:solidFill>
                  <a:srgbClr val="A8515F"/>
                </a:solidFill>
                <a:latin typeface="IBM Plex Sans" pitchFamily="34" charset="0"/>
                <a:ea typeface="IBM Plex Sans" pitchFamily="34" charset="-122"/>
                <a:cs typeface="IBM Plex Sans" pitchFamily="34" charset="-120"/>
              </a:rPr>
              <a:t>70 cl   p. 39</a:t>
            </a:r>
            <a:endParaRPr lang="en-US" sz="740" dirty="0"/>
          </a:p>
        </p:txBody>
      </p:sp>
      <p:sp>
        <p:nvSpPr>
          <p:cNvPr id="51" name="Text 49"/>
          <p:cNvSpPr/>
          <p:nvPr/>
        </p:nvSpPr>
        <p:spPr>
          <a:xfrm>
            <a:off x="612000" y="6480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pPr indent="0" marL="0">
              <a:buNone/>
            </a:pPr>
            <a:r>
              <a:rPr lang="en-US" sz="740" b="1" dirty="0">
                <a:solidFill>
                  <a:srgbClr val="46606E"/>
                </a:solidFill>
                <a:latin typeface="IBM Plex Sans" pitchFamily="34" charset="0"/>
                <a:ea typeface="IBM Plex Sans" pitchFamily="34" charset="-122"/>
                <a:cs typeface="IBM Plex Sans" pitchFamily="34" charset="-120"/>
              </a:rPr>
              <a:t>Hors d'Age  </a:t>
            </a:r>
            <a:pPr indent="0" marL="0">
              <a:buNone/>
            </a:pPr>
            <a:r>
              <a:rPr lang="en-US" sz="680" dirty="0">
                <a:solidFill>
                  <a:srgbClr val="46606E"/>
                </a:solidFill>
                <a:latin typeface="IBM Plex Sans" pitchFamily="34" charset="0"/>
                <a:ea typeface="IBM Plex Sans" pitchFamily="34" charset="-122"/>
                <a:cs typeface="IBM Plex Sans" pitchFamily="34" charset="-120"/>
              </a:rPr>
              <a:t>Domaine Haut Marin  </a:t>
            </a:r>
            <a:pPr indent="0" marL="0">
              <a:buNone/>
            </a:pPr>
            <a:r>
              <a:rPr lang="en-US" sz="680" dirty="0">
                <a:solidFill>
                  <a:srgbClr val="A8515F"/>
                </a:solidFill>
                <a:latin typeface="IBM Plex Sans" pitchFamily="34" charset="0"/>
                <a:ea typeface="IBM Plex Sans" pitchFamily="34" charset="-122"/>
                <a:cs typeface="IBM Plex Sans" pitchFamily="34" charset="-120"/>
              </a:rPr>
              <a:t>70 cl   p. 39</a:t>
            </a:r>
            <a:endParaRPr lang="en-US" sz="740" dirty="0"/>
          </a:p>
        </p:txBody>
      </p:sp>
      <p:sp>
        <p:nvSpPr>
          <p:cNvPr id="52" name="Text 50"/>
          <p:cNvSpPr/>
          <p:nvPr/>
        </p:nvSpPr>
        <p:spPr>
          <a:xfrm>
            <a:off x="3672000" y="590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pPr indent="0" marL="0">
              <a:buNone/>
            </a:pPr>
            <a:r>
              <a:rPr lang="en-US" sz="740" b="1" dirty="0">
                <a:solidFill>
                  <a:srgbClr val="46606E"/>
                </a:solidFill>
                <a:latin typeface="IBM Plex Sans" pitchFamily="34" charset="0"/>
                <a:ea typeface="IBM Plex Sans" pitchFamily="34" charset="-122"/>
                <a:cs typeface="IBM Plex Sans" pitchFamily="34" charset="-120"/>
              </a:rPr>
              <a:t>Millésimés  </a:t>
            </a:r>
            <a:pPr indent="0" marL="0">
              <a:buNone/>
            </a:pPr>
            <a:r>
              <a:rPr lang="en-US" sz="680" dirty="0">
                <a:solidFill>
                  <a:srgbClr val="46606E"/>
                </a:solidFill>
                <a:latin typeface="IBM Plex Sans" pitchFamily="34" charset="0"/>
                <a:ea typeface="IBM Plex Sans" pitchFamily="34" charset="-122"/>
                <a:cs typeface="IBM Plex Sans" pitchFamily="34" charset="-120"/>
              </a:rPr>
              <a:t>Domaine Haut Marin  </a:t>
            </a:r>
            <a:pPr indent="0" marL="0">
              <a:buNone/>
            </a:pPr>
            <a:r>
              <a:rPr lang="en-US" sz="680" dirty="0">
                <a:solidFill>
                  <a:srgbClr val="A8515F"/>
                </a:solidFill>
                <a:latin typeface="IBM Plex Sans" pitchFamily="34" charset="0"/>
                <a:ea typeface="IBM Plex Sans" pitchFamily="34" charset="-122"/>
                <a:cs typeface="IBM Plex Sans" pitchFamily="34" charset="-120"/>
              </a:rPr>
              <a:t>70 cl   p. 39</a:t>
            </a:r>
            <a:endParaRPr lang="en-US" sz="740" dirty="0"/>
          </a:p>
        </p:txBody>
      </p:sp>
      <p:sp>
        <p:nvSpPr>
          <p:cNvPr id="53" name="Text 51"/>
          <p:cNvSpPr/>
          <p:nvPr/>
        </p:nvSpPr>
        <p:spPr>
          <a:xfrm>
            <a:off x="3672000" y="60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pPr indent="0" marL="0">
              <a:buNone/>
            </a:pPr>
            <a:r>
              <a:rPr lang="en-US" sz="740" b="1" dirty="0">
                <a:solidFill>
                  <a:srgbClr val="46606E"/>
                </a:solidFill>
                <a:latin typeface="IBM Plex Sans" pitchFamily="34" charset="0"/>
                <a:ea typeface="IBM Plex Sans" pitchFamily="34" charset="-122"/>
                <a:cs typeface="IBM Plex Sans" pitchFamily="34" charset="-120"/>
              </a:rPr>
              <a:t>Millésimés  </a:t>
            </a:r>
            <a:pPr indent="0" marL="0">
              <a:buNone/>
            </a:pPr>
            <a:r>
              <a:rPr lang="en-US" sz="680" dirty="0">
                <a:solidFill>
                  <a:srgbClr val="46606E"/>
                </a:solidFill>
                <a:latin typeface="IBM Plex Sans" pitchFamily="34" charset="0"/>
                <a:ea typeface="IBM Plex Sans" pitchFamily="34" charset="-122"/>
                <a:cs typeface="IBM Plex Sans" pitchFamily="34" charset="-120"/>
              </a:rPr>
              <a:t>Domaine Haut Marin  </a:t>
            </a:r>
            <a:pPr indent="0" marL="0">
              <a:buNone/>
            </a:pPr>
            <a:r>
              <a:rPr lang="en-US" sz="680" dirty="0">
                <a:solidFill>
                  <a:srgbClr val="A8515F"/>
                </a:solidFill>
                <a:latin typeface="IBM Plex Sans" pitchFamily="34" charset="0"/>
                <a:ea typeface="IBM Plex Sans" pitchFamily="34" charset="-122"/>
                <a:cs typeface="IBM Plex Sans" pitchFamily="34" charset="-120"/>
              </a:rPr>
              <a:t>70 cl   p. 39</a:t>
            </a:r>
            <a:endParaRPr lang="en-US" sz="740" dirty="0"/>
          </a:p>
        </p:txBody>
      </p:sp>
      <p:sp>
        <p:nvSpPr>
          <p:cNvPr id="54" name="Text 52"/>
          <p:cNvSpPr/>
          <p:nvPr/>
        </p:nvSpPr>
        <p:spPr>
          <a:xfrm>
            <a:off x="3672000" y="6192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37  </a:t>
            </a:r>
            <a:pPr indent="0" marL="0">
              <a:buNone/>
            </a:pPr>
            <a:r>
              <a:rPr lang="en-US" sz="740" b="1" dirty="0">
                <a:solidFill>
                  <a:srgbClr val="46606E"/>
                </a:solidFill>
                <a:latin typeface="IBM Plex Sans" pitchFamily="34" charset="0"/>
                <a:ea typeface="IBM Plex Sans" pitchFamily="34" charset="-122"/>
                <a:cs typeface="IBM Plex Sans" pitchFamily="34" charset="-120"/>
              </a:rPr>
              <a:t>Vieux Ratafia  </a:t>
            </a:r>
            <a:pPr indent="0" marL="0">
              <a:buNone/>
            </a:pPr>
            <a:r>
              <a:rPr lang="en-US" sz="680" dirty="0">
                <a:solidFill>
                  <a:srgbClr val="46606E"/>
                </a:solidFill>
                <a:latin typeface="IBM Plex Sans" pitchFamily="34" charset="0"/>
                <a:ea typeface="IBM Plex Sans" pitchFamily="34" charset="-122"/>
                <a:cs typeface="IBM Plex Sans" pitchFamily="34" charset="-120"/>
              </a:rPr>
              <a:t>Champagne Dekeyne  </a:t>
            </a:r>
            <a:pPr indent="0" marL="0">
              <a:buNone/>
            </a:pPr>
            <a:r>
              <a:rPr lang="en-US" sz="680" dirty="0">
                <a:solidFill>
                  <a:srgbClr val="A8515F"/>
                </a:solidFill>
                <a:latin typeface="IBM Plex Sans" pitchFamily="34" charset="0"/>
                <a:ea typeface="IBM Plex Sans" pitchFamily="34" charset="-122"/>
                <a:cs typeface="IBM Plex Sans" pitchFamily="34" charset="-120"/>
              </a:rPr>
              <a:t>75 cl   p. 64</a:t>
            </a:r>
            <a:endParaRPr lang="en-US" sz="740" dirty="0"/>
          </a:p>
        </p:txBody>
      </p:sp>
      <p:sp>
        <p:nvSpPr>
          <p:cNvPr id="55" name="Text 53"/>
          <p:cNvSpPr/>
          <p:nvPr/>
        </p:nvSpPr>
        <p:spPr>
          <a:xfrm>
            <a:off x="3672000" y="6336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38  </a:t>
            </a:r>
            <a:pPr indent="0" marL="0">
              <a:buNone/>
            </a:pPr>
            <a:r>
              <a:rPr lang="en-US" sz="740" b="1" dirty="0">
                <a:solidFill>
                  <a:srgbClr val="46606E"/>
                </a:solidFill>
                <a:latin typeface="IBM Plex Sans" pitchFamily="34" charset="0"/>
                <a:ea typeface="IBM Plex Sans" pitchFamily="34" charset="-122"/>
                <a:cs typeface="IBM Plex Sans" pitchFamily="34" charset="-120"/>
              </a:rPr>
              <a:t>IGP Vieux Ratafia Champenois  </a:t>
            </a:r>
            <a:pPr indent="0" marL="0">
              <a:buNone/>
            </a:pPr>
            <a:r>
              <a:rPr lang="en-US" sz="680" dirty="0">
                <a:solidFill>
                  <a:srgbClr val="46606E"/>
                </a:solidFill>
                <a:latin typeface="IBM Plex Sans" pitchFamily="34" charset="0"/>
                <a:ea typeface="IBM Plex Sans" pitchFamily="34" charset="-122"/>
                <a:cs typeface="IBM Plex Sans" pitchFamily="34" charset="-120"/>
              </a:rPr>
              <a:t>Champagne Denis Frézier  </a:t>
            </a:r>
            <a:pPr indent="0" marL="0">
              <a:buNone/>
            </a:pPr>
            <a:r>
              <a:rPr lang="en-US" sz="680" dirty="0">
                <a:solidFill>
                  <a:srgbClr val="A8515F"/>
                </a:solidFill>
                <a:latin typeface="IBM Plex Sans" pitchFamily="34" charset="0"/>
                <a:ea typeface="IBM Plex Sans" pitchFamily="34" charset="-122"/>
                <a:cs typeface="IBM Plex Sans" pitchFamily="34" charset="-120"/>
              </a:rPr>
              <a:t>75 cl   p. 65</a:t>
            </a:r>
            <a:endParaRPr lang="en-US" sz="740" dirty="0"/>
          </a:p>
        </p:txBody>
      </p:sp>
      <p:sp>
        <p:nvSpPr>
          <p:cNvPr id="56" name="Text 54"/>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71</a:t>
            </a:r>
            <a:endParaRPr lang="en-US" sz="750" dirty="0"/>
          </a:p>
        </p:txBody>
      </p:sp>
      <p:sp>
        <p:nvSpPr>
          <p:cNvPr id="57" name="Text 55"/>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828000" y="540000"/>
            <a:ext cx="6120000" cy="432000"/>
          </a:xfrm>
          <a:prstGeom prst="rect">
            <a:avLst/>
          </a:prstGeom>
          <a:noFill/>
          <a:ln/>
        </p:spPr>
        <p:txBody>
          <a:bodyPr wrap="square" lIns="0" tIns="0" rIns="0" bIns="0" rtlCol="0" anchor="b"/>
          <a:lstStyle/>
          <a:p>
            <a:pPr indent="0" marL="0">
              <a:buNone/>
            </a:pPr>
            <a:r>
              <a:rPr lang="en-US" sz="2400" dirty="0">
                <a:solidFill>
                  <a:srgbClr val="67067C"/>
                </a:solidFill>
                <a:latin typeface="Young Serif" pitchFamily="34" charset="0"/>
                <a:ea typeface="Young Serif" pitchFamily="34" charset="-122"/>
                <a:cs typeface="Young Serif" pitchFamily="34" charset="-120"/>
              </a:rPr>
              <a:t>Les quarante domaines</a:t>
            </a:r>
            <a:endParaRPr lang="en-US" sz="2400" dirty="0"/>
          </a:p>
        </p:txBody>
      </p:sp>
      <p:sp>
        <p:nvSpPr>
          <p:cNvPr id="3" name="Text 1"/>
          <p:cNvSpPr/>
          <p:nvPr/>
        </p:nvSpPr>
        <p:spPr>
          <a:xfrm>
            <a:off x="828000" y="990000"/>
            <a:ext cx="612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DE A À Z</a:t>
            </a:r>
            <a:endParaRPr lang="en-US" sz="800" dirty="0"/>
          </a:p>
        </p:txBody>
      </p:sp>
      <p:sp>
        <p:nvSpPr>
          <p:cNvPr id="4" name="Text 2"/>
          <p:cNvSpPr/>
          <p:nvPr/>
        </p:nvSpPr>
        <p:spPr>
          <a:xfrm>
            <a:off x="828000" y="129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31   </a:t>
            </a:r>
            <a:pPr indent="0" marL="0">
              <a:buNone/>
            </a:pPr>
            <a:r>
              <a:rPr lang="en-US" sz="840" b="1" dirty="0">
                <a:solidFill>
                  <a:srgbClr val="46606E"/>
                </a:solidFill>
                <a:latin typeface="IBM Plex Sans" pitchFamily="34" charset="0"/>
                <a:ea typeface="IBM Plex Sans" pitchFamily="34" charset="-122"/>
                <a:cs typeface="IBM Plex Sans" pitchFamily="34" charset="-120"/>
              </a:rPr>
              <a:t>Bastide de Blacailloux   </a:t>
            </a:r>
            <a:pPr indent="0" marL="0">
              <a:buNone/>
            </a:pPr>
            <a:r>
              <a:rPr lang="en-US" sz="700" dirty="0">
                <a:solidFill>
                  <a:srgbClr val="A8515F"/>
                </a:solidFill>
                <a:latin typeface="IBM Plex Sans" pitchFamily="34" charset="0"/>
                <a:ea typeface="IBM Plex Sans" pitchFamily="34" charset="-122"/>
                <a:cs typeface="IBM Plex Sans" pitchFamily="34" charset="-120"/>
              </a:rPr>
              <a:t>Provence   </a:t>
            </a:r>
            <a:pPr indent="0" marL="0">
              <a:buNone/>
            </a:pPr>
            <a:r>
              <a:rPr lang="en-US" sz="700" dirty="0">
                <a:solidFill>
                  <a:srgbClr val="46606E"/>
                </a:solidFill>
                <a:latin typeface="IBM Plex Sans" pitchFamily="34" charset="0"/>
                <a:ea typeface="IBM Plex Sans" pitchFamily="34" charset="-122"/>
                <a:cs typeface="IBM Plex Sans" pitchFamily="34" charset="-120"/>
              </a:rPr>
              <a:t>8   </a:t>
            </a:r>
            <a:pPr indent="0" marL="0">
              <a:buNone/>
            </a:pPr>
            <a:r>
              <a:rPr lang="en-US" sz="840" b="1" dirty="0">
                <a:solidFill>
                  <a:srgbClr val="46606E"/>
                </a:solidFill>
                <a:latin typeface="IBM Plex Sans" pitchFamily="34" charset="0"/>
                <a:ea typeface="IBM Plex Sans" pitchFamily="34" charset="-122"/>
                <a:cs typeface="IBM Plex Sans" pitchFamily="34" charset="-120"/>
              </a:rPr>
              <a:t>54</a:t>
            </a:r>
            <a:endParaRPr lang="en-US" sz="840" dirty="0"/>
          </a:p>
        </p:txBody>
      </p:sp>
      <p:sp>
        <p:nvSpPr>
          <p:cNvPr id="5" name="Text 3"/>
          <p:cNvSpPr/>
          <p:nvPr/>
        </p:nvSpPr>
        <p:spPr>
          <a:xfrm>
            <a:off x="828000" y="158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5   </a:t>
            </a:r>
            <a:pPr indent="0" marL="0">
              <a:buNone/>
            </a:pPr>
            <a:r>
              <a:rPr lang="en-US" sz="840" b="1" dirty="0">
                <a:solidFill>
                  <a:srgbClr val="46606E"/>
                </a:solidFill>
                <a:latin typeface="IBM Plex Sans" pitchFamily="34" charset="0"/>
                <a:ea typeface="IBM Plex Sans" pitchFamily="34" charset="-122"/>
                <a:cs typeface="IBM Plex Sans" pitchFamily="34" charset="-120"/>
              </a:rPr>
              <a:t>Chai Berteaud Manceau   </a:t>
            </a:r>
            <a:pPr indent="0" marL="0">
              <a:buNone/>
            </a:pPr>
            <a:r>
              <a:rPr lang="en-US" sz="700" dirty="0">
                <a:solidFill>
                  <a:srgbClr val="A8515F"/>
                </a:solidFill>
                <a:latin typeface="IBM Plex Sans" pitchFamily="34" charset="0"/>
                <a:ea typeface="IBM Plex Sans" pitchFamily="34" charset="-122"/>
                <a:cs typeface="IBM Plex Sans" pitchFamily="34" charset="-120"/>
              </a:rPr>
              <a:t>Loire   </a:t>
            </a:r>
            <a:pPr indent="0" marL="0">
              <a:buNone/>
            </a:pPr>
            <a:r>
              <a:rPr lang="en-US" sz="700" dirty="0">
                <a:solidFill>
                  <a:srgbClr val="46606E"/>
                </a:solidFill>
                <a:latin typeface="IBM Plex Sans" pitchFamily="34" charset="0"/>
                <a:ea typeface="IBM Plex Sans" pitchFamily="34" charset="-122"/>
                <a:cs typeface="IBM Plex Sans" pitchFamily="34" charset="-120"/>
              </a:rPr>
              <a:t>3   </a:t>
            </a:r>
            <a:pPr indent="0" marL="0">
              <a:buNone/>
            </a:pPr>
            <a:r>
              <a:rPr lang="en-US" sz="840" b="1" dirty="0">
                <a:solidFill>
                  <a:srgbClr val="46606E"/>
                </a:solidFill>
                <a:latin typeface="IBM Plex Sans" pitchFamily="34" charset="0"/>
                <a:ea typeface="IBM Plex Sans" pitchFamily="34" charset="-122"/>
                <a:cs typeface="IBM Plex Sans" pitchFamily="34" charset="-120"/>
              </a:rPr>
              <a:t>12</a:t>
            </a:r>
            <a:endParaRPr lang="en-US" sz="840" dirty="0"/>
          </a:p>
        </p:txBody>
      </p:sp>
      <p:sp>
        <p:nvSpPr>
          <p:cNvPr id="6" name="Text 4"/>
          <p:cNvSpPr/>
          <p:nvPr/>
        </p:nvSpPr>
        <p:spPr>
          <a:xfrm>
            <a:off x="828000" y="187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37   </a:t>
            </a:r>
            <a:pPr indent="0" marL="0">
              <a:buNone/>
            </a:pPr>
            <a:r>
              <a:rPr lang="en-US" sz="840" b="1" dirty="0">
                <a:solidFill>
                  <a:srgbClr val="46606E"/>
                </a:solidFill>
                <a:latin typeface="IBM Plex Sans" pitchFamily="34" charset="0"/>
                <a:ea typeface="IBM Plex Sans" pitchFamily="34" charset="-122"/>
                <a:cs typeface="IBM Plex Sans" pitchFamily="34" charset="-120"/>
              </a:rPr>
              <a:t>Champagne Dekeyne   </a:t>
            </a:r>
            <a:pPr indent="0" marL="0">
              <a:buNone/>
            </a:pPr>
            <a:r>
              <a:rPr lang="en-US" sz="700" dirty="0">
                <a:solidFill>
                  <a:srgbClr val="A8515F"/>
                </a:solidFill>
                <a:latin typeface="IBM Plex Sans" pitchFamily="34" charset="0"/>
                <a:ea typeface="IBM Plex Sans" pitchFamily="34" charset="-122"/>
                <a:cs typeface="IBM Plex Sans" pitchFamily="34" charset="-120"/>
              </a:rPr>
              <a:t>Champagne   </a:t>
            </a:r>
            <a:pPr indent="0" marL="0">
              <a:buNone/>
            </a:pPr>
            <a:r>
              <a:rPr lang="en-US" sz="700" dirty="0">
                <a:solidFill>
                  <a:srgbClr val="46606E"/>
                </a:solidFill>
                <a:latin typeface="IBM Plex Sans" pitchFamily="34" charset="0"/>
                <a:ea typeface="IBM Plex Sans" pitchFamily="34" charset="-122"/>
                <a:cs typeface="IBM Plex Sans" pitchFamily="34" charset="-120"/>
              </a:rPr>
              <a:t>4   </a:t>
            </a:r>
            <a:pPr indent="0" marL="0">
              <a:buNone/>
            </a:pPr>
            <a:r>
              <a:rPr lang="en-US" sz="840" b="1" dirty="0">
                <a:solidFill>
                  <a:srgbClr val="46606E"/>
                </a:solidFill>
                <a:latin typeface="IBM Plex Sans" pitchFamily="34" charset="0"/>
                <a:ea typeface="IBM Plex Sans" pitchFamily="34" charset="-122"/>
                <a:cs typeface="IBM Plex Sans" pitchFamily="34" charset="-120"/>
              </a:rPr>
              <a:t>64</a:t>
            </a:r>
            <a:endParaRPr lang="en-US" sz="840" dirty="0"/>
          </a:p>
        </p:txBody>
      </p:sp>
      <p:sp>
        <p:nvSpPr>
          <p:cNvPr id="7" name="Text 5"/>
          <p:cNvSpPr/>
          <p:nvPr/>
        </p:nvSpPr>
        <p:spPr>
          <a:xfrm>
            <a:off x="828000" y="216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38   </a:t>
            </a:r>
            <a:pPr indent="0" marL="0">
              <a:buNone/>
            </a:pPr>
            <a:r>
              <a:rPr lang="en-US" sz="840" b="1" dirty="0">
                <a:solidFill>
                  <a:srgbClr val="46606E"/>
                </a:solidFill>
                <a:latin typeface="IBM Plex Sans" pitchFamily="34" charset="0"/>
                <a:ea typeface="IBM Plex Sans" pitchFamily="34" charset="-122"/>
                <a:cs typeface="IBM Plex Sans" pitchFamily="34" charset="-120"/>
              </a:rPr>
              <a:t>Champagne Denis Frézier   </a:t>
            </a:r>
            <a:pPr indent="0" marL="0">
              <a:buNone/>
            </a:pPr>
            <a:r>
              <a:rPr lang="en-US" sz="700" dirty="0">
                <a:solidFill>
                  <a:srgbClr val="A8515F"/>
                </a:solidFill>
                <a:latin typeface="IBM Plex Sans" pitchFamily="34" charset="0"/>
                <a:ea typeface="IBM Plex Sans" pitchFamily="34" charset="-122"/>
                <a:cs typeface="IBM Plex Sans" pitchFamily="34" charset="-120"/>
              </a:rPr>
              <a:t>Champagne   </a:t>
            </a:r>
            <a:pPr indent="0" marL="0">
              <a:buNone/>
            </a:pPr>
            <a:r>
              <a:rPr lang="en-US" sz="700" dirty="0">
                <a:solidFill>
                  <a:srgbClr val="46606E"/>
                </a:solidFill>
                <a:latin typeface="IBM Plex Sans" pitchFamily="34" charset="0"/>
                <a:ea typeface="IBM Plex Sans" pitchFamily="34" charset="-122"/>
                <a:cs typeface="IBM Plex Sans" pitchFamily="34" charset="-120"/>
              </a:rPr>
              <a:t>10   </a:t>
            </a:r>
            <a:pPr indent="0" marL="0">
              <a:buNone/>
            </a:pPr>
            <a:r>
              <a:rPr lang="en-US" sz="840" b="1" dirty="0">
                <a:solidFill>
                  <a:srgbClr val="46606E"/>
                </a:solidFill>
                <a:latin typeface="IBM Plex Sans" pitchFamily="34" charset="0"/>
                <a:ea typeface="IBM Plex Sans" pitchFamily="34" charset="-122"/>
                <a:cs typeface="IBM Plex Sans" pitchFamily="34" charset="-120"/>
              </a:rPr>
              <a:t>65</a:t>
            </a:r>
            <a:endParaRPr lang="en-US" sz="840" dirty="0"/>
          </a:p>
        </p:txBody>
      </p:sp>
      <p:sp>
        <p:nvSpPr>
          <p:cNvPr id="8" name="Text 6"/>
          <p:cNvSpPr/>
          <p:nvPr/>
        </p:nvSpPr>
        <p:spPr>
          <a:xfrm>
            <a:off x="828000" y="244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39   </a:t>
            </a:r>
            <a:pPr indent="0" marL="0">
              <a:buNone/>
            </a:pPr>
            <a:r>
              <a:rPr lang="en-US" sz="840" b="1" dirty="0">
                <a:solidFill>
                  <a:srgbClr val="46606E"/>
                </a:solidFill>
                <a:latin typeface="IBM Plex Sans" pitchFamily="34" charset="0"/>
                <a:ea typeface="IBM Plex Sans" pitchFamily="34" charset="-122"/>
                <a:cs typeface="IBM Plex Sans" pitchFamily="34" charset="-120"/>
              </a:rPr>
              <a:t>Champagne Solemme   </a:t>
            </a:r>
            <a:pPr indent="0" marL="0">
              <a:buNone/>
            </a:pPr>
            <a:r>
              <a:rPr lang="en-US" sz="700" dirty="0">
                <a:solidFill>
                  <a:srgbClr val="A8515F"/>
                </a:solidFill>
                <a:latin typeface="IBM Plex Sans" pitchFamily="34" charset="0"/>
                <a:ea typeface="IBM Plex Sans" pitchFamily="34" charset="-122"/>
                <a:cs typeface="IBM Plex Sans" pitchFamily="34" charset="-120"/>
              </a:rPr>
              <a:t>Champagne   </a:t>
            </a:r>
            <a:pPr indent="0" marL="0">
              <a:buNone/>
            </a:pPr>
            <a:r>
              <a:rPr lang="en-US" sz="700" dirty="0">
                <a:solidFill>
                  <a:srgbClr val="46606E"/>
                </a:solidFill>
                <a:latin typeface="IBM Plex Sans" pitchFamily="34" charset="0"/>
                <a:ea typeface="IBM Plex Sans" pitchFamily="34" charset="-122"/>
                <a:cs typeface="IBM Plex Sans" pitchFamily="34" charset="-120"/>
              </a:rPr>
              <a:t>6   </a:t>
            </a:r>
            <a:pPr indent="0" marL="0">
              <a:buNone/>
            </a:pPr>
            <a:r>
              <a:rPr lang="en-US" sz="840" b="1" dirty="0">
                <a:solidFill>
                  <a:srgbClr val="46606E"/>
                </a:solidFill>
                <a:latin typeface="IBM Plex Sans" pitchFamily="34" charset="0"/>
                <a:ea typeface="IBM Plex Sans" pitchFamily="34" charset="-122"/>
                <a:cs typeface="IBM Plex Sans" pitchFamily="34" charset="-120"/>
              </a:rPr>
              <a:t>66</a:t>
            </a:r>
            <a:endParaRPr lang="en-US" sz="840" dirty="0"/>
          </a:p>
        </p:txBody>
      </p:sp>
      <p:sp>
        <p:nvSpPr>
          <p:cNvPr id="9" name="Text 7"/>
          <p:cNvSpPr/>
          <p:nvPr/>
        </p:nvSpPr>
        <p:spPr>
          <a:xfrm>
            <a:off x="828000" y="273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29   </a:t>
            </a:r>
            <a:pPr indent="0" marL="0">
              <a:buNone/>
            </a:pPr>
            <a:r>
              <a:rPr lang="en-US" sz="840" b="1" dirty="0">
                <a:solidFill>
                  <a:srgbClr val="46606E"/>
                </a:solidFill>
                <a:latin typeface="IBM Plex Sans" pitchFamily="34" charset="0"/>
                <a:ea typeface="IBM Plex Sans" pitchFamily="34" charset="-122"/>
                <a:cs typeface="IBM Plex Sans" pitchFamily="34" charset="-120"/>
              </a:rPr>
              <a:t>Château Balac   </a:t>
            </a:r>
            <a:pPr indent="0" marL="0">
              <a:buNone/>
            </a:pPr>
            <a:r>
              <a:rPr lang="en-US" sz="700" dirty="0">
                <a:solidFill>
                  <a:srgbClr val="A8515F"/>
                </a:solidFill>
                <a:latin typeface="IBM Plex Sans" pitchFamily="34" charset="0"/>
                <a:ea typeface="IBM Plex Sans" pitchFamily="34" charset="-122"/>
                <a:cs typeface="IBM Plex Sans" pitchFamily="34" charset="-120"/>
              </a:rPr>
              <a:t>Bordeaux   </a:t>
            </a:r>
            <a:pPr indent="0" marL="0">
              <a:buNone/>
            </a:pPr>
            <a:r>
              <a:rPr lang="en-US" sz="700" dirty="0">
                <a:solidFill>
                  <a:srgbClr val="46606E"/>
                </a:solidFill>
                <a:latin typeface="IBM Plex Sans" pitchFamily="34" charset="0"/>
                <a:ea typeface="IBM Plex Sans" pitchFamily="34" charset="-122"/>
                <a:cs typeface="IBM Plex Sans" pitchFamily="34" charset="-120"/>
              </a:rPr>
              <a:t>3   </a:t>
            </a:r>
            <a:pPr indent="0" marL="0">
              <a:buNone/>
            </a:pPr>
            <a:r>
              <a:rPr lang="en-US" sz="840" b="1" dirty="0">
                <a:solidFill>
                  <a:srgbClr val="46606E"/>
                </a:solidFill>
                <a:latin typeface="IBM Plex Sans" pitchFamily="34" charset="0"/>
                <a:ea typeface="IBM Plex Sans" pitchFamily="34" charset="-122"/>
                <a:cs typeface="IBM Plex Sans" pitchFamily="34" charset="-120"/>
              </a:rPr>
              <a:t>51</a:t>
            </a:r>
            <a:endParaRPr lang="en-US" sz="840" dirty="0"/>
          </a:p>
        </p:txBody>
      </p:sp>
      <p:sp>
        <p:nvSpPr>
          <p:cNvPr id="10" name="Text 8"/>
          <p:cNvSpPr/>
          <p:nvPr/>
        </p:nvSpPr>
        <p:spPr>
          <a:xfrm>
            <a:off x="828000" y="302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34   </a:t>
            </a:r>
            <a:pPr indent="0" marL="0">
              <a:buNone/>
            </a:pPr>
            <a:r>
              <a:rPr lang="en-US" sz="840" b="1" dirty="0">
                <a:solidFill>
                  <a:srgbClr val="46606E"/>
                </a:solidFill>
                <a:latin typeface="IBM Plex Sans" pitchFamily="34" charset="0"/>
                <a:ea typeface="IBM Plex Sans" pitchFamily="34" charset="-122"/>
                <a:cs typeface="IBM Plex Sans" pitchFamily="34" charset="-120"/>
              </a:rPr>
              <a:t>Château de Gragnos   </a:t>
            </a:r>
            <a:pPr indent="0" marL="0">
              <a:buNone/>
            </a:pPr>
            <a:r>
              <a:rPr lang="en-US" sz="700" dirty="0">
                <a:solidFill>
                  <a:srgbClr val="A8515F"/>
                </a:solidFill>
                <a:latin typeface="IBM Plex Sans" pitchFamily="34" charset="0"/>
                <a:ea typeface="IBM Plex Sans" pitchFamily="34" charset="-122"/>
                <a:cs typeface="IBM Plex Sans" pitchFamily="34" charset="-120"/>
              </a:rPr>
              <a:t>Languedoc   </a:t>
            </a:r>
            <a:pPr indent="0" marL="0">
              <a:buNone/>
            </a:pPr>
            <a:r>
              <a:rPr lang="en-US" sz="700" dirty="0">
                <a:solidFill>
                  <a:srgbClr val="46606E"/>
                </a:solidFill>
                <a:latin typeface="IBM Plex Sans" pitchFamily="34" charset="0"/>
                <a:ea typeface="IBM Plex Sans" pitchFamily="34" charset="-122"/>
                <a:cs typeface="IBM Plex Sans" pitchFamily="34" charset="-120"/>
              </a:rPr>
              <a:t>8   </a:t>
            </a:r>
            <a:pPr indent="0" marL="0">
              <a:buNone/>
            </a:pPr>
            <a:r>
              <a:rPr lang="en-US" sz="840" b="1" dirty="0">
                <a:solidFill>
                  <a:srgbClr val="46606E"/>
                </a:solidFill>
                <a:latin typeface="IBM Plex Sans" pitchFamily="34" charset="0"/>
                <a:ea typeface="IBM Plex Sans" pitchFamily="34" charset="-122"/>
                <a:cs typeface="IBM Plex Sans" pitchFamily="34" charset="-120"/>
              </a:rPr>
              <a:t>59</a:t>
            </a:r>
            <a:endParaRPr lang="en-US" sz="840" dirty="0"/>
          </a:p>
        </p:txBody>
      </p:sp>
      <p:sp>
        <p:nvSpPr>
          <p:cNvPr id="11" name="Text 9"/>
          <p:cNvSpPr/>
          <p:nvPr/>
        </p:nvSpPr>
        <p:spPr>
          <a:xfrm>
            <a:off x="828000" y="331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13   </a:t>
            </a:r>
            <a:pPr indent="0" marL="0">
              <a:buNone/>
            </a:pPr>
            <a:r>
              <a:rPr lang="en-US" sz="840" b="1" dirty="0">
                <a:solidFill>
                  <a:srgbClr val="46606E"/>
                </a:solidFill>
                <a:latin typeface="IBM Plex Sans" pitchFamily="34" charset="0"/>
                <a:ea typeface="IBM Plex Sans" pitchFamily="34" charset="-122"/>
                <a:cs typeface="IBM Plex Sans" pitchFamily="34" charset="-120"/>
              </a:rPr>
              <a:t>Château du Cray   </a:t>
            </a:r>
            <a:pPr indent="0" marL="0">
              <a:buNone/>
            </a:pPr>
            <a:r>
              <a:rPr lang="en-US" sz="700" dirty="0">
                <a:solidFill>
                  <a:srgbClr val="A8515F"/>
                </a:solidFill>
                <a:latin typeface="IBM Plex Sans" pitchFamily="34" charset="0"/>
                <a:ea typeface="IBM Plex Sans" pitchFamily="34" charset="-122"/>
                <a:cs typeface="IBM Plex Sans" pitchFamily="34" charset="-120"/>
              </a:rPr>
              <a:t>Bourgogne   </a:t>
            </a:r>
            <a:pPr indent="0" marL="0">
              <a:buNone/>
            </a:pPr>
            <a:r>
              <a:rPr lang="en-US" sz="700" dirty="0">
                <a:solidFill>
                  <a:srgbClr val="46606E"/>
                </a:solidFill>
                <a:latin typeface="IBM Plex Sans" pitchFamily="34" charset="0"/>
                <a:ea typeface="IBM Plex Sans" pitchFamily="34" charset="-122"/>
                <a:cs typeface="IBM Plex Sans" pitchFamily="34" charset="-120"/>
              </a:rPr>
              <a:t>3   </a:t>
            </a:r>
            <a:pPr indent="0" marL="0">
              <a:buNone/>
            </a:pPr>
            <a:r>
              <a:rPr lang="en-US" sz="840" b="1" dirty="0">
                <a:solidFill>
                  <a:srgbClr val="46606E"/>
                </a:solidFill>
                <a:latin typeface="IBM Plex Sans" pitchFamily="34" charset="0"/>
                <a:ea typeface="IBM Plex Sans" pitchFamily="34" charset="-122"/>
                <a:cs typeface="IBM Plex Sans" pitchFamily="34" charset="-120"/>
              </a:rPr>
              <a:t>27</a:t>
            </a:r>
            <a:endParaRPr lang="en-US" sz="840" dirty="0"/>
          </a:p>
        </p:txBody>
      </p:sp>
      <p:sp>
        <p:nvSpPr>
          <p:cNvPr id="12" name="Text 10"/>
          <p:cNvSpPr/>
          <p:nvPr/>
        </p:nvSpPr>
        <p:spPr>
          <a:xfrm>
            <a:off x="828000" y="360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27   </a:t>
            </a:r>
            <a:pPr indent="0" marL="0">
              <a:buNone/>
            </a:pPr>
            <a:r>
              <a:rPr lang="en-US" sz="840" b="1" dirty="0">
                <a:solidFill>
                  <a:srgbClr val="46606E"/>
                </a:solidFill>
                <a:latin typeface="IBM Plex Sans" pitchFamily="34" charset="0"/>
                <a:ea typeface="IBM Plex Sans" pitchFamily="34" charset="-122"/>
                <a:cs typeface="IBM Plex Sans" pitchFamily="34" charset="-120"/>
              </a:rPr>
              <a:t>Château Falfas   </a:t>
            </a:r>
            <a:pPr indent="0" marL="0">
              <a:buNone/>
            </a:pPr>
            <a:r>
              <a:rPr lang="en-US" sz="700" dirty="0">
                <a:solidFill>
                  <a:srgbClr val="A8515F"/>
                </a:solidFill>
                <a:latin typeface="IBM Plex Sans" pitchFamily="34" charset="0"/>
                <a:ea typeface="IBM Plex Sans" pitchFamily="34" charset="-122"/>
                <a:cs typeface="IBM Plex Sans" pitchFamily="34" charset="-120"/>
              </a:rPr>
              <a:t>Bordeaux   </a:t>
            </a:r>
            <a:pPr indent="0" marL="0">
              <a:buNone/>
            </a:pPr>
            <a:r>
              <a:rPr lang="en-US" sz="700" dirty="0">
                <a:solidFill>
                  <a:srgbClr val="46606E"/>
                </a:solidFill>
                <a:latin typeface="IBM Plex Sans" pitchFamily="34" charset="0"/>
                <a:ea typeface="IBM Plex Sans" pitchFamily="34" charset="-122"/>
                <a:cs typeface="IBM Plex Sans" pitchFamily="34" charset="-120"/>
              </a:rPr>
              <a:t>3   </a:t>
            </a:r>
            <a:pPr indent="0" marL="0">
              <a:buNone/>
            </a:pPr>
            <a:r>
              <a:rPr lang="en-US" sz="840" b="1" dirty="0">
                <a:solidFill>
                  <a:srgbClr val="46606E"/>
                </a:solidFill>
                <a:latin typeface="IBM Plex Sans" pitchFamily="34" charset="0"/>
                <a:ea typeface="IBM Plex Sans" pitchFamily="34" charset="-122"/>
                <a:cs typeface="IBM Plex Sans" pitchFamily="34" charset="-120"/>
              </a:rPr>
              <a:t>49</a:t>
            </a:r>
            <a:endParaRPr lang="en-US" sz="840" dirty="0"/>
          </a:p>
        </p:txBody>
      </p:sp>
      <p:sp>
        <p:nvSpPr>
          <p:cNvPr id="13" name="Text 11"/>
          <p:cNvSpPr/>
          <p:nvPr/>
        </p:nvSpPr>
        <p:spPr>
          <a:xfrm>
            <a:off x="828000" y="388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30   </a:t>
            </a:r>
            <a:pPr indent="0" marL="0">
              <a:buNone/>
            </a:pPr>
            <a:r>
              <a:rPr lang="en-US" sz="840" b="1" dirty="0">
                <a:solidFill>
                  <a:srgbClr val="46606E"/>
                </a:solidFill>
                <a:latin typeface="IBM Plex Sans" pitchFamily="34" charset="0"/>
                <a:ea typeface="IBM Plex Sans" pitchFamily="34" charset="-122"/>
                <a:cs typeface="IBM Plex Sans" pitchFamily="34" charset="-120"/>
              </a:rPr>
              <a:t>Château l’Escarderie   </a:t>
            </a:r>
            <a:pPr indent="0" marL="0">
              <a:buNone/>
            </a:pPr>
            <a:r>
              <a:rPr lang="en-US" sz="700" dirty="0">
                <a:solidFill>
                  <a:srgbClr val="A8515F"/>
                </a:solidFill>
                <a:latin typeface="IBM Plex Sans" pitchFamily="34" charset="0"/>
                <a:ea typeface="IBM Plex Sans" pitchFamily="34" charset="-122"/>
                <a:cs typeface="IBM Plex Sans" pitchFamily="34" charset="-120"/>
              </a:rPr>
              <a:t>Bordeaux   </a:t>
            </a:r>
            <a:pPr indent="0" marL="0">
              <a:buNone/>
            </a:pPr>
            <a:r>
              <a:rPr lang="en-US" sz="700" dirty="0">
                <a:solidFill>
                  <a:srgbClr val="46606E"/>
                </a:solidFill>
                <a:latin typeface="IBM Plex Sans" pitchFamily="34" charset="0"/>
                <a:ea typeface="IBM Plex Sans" pitchFamily="34" charset="-122"/>
                <a:cs typeface="IBM Plex Sans" pitchFamily="34" charset="-120"/>
              </a:rPr>
              <a:t>8   </a:t>
            </a:r>
            <a:pPr indent="0" marL="0">
              <a:buNone/>
            </a:pPr>
            <a:r>
              <a:rPr lang="en-US" sz="840" b="1" dirty="0">
                <a:solidFill>
                  <a:srgbClr val="46606E"/>
                </a:solidFill>
                <a:latin typeface="IBM Plex Sans" pitchFamily="34" charset="0"/>
                <a:ea typeface="IBM Plex Sans" pitchFamily="34" charset="-122"/>
                <a:cs typeface="IBM Plex Sans" pitchFamily="34" charset="-120"/>
              </a:rPr>
              <a:t>52</a:t>
            </a:r>
            <a:endParaRPr lang="en-US" sz="840" dirty="0"/>
          </a:p>
        </p:txBody>
      </p:sp>
      <p:sp>
        <p:nvSpPr>
          <p:cNvPr id="14" name="Text 12"/>
          <p:cNvSpPr/>
          <p:nvPr/>
        </p:nvSpPr>
        <p:spPr>
          <a:xfrm>
            <a:off x="828000" y="417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26   </a:t>
            </a:r>
            <a:pPr indent="0" marL="0">
              <a:buNone/>
            </a:pPr>
            <a:r>
              <a:rPr lang="en-US" sz="840" b="1" dirty="0">
                <a:solidFill>
                  <a:srgbClr val="46606E"/>
                </a:solidFill>
                <a:latin typeface="IBM Plex Sans" pitchFamily="34" charset="0"/>
                <a:ea typeface="IBM Plex Sans" pitchFamily="34" charset="-122"/>
                <a:cs typeface="IBM Plex Sans" pitchFamily="34" charset="-120"/>
              </a:rPr>
              <a:t>Château la Gorce   </a:t>
            </a:r>
            <a:pPr indent="0" marL="0">
              <a:buNone/>
            </a:pPr>
            <a:r>
              <a:rPr lang="en-US" sz="700" dirty="0">
                <a:solidFill>
                  <a:srgbClr val="A8515F"/>
                </a:solidFill>
                <a:latin typeface="IBM Plex Sans" pitchFamily="34" charset="0"/>
                <a:ea typeface="IBM Plex Sans" pitchFamily="34" charset="-122"/>
                <a:cs typeface="IBM Plex Sans" pitchFamily="34" charset="-120"/>
              </a:rPr>
              <a:t>Bordeaux   </a:t>
            </a:r>
            <a:pPr indent="0" marL="0">
              <a:buNone/>
            </a:pPr>
            <a:r>
              <a:rPr lang="en-US" sz="700" dirty="0">
                <a:solidFill>
                  <a:srgbClr val="46606E"/>
                </a:solidFill>
                <a:latin typeface="IBM Plex Sans" pitchFamily="34" charset="0"/>
                <a:ea typeface="IBM Plex Sans" pitchFamily="34" charset="-122"/>
                <a:cs typeface="IBM Plex Sans" pitchFamily="34" charset="-120"/>
              </a:rPr>
              <a:t>11   </a:t>
            </a:r>
            <a:pPr indent="0" marL="0">
              <a:buNone/>
            </a:pPr>
            <a:r>
              <a:rPr lang="en-US" sz="840" b="1" dirty="0">
                <a:solidFill>
                  <a:srgbClr val="46606E"/>
                </a:solidFill>
                <a:latin typeface="IBM Plex Sans" pitchFamily="34" charset="0"/>
                <a:ea typeface="IBM Plex Sans" pitchFamily="34" charset="-122"/>
                <a:cs typeface="IBM Plex Sans" pitchFamily="34" charset="-120"/>
              </a:rPr>
              <a:t>47</a:t>
            </a:r>
            <a:endParaRPr lang="en-US" sz="840" dirty="0"/>
          </a:p>
        </p:txBody>
      </p:sp>
      <p:sp>
        <p:nvSpPr>
          <p:cNvPr id="15" name="Text 13"/>
          <p:cNvSpPr/>
          <p:nvPr/>
        </p:nvSpPr>
        <p:spPr>
          <a:xfrm>
            <a:off x="828000" y="446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28   </a:t>
            </a:r>
            <a:pPr indent="0" marL="0">
              <a:buNone/>
            </a:pPr>
            <a:r>
              <a:rPr lang="en-US" sz="840" b="1" dirty="0">
                <a:solidFill>
                  <a:srgbClr val="46606E"/>
                </a:solidFill>
                <a:latin typeface="IBM Plex Sans" pitchFamily="34" charset="0"/>
                <a:ea typeface="IBM Plex Sans" pitchFamily="34" charset="-122"/>
                <a:cs typeface="IBM Plex Sans" pitchFamily="34" charset="-120"/>
              </a:rPr>
              <a:t>Château Pré la Lande   </a:t>
            </a:r>
            <a:pPr indent="0" marL="0">
              <a:buNone/>
            </a:pPr>
            <a:r>
              <a:rPr lang="en-US" sz="700" dirty="0">
                <a:solidFill>
                  <a:srgbClr val="A8515F"/>
                </a:solidFill>
                <a:latin typeface="IBM Plex Sans" pitchFamily="34" charset="0"/>
                <a:ea typeface="IBM Plex Sans" pitchFamily="34" charset="-122"/>
                <a:cs typeface="IBM Plex Sans" pitchFamily="34" charset="-120"/>
              </a:rPr>
              <a:t>Bordeaux   </a:t>
            </a:r>
            <a:pPr indent="0" marL="0">
              <a:buNone/>
            </a:pPr>
            <a:r>
              <a:rPr lang="en-US" sz="700" dirty="0">
                <a:solidFill>
                  <a:srgbClr val="46606E"/>
                </a:solidFill>
                <a:latin typeface="IBM Plex Sans" pitchFamily="34" charset="0"/>
                <a:ea typeface="IBM Plex Sans" pitchFamily="34" charset="-122"/>
                <a:cs typeface="IBM Plex Sans" pitchFamily="34" charset="-120"/>
              </a:rPr>
              <a:t>3   </a:t>
            </a:r>
            <a:pPr indent="0" marL="0">
              <a:buNone/>
            </a:pPr>
            <a:r>
              <a:rPr lang="en-US" sz="840" b="1" dirty="0">
                <a:solidFill>
                  <a:srgbClr val="46606E"/>
                </a:solidFill>
                <a:latin typeface="IBM Plex Sans" pitchFamily="34" charset="0"/>
                <a:ea typeface="IBM Plex Sans" pitchFamily="34" charset="-122"/>
                <a:cs typeface="IBM Plex Sans" pitchFamily="34" charset="-120"/>
              </a:rPr>
              <a:t>50</a:t>
            </a:r>
            <a:endParaRPr lang="en-US" sz="840" dirty="0"/>
          </a:p>
        </p:txBody>
      </p:sp>
      <p:sp>
        <p:nvSpPr>
          <p:cNvPr id="16" name="Text 14"/>
          <p:cNvSpPr/>
          <p:nvPr/>
        </p:nvSpPr>
        <p:spPr>
          <a:xfrm>
            <a:off x="828000" y="475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7   </a:t>
            </a:r>
            <a:pPr indent="0" marL="0">
              <a:buNone/>
            </a:pPr>
            <a:r>
              <a:rPr lang="en-US" sz="840" b="1" dirty="0">
                <a:solidFill>
                  <a:srgbClr val="46606E"/>
                </a:solidFill>
                <a:latin typeface="IBM Plex Sans" pitchFamily="34" charset="0"/>
                <a:ea typeface="IBM Plex Sans" pitchFamily="34" charset="-122"/>
                <a:cs typeface="IBM Plex Sans" pitchFamily="34" charset="-120"/>
              </a:rPr>
              <a:t>Divin No Low   </a:t>
            </a:r>
            <a:pPr indent="0" marL="0">
              <a:buNone/>
            </a:pPr>
            <a:r>
              <a:rPr lang="en-US" sz="700" dirty="0">
                <a:solidFill>
                  <a:srgbClr val="A8515F"/>
                </a:solidFill>
                <a:latin typeface="IBM Plex Sans" pitchFamily="34" charset="0"/>
                <a:ea typeface="IBM Plex Sans" pitchFamily="34" charset="-122"/>
                <a:cs typeface="IBM Plex Sans" pitchFamily="34" charset="-120"/>
              </a:rPr>
              <a:t>Loire   </a:t>
            </a:r>
            <a:pPr indent="0" marL="0">
              <a:buNone/>
            </a:pPr>
            <a:r>
              <a:rPr lang="en-US" sz="700" dirty="0">
                <a:solidFill>
                  <a:srgbClr val="46606E"/>
                </a:solidFill>
                <a:latin typeface="IBM Plex Sans" pitchFamily="34" charset="0"/>
                <a:ea typeface="IBM Plex Sans" pitchFamily="34" charset="-122"/>
                <a:cs typeface="IBM Plex Sans" pitchFamily="34" charset="-120"/>
              </a:rPr>
              <a:t>8   </a:t>
            </a:r>
            <a:pPr indent="0" marL="0">
              <a:buNone/>
            </a:pPr>
            <a:r>
              <a:rPr lang="en-US" sz="840" b="1" dirty="0">
                <a:solidFill>
                  <a:srgbClr val="46606E"/>
                </a:solidFill>
                <a:latin typeface="IBM Plex Sans" pitchFamily="34" charset="0"/>
                <a:ea typeface="IBM Plex Sans" pitchFamily="34" charset="-122"/>
                <a:cs typeface="IBM Plex Sans" pitchFamily="34" charset="-120"/>
              </a:rPr>
              <a:t>15</a:t>
            </a:r>
            <a:endParaRPr lang="en-US" sz="840" dirty="0"/>
          </a:p>
        </p:txBody>
      </p:sp>
      <p:sp>
        <p:nvSpPr>
          <p:cNvPr id="17" name="Text 15"/>
          <p:cNvSpPr/>
          <p:nvPr/>
        </p:nvSpPr>
        <p:spPr>
          <a:xfrm>
            <a:off x="828000" y="504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8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Boehler   </a:t>
            </a:r>
            <a:pPr indent="0" marL="0">
              <a:buNone/>
            </a:pPr>
            <a:r>
              <a:rPr lang="en-US" sz="700" dirty="0">
                <a:solidFill>
                  <a:srgbClr val="A8515F"/>
                </a:solidFill>
                <a:latin typeface="IBM Plex Sans" pitchFamily="34" charset="0"/>
                <a:ea typeface="IBM Plex Sans" pitchFamily="34" charset="-122"/>
                <a:cs typeface="IBM Plex Sans" pitchFamily="34" charset="-120"/>
              </a:rPr>
              <a:t>Alsace   </a:t>
            </a:r>
            <a:pPr indent="0" marL="0">
              <a:buNone/>
            </a:pPr>
            <a:r>
              <a:rPr lang="en-US" sz="700" dirty="0">
                <a:solidFill>
                  <a:srgbClr val="46606E"/>
                </a:solidFill>
                <a:latin typeface="IBM Plex Sans" pitchFamily="34" charset="0"/>
                <a:ea typeface="IBM Plex Sans" pitchFamily="34" charset="-122"/>
                <a:cs typeface="IBM Plex Sans" pitchFamily="34" charset="-120"/>
              </a:rPr>
              <a:t>15   </a:t>
            </a:r>
            <a:pPr indent="0" marL="0">
              <a:buNone/>
            </a:pPr>
            <a:r>
              <a:rPr lang="en-US" sz="840" b="1" dirty="0">
                <a:solidFill>
                  <a:srgbClr val="46606E"/>
                </a:solidFill>
                <a:latin typeface="IBM Plex Sans" pitchFamily="34" charset="0"/>
                <a:ea typeface="IBM Plex Sans" pitchFamily="34" charset="-122"/>
                <a:cs typeface="IBM Plex Sans" pitchFamily="34" charset="-120"/>
              </a:rPr>
              <a:t>17</a:t>
            </a:r>
            <a:endParaRPr lang="en-US" sz="840" dirty="0"/>
          </a:p>
        </p:txBody>
      </p:sp>
      <p:sp>
        <p:nvSpPr>
          <p:cNvPr id="18" name="Text 16"/>
          <p:cNvSpPr/>
          <p:nvPr/>
        </p:nvSpPr>
        <p:spPr>
          <a:xfrm>
            <a:off x="828000" y="532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17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de Coyeux   </a:t>
            </a:r>
            <a:pPr indent="0" marL="0">
              <a:buNone/>
            </a:pPr>
            <a:r>
              <a:rPr lang="en-US" sz="700" dirty="0">
                <a:solidFill>
                  <a:srgbClr val="A8515F"/>
                </a:solidFill>
                <a:latin typeface="IBM Plex Sans" pitchFamily="34" charset="0"/>
                <a:ea typeface="IBM Plex Sans" pitchFamily="34" charset="-122"/>
                <a:cs typeface="IBM Plex Sans" pitchFamily="34" charset="-120"/>
              </a:rPr>
              <a:t>Rhône   </a:t>
            </a:r>
            <a:pPr indent="0" marL="0">
              <a:buNone/>
            </a:pPr>
            <a:r>
              <a:rPr lang="en-US" sz="700" dirty="0">
                <a:solidFill>
                  <a:srgbClr val="46606E"/>
                </a:solidFill>
                <a:latin typeface="IBM Plex Sans" pitchFamily="34" charset="0"/>
                <a:ea typeface="IBM Plex Sans" pitchFamily="34" charset="-122"/>
                <a:cs typeface="IBM Plex Sans" pitchFamily="34" charset="-120"/>
              </a:rPr>
              <a:t>7   </a:t>
            </a:r>
            <a:pPr indent="0" marL="0">
              <a:buNone/>
            </a:pPr>
            <a:r>
              <a:rPr lang="en-US" sz="840" b="1" dirty="0">
                <a:solidFill>
                  <a:srgbClr val="46606E"/>
                </a:solidFill>
                <a:latin typeface="IBM Plex Sans" pitchFamily="34" charset="0"/>
                <a:ea typeface="IBM Plex Sans" pitchFamily="34" charset="-122"/>
                <a:cs typeface="IBM Plex Sans" pitchFamily="34" charset="-120"/>
              </a:rPr>
              <a:t>32</a:t>
            </a:r>
            <a:endParaRPr lang="en-US" sz="840" dirty="0"/>
          </a:p>
        </p:txBody>
      </p:sp>
      <p:sp>
        <p:nvSpPr>
          <p:cNvPr id="19" name="Text 17"/>
          <p:cNvSpPr/>
          <p:nvPr/>
        </p:nvSpPr>
        <p:spPr>
          <a:xfrm>
            <a:off x="828000" y="561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de la Barbinière   </a:t>
            </a:r>
            <a:pPr indent="0" marL="0">
              <a:buNone/>
            </a:pPr>
            <a:r>
              <a:rPr lang="en-US" sz="700" dirty="0">
                <a:solidFill>
                  <a:srgbClr val="A8515F"/>
                </a:solidFill>
                <a:latin typeface="IBM Plex Sans" pitchFamily="34" charset="0"/>
                <a:ea typeface="IBM Plex Sans" pitchFamily="34" charset="-122"/>
                <a:cs typeface="IBM Plex Sans" pitchFamily="34" charset="-120"/>
              </a:rPr>
              <a:t>Loire   </a:t>
            </a:r>
            <a:pPr indent="0" marL="0">
              <a:buNone/>
            </a:pPr>
            <a:r>
              <a:rPr lang="en-US" sz="700" dirty="0">
                <a:solidFill>
                  <a:srgbClr val="46606E"/>
                </a:solidFill>
                <a:latin typeface="IBM Plex Sans" pitchFamily="34" charset="0"/>
                <a:ea typeface="IBM Plex Sans" pitchFamily="34" charset="-122"/>
                <a:cs typeface="IBM Plex Sans" pitchFamily="34" charset="-120"/>
              </a:rPr>
              <a:t>10   </a:t>
            </a:r>
            <a:pPr indent="0" marL="0">
              <a:buNone/>
            </a:pPr>
            <a:r>
              <a:rPr lang="en-US" sz="840" b="1" dirty="0">
                <a:solidFill>
                  <a:srgbClr val="46606E"/>
                </a:solidFill>
                <a:latin typeface="IBM Plex Sans" pitchFamily="34" charset="0"/>
                <a:ea typeface="IBM Plex Sans" pitchFamily="34" charset="-122"/>
                <a:cs typeface="IBM Plex Sans" pitchFamily="34" charset="-120"/>
              </a:rPr>
              <a:t>8</a:t>
            </a:r>
            <a:endParaRPr lang="en-US" sz="840" dirty="0"/>
          </a:p>
        </p:txBody>
      </p:sp>
      <p:sp>
        <p:nvSpPr>
          <p:cNvPr id="20" name="Text 18"/>
          <p:cNvSpPr/>
          <p:nvPr/>
        </p:nvSpPr>
        <p:spPr>
          <a:xfrm>
            <a:off x="828000" y="590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19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de la Pousterle   </a:t>
            </a:r>
            <a:pPr indent="0" marL="0">
              <a:buNone/>
            </a:pPr>
            <a:r>
              <a:rPr lang="en-US" sz="700" dirty="0">
                <a:solidFill>
                  <a:srgbClr val="A8515F"/>
                </a:solidFill>
                <a:latin typeface="IBM Plex Sans" pitchFamily="34" charset="0"/>
                <a:ea typeface="IBM Plex Sans" pitchFamily="34" charset="-122"/>
                <a:cs typeface="IBM Plex Sans" pitchFamily="34" charset="-120"/>
              </a:rPr>
              <a:t>Rhône   </a:t>
            </a:r>
            <a:pPr indent="0" marL="0">
              <a:buNone/>
            </a:pPr>
            <a:r>
              <a:rPr lang="en-US" sz="700" dirty="0">
                <a:solidFill>
                  <a:srgbClr val="46606E"/>
                </a:solidFill>
                <a:latin typeface="IBM Plex Sans" pitchFamily="34" charset="0"/>
                <a:ea typeface="IBM Plex Sans" pitchFamily="34" charset="-122"/>
                <a:cs typeface="IBM Plex Sans" pitchFamily="34" charset="-120"/>
              </a:rPr>
              <a:t>5   </a:t>
            </a:r>
            <a:pPr indent="0" marL="0">
              <a:buNone/>
            </a:pPr>
            <a:r>
              <a:rPr lang="en-US" sz="840" b="1" dirty="0">
                <a:solidFill>
                  <a:srgbClr val="46606E"/>
                </a:solidFill>
                <a:latin typeface="IBM Plex Sans" pitchFamily="34" charset="0"/>
                <a:ea typeface="IBM Plex Sans" pitchFamily="34" charset="-122"/>
                <a:cs typeface="IBM Plex Sans" pitchFamily="34" charset="-120"/>
              </a:rPr>
              <a:t>34</a:t>
            </a:r>
            <a:endParaRPr lang="en-US" sz="840" dirty="0"/>
          </a:p>
        </p:txBody>
      </p:sp>
      <p:sp>
        <p:nvSpPr>
          <p:cNvPr id="21" name="Text 19"/>
          <p:cNvSpPr/>
          <p:nvPr/>
        </p:nvSpPr>
        <p:spPr>
          <a:xfrm>
            <a:off x="828000" y="619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4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des Noëls   </a:t>
            </a:r>
            <a:pPr indent="0" marL="0">
              <a:buNone/>
            </a:pPr>
            <a:r>
              <a:rPr lang="en-US" sz="700" dirty="0">
                <a:solidFill>
                  <a:srgbClr val="A8515F"/>
                </a:solidFill>
                <a:latin typeface="IBM Plex Sans" pitchFamily="34" charset="0"/>
                <a:ea typeface="IBM Plex Sans" pitchFamily="34" charset="-122"/>
                <a:cs typeface="IBM Plex Sans" pitchFamily="34" charset="-120"/>
              </a:rPr>
              <a:t>Loire   </a:t>
            </a:r>
            <a:pPr indent="0" marL="0">
              <a:buNone/>
            </a:pPr>
            <a:r>
              <a:rPr lang="en-US" sz="700" dirty="0">
                <a:solidFill>
                  <a:srgbClr val="46606E"/>
                </a:solidFill>
                <a:latin typeface="IBM Plex Sans" pitchFamily="34" charset="0"/>
                <a:ea typeface="IBM Plex Sans" pitchFamily="34" charset="-122"/>
                <a:cs typeface="IBM Plex Sans" pitchFamily="34" charset="-120"/>
              </a:rPr>
              <a:t>9   </a:t>
            </a:r>
            <a:pPr indent="0" marL="0">
              <a:buNone/>
            </a:pPr>
            <a:r>
              <a:rPr lang="en-US" sz="840" b="1" dirty="0">
                <a:solidFill>
                  <a:srgbClr val="46606E"/>
                </a:solidFill>
                <a:latin typeface="IBM Plex Sans" pitchFamily="34" charset="0"/>
                <a:ea typeface="IBM Plex Sans" pitchFamily="34" charset="-122"/>
                <a:cs typeface="IBM Plex Sans" pitchFamily="34" charset="-120"/>
              </a:rPr>
              <a:t>11</a:t>
            </a:r>
            <a:endParaRPr lang="en-US" sz="840" dirty="0"/>
          </a:p>
        </p:txBody>
      </p:sp>
      <p:sp>
        <p:nvSpPr>
          <p:cNvPr id="22" name="Text 20"/>
          <p:cNvSpPr/>
          <p:nvPr/>
        </p:nvSpPr>
        <p:spPr>
          <a:xfrm>
            <a:off x="828000" y="648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9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des Nugues   </a:t>
            </a:r>
            <a:pPr indent="0" marL="0">
              <a:buNone/>
            </a:pPr>
            <a:r>
              <a:rPr lang="en-US" sz="700" dirty="0">
                <a:solidFill>
                  <a:srgbClr val="A8515F"/>
                </a:solidFill>
                <a:latin typeface="IBM Plex Sans" pitchFamily="34" charset="0"/>
                <a:ea typeface="IBM Plex Sans" pitchFamily="34" charset="-122"/>
                <a:cs typeface="IBM Plex Sans" pitchFamily="34" charset="-120"/>
              </a:rPr>
              <a:t>Beaujolais   </a:t>
            </a:r>
            <a:pPr indent="0" marL="0">
              <a:buNone/>
            </a:pPr>
            <a:r>
              <a:rPr lang="en-US" sz="700" dirty="0">
                <a:solidFill>
                  <a:srgbClr val="46606E"/>
                </a:solidFill>
                <a:latin typeface="IBM Plex Sans" pitchFamily="34" charset="0"/>
                <a:ea typeface="IBM Plex Sans" pitchFamily="34" charset="-122"/>
                <a:cs typeface="IBM Plex Sans" pitchFamily="34" charset="-120"/>
              </a:rPr>
              <a:t>8   </a:t>
            </a:r>
            <a:pPr indent="0" marL="0">
              <a:buNone/>
            </a:pPr>
            <a:r>
              <a:rPr lang="en-US" sz="840" b="1" dirty="0">
                <a:solidFill>
                  <a:srgbClr val="46606E"/>
                </a:solidFill>
                <a:latin typeface="IBM Plex Sans" pitchFamily="34" charset="0"/>
                <a:ea typeface="IBM Plex Sans" pitchFamily="34" charset="-122"/>
                <a:cs typeface="IBM Plex Sans" pitchFamily="34" charset="-120"/>
              </a:rPr>
              <a:t>20</a:t>
            </a:r>
            <a:endParaRPr lang="en-US" sz="840" dirty="0"/>
          </a:p>
        </p:txBody>
      </p:sp>
      <p:sp>
        <p:nvSpPr>
          <p:cNvPr id="23" name="Text 21"/>
          <p:cNvSpPr/>
          <p:nvPr/>
        </p:nvSpPr>
        <p:spPr>
          <a:xfrm>
            <a:off x="828000" y="676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20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des Pasquiers   </a:t>
            </a:r>
            <a:pPr indent="0" marL="0">
              <a:buNone/>
            </a:pPr>
            <a:r>
              <a:rPr lang="en-US" sz="700" dirty="0">
                <a:solidFill>
                  <a:srgbClr val="A8515F"/>
                </a:solidFill>
                <a:latin typeface="IBM Plex Sans" pitchFamily="34" charset="0"/>
                <a:ea typeface="IBM Plex Sans" pitchFamily="34" charset="-122"/>
                <a:cs typeface="IBM Plex Sans" pitchFamily="34" charset="-120"/>
              </a:rPr>
              <a:t>Rhône   </a:t>
            </a:r>
            <a:pPr indent="0" marL="0">
              <a:buNone/>
            </a:pPr>
            <a:r>
              <a:rPr lang="en-US" sz="700" dirty="0">
                <a:solidFill>
                  <a:srgbClr val="46606E"/>
                </a:solidFill>
                <a:latin typeface="IBM Plex Sans" pitchFamily="34" charset="0"/>
                <a:ea typeface="IBM Plex Sans" pitchFamily="34" charset="-122"/>
                <a:cs typeface="IBM Plex Sans" pitchFamily="34" charset="-120"/>
              </a:rPr>
              <a:t>6   </a:t>
            </a:r>
            <a:pPr indent="0" marL="0">
              <a:buNone/>
            </a:pPr>
            <a:r>
              <a:rPr lang="en-US" sz="840" b="1" dirty="0">
                <a:solidFill>
                  <a:srgbClr val="46606E"/>
                </a:solidFill>
                <a:latin typeface="IBM Plex Sans" pitchFamily="34" charset="0"/>
                <a:ea typeface="IBM Plex Sans" pitchFamily="34" charset="-122"/>
                <a:cs typeface="IBM Plex Sans" pitchFamily="34" charset="-120"/>
              </a:rPr>
              <a:t>35</a:t>
            </a:r>
            <a:endParaRPr lang="en-US" sz="840" dirty="0"/>
          </a:p>
        </p:txBody>
      </p:sp>
      <p:sp>
        <p:nvSpPr>
          <p:cNvPr id="24" name="Text 22"/>
          <p:cNvSpPr/>
          <p:nvPr/>
        </p:nvSpPr>
        <p:spPr>
          <a:xfrm>
            <a:off x="3888000" y="129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15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des Verchères   </a:t>
            </a:r>
            <a:pPr indent="0" marL="0">
              <a:buNone/>
            </a:pPr>
            <a:r>
              <a:rPr lang="en-US" sz="700" dirty="0">
                <a:solidFill>
                  <a:srgbClr val="A8515F"/>
                </a:solidFill>
                <a:latin typeface="IBM Plex Sans" pitchFamily="34" charset="0"/>
                <a:ea typeface="IBM Plex Sans" pitchFamily="34" charset="-122"/>
                <a:cs typeface="IBM Plex Sans" pitchFamily="34" charset="-120"/>
              </a:rPr>
              <a:t>Bourgogne   </a:t>
            </a:r>
            <a:pPr indent="0" marL="0">
              <a:buNone/>
            </a:pPr>
            <a:r>
              <a:rPr lang="en-US" sz="700" dirty="0">
                <a:solidFill>
                  <a:srgbClr val="46606E"/>
                </a:solidFill>
                <a:latin typeface="IBM Plex Sans" pitchFamily="34" charset="0"/>
                <a:ea typeface="IBM Plex Sans" pitchFamily="34" charset="-122"/>
                <a:cs typeface="IBM Plex Sans" pitchFamily="34" charset="-120"/>
              </a:rPr>
              <a:t>4   </a:t>
            </a:r>
            <a:pPr indent="0" marL="0">
              <a:buNone/>
            </a:pPr>
            <a:r>
              <a:rPr lang="en-US" sz="840" b="1" dirty="0">
                <a:solidFill>
                  <a:srgbClr val="46606E"/>
                </a:solidFill>
                <a:latin typeface="IBM Plex Sans" pitchFamily="34" charset="0"/>
                <a:ea typeface="IBM Plex Sans" pitchFamily="34" charset="-122"/>
                <a:cs typeface="IBM Plex Sans" pitchFamily="34" charset="-120"/>
              </a:rPr>
              <a:t>29</a:t>
            </a:r>
            <a:endParaRPr lang="en-US" sz="840" dirty="0"/>
          </a:p>
        </p:txBody>
      </p:sp>
      <p:sp>
        <p:nvSpPr>
          <p:cNvPr id="25" name="Text 23"/>
          <p:cNvSpPr/>
          <p:nvPr/>
        </p:nvSpPr>
        <p:spPr>
          <a:xfrm>
            <a:off x="3888000" y="158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du Colombier / J.Y Bretaudeau   </a:t>
            </a:r>
            <a:pPr indent="0" marL="0">
              <a:buNone/>
            </a:pPr>
            <a:r>
              <a:rPr lang="en-US" sz="700" dirty="0">
                <a:solidFill>
                  <a:srgbClr val="A8515F"/>
                </a:solidFill>
                <a:latin typeface="IBM Plex Sans" pitchFamily="34" charset="0"/>
                <a:ea typeface="IBM Plex Sans" pitchFamily="34" charset="-122"/>
                <a:cs typeface="IBM Plex Sans" pitchFamily="34" charset="-120"/>
              </a:rPr>
              <a:t>Loire   </a:t>
            </a:r>
            <a:pPr indent="0" marL="0">
              <a:buNone/>
            </a:pPr>
            <a:r>
              <a:rPr lang="en-US" sz="700" dirty="0">
                <a:solidFill>
                  <a:srgbClr val="46606E"/>
                </a:solidFill>
                <a:latin typeface="IBM Plex Sans" pitchFamily="34" charset="0"/>
                <a:ea typeface="IBM Plex Sans" pitchFamily="34" charset="-122"/>
                <a:cs typeface="IBM Plex Sans" pitchFamily="34" charset="-120"/>
              </a:rPr>
              <a:t>14   </a:t>
            </a:r>
            <a:pPr indent="0" marL="0">
              <a:buNone/>
            </a:pPr>
            <a:r>
              <a:rPr lang="en-US" sz="840" b="1" dirty="0">
                <a:solidFill>
                  <a:srgbClr val="46606E"/>
                </a:solidFill>
                <a:latin typeface="IBM Plex Sans" pitchFamily="34" charset="0"/>
                <a:ea typeface="IBM Plex Sans" pitchFamily="34" charset="-122"/>
                <a:cs typeface="IBM Plex Sans" pitchFamily="34" charset="-120"/>
              </a:rPr>
              <a:t>9</a:t>
            </a:r>
            <a:endParaRPr lang="en-US" sz="840" dirty="0"/>
          </a:p>
        </p:txBody>
      </p:sp>
      <p:sp>
        <p:nvSpPr>
          <p:cNvPr id="26" name="Text 24"/>
          <p:cNvSpPr/>
          <p:nvPr/>
        </p:nvSpPr>
        <p:spPr>
          <a:xfrm>
            <a:off x="3888000" y="187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18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du Moulin Blanc   </a:t>
            </a:r>
            <a:pPr indent="0" marL="0">
              <a:buNone/>
            </a:pPr>
            <a:r>
              <a:rPr lang="en-US" sz="700" dirty="0">
                <a:solidFill>
                  <a:srgbClr val="A8515F"/>
                </a:solidFill>
                <a:latin typeface="IBM Plex Sans" pitchFamily="34" charset="0"/>
                <a:ea typeface="IBM Plex Sans" pitchFamily="34" charset="-122"/>
                <a:cs typeface="IBM Plex Sans" pitchFamily="34" charset="-120"/>
              </a:rPr>
              <a:t>Rhône   </a:t>
            </a:r>
            <a:pPr indent="0" marL="0">
              <a:buNone/>
            </a:pPr>
            <a:r>
              <a:rPr lang="en-US" sz="700" dirty="0">
                <a:solidFill>
                  <a:srgbClr val="46606E"/>
                </a:solidFill>
                <a:latin typeface="IBM Plex Sans" pitchFamily="34" charset="0"/>
                <a:ea typeface="IBM Plex Sans" pitchFamily="34" charset="-122"/>
                <a:cs typeface="IBM Plex Sans" pitchFamily="34" charset="-120"/>
              </a:rPr>
              <a:t>3   </a:t>
            </a:r>
            <a:pPr indent="0" marL="0">
              <a:buNone/>
            </a:pPr>
            <a:r>
              <a:rPr lang="en-US" sz="840" b="1" dirty="0">
                <a:solidFill>
                  <a:srgbClr val="46606E"/>
                </a:solidFill>
                <a:latin typeface="IBM Plex Sans" pitchFamily="34" charset="0"/>
                <a:ea typeface="IBM Plex Sans" pitchFamily="34" charset="-122"/>
                <a:cs typeface="IBM Plex Sans" pitchFamily="34" charset="-120"/>
              </a:rPr>
              <a:t>33</a:t>
            </a:r>
            <a:endParaRPr lang="en-US" sz="840" dirty="0"/>
          </a:p>
        </p:txBody>
      </p:sp>
      <p:sp>
        <p:nvSpPr>
          <p:cNvPr id="27" name="Text 25"/>
          <p:cNvSpPr/>
          <p:nvPr/>
        </p:nvSpPr>
        <p:spPr>
          <a:xfrm>
            <a:off x="3888000" y="216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23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Haut Marin   </a:t>
            </a:r>
            <a:pPr indent="0" marL="0">
              <a:buNone/>
            </a:pPr>
            <a:r>
              <a:rPr lang="en-US" sz="700" dirty="0">
                <a:solidFill>
                  <a:srgbClr val="A8515F"/>
                </a:solidFill>
                <a:latin typeface="IBM Plex Sans" pitchFamily="34" charset="0"/>
                <a:ea typeface="IBM Plex Sans" pitchFamily="34" charset="-122"/>
                <a:cs typeface="IBM Plex Sans" pitchFamily="34" charset="-120"/>
              </a:rPr>
              <a:t>Sud-Ouest   </a:t>
            </a:r>
            <a:pPr indent="0" marL="0">
              <a:buNone/>
            </a:pPr>
            <a:r>
              <a:rPr lang="en-US" sz="700" dirty="0">
                <a:solidFill>
                  <a:srgbClr val="46606E"/>
                </a:solidFill>
                <a:latin typeface="IBM Plex Sans" pitchFamily="34" charset="0"/>
                <a:ea typeface="IBM Plex Sans" pitchFamily="34" charset="-122"/>
                <a:cs typeface="IBM Plex Sans" pitchFamily="34" charset="-120"/>
              </a:rPr>
              <a:t>21   </a:t>
            </a:r>
            <a:pPr indent="0" marL="0">
              <a:buNone/>
            </a:pPr>
            <a:r>
              <a:rPr lang="en-US" sz="840" b="1" dirty="0">
                <a:solidFill>
                  <a:srgbClr val="46606E"/>
                </a:solidFill>
                <a:latin typeface="IBM Plex Sans" pitchFamily="34" charset="0"/>
                <a:ea typeface="IBM Plex Sans" pitchFamily="34" charset="-122"/>
                <a:cs typeface="IBM Plex Sans" pitchFamily="34" charset="-120"/>
              </a:rPr>
              <a:t>39</a:t>
            </a:r>
            <a:endParaRPr lang="en-US" sz="840" dirty="0"/>
          </a:p>
        </p:txBody>
      </p:sp>
      <p:sp>
        <p:nvSpPr>
          <p:cNvPr id="28" name="Text 26"/>
          <p:cNvSpPr/>
          <p:nvPr/>
        </p:nvSpPr>
        <p:spPr>
          <a:xfrm>
            <a:off x="3888000" y="244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6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Jean de Villebois   </a:t>
            </a:r>
            <a:pPr indent="0" marL="0">
              <a:buNone/>
            </a:pPr>
            <a:r>
              <a:rPr lang="en-US" sz="700" dirty="0">
                <a:solidFill>
                  <a:srgbClr val="A8515F"/>
                </a:solidFill>
                <a:latin typeface="IBM Plex Sans" pitchFamily="34" charset="0"/>
                <a:ea typeface="IBM Plex Sans" pitchFamily="34" charset="-122"/>
                <a:cs typeface="IBM Plex Sans" pitchFamily="34" charset="-120"/>
              </a:rPr>
              <a:t>Loire   </a:t>
            </a:r>
            <a:pPr indent="0" marL="0">
              <a:buNone/>
            </a:pPr>
            <a:r>
              <a:rPr lang="en-US" sz="700" dirty="0">
                <a:solidFill>
                  <a:srgbClr val="46606E"/>
                </a:solidFill>
                <a:latin typeface="IBM Plex Sans" pitchFamily="34" charset="0"/>
                <a:ea typeface="IBM Plex Sans" pitchFamily="34" charset="-122"/>
                <a:cs typeface="IBM Plex Sans" pitchFamily="34" charset="-120"/>
              </a:rPr>
              <a:t>16   </a:t>
            </a:r>
            <a:pPr indent="0" marL="0">
              <a:buNone/>
            </a:pPr>
            <a:r>
              <a:rPr lang="en-US" sz="840" b="1" dirty="0">
                <a:solidFill>
                  <a:srgbClr val="46606E"/>
                </a:solidFill>
                <a:latin typeface="IBM Plex Sans" pitchFamily="34" charset="0"/>
                <a:ea typeface="IBM Plex Sans" pitchFamily="34" charset="-122"/>
                <a:cs typeface="IBM Plex Sans" pitchFamily="34" charset="-120"/>
              </a:rPr>
              <a:t>13</a:t>
            </a:r>
            <a:endParaRPr lang="en-US" sz="840" dirty="0"/>
          </a:p>
        </p:txBody>
      </p:sp>
      <p:sp>
        <p:nvSpPr>
          <p:cNvPr id="29" name="Text 27"/>
          <p:cNvSpPr/>
          <p:nvPr/>
        </p:nvSpPr>
        <p:spPr>
          <a:xfrm>
            <a:off x="3888000" y="273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16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Le Prieuré des Papes   </a:t>
            </a:r>
            <a:pPr indent="0" marL="0">
              <a:buNone/>
            </a:pPr>
            <a:r>
              <a:rPr lang="en-US" sz="700" dirty="0">
                <a:solidFill>
                  <a:srgbClr val="A8515F"/>
                </a:solidFill>
                <a:latin typeface="IBM Plex Sans" pitchFamily="34" charset="0"/>
                <a:ea typeface="IBM Plex Sans" pitchFamily="34" charset="-122"/>
                <a:cs typeface="IBM Plex Sans" pitchFamily="34" charset="-120"/>
              </a:rPr>
              <a:t>Rhône   </a:t>
            </a:r>
            <a:pPr indent="0" marL="0">
              <a:buNone/>
            </a:pPr>
            <a:r>
              <a:rPr lang="en-US" sz="700" dirty="0">
                <a:solidFill>
                  <a:srgbClr val="46606E"/>
                </a:solidFill>
                <a:latin typeface="IBM Plex Sans" pitchFamily="34" charset="0"/>
                <a:ea typeface="IBM Plex Sans" pitchFamily="34" charset="-122"/>
                <a:cs typeface="IBM Plex Sans" pitchFamily="34" charset="-120"/>
              </a:rPr>
              <a:t>3   </a:t>
            </a:r>
            <a:pPr indent="0" marL="0">
              <a:buNone/>
            </a:pPr>
            <a:r>
              <a:rPr lang="en-US" sz="840" b="1" dirty="0">
                <a:solidFill>
                  <a:srgbClr val="46606E"/>
                </a:solidFill>
                <a:latin typeface="IBM Plex Sans" pitchFamily="34" charset="0"/>
                <a:ea typeface="IBM Plex Sans" pitchFamily="34" charset="-122"/>
                <a:cs typeface="IBM Plex Sans" pitchFamily="34" charset="-120"/>
              </a:rPr>
              <a:t>31</a:t>
            </a:r>
            <a:endParaRPr lang="en-US" sz="840" dirty="0"/>
          </a:p>
        </p:txBody>
      </p:sp>
      <p:sp>
        <p:nvSpPr>
          <p:cNvPr id="30" name="Text 28"/>
          <p:cNvSpPr/>
          <p:nvPr/>
        </p:nvSpPr>
        <p:spPr>
          <a:xfrm>
            <a:off x="3888000" y="302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14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Les Guignottes   </a:t>
            </a:r>
            <a:pPr indent="0" marL="0">
              <a:buNone/>
            </a:pPr>
            <a:r>
              <a:rPr lang="en-US" sz="700" dirty="0">
                <a:solidFill>
                  <a:srgbClr val="A8515F"/>
                </a:solidFill>
                <a:latin typeface="IBM Plex Sans" pitchFamily="34" charset="0"/>
                <a:ea typeface="IBM Plex Sans" pitchFamily="34" charset="-122"/>
                <a:cs typeface="IBM Plex Sans" pitchFamily="34" charset="-120"/>
              </a:rPr>
              <a:t>Bourgogne   </a:t>
            </a:r>
            <a:pPr indent="0" marL="0">
              <a:buNone/>
            </a:pPr>
            <a:r>
              <a:rPr lang="en-US" sz="700" dirty="0">
                <a:solidFill>
                  <a:srgbClr val="46606E"/>
                </a:solidFill>
                <a:latin typeface="IBM Plex Sans" pitchFamily="34" charset="0"/>
                <a:ea typeface="IBM Plex Sans" pitchFamily="34" charset="-122"/>
                <a:cs typeface="IBM Plex Sans" pitchFamily="34" charset="-120"/>
              </a:rPr>
              <a:t>5   </a:t>
            </a:r>
            <a:pPr indent="0" marL="0">
              <a:buNone/>
            </a:pPr>
            <a:r>
              <a:rPr lang="en-US" sz="840" b="1" dirty="0">
                <a:solidFill>
                  <a:srgbClr val="46606E"/>
                </a:solidFill>
                <a:latin typeface="IBM Plex Sans" pitchFamily="34" charset="0"/>
                <a:ea typeface="IBM Plex Sans" pitchFamily="34" charset="-122"/>
                <a:cs typeface="IBM Plex Sans" pitchFamily="34" charset="-120"/>
              </a:rPr>
              <a:t>28</a:t>
            </a:r>
            <a:endParaRPr lang="en-US" sz="840" dirty="0"/>
          </a:p>
        </p:txBody>
      </p:sp>
      <p:sp>
        <p:nvSpPr>
          <p:cNvPr id="31" name="Text 29"/>
          <p:cNvSpPr/>
          <p:nvPr/>
        </p:nvSpPr>
        <p:spPr>
          <a:xfrm>
            <a:off x="3888000" y="331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35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Les Lys   </a:t>
            </a:r>
            <a:pPr indent="0" marL="0">
              <a:buNone/>
            </a:pPr>
            <a:r>
              <a:rPr lang="en-US" sz="700" dirty="0">
                <a:solidFill>
                  <a:srgbClr val="A8515F"/>
                </a:solidFill>
                <a:latin typeface="IBM Plex Sans" pitchFamily="34" charset="0"/>
                <a:ea typeface="IBM Plex Sans" pitchFamily="34" charset="-122"/>
                <a:cs typeface="IBM Plex Sans" pitchFamily="34" charset="-120"/>
              </a:rPr>
              <a:t>Languedoc   </a:t>
            </a:r>
            <a:pPr indent="0" marL="0">
              <a:buNone/>
            </a:pPr>
            <a:r>
              <a:rPr lang="en-US" sz="700" dirty="0">
                <a:solidFill>
                  <a:srgbClr val="46606E"/>
                </a:solidFill>
                <a:latin typeface="IBM Plex Sans" pitchFamily="34" charset="0"/>
                <a:ea typeface="IBM Plex Sans" pitchFamily="34" charset="-122"/>
                <a:cs typeface="IBM Plex Sans" pitchFamily="34" charset="-120"/>
              </a:rPr>
              <a:t>7   </a:t>
            </a:r>
            <a:pPr indent="0" marL="0">
              <a:buNone/>
            </a:pPr>
            <a:r>
              <a:rPr lang="en-US" sz="840" b="1" dirty="0">
                <a:solidFill>
                  <a:srgbClr val="46606E"/>
                </a:solidFill>
                <a:latin typeface="IBM Plex Sans" pitchFamily="34" charset="0"/>
                <a:ea typeface="IBM Plex Sans" pitchFamily="34" charset="-122"/>
                <a:cs typeface="IBM Plex Sans" pitchFamily="34" charset="-120"/>
              </a:rPr>
              <a:t>60</a:t>
            </a:r>
            <a:endParaRPr lang="en-US" sz="840" dirty="0"/>
          </a:p>
        </p:txBody>
      </p:sp>
      <p:sp>
        <p:nvSpPr>
          <p:cNvPr id="32" name="Text 30"/>
          <p:cNvSpPr/>
          <p:nvPr/>
        </p:nvSpPr>
        <p:spPr>
          <a:xfrm>
            <a:off x="3888000" y="360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11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Nadine Ferrand   </a:t>
            </a:r>
            <a:pPr indent="0" marL="0">
              <a:buNone/>
            </a:pPr>
            <a:r>
              <a:rPr lang="en-US" sz="700" dirty="0">
                <a:solidFill>
                  <a:srgbClr val="A8515F"/>
                </a:solidFill>
                <a:latin typeface="IBM Plex Sans" pitchFamily="34" charset="0"/>
                <a:ea typeface="IBM Plex Sans" pitchFamily="34" charset="-122"/>
                <a:cs typeface="IBM Plex Sans" pitchFamily="34" charset="-120"/>
              </a:rPr>
              <a:t>Bourgogne   </a:t>
            </a:r>
            <a:pPr indent="0" marL="0">
              <a:buNone/>
            </a:pPr>
            <a:r>
              <a:rPr lang="en-US" sz="700" dirty="0">
                <a:solidFill>
                  <a:srgbClr val="46606E"/>
                </a:solidFill>
                <a:latin typeface="IBM Plex Sans" pitchFamily="34" charset="0"/>
                <a:ea typeface="IBM Plex Sans" pitchFamily="34" charset="-122"/>
                <a:cs typeface="IBM Plex Sans" pitchFamily="34" charset="-120"/>
              </a:rPr>
              <a:t>7   </a:t>
            </a:r>
            <a:pPr indent="0" marL="0">
              <a:buNone/>
            </a:pPr>
            <a:r>
              <a:rPr lang="en-US" sz="840" b="1" dirty="0">
                <a:solidFill>
                  <a:srgbClr val="46606E"/>
                </a:solidFill>
                <a:latin typeface="IBM Plex Sans" pitchFamily="34" charset="0"/>
                <a:ea typeface="IBM Plex Sans" pitchFamily="34" charset="-122"/>
                <a:cs typeface="IBM Plex Sans" pitchFamily="34" charset="-120"/>
              </a:rPr>
              <a:t>24</a:t>
            </a:r>
            <a:endParaRPr lang="en-US" sz="840" dirty="0"/>
          </a:p>
        </p:txBody>
      </p:sp>
      <p:sp>
        <p:nvSpPr>
          <p:cNvPr id="33" name="Text 31"/>
          <p:cNvSpPr/>
          <p:nvPr/>
        </p:nvSpPr>
        <p:spPr>
          <a:xfrm>
            <a:off x="3888000" y="388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10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Sébastien Magnien   </a:t>
            </a:r>
            <a:pPr indent="0" marL="0">
              <a:buNone/>
            </a:pPr>
            <a:r>
              <a:rPr lang="en-US" sz="700" dirty="0">
                <a:solidFill>
                  <a:srgbClr val="A8515F"/>
                </a:solidFill>
                <a:latin typeface="IBM Plex Sans" pitchFamily="34" charset="0"/>
                <a:ea typeface="IBM Plex Sans" pitchFamily="34" charset="-122"/>
                <a:cs typeface="IBM Plex Sans" pitchFamily="34" charset="-120"/>
              </a:rPr>
              <a:t>Bourgogne   </a:t>
            </a:r>
            <a:pPr indent="0" marL="0">
              <a:buNone/>
            </a:pPr>
            <a:r>
              <a:rPr lang="en-US" sz="700" dirty="0">
                <a:solidFill>
                  <a:srgbClr val="46606E"/>
                </a:solidFill>
                <a:latin typeface="IBM Plex Sans" pitchFamily="34" charset="0"/>
                <a:ea typeface="IBM Plex Sans" pitchFamily="34" charset="-122"/>
                <a:cs typeface="IBM Plex Sans" pitchFamily="34" charset="-120"/>
              </a:rPr>
              <a:t>15   </a:t>
            </a:r>
            <a:pPr indent="0" marL="0">
              <a:buNone/>
            </a:pPr>
            <a:r>
              <a:rPr lang="en-US" sz="840" b="1" dirty="0">
                <a:solidFill>
                  <a:srgbClr val="46606E"/>
                </a:solidFill>
                <a:latin typeface="IBM Plex Sans" pitchFamily="34" charset="0"/>
                <a:ea typeface="IBM Plex Sans" pitchFamily="34" charset="-122"/>
                <a:cs typeface="IBM Plex Sans" pitchFamily="34" charset="-120"/>
              </a:rPr>
              <a:t>22</a:t>
            </a:r>
            <a:endParaRPr lang="en-US" sz="840" dirty="0"/>
          </a:p>
        </p:txBody>
      </p:sp>
      <p:sp>
        <p:nvSpPr>
          <p:cNvPr id="34" name="Text 32"/>
          <p:cNvSpPr/>
          <p:nvPr/>
        </p:nvSpPr>
        <p:spPr>
          <a:xfrm>
            <a:off x="3888000" y="417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22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Stratéus   </a:t>
            </a:r>
            <a:pPr indent="0" marL="0">
              <a:buNone/>
            </a:pPr>
            <a:r>
              <a:rPr lang="en-US" sz="700" dirty="0">
                <a:solidFill>
                  <a:srgbClr val="A8515F"/>
                </a:solidFill>
                <a:latin typeface="IBM Plex Sans" pitchFamily="34" charset="0"/>
                <a:ea typeface="IBM Plex Sans" pitchFamily="34" charset="-122"/>
                <a:cs typeface="IBM Plex Sans" pitchFamily="34" charset="-120"/>
              </a:rPr>
              <a:t>Sud-Ouest   </a:t>
            </a:r>
            <a:pPr indent="0" marL="0">
              <a:buNone/>
            </a:pPr>
            <a:r>
              <a:rPr lang="en-US" sz="700" dirty="0">
                <a:solidFill>
                  <a:srgbClr val="46606E"/>
                </a:solidFill>
                <a:latin typeface="IBM Plex Sans" pitchFamily="34" charset="0"/>
                <a:ea typeface="IBM Plex Sans" pitchFamily="34" charset="-122"/>
                <a:cs typeface="IBM Plex Sans" pitchFamily="34" charset="-120"/>
              </a:rPr>
              <a:t>6   </a:t>
            </a:r>
            <a:pPr indent="0" marL="0">
              <a:buNone/>
            </a:pPr>
            <a:r>
              <a:rPr lang="en-US" sz="840" b="1" dirty="0">
                <a:solidFill>
                  <a:srgbClr val="46606E"/>
                </a:solidFill>
                <a:latin typeface="IBM Plex Sans" pitchFamily="34" charset="0"/>
                <a:ea typeface="IBM Plex Sans" pitchFamily="34" charset="-122"/>
                <a:cs typeface="IBM Plex Sans" pitchFamily="34" charset="-120"/>
              </a:rPr>
              <a:t>38</a:t>
            </a:r>
            <a:endParaRPr lang="en-US" sz="840" dirty="0"/>
          </a:p>
        </p:txBody>
      </p:sp>
      <p:sp>
        <p:nvSpPr>
          <p:cNvPr id="35" name="Text 33"/>
          <p:cNvSpPr/>
          <p:nvPr/>
        </p:nvSpPr>
        <p:spPr>
          <a:xfrm>
            <a:off x="3888000" y="446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21   </a:t>
            </a:r>
            <a:pPr indent="0" marL="0">
              <a:buNone/>
            </a:pPr>
            <a:r>
              <a:rPr lang="en-US" sz="840" b="1" dirty="0">
                <a:solidFill>
                  <a:srgbClr val="46606E"/>
                </a:solidFill>
                <a:latin typeface="IBM Plex Sans" pitchFamily="34" charset="0"/>
                <a:ea typeface="IBM Plex Sans" pitchFamily="34" charset="-122"/>
                <a:cs typeface="IBM Plex Sans" pitchFamily="34" charset="-120"/>
              </a:rPr>
              <a:t>Domaine Trichon   </a:t>
            </a:r>
            <a:pPr indent="0" marL="0">
              <a:buNone/>
            </a:pPr>
            <a:r>
              <a:rPr lang="en-US" sz="700" dirty="0">
                <a:solidFill>
                  <a:srgbClr val="A8515F"/>
                </a:solidFill>
                <a:latin typeface="IBM Plex Sans" pitchFamily="34" charset="0"/>
                <a:ea typeface="IBM Plex Sans" pitchFamily="34" charset="-122"/>
                <a:cs typeface="IBM Plex Sans" pitchFamily="34" charset="-120"/>
              </a:rPr>
              <a:t>Rhône   </a:t>
            </a:r>
            <a:pPr indent="0" marL="0">
              <a:buNone/>
            </a:pPr>
            <a:r>
              <a:rPr lang="en-US" sz="700" dirty="0">
                <a:solidFill>
                  <a:srgbClr val="46606E"/>
                </a:solidFill>
                <a:latin typeface="IBM Plex Sans" pitchFamily="34" charset="0"/>
                <a:ea typeface="IBM Plex Sans" pitchFamily="34" charset="-122"/>
                <a:cs typeface="IBM Plex Sans" pitchFamily="34" charset="-120"/>
              </a:rPr>
              <a:t>3   </a:t>
            </a:r>
            <a:pPr indent="0" marL="0">
              <a:buNone/>
            </a:pPr>
            <a:r>
              <a:rPr lang="en-US" sz="840" b="1" dirty="0">
                <a:solidFill>
                  <a:srgbClr val="46606E"/>
                </a:solidFill>
                <a:latin typeface="IBM Plex Sans" pitchFamily="34" charset="0"/>
                <a:ea typeface="IBM Plex Sans" pitchFamily="34" charset="-122"/>
                <a:cs typeface="IBM Plex Sans" pitchFamily="34" charset="-120"/>
              </a:rPr>
              <a:t>36</a:t>
            </a:r>
            <a:endParaRPr lang="en-US" sz="840" dirty="0"/>
          </a:p>
        </p:txBody>
      </p:sp>
      <p:sp>
        <p:nvSpPr>
          <p:cNvPr id="36" name="Text 34"/>
          <p:cNvSpPr/>
          <p:nvPr/>
        </p:nvSpPr>
        <p:spPr>
          <a:xfrm>
            <a:off x="3888000" y="475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24   </a:t>
            </a:r>
            <a:pPr indent="0" marL="0">
              <a:buNone/>
            </a:pPr>
            <a:r>
              <a:rPr lang="en-US" sz="840" b="1" dirty="0">
                <a:solidFill>
                  <a:srgbClr val="46606E"/>
                </a:solidFill>
                <a:latin typeface="IBM Plex Sans" pitchFamily="34" charset="0"/>
                <a:ea typeface="IBM Plex Sans" pitchFamily="34" charset="-122"/>
                <a:cs typeface="IBM Plex Sans" pitchFamily="34" charset="-120"/>
              </a:rPr>
              <a:t>Fabien Castaing   </a:t>
            </a:r>
            <a:pPr indent="0" marL="0">
              <a:buNone/>
            </a:pPr>
            <a:r>
              <a:rPr lang="en-US" sz="700" dirty="0">
                <a:solidFill>
                  <a:srgbClr val="A8515F"/>
                </a:solidFill>
                <a:latin typeface="IBM Plex Sans" pitchFamily="34" charset="0"/>
                <a:ea typeface="IBM Plex Sans" pitchFamily="34" charset="-122"/>
                <a:cs typeface="IBM Plex Sans" pitchFamily="34" charset="-120"/>
              </a:rPr>
              <a:t>Sud-Ouest   </a:t>
            </a:r>
            <a:pPr indent="0" marL="0">
              <a:buNone/>
            </a:pPr>
            <a:r>
              <a:rPr lang="en-US" sz="700" dirty="0">
                <a:solidFill>
                  <a:srgbClr val="46606E"/>
                </a:solidFill>
                <a:latin typeface="IBM Plex Sans" pitchFamily="34" charset="0"/>
                <a:ea typeface="IBM Plex Sans" pitchFamily="34" charset="-122"/>
                <a:cs typeface="IBM Plex Sans" pitchFamily="34" charset="-120"/>
              </a:rPr>
              <a:t>13   </a:t>
            </a:r>
            <a:pPr indent="0" marL="0">
              <a:buNone/>
            </a:pPr>
            <a:r>
              <a:rPr lang="en-US" sz="840" b="1" dirty="0">
                <a:solidFill>
                  <a:srgbClr val="46606E"/>
                </a:solidFill>
                <a:latin typeface="IBM Plex Sans" pitchFamily="34" charset="0"/>
                <a:ea typeface="IBM Plex Sans" pitchFamily="34" charset="-122"/>
                <a:cs typeface="IBM Plex Sans" pitchFamily="34" charset="-120"/>
              </a:rPr>
              <a:t>41</a:t>
            </a:r>
            <a:endParaRPr lang="en-US" sz="840" dirty="0"/>
          </a:p>
        </p:txBody>
      </p:sp>
      <p:sp>
        <p:nvSpPr>
          <p:cNvPr id="37" name="Text 35"/>
          <p:cNvSpPr/>
          <p:nvPr/>
        </p:nvSpPr>
        <p:spPr>
          <a:xfrm>
            <a:off x="3888000" y="504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32   </a:t>
            </a:r>
            <a:pPr indent="0" marL="0">
              <a:buNone/>
            </a:pPr>
            <a:r>
              <a:rPr lang="en-US" sz="840" b="1" dirty="0">
                <a:solidFill>
                  <a:srgbClr val="46606E"/>
                </a:solidFill>
                <a:latin typeface="IBM Plex Sans" pitchFamily="34" charset="0"/>
                <a:ea typeface="IBM Plex Sans" pitchFamily="34" charset="-122"/>
                <a:cs typeface="IBM Plex Sans" pitchFamily="34" charset="-120"/>
              </a:rPr>
              <a:t>Famille d’Exea   </a:t>
            </a:r>
            <a:pPr indent="0" marL="0">
              <a:buNone/>
            </a:pPr>
            <a:r>
              <a:rPr lang="en-US" sz="700" dirty="0">
                <a:solidFill>
                  <a:srgbClr val="A8515F"/>
                </a:solidFill>
                <a:latin typeface="IBM Plex Sans" pitchFamily="34" charset="0"/>
                <a:ea typeface="IBM Plex Sans" pitchFamily="34" charset="-122"/>
                <a:cs typeface="IBM Plex Sans" pitchFamily="34" charset="-120"/>
              </a:rPr>
              <a:t>Languedoc   </a:t>
            </a:r>
            <a:pPr indent="0" marL="0">
              <a:buNone/>
            </a:pPr>
            <a:r>
              <a:rPr lang="en-US" sz="700" dirty="0">
                <a:solidFill>
                  <a:srgbClr val="46606E"/>
                </a:solidFill>
                <a:latin typeface="IBM Plex Sans" pitchFamily="34" charset="0"/>
                <a:ea typeface="IBM Plex Sans" pitchFamily="34" charset="-122"/>
                <a:cs typeface="IBM Plex Sans" pitchFamily="34" charset="-120"/>
              </a:rPr>
              <a:t>21   </a:t>
            </a:r>
            <a:pPr indent="0" marL="0">
              <a:buNone/>
            </a:pPr>
            <a:r>
              <a:rPr lang="en-US" sz="840" b="1" dirty="0">
                <a:solidFill>
                  <a:srgbClr val="46606E"/>
                </a:solidFill>
                <a:latin typeface="IBM Plex Sans" pitchFamily="34" charset="0"/>
                <a:ea typeface="IBM Plex Sans" pitchFamily="34" charset="-122"/>
                <a:cs typeface="IBM Plex Sans" pitchFamily="34" charset="-120"/>
              </a:rPr>
              <a:t>56</a:t>
            </a:r>
            <a:endParaRPr lang="en-US" sz="840" dirty="0"/>
          </a:p>
        </p:txBody>
      </p:sp>
      <p:sp>
        <p:nvSpPr>
          <p:cNvPr id="38" name="Text 36"/>
          <p:cNvSpPr/>
          <p:nvPr/>
        </p:nvSpPr>
        <p:spPr>
          <a:xfrm>
            <a:off x="3888000" y="532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33   </a:t>
            </a:r>
            <a:pPr indent="0" marL="0">
              <a:buNone/>
            </a:pPr>
            <a:r>
              <a:rPr lang="en-US" sz="840" b="1" dirty="0">
                <a:solidFill>
                  <a:srgbClr val="46606E"/>
                </a:solidFill>
                <a:latin typeface="IBM Plex Sans" pitchFamily="34" charset="0"/>
                <a:ea typeface="IBM Plex Sans" pitchFamily="34" charset="-122"/>
                <a:cs typeface="IBM Plex Sans" pitchFamily="34" charset="-120"/>
              </a:rPr>
              <a:t>Famille d’Exea — Jus de Cépages   </a:t>
            </a:r>
            <a:pPr indent="0" marL="0">
              <a:buNone/>
            </a:pPr>
            <a:r>
              <a:rPr lang="en-US" sz="700" dirty="0">
                <a:solidFill>
                  <a:srgbClr val="A8515F"/>
                </a:solidFill>
                <a:latin typeface="IBM Plex Sans" pitchFamily="34" charset="0"/>
                <a:ea typeface="IBM Plex Sans" pitchFamily="34" charset="-122"/>
                <a:cs typeface="IBM Plex Sans" pitchFamily="34" charset="-120"/>
              </a:rPr>
              <a:t>Languedoc   </a:t>
            </a:r>
            <a:pPr indent="0" marL="0">
              <a:buNone/>
            </a:pPr>
            <a:r>
              <a:rPr lang="en-US" sz="700" dirty="0">
                <a:solidFill>
                  <a:srgbClr val="46606E"/>
                </a:solidFill>
                <a:latin typeface="IBM Plex Sans" pitchFamily="34" charset="0"/>
                <a:ea typeface="IBM Plex Sans" pitchFamily="34" charset="-122"/>
                <a:cs typeface="IBM Plex Sans" pitchFamily="34" charset="-120"/>
              </a:rPr>
              <a:t>8   </a:t>
            </a:r>
            <a:pPr indent="0" marL="0">
              <a:buNone/>
            </a:pPr>
            <a:r>
              <a:rPr lang="en-US" sz="840" b="1" dirty="0">
                <a:solidFill>
                  <a:srgbClr val="46606E"/>
                </a:solidFill>
                <a:latin typeface="IBM Plex Sans" pitchFamily="34" charset="0"/>
                <a:ea typeface="IBM Plex Sans" pitchFamily="34" charset="-122"/>
                <a:cs typeface="IBM Plex Sans" pitchFamily="34" charset="-120"/>
              </a:rPr>
              <a:t>58</a:t>
            </a:r>
            <a:endParaRPr lang="en-US" sz="840" dirty="0"/>
          </a:p>
        </p:txBody>
      </p:sp>
      <p:sp>
        <p:nvSpPr>
          <p:cNvPr id="39" name="Text 37"/>
          <p:cNvSpPr/>
          <p:nvPr/>
        </p:nvSpPr>
        <p:spPr>
          <a:xfrm>
            <a:off x="3888000" y="561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   </a:t>
            </a:r>
            <a:pPr indent="0" marL="0">
              <a:buNone/>
            </a:pPr>
            <a:r>
              <a:rPr lang="en-US" sz="840" b="1" dirty="0">
                <a:solidFill>
                  <a:srgbClr val="46606E"/>
                </a:solidFill>
                <a:latin typeface="IBM Plex Sans" pitchFamily="34" charset="0"/>
                <a:ea typeface="IBM Plex Sans" pitchFamily="34" charset="-122"/>
                <a:cs typeface="IBM Plex Sans" pitchFamily="34" charset="-120"/>
              </a:rPr>
              <a:t>François Reverdy   </a:t>
            </a:r>
            <a:pPr indent="0" marL="0">
              <a:buNone/>
            </a:pPr>
            <a:r>
              <a:rPr lang="en-US" sz="700" dirty="0">
                <a:solidFill>
                  <a:srgbClr val="A8515F"/>
                </a:solidFill>
                <a:latin typeface="IBM Plex Sans" pitchFamily="34" charset="0"/>
                <a:ea typeface="IBM Plex Sans" pitchFamily="34" charset="-122"/>
                <a:cs typeface="IBM Plex Sans" pitchFamily="34" charset="-120"/>
              </a:rPr>
              <a:t>Loire   </a:t>
            </a:r>
            <a:pPr indent="0" marL="0">
              <a:buNone/>
            </a:pPr>
            <a:r>
              <a:rPr lang="en-US" sz="700" dirty="0">
                <a:solidFill>
                  <a:srgbClr val="46606E"/>
                </a:solidFill>
                <a:latin typeface="IBM Plex Sans" pitchFamily="34" charset="0"/>
                <a:ea typeface="IBM Plex Sans" pitchFamily="34" charset="-122"/>
                <a:cs typeface="IBM Plex Sans" pitchFamily="34" charset="-120"/>
              </a:rPr>
              <a:t>8   </a:t>
            </a:r>
            <a:pPr indent="0" marL="0">
              <a:buNone/>
            </a:pPr>
            <a:r>
              <a:rPr lang="en-US" sz="840" b="1" dirty="0">
                <a:solidFill>
                  <a:srgbClr val="46606E"/>
                </a:solidFill>
                <a:latin typeface="IBM Plex Sans" pitchFamily="34" charset="0"/>
                <a:ea typeface="IBM Plex Sans" pitchFamily="34" charset="-122"/>
                <a:cs typeface="IBM Plex Sans" pitchFamily="34" charset="-120"/>
              </a:rPr>
              <a:t>7</a:t>
            </a:r>
            <a:endParaRPr lang="en-US" sz="840" dirty="0"/>
          </a:p>
        </p:txBody>
      </p:sp>
      <p:sp>
        <p:nvSpPr>
          <p:cNvPr id="40" name="Text 38"/>
          <p:cNvSpPr/>
          <p:nvPr/>
        </p:nvSpPr>
        <p:spPr>
          <a:xfrm>
            <a:off x="3888000" y="590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25   </a:t>
            </a:r>
            <a:pPr indent="0" marL="0">
              <a:buNone/>
            </a:pPr>
            <a:r>
              <a:rPr lang="en-US" sz="840" b="1" dirty="0">
                <a:solidFill>
                  <a:srgbClr val="46606E"/>
                </a:solidFill>
                <a:latin typeface="IBM Plex Sans" pitchFamily="34" charset="0"/>
                <a:ea typeface="IBM Plex Sans" pitchFamily="34" charset="-122"/>
                <a:cs typeface="IBM Plex Sans" pitchFamily="34" charset="-120"/>
              </a:rPr>
              <a:t>La Passion des Terroirs   </a:t>
            </a:r>
            <a:pPr indent="0" marL="0">
              <a:buNone/>
            </a:pPr>
            <a:r>
              <a:rPr lang="en-US" sz="700" dirty="0">
                <a:solidFill>
                  <a:srgbClr val="A8515F"/>
                </a:solidFill>
                <a:latin typeface="IBM Plex Sans" pitchFamily="34" charset="0"/>
                <a:ea typeface="IBM Plex Sans" pitchFamily="34" charset="-122"/>
                <a:cs typeface="IBM Plex Sans" pitchFamily="34" charset="-120"/>
              </a:rPr>
              <a:t>Bordeaux   </a:t>
            </a:r>
            <a:pPr indent="0" marL="0">
              <a:buNone/>
            </a:pPr>
            <a:r>
              <a:rPr lang="en-US" sz="700" dirty="0">
                <a:solidFill>
                  <a:srgbClr val="46606E"/>
                </a:solidFill>
                <a:latin typeface="IBM Plex Sans" pitchFamily="34" charset="0"/>
                <a:ea typeface="IBM Plex Sans" pitchFamily="34" charset="-122"/>
                <a:cs typeface="IBM Plex Sans" pitchFamily="34" charset="-120"/>
              </a:rPr>
              <a:t>31   </a:t>
            </a:r>
            <a:pPr indent="0" marL="0">
              <a:buNone/>
            </a:pPr>
            <a:r>
              <a:rPr lang="en-US" sz="840" b="1" dirty="0">
                <a:solidFill>
                  <a:srgbClr val="46606E"/>
                </a:solidFill>
                <a:latin typeface="IBM Plex Sans" pitchFamily="34" charset="0"/>
                <a:ea typeface="IBM Plex Sans" pitchFamily="34" charset="-122"/>
                <a:cs typeface="IBM Plex Sans" pitchFamily="34" charset="-120"/>
              </a:rPr>
              <a:t>44</a:t>
            </a:r>
            <a:endParaRPr lang="en-US" sz="840" dirty="0"/>
          </a:p>
        </p:txBody>
      </p:sp>
      <p:sp>
        <p:nvSpPr>
          <p:cNvPr id="41" name="Text 39"/>
          <p:cNvSpPr/>
          <p:nvPr/>
        </p:nvSpPr>
        <p:spPr>
          <a:xfrm>
            <a:off x="3888000" y="619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12   </a:t>
            </a:r>
            <a:pPr indent="0" marL="0">
              <a:buNone/>
            </a:pPr>
            <a:r>
              <a:rPr lang="en-US" sz="840" b="1" dirty="0">
                <a:solidFill>
                  <a:srgbClr val="46606E"/>
                </a:solidFill>
                <a:latin typeface="IBM Plex Sans" pitchFamily="34" charset="0"/>
                <a:ea typeface="IBM Plex Sans" pitchFamily="34" charset="-122"/>
                <a:cs typeface="IBM Plex Sans" pitchFamily="34" charset="-120"/>
              </a:rPr>
              <a:t>Maison et Domaine André Goichot   </a:t>
            </a:r>
            <a:pPr indent="0" marL="0">
              <a:buNone/>
            </a:pPr>
            <a:r>
              <a:rPr lang="en-US" sz="700" dirty="0">
                <a:solidFill>
                  <a:srgbClr val="A8515F"/>
                </a:solidFill>
                <a:latin typeface="IBM Plex Sans" pitchFamily="34" charset="0"/>
                <a:ea typeface="IBM Plex Sans" pitchFamily="34" charset="-122"/>
                <a:cs typeface="IBM Plex Sans" pitchFamily="34" charset="-120"/>
              </a:rPr>
              <a:t>Bourgogne   </a:t>
            </a:r>
            <a:pPr indent="0" marL="0">
              <a:buNone/>
            </a:pPr>
            <a:r>
              <a:rPr lang="en-US" sz="700" dirty="0">
                <a:solidFill>
                  <a:srgbClr val="46606E"/>
                </a:solidFill>
                <a:latin typeface="IBM Plex Sans" pitchFamily="34" charset="0"/>
                <a:ea typeface="IBM Plex Sans" pitchFamily="34" charset="-122"/>
                <a:cs typeface="IBM Plex Sans" pitchFamily="34" charset="-120"/>
              </a:rPr>
              <a:t>23   </a:t>
            </a:r>
            <a:pPr indent="0" marL="0">
              <a:buNone/>
            </a:pPr>
            <a:r>
              <a:rPr lang="en-US" sz="840" b="1" dirty="0">
                <a:solidFill>
                  <a:srgbClr val="46606E"/>
                </a:solidFill>
                <a:latin typeface="IBM Plex Sans" pitchFamily="34" charset="0"/>
                <a:ea typeface="IBM Plex Sans" pitchFamily="34" charset="-122"/>
                <a:cs typeface="IBM Plex Sans" pitchFamily="34" charset="-120"/>
              </a:rPr>
              <a:t>25</a:t>
            </a:r>
            <a:endParaRPr lang="en-US" sz="840" dirty="0"/>
          </a:p>
        </p:txBody>
      </p:sp>
      <p:sp>
        <p:nvSpPr>
          <p:cNvPr id="42" name="Text 40"/>
          <p:cNvSpPr/>
          <p:nvPr/>
        </p:nvSpPr>
        <p:spPr>
          <a:xfrm>
            <a:off x="3888000" y="648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36   </a:t>
            </a:r>
            <a:pPr indent="0" marL="0">
              <a:buNone/>
            </a:pPr>
            <a:r>
              <a:rPr lang="en-US" sz="840" b="1" dirty="0">
                <a:solidFill>
                  <a:srgbClr val="46606E"/>
                </a:solidFill>
                <a:latin typeface="IBM Plex Sans" pitchFamily="34" charset="0"/>
                <a:ea typeface="IBM Plex Sans" pitchFamily="34" charset="-122"/>
                <a:cs typeface="IBM Plex Sans" pitchFamily="34" charset="-120"/>
              </a:rPr>
              <a:t>Prieuré Sainte-Marie d’Albas   </a:t>
            </a:r>
            <a:pPr indent="0" marL="0">
              <a:buNone/>
            </a:pPr>
            <a:r>
              <a:rPr lang="en-US" sz="700" dirty="0">
                <a:solidFill>
                  <a:srgbClr val="A8515F"/>
                </a:solidFill>
                <a:latin typeface="IBM Plex Sans" pitchFamily="34" charset="0"/>
                <a:ea typeface="IBM Plex Sans" pitchFamily="34" charset="-122"/>
                <a:cs typeface="IBM Plex Sans" pitchFamily="34" charset="-120"/>
              </a:rPr>
              <a:t>Languedoc   </a:t>
            </a:r>
            <a:pPr indent="0" marL="0">
              <a:buNone/>
            </a:pPr>
            <a:r>
              <a:rPr lang="en-US" sz="700" dirty="0">
                <a:solidFill>
                  <a:srgbClr val="46606E"/>
                </a:solidFill>
                <a:latin typeface="IBM Plex Sans" pitchFamily="34" charset="0"/>
                <a:ea typeface="IBM Plex Sans" pitchFamily="34" charset="-122"/>
                <a:cs typeface="IBM Plex Sans" pitchFamily="34" charset="-120"/>
              </a:rPr>
              <a:t>13   </a:t>
            </a:r>
            <a:pPr indent="0" marL="0">
              <a:buNone/>
            </a:pPr>
            <a:r>
              <a:rPr lang="en-US" sz="840" b="1" dirty="0">
                <a:solidFill>
                  <a:srgbClr val="46606E"/>
                </a:solidFill>
                <a:latin typeface="IBM Plex Sans" pitchFamily="34" charset="0"/>
                <a:ea typeface="IBM Plex Sans" pitchFamily="34" charset="-122"/>
                <a:cs typeface="IBM Plex Sans" pitchFamily="34" charset="-120"/>
              </a:rPr>
              <a:t>61</a:t>
            </a:r>
            <a:endParaRPr lang="en-US" sz="840" dirty="0"/>
          </a:p>
        </p:txBody>
      </p:sp>
      <p:sp>
        <p:nvSpPr>
          <p:cNvPr id="43" name="Text 41"/>
          <p:cNvSpPr/>
          <p:nvPr/>
        </p:nvSpPr>
        <p:spPr>
          <a:xfrm>
            <a:off x="3888000" y="676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40   </a:t>
            </a:r>
            <a:pPr indent="0" marL="0">
              <a:buNone/>
            </a:pPr>
            <a:r>
              <a:rPr lang="en-US" sz="840" b="1" dirty="0">
                <a:solidFill>
                  <a:srgbClr val="46606E"/>
                </a:solidFill>
                <a:latin typeface="IBM Plex Sans" pitchFamily="34" charset="0"/>
                <a:ea typeface="IBM Plex Sans" pitchFamily="34" charset="-122"/>
                <a:cs typeface="IBM Plex Sans" pitchFamily="34" charset="-120"/>
              </a:rPr>
              <a:t>Vazart-Coquart &amp; Fils   </a:t>
            </a:r>
            <a:pPr indent="0" marL="0">
              <a:buNone/>
            </a:pPr>
            <a:r>
              <a:rPr lang="en-US" sz="700" dirty="0">
                <a:solidFill>
                  <a:srgbClr val="A8515F"/>
                </a:solidFill>
                <a:latin typeface="IBM Plex Sans" pitchFamily="34" charset="0"/>
                <a:ea typeface="IBM Plex Sans" pitchFamily="34" charset="-122"/>
                <a:cs typeface="IBM Plex Sans" pitchFamily="34" charset="-120"/>
              </a:rPr>
              <a:t>Champagne   </a:t>
            </a:r>
            <a:pPr indent="0" marL="0">
              <a:buNone/>
            </a:pPr>
            <a:r>
              <a:rPr lang="en-US" sz="700" dirty="0">
                <a:solidFill>
                  <a:srgbClr val="46606E"/>
                </a:solidFill>
                <a:latin typeface="IBM Plex Sans" pitchFamily="34" charset="0"/>
                <a:ea typeface="IBM Plex Sans" pitchFamily="34" charset="-122"/>
                <a:cs typeface="IBM Plex Sans" pitchFamily="34" charset="-120"/>
              </a:rPr>
              <a:t>6   </a:t>
            </a:r>
            <a:pPr indent="0" marL="0">
              <a:buNone/>
            </a:pPr>
            <a:r>
              <a:rPr lang="en-US" sz="840" b="1" dirty="0">
                <a:solidFill>
                  <a:srgbClr val="46606E"/>
                </a:solidFill>
                <a:latin typeface="IBM Plex Sans" pitchFamily="34" charset="0"/>
                <a:ea typeface="IBM Plex Sans" pitchFamily="34" charset="-122"/>
                <a:cs typeface="IBM Plex Sans" pitchFamily="34" charset="-120"/>
              </a:rPr>
              <a:t>67</a:t>
            </a:r>
            <a:endParaRPr lang="en-US" sz="840" dirty="0"/>
          </a:p>
        </p:txBody>
      </p:sp>
      <p:sp>
        <p:nvSpPr>
          <p:cNvPr id="44" name="Text 42"/>
          <p:cNvSpPr/>
          <p:nvPr/>
        </p:nvSpPr>
        <p:spPr>
          <a:xfrm>
            <a:off x="828000" y="8604000"/>
            <a:ext cx="6120000" cy="180000"/>
          </a:xfrm>
          <a:prstGeom prst="rect">
            <a:avLst/>
          </a:prstGeom>
          <a:noFill/>
          <a:ln/>
        </p:spPr>
        <p:txBody>
          <a:bodyPr wrap="square" lIns="0" tIns="0" rIns="0" bIns="0" rtlCol="0" anchor="ctr"/>
          <a:lstStyle/>
          <a:p>
            <a:pPr indent="0" marL="0">
              <a:buNone/>
            </a:pPr>
            <a:r>
              <a:rPr lang="en-US" sz="800" dirty="0">
                <a:solidFill>
                  <a:srgbClr val="46606E"/>
                </a:solidFill>
                <a:latin typeface="Spectral" pitchFamily="34" charset="0"/>
                <a:ea typeface="Spectral" pitchFamily="34" charset="-122"/>
                <a:cs typeface="Spectral" pitchFamily="34" charset="-120"/>
              </a:rPr>
              <a:t>Le chiffre avant la page est le nombre de références au tarif.</a:t>
            </a:r>
            <a:endParaRPr lang="en-US" sz="800" dirty="0"/>
          </a:p>
        </p:txBody>
      </p:sp>
      <p:sp>
        <p:nvSpPr>
          <p:cNvPr id="45" name="Text 43"/>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72</a:t>
            </a:r>
            <a:endParaRPr lang="en-US" sz="750" dirty="0"/>
          </a:p>
        </p:txBody>
      </p:sp>
      <p:sp>
        <p:nvSpPr>
          <p:cNvPr id="46" name="Text 44"/>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612000" y="540000"/>
            <a:ext cx="6120000" cy="324000"/>
          </a:xfrm>
          <a:prstGeom prst="rect">
            <a:avLst/>
          </a:prstGeom>
          <a:noFill/>
          <a:ln/>
        </p:spPr>
        <p:txBody>
          <a:bodyPr wrap="square" lIns="0" tIns="0" rIns="0" bIns="0" rtlCol="0" anchor="b"/>
          <a:lstStyle/>
          <a:p>
            <a:pPr indent="0" marL="0">
              <a:buNone/>
            </a:pPr>
            <a:r>
              <a:rPr lang="en-US" sz="2000" dirty="0">
                <a:solidFill>
                  <a:srgbClr val="67067C"/>
                </a:solidFill>
                <a:latin typeface="Young Serif" pitchFamily="34" charset="0"/>
                <a:ea typeface="Young Serif" pitchFamily="34" charset="-122"/>
                <a:cs typeface="Young Serif" pitchFamily="34" charset="-120"/>
              </a:rPr>
              <a:t>Vos notes</a:t>
            </a:r>
            <a:endParaRPr lang="en-US" sz="2000" dirty="0"/>
          </a:p>
        </p:txBody>
      </p:sp>
      <p:sp>
        <p:nvSpPr>
          <p:cNvPr id="3" name="Text 1"/>
          <p:cNvSpPr/>
          <p:nvPr/>
        </p:nvSpPr>
        <p:spPr>
          <a:xfrm>
            <a:off x="612000" y="882000"/>
            <a:ext cx="6120000" cy="180000"/>
          </a:xfrm>
          <a:prstGeom prst="rect">
            <a:avLst/>
          </a:prstGeom>
          <a:noFill/>
          <a:ln/>
        </p:spPr>
        <p:txBody>
          <a:bodyPr wrap="square" lIns="0" tIns="0" rIns="0" bIns="0" rtlCol="0" anchor="ctr"/>
          <a:lstStyle/>
          <a:p>
            <a:pPr indent="0" marL="0">
              <a:buNone/>
            </a:pPr>
            <a:r>
              <a:rPr lang="en-US" sz="750" b="1" spc="30" kern="0" dirty="0">
                <a:solidFill>
                  <a:srgbClr val="A8515F"/>
                </a:solidFill>
                <a:latin typeface="IBM Plex Sans" pitchFamily="34" charset="0"/>
                <a:ea typeface="IBM Plex Sans" pitchFamily="34" charset="-122"/>
                <a:cs typeface="IBM Plex Sans" pitchFamily="34" charset="-120"/>
              </a:rPr>
              <a:t>QUANTITÉS, PALIERS, DATES DE LIVRAISON</a:t>
            </a:r>
            <a:endParaRPr lang="en-US" sz="750" dirty="0"/>
          </a:p>
        </p:txBody>
      </p:sp>
      <p:sp>
        <p:nvSpPr>
          <p:cNvPr id="4" name="Shape 2"/>
          <p:cNvSpPr/>
          <p:nvPr/>
        </p:nvSpPr>
        <p:spPr>
          <a:xfrm>
            <a:off x="612000" y="1440000"/>
            <a:ext cx="6120000" cy="0"/>
          </a:xfrm>
          <a:prstGeom prst="line">
            <a:avLst/>
          </a:prstGeom>
          <a:noFill/>
          <a:ln w="7620">
            <a:solidFill>
              <a:srgbClr val="B4C2C9"/>
            </a:solidFill>
            <a:prstDash val="solid"/>
          </a:ln>
        </p:spPr>
      </p:sp>
      <p:sp>
        <p:nvSpPr>
          <p:cNvPr id="5" name="Shape 3"/>
          <p:cNvSpPr/>
          <p:nvPr/>
        </p:nvSpPr>
        <p:spPr>
          <a:xfrm>
            <a:off x="612000" y="1746000"/>
            <a:ext cx="6120000" cy="0"/>
          </a:xfrm>
          <a:prstGeom prst="line">
            <a:avLst/>
          </a:prstGeom>
          <a:noFill/>
          <a:ln w="7620">
            <a:solidFill>
              <a:srgbClr val="B4C2C9"/>
            </a:solidFill>
            <a:prstDash val="solid"/>
          </a:ln>
        </p:spPr>
      </p:sp>
      <p:sp>
        <p:nvSpPr>
          <p:cNvPr id="6" name="Shape 4"/>
          <p:cNvSpPr/>
          <p:nvPr/>
        </p:nvSpPr>
        <p:spPr>
          <a:xfrm>
            <a:off x="612000" y="2052000"/>
            <a:ext cx="6120000" cy="0"/>
          </a:xfrm>
          <a:prstGeom prst="line">
            <a:avLst/>
          </a:prstGeom>
          <a:noFill/>
          <a:ln w="7620">
            <a:solidFill>
              <a:srgbClr val="B4C2C9"/>
            </a:solidFill>
            <a:prstDash val="solid"/>
          </a:ln>
        </p:spPr>
      </p:sp>
      <p:sp>
        <p:nvSpPr>
          <p:cNvPr id="7" name="Shape 5"/>
          <p:cNvSpPr/>
          <p:nvPr/>
        </p:nvSpPr>
        <p:spPr>
          <a:xfrm>
            <a:off x="612000" y="2358000"/>
            <a:ext cx="6120000" cy="0"/>
          </a:xfrm>
          <a:prstGeom prst="line">
            <a:avLst/>
          </a:prstGeom>
          <a:noFill/>
          <a:ln w="7620">
            <a:solidFill>
              <a:srgbClr val="B4C2C9"/>
            </a:solidFill>
            <a:prstDash val="solid"/>
          </a:ln>
        </p:spPr>
      </p:sp>
      <p:sp>
        <p:nvSpPr>
          <p:cNvPr id="8" name="Shape 6"/>
          <p:cNvSpPr/>
          <p:nvPr/>
        </p:nvSpPr>
        <p:spPr>
          <a:xfrm>
            <a:off x="612000" y="2664000"/>
            <a:ext cx="6120000" cy="0"/>
          </a:xfrm>
          <a:prstGeom prst="line">
            <a:avLst/>
          </a:prstGeom>
          <a:noFill/>
          <a:ln w="7620">
            <a:solidFill>
              <a:srgbClr val="B4C2C9"/>
            </a:solidFill>
            <a:prstDash val="solid"/>
          </a:ln>
        </p:spPr>
      </p:sp>
      <p:sp>
        <p:nvSpPr>
          <p:cNvPr id="9" name="Shape 7"/>
          <p:cNvSpPr/>
          <p:nvPr/>
        </p:nvSpPr>
        <p:spPr>
          <a:xfrm>
            <a:off x="612000" y="2970000"/>
            <a:ext cx="6120000" cy="0"/>
          </a:xfrm>
          <a:prstGeom prst="line">
            <a:avLst/>
          </a:prstGeom>
          <a:noFill/>
          <a:ln w="7620">
            <a:solidFill>
              <a:srgbClr val="B4C2C9"/>
            </a:solidFill>
            <a:prstDash val="solid"/>
          </a:ln>
        </p:spPr>
      </p:sp>
      <p:sp>
        <p:nvSpPr>
          <p:cNvPr id="10" name="Shape 8"/>
          <p:cNvSpPr/>
          <p:nvPr/>
        </p:nvSpPr>
        <p:spPr>
          <a:xfrm>
            <a:off x="612000" y="3276000"/>
            <a:ext cx="6120000" cy="0"/>
          </a:xfrm>
          <a:prstGeom prst="line">
            <a:avLst/>
          </a:prstGeom>
          <a:noFill/>
          <a:ln w="7620">
            <a:solidFill>
              <a:srgbClr val="B4C2C9"/>
            </a:solidFill>
            <a:prstDash val="solid"/>
          </a:ln>
        </p:spPr>
      </p:sp>
      <p:sp>
        <p:nvSpPr>
          <p:cNvPr id="11" name="Shape 9"/>
          <p:cNvSpPr/>
          <p:nvPr/>
        </p:nvSpPr>
        <p:spPr>
          <a:xfrm>
            <a:off x="612000" y="3582000"/>
            <a:ext cx="6120000" cy="0"/>
          </a:xfrm>
          <a:prstGeom prst="line">
            <a:avLst/>
          </a:prstGeom>
          <a:noFill/>
          <a:ln w="7620">
            <a:solidFill>
              <a:srgbClr val="B4C2C9"/>
            </a:solidFill>
            <a:prstDash val="solid"/>
          </a:ln>
        </p:spPr>
      </p:sp>
      <p:sp>
        <p:nvSpPr>
          <p:cNvPr id="12" name="Shape 10"/>
          <p:cNvSpPr/>
          <p:nvPr/>
        </p:nvSpPr>
        <p:spPr>
          <a:xfrm>
            <a:off x="612000" y="3888000"/>
            <a:ext cx="6120000" cy="0"/>
          </a:xfrm>
          <a:prstGeom prst="line">
            <a:avLst/>
          </a:prstGeom>
          <a:noFill/>
          <a:ln w="7620">
            <a:solidFill>
              <a:srgbClr val="B4C2C9"/>
            </a:solidFill>
            <a:prstDash val="solid"/>
          </a:ln>
        </p:spPr>
      </p:sp>
      <p:sp>
        <p:nvSpPr>
          <p:cNvPr id="13" name="Shape 11"/>
          <p:cNvSpPr/>
          <p:nvPr/>
        </p:nvSpPr>
        <p:spPr>
          <a:xfrm>
            <a:off x="612000" y="4194000"/>
            <a:ext cx="6120000" cy="0"/>
          </a:xfrm>
          <a:prstGeom prst="line">
            <a:avLst/>
          </a:prstGeom>
          <a:noFill/>
          <a:ln w="7620">
            <a:solidFill>
              <a:srgbClr val="B4C2C9"/>
            </a:solidFill>
            <a:prstDash val="solid"/>
          </a:ln>
        </p:spPr>
      </p:sp>
      <p:sp>
        <p:nvSpPr>
          <p:cNvPr id="14" name="Shape 12"/>
          <p:cNvSpPr/>
          <p:nvPr/>
        </p:nvSpPr>
        <p:spPr>
          <a:xfrm>
            <a:off x="612000" y="4500000"/>
            <a:ext cx="6120000" cy="0"/>
          </a:xfrm>
          <a:prstGeom prst="line">
            <a:avLst/>
          </a:prstGeom>
          <a:noFill/>
          <a:ln w="7620">
            <a:solidFill>
              <a:srgbClr val="B4C2C9"/>
            </a:solidFill>
            <a:prstDash val="solid"/>
          </a:ln>
        </p:spPr>
      </p:sp>
      <p:sp>
        <p:nvSpPr>
          <p:cNvPr id="15" name="Shape 13"/>
          <p:cNvSpPr/>
          <p:nvPr/>
        </p:nvSpPr>
        <p:spPr>
          <a:xfrm>
            <a:off x="612000" y="4806000"/>
            <a:ext cx="6120000" cy="0"/>
          </a:xfrm>
          <a:prstGeom prst="line">
            <a:avLst/>
          </a:prstGeom>
          <a:noFill/>
          <a:ln w="7620">
            <a:solidFill>
              <a:srgbClr val="B4C2C9"/>
            </a:solidFill>
            <a:prstDash val="solid"/>
          </a:ln>
        </p:spPr>
      </p:sp>
      <p:sp>
        <p:nvSpPr>
          <p:cNvPr id="16" name="Shape 14"/>
          <p:cNvSpPr/>
          <p:nvPr/>
        </p:nvSpPr>
        <p:spPr>
          <a:xfrm>
            <a:off x="612000" y="5112000"/>
            <a:ext cx="6120000" cy="0"/>
          </a:xfrm>
          <a:prstGeom prst="line">
            <a:avLst/>
          </a:prstGeom>
          <a:noFill/>
          <a:ln w="7620">
            <a:solidFill>
              <a:srgbClr val="B4C2C9"/>
            </a:solidFill>
            <a:prstDash val="solid"/>
          </a:ln>
        </p:spPr>
      </p:sp>
      <p:sp>
        <p:nvSpPr>
          <p:cNvPr id="17" name="Shape 15"/>
          <p:cNvSpPr/>
          <p:nvPr/>
        </p:nvSpPr>
        <p:spPr>
          <a:xfrm>
            <a:off x="612000" y="5418000"/>
            <a:ext cx="6120000" cy="0"/>
          </a:xfrm>
          <a:prstGeom prst="line">
            <a:avLst/>
          </a:prstGeom>
          <a:noFill/>
          <a:ln w="7620">
            <a:solidFill>
              <a:srgbClr val="B4C2C9"/>
            </a:solidFill>
            <a:prstDash val="solid"/>
          </a:ln>
        </p:spPr>
      </p:sp>
      <p:sp>
        <p:nvSpPr>
          <p:cNvPr id="18" name="Shape 16"/>
          <p:cNvSpPr/>
          <p:nvPr/>
        </p:nvSpPr>
        <p:spPr>
          <a:xfrm>
            <a:off x="612000" y="5724000"/>
            <a:ext cx="6120000" cy="0"/>
          </a:xfrm>
          <a:prstGeom prst="line">
            <a:avLst/>
          </a:prstGeom>
          <a:noFill/>
          <a:ln w="7620">
            <a:solidFill>
              <a:srgbClr val="B4C2C9"/>
            </a:solidFill>
            <a:prstDash val="solid"/>
          </a:ln>
        </p:spPr>
      </p:sp>
      <p:sp>
        <p:nvSpPr>
          <p:cNvPr id="19" name="Shape 17"/>
          <p:cNvSpPr/>
          <p:nvPr/>
        </p:nvSpPr>
        <p:spPr>
          <a:xfrm>
            <a:off x="612000" y="6030000"/>
            <a:ext cx="6120000" cy="0"/>
          </a:xfrm>
          <a:prstGeom prst="line">
            <a:avLst/>
          </a:prstGeom>
          <a:noFill/>
          <a:ln w="7620">
            <a:solidFill>
              <a:srgbClr val="B4C2C9"/>
            </a:solidFill>
            <a:prstDash val="solid"/>
          </a:ln>
        </p:spPr>
      </p:sp>
      <p:sp>
        <p:nvSpPr>
          <p:cNvPr id="20" name="Shape 18"/>
          <p:cNvSpPr/>
          <p:nvPr/>
        </p:nvSpPr>
        <p:spPr>
          <a:xfrm>
            <a:off x="612000" y="6336000"/>
            <a:ext cx="6120000" cy="0"/>
          </a:xfrm>
          <a:prstGeom prst="line">
            <a:avLst/>
          </a:prstGeom>
          <a:noFill/>
          <a:ln w="7620">
            <a:solidFill>
              <a:srgbClr val="B4C2C9"/>
            </a:solidFill>
            <a:prstDash val="solid"/>
          </a:ln>
        </p:spPr>
      </p:sp>
      <p:sp>
        <p:nvSpPr>
          <p:cNvPr id="21" name="Shape 19"/>
          <p:cNvSpPr/>
          <p:nvPr/>
        </p:nvSpPr>
        <p:spPr>
          <a:xfrm>
            <a:off x="612000" y="6642000"/>
            <a:ext cx="6120000" cy="0"/>
          </a:xfrm>
          <a:prstGeom prst="line">
            <a:avLst/>
          </a:prstGeom>
          <a:noFill/>
          <a:ln w="7620">
            <a:solidFill>
              <a:srgbClr val="B4C2C9"/>
            </a:solidFill>
            <a:prstDash val="solid"/>
          </a:ln>
        </p:spPr>
      </p:sp>
      <p:sp>
        <p:nvSpPr>
          <p:cNvPr id="22" name="Shape 20"/>
          <p:cNvSpPr/>
          <p:nvPr/>
        </p:nvSpPr>
        <p:spPr>
          <a:xfrm>
            <a:off x="612000" y="6948000"/>
            <a:ext cx="6120000" cy="0"/>
          </a:xfrm>
          <a:prstGeom prst="line">
            <a:avLst/>
          </a:prstGeom>
          <a:noFill/>
          <a:ln w="7620">
            <a:solidFill>
              <a:srgbClr val="B4C2C9"/>
            </a:solidFill>
            <a:prstDash val="solid"/>
          </a:ln>
        </p:spPr>
      </p:sp>
      <p:sp>
        <p:nvSpPr>
          <p:cNvPr id="23" name="Shape 21"/>
          <p:cNvSpPr/>
          <p:nvPr/>
        </p:nvSpPr>
        <p:spPr>
          <a:xfrm>
            <a:off x="612000" y="7254000"/>
            <a:ext cx="6120000" cy="0"/>
          </a:xfrm>
          <a:prstGeom prst="line">
            <a:avLst/>
          </a:prstGeom>
          <a:noFill/>
          <a:ln w="7620">
            <a:solidFill>
              <a:srgbClr val="B4C2C9"/>
            </a:solidFill>
            <a:prstDash val="solid"/>
          </a:ln>
        </p:spPr>
      </p:sp>
      <p:sp>
        <p:nvSpPr>
          <p:cNvPr id="24" name="Shape 22"/>
          <p:cNvSpPr/>
          <p:nvPr/>
        </p:nvSpPr>
        <p:spPr>
          <a:xfrm>
            <a:off x="612000" y="7560000"/>
            <a:ext cx="6120000" cy="0"/>
          </a:xfrm>
          <a:prstGeom prst="line">
            <a:avLst/>
          </a:prstGeom>
          <a:noFill/>
          <a:ln w="7620">
            <a:solidFill>
              <a:srgbClr val="B4C2C9"/>
            </a:solidFill>
            <a:prstDash val="solid"/>
          </a:ln>
        </p:spPr>
      </p:sp>
      <p:sp>
        <p:nvSpPr>
          <p:cNvPr id="25" name="Shape 23"/>
          <p:cNvSpPr/>
          <p:nvPr/>
        </p:nvSpPr>
        <p:spPr>
          <a:xfrm>
            <a:off x="612000" y="7866000"/>
            <a:ext cx="6120000" cy="0"/>
          </a:xfrm>
          <a:prstGeom prst="line">
            <a:avLst/>
          </a:prstGeom>
          <a:noFill/>
          <a:ln w="7620">
            <a:solidFill>
              <a:srgbClr val="B4C2C9"/>
            </a:solidFill>
            <a:prstDash val="solid"/>
          </a:ln>
        </p:spPr>
      </p:sp>
      <p:sp>
        <p:nvSpPr>
          <p:cNvPr id="26" name="Shape 24"/>
          <p:cNvSpPr/>
          <p:nvPr/>
        </p:nvSpPr>
        <p:spPr>
          <a:xfrm>
            <a:off x="612000" y="8172000"/>
            <a:ext cx="6120000" cy="0"/>
          </a:xfrm>
          <a:prstGeom prst="line">
            <a:avLst/>
          </a:prstGeom>
          <a:noFill/>
          <a:ln w="7620">
            <a:solidFill>
              <a:srgbClr val="B4C2C9"/>
            </a:solidFill>
            <a:prstDash val="solid"/>
          </a:ln>
        </p:spPr>
      </p:sp>
      <p:sp>
        <p:nvSpPr>
          <p:cNvPr id="27" name="Text 25"/>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73</a:t>
            </a:r>
            <a:endParaRPr lang="en-US" sz="750" dirty="0"/>
          </a:p>
        </p:txBody>
      </p:sp>
      <p:sp>
        <p:nvSpPr>
          <p:cNvPr id="28" name="Text 26"/>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828000" y="540000"/>
            <a:ext cx="6120000" cy="324000"/>
          </a:xfrm>
          <a:prstGeom prst="rect">
            <a:avLst/>
          </a:prstGeom>
          <a:noFill/>
          <a:ln/>
        </p:spPr>
        <p:txBody>
          <a:bodyPr wrap="square" lIns="0" tIns="0" rIns="0" bIns="0" rtlCol="0" anchor="b"/>
          <a:lstStyle/>
          <a:p>
            <a:pPr indent="0" marL="0">
              <a:buNone/>
            </a:pPr>
            <a:r>
              <a:rPr lang="en-US" sz="2000" dirty="0">
                <a:solidFill>
                  <a:srgbClr val="67067C"/>
                </a:solidFill>
                <a:latin typeface="Young Serif" pitchFamily="34" charset="0"/>
                <a:ea typeface="Young Serif" pitchFamily="34" charset="-122"/>
                <a:cs typeface="Young Serif" pitchFamily="34" charset="-120"/>
              </a:rPr>
              <a:t>Vos notes</a:t>
            </a:r>
            <a:endParaRPr lang="en-US" sz="2000" dirty="0"/>
          </a:p>
        </p:txBody>
      </p:sp>
      <p:sp>
        <p:nvSpPr>
          <p:cNvPr id="3" name="Text 1"/>
          <p:cNvSpPr/>
          <p:nvPr/>
        </p:nvSpPr>
        <p:spPr>
          <a:xfrm>
            <a:off x="828000" y="882000"/>
            <a:ext cx="6120000" cy="180000"/>
          </a:xfrm>
          <a:prstGeom prst="rect">
            <a:avLst/>
          </a:prstGeom>
          <a:noFill/>
          <a:ln/>
        </p:spPr>
        <p:txBody>
          <a:bodyPr wrap="square" lIns="0" tIns="0" rIns="0" bIns="0" rtlCol="0" anchor="ctr"/>
          <a:lstStyle/>
          <a:p>
            <a:pPr indent="0" marL="0">
              <a:buNone/>
            </a:pPr>
            <a:r>
              <a:rPr lang="en-US" sz="750" b="1" spc="30" kern="0" dirty="0">
                <a:solidFill>
                  <a:srgbClr val="A8515F"/>
                </a:solidFill>
                <a:latin typeface="IBM Plex Sans" pitchFamily="34" charset="0"/>
                <a:ea typeface="IBM Plex Sans" pitchFamily="34" charset="-122"/>
                <a:cs typeface="IBM Plex Sans" pitchFamily="34" charset="-120"/>
              </a:rPr>
              <a:t>QUANTITÉS, PALIERS, DATES DE LIVRAISON</a:t>
            </a:r>
            <a:endParaRPr lang="en-US" sz="750" dirty="0"/>
          </a:p>
        </p:txBody>
      </p:sp>
      <p:sp>
        <p:nvSpPr>
          <p:cNvPr id="4" name="Shape 2"/>
          <p:cNvSpPr/>
          <p:nvPr/>
        </p:nvSpPr>
        <p:spPr>
          <a:xfrm>
            <a:off x="828000" y="1440000"/>
            <a:ext cx="6120000" cy="0"/>
          </a:xfrm>
          <a:prstGeom prst="line">
            <a:avLst/>
          </a:prstGeom>
          <a:noFill/>
          <a:ln w="7620">
            <a:solidFill>
              <a:srgbClr val="B4C2C9"/>
            </a:solidFill>
            <a:prstDash val="solid"/>
          </a:ln>
        </p:spPr>
      </p:sp>
      <p:sp>
        <p:nvSpPr>
          <p:cNvPr id="5" name="Shape 3"/>
          <p:cNvSpPr/>
          <p:nvPr/>
        </p:nvSpPr>
        <p:spPr>
          <a:xfrm>
            <a:off x="828000" y="1746000"/>
            <a:ext cx="6120000" cy="0"/>
          </a:xfrm>
          <a:prstGeom prst="line">
            <a:avLst/>
          </a:prstGeom>
          <a:noFill/>
          <a:ln w="7620">
            <a:solidFill>
              <a:srgbClr val="B4C2C9"/>
            </a:solidFill>
            <a:prstDash val="solid"/>
          </a:ln>
        </p:spPr>
      </p:sp>
      <p:sp>
        <p:nvSpPr>
          <p:cNvPr id="6" name="Shape 4"/>
          <p:cNvSpPr/>
          <p:nvPr/>
        </p:nvSpPr>
        <p:spPr>
          <a:xfrm>
            <a:off x="828000" y="2052000"/>
            <a:ext cx="6120000" cy="0"/>
          </a:xfrm>
          <a:prstGeom prst="line">
            <a:avLst/>
          </a:prstGeom>
          <a:noFill/>
          <a:ln w="7620">
            <a:solidFill>
              <a:srgbClr val="B4C2C9"/>
            </a:solidFill>
            <a:prstDash val="solid"/>
          </a:ln>
        </p:spPr>
      </p:sp>
      <p:sp>
        <p:nvSpPr>
          <p:cNvPr id="7" name="Shape 5"/>
          <p:cNvSpPr/>
          <p:nvPr/>
        </p:nvSpPr>
        <p:spPr>
          <a:xfrm>
            <a:off x="828000" y="2358000"/>
            <a:ext cx="6120000" cy="0"/>
          </a:xfrm>
          <a:prstGeom prst="line">
            <a:avLst/>
          </a:prstGeom>
          <a:noFill/>
          <a:ln w="7620">
            <a:solidFill>
              <a:srgbClr val="B4C2C9"/>
            </a:solidFill>
            <a:prstDash val="solid"/>
          </a:ln>
        </p:spPr>
      </p:sp>
      <p:sp>
        <p:nvSpPr>
          <p:cNvPr id="8" name="Shape 6"/>
          <p:cNvSpPr/>
          <p:nvPr/>
        </p:nvSpPr>
        <p:spPr>
          <a:xfrm>
            <a:off x="828000" y="2664000"/>
            <a:ext cx="6120000" cy="0"/>
          </a:xfrm>
          <a:prstGeom prst="line">
            <a:avLst/>
          </a:prstGeom>
          <a:noFill/>
          <a:ln w="7620">
            <a:solidFill>
              <a:srgbClr val="B4C2C9"/>
            </a:solidFill>
            <a:prstDash val="solid"/>
          </a:ln>
        </p:spPr>
      </p:sp>
      <p:sp>
        <p:nvSpPr>
          <p:cNvPr id="9" name="Shape 7"/>
          <p:cNvSpPr/>
          <p:nvPr/>
        </p:nvSpPr>
        <p:spPr>
          <a:xfrm>
            <a:off x="828000" y="2970000"/>
            <a:ext cx="6120000" cy="0"/>
          </a:xfrm>
          <a:prstGeom prst="line">
            <a:avLst/>
          </a:prstGeom>
          <a:noFill/>
          <a:ln w="7620">
            <a:solidFill>
              <a:srgbClr val="B4C2C9"/>
            </a:solidFill>
            <a:prstDash val="solid"/>
          </a:ln>
        </p:spPr>
      </p:sp>
      <p:sp>
        <p:nvSpPr>
          <p:cNvPr id="10" name="Shape 8"/>
          <p:cNvSpPr/>
          <p:nvPr/>
        </p:nvSpPr>
        <p:spPr>
          <a:xfrm>
            <a:off x="828000" y="3276000"/>
            <a:ext cx="6120000" cy="0"/>
          </a:xfrm>
          <a:prstGeom prst="line">
            <a:avLst/>
          </a:prstGeom>
          <a:noFill/>
          <a:ln w="7620">
            <a:solidFill>
              <a:srgbClr val="B4C2C9"/>
            </a:solidFill>
            <a:prstDash val="solid"/>
          </a:ln>
        </p:spPr>
      </p:sp>
      <p:sp>
        <p:nvSpPr>
          <p:cNvPr id="11" name="Shape 9"/>
          <p:cNvSpPr/>
          <p:nvPr/>
        </p:nvSpPr>
        <p:spPr>
          <a:xfrm>
            <a:off x="828000" y="3582000"/>
            <a:ext cx="6120000" cy="0"/>
          </a:xfrm>
          <a:prstGeom prst="line">
            <a:avLst/>
          </a:prstGeom>
          <a:noFill/>
          <a:ln w="7620">
            <a:solidFill>
              <a:srgbClr val="B4C2C9"/>
            </a:solidFill>
            <a:prstDash val="solid"/>
          </a:ln>
        </p:spPr>
      </p:sp>
      <p:sp>
        <p:nvSpPr>
          <p:cNvPr id="12" name="Shape 10"/>
          <p:cNvSpPr/>
          <p:nvPr/>
        </p:nvSpPr>
        <p:spPr>
          <a:xfrm>
            <a:off x="828000" y="3888000"/>
            <a:ext cx="6120000" cy="0"/>
          </a:xfrm>
          <a:prstGeom prst="line">
            <a:avLst/>
          </a:prstGeom>
          <a:noFill/>
          <a:ln w="7620">
            <a:solidFill>
              <a:srgbClr val="B4C2C9"/>
            </a:solidFill>
            <a:prstDash val="solid"/>
          </a:ln>
        </p:spPr>
      </p:sp>
      <p:sp>
        <p:nvSpPr>
          <p:cNvPr id="13" name="Shape 11"/>
          <p:cNvSpPr/>
          <p:nvPr/>
        </p:nvSpPr>
        <p:spPr>
          <a:xfrm>
            <a:off x="828000" y="4194000"/>
            <a:ext cx="6120000" cy="0"/>
          </a:xfrm>
          <a:prstGeom prst="line">
            <a:avLst/>
          </a:prstGeom>
          <a:noFill/>
          <a:ln w="7620">
            <a:solidFill>
              <a:srgbClr val="B4C2C9"/>
            </a:solidFill>
            <a:prstDash val="solid"/>
          </a:ln>
        </p:spPr>
      </p:sp>
      <p:sp>
        <p:nvSpPr>
          <p:cNvPr id="14" name="Shape 12"/>
          <p:cNvSpPr/>
          <p:nvPr/>
        </p:nvSpPr>
        <p:spPr>
          <a:xfrm>
            <a:off x="828000" y="4500000"/>
            <a:ext cx="6120000" cy="0"/>
          </a:xfrm>
          <a:prstGeom prst="line">
            <a:avLst/>
          </a:prstGeom>
          <a:noFill/>
          <a:ln w="7620">
            <a:solidFill>
              <a:srgbClr val="B4C2C9"/>
            </a:solidFill>
            <a:prstDash val="solid"/>
          </a:ln>
        </p:spPr>
      </p:sp>
      <p:sp>
        <p:nvSpPr>
          <p:cNvPr id="15" name="Shape 13"/>
          <p:cNvSpPr/>
          <p:nvPr/>
        </p:nvSpPr>
        <p:spPr>
          <a:xfrm>
            <a:off x="828000" y="4806000"/>
            <a:ext cx="6120000" cy="0"/>
          </a:xfrm>
          <a:prstGeom prst="line">
            <a:avLst/>
          </a:prstGeom>
          <a:noFill/>
          <a:ln w="7620">
            <a:solidFill>
              <a:srgbClr val="B4C2C9"/>
            </a:solidFill>
            <a:prstDash val="solid"/>
          </a:ln>
        </p:spPr>
      </p:sp>
      <p:sp>
        <p:nvSpPr>
          <p:cNvPr id="16" name="Shape 14"/>
          <p:cNvSpPr/>
          <p:nvPr/>
        </p:nvSpPr>
        <p:spPr>
          <a:xfrm>
            <a:off x="828000" y="5112000"/>
            <a:ext cx="6120000" cy="0"/>
          </a:xfrm>
          <a:prstGeom prst="line">
            <a:avLst/>
          </a:prstGeom>
          <a:noFill/>
          <a:ln w="7620">
            <a:solidFill>
              <a:srgbClr val="B4C2C9"/>
            </a:solidFill>
            <a:prstDash val="solid"/>
          </a:ln>
        </p:spPr>
      </p:sp>
      <p:sp>
        <p:nvSpPr>
          <p:cNvPr id="17" name="Shape 15"/>
          <p:cNvSpPr/>
          <p:nvPr/>
        </p:nvSpPr>
        <p:spPr>
          <a:xfrm>
            <a:off x="828000" y="5418000"/>
            <a:ext cx="6120000" cy="0"/>
          </a:xfrm>
          <a:prstGeom prst="line">
            <a:avLst/>
          </a:prstGeom>
          <a:noFill/>
          <a:ln w="7620">
            <a:solidFill>
              <a:srgbClr val="B4C2C9"/>
            </a:solidFill>
            <a:prstDash val="solid"/>
          </a:ln>
        </p:spPr>
      </p:sp>
      <p:sp>
        <p:nvSpPr>
          <p:cNvPr id="18" name="Shape 16"/>
          <p:cNvSpPr/>
          <p:nvPr/>
        </p:nvSpPr>
        <p:spPr>
          <a:xfrm>
            <a:off x="828000" y="5724000"/>
            <a:ext cx="6120000" cy="0"/>
          </a:xfrm>
          <a:prstGeom prst="line">
            <a:avLst/>
          </a:prstGeom>
          <a:noFill/>
          <a:ln w="7620">
            <a:solidFill>
              <a:srgbClr val="B4C2C9"/>
            </a:solidFill>
            <a:prstDash val="solid"/>
          </a:ln>
        </p:spPr>
      </p:sp>
      <p:sp>
        <p:nvSpPr>
          <p:cNvPr id="19" name="Shape 17"/>
          <p:cNvSpPr/>
          <p:nvPr/>
        </p:nvSpPr>
        <p:spPr>
          <a:xfrm>
            <a:off x="828000" y="6030000"/>
            <a:ext cx="6120000" cy="0"/>
          </a:xfrm>
          <a:prstGeom prst="line">
            <a:avLst/>
          </a:prstGeom>
          <a:noFill/>
          <a:ln w="7620">
            <a:solidFill>
              <a:srgbClr val="B4C2C9"/>
            </a:solidFill>
            <a:prstDash val="solid"/>
          </a:ln>
        </p:spPr>
      </p:sp>
      <p:sp>
        <p:nvSpPr>
          <p:cNvPr id="20" name="Shape 18"/>
          <p:cNvSpPr/>
          <p:nvPr/>
        </p:nvSpPr>
        <p:spPr>
          <a:xfrm>
            <a:off x="828000" y="6336000"/>
            <a:ext cx="6120000" cy="0"/>
          </a:xfrm>
          <a:prstGeom prst="line">
            <a:avLst/>
          </a:prstGeom>
          <a:noFill/>
          <a:ln w="7620">
            <a:solidFill>
              <a:srgbClr val="B4C2C9"/>
            </a:solidFill>
            <a:prstDash val="solid"/>
          </a:ln>
        </p:spPr>
      </p:sp>
      <p:sp>
        <p:nvSpPr>
          <p:cNvPr id="21" name="Shape 19"/>
          <p:cNvSpPr/>
          <p:nvPr/>
        </p:nvSpPr>
        <p:spPr>
          <a:xfrm>
            <a:off x="828000" y="6642000"/>
            <a:ext cx="6120000" cy="0"/>
          </a:xfrm>
          <a:prstGeom prst="line">
            <a:avLst/>
          </a:prstGeom>
          <a:noFill/>
          <a:ln w="7620">
            <a:solidFill>
              <a:srgbClr val="B4C2C9"/>
            </a:solidFill>
            <a:prstDash val="solid"/>
          </a:ln>
        </p:spPr>
      </p:sp>
      <p:sp>
        <p:nvSpPr>
          <p:cNvPr id="22" name="Shape 20"/>
          <p:cNvSpPr/>
          <p:nvPr/>
        </p:nvSpPr>
        <p:spPr>
          <a:xfrm>
            <a:off x="828000" y="6948000"/>
            <a:ext cx="6120000" cy="0"/>
          </a:xfrm>
          <a:prstGeom prst="line">
            <a:avLst/>
          </a:prstGeom>
          <a:noFill/>
          <a:ln w="7620">
            <a:solidFill>
              <a:srgbClr val="B4C2C9"/>
            </a:solidFill>
            <a:prstDash val="solid"/>
          </a:ln>
        </p:spPr>
      </p:sp>
      <p:sp>
        <p:nvSpPr>
          <p:cNvPr id="23" name="Shape 21"/>
          <p:cNvSpPr/>
          <p:nvPr/>
        </p:nvSpPr>
        <p:spPr>
          <a:xfrm>
            <a:off x="828000" y="7254000"/>
            <a:ext cx="6120000" cy="0"/>
          </a:xfrm>
          <a:prstGeom prst="line">
            <a:avLst/>
          </a:prstGeom>
          <a:noFill/>
          <a:ln w="7620">
            <a:solidFill>
              <a:srgbClr val="B4C2C9"/>
            </a:solidFill>
            <a:prstDash val="solid"/>
          </a:ln>
        </p:spPr>
      </p:sp>
      <p:sp>
        <p:nvSpPr>
          <p:cNvPr id="24" name="Shape 22"/>
          <p:cNvSpPr/>
          <p:nvPr/>
        </p:nvSpPr>
        <p:spPr>
          <a:xfrm>
            <a:off x="828000" y="7560000"/>
            <a:ext cx="6120000" cy="0"/>
          </a:xfrm>
          <a:prstGeom prst="line">
            <a:avLst/>
          </a:prstGeom>
          <a:noFill/>
          <a:ln w="7620">
            <a:solidFill>
              <a:srgbClr val="B4C2C9"/>
            </a:solidFill>
            <a:prstDash val="solid"/>
          </a:ln>
        </p:spPr>
      </p:sp>
      <p:sp>
        <p:nvSpPr>
          <p:cNvPr id="25" name="Shape 23"/>
          <p:cNvSpPr/>
          <p:nvPr/>
        </p:nvSpPr>
        <p:spPr>
          <a:xfrm>
            <a:off x="828000" y="7866000"/>
            <a:ext cx="6120000" cy="0"/>
          </a:xfrm>
          <a:prstGeom prst="line">
            <a:avLst/>
          </a:prstGeom>
          <a:noFill/>
          <a:ln w="7620">
            <a:solidFill>
              <a:srgbClr val="B4C2C9"/>
            </a:solidFill>
            <a:prstDash val="solid"/>
          </a:ln>
        </p:spPr>
      </p:sp>
      <p:sp>
        <p:nvSpPr>
          <p:cNvPr id="26" name="Shape 24"/>
          <p:cNvSpPr/>
          <p:nvPr/>
        </p:nvSpPr>
        <p:spPr>
          <a:xfrm>
            <a:off x="828000" y="8172000"/>
            <a:ext cx="6120000" cy="0"/>
          </a:xfrm>
          <a:prstGeom prst="line">
            <a:avLst/>
          </a:prstGeom>
          <a:noFill/>
          <a:ln w="7620">
            <a:solidFill>
              <a:srgbClr val="B4C2C9"/>
            </a:solidFill>
            <a:prstDash val="solid"/>
          </a:ln>
        </p:spPr>
      </p:sp>
      <p:sp>
        <p:nvSpPr>
          <p:cNvPr id="27" name="Text 25"/>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74</a:t>
            </a:r>
            <a:endParaRPr lang="en-US" sz="750" dirty="0"/>
          </a:p>
        </p:txBody>
      </p:sp>
      <p:sp>
        <p:nvSpPr>
          <p:cNvPr id="28" name="Text 26"/>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46606E"/>
        </a:solidFill>
      </p:bgPr>
    </p:bg>
    <p:spTree>
      <p:nvGrpSpPr>
        <p:cNvPr id="1" name=""/>
        <p:cNvGrpSpPr/>
        <p:nvPr/>
      </p:nvGrpSpPr>
      <p:grpSpPr>
        <a:xfrm>
          <a:off x="0" y="0"/>
          <a:ext cx="0" cy="0"/>
          <a:chOff x="0" y="0"/>
          <a:chExt cx="0" cy="0"/>
        </a:xfrm>
      </p:grpSpPr>
      <p:pic>
        <p:nvPicPr>
          <p:cNvPr id="2" name="Image 0" descr="/home/user/philippe1/build/deco/coupe-pleine.png">    </p:cNvPr>
          <p:cNvPicPr>
            <a:picLocks noChangeAspect="1"/>
          </p:cNvPicPr>
          <p:nvPr/>
        </p:nvPicPr>
        <p:blipFill>
          <a:blip r:embed="rId1"/>
          <a:stretch>
            <a:fillRect/>
          </a:stretch>
        </p:blipFill>
        <p:spPr>
          <a:xfrm>
            <a:off x="0" y="0"/>
            <a:ext cx="7560000" cy="9360000"/>
          </a:xfrm>
          <a:prstGeom prst="rect">
            <a:avLst/>
          </a:prstGeom>
        </p:spPr>
      </p:pic>
      <p:sp>
        <p:nvSpPr>
          <p:cNvPr id="3" name="Text 0"/>
          <p:cNvSpPr/>
          <p:nvPr/>
        </p:nvSpPr>
        <p:spPr>
          <a:xfrm>
            <a:off x="612000" y="6732000"/>
            <a:ext cx="4320000" cy="1512000"/>
          </a:xfrm>
          <a:prstGeom prst="rect">
            <a:avLst/>
          </a:prstGeom>
          <a:noFill/>
          <a:ln/>
        </p:spPr>
        <p:txBody>
          <a:bodyPr wrap="square" lIns="0" tIns="0" rIns="0" bIns="0" rtlCol="0" anchor="ctr"/>
          <a:lstStyle/>
          <a:p>
            <a:pPr indent="0" marL="0">
              <a:lnSpc>
                <a:spcPct val="112000"/>
              </a:lnSpc>
              <a:buNone/>
            </a:pPr>
            <a:r>
              <a:rPr lang="en-US" sz="2600" dirty="0">
                <a:solidFill>
                  <a:srgbClr val="FBF8F1"/>
                </a:solidFill>
                <a:latin typeface="Young Serif" pitchFamily="34" charset="0"/>
                <a:ea typeface="Young Serif" pitchFamily="34" charset="-122"/>
                <a:cs typeface="Young Serif" pitchFamily="34" charset="-120"/>
              </a:rPr>
              <a:t>Dix régions,</a:t>
            </a:r>
            <a:endParaRPr lang="en-US" sz="2600" dirty="0"/>
          </a:p>
          <a:p>
            <a:pPr indent="0" marL="0">
              <a:lnSpc>
                <a:spcPct val="112000"/>
              </a:lnSpc>
              <a:buNone/>
            </a:pPr>
            <a:r>
              <a:rPr lang="en-US" sz="2600" dirty="0">
                <a:solidFill>
                  <a:srgbClr val="FBF8F1"/>
                </a:solidFill>
                <a:latin typeface="Young Serif" pitchFamily="34" charset="0"/>
                <a:ea typeface="Young Serif" pitchFamily="34" charset="-122"/>
                <a:cs typeface="Young Serif" pitchFamily="34" charset="-120"/>
              </a:rPr>
              <a:t>dix sols,</a:t>
            </a:r>
            <a:endParaRPr lang="en-US" sz="2600" dirty="0"/>
          </a:p>
          <a:p>
            <a:pPr indent="0" marL="0">
              <a:lnSpc>
                <a:spcPct val="112000"/>
              </a:lnSpc>
              <a:buNone/>
            </a:pPr>
            <a:r>
              <a:rPr lang="en-US" sz="2600" dirty="0">
                <a:solidFill>
                  <a:srgbClr val="FBF8F1"/>
                </a:solidFill>
                <a:latin typeface="Young Serif" pitchFamily="34" charset="0"/>
                <a:ea typeface="Young Serif" pitchFamily="34" charset="-122"/>
                <a:cs typeface="Young Serif" pitchFamily="34" charset="-120"/>
              </a:rPr>
              <a:t>quarante domaines.</a:t>
            </a:r>
            <a:endParaRPr lang="en-US" sz="2600" dirty="0"/>
          </a:p>
        </p:txBody>
      </p:sp>
      <p:sp>
        <p:nvSpPr>
          <p:cNvPr id="4" name="Text 1"/>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75</a:t>
            </a:r>
            <a:endParaRPr lang="en-US" sz="750" dirty="0"/>
          </a:p>
        </p:txBody>
      </p:sp>
      <p:sp>
        <p:nvSpPr>
          <p:cNvPr id="5" name="Text 2"/>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2EADA"/>
        </a:solidFill>
      </p:bgPr>
    </p:bg>
    <p:spTree>
      <p:nvGrpSpPr>
        <p:cNvPr id="1" name=""/>
        <p:cNvGrpSpPr/>
        <p:nvPr/>
      </p:nvGrpSpPr>
      <p:grpSpPr>
        <a:xfrm>
          <a:off x="0" y="0"/>
          <a:ext cx="0" cy="0"/>
          <a:chOff x="0" y="0"/>
          <a:chExt cx="0" cy="0"/>
        </a:xfrm>
      </p:grpSpPr>
      <p:pic>
        <p:nvPicPr>
          <p:cNvPr id="2" name="Image 0" descr="/home/user/philippe1/src/images/logo-agence-scio-detoure.png">    </p:cNvPr>
          <p:cNvPicPr>
            <a:picLocks noChangeAspect="1"/>
          </p:cNvPicPr>
          <p:nvPr/>
        </p:nvPicPr>
        <p:blipFill>
          <a:blip r:embed="rId1"/>
          <a:stretch>
            <a:fillRect/>
          </a:stretch>
        </p:blipFill>
        <p:spPr>
          <a:xfrm>
            <a:off x="828000" y="540000"/>
            <a:ext cx="2520000" cy="614097"/>
          </a:xfrm>
          <a:prstGeom prst="rect">
            <a:avLst/>
          </a:prstGeom>
        </p:spPr>
      </p:pic>
      <p:sp>
        <p:nvSpPr>
          <p:cNvPr id="3" name="Text 0"/>
          <p:cNvSpPr/>
          <p:nvPr/>
        </p:nvSpPr>
        <p:spPr>
          <a:xfrm>
            <a:off x="828000" y="1548000"/>
            <a:ext cx="180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LAURENT</a:t>
            </a:r>
            <a:endParaRPr lang="en-US" sz="800" dirty="0"/>
          </a:p>
        </p:txBody>
      </p:sp>
      <p:sp>
        <p:nvSpPr>
          <p:cNvPr id="4" name="Text 1"/>
          <p:cNvSpPr/>
          <p:nvPr/>
        </p:nvSpPr>
        <p:spPr>
          <a:xfrm>
            <a:off x="828000" y="1728000"/>
            <a:ext cx="1800000" cy="324000"/>
          </a:xfrm>
          <a:prstGeom prst="rect">
            <a:avLst/>
          </a:prstGeom>
          <a:noFill/>
          <a:ln/>
        </p:spPr>
        <p:txBody>
          <a:bodyPr wrap="square" lIns="0" tIns="0" rIns="0" bIns="0" rtlCol="0" anchor="ctr"/>
          <a:lstStyle/>
          <a:p>
            <a:pPr indent="0" marL="0">
              <a:buNone/>
            </a:pPr>
            <a:r>
              <a:rPr lang="en-US" sz="1700" dirty="0">
                <a:solidFill>
                  <a:srgbClr val="67067C"/>
                </a:solidFill>
                <a:latin typeface="Young Serif" pitchFamily="34" charset="0"/>
                <a:ea typeface="Young Serif" pitchFamily="34" charset="-122"/>
                <a:cs typeface="Young Serif" pitchFamily="34" charset="-120"/>
              </a:rPr>
              <a:t>06 80 88 07 55</a:t>
            </a:r>
            <a:endParaRPr lang="en-US" sz="1700" dirty="0"/>
          </a:p>
        </p:txBody>
      </p:sp>
      <p:sp>
        <p:nvSpPr>
          <p:cNvPr id="5" name="Text 2"/>
          <p:cNvSpPr/>
          <p:nvPr/>
        </p:nvSpPr>
        <p:spPr>
          <a:xfrm>
            <a:off x="2808000" y="1548000"/>
            <a:ext cx="180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CARLINE</a:t>
            </a:r>
            <a:endParaRPr lang="en-US" sz="800" dirty="0"/>
          </a:p>
        </p:txBody>
      </p:sp>
      <p:sp>
        <p:nvSpPr>
          <p:cNvPr id="6" name="Text 3"/>
          <p:cNvSpPr/>
          <p:nvPr/>
        </p:nvSpPr>
        <p:spPr>
          <a:xfrm>
            <a:off x="2808000" y="1728000"/>
            <a:ext cx="1800000" cy="324000"/>
          </a:xfrm>
          <a:prstGeom prst="rect">
            <a:avLst/>
          </a:prstGeom>
          <a:noFill/>
          <a:ln/>
        </p:spPr>
        <p:txBody>
          <a:bodyPr wrap="square" lIns="0" tIns="0" rIns="0" bIns="0" rtlCol="0" anchor="ctr"/>
          <a:lstStyle/>
          <a:p>
            <a:pPr indent="0" marL="0">
              <a:buNone/>
            </a:pPr>
            <a:r>
              <a:rPr lang="en-US" sz="1700" dirty="0">
                <a:solidFill>
                  <a:srgbClr val="67067C"/>
                </a:solidFill>
                <a:latin typeface="Young Serif" pitchFamily="34" charset="0"/>
                <a:ea typeface="Young Serif" pitchFamily="34" charset="-122"/>
                <a:cs typeface="Young Serif" pitchFamily="34" charset="-120"/>
              </a:rPr>
              <a:t>06 49 19 16 75</a:t>
            </a:r>
            <a:endParaRPr lang="en-US" sz="1700" dirty="0"/>
          </a:p>
        </p:txBody>
      </p:sp>
      <p:sp>
        <p:nvSpPr>
          <p:cNvPr id="7" name="Text 4"/>
          <p:cNvSpPr/>
          <p:nvPr/>
        </p:nvSpPr>
        <p:spPr>
          <a:xfrm>
            <a:off x="828000" y="2196000"/>
            <a:ext cx="4680000" cy="504000"/>
          </a:xfrm>
          <a:prstGeom prst="rect">
            <a:avLst/>
          </a:prstGeom>
          <a:noFill/>
          <a:ln/>
        </p:spPr>
        <p:txBody>
          <a:bodyPr wrap="square" lIns="0" tIns="0" rIns="0" bIns="0" rtlCol="0" anchor="ctr"/>
          <a:lstStyle/>
          <a:p>
            <a:pPr indent="0" marL="0">
              <a:lnSpc>
                <a:spcPct val="150000"/>
              </a:lnSpc>
              <a:buNone/>
            </a:pPr>
            <a:r>
              <a:rPr lang="en-US" sz="1000" dirty="0">
                <a:solidFill>
                  <a:srgbClr val="46606E"/>
                </a:solidFill>
                <a:latin typeface="Spectral" pitchFamily="34" charset="0"/>
                <a:ea typeface="Spectral" pitchFamily="34" charset="-122"/>
                <a:cs typeface="Spectral" pitchFamily="34" charset="-120"/>
              </a:rPr>
              <a:t>71 avenue de la Libération — 44400 Rezé</a:t>
            </a:r>
            <a:endParaRPr lang="en-US" sz="1000" dirty="0"/>
          </a:p>
          <a:p>
            <a:pPr indent="0" marL="0">
              <a:lnSpc>
                <a:spcPct val="150000"/>
              </a:lnSpc>
              <a:buNone/>
            </a:pPr>
            <a:r>
              <a:rPr lang="en-US" sz="1000" dirty="0">
                <a:solidFill>
                  <a:srgbClr val="46606E"/>
                </a:solidFill>
                <a:latin typeface="Spectral" pitchFamily="34" charset="0"/>
                <a:ea typeface="Spectral" pitchFamily="34" charset="-122"/>
                <a:cs typeface="Spectral" pitchFamily="34" charset="-120"/>
              </a:rPr>
              <a:t>contact@agencescio.com · www.agencescio.com</a:t>
            </a:r>
            <a:endParaRPr lang="en-US" sz="1000" dirty="0"/>
          </a:p>
        </p:txBody>
      </p:sp>
      <p:pic>
        <p:nvPicPr>
          <p:cNvPr id="8" name="Image 1" descr="/home/user/philippe1/build/deco/coupe-nue.png">    </p:cNvPr>
          <p:cNvPicPr>
            <a:picLocks noChangeAspect="1"/>
          </p:cNvPicPr>
          <p:nvPr/>
        </p:nvPicPr>
        <p:blipFill>
          <a:blip r:embed="rId2"/>
          <a:stretch>
            <a:fillRect/>
          </a:stretch>
        </p:blipFill>
        <p:spPr>
          <a:xfrm>
            <a:off x="828000" y="2916000"/>
            <a:ext cx="6120000" cy="1460455"/>
          </a:xfrm>
          <a:prstGeom prst="rect">
            <a:avLst/>
          </a:prstGeom>
        </p:spPr>
      </p:pic>
      <p:sp>
        <p:nvSpPr>
          <p:cNvPr id="9" name="Shape 5"/>
          <p:cNvSpPr/>
          <p:nvPr/>
        </p:nvSpPr>
        <p:spPr>
          <a:xfrm>
            <a:off x="828000" y="4788000"/>
            <a:ext cx="6120000" cy="0"/>
          </a:xfrm>
          <a:prstGeom prst="line">
            <a:avLst/>
          </a:prstGeom>
          <a:noFill/>
          <a:ln w="10160">
            <a:solidFill>
              <a:srgbClr val="67067C"/>
            </a:solidFill>
            <a:prstDash val="solid"/>
          </a:ln>
        </p:spPr>
      </p:sp>
      <p:sp>
        <p:nvSpPr>
          <p:cNvPr id="10" name="Text 6"/>
          <p:cNvSpPr/>
          <p:nvPr/>
        </p:nvSpPr>
        <p:spPr>
          <a:xfrm>
            <a:off x="828000" y="4932000"/>
            <a:ext cx="1860000" cy="180000"/>
          </a:xfrm>
          <a:prstGeom prst="rect">
            <a:avLst/>
          </a:prstGeom>
          <a:noFill/>
          <a:ln/>
        </p:spPr>
        <p:txBody>
          <a:bodyPr wrap="square" lIns="0" tIns="0" rIns="0" bIns="0" rtlCol="0" anchor="ctr"/>
          <a:lstStyle/>
          <a:p>
            <a:pPr indent="0" marL="0">
              <a:buNone/>
            </a:pPr>
            <a:r>
              <a:rPr lang="en-US" sz="760" b="1" spc="30" kern="0" dirty="0">
                <a:solidFill>
                  <a:srgbClr val="A8515F"/>
                </a:solidFill>
                <a:latin typeface="IBM Plex Sans" pitchFamily="34" charset="0"/>
                <a:ea typeface="IBM Plex Sans" pitchFamily="34" charset="-122"/>
                <a:cs typeface="IBM Plex Sans" pitchFamily="34" charset="-120"/>
              </a:rPr>
              <a:t>LEXIQUE</a:t>
            </a:r>
            <a:endParaRPr lang="en-US" sz="760" dirty="0"/>
          </a:p>
        </p:txBody>
      </p:sp>
      <p:sp>
        <p:nvSpPr>
          <p:cNvPr id="11" name="Text 7"/>
          <p:cNvSpPr/>
          <p:nvPr/>
        </p:nvSpPr>
        <p:spPr>
          <a:xfrm>
            <a:off x="828000" y="5148000"/>
            <a:ext cx="1860000" cy="1728000"/>
          </a:xfrm>
          <a:prstGeom prst="rect">
            <a:avLst/>
          </a:prstGeom>
          <a:noFill/>
          <a:ln/>
        </p:spPr>
        <p:txBody>
          <a:bodyPr wrap="square" lIns="0" tIns="0" rIns="0" bIns="0" rtlCol="0" anchor="ctr"/>
          <a:lstStyle/>
          <a:p>
            <a:pPr indent="0" marL="0">
              <a:lnSpc>
                <a:spcPct val="130000"/>
              </a:lnSpc>
              <a:buNone/>
            </a:pPr>
            <a:r>
              <a:rPr lang="en-US" sz="780" dirty="0">
                <a:solidFill>
                  <a:srgbClr val="46606E"/>
                </a:solidFill>
                <a:latin typeface="Spectral" pitchFamily="34" charset="0"/>
                <a:ea typeface="Spectral" pitchFamily="34" charset="-122"/>
                <a:cs typeface="Spectral" pitchFamily="34" charset="-120"/>
              </a:rPr>
              <a:t>AOP — Appellation d’Origine Protégée</a:t>
            </a:r>
            <a:endParaRPr lang="en-US" sz="780" dirty="0"/>
          </a:p>
          <a:p>
            <a:pPr indent="0" marL="0">
              <a:lnSpc>
                <a:spcPct val="130000"/>
              </a:lnSpc>
              <a:buNone/>
            </a:pPr>
            <a:r>
              <a:rPr lang="en-US" sz="780" dirty="0">
                <a:solidFill>
                  <a:srgbClr val="46606E"/>
                </a:solidFill>
                <a:latin typeface="Spectral" pitchFamily="34" charset="0"/>
                <a:ea typeface="Spectral" pitchFamily="34" charset="-122"/>
                <a:cs typeface="Spectral" pitchFamily="34" charset="-120"/>
              </a:rPr>
              <a:t>IGP — Indication Géographique Protégée</a:t>
            </a:r>
            <a:endParaRPr lang="en-US" sz="780" dirty="0"/>
          </a:p>
          <a:p>
            <a:pPr indent="0" marL="0">
              <a:lnSpc>
                <a:spcPct val="130000"/>
              </a:lnSpc>
              <a:buNone/>
            </a:pPr>
            <a:r>
              <a:rPr lang="en-US" sz="780" dirty="0">
                <a:solidFill>
                  <a:srgbClr val="46606E"/>
                </a:solidFill>
                <a:latin typeface="Spectral" pitchFamily="34" charset="0"/>
                <a:ea typeface="Spectral" pitchFamily="34" charset="-122"/>
                <a:cs typeface="Spectral" pitchFamily="34" charset="-120"/>
              </a:rPr>
              <a:t>VDF — Vin de France</a:t>
            </a:r>
            <a:endParaRPr lang="en-US" sz="780" dirty="0"/>
          </a:p>
          <a:p>
            <a:pPr indent="0" marL="0">
              <a:lnSpc>
                <a:spcPct val="130000"/>
              </a:lnSpc>
              <a:buNone/>
            </a:pPr>
            <a:r>
              <a:rPr lang="en-US" sz="780" dirty="0">
                <a:solidFill>
                  <a:srgbClr val="46606E"/>
                </a:solidFill>
                <a:latin typeface="Spectral" pitchFamily="34" charset="0"/>
                <a:ea typeface="Spectral" pitchFamily="34" charset="-122"/>
                <a:cs typeface="Spectral" pitchFamily="34" charset="-120"/>
              </a:rPr>
              <a:t>HVE — Haute Valeur Environnementale</a:t>
            </a:r>
            <a:endParaRPr lang="en-US" sz="780" dirty="0"/>
          </a:p>
        </p:txBody>
      </p:sp>
      <p:sp>
        <p:nvSpPr>
          <p:cNvPr id="12" name="Text 8"/>
          <p:cNvSpPr/>
          <p:nvPr/>
        </p:nvSpPr>
        <p:spPr>
          <a:xfrm>
            <a:off x="2868000" y="4932000"/>
            <a:ext cx="1860000" cy="180000"/>
          </a:xfrm>
          <a:prstGeom prst="rect">
            <a:avLst/>
          </a:prstGeom>
          <a:noFill/>
          <a:ln/>
        </p:spPr>
        <p:txBody>
          <a:bodyPr wrap="square" lIns="0" tIns="0" rIns="0" bIns="0" rtlCol="0" anchor="ctr"/>
          <a:lstStyle/>
          <a:p>
            <a:pPr indent="0" marL="0">
              <a:buNone/>
            </a:pPr>
            <a:r>
              <a:rPr lang="en-US" sz="760" b="1" spc="30" kern="0" dirty="0">
                <a:solidFill>
                  <a:srgbClr val="A8515F"/>
                </a:solidFill>
                <a:latin typeface="IBM Plex Sans" pitchFamily="34" charset="0"/>
                <a:ea typeface="IBM Plex Sans" pitchFamily="34" charset="-122"/>
                <a:cs typeface="IBM Plex Sans" pitchFamily="34" charset="-120"/>
              </a:rPr>
              <a:t>MENTIONS LÉGALES</a:t>
            </a:r>
            <a:endParaRPr lang="en-US" sz="760" dirty="0"/>
          </a:p>
        </p:txBody>
      </p:sp>
      <p:sp>
        <p:nvSpPr>
          <p:cNvPr id="13" name="Text 9"/>
          <p:cNvSpPr/>
          <p:nvPr/>
        </p:nvSpPr>
        <p:spPr>
          <a:xfrm>
            <a:off x="2868000" y="5148000"/>
            <a:ext cx="1860000" cy="1728000"/>
          </a:xfrm>
          <a:prstGeom prst="rect">
            <a:avLst/>
          </a:prstGeom>
          <a:noFill/>
          <a:ln/>
        </p:spPr>
        <p:txBody>
          <a:bodyPr wrap="square" lIns="0" tIns="0" rIns="0" bIns="0" rtlCol="0" anchor="ctr"/>
          <a:lstStyle/>
          <a:p>
            <a:pPr indent="0" marL="0">
              <a:lnSpc>
                <a:spcPct val="130000"/>
              </a:lnSpc>
              <a:buNone/>
            </a:pPr>
            <a:r>
              <a:rPr lang="en-US" sz="780" dirty="0">
                <a:solidFill>
                  <a:srgbClr val="46606E"/>
                </a:solidFill>
                <a:latin typeface="Spectral" pitchFamily="34" charset="0"/>
                <a:ea typeface="Spectral" pitchFamily="34" charset="-122"/>
                <a:cs typeface="Spectral" pitchFamily="34" charset="-120"/>
              </a:rPr>
              <a:t>Photos non contractuelles, suggestions de présentation. Dans la limite des stocks disponibles. Les Millésimes peuvent évoluer en fonction de l’avancé de l’année. Sauf erreurs typographiques. Prix H.T. Agence SCIO Vins et spirits 843 151 663 RCS Nantes. Crédits photos : viticulteurs et Adobe Stock. NE PAS JETER SUR LA VOIE PUBLIQUE.</a:t>
            </a:r>
            <a:endParaRPr lang="en-US" sz="780" dirty="0"/>
          </a:p>
        </p:txBody>
      </p:sp>
      <p:sp>
        <p:nvSpPr>
          <p:cNvPr id="14" name="Text 10"/>
          <p:cNvSpPr/>
          <p:nvPr/>
        </p:nvSpPr>
        <p:spPr>
          <a:xfrm>
            <a:off x="4908000" y="4932000"/>
            <a:ext cx="1860000" cy="180000"/>
          </a:xfrm>
          <a:prstGeom prst="rect">
            <a:avLst/>
          </a:prstGeom>
          <a:noFill/>
          <a:ln/>
        </p:spPr>
        <p:txBody>
          <a:bodyPr wrap="square" lIns="0" tIns="0" rIns="0" bIns="0" rtlCol="0" anchor="ctr"/>
          <a:lstStyle/>
          <a:p>
            <a:pPr indent="0" marL="0">
              <a:buNone/>
            </a:pPr>
            <a:r>
              <a:rPr lang="en-US" sz="760" b="1" spc="30" kern="0" dirty="0">
                <a:solidFill>
                  <a:srgbClr val="A8515F"/>
                </a:solidFill>
                <a:latin typeface="IBM Plex Sans" pitchFamily="34" charset="0"/>
                <a:ea typeface="IBM Plex Sans" pitchFamily="34" charset="-122"/>
                <a:cs typeface="IBM Plex Sans" pitchFamily="34" charset="-120"/>
              </a:rPr>
              <a:t>CRÉDITS</a:t>
            </a:r>
            <a:endParaRPr lang="en-US" sz="760" dirty="0"/>
          </a:p>
        </p:txBody>
      </p:sp>
      <p:sp>
        <p:nvSpPr>
          <p:cNvPr id="15" name="Text 11"/>
          <p:cNvSpPr/>
          <p:nvPr/>
        </p:nvSpPr>
        <p:spPr>
          <a:xfrm>
            <a:off x="4908000" y="5148000"/>
            <a:ext cx="1860000" cy="1728000"/>
          </a:xfrm>
          <a:prstGeom prst="rect">
            <a:avLst/>
          </a:prstGeom>
          <a:noFill/>
          <a:ln/>
        </p:spPr>
        <p:txBody>
          <a:bodyPr wrap="square" lIns="0" tIns="0" rIns="0" bIns="0" rtlCol="0" anchor="ctr"/>
          <a:lstStyle/>
          <a:p>
            <a:pPr indent="0" marL="0">
              <a:lnSpc>
                <a:spcPct val="130000"/>
              </a:lnSpc>
              <a:buNone/>
            </a:pPr>
            <a:r>
              <a:rPr lang="en-US" sz="780" dirty="0">
                <a:solidFill>
                  <a:srgbClr val="46606E"/>
                </a:solidFill>
                <a:latin typeface="Spectral" pitchFamily="34" charset="0"/>
                <a:ea typeface="Spectral" pitchFamily="34" charset="-122"/>
                <a:cs typeface="Spectral" pitchFamily="34" charset="-120"/>
              </a:rPr>
              <a:t>Conception, maquette et illustrations : Agence SCIO. Les pictogrammes de ce catalogue sont les nôtres ; ils ne reproduisent aucun logo officiel d'organisme certificateur. Les deux emplacements d'image de chaque fiche sont livrés vides : les photographies qui y seront posées restent à créditer, voir credits.md.</a:t>
            </a:r>
            <a:endParaRPr lang="en-US" sz="780" dirty="0"/>
          </a:p>
        </p:txBody>
      </p:sp>
      <p:sp>
        <p:nvSpPr>
          <p:cNvPr id="16" name="Shape 12"/>
          <p:cNvSpPr/>
          <p:nvPr/>
        </p:nvSpPr>
        <p:spPr>
          <a:xfrm>
            <a:off x="828000" y="8388000"/>
            <a:ext cx="6120000" cy="360000"/>
          </a:xfrm>
          <a:prstGeom prst="roundRect">
            <a:avLst>
              <a:gd name="adj" fmla="val 5080"/>
            </a:avLst>
          </a:prstGeom>
          <a:solidFill>
            <a:srgbClr val="67067C"/>
          </a:solidFill>
          <a:ln w="12700">
            <a:solidFill>
              <a:srgbClr val="67067C"/>
            </a:solidFill>
            <a:prstDash val="solid"/>
          </a:ln>
        </p:spPr>
      </p:sp>
      <p:sp>
        <p:nvSpPr>
          <p:cNvPr id="17" name="Text 13"/>
          <p:cNvSpPr/>
          <p:nvPr/>
        </p:nvSpPr>
        <p:spPr>
          <a:xfrm>
            <a:off x="828000" y="8388000"/>
            <a:ext cx="6120000" cy="360000"/>
          </a:xfrm>
          <a:prstGeom prst="rect">
            <a:avLst/>
          </a:prstGeom>
          <a:noFill/>
          <a:ln/>
        </p:spPr>
        <p:txBody>
          <a:bodyPr wrap="square" lIns="0" tIns="0" rIns="0" bIns="0" rtlCol="0" anchor="ctr"/>
          <a:lstStyle/>
          <a:p>
            <a:pPr algn="ctr" indent="0" marL="0">
              <a:buNone/>
            </a:pPr>
            <a:r>
              <a:rPr lang="en-US" sz="850" b="1" dirty="0">
                <a:solidFill>
                  <a:srgbClr val="FBF8F1"/>
                </a:solidFill>
                <a:latin typeface="IBM Plex Sans" pitchFamily="34" charset="0"/>
                <a:ea typeface="IBM Plex Sans" pitchFamily="34" charset="-122"/>
                <a:cs typeface="IBM Plex Sans" pitchFamily="34" charset="-120"/>
              </a:rPr>
              <a:t>L’ABUS D’ALCOOL EST DANGEREUX POUR LA SANTÉ. À CONSOMMER AVEC MODÉRATION.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Sous nos pieds — Tarifs cavistes Vendée (85) 2026</dc:title>
  <dc:subject>PptxGenJS Presentation</dc:subject>
  <dc:creator>Agence SCIO Vins &amp; Spirits</dc:creator>
  <cp:lastModifiedBy>Agence SCIO Vins &amp; Spirits</cp:lastModifiedBy>
  <cp:revision>1</cp:revision>
  <dcterms:created xsi:type="dcterms:W3CDTF">2026-10-01T17:20:13Z</dcterms:created>
  <dcterms:modified xsi:type="dcterms:W3CDTF">2026-10-01T17:20:13Z</dcterms:modified>
</cp:coreProperties>
</file>