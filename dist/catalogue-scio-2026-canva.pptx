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Shape 2"/>
          <p:cNvSpPr/>
          <p:nvPr/>
        </p:nvSpPr>
        <p:spPr>
          <a:xfrm>
            <a:off x="-216000" y="7776000"/>
            <a:ext cx="2808000" cy="864000"/>
          </a:xfrm>
          <a:prstGeom prst="roundRect">
            <a:avLst>
              <a:gd name="adj" fmla="val 3175"/>
            </a:avLst>
          </a:prstGeom>
          <a:solidFill>
            <a:srgbClr val="F2EADA"/>
          </a:solidFill>
          <a:ln w="12700">
            <a:solidFill>
              <a:srgbClr val="F2EADA"/>
            </a:solidFill>
            <a:prstDash val="solid"/>
          </a:ln>
        </p:spPr>
      </p:sp>
      <p:sp>
        <p:nvSpPr>
          <p:cNvPr id="7" name="Text 3"/>
          <p:cNvSpPr/>
          <p:nvPr/>
        </p:nvSpPr>
        <p:spPr>
          <a:xfrm>
            <a:off x="612000" y="7848000"/>
            <a:ext cx="2160000" cy="180000"/>
          </a:xfrm>
          <a:prstGeom prst="rect">
            <a:avLst/>
          </a:prstGeom>
          <a:noFill/>
          <a:ln/>
        </p:spPr>
        <p:txBody>
          <a:bodyPr wrap="square" lIns="0" tIns="0" rIns="0" bIns="0" rtlCol="0" anchor="ctr"/>
          <a:lstStyle/>
          <a:p>
            <a:pP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8" name="Text 4"/>
          <p:cNvSpPr/>
          <p:nvPr/>
        </p:nvSpPr>
        <p:spPr>
          <a:xfrm>
            <a:off x="612000" y="8064000"/>
            <a:ext cx="2160000" cy="504000"/>
          </a:xfrm>
          <a:prstGeom prst="rect">
            <a:avLst/>
          </a:prstGeom>
          <a:noFill/>
          <a:ln/>
        </p:spPr>
        <p:txBody>
          <a:bodyPr wrap="square" lIns="0" tIns="0" rIns="0" bIns="0" rtlCol="0" anchor="ctr"/>
          <a:lstStyle/>
          <a:p>
            <a:pP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9" name="Text 5"/>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30000"/>
              </a:lnSpc>
              <a:buNone/>
            </a:pPr>
            <a:r>
              <a:rPr lang="en-US" sz="1700" dirty="0">
                <a:solidFill>
                  <a:srgbClr val="46606E"/>
                </a:solidFill>
                <a:latin typeface="Young Serif" pitchFamily="34" charset="0"/>
                <a:ea typeface="Young Serif" pitchFamily="34" charset="-122"/>
                <a:cs typeface="Young Serif" pitchFamily="34" charset="-120"/>
              </a:rPr>
              <a:t>L'Agence SCIO, c'est </a:t>
            </a:r>
            <a:pPr indent="0" marL="0">
              <a:lnSpc>
                <a:spcPct val="130000"/>
              </a:lnSpc>
              <a:buNone/>
            </a:pPr>
            <a:r>
              <a:rPr lang="en-US" sz="1700" dirty="0">
                <a:solidFill>
                  <a:srgbClr val="67067C"/>
                </a:solidFill>
                <a:latin typeface="Young Serif" pitchFamily="34" charset="0"/>
                <a:ea typeface="Young Serif" pitchFamily="34" charset="-122"/>
                <a:cs typeface="Young Serif" pitchFamily="34" charset="-120"/>
              </a:rPr>
              <a:t>partager notre savoir et notre passion</a:t>
            </a:r>
            <a:pPr indent="0" marL="0">
              <a:lnSpc>
                <a:spcPct val="130000"/>
              </a:lnSpc>
              <a:buNone/>
            </a:pPr>
            <a:r>
              <a:rPr lang="en-US" sz="17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7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Comment lire ce catalogue</a:t>
            </a:r>
            <a:endParaRPr lang="en-US" sz="2400" dirty="0"/>
          </a:p>
        </p:txBody>
      </p:sp>
      <p:pic>
        <p:nvPicPr>
          <p:cNvPr id="3" name="Image 0" descr="/home/user/philippe1/build/deco/me-tranche.png">    </p:cNvPr>
          <p:cNvPicPr>
            <a:picLocks noChangeAspect="1"/>
          </p:cNvPicPr>
          <p:nvPr/>
        </p:nvPicPr>
        <p:blipFill>
          <a:blip r:embed="rId1"/>
          <a:stretch>
            <a:fillRect/>
          </a:stretch>
        </p:blipFill>
        <p:spPr>
          <a:xfrm>
            <a:off x="612000" y="1080000"/>
            <a:ext cx="2898000" cy="828000"/>
          </a:xfrm>
          <a:prstGeom prst="rect">
            <a:avLst/>
          </a:prstGeom>
        </p:spPr>
      </p:pic>
      <p:sp>
        <p:nvSpPr>
          <p:cNvPr id="4" name="Text 1"/>
          <p:cNvSpPr/>
          <p:nvPr/>
        </p:nvSpPr>
        <p:spPr>
          <a:xfrm>
            <a:off x="612000" y="19728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La tranche vous emmène</a:t>
            </a:r>
            <a:endParaRPr lang="en-US" sz="1150" dirty="0"/>
          </a:p>
        </p:txBody>
      </p:sp>
      <p:sp>
        <p:nvSpPr>
          <p:cNvPr id="5" name="Text 2"/>
          <p:cNvSpPr/>
          <p:nvPr/>
        </p:nvSpPr>
        <p:spPr>
          <a:xfrm>
            <a:off x="612000" y="21924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Dix régions, dix strates. Sur le bord de chaque page, la strate de la région où vous êtes est pleine et marquée d'or. Catalogue fermé, la tranche affiche les dix bandes : vous ouvrez directement à la bonne région.</a:t>
            </a:r>
            <a:endParaRPr lang="en-US" sz="820" dirty="0"/>
          </a:p>
        </p:txBody>
      </p:sp>
      <p:pic>
        <p:nvPicPr>
          <p:cNvPr id="6" name="Image 1" descr="/home/user/philippe1/build/deco/me-prix.png">    </p:cNvPr>
          <p:cNvPicPr>
            <a:picLocks noChangeAspect="1"/>
          </p:cNvPicPr>
          <p:nvPr/>
        </p:nvPicPr>
        <p:blipFill>
          <a:blip r:embed="rId2"/>
          <a:stretch>
            <a:fillRect/>
          </a:stretch>
        </p:blipFill>
        <p:spPr>
          <a:xfrm>
            <a:off x="3834000" y="1080000"/>
            <a:ext cx="2898000" cy="828000"/>
          </a:xfrm>
          <a:prstGeom prst="rect">
            <a:avLst/>
          </a:prstGeom>
        </p:spPr>
      </p:pic>
      <p:sp>
        <p:nvSpPr>
          <p:cNvPr id="7" name="Text 3"/>
          <p:cNvSpPr/>
          <p:nvPr/>
        </p:nvSpPr>
        <p:spPr>
          <a:xfrm>
            <a:off x="3834000" y="1972800"/>
            <a:ext cx="2898000" cy="3384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 prix tombe toujours au même endroit</a:t>
            </a:r>
            <a:endParaRPr lang="en-US" sz="1150" dirty="0"/>
          </a:p>
        </p:txBody>
      </p:sp>
      <p:sp>
        <p:nvSpPr>
          <p:cNvPr id="8" name="Text 4"/>
          <p:cNvSpPr/>
          <p:nvPr/>
        </p:nvSpPr>
        <p:spPr>
          <a:xfrm>
            <a:off x="3834000" y="23616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Le bloc de prix a la même largeur sur les quarante fiches, divisé en autant de parts qu'il y a de paliers. Les paliers, eux, sont ceux de chaque domaine : nous ne les avons pas harmonisés. Un domaine à tarif unique n'a qu'une part.</a:t>
            </a:r>
            <a:endParaRPr lang="en-US" sz="820" dirty="0"/>
          </a:p>
        </p:txBody>
      </p:sp>
      <p:pic>
        <p:nvPicPr>
          <p:cNvPr id="9" name="Image 2" descr="/home/user/philippe1/build/deco/me-pictos.png">    </p:cNvPr>
          <p:cNvPicPr>
            <a:picLocks noChangeAspect="1"/>
          </p:cNvPicPr>
          <p:nvPr/>
        </p:nvPicPr>
        <p:blipFill>
          <a:blip r:embed="rId3"/>
          <a:stretch>
            <a:fillRect/>
          </a:stretch>
        </p:blipFill>
        <p:spPr>
          <a:xfrm>
            <a:off x="612000" y="3164400"/>
            <a:ext cx="2898000" cy="1152000"/>
          </a:xfrm>
          <a:prstGeom prst="rect">
            <a:avLst/>
          </a:prstGeom>
        </p:spPr>
      </p:pic>
      <p:sp>
        <p:nvSpPr>
          <p:cNvPr id="10" name="Text 5"/>
          <p:cNvSpPr/>
          <p:nvPr/>
        </p:nvSpPr>
        <p:spPr>
          <a:xfrm>
            <a:off x="612000" y="43812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pictos sont les nôtres</a:t>
            </a:r>
            <a:endParaRPr lang="en-US" sz="1150" dirty="0"/>
          </a:p>
        </p:txBody>
      </p:sp>
      <p:sp>
        <p:nvSpPr>
          <p:cNvPr id="11" name="Text 6"/>
          <p:cNvSpPr/>
          <p:nvPr/>
        </p:nvSpPr>
        <p:spPr>
          <a:xfrm>
            <a:off x="612000" y="46008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Une forme par type : bulles, blanc, rosé, rouge, doux, sans alcool, jus de cépages, bière, spiritueux. Ce sont </a:t>
            </a:r>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nos</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pictos, dessinés pour ce catalogue : ce ne sont pas les logos officiels des organismes certificateurs.</a:t>
            </a:r>
            <a:endParaRPr lang="en-US" sz="820" dirty="0"/>
          </a:p>
        </p:txBody>
      </p:sp>
      <p:pic>
        <p:nvPicPr>
          <p:cNvPr id="12" name="Image 3" descr="/home/user/philippe1/build/deco/me-jetons.png">    </p:cNvPr>
          <p:cNvPicPr>
            <a:picLocks noChangeAspect="1"/>
          </p:cNvPicPr>
          <p:nvPr/>
        </p:nvPicPr>
        <p:blipFill>
          <a:blip r:embed="rId4"/>
          <a:stretch>
            <a:fillRect/>
          </a:stretch>
        </p:blipFill>
        <p:spPr>
          <a:xfrm>
            <a:off x="3834000" y="3164400"/>
            <a:ext cx="2898000" cy="828000"/>
          </a:xfrm>
          <a:prstGeom prst="rect">
            <a:avLst/>
          </a:prstGeom>
        </p:spPr>
      </p:pic>
      <p:sp>
        <p:nvSpPr>
          <p:cNvPr id="13" name="Text 7"/>
          <p:cNvSpPr/>
          <p:nvPr/>
        </p:nvSpPr>
        <p:spPr>
          <a:xfrm>
            <a:off x="3834000" y="40572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mentions</a:t>
            </a:r>
            <a:endParaRPr lang="en-US" sz="1150" dirty="0"/>
          </a:p>
        </p:txBody>
      </p:sp>
      <p:sp>
        <p:nvSpPr>
          <p:cNvPr id="14" name="Text 8"/>
          <p:cNvSpPr/>
          <p:nvPr/>
        </p:nvSpPr>
        <p:spPr>
          <a:xfrm>
            <a:off x="3834000" y="4276800"/>
            <a:ext cx="2898000" cy="828000"/>
          </a:xfrm>
          <a:prstGeom prst="rect">
            <a:avLst/>
          </a:prstGeom>
          <a:noFill/>
          <a:ln/>
        </p:spPr>
        <p:txBody>
          <a:bodyPr wrap="square" lIns="0" tIns="0" rIns="0" bIns="0" rtlCol="0" anchor="t"/>
          <a:lstStyle/>
          <a:p>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Allocation</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 quantités limitées, à réserver. </a:t>
            </a:r>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Panachage</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 vous pouvez mélanger à l'intérieur du domaine, et parfois entre plusieurs domaines — les quatre alliances sont page 7. </a:t>
            </a:r>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Consultez-nous</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 le domaine communique ses tarifs et ses offres au cas par cas.</a:t>
            </a:r>
            <a:endParaRPr lang="en-US" sz="820" dirty="0"/>
          </a:p>
        </p:txBody>
      </p:sp>
      <p:pic>
        <p:nvPicPr>
          <p:cNvPr id="15" name="Image 4" descr="/home/user/philippe1/build/deco/me-paliers.png">    </p:cNvPr>
          <p:cNvPicPr>
            <a:picLocks noChangeAspect="1"/>
          </p:cNvPicPr>
          <p:nvPr/>
        </p:nvPicPr>
        <p:blipFill>
          <a:blip r:embed="rId5"/>
          <a:stretch>
            <a:fillRect/>
          </a:stretch>
        </p:blipFill>
        <p:spPr>
          <a:xfrm>
            <a:off x="612000" y="5403600"/>
            <a:ext cx="2898000" cy="828000"/>
          </a:xfrm>
          <a:prstGeom prst="rect">
            <a:avLst/>
          </a:prstGeom>
        </p:spPr>
      </p:pic>
      <p:sp>
        <p:nvSpPr>
          <p:cNvPr id="16" name="Text 9"/>
          <p:cNvSpPr/>
          <p:nvPr/>
        </p:nvSpPr>
        <p:spPr>
          <a:xfrm>
            <a:off x="612000" y="62964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paliers sont ceux du domaine</a:t>
            </a:r>
            <a:endParaRPr lang="en-US" sz="1150" dirty="0"/>
          </a:p>
        </p:txBody>
      </p:sp>
      <p:sp>
        <p:nvSpPr>
          <p:cNvPr id="17" name="Text 10"/>
          <p:cNvSpPr/>
          <p:nvPr/>
        </p:nvSpPr>
        <p:spPr>
          <a:xfrm>
            <a:off x="612000" y="6516000"/>
            <a:ext cx="2898000" cy="8280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Treize notations différentes dans cette sélection, toutes recopiées telles quelles : bouteilles, cols, bag-in-box, demi-palette, palette, ou tarif unique. </a:t>
            </a:r>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Nous n'avons harmonisé aucun seuil</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 une quantité approximative serait une erreur de commande.</a:t>
            </a:r>
            <a:endParaRPr lang="en-US" sz="820" dirty="0"/>
          </a:p>
        </p:txBody>
      </p:sp>
      <p:pic>
        <p:nvPicPr>
          <p:cNvPr id="18" name="Image 5" descr="/home/user/philippe1/build/deco/me-pied.png">    </p:cNvPr>
          <p:cNvPicPr>
            <a:picLocks noChangeAspect="1"/>
          </p:cNvPicPr>
          <p:nvPr/>
        </p:nvPicPr>
        <p:blipFill>
          <a:blip r:embed="rId6"/>
          <a:stretch>
            <a:fillRect/>
          </a:stretch>
        </p:blipFill>
        <p:spPr>
          <a:xfrm>
            <a:off x="3834000" y="5403600"/>
            <a:ext cx="2898000" cy="828000"/>
          </a:xfrm>
          <a:prstGeom prst="rect">
            <a:avLst/>
          </a:prstGeom>
        </p:spPr>
      </p:pic>
      <p:sp>
        <p:nvSpPr>
          <p:cNvPr id="19" name="Text 11"/>
          <p:cNvSpPr/>
          <p:nvPr/>
        </p:nvSpPr>
        <p:spPr>
          <a:xfrm>
            <a:off x="3834000" y="62964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 bas de page dit le reste</a:t>
            </a:r>
            <a:endParaRPr lang="en-US" sz="1150" dirty="0"/>
          </a:p>
        </p:txBody>
      </p:sp>
      <p:sp>
        <p:nvSpPr>
          <p:cNvPr id="20" name="Text 12"/>
          <p:cNvSpPr/>
          <p:nvPr/>
        </p:nvSpPr>
        <p:spPr>
          <a:xfrm>
            <a:off x="3834000" y="65160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À gauche, les conditions exactes du domaine : hors transport, franco de port, départ chai, départ cave, ou franco à partir d'une quantité. À droite, les départements où ce domaine est distribué. Les deux changent d'une fiche à l'autre.</a:t>
            </a:r>
            <a:endParaRPr lang="en-US" sz="820" dirty="0"/>
          </a:p>
        </p:txBody>
      </p:sp>
      <p:sp>
        <p:nvSpPr>
          <p:cNvPr id="21" name="Shape 13"/>
          <p:cNvSpPr/>
          <p:nvPr/>
        </p:nvSpPr>
        <p:spPr>
          <a:xfrm>
            <a:off x="612000" y="8280000"/>
            <a:ext cx="6120000" cy="0"/>
          </a:xfrm>
          <a:prstGeom prst="line">
            <a:avLst/>
          </a:prstGeom>
          <a:noFill/>
          <a:ln w="10160">
            <a:solidFill>
              <a:srgbClr val="67067C"/>
            </a:solidFill>
            <a:prstDash val="solid"/>
          </a:ln>
        </p:spPr>
      </p:sp>
      <p:sp>
        <p:nvSpPr>
          <p:cNvPr id="22" name="Text 14"/>
          <p:cNvSpPr/>
          <p:nvPr/>
        </p:nvSpPr>
        <p:spPr>
          <a:xfrm>
            <a:off x="612000" y="8337600"/>
            <a:ext cx="6120000" cy="396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Tous les prix sont </a:t>
            </a:r>
            <a:pPr indent="0" marL="0">
              <a:buNone/>
            </a:pPr>
            <a:r>
              <a:rPr lang="en-US" sz="860" b="1" dirty="0">
                <a:solidFill>
                  <a:srgbClr val="67067C"/>
                </a:solidFill>
                <a:latin typeface="Spectral" pitchFamily="34" charset="0"/>
                <a:ea typeface="Spectral" pitchFamily="34" charset="-122"/>
                <a:cs typeface="Spectral" pitchFamily="34" charset="-120"/>
              </a:rPr>
              <a:t>hors taxes, par bouteille</a:t>
            </a:r>
            <a:pPr indent="0" marL="0">
              <a:buNone/>
            </a:pPr>
            <a:r>
              <a:rPr lang="en-US" sz="860" dirty="0">
                <a:solidFill>
                  <a:srgbClr val="46606E"/>
                </a:solidFill>
                <a:latin typeface="Spectral" pitchFamily="34" charset="0"/>
                <a:ea typeface="Spectral" pitchFamily="34" charset="-122"/>
                <a:cs typeface="Spectral" pitchFamily="34" charset="-120"/>
              </a:rPr>
              <a:t>. Les conditions de port diffèrent d'un domaine à l'autre : elles sont écrites en bas de chaque fiche, avec les départements de distribution.</a:t>
            </a:r>
            <a:endParaRPr lang="en-US" sz="860" dirty="0"/>
          </a:p>
        </p:txBody>
      </p:sp>
      <p:sp>
        <p:nvSpPr>
          <p:cNvPr id="23"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4"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La coupe</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SOMMAIRE DES DIX RÉGIONS</a:t>
            </a:r>
            <a:endParaRPr lang="en-US" sz="800" dirty="0"/>
          </a:p>
        </p:txBody>
      </p:sp>
      <p:sp>
        <p:nvSpPr>
          <p:cNvPr id="4" name="Shape 2"/>
          <p:cNvSpPr/>
          <p:nvPr/>
        </p:nvSpPr>
        <p:spPr>
          <a:xfrm>
            <a:off x="828000" y="1296000"/>
            <a:ext cx="6120000" cy="1126125"/>
          </a:xfrm>
          <a:prstGeom prst="roundRect">
            <a:avLst>
              <a:gd name="adj" fmla="val 1218"/>
            </a:avLst>
          </a:prstGeom>
          <a:solidFill>
            <a:srgbClr val="46606E"/>
          </a:solidFill>
          <a:ln w="12700">
            <a:solidFill>
              <a:srgbClr val="46606E"/>
            </a:solidFill>
            <a:prstDash val="solid"/>
          </a:ln>
        </p:spPr>
      </p:sp>
      <p:sp>
        <p:nvSpPr>
          <p:cNvPr id="5" name="Text 3"/>
          <p:cNvSpPr/>
          <p:nvPr/>
        </p:nvSpPr>
        <p:spPr>
          <a:xfrm>
            <a:off x="936000" y="13536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Loire</a:t>
            </a:r>
            <a:endParaRPr lang="en-US" sz="1150" dirty="0"/>
          </a:p>
        </p:txBody>
      </p:sp>
      <p:sp>
        <p:nvSpPr>
          <p:cNvPr id="6" name="Text 4"/>
          <p:cNvSpPr/>
          <p:nvPr/>
        </p:nvSpPr>
        <p:spPr>
          <a:xfrm>
            <a:off x="2124000" y="13536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schistes et tuffeau</a:t>
            </a:r>
            <a:endParaRPr lang="en-US" sz="700" dirty="0"/>
          </a:p>
        </p:txBody>
      </p:sp>
      <p:sp>
        <p:nvSpPr>
          <p:cNvPr id="7" name="Text 5"/>
          <p:cNvSpPr/>
          <p:nvPr/>
        </p:nvSpPr>
        <p:spPr>
          <a:xfrm>
            <a:off x="6516000" y="13536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7</a:t>
            </a:r>
            <a:endParaRPr lang="en-US" sz="750" dirty="0"/>
          </a:p>
        </p:txBody>
      </p:sp>
      <p:sp>
        <p:nvSpPr>
          <p:cNvPr id="8" name="Text 6"/>
          <p:cNvSpPr/>
          <p:nvPr/>
        </p:nvSpPr>
        <p:spPr>
          <a:xfrm>
            <a:off x="972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  </a:t>
            </a:r>
            <a:pPr indent="0" marL="0">
              <a:buNone/>
            </a:pPr>
            <a:r>
              <a:rPr lang="en-US" sz="740" dirty="0">
                <a:solidFill>
                  <a:srgbClr val="FBF8F1"/>
                </a:solidFill>
                <a:latin typeface="IBM Plex Sans" pitchFamily="34" charset="0"/>
                <a:ea typeface="IBM Plex Sans" pitchFamily="34" charset="-122"/>
                <a:cs typeface="IBM Plex Sans" pitchFamily="34" charset="-120"/>
              </a:rPr>
              <a:t>François Reverdy</a:t>
            </a:r>
            <a:pPr indent="0" marL="0">
              <a:buNone/>
            </a:pPr>
            <a:r>
              <a:rPr lang="en-US" sz="740" b="1" dirty="0">
                <a:solidFill>
                  <a:srgbClr val="FBF8F1"/>
                </a:solidFill>
                <a:latin typeface="IBM Plex Sans" pitchFamily="34" charset="0"/>
                <a:ea typeface="IBM Plex Sans" pitchFamily="34" charset="-122"/>
                <a:cs typeface="IBM Plex Sans" pitchFamily="34" charset="-120"/>
              </a:rPr>
              <a:t>   7</a:t>
            </a:r>
            <a:endParaRPr lang="en-US" sz="740" dirty="0"/>
          </a:p>
        </p:txBody>
      </p:sp>
      <p:sp>
        <p:nvSpPr>
          <p:cNvPr id="9" name="Text 7"/>
          <p:cNvSpPr/>
          <p:nvPr/>
        </p:nvSpPr>
        <p:spPr>
          <a:xfrm>
            <a:off x="972000" y="1713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 la Barbinière</a:t>
            </a:r>
            <a:pPr indent="0" marL="0">
              <a:buNone/>
            </a:pPr>
            <a:r>
              <a:rPr lang="en-US" sz="740" b="1" dirty="0">
                <a:solidFill>
                  <a:srgbClr val="FBF8F1"/>
                </a:solidFill>
                <a:latin typeface="IBM Plex Sans" pitchFamily="34" charset="0"/>
                <a:ea typeface="IBM Plex Sans" pitchFamily="34" charset="-122"/>
                <a:cs typeface="IBM Plex Sans" pitchFamily="34" charset="-120"/>
              </a:rPr>
              <a:t>   8</a:t>
            </a:r>
            <a:endParaRPr lang="en-US" sz="740" dirty="0"/>
          </a:p>
        </p:txBody>
      </p:sp>
      <p:sp>
        <p:nvSpPr>
          <p:cNvPr id="10" name="Text 8"/>
          <p:cNvSpPr/>
          <p:nvPr/>
        </p:nvSpPr>
        <p:spPr>
          <a:xfrm>
            <a:off x="972000" y="18432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du Colombier / J.Y Bretaudeau</a:t>
            </a:r>
            <a:pPr indent="0" marL="0">
              <a:buNone/>
            </a:pPr>
            <a:r>
              <a:rPr lang="en-US" sz="740" b="1" dirty="0">
                <a:solidFill>
                  <a:srgbClr val="FBF8F1"/>
                </a:solidFill>
                <a:latin typeface="IBM Plex Sans" pitchFamily="34" charset="0"/>
                <a:ea typeface="IBM Plex Sans" pitchFamily="34" charset="-122"/>
                <a:cs typeface="IBM Plex Sans" pitchFamily="34" charset="-120"/>
              </a:rPr>
              <a:t>   9</a:t>
            </a:r>
            <a:endParaRPr lang="en-US" sz="740" dirty="0"/>
          </a:p>
        </p:txBody>
      </p:sp>
      <p:sp>
        <p:nvSpPr>
          <p:cNvPr id="11" name="Text 9"/>
          <p:cNvSpPr/>
          <p:nvPr/>
        </p:nvSpPr>
        <p:spPr>
          <a:xfrm>
            <a:off x="2916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4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des Noëls</a:t>
            </a:r>
            <a:pPr indent="0" marL="0">
              <a:buNone/>
            </a:pPr>
            <a:r>
              <a:rPr lang="en-US" sz="740" b="1" dirty="0">
                <a:solidFill>
                  <a:srgbClr val="FBF8F1"/>
                </a:solidFill>
                <a:latin typeface="IBM Plex Sans" pitchFamily="34" charset="0"/>
                <a:ea typeface="IBM Plex Sans" pitchFamily="34" charset="-122"/>
                <a:cs typeface="IBM Plex Sans" pitchFamily="34" charset="-120"/>
              </a:rPr>
              <a:t>   11</a:t>
            </a:r>
            <a:endParaRPr lang="en-US" sz="740" dirty="0"/>
          </a:p>
        </p:txBody>
      </p:sp>
      <p:sp>
        <p:nvSpPr>
          <p:cNvPr id="12" name="Text 10"/>
          <p:cNvSpPr/>
          <p:nvPr/>
        </p:nvSpPr>
        <p:spPr>
          <a:xfrm>
            <a:off x="2916000" y="1713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5  </a:t>
            </a:r>
            <a:pPr indent="0" marL="0">
              <a:buNone/>
            </a:pPr>
            <a:r>
              <a:rPr lang="en-US" sz="740" dirty="0">
                <a:solidFill>
                  <a:srgbClr val="FBF8F1"/>
                </a:solidFill>
                <a:latin typeface="IBM Plex Sans" pitchFamily="34" charset="0"/>
                <a:ea typeface="IBM Plex Sans" pitchFamily="34" charset="-122"/>
                <a:cs typeface="IBM Plex Sans" pitchFamily="34" charset="-120"/>
              </a:rPr>
              <a:t>Chai Berteaud Manceau</a:t>
            </a:r>
            <a:pPr indent="0" marL="0">
              <a:buNone/>
            </a:pPr>
            <a:r>
              <a:rPr lang="en-US" sz="740" b="1" dirty="0">
                <a:solidFill>
                  <a:srgbClr val="FBF8F1"/>
                </a:solidFill>
                <a:latin typeface="IBM Plex Sans" pitchFamily="34" charset="0"/>
                <a:ea typeface="IBM Plex Sans" pitchFamily="34" charset="-122"/>
                <a:cs typeface="IBM Plex Sans" pitchFamily="34" charset="-120"/>
              </a:rPr>
              <a:t>   12</a:t>
            </a:r>
            <a:endParaRPr lang="en-US" sz="740" dirty="0"/>
          </a:p>
        </p:txBody>
      </p:sp>
      <p:sp>
        <p:nvSpPr>
          <p:cNvPr id="13" name="Text 11"/>
          <p:cNvSpPr/>
          <p:nvPr/>
        </p:nvSpPr>
        <p:spPr>
          <a:xfrm>
            <a:off x="2916000" y="18432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6  </a:t>
            </a:r>
            <a:pPr indent="0" marL="0">
              <a:buNone/>
            </a:pPr>
            <a:r>
              <a:rPr lang="en-US" sz="740" dirty="0">
                <a:solidFill>
                  <a:srgbClr val="FBF8F1"/>
                </a:solidFill>
                <a:latin typeface="IBM Plex Sans" pitchFamily="34" charset="0"/>
                <a:ea typeface="IBM Plex Sans" pitchFamily="34" charset="-122"/>
                <a:cs typeface="IBM Plex Sans" pitchFamily="34" charset="-120"/>
              </a:rPr>
              <a:t>Domaine Jean de Villebois</a:t>
            </a:r>
            <a:pPr indent="0" marL="0">
              <a:buNone/>
            </a:pPr>
            <a:r>
              <a:rPr lang="en-US" sz="740" b="1" dirty="0">
                <a:solidFill>
                  <a:srgbClr val="FBF8F1"/>
                </a:solidFill>
                <a:latin typeface="IBM Plex Sans" pitchFamily="34" charset="0"/>
                <a:ea typeface="IBM Plex Sans" pitchFamily="34" charset="-122"/>
                <a:cs typeface="IBM Plex Sans" pitchFamily="34" charset="-120"/>
              </a:rPr>
              <a:t>   13</a:t>
            </a:r>
            <a:endParaRPr lang="en-US" sz="740" dirty="0"/>
          </a:p>
        </p:txBody>
      </p:sp>
      <p:sp>
        <p:nvSpPr>
          <p:cNvPr id="14" name="Text 12"/>
          <p:cNvSpPr/>
          <p:nvPr/>
        </p:nvSpPr>
        <p:spPr>
          <a:xfrm>
            <a:off x="4860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7  </a:t>
            </a:r>
            <a:pPr indent="0" marL="0">
              <a:buNone/>
            </a:pPr>
            <a:r>
              <a:rPr lang="en-US" sz="740" dirty="0">
                <a:solidFill>
                  <a:srgbClr val="FBF8F1"/>
                </a:solidFill>
                <a:latin typeface="IBM Plex Sans" pitchFamily="34" charset="0"/>
                <a:ea typeface="IBM Plex Sans" pitchFamily="34" charset="-122"/>
                <a:cs typeface="IBM Plex Sans" pitchFamily="34" charset="-120"/>
              </a:rPr>
              <a:t>Divin No Low</a:t>
            </a:r>
            <a:pPr indent="0" marL="0">
              <a:buNone/>
            </a:pPr>
            <a:r>
              <a:rPr lang="en-US" sz="740" b="1" dirty="0">
                <a:solidFill>
                  <a:srgbClr val="FBF8F1"/>
                </a:solidFill>
                <a:latin typeface="IBM Plex Sans" pitchFamily="34" charset="0"/>
                <a:ea typeface="IBM Plex Sans" pitchFamily="34" charset="-122"/>
                <a:cs typeface="IBM Plex Sans" pitchFamily="34" charset="-120"/>
              </a:rPr>
              <a:t>   15</a:t>
            </a:r>
            <a:endParaRPr lang="en-US" sz="740" dirty="0"/>
          </a:p>
        </p:txBody>
      </p:sp>
      <p:sp>
        <p:nvSpPr>
          <p:cNvPr id="15" name="Shape 13"/>
          <p:cNvSpPr/>
          <p:nvPr/>
        </p:nvSpPr>
        <p:spPr>
          <a:xfrm>
            <a:off x="828000" y="2465325"/>
            <a:ext cx="6120000" cy="418275"/>
          </a:xfrm>
          <a:prstGeom prst="roundRect">
            <a:avLst>
              <a:gd name="adj" fmla="val 3279"/>
            </a:avLst>
          </a:prstGeom>
          <a:solidFill>
            <a:srgbClr val="3C5B47"/>
          </a:solidFill>
          <a:ln w="12700">
            <a:solidFill>
              <a:srgbClr val="3C5B47"/>
            </a:solidFill>
            <a:prstDash val="solid"/>
          </a:ln>
        </p:spPr>
      </p:sp>
      <p:sp>
        <p:nvSpPr>
          <p:cNvPr id="16" name="Text 14"/>
          <p:cNvSpPr/>
          <p:nvPr/>
        </p:nvSpPr>
        <p:spPr>
          <a:xfrm>
            <a:off x="936000" y="25229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Alsace</a:t>
            </a:r>
            <a:endParaRPr lang="en-US" sz="1150" dirty="0"/>
          </a:p>
        </p:txBody>
      </p:sp>
      <p:sp>
        <p:nvSpPr>
          <p:cNvPr id="17" name="Text 15"/>
          <p:cNvSpPr/>
          <p:nvPr/>
        </p:nvSpPr>
        <p:spPr>
          <a:xfrm>
            <a:off x="2124000" y="25229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coteaux du Bruderthal</a:t>
            </a:r>
            <a:endParaRPr lang="en-US" sz="700" dirty="0"/>
          </a:p>
        </p:txBody>
      </p:sp>
      <p:sp>
        <p:nvSpPr>
          <p:cNvPr id="18" name="Text 16"/>
          <p:cNvSpPr/>
          <p:nvPr/>
        </p:nvSpPr>
        <p:spPr>
          <a:xfrm>
            <a:off x="6516000" y="25229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19" name="Text 17"/>
          <p:cNvSpPr/>
          <p:nvPr/>
        </p:nvSpPr>
        <p:spPr>
          <a:xfrm>
            <a:off x="972000" y="275332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8  </a:t>
            </a:r>
            <a:pPr indent="0" marL="0">
              <a:buNone/>
            </a:pPr>
            <a:r>
              <a:rPr lang="en-US" sz="740" dirty="0">
                <a:solidFill>
                  <a:srgbClr val="FBF8F1"/>
                </a:solidFill>
                <a:latin typeface="IBM Plex Sans" pitchFamily="34" charset="0"/>
                <a:ea typeface="IBM Plex Sans" pitchFamily="34" charset="-122"/>
                <a:cs typeface="IBM Plex Sans" pitchFamily="34" charset="-120"/>
              </a:rPr>
              <a:t>Domaine Boehler</a:t>
            </a:r>
            <a:pPr indent="0" marL="0">
              <a:buNone/>
            </a:pPr>
            <a:r>
              <a:rPr lang="en-US" sz="740" b="1" dirty="0">
                <a:solidFill>
                  <a:srgbClr val="FBF8F1"/>
                </a:solidFill>
                <a:latin typeface="IBM Plex Sans" pitchFamily="34" charset="0"/>
                <a:ea typeface="IBM Plex Sans" pitchFamily="34" charset="-122"/>
                <a:cs typeface="IBM Plex Sans" pitchFamily="34" charset="-120"/>
              </a:rPr>
              <a:t>   17</a:t>
            </a:r>
            <a:endParaRPr lang="en-US" sz="740" dirty="0"/>
          </a:p>
        </p:txBody>
      </p:sp>
      <p:sp>
        <p:nvSpPr>
          <p:cNvPr id="20" name="Shape 18"/>
          <p:cNvSpPr/>
          <p:nvPr/>
        </p:nvSpPr>
        <p:spPr>
          <a:xfrm>
            <a:off x="828000" y="2926800"/>
            <a:ext cx="6120000" cy="418275"/>
          </a:xfrm>
          <a:prstGeom prst="roundRect">
            <a:avLst>
              <a:gd name="adj" fmla="val 3279"/>
            </a:avLst>
          </a:prstGeom>
          <a:solidFill>
            <a:srgbClr val="A8515F"/>
          </a:solidFill>
          <a:ln w="12700">
            <a:solidFill>
              <a:srgbClr val="A8515F"/>
            </a:solidFill>
            <a:prstDash val="solid"/>
          </a:ln>
        </p:spPr>
      </p:sp>
      <p:sp>
        <p:nvSpPr>
          <p:cNvPr id="21" name="Text 19"/>
          <p:cNvSpPr/>
          <p:nvPr/>
        </p:nvSpPr>
        <p:spPr>
          <a:xfrm>
            <a:off x="936000" y="29844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Beaujolais</a:t>
            </a:r>
            <a:endParaRPr lang="en-US" sz="1150" dirty="0"/>
          </a:p>
        </p:txBody>
      </p:sp>
      <p:sp>
        <p:nvSpPr>
          <p:cNvPr id="22" name="Text 20"/>
          <p:cNvSpPr/>
          <p:nvPr/>
        </p:nvSpPr>
        <p:spPr>
          <a:xfrm>
            <a:off x="2124000" y="29844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le Clos des Nugues</a:t>
            </a:r>
            <a:endParaRPr lang="en-US" sz="700" dirty="0"/>
          </a:p>
        </p:txBody>
      </p:sp>
      <p:sp>
        <p:nvSpPr>
          <p:cNvPr id="23" name="Text 21"/>
          <p:cNvSpPr/>
          <p:nvPr/>
        </p:nvSpPr>
        <p:spPr>
          <a:xfrm>
            <a:off x="6516000" y="29844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24" name="Text 22"/>
          <p:cNvSpPr/>
          <p:nvPr/>
        </p:nvSpPr>
        <p:spPr>
          <a:xfrm>
            <a:off x="972000" y="3214800"/>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9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des Nugues</a:t>
            </a:r>
            <a:pPr indent="0" marL="0">
              <a:buNone/>
            </a:pPr>
            <a:r>
              <a:rPr lang="en-US" sz="740" b="1" dirty="0">
                <a:solidFill>
                  <a:srgbClr val="FBF8F1"/>
                </a:solidFill>
                <a:latin typeface="IBM Plex Sans" pitchFamily="34" charset="0"/>
                <a:ea typeface="IBM Plex Sans" pitchFamily="34" charset="-122"/>
                <a:cs typeface="IBM Plex Sans" pitchFamily="34" charset="-120"/>
              </a:rPr>
              <a:t>   20</a:t>
            </a:r>
            <a:endParaRPr lang="en-US" sz="740" dirty="0"/>
          </a:p>
        </p:txBody>
      </p:sp>
      <p:sp>
        <p:nvSpPr>
          <p:cNvPr id="25" name="Shape 23"/>
          <p:cNvSpPr/>
          <p:nvPr/>
        </p:nvSpPr>
        <p:spPr>
          <a:xfrm>
            <a:off x="828000" y="3388275"/>
            <a:ext cx="6120000" cy="965250"/>
          </a:xfrm>
          <a:prstGeom prst="roundRect">
            <a:avLst>
              <a:gd name="adj" fmla="val 1421"/>
            </a:avLst>
          </a:prstGeom>
          <a:solidFill>
            <a:srgbClr val="D08C3C"/>
          </a:solidFill>
          <a:ln w="12700">
            <a:solidFill>
              <a:srgbClr val="D08C3C"/>
            </a:solidFill>
            <a:prstDash val="solid"/>
          </a:ln>
        </p:spPr>
      </p:sp>
      <p:sp>
        <p:nvSpPr>
          <p:cNvPr id="26" name="Text 24"/>
          <p:cNvSpPr/>
          <p:nvPr/>
        </p:nvSpPr>
        <p:spPr>
          <a:xfrm>
            <a:off x="936000" y="344587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Bourgogne</a:t>
            </a:r>
            <a:endParaRPr lang="en-US" sz="1150" dirty="0"/>
          </a:p>
        </p:txBody>
      </p:sp>
      <p:sp>
        <p:nvSpPr>
          <p:cNvPr id="27" name="Text 25"/>
          <p:cNvSpPr/>
          <p:nvPr/>
        </p:nvSpPr>
        <p:spPr>
          <a:xfrm>
            <a:off x="2124000" y="344587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climats et terrasses</a:t>
            </a:r>
            <a:endParaRPr lang="en-US" sz="700" dirty="0"/>
          </a:p>
        </p:txBody>
      </p:sp>
      <p:sp>
        <p:nvSpPr>
          <p:cNvPr id="28" name="Text 26"/>
          <p:cNvSpPr/>
          <p:nvPr/>
        </p:nvSpPr>
        <p:spPr>
          <a:xfrm>
            <a:off x="6516000" y="344587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29" name="Text 27"/>
          <p:cNvSpPr/>
          <p:nvPr/>
        </p:nvSpPr>
        <p:spPr>
          <a:xfrm>
            <a:off x="972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10  </a:t>
            </a:r>
            <a:pPr indent="0" marL="0">
              <a:buNone/>
            </a:pPr>
            <a:r>
              <a:rPr lang="en-US" sz="740" dirty="0">
                <a:solidFill>
                  <a:srgbClr val="FBF8F1"/>
                </a:solidFill>
                <a:latin typeface="IBM Plex Sans" pitchFamily="34" charset="0"/>
                <a:ea typeface="IBM Plex Sans" pitchFamily="34" charset="-122"/>
                <a:cs typeface="IBM Plex Sans" pitchFamily="34" charset="-120"/>
              </a:rPr>
              <a:t>Domaine Sébastien Magnien</a:t>
            </a:r>
            <a:pPr indent="0" marL="0">
              <a:buNone/>
            </a:pPr>
            <a:r>
              <a:rPr lang="en-US" sz="740" b="1" dirty="0">
                <a:solidFill>
                  <a:srgbClr val="FBF8F1"/>
                </a:solidFill>
                <a:latin typeface="IBM Plex Sans" pitchFamily="34" charset="0"/>
                <a:ea typeface="IBM Plex Sans" pitchFamily="34" charset="-122"/>
                <a:cs typeface="IBM Plex Sans" pitchFamily="34" charset="-120"/>
              </a:rPr>
              <a:t>   22</a:t>
            </a:r>
            <a:endParaRPr lang="en-US" sz="740" dirty="0"/>
          </a:p>
        </p:txBody>
      </p:sp>
      <p:sp>
        <p:nvSpPr>
          <p:cNvPr id="30" name="Text 28"/>
          <p:cNvSpPr/>
          <p:nvPr/>
        </p:nvSpPr>
        <p:spPr>
          <a:xfrm>
            <a:off x="972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11  </a:t>
            </a:r>
            <a:pPr indent="0" marL="0">
              <a:buNone/>
            </a:pPr>
            <a:r>
              <a:rPr lang="en-US" sz="740" dirty="0">
                <a:solidFill>
                  <a:srgbClr val="FBF8F1"/>
                </a:solidFill>
                <a:latin typeface="IBM Plex Sans" pitchFamily="34" charset="0"/>
                <a:ea typeface="IBM Plex Sans" pitchFamily="34" charset="-122"/>
                <a:cs typeface="IBM Plex Sans" pitchFamily="34" charset="-120"/>
              </a:rPr>
              <a:t>Domaine Nadine Ferrand</a:t>
            </a:r>
            <a:pPr indent="0" marL="0">
              <a:buNone/>
            </a:pPr>
            <a:r>
              <a:rPr lang="en-US" sz="740" b="1" dirty="0">
                <a:solidFill>
                  <a:srgbClr val="FBF8F1"/>
                </a:solidFill>
                <a:latin typeface="IBM Plex Sans" pitchFamily="34" charset="0"/>
                <a:ea typeface="IBM Plex Sans" pitchFamily="34" charset="-122"/>
                <a:cs typeface="IBM Plex Sans" pitchFamily="34" charset="-120"/>
              </a:rPr>
              <a:t>   24</a:t>
            </a:r>
            <a:endParaRPr lang="en-US" sz="740" dirty="0"/>
          </a:p>
        </p:txBody>
      </p:sp>
      <p:sp>
        <p:nvSpPr>
          <p:cNvPr id="31" name="Text 29"/>
          <p:cNvSpPr/>
          <p:nvPr/>
        </p:nvSpPr>
        <p:spPr>
          <a:xfrm>
            <a:off x="2916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12  </a:t>
            </a:r>
            <a:pPr indent="0" marL="0">
              <a:buNone/>
            </a:pPr>
            <a:r>
              <a:rPr lang="en-US" sz="740" dirty="0">
                <a:solidFill>
                  <a:srgbClr val="FBF8F1"/>
                </a:solidFill>
                <a:latin typeface="IBM Plex Sans" pitchFamily="34" charset="0"/>
                <a:ea typeface="IBM Plex Sans" pitchFamily="34" charset="-122"/>
                <a:cs typeface="IBM Plex Sans" pitchFamily="34" charset="-120"/>
              </a:rPr>
              <a:t>Maison et Domaine André Goichot</a:t>
            </a:r>
            <a:pPr indent="0" marL="0">
              <a:buNone/>
            </a:pPr>
            <a:r>
              <a:rPr lang="en-US" sz="740" b="1" dirty="0">
                <a:solidFill>
                  <a:srgbClr val="FBF8F1"/>
                </a:solidFill>
                <a:latin typeface="IBM Plex Sans" pitchFamily="34" charset="0"/>
                <a:ea typeface="IBM Plex Sans" pitchFamily="34" charset="-122"/>
                <a:cs typeface="IBM Plex Sans" pitchFamily="34" charset="-120"/>
              </a:rPr>
              <a:t>   25</a:t>
            </a:r>
            <a:endParaRPr lang="en-US" sz="740" dirty="0"/>
          </a:p>
        </p:txBody>
      </p:sp>
      <p:sp>
        <p:nvSpPr>
          <p:cNvPr id="32" name="Text 30"/>
          <p:cNvSpPr/>
          <p:nvPr/>
        </p:nvSpPr>
        <p:spPr>
          <a:xfrm>
            <a:off x="2916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13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du Cray</a:t>
            </a:r>
            <a:pPr indent="0" marL="0">
              <a:buNone/>
            </a:pPr>
            <a:r>
              <a:rPr lang="en-US" sz="740" b="1" dirty="0">
                <a:solidFill>
                  <a:srgbClr val="FBF8F1"/>
                </a:solidFill>
                <a:latin typeface="IBM Plex Sans" pitchFamily="34" charset="0"/>
                <a:ea typeface="IBM Plex Sans" pitchFamily="34" charset="-122"/>
                <a:cs typeface="IBM Plex Sans" pitchFamily="34" charset="-120"/>
              </a:rPr>
              <a:t>   27</a:t>
            </a:r>
            <a:endParaRPr lang="en-US" sz="740" dirty="0"/>
          </a:p>
        </p:txBody>
      </p:sp>
      <p:sp>
        <p:nvSpPr>
          <p:cNvPr id="33" name="Text 31"/>
          <p:cNvSpPr/>
          <p:nvPr/>
        </p:nvSpPr>
        <p:spPr>
          <a:xfrm>
            <a:off x="4860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14  </a:t>
            </a:r>
            <a:pPr indent="0" marL="0">
              <a:buNone/>
            </a:pPr>
            <a:r>
              <a:rPr lang="en-US" sz="740" dirty="0">
                <a:solidFill>
                  <a:srgbClr val="FBF8F1"/>
                </a:solidFill>
                <a:latin typeface="IBM Plex Sans" pitchFamily="34" charset="0"/>
                <a:ea typeface="IBM Plex Sans" pitchFamily="34" charset="-122"/>
                <a:cs typeface="IBM Plex Sans" pitchFamily="34" charset="-120"/>
              </a:rPr>
              <a:t>Domaine Les Guignottes</a:t>
            </a:r>
            <a:pPr indent="0" marL="0">
              <a:buNone/>
            </a:pPr>
            <a:r>
              <a:rPr lang="en-US" sz="740" b="1" dirty="0">
                <a:solidFill>
                  <a:srgbClr val="FBF8F1"/>
                </a:solidFill>
                <a:latin typeface="IBM Plex Sans" pitchFamily="34" charset="0"/>
                <a:ea typeface="IBM Plex Sans" pitchFamily="34" charset="-122"/>
                <a:cs typeface="IBM Plex Sans" pitchFamily="34" charset="-120"/>
              </a:rPr>
              <a:t>   28</a:t>
            </a:r>
            <a:endParaRPr lang="en-US" sz="740" dirty="0"/>
          </a:p>
        </p:txBody>
      </p:sp>
      <p:sp>
        <p:nvSpPr>
          <p:cNvPr id="34" name="Text 32"/>
          <p:cNvSpPr/>
          <p:nvPr/>
        </p:nvSpPr>
        <p:spPr>
          <a:xfrm>
            <a:off x="4860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15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des Verchères</a:t>
            </a:r>
            <a:pPr indent="0" marL="0">
              <a:buNone/>
            </a:pPr>
            <a:r>
              <a:rPr lang="en-US" sz="740" b="1" dirty="0">
                <a:solidFill>
                  <a:srgbClr val="FBF8F1"/>
                </a:solidFill>
                <a:latin typeface="IBM Plex Sans" pitchFamily="34" charset="0"/>
                <a:ea typeface="IBM Plex Sans" pitchFamily="34" charset="-122"/>
                <a:cs typeface="IBM Plex Sans" pitchFamily="34" charset="-120"/>
              </a:rPr>
              <a:t>   29</a:t>
            </a:r>
            <a:endParaRPr lang="en-US" sz="740" dirty="0"/>
          </a:p>
        </p:txBody>
      </p:sp>
      <p:sp>
        <p:nvSpPr>
          <p:cNvPr id="35" name="Shape 33"/>
          <p:cNvSpPr/>
          <p:nvPr/>
        </p:nvSpPr>
        <p:spPr>
          <a:xfrm>
            <a:off x="828000" y="4396725"/>
            <a:ext cx="6120000" cy="965250"/>
          </a:xfrm>
          <a:prstGeom prst="roundRect">
            <a:avLst>
              <a:gd name="adj" fmla="val 1421"/>
            </a:avLst>
          </a:prstGeom>
          <a:solidFill>
            <a:srgbClr val="3C5B47"/>
          </a:solidFill>
          <a:ln w="12700">
            <a:solidFill>
              <a:srgbClr val="3C5B47"/>
            </a:solidFill>
            <a:prstDash val="solid"/>
          </a:ln>
        </p:spPr>
      </p:sp>
      <p:sp>
        <p:nvSpPr>
          <p:cNvPr id="36" name="Text 34"/>
          <p:cNvSpPr/>
          <p:nvPr/>
        </p:nvSpPr>
        <p:spPr>
          <a:xfrm>
            <a:off x="936000" y="44543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Rhône</a:t>
            </a:r>
            <a:endParaRPr lang="en-US" sz="1150" dirty="0"/>
          </a:p>
        </p:txBody>
      </p:sp>
      <p:sp>
        <p:nvSpPr>
          <p:cNvPr id="37" name="Text 35"/>
          <p:cNvSpPr/>
          <p:nvPr/>
        </p:nvSpPr>
        <p:spPr>
          <a:xfrm>
            <a:off x="2124000" y="44543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sables, grès et Trias</a:t>
            </a:r>
            <a:endParaRPr lang="en-US" sz="700" dirty="0"/>
          </a:p>
        </p:txBody>
      </p:sp>
      <p:sp>
        <p:nvSpPr>
          <p:cNvPr id="38" name="Text 36"/>
          <p:cNvSpPr/>
          <p:nvPr/>
        </p:nvSpPr>
        <p:spPr>
          <a:xfrm>
            <a:off x="6516000" y="44543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39" name="Text 37"/>
          <p:cNvSpPr/>
          <p:nvPr/>
        </p:nvSpPr>
        <p:spPr>
          <a:xfrm>
            <a:off x="972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16  </a:t>
            </a:r>
            <a:pPr indent="0" marL="0">
              <a:buNone/>
            </a:pPr>
            <a:r>
              <a:rPr lang="en-US" sz="740" dirty="0">
                <a:solidFill>
                  <a:srgbClr val="FBF8F1"/>
                </a:solidFill>
                <a:latin typeface="IBM Plex Sans" pitchFamily="34" charset="0"/>
                <a:ea typeface="IBM Plex Sans" pitchFamily="34" charset="-122"/>
                <a:cs typeface="IBM Plex Sans" pitchFamily="34" charset="-120"/>
              </a:rPr>
              <a:t>Domaine Le Prieuré des Papes</a:t>
            </a:r>
            <a:pPr indent="0" marL="0">
              <a:buNone/>
            </a:pPr>
            <a:r>
              <a:rPr lang="en-US" sz="740" b="1" dirty="0">
                <a:solidFill>
                  <a:srgbClr val="FBF8F1"/>
                </a:solidFill>
                <a:latin typeface="IBM Plex Sans" pitchFamily="34" charset="0"/>
                <a:ea typeface="IBM Plex Sans" pitchFamily="34" charset="-122"/>
                <a:cs typeface="IBM Plex Sans" pitchFamily="34" charset="-120"/>
              </a:rPr>
              <a:t>   31</a:t>
            </a:r>
            <a:endParaRPr lang="en-US" sz="740" dirty="0"/>
          </a:p>
        </p:txBody>
      </p:sp>
      <p:sp>
        <p:nvSpPr>
          <p:cNvPr id="40" name="Text 38"/>
          <p:cNvSpPr/>
          <p:nvPr/>
        </p:nvSpPr>
        <p:spPr>
          <a:xfrm>
            <a:off x="972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17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 Coyeux</a:t>
            </a:r>
            <a:pPr indent="0" marL="0">
              <a:buNone/>
            </a:pPr>
            <a:r>
              <a:rPr lang="en-US" sz="740" b="1" dirty="0">
                <a:solidFill>
                  <a:srgbClr val="FBF8F1"/>
                </a:solidFill>
                <a:latin typeface="IBM Plex Sans" pitchFamily="34" charset="0"/>
                <a:ea typeface="IBM Plex Sans" pitchFamily="34" charset="-122"/>
                <a:cs typeface="IBM Plex Sans" pitchFamily="34" charset="-120"/>
              </a:rPr>
              <a:t>   32</a:t>
            </a:r>
            <a:endParaRPr lang="en-US" sz="740" dirty="0"/>
          </a:p>
        </p:txBody>
      </p:sp>
      <p:sp>
        <p:nvSpPr>
          <p:cNvPr id="41" name="Text 39"/>
          <p:cNvSpPr/>
          <p:nvPr/>
        </p:nvSpPr>
        <p:spPr>
          <a:xfrm>
            <a:off x="2916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18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du Moulin Blanc</a:t>
            </a:r>
            <a:pPr indent="0" marL="0">
              <a:buNone/>
            </a:pPr>
            <a:r>
              <a:rPr lang="en-US" sz="740" b="1" dirty="0">
                <a:solidFill>
                  <a:srgbClr val="FBF8F1"/>
                </a:solidFill>
                <a:latin typeface="IBM Plex Sans" pitchFamily="34" charset="0"/>
                <a:ea typeface="IBM Plex Sans" pitchFamily="34" charset="-122"/>
                <a:cs typeface="IBM Plex Sans" pitchFamily="34" charset="-120"/>
              </a:rPr>
              <a:t>   33</a:t>
            </a:r>
            <a:endParaRPr lang="en-US" sz="740" dirty="0"/>
          </a:p>
        </p:txBody>
      </p:sp>
      <p:sp>
        <p:nvSpPr>
          <p:cNvPr id="42" name="Text 40"/>
          <p:cNvSpPr/>
          <p:nvPr/>
        </p:nvSpPr>
        <p:spPr>
          <a:xfrm>
            <a:off x="2916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19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 la Pousterle</a:t>
            </a:r>
            <a:pPr indent="0" marL="0">
              <a:buNone/>
            </a:pPr>
            <a:r>
              <a:rPr lang="en-US" sz="740" b="1" dirty="0">
                <a:solidFill>
                  <a:srgbClr val="FBF8F1"/>
                </a:solidFill>
                <a:latin typeface="IBM Plex Sans" pitchFamily="34" charset="0"/>
                <a:ea typeface="IBM Plex Sans" pitchFamily="34" charset="-122"/>
                <a:cs typeface="IBM Plex Sans" pitchFamily="34" charset="-120"/>
              </a:rPr>
              <a:t>   34</a:t>
            </a:r>
            <a:endParaRPr lang="en-US" sz="740" dirty="0"/>
          </a:p>
        </p:txBody>
      </p:sp>
      <p:sp>
        <p:nvSpPr>
          <p:cNvPr id="43" name="Text 41"/>
          <p:cNvSpPr/>
          <p:nvPr/>
        </p:nvSpPr>
        <p:spPr>
          <a:xfrm>
            <a:off x="4860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20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des Pasquiers</a:t>
            </a:r>
            <a:pPr indent="0" marL="0">
              <a:buNone/>
            </a:pPr>
            <a:r>
              <a:rPr lang="en-US" sz="740" b="1" dirty="0">
                <a:solidFill>
                  <a:srgbClr val="FBF8F1"/>
                </a:solidFill>
                <a:latin typeface="IBM Plex Sans" pitchFamily="34" charset="0"/>
                <a:ea typeface="IBM Plex Sans" pitchFamily="34" charset="-122"/>
                <a:cs typeface="IBM Plex Sans" pitchFamily="34" charset="-120"/>
              </a:rPr>
              <a:t>   35</a:t>
            </a:r>
            <a:endParaRPr lang="en-US" sz="740" dirty="0"/>
          </a:p>
        </p:txBody>
      </p:sp>
      <p:sp>
        <p:nvSpPr>
          <p:cNvPr id="44" name="Text 42"/>
          <p:cNvSpPr/>
          <p:nvPr/>
        </p:nvSpPr>
        <p:spPr>
          <a:xfrm>
            <a:off x="4860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21  </a:t>
            </a:r>
            <a:pPr indent="0" marL="0">
              <a:buNone/>
            </a:pPr>
            <a:r>
              <a:rPr lang="en-US" sz="740" dirty="0">
                <a:solidFill>
                  <a:srgbClr val="FBF8F1"/>
                </a:solidFill>
                <a:latin typeface="IBM Plex Sans" pitchFamily="34" charset="0"/>
                <a:ea typeface="IBM Plex Sans" pitchFamily="34" charset="-122"/>
                <a:cs typeface="IBM Plex Sans" pitchFamily="34" charset="-120"/>
              </a:rPr>
              <a:t>Domaine Trichon</a:t>
            </a:r>
            <a:pPr indent="0" marL="0">
              <a:buNone/>
            </a:pPr>
            <a:r>
              <a:rPr lang="en-US" sz="740" b="1" dirty="0">
                <a:solidFill>
                  <a:srgbClr val="FBF8F1"/>
                </a:solidFill>
                <a:latin typeface="IBM Plex Sans" pitchFamily="34" charset="0"/>
                <a:ea typeface="IBM Plex Sans" pitchFamily="34" charset="-122"/>
                <a:cs typeface="IBM Plex Sans" pitchFamily="34" charset="-120"/>
              </a:rPr>
              <a:t>   36</a:t>
            </a:r>
            <a:endParaRPr lang="en-US" sz="740" dirty="0"/>
          </a:p>
        </p:txBody>
      </p:sp>
      <p:sp>
        <p:nvSpPr>
          <p:cNvPr id="45" name="Shape 43"/>
          <p:cNvSpPr/>
          <p:nvPr/>
        </p:nvSpPr>
        <p:spPr>
          <a:xfrm>
            <a:off x="828000" y="5405175"/>
            <a:ext cx="6120000" cy="482625"/>
          </a:xfrm>
          <a:prstGeom prst="roundRect">
            <a:avLst>
              <a:gd name="adj" fmla="val 2842"/>
            </a:avLst>
          </a:prstGeom>
          <a:solidFill>
            <a:srgbClr val="D08C3C"/>
          </a:solidFill>
          <a:ln w="12700">
            <a:solidFill>
              <a:srgbClr val="D08C3C"/>
            </a:solidFill>
            <a:prstDash val="solid"/>
          </a:ln>
        </p:spPr>
      </p:sp>
      <p:sp>
        <p:nvSpPr>
          <p:cNvPr id="46" name="Text 44"/>
          <p:cNvSpPr/>
          <p:nvPr/>
        </p:nvSpPr>
        <p:spPr>
          <a:xfrm>
            <a:off x="936000" y="546277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Sud-Ouest</a:t>
            </a:r>
            <a:endParaRPr lang="en-US" sz="1150" dirty="0"/>
          </a:p>
        </p:txBody>
      </p:sp>
      <p:sp>
        <p:nvSpPr>
          <p:cNvPr id="47" name="Text 45"/>
          <p:cNvSpPr/>
          <p:nvPr/>
        </p:nvSpPr>
        <p:spPr>
          <a:xfrm>
            <a:off x="2124000" y="546277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sables fauves et fossiles marins</a:t>
            </a:r>
            <a:endParaRPr lang="en-US" sz="700" dirty="0"/>
          </a:p>
        </p:txBody>
      </p:sp>
      <p:sp>
        <p:nvSpPr>
          <p:cNvPr id="48" name="Text 46"/>
          <p:cNvSpPr/>
          <p:nvPr/>
        </p:nvSpPr>
        <p:spPr>
          <a:xfrm>
            <a:off x="6516000" y="546277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3</a:t>
            </a:r>
            <a:endParaRPr lang="en-US" sz="750" dirty="0"/>
          </a:p>
        </p:txBody>
      </p:sp>
      <p:sp>
        <p:nvSpPr>
          <p:cNvPr id="49" name="Text 47"/>
          <p:cNvSpPr/>
          <p:nvPr/>
        </p:nvSpPr>
        <p:spPr>
          <a:xfrm>
            <a:off x="972000" y="56931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22  </a:t>
            </a:r>
            <a:pPr indent="0" marL="0">
              <a:buNone/>
            </a:pPr>
            <a:r>
              <a:rPr lang="en-US" sz="740" dirty="0">
                <a:solidFill>
                  <a:srgbClr val="FBF8F1"/>
                </a:solidFill>
                <a:latin typeface="IBM Plex Sans" pitchFamily="34" charset="0"/>
                <a:ea typeface="IBM Plex Sans" pitchFamily="34" charset="-122"/>
                <a:cs typeface="IBM Plex Sans" pitchFamily="34" charset="-120"/>
              </a:rPr>
              <a:t>Domaine Stratéus</a:t>
            </a:r>
            <a:pPr indent="0" marL="0">
              <a:buNone/>
            </a:pPr>
            <a:r>
              <a:rPr lang="en-US" sz="740" b="1" dirty="0">
                <a:solidFill>
                  <a:srgbClr val="FBF8F1"/>
                </a:solidFill>
                <a:latin typeface="IBM Plex Sans" pitchFamily="34" charset="0"/>
                <a:ea typeface="IBM Plex Sans" pitchFamily="34" charset="-122"/>
                <a:cs typeface="IBM Plex Sans" pitchFamily="34" charset="-120"/>
              </a:rPr>
              <a:t>   38</a:t>
            </a:r>
            <a:endParaRPr lang="en-US" sz="740" dirty="0"/>
          </a:p>
        </p:txBody>
      </p:sp>
      <p:sp>
        <p:nvSpPr>
          <p:cNvPr id="50" name="Text 48"/>
          <p:cNvSpPr/>
          <p:nvPr/>
        </p:nvSpPr>
        <p:spPr>
          <a:xfrm>
            <a:off x="972000" y="58227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23  </a:t>
            </a:r>
            <a:pPr indent="0" marL="0">
              <a:buNone/>
            </a:pPr>
            <a:r>
              <a:rPr lang="en-US" sz="740" dirty="0">
                <a:solidFill>
                  <a:srgbClr val="FBF8F1"/>
                </a:solidFill>
                <a:latin typeface="IBM Plex Sans" pitchFamily="34" charset="0"/>
                <a:ea typeface="IBM Plex Sans" pitchFamily="34" charset="-122"/>
                <a:cs typeface="IBM Plex Sans" pitchFamily="34" charset="-120"/>
              </a:rPr>
              <a:t>Domaine Haut Marin</a:t>
            </a:r>
            <a:pPr indent="0" marL="0">
              <a:buNone/>
            </a:pPr>
            <a:r>
              <a:rPr lang="en-US" sz="740" b="1" dirty="0">
                <a:solidFill>
                  <a:srgbClr val="FBF8F1"/>
                </a:solidFill>
                <a:latin typeface="IBM Plex Sans" pitchFamily="34" charset="0"/>
                <a:ea typeface="IBM Plex Sans" pitchFamily="34" charset="-122"/>
                <a:cs typeface="IBM Plex Sans" pitchFamily="34" charset="-120"/>
              </a:rPr>
              <a:t>   39</a:t>
            </a:r>
            <a:endParaRPr lang="en-US" sz="740" dirty="0"/>
          </a:p>
        </p:txBody>
      </p:sp>
      <p:sp>
        <p:nvSpPr>
          <p:cNvPr id="51" name="Text 49"/>
          <p:cNvSpPr/>
          <p:nvPr/>
        </p:nvSpPr>
        <p:spPr>
          <a:xfrm>
            <a:off x="3888000" y="56931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24  </a:t>
            </a:r>
            <a:pPr indent="0" marL="0">
              <a:buNone/>
            </a:pPr>
            <a:r>
              <a:rPr lang="en-US" sz="740" dirty="0">
                <a:solidFill>
                  <a:srgbClr val="FBF8F1"/>
                </a:solidFill>
                <a:latin typeface="IBM Plex Sans" pitchFamily="34" charset="0"/>
                <a:ea typeface="IBM Plex Sans" pitchFamily="34" charset="-122"/>
                <a:cs typeface="IBM Plex Sans" pitchFamily="34" charset="-120"/>
              </a:rPr>
              <a:t>Fabien Castaing</a:t>
            </a:r>
            <a:pPr indent="0" marL="0">
              <a:buNone/>
            </a:pPr>
            <a:r>
              <a:rPr lang="en-US" sz="740" b="1" dirty="0">
                <a:solidFill>
                  <a:srgbClr val="FBF8F1"/>
                </a:solidFill>
                <a:latin typeface="IBM Plex Sans" pitchFamily="34" charset="0"/>
                <a:ea typeface="IBM Plex Sans" pitchFamily="34" charset="-122"/>
                <a:cs typeface="IBM Plex Sans" pitchFamily="34" charset="-120"/>
              </a:rPr>
              <a:t>   41</a:t>
            </a:r>
            <a:endParaRPr lang="en-US" sz="740" dirty="0"/>
          </a:p>
        </p:txBody>
      </p:sp>
      <p:sp>
        <p:nvSpPr>
          <p:cNvPr id="52" name="Shape 50"/>
          <p:cNvSpPr/>
          <p:nvPr/>
        </p:nvSpPr>
        <p:spPr>
          <a:xfrm>
            <a:off x="828000" y="5931000"/>
            <a:ext cx="6120000" cy="965250"/>
          </a:xfrm>
          <a:prstGeom prst="roundRect">
            <a:avLst>
              <a:gd name="adj" fmla="val 1421"/>
            </a:avLst>
          </a:prstGeom>
          <a:solidFill>
            <a:srgbClr val="A8515F"/>
          </a:solidFill>
          <a:ln w="12700">
            <a:solidFill>
              <a:srgbClr val="A8515F"/>
            </a:solidFill>
            <a:prstDash val="solid"/>
          </a:ln>
        </p:spPr>
      </p:sp>
      <p:sp>
        <p:nvSpPr>
          <p:cNvPr id="53" name="Text 51"/>
          <p:cNvSpPr/>
          <p:nvPr/>
        </p:nvSpPr>
        <p:spPr>
          <a:xfrm>
            <a:off x="936000" y="59886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Bordeaux</a:t>
            </a:r>
            <a:endParaRPr lang="en-US" sz="1150" dirty="0"/>
          </a:p>
        </p:txBody>
      </p:sp>
      <p:sp>
        <p:nvSpPr>
          <p:cNvPr id="54" name="Text 52"/>
          <p:cNvSpPr/>
          <p:nvPr/>
        </p:nvSpPr>
        <p:spPr>
          <a:xfrm>
            <a:off x="2124000" y="59886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graves et argilo-calcaire</a:t>
            </a:r>
            <a:endParaRPr lang="en-US" sz="700" dirty="0"/>
          </a:p>
        </p:txBody>
      </p:sp>
      <p:sp>
        <p:nvSpPr>
          <p:cNvPr id="55" name="Text 53"/>
          <p:cNvSpPr/>
          <p:nvPr/>
        </p:nvSpPr>
        <p:spPr>
          <a:xfrm>
            <a:off x="6516000" y="59886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56" name="Text 54"/>
          <p:cNvSpPr/>
          <p:nvPr/>
        </p:nvSpPr>
        <p:spPr>
          <a:xfrm>
            <a:off x="972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25  </a:t>
            </a:r>
            <a:pPr indent="0" marL="0">
              <a:buNone/>
            </a:pPr>
            <a:r>
              <a:rPr lang="en-US" sz="740" dirty="0">
                <a:solidFill>
                  <a:srgbClr val="FBF8F1"/>
                </a:solidFill>
                <a:latin typeface="IBM Plex Sans" pitchFamily="34" charset="0"/>
                <a:ea typeface="IBM Plex Sans" pitchFamily="34" charset="-122"/>
                <a:cs typeface="IBM Plex Sans" pitchFamily="34" charset="-120"/>
              </a:rPr>
              <a:t>La Passion des Terroirs</a:t>
            </a:r>
            <a:pPr indent="0" marL="0">
              <a:buNone/>
            </a:pPr>
            <a:r>
              <a:rPr lang="en-US" sz="740" b="1" dirty="0">
                <a:solidFill>
                  <a:srgbClr val="FBF8F1"/>
                </a:solidFill>
                <a:latin typeface="IBM Plex Sans" pitchFamily="34" charset="0"/>
                <a:ea typeface="IBM Plex Sans" pitchFamily="34" charset="-122"/>
                <a:cs typeface="IBM Plex Sans" pitchFamily="34" charset="-120"/>
              </a:rPr>
              <a:t>   44</a:t>
            </a:r>
            <a:endParaRPr lang="en-US" sz="740" dirty="0"/>
          </a:p>
        </p:txBody>
      </p:sp>
      <p:sp>
        <p:nvSpPr>
          <p:cNvPr id="57" name="Text 55"/>
          <p:cNvSpPr/>
          <p:nvPr/>
        </p:nvSpPr>
        <p:spPr>
          <a:xfrm>
            <a:off x="972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26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la Gorce</a:t>
            </a:r>
            <a:pPr indent="0" marL="0">
              <a:buNone/>
            </a:pPr>
            <a:r>
              <a:rPr lang="en-US" sz="740" b="1" dirty="0">
                <a:solidFill>
                  <a:srgbClr val="FBF8F1"/>
                </a:solidFill>
                <a:latin typeface="IBM Plex Sans" pitchFamily="34" charset="0"/>
                <a:ea typeface="IBM Plex Sans" pitchFamily="34" charset="-122"/>
                <a:cs typeface="IBM Plex Sans" pitchFamily="34" charset="-120"/>
              </a:rPr>
              <a:t>   47</a:t>
            </a:r>
            <a:endParaRPr lang="en-US" sz="740" dirty="0"/>
          </a:p>
        </p:txBody>
      </p:sp>
      <p:sp>
        <p:nvSpPr>
          <p:cNvPr id="58" name="Text 56"/>
          <p:cNvSpPr/>
          <p:nvPr/>
        </p:nvSpPr>
        <p:spPr>
          <a:xfrm>
            <a:off x="2916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27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Falfas</a:t>
            </a:r>
            <a:pPr indent="0" marL="0">
              <a:buNone/>
            </a:pPr>
            <a:r>
              <a:rPr lang="en-US" sz="740" b="1" dirty="0">
                <a:solidFill>
                  <a:srgbClr val="FBF8F1"/>
                </a:solidFill>
                <a:latin typeface="IBM Plex Sans" pitchFamily="34" charset="0"/>
                <a:ea typeface="IBM Plex Sans" pitchFamily="34" charset="-122"/>
                <a:cs typeface="IBM Plex Sans" pitchFamily="34" charset="-120"/>
              </a:rPr>
              <a:t>   49</a:t>
            </a:r>
            <a:endParaRPr lang="en-US" sz="740" dirty="0"/>
          </a:p>
        </p:txBody>
      </p:sp>
      <p:sp>
        <p:nvSpPr>
          <p:cNvPr id="59" name="Text 57"/>
          <p:cNvSpPr/>
          <p:nvPr/>
        </p:nvSpPr>
        <p:spPr>
          <a:xfrm>
            <a:off x="2916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28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Pré la Lande</a:t>
            </a:r>
            <a:pPr indent="0" marL="0">
              <a:buNone/>
            </a:pPr>
            <a:r>
              <a:rPr lang="en-US" sz="740" b="1" dirty="0">
                <a:solidFill>
                  <a:srgbClr val="FBF8F1"/>
                </a:solidFill>
                <a:latin typeface="IBM Plex Sans" pitchFamily="34" charset="0"/>
                <a:ea typeface="IBM Plex Sans" pitchFamily="34" charset="-122"/>
                <a:cs typeface="IBM Plex Sans" pitchFamily="34" charset="-120"/>
              </a:rPr>
              <a:t>   50</a:t>
            </a:r>
            <a:endParaRPr lang="en-US" sz="740" dirty="0"/>
          </a:p>
        </p:txBody>
      </p:sp>
      <p:sp>
        <p:nvSpPr>
          <p:cNvPr id="60" name="Text 58"/>
          <p:cNvSpPr/>
          <p:nvPr/>
        </p:nvSpPr>
        <p:spPr>
          <a:xfrm>
            <a:off x="4860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29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Balac</a:t>
            </a:r>
            <a:pPr indent="0" marL="0">
              <a:buNone/>
            </a:pPr>
            <a:r>
              <a:rPr lang="en-US" sz="740" b="1" dirty="0">
                <a:solidFill>
                  <a:srgbClr val="FBF8F1"/>
                </a:solidFill>
                <a:latin typeface="IBM Plex Sans" pitchFamily="34" charset="0"/>
                <a:ea typeface="IBM Plex Sans" pitchFamily="34" charset="-122"/>
                <a:cs typeface="IBM Plex Sans" pitchFamily="34" charset="-120"/>
              </a:rPr>
              <a:t>   51</a:t>
            </a:r>
            <a:endParaRPr lang="en-US" sz="740" dirty="0"/>
          </a:p>
        </p:txBody>
      </p:sp>
      <p:sp>
        <p:nvSpPr>
          <p:cNvPr id="61" name="Text 59"/>
          <p:cNvSpPr/>
          <p:nvPr/>
        </p:nvSpPr>
        <p:spPr>
          <a:xfrm>
            <a:off x="4860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30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l’Escarderie</a:t>
            </a:r>
            <a:pPr indent="0" marL="0">
              <a:buNone/>
            </a:pPr>
            <a:r>
              <a:rPr lang="en-US" sz="740" b="1" dirty="0">
                <a:solidFill>
                  <a:srgbClr val="FBF8F1"/>
                </a:solidFill>
                <a:latin typeface="IBM Plex Sans" pitchFamily="34" charset="0"/>
                <a:ea typeface="IBM Plex Sans" pitchFamily="34" charset="-122"/>
                <a:cs typeface="IBM Plex Sans" pitchFamily="34" charset="-120"/>
              </a:rPr>
              <a:t>   52</a:t>
            </a:r>
            <a:endParaRPr lang="en-US" sz="740" dirty="0"/>
          </a:p>
        </p:txBody>
      </p:sp>
      <p:sp>
        <p:nvSpPr>
          <p:cNvPr id="62" name="Shape 60"/>
          <p:cNvSpPr/>
          <p:nvPr/>
        </p:nvSpPr>
        <p:spPr>
          <a:xfrm>
            <a:off x="828000" y="6939450"/>
            <a:ext cx="6120000" cy="418275"/>
          </a:xfrm>
          <a:prstGeom prst="roundRect">
            <a:avLst>
              <a:gd name="adj" fmla="val 3279"/>
            </a:avLst>
          </a:prstGeom>
          <a:solidFill>
            <a:srgbClr val="46606E"/>
          </a:solidFill>
          <a:ln w="12700">
            <a:solidFill>
              <a:srgbClr val="46606E"/>
            </a:solidFill>
            <a:prstDash val="solid"/>
          </a:ln>
        </p:spPr>
      </p:sp>
      <p:sp>
        <p:nvSpPr>
          <p:cNvPr id="63" name="Text 61"/>
          <p:cNvSpPr/>
          <p:nvPr/>
        </p:nvSpPr>
        <p:spPr>
          <a:xfrm>
            <a:off x="936000" y="699705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Provence</a:t>
            </a:r>
            <a:endParaRPr lang="en-US" sz="1150" dirty="0"/>
          </a:p>
        </p:txBody>
      </p:sp>
      <p:sp>
        <p:nvSpPr>
          <p:cNvPr id="64" name="Text 62"/>
          <p:cNvSpPr/>
          <p:nvPr/>
        </p:nvSpPr>
        <p:spPr>
          <a:xfrm>
            <a:off x="2124000" y="699705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la Provence Verte</a:t>
            </a:r>
            <a:endParaRPr lang="en-US" sz="700" dirty="0"/>
          </a:p>
        </p:txBody>
      </p:sp>
      <p:sp>
        <p:nvSpPr>
          <p:cNvPr id="65" name="Text 63"/>
          <p:cNvSpPr/>
          <p:nvPr/>
        </p:nvSpPr>
        <p:spPr>
          <a:xfrm>
            <a:off x="6516000" y="699705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66" name="Text 64"/>
          <p:cNvSpPr/>
          <p:nvPr/>
        </p:nvSpPr>
        <p:spPr>
          <a:xfrm>
            <a:off x="972000" y="7227450"/>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31  </a:t>
            </a:r>
            <a:pPr indent="0" marL="0">
              <a:buNone/>
            </a:pPr>
            <a:r>
              <a:rPr lang="en-US" sz="740" dirty="0">
                <a:solidFill>
                  <a:srgbClr val="FBF8F1"/>
                </a:solidFill>
                <a:latin typeface="IBM Plex Sans" pitchFamily="34" charset="0"/>
                <a:ea typeface="IBM Plex Sans" pitchFamily="34" charset="-122"/>
                <a:cs typeface="IBM Plex Sans" pitchFamily="34" charset="-120"/>
              </a:rPr>
              <a:t>Bastide de Blacailloux</a:t>
            </a:r>
            <a:pPr indent="0" marL="0">
              <a:buNone/>
            </a:pPr>
            <a:r>
              <a:rPr lang="en-US" sz="740" b="1" dirty="0">
                <a:solidFill>
                  <a:srgbClr val="FBF8F1"/>
                </a:solidFill>
                <a:latin typeface="IBM Plex Sans" pitchFamily="34" charset="0"/>
                <a:ea typeface="IBM Plex Sans" pitchFamily="34" charset="-122"/>
                <a:cs typeface="IBM Plex Sans" pitchFamily="34" charset="-120"/>
              </a:rPr>
              <a:t>   54</a:t>
            </a:r>
            <a:endParaRPr lang="en-US" sz="740" dirty="0"/>
          </a:p>
        </p:txBody>
      </p:sp>
      <p:sp>
        <p:nvSpPr>
          <p:cNvPr id="67" name="Shape 65"/>
          <p:cNvSpPr/>
          <p:nvPr/>
        </p:nvSpPr>
        <p:spPr>
          <a:xfrm>
            <a:off x="828000" y="7400925"/>
            <a:ext cx="6120000" cy="804375"/>
          </a:xfrm>
          <a:prstGeom prst="roundRect">
            <a:avLst>
              <a:gd name="adj" fmla="val 1705"/>
            </a:avLst>
          </a:prstGeom>
          <a:solidFill>
            <a:srgbClr val="3C5B47"/>
          </a:solidFill>
          <a:ln w="12700">
            <a:solidFill>
              <a:srgbClr val="3C5B47"/>
            </a:solidFill>
            <a:prstDash val="solid"/>
          </a:ln>
        </p:spPr>
      </p:sp>
      <p:sp>
        <p:nvSpPr>
          <p:cNvPr id="68" name="Text 66"/>
          <p:cNvSpPr/>
          <p:nvPr/>
        </p:nvSpPr>
        <p:spPr>
          <a:xfrm>
            <a:off x="936000" y="74585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Languedoc</a:t>
            </a:r>
            <a:endParaRPr lang="en-US" sz="1150" dirty="0"/>
          </a:p>
        </p:txBody>
      </p:sp>
      <p:sp>
        <p:nvSpPr>
          <p:cNvPr id="69" name="Text 67"/>
          <p:cNvSpPr/>
          <p:nvPr/>
        </p:nvSpPr>
        <p:spPr>
          <a:xfrm>
            <a:off x="2124000" y="74585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terrasses et garrigue</a:t>
            </a:r>
            <a:endParaRPr lang="en-US" sz="700" dirty="0"/>
          </a:p>
        </p:txBody>
      </p:sp>
      <p:sp>
        <p:nvSpPr>
          <p:cNvPr id="70" name="Text 68"/>
          <p:cNvSpPr/>
          <p:nvPr/>
        </p:nvSpPr>
        <p:spPr>
          <a:xfrm>
            <a:off x="6516000" y="74585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5</a:t>
            </a:r>
            <a:endParaRPr lang="en-US" sz="750" dirty="0"/>
          </a:p>
        </p:txBody>
      </p:sp>
      <p:sp>
        <p:nvSpPr>
          <p:cNvPr id="71" name="Text 69"/>
          <p:cNvSpPr/>
          <p:nvPr/>
        </p:nvSpPr>
        <p:spPr>
          <a:xfrm>
            <a:off x="972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32  </a:t>
            </a:r>
            <a:pPr indent="0" marL="0">
              <a:buNone/>
            </a:pPr>
            <a:r>
              <a:rPr lang="en-US" sz="740" dirty="0">
                <a:solidFill>
                  <a:srgbClr val="FBF8F1"/>
                </a:solidFill>
                <a:latin typeface="IBM Plex Sans" pitchFamily="34" charset="0"/>
                <a:ea typeface="IBM Plex Sans" pitchFamily="34" charset="-122"/>
                <a:cs typeface="IBM Plex Sans" pitchFamily="34" charset="-120"/>
              </a:rPr>
              <a:t>Famille d’Exea</a:t>
            </a:r>
            <a:pPr indent="0" marL="0">
              <a:buNone/>
            </a:pPr>
            <a:r>
              <a:rPr lang="en-US" sz="740" b="1" dirty="0">
                <a:solidFill>
                  <a:srgbClr val="FBF8F1"/>
                </a:solidFill>
                <a:latin typeface="IBM Plex Sans" pitchFamily="34" charset="0"/>
                <a:ea typeface="IBM Plex Sans" pitchFamily="34" charset="-122"/>
                <a:cs typeface="IBM Plex Sans" pitchFamily="34" charset="-120"/>
              </a:rPr>
              <a:t>   56</a:t>
            </a:r>
            <a:endParaRPr lang="en-US" sz="740" dirty="0"/>
          </a:p>
        </p:txBody>
      </p:sp>
      <p:sp>
        <p:nvSpPr>
          <p:cNvPr id="72" name="Text 70"/>
          <p:cNvSpPr/>
          <p:nvPr/>
        </p:nvSpPr>
        <p:spPr>
          <a:xfrm>
            <a:off x="972000" y="78185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33  </a:t>
            </a:r>
            <a:pPr indent="0" marL="0">
              <a:buNone/>
            </a:pPr>
            <a:r>
              <a:rPr lang="en-US" sz="740" dirty="0">
                <a:solidFill>
                  <a:srgbClr val="FBF8F1"/>
                </a:solidFill>
                <a:latin typeface="IBM Plex Sans" pitchFamily="34" charset="0"/>
                <a:ea typeface="IBM Plex Sans" pitchFamily="34" charset="-122"/>
                <a:cs typeface="IBM Plex Sans" pitchFamily="34" charset="-120"/>
              </a:rPr>
              <a:t>Famille d’Exea — Jus de Cépages</a:t>
            </a:r>
            <a:pPr indent="0" marL="0">
              <a:buNone/>
            </a:pPr>
            <a:r>
              <a:rPr lang="en-US" sz="740" b="1" dirty="0">
                <a:solidFill>
                  <a:srgbClr val="FBF8F1"/>
                </a:solidFill>
                <a:latin typeface="IBM Plex Sans" pitchFamily="34" charset="0"/>
                <a:ea typeface="IBM Plex Sans" pitchFamily="34" charset="-122"/>
                <a:cs typeface="IBM Plex Sans" pitchFamily="34" charset="-120"/>
              </a:rPr>
              <a:t>   58</a:t>
            </a:r>
            <a:endParaRPr lang="en-US" sz="740" dirty="0"/>
          </a:p>
        </p:txBody>
      </p:sp>
      <p:sp>
        <p:nvSpPr>
          <p:cNvPr id="73" name="Text 71"/>
          <p:cNvSpPr/>
          <p:nvPr/>
        </p:nvSpPr>
        <p:spPr>
          <a:xfrm>
            <a:off x="2916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34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de Gragnos</a:t>
            </a:r>
            <a:pPr indent="0" marL="0">
              <a:buNone/>
            </a:pPr>
            <a:r>
              <a:rPr lang="en-US" sz="740" b="1" dirty="0">
                <a:solidFill>
                  <a:srgbClr val="FBF8F1"/>
                </a:solidFill>
                <a:latin typeface="IBM Plex Sans" pitchFamily="34" charset="0"/>
                <a:ea typeface="IBM Plex Sans" pitchFamily="34" charset="-122"/>
                <a:cs typeface="IBM Plex Sans" pitchFamily="34" charset="-120"/>
              </a:rPr>
              <a:t>   59</a:t>
            </a:r>
            <a:endParaRPr lang="en-US" sz="740" dirty="0"/>
          </a:p>
        </p:txBody>
      </p:sp>
      <p:sp>
        <p:nvSpPr>
          <p:cNvPr id="74" name="Text 72"/>
          <p:cNvSpPr/>
          <p:nvPr/>
        </p:nvSpPr>
        <p:spPr>
          <a:xfrm>
            <a:off x="2916000" y="78185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35  </a:t>
            </a:r>
            <a:pPr indent="0" marL="0">
              <a:buNone/>
            </a:pPr>
            <a:r>
              <a:rPr lang="en-US" sz="740" dirty="0">
                <a:solidFill>
                  <a:srgbClr val="FBF8F1"/>
                </a:solidFill>
                <a:latin typeface="IBM Plex Sans" pitchFamily="34" charset="0"/>
                <a:ea typeface="IBM Plex Sans" pitchFamily="34" charset="-122"/>
                <a:cs typeface="IBM Plex Sans" pitchFamily="34" charset="-120"/>
              </a:rPr>
              <a:t>Domaine Les Lys</a:t>
            </a:r>
            <a:pPr indent="0" marL="0">
              <a:buNone/>
            </a:pPr>
            <a:r>
              <a:rPr lang="en-US" sz="740" b="1" dirty="0">
                <a:solidFill>
                  <a:srgbClr val="FBF8F1"/>
                </a:solidFill>
                <a:latin typeface="IBM Plex Sans" pitchFamily="34" charset="0"/>
                <a:ea typeface="IBM Plex Sans" pitchFamily="34" charset="-122"/>
                <a:cs typeface="IBM Plex Sans" pitchFamily="34" charset="-120"/>
              </a:rPr>
              <a:t>   60</a:t>
            </a:r>
            <a:endParaRPr lang="en-US" sz="740" dirty="0"/>
          </a:p>
        </p:txBody>
      </p:sp>
      <p:sp>
        <p:nvSpPr>
          <p:cNvPr id="75" name="Text 73"/>
          <p:cNvSpPr/>
          <p:nvPr/>
        </p:nvSpPr>
        <p:spPr>
          <a:xfrm>
            <a:off x="4860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36  </a:t>
            </a:r>
            <a:pPr indent="0" marL="0">
              <a:buNone/>
            </a:pPr>
            <a:r>
              <a:rPr lang="en-US" sz="740" dirty="0">
                <a:solidFill>
                  <a:srgbClr val="FBF8F1"/>
                </a:solidFill>
                <a:latin typeface="IBM Plex Sans" pitchFamily="34" charset="0"/>
                <a:ea typeface="IBM Plex Sans" pitchFamily="34" charset="-122"/>
                <a:cs typeface="IBM Plex Sans" pitchFamily="34" charset="-120"/>
              </a:rPr>
              <a:t>Prieuré Sainte-Marie d’Albas</a:t>
            </a:r>
            <a:pPr indent="0" marL="0">
              <a:buNone/>
            </a:pPr>
            <a:r>
              <a:rPr lang="en-US" sz="740" b="1" dirty="0">
                <a:solidFill>
                  <a:srgbClr val="FBF8F1"/>
                </a:solidFill>
                <a:latin typeface="IBM Plex Sans" pitchFamily="34" charset="0"/>
                <a:ea typeface="IBM Plex Sans" pitchFamily="34" charset="-122"/>
                <a:cs typeface="IBM Plex Sans" pitchFamily="34" charset="-120"/>
              </a:rPr>
              <a:t>   61</a:t>
            </a:r>
            <a:endParaRPr lang="en-US" sz="740" dirty="0"/>
          </a:p>
        </p:txBody>
      </p:sp>
      <p:sp>
        <p:nvSpPr>
          <p:cNvPr id="76" name="Shape 74"/>
          <p:cNvSpPr/>
          <p:nvPr/>
        </p:nvSpPr>
        <p:spPr>
          <a:xfrm>
            <a:off x="828000" y="8248500"/>
            <a:ext cx="6120000" cy="643500"/>
          </a:xfrm>
          <a:prstGeom prst="roundRect">
            <a:avLst>
              <a:gd name="adj" fmla="val 2131"/>
            </a:avLst>
          </a:prstGeom>
          <a:solidFill>
            <a:srgbClr val="FBF8F1"/>
          </a:solidFill>
          <a:ln w="12700">
            <a:solidFill>
              <a:srgbClr val="FBF8F1"/>
            </a:solidFill>
            <a:prstDash val="solid"/>
          </a:ln>
        </p:spPr>
      </p:sp>
      <p:sp>
        <p:nvSpPr>
          <p:cNvPr id="77" name="Text 75"/>
          <p:cNvSpPr/>
          <p:nvPr/>
        </p:nvSpPr>
        <p:spPr>
          <a:xfrm>
            <a:off x="936000" y="8306100"/>
            <a:ext cx="1800000" cy="216000"/>
          </a:xfrm>
          <a:prstGeom prst="rect">
            <a:avLst/>
          </a:prstGeom>
          <a:noFill/>
          <a:ln/>
        </p:spPr>
        <p:txBody>
          <a:bodyPr wrap="square" lIns="0" tIns="0" rIns="0" bIns="0" rtlCol="0" anchor="ctr"/>
          <a:lstStyle/>
          <a:p>
            <a:pPr indent="0" marL="0">
              <a:buNone/>
            </a:pPr>
            <a:r>
              <a:rPr lang="en-US" sz="1150" dirty="0">
                <a:solidFill>
                  <a:srgbClr val="46606E"/>
                </a:solidFill>
                <a:latin typeface="Young Serif" pitchFamily="34" charset="0"/>
                <a:ea typeface="Young Serif" pitchFamily="34" charset="-122"/>
                <a:cs typeface="Young Serif" pitchFamily="34" charset="-120"/>
              </a:rPr>
              <a:t>Champagne</a:t>
            </a:r>
            <a:endParaRPr lang="en-US" sz="1150" dirty="0"/>
          </a:p>
        </p:txBody>
      </p:sp>
      <p:sp>
        <p:nvSpPr>
          <p:cNvPr id="78" name="Text 76"/>
          <p:cNvSpPr/>
          <p:nvPr/>
        </p:nvSpPr>
        <p:spPr>
          <a:xfrm>
            <a:off x="2124000" y="8306100"/>
            <a:ext cx="2520000" cy="216000"/>
          </a:xfrm>
          <a:prstGeom prst="rect">
            <a:avLst/>
          </a:prstGeom>
          <a:noFill/>
          <a:ln/>
        </p:spPr>
        <p:txBody>
          <a:bodyPr wrap="square" lIns="0" tIns="0" rIns="0" bIns="0" rtlCol="0" anchor="ctr"/>
          <a:lstStyle/>
          <a:p>
            <a:pPr indent="0" marL="0">
              <a:buNone/>
            </a:pPr>
            <a:r>
              <a:rPr lang="en-US" sz="700" i="1" dirty="0">
                <a:solidFill>
                  <a:srgbClr val="46606E">
                    <a:alpha val="82000"/>
                  </a:srgbClr>
                </a:solidFill>
                <a:latin typeface="Spectral" pitchFamily="34" charset="0"/>
                <a:ea typeface="Spectral" pitchFamily="34" charset="-122"/>
                <a:cs typeface="Spectral" pitchFamily="34" charset="-120"/>
              </a:rPr>
              <a:t>la craie</a:t>
            </a:r>
            <a:endParaRPr lang="en-US" sz="700" dirty="0"/>
          </a:p>
        </p:txBody>
      </p:sp>
      <p:sp>
        <p:nvSpPr>
          <p:cNvPr id="79" name="Text 77"/>
          <p:cNvSpPr/>
          <p:nvPr/>
        </p:nvSpPr>
        <p:spPr>
          <a:xfrm>
            <a:off x="6516000" y="8306100"/>
            <a:ext cx="324000" cy="216000"/>
          </a:xfrm>
          <a:prstGeom prst="rect">
            <a:avLst/>
          </a:prstGeom>
          <a:noFill/>
          <a:ln/>
        </p:spPr>
        <p:txBody>
          <a:bodyPr wrap="square" lIns="0" tIns="0" rIns="0" bIns="0" rtlCol="0" anchor="ctr"/>
          <a:lstStyle/>
          <a:p>
            <a:pPr algn="ctr" indent="0" marL="0">
              <a:buNone/>
            </a:pPr>
            <a:r>
              <a:rPr lang="en-US" sz="750" b="1" dirty="0">
                <a:solidFill>
                  <a:srgbClr val="46606E"/>
                </a:solidFill>
                <a:latin typeface="IBM Plex Sans" pitchFamily="34" charset="0"/>
                <a:ea typeface="IBM Plex Sans" pitchFamily="34" charset="-122"/>
                <a:cs typeface="IBM Plex Sans" pitchFamily="34" charset="-120"/>
              </a:rPr>
              <a:t>4</a:t>
            </a:r>
            <a:endParaRPr lang="en-US" sz="750" dirty="0"/>
          </a:p>
        </p:txBody>
      </p:sp>
      <p:sp>
        <p:nvSpPr>
          <p:cNvPr id="80" name="Text 78"/>
          <p:cNvSpPr/>
          <p:nvPr/>
        </p:nvSpPr>
        <p:spPr>
          <a:xfrm>
            <a:off x="972000" y="85365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37  </a:t>
            </a:r>
            <a:pPr indent="0" marL="0">
              <a:buNone/>
            </a:pPr>
            <a:r>
              <a:rPr lang="en-US" sz="740" dirty="0">
                <a:solidFill>
                  <a:srgbClr val="46606E"/>
                </a:solidFill>
                <a:latin typeface="IBM Plex Sans" pitchFamily="34" charset="0"/>
                <a:ea typeface="IBM Plex Sans" pitchFamily="34" charset="-122"/>
                <a:cs typeface="IBM Plex Sans" pitchFamily="34" charset="-120"/>
              </a:rPr>
              <a:t>Champagne Dekeyne</a:t>
            </a:r>
            <a:pPr indent="0" marL="0">
              <a:buNone/>
            </a:pPr>
            <a:r>
              <a:rPr lang="en-US" sz="740" b="1" dirty="0">
                <a:solidFill>
                  <a:srgbClr val="46606E"/>
                </a:solidFill>
                <a:latin typeface="IBM Plex Sans" pitchFamily="34" charset="0"/>
                <a:ea typeface="IBM Plex Sans" pitchFamily="34" charset="-122"/>
                <a:cs typeface="IBM Plex Sans" pitchFamily="34" charset="-120"/>
              </a:rPr>
              <a:t>   64</a:t>
            </a:r>
            <a:endParaRPr lang="en-US" sz="740" dirty="0"/>
          </a:p>
        </p:txBody>
      </p:sp>
      <p:sp>
        <p:nvSpPr>
          <p:cNvPr id="81" name="Text 79"/>
          <p:cNvSpPr/>
          <p:nvPr/>
        </p:nvSpPr>
        <p:spPr>
          <a:xfrm>
            <a:off x="972000" y="86661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38  </a:t>
            </a:r>
            <a:pPr indent="0" marL="0">
              <a:buNone/>
            </a:pPr>
            <a:r>
              <a:rPr lang="en-US" sz="740" dirty="0">
                <a:solidFill>
                  <a:srgbClr val="46606E"/>
                </a:solidFill>
                <a:latin typeface="IBM Plex Sans" pitchFamily="34" charset="0"/>
                <a:ea typeface="IBM Plex Sans" pitchFamily="34" charset="-122"/>
                <a:cs typeface="IBM Plex Sans" pitchFamily="34" charset="-120"/>
              </a:rPr>
              <a:t>Champagne Denis Frézier</a:t>
            </a:r>
            <a:pPr indent="0" marL="0">
              <a:buNone/>
            </a:pPr>
            <a:r>
              <a:rPr lang="en-US" sz="740" b="1" dirty="0">
                <a:solidFill>
                  <a:srgbClr val="46606E"/>
                </a:solidFill>
                <a:latin typeface="IBM Plex Sans" pitchFamily="34" charset="0"/>
                <a:ea typeface="IBM Plex Sans" pitchFamily="34" charset="-122"/>
                <a:cs typeface="IBM Plex Sans" pitchFamily="34" charset="-120"/>
              </a:rPr>
              <a:t>   65</a:t>
            </a:r>
            <a:endParaRPr lang="en-US" sz="740" dirty="0"/>
          </a:p>
        </p:txBody>
      </p:sp>
      <p:sp>
        <p:nvSpPr>
          <p:cNvPr id="82" name="Text 80"/>
          <p:cNvSpPr/>
          <p:nvPr/>
        </p:nvSpPr>
        <p:spPr>
          <a:xfrm>
            <a:off x="3888000" y="85365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39  </a:t>
            </a:r>
            <a:pPr indent="0" marL="0">
              <a:buNone/>
            </a:pPr>
            <a:r>
              <a:rPr lang="en-US" sz="740" dirty="0">
                <a:solidFill>
                  <a:srgbClr val="46606E"/>
                </a:solidFill>
                <a:latin typeface="IBM Plex Sans" pitchFamily="34" charset="0"/>
                <a:ea typeface="IBM Plex Sans" pitchFamily="34" charset="-122"/>
                <a:cs typeface="IBM Plex Sans" pitchFamily="34" charset="-120"/>
              </a:rPr>
              <a:t>Champagne Solemme</a:t>
            </a:r>
            <a:pPr indent="0" marL="0">
              <a:buNone/>
            </a:pPr>
            <a:r>
              <a:rPr lang="en-US" sz="740" b="1" dirty="0">
                <a:solidFill>
                  <a:srgbClr val="46606E"/>
                </a:solidFill>
                <a:latin typeface="IBM Plex Sans" pitchFamily="34" charset="0"/>
                <a:ea typeface="IBM Plex Sans" pitchFamily="34" charset="-122"/>
                <a:cs typeface="IBM Plex Sans" pitchFamily="34" charset="-120"/>
              </a:rPr>
              <a:t>   66</a:t>
            </a:r>
            <a:endParaRPr lang="en-US" sz="740" dirty="0"/>
          </a:p>
        </p:txBody>
      </p:sp>
      <p:sp>
        <p:nvSpPr>
          <p:cNvPr id="83" name="Text 81"/>
          <p:cNvSpPr/>
          <p:nvPr/>
        </p:nvSpPr>
        <p:spPr>
          <a:xfrm>
            <a:off x="3888000" y="86661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40  </a:t>
            </a:r>
            <a:pPr indent="0" marL="0">
              <a:buNone/>
            </a:pPr>
            <a:r>
              <a:rPr lang="en-US" sz="740" dirty="0">
                <a:solidFill>
                  <a:srgbClr val="46606E"/>
                </a:solidFill>
                <a:latin typeface="IBM Plex Sans" pitchFamily="34" charset="0"/>
                <a:ea typeface="IBM Plex Sans" pitchFamily="34" charset="-122"/>
                <a:cs typeface="IBM Plex Sans" pitchFamily="34" charset="-120"/>
              </a:rPr>
              <a:t>Vazart-Coquart &amp; Fils</a:t>
            </a:r>
            <a:pPr indent="0" marL="0">
              <a:buNone/>
            </a:pPr>
            <a:r>
              <a:rPr lang="en-US" sz="740" b="1" dirty="0">
                <a:solidFill>
                  <a:srgbClr val="46606E"/>
                </a:solidFill>
                <a:latin typeface="IBM Plex Sans" pitchFamily="34" charset="0"/>
                <a:ea typeface="IBM Plex Sans" pitchFamily="34" charset="-122"/>
                <a:cs typeface="IBM Plex Sans" pitchFamily="34" charset="-120"/>
              </a:rPr>
              <a:t>   67</a:t>
            </a:r>
            <a:endParaRPr lang="en-US" sz="740" dirty="0"/>
          </a:p>
        </p:txBody>
      </p:sp>
      <p:sp>
        <p:nvSpPr>
          <p:cNvPr id="84" name="Text 8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85" name="Text 8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quatre alliances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QUE L'ON PEUT MÉLANGER ENTRE DOMAINES</a:t>
            </a:r>
            <a:endParaRPr lang="en-US" sz="800" dirty="0"/>
          </a:p>
        </p:txBody>
      </p:sp>
      <p:sp>
        <p:nvSpPr>
          <p:cNvPr id="4" name="Text 2"/>
          <p:cNvSpPr/>
          <p:nvPr/>
        </p:nvSpPr>
        <p:spPr>
          <a:xfrm>
            <a:off x="612000" y="1296000"/>
            <a:ext cx="6120000" cy="432000"/>
          </a:xfrm>
          <a:prstGeom prst="rect">
            <a:avLst/>
          </a:prstGeom>
          <a:noFill/>
          <a:ln/>
        </p:spPr>
        <p:txBody>
          <a:bodyPr wrap="square" lIns="0" tIns="0" rIns="0" bIns="0" rtlCol="0" anchor="ctr"/>
          <a:lstStyle/>
          <a:p>
            <a:pPr indent="0" marL="0">
              <a:buNone/>
            </a:pPr>
            <a:r>
              <a:rPr lang="en-US" sz="950" dirty="0">
                <a:solidFill>
                  <a:srgbClr val="46606E"/>
                </a:solidFill>
                <a:latin typeface="Spectral" pitchFamily="34" charset="0"/>
                <a:ea typeface="Spectral" pitchFamily="34" charset="-122"/>
                <a:cs typeface="Spectral" pitchFamily="34" charset="-120"/>
              </a:rPr>
              <a:t>Partout ailleurs, « Possibilité de panacher » vaut </a:t>
            </a:r>
            <a:pPr indent="0" marL="0">
              <a:buNone/>
            </a:pPr>
            <a:r>
              <a:rPr lang="en-US" sz="950" b="1" dirty="0">
                <a:solidFill>
                  <a:srgbClr val="67067C"/>
                </a:solidFill>
                <a:latin typeface="Spectral" pitchFamily="34" charset="0"/>
                <a:ea typeface="Spectral" pitchFamily="34" charset="-122"/>
                <a:cs typeface="Spectral" pitchFamily="34" charset="-120"/>
              </a:rPr>
              <a:t>à l'intérieur d'un domaine</a:t>
            </a:r>
            <a:pPr indent="0" marL="0">
              <a:buNone/>
            </a:pPr>
            <a:r>
              <a:rPr lang="en-US" sz="950" dirty="0">
                <a:solidFill>
                  <a:srgbClr val="46606E"/>
                </a:solidFill>
                <a:latin typeface="Spectral" pitchFamily="34" charset="0"/>
                <a:ea typeface="Spectral" pitchFamily="34" charset="-122"/>
                <a:cs typeface="Spectral" pitchFamily="34" charset="-120"/>
              </a:rPr>
              <a:t>. Ces quatre groupes-là se panachent </a:t>
            </a:r>
            <a:pPr indent="0" marL="0">
              <a:buNone/>
            </a:pPr>
            <a:r>
              <a:rPr lang="en-US" sz="950" b="1" dirty="0">
                <a:solidFill>
                  <a:srgbClr val="67067C"/>
                </a:solidFill>
                <a:latin typeface="Spectral" pitchFamily="34" charset="0"/>
                <a:ea typeface="Spectral" pitchFamily="34" charset="-122"/>
                <a:cs typeface="Spectral" pitchFamily="34" charset="-120"/>
              </a:rPr>
              <a:t>entre eux</a:t>
            </a:r>
            <a:pPr indent="0" marL="0">
              <a:buNone/>
            </a:pPr>
            <a:r>
              <a:rPr lang="en-US" sz="950" dirty="0">
                <a:solidFill>
                  <a:srgbClr val="46606E"/>
                </a:solidFill>
                <a:latin typeface="Spectral" pitchFamily="34" charset="0"/>
                <a:ea typeface="Spectral" pitchFamily="34" charset="-122"/>
                <a:cs typeface="Spectral" pitchFamily="34" charset="-120"/>
              </a:rPr>
              <a:t> : une commande peut mélanger leurs vins pour atteindre un palier.</a:t>
            </a:r>
            <a:endParaRPr lang="en-US" sz="950" dirty="0"/>
          </a:p>
        </p:txBody>
      </p:sp>
      <p:sp>
        <p:nvSpPr>
          <p:cNvPr id="5" name="Shape 3"/>
          <p:cNvSpPr/>
          <p:nvPr/>
        </p:nvSpPr>
        <p:spPr>
          <a:xfrm>
            <a:off x="612000" y="1800000"/>
            <a:ext cx="6120000" cy="720000"/>
          </a:xfrm>
          <a:prstGeom prst="roundRect">
            <a:avLst>
              <a:gd name="adj" fmla="val 1524"/>
            </a:avLst>
          </a:prstGeom>
          <a:solidFill>
            <a:srgbClr val="FBF8F1"/>
          </a:solidFill>
          <a:ln w="15240">
            <a:solidFill>
              <a:srgbClr val="A8515F"/>
            </a:solidFill>
            <a:prstDash val="solid"/>
          </a:ln>
        </p:spPr>
      </p:sp>
      <p:sp>
        <p:nvSpPr>
          <p:cNvPr id="6" name="Text 4"/>
          <p:cNvSpPr/>
          <p:nvPr/>
        </p:nvSpPr>
        <p:spPr>
          <a:xfrm>
            <a:off x="756000" y="1872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Domaine Jean de Villebois et Divin No Low</a:t>
            </a:r>
            <a:endParaRPr lang="en-US" sz="1300" dirty="0"/>
          </a:p>
        </p:txBody>
      </p:sp>
      <p:sp>
        <p:nvSpPr>
          <p:cNvPr id="7" name="Text 5"/>
          <p:cNvSpPr/>
          <p:nvPr/>
        </p:nvSpPr>
        <p:spPr>
          <a:xfrm>
            <a:off x="792000" y="21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Jean de Villebois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800" b="1" dirty="0">
                <a:solidFill>
                  <a:srgbClr val="46606E"/>
                </a:solidFill>
                <a:latin typeface="IBM Plex Sans" pitchFamily="34" charset="0"/>
                <a:ea typeface="IBM Plex Sans" pitchFamily="34" charset="-122"/>
                <a:cs typeface="IBM Plex Sans" pitchFamily="34" charset="-120"/>
              </a:rPr>
              <a:t>p. 13</a:t>
            </a:r>
            <a:endParaRPr lang="en-US" sz="800" dirty="0"/>
          </a:p>
        </p:txBody>
      </p:sp>
      <p:sp>
        <p:nvSpPr>
          <p:cNvPr id="8" name="Text 6"/>
          <p:cNvSpPr/>
          <p:nvPr/>
        </p:nvSpPr>
        <p:spPr>
          <a:xfrm>
            <a:off x="3852000" y="21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pPr indent="0" marL="0">
              <a:buNone/>
            </a:pPr>
            <a:r>
              <a:rPr lang="en-US" sz="800" b="1"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800" b="1" dirty="0">
                <a:solidFill>
                  <a:srgbClr val="46606E"/>
                </a:solidFill>
                <a:latin typeface="IBM Plex Sans" pitchFamily="34" charset="0"/>
                <a:ea typeface="IBM Plex Sans" pitchFamily="34" charset="-122"/>
                <a:cs typeface="IBM Plex Sans" pitchFamily="34" charset="-120"/>
              </a:rPr>
              <a:t>p. 15</a:t>
            </a:r>
            <a:endParaRPr lang="en-US" sz="800" dirty="0"/>
          </a:p>
        </p:txBody>
      </p:sp>
      <p:sp>
        <p:nvSpPr>
          <p:cNvPr id="9" name="Shape 7"/>
          <p:cNvSpPr/>
          <p:nvPr/>
        </p:nvSpPr>
        <p:spPr>
          <a:xfrm>
            <a:off x="612000" y="2700000"/>
            <a:ext cx="6120000" cy="972000"/>
          </a:xfrm>
          <a:prstGeom prst="roundRect">
            <a:avLst>
              <a:gd name="adj" fmla="val 1129"/>
            </a:avLst>
          </a:prstGeom>
          <a:solidFill>
            <a:srgbClr val="FBF8F1"/>
          </a:solidFill>
          <a:ln w="15240">
            <a:solidFill>
              <a:srgbClr val="A8515F"/>
            </a:solidFill>
            <a:prstDash val="solid"/>
          </a:ln>
        </p:spPr>
      </p:sp>
      <p:sp>
        <p:nvSpPr>
          <p:cNvPr id="10" name="Text 8"/>
          <p:cNvSpPr/>
          <p:nvPr/>
        </p:nvSpPr>
        <p:spPr>
          <a:xfrm>
            <a:off x="756000" y="2772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Maison André Goichot, Château du Cray et Domaine Les Guignottes</a:t>
            </a:r>
            <a:endParaRPr lang="en-US" sz="1300" dirty="0"/>
          </a:p>
        </p:txBody>
      </p:sp>
      <p:sp>
        <p:nvSpPr>
          <p:cNvPr id="11" name="Text 9"/>
          <p:cNvSpPr/>
          <p:nvPr/>
        </p:nvSpPr>
        <p:spPr>
          <a:xfrm>
            <a:off x="792000" y="30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pPr indent="0" marL="0">
              <a:buNone/>
            </a:pPr>
            <a:r>
              <a:rPr lang="en-US" sz="800" b="1" dirty="0">
                <a:solidFill>
                  <a:srgbClr val="46606E"/>
                </a:solidFill>
                <a:latin typeface="IBM Plex Sans" pitchFamily="34" charset="0"/>
                <a:ea typeface="IBM Plex Sans" pitchFamily="34" charset="-122"/>
                <a:cs typeface="IBM Plex Sans" pitchFamily="34" charset="-120"/>
              </a:rPr>
              <a:t>Maison et Domaine André Goichot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800" b="1" dirty="0">
                <a:solidFill>
                  <a:srgbClr val="46606E"/>
                </a:solidFill>
                <a:latin typeface="IBM Plex Sans" pitchFamily="34" charset="0"/>
                <a:ea typeface="IBM Plex Sans" pitchFamily="34" charset="-122"/>
                <a:cs typeface="IBM Plex Sans" pitchFamily="34" charset="-120"/>
              </a:rPr>
              <a:t>p. 25</a:t>
            </a:r>
            <a:endParaRPr lang="en-US" sz="800" dirty="0"/>
          </a:p>
        </p:txBody>
      </p:sp>
      <p:sp>
        <p:nvSpPr>
          <p:cNvPr id="12" name="Text 10"/>
          <p:cNvSpPr/>
          <p:nvPr/>
        </p:nvSpPr>
        <p:spPr>
          <a:xfrm>
            <a:off x="3852000" y="30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pPr indent="0" marL="0">
              <a:buNone/>
            </a:pPr>
            <a:r>
              <a:rPr lang="en-US" sz="800" b="1" dirty="0">
                <a:solidFill>
                  <a:srgbClr val="46606E"/>
                </a:solidFill>
                <a:latin typeface="IBM Plex Sans" pitchFamily="34" charset="0"/>
                <a:ea typeface="IBM Plex Sans" pitchFamily="34" charset="-122"/>
                <a:cs typeface="IBM Plex Sans" pitchFamily="34" charset="-120"/>
              </a:rPr>
              <a:t>Château du Cray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800" b="1" dirty="0">
                <a:solidFill>
                  <a:srgbClr val="46606E"/>
                </a:solidFill>
                <a:latin typeface="IBM Plex Sans" pitchFamily="34" charset="0"/>
                <a:ea typeface="IBM Plex Sans" pitchFamily="34" charset="-122"/>
                <a:cs typeface="IBM Plex Sans" pitchFamily="34" charset="-120"/>
              </a:rPr>
              <a:t>p. 27</a:t>
            </a:r>
            <a:endParaRPr lang="en-US" sz="800" dirty="0"/>
          </a:p>
        </p:txBody>
      </p:sp>
      <p:sp>
        <p:nvSpPr>
          <p:cNvPr id="13" name="Text 11"/>
          <p:cNvSpPr/>
          <p:nvPr/>
        </p:nvSpPr>
        <p:spPr>
          <a:xfrm>
            <a:off x="792000" y="33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Les Guignottes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800" b="1" dirty="0">
                <a:solidFill>
                  <a:srgbClr val="46606E"/>
                </a:solidFill>
                <a:latin typeface="IBM Plex Sans" pitchFamily="34" charset="0"/>
                <a:ea typeface="IBM Plex Sans" pitchFamily="34" charset="-122"/>
                <a:cs typeface="IBM Plex Sans" pitchFamily="34" charset="-120"/>
              </a:rPr>
              <a:t>p. 28</a:t>
            </a:r>
            <a:endParaRPr lang="en-US" sz="800" dirty="0"/>
          </a:p>
        </p:txBody>
      </p:sp>
      <p:sp>
        <p:nvSpPr>
          <p:cNvPr id="14" name="Shape 12"/>
          <p:cNvSpPr/>
          <p:nvPr/>
        </p:nvSpPr>
        <p:spPr>
          <a:xfrm>
            <a:off x="612000" y="3852000"/>
            <a:ext cx="6120000" cy="972000"/>
          </a:xfrm>
          <a:prstGeom prst="roundRect">
            <a:avLst>
              <a:gd name="adj" fmla="val 1129"/>
            </a:avLst>
          </a:prstGeom>
          <a:solidFill>
            <a:srgbClr val="FBF8F1"/>
          </a:solidFill>
          <a:ln w="15240">
            <a:solidFill>
              <a:srgbClr val="A8515F"/>
            </a:solidFill>
            <a:prstDash val="solid"/>
          </a:ln>
        </p:spPr>
      </p:sp>
      <p:sp>
        <p:nvSpPr>
          <p:cNvPr id="15" name="Text 13"/>
          <p:cNvSpPr/>
          <p:nvPr/>
        </p:nvSpPr>
        <p:spPr>
          <a:xfrm>
            <a:off x="756000" y="3924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Les quatre domaines Strasser Radziwill</a:t>
            </a:r>
            <a:endParaRPr lang="en-US" sz="1300" dirty="0"/>
          </a:p>
        </p:txBody>
      </p:sp>
      <p:sp>
        <p:nvSpPr>
          <p:cNvPr id="16" name="Text 14"/>
          <p:cNvSpPr/>
          <p:nvPr/>
        </p:nvSpPr>
        <p:spPr>
          <a:xfrm>
            <a:off x="792000" y="42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Le Prieuré des Papes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800" b="1" dirty="0">
                <a:solidFill>
                  <a:srgbClr val="46606E"/>
                </a:solidFill>
                <a:latin typeface="IBM Plex Sans" pitchFamily="34" charset="0"/>
                <a:ea typeface="IBM Plex Sans" pitchFamily="34" charset="-122"/>
                <a:cs typeface="IBM Plex Sans" pitchFamily="34" charset="-120"/>
              </a:rPr>
              <a:t>p. 31</a:t>
            </a:r>
            <a:endParaRPr lang="en-US" sz="800" dirty="0"/>
          </a:p>
        </p:txBody>
      </p:sp>
      <p:sp>
        <p:nvSpPr>
          <p:cNvPr id="17" name="Text 15"/>
          <p:cNvSpPr/>
          <p:nvPr/>
        </p:nvSpPr>
        <p:spPr>
          <a:xfrm>
            <a:off x="3852000" y="42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de Coyeux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800" b="1" dirty="0">
                <a:solidFill>
                  <a:srgbClr val="46606E"/>
                </a:solidFill>
                <a:latin typeface="IBM Plex Sans" pitchFamily="34" charset="0"/>
                <a:ea typeface="IBM Plex Sans" pitchFamily="34" charset="-122"/>
                <a:cs typeface="IBM Plex Sans" pitchFamily="34" charset="-120"/>
              </a:rPr>
              <a:t>p. 32</a:t>
            </a:r>
            <a:endParaRPr lang="en-US" sz="800" dirty="0"/>
          </a:p>
        </p:txBody>
      </p:sp>
      <p:sp>
        <p:nvSpPr>
          <p:cNvPr id="18" name="Text 16"/>
          <p:cNvSpPr/>
          <p:nvPr/>
        </p:nvSpPr>
        <p:spPr>
          <a:xfrm>
            <a:off x="792000" y="44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du Moulin Blanc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800" b="1" dirty="0">
                <a:solidFill>
                  <a:srgbClr val="46606E"/>
                </a:solidFill>
                <a:latin typeface="IBM Plex Sans" pitchFamily="34" charset="0"/>
                <a:ea typeface="IBM Plex Sans" pitchFamily="34" charset="-122"/>
                <a:cs typeface="IBM Plex Sans" pitchFamily="34" charset="-120"/>
              </a:rPr>
              <a:t>p. 33</a:t>
            </a:r>
            <a:endParaRPr lang="en-US" sz="800" dirty="0"/>
          </a:p>
        </p:txBody>
      </p:sp>
      <p:sp>
        <p:nvSpPr>
          <p:cNvPr id="19" name="Text 17"/>
          <p:cNvSpPr/>
          <p:nvPr/>
        </p:nvSpPr>
        <p:spPr>
          <a:xfrm>
            <a:off x="3852000" y="44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de la Pousterle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800" b="1" dirty="0">
                <a:solidFill>
                  <a:srgbClr val="46606E"/>
                </a:solidFill>
                <a:latin typeface="IBM Plex Sans" pitchFamily="34" charset="0"/>
                <a:ea typeface="IBM Plex Sans" pitchFamily="34" charset="-122"/>
                <a:cs typeface="IBM Plex Sans" pitchFamily="34" charset="-120"/>
              </a:rPr>
              <a:t>p. 34</a:t>
            </a:r>
            <a:endParaRPr lang="en-US" sz="800" dirty="0"/>
          </a:p>
        </p:txBody>
      </p:sp>
      <p:sp>
        <p:nvSpPr>
          <p:cNvPr id="20" name="Shape 18"/>
          <p:cNvSpPr/>
          <p:nvPr/>
        </p:nvSpPr>
        <p:spPr>
          <a:xfrm>
            <a:off x="612000" y="5004000"/>
            <a:ext cx="6120000" cy="720000"/>
          </a:xfrm>
          <a:prstGeom prst="roundRect">
            <a:avLst>
              <a:gd name="adj" fmla="val 1524"/>
            </a:avLst>
          </a:prstGeom>
          <a:solidFill>
            <a:srgbClr val="FBF8F1"/>
          </a:solidFill>
          <a:ln w="15240">
            <a:solidFill>
              <a:srgbClr val="A8515F"/>
            </a:solidFill>
            <a:prstDash val="solid"/>
          </a:ln>
        </p:spPr>
      </p:sp>
      <p:sp>
        <p:nvSpPr>
          <p:cNvPr id="21" name="Text 19"/>
          <p:cNvSpPr/>
          <p:nvPr/>
        </p:nvSpPr>
        <p:spPr>
          <a:xfrm>
            <a:off x="756000" y="5076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Famille d’Exea : les vins et les jus de cépages</a:t>
            </a:r>
            <a:endParaRPr lang="en-US" sz="1300" dirty="0"/>
          </a:p>
        </p:txBody>
      </p:sp>
      <p:sp>
        <p:nvSpPr>
          <p:cNvPr id="22" name="Text 20"/>
          <p:cNvSpPr/>
          <p:nvPr/>
        </p:nvSpPr>
        <p:spPr>
          <a:xfrm>
            <a:off x="792000" y="53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pPr indent="0" marL="0">
              <a:buNone/>
            </a:pPr>
            <a:r>
              <a:rPr lang="en-US" sz="800" b="1"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800" b="1" dirty="0">
                <a:solidFill>
                  <a:srgbClr val="46606E"/>
                </a:solidFill>
                <a:latin typeface="IBM Plex Sans" pitchFamily="34" charset="0"/>
                <a:ea typeface="IBM Plex Sans" pitchFamily="34" charset="-122"/>
                <a:cs typeface="IBM Plex Sans" pitchFamily="34" charset="-120"/>
              </a:rPr>
              <a:t>p. 56</a:t>
            </a:r>
            <a:endParaRPr lang="en-US" sz="800" dirty="0"/>
          </a:p>
        </p:txBody>
      </p:sp>
      <p:sp>
        <p:nvSpPr>
          <p:cNvPr id="23" name="Text 21"/>
          <p:cNvSpPr/>
          <p:nvPr/>
        </p:nvSpPr>
        <p:spPr>
          <a:xfrm>
            <a:off x="3852000" y="53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pPr indent="0" marL="0">
              <a:buNone/>
            </a:pPr>
            <a:r>
              <a:rPr lang="en-US" sz="800" b="1"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800" b="1" dirty="0">
                <a:solidFill>
                  <a:srgbClr val="46606E"/>
                </a:solidFill>
                <a:latin typeface="IBM Plex Sans" pitchFamily="34" charset="0"/>
                <a:ea typeface="IBM Plex Sans" pitchFamily="34" charset="-122"/>
                <a:cs typeface="IBM Plex Sans" pitchFamily="34" charset="-120"/>
              </a:rPr>
              <a:t>p. 58</a:t>
            </a:r>
            <a:endParaRPr lang="en-US" sz="800" dirty="0"/>
          </a:p>
        </p:txBody>
      </p:sp>
      <p:sp>
        <p:nvSpPr>
          <p:cNvPr id="24" name="Text 22"/>
          <p:cNvSpPr/>
          <p:nvPr/>
        </p:nvSpPr>
        <p:spPr>
          <a:xfrm>
            <a:off x="612000" y="8460000"/>
            <a:ext cx="6120000" cy="288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Les paliers restent ceux de chaque domaine : le panachage permet d’atteindre la quantité, il ne change pas le tarif de la bouteille.</a:t>
            </a:r>
            <a:endParaRPr lang="en-US" sz="860" dirty="0"/>
          </a:p>
        </p:txBody>
      </p:sp>
      <p:sp>
        <p:nvSpPr>
          <p:cNvPr id="25"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6"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68</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pPr indent="0" marL="0">
              <a:buNone/>
            </a:pPr>
            <a:r>
              <a:rPr lang="en-US" sz="860" dirty="0">
                <a:solidFill>
                  <a:srgbClr val="FBF8F1"/>
                </a:solidFill>
                <a:latin typeface="IBM Plex Sans" pitchFamily="34" charset="0"/>
                <a:ea typeface="IBM Plex Sans" pitchFamily="34" charset="-122"/>
                <a:cs typeface="IBM Plex Sans" pitchFamily="34" charset="-120"/>
              </a:rPr>
              <a:t>François Reverdy</a:t>
            </a:r>
            <a:pPr indent="0" marL="0">
              <a:buNone/>
            </a:pP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 la Barbinière</a:t>
            </a:r>
            <a:pPr indent="0" marL="0">
              <a:buNone/>
            </a:pP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du Colombier / J.Y Bretaudeau</a:t>
            </a:r>
            <a:pPr indent="0" marL="0">
              <a:buNone/>
            </a:pP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des Noëls</a:t>
            </a:r>
            <a:pPr indent="0" marL="0">
              <a:buNone/>
            </a:pPr>
            <a:r>
              <a:rPr lang="en-US" sz="860" b="1" dirty="0">
                <a:solidFill>
                  <a:srgbClr val="FBF8F1"/>
                </a:solidFill>
                <a:latin typeface="IBM Plex Sans" pitchFamily="34" charset="0"/>
                <a:ea typeface="IBM Plex Sans" pitchFamily="34" charset="-122"/>
                <a:cs typeface="IBM Plex Sans" pitchFamily="34" charset="-120"/>
              </a:rPr>
              <a:t>   11</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pPr indent="0" marL="0">
              <a:buNone/>
            </a:pPr>
            <a:r>
              <a:rPr lang="en-US" sz="860" dirty="0">
                <a:solidFill>
                  <a:srgbClr val="FBF8F1"/>
                </a:solidFill>
                <a:latin typeface="IBM Plex Sans" pitchFamily="34" charset="0"/>
                <a:ea typeface="IBM Plex Sans" pitchFamily="34" charset="-122"/>
                <a:cs typeface="IBM Plex Sans" pitchFamily="34" charset="-120"/>
              </a:rPr>
              <a:t>Chai Berteaud Manceau</a:t>
            </a:r>
            <a:pPr indent="0" marL="0">
              <a:buNone/>
            </a:pP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pPr indent="0" marL="0">
              <a:buNone/>
            </a:pPr>
            <a:r>
              <a:rPr lang="en-US" sz="860" dirty="0">
                <a:solidFill>
                  <a:srgbClr val="FBF8F1"/>
                </a:solidFill>
                <a:latin typeface="IBM Plex Sans" pitchFamily="34" charset="0"/>
                <a:ea typeface="IBM Plex Sans" pitchFamily="34" charset="-122"/>
                <a:cs typeface="IBM Plex Sans" pitchFamily="34" charset="-120"/>
              </a:rPr>
              <a:t>Domaine Jean de Villebois</a:t>
            </a:r>
            <a:pPr indent="0" marL="0">
              <a:buNone/>
            </a:pPr>
            <a:r>
              <a:rPr lang="en-US" sz="860" b="1" dirty="0">
                <a:solidFill>
                  <a:srgbClr val="FBF8F1"/>
                </a:solidFill>
                <a:latin typeface="IBM Plex Sans" pitchFamily="34" charset="0"/>
                <a:ea typeface="IBM Plex Sans" pitchFamily="34" charset="-122"/>
                <a:cs typeface="IBM Plex Sans" pitchFamily="34" charset="-120"/>
              </a:rPr>
              <a:t>   13</a:t>
            </a:r>
            <a:endParaRPr lang="en-US" sz="860" dirty="0"/>
          </a:p>
        </p:txBody>
      </p:sp>
      <p:sp>
        <p:nvSpPr>
          <p:cNvPr id="18" name="Text 14"/>
          <p:cNvSpPr/>
          <p:nvPr/>
        </p:nvSpPr>
        <p:spPr>
          <a:xfrm>
            <a:off x="828000" y="7884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pPr indent="0" marL="0">
              <a:buNone/>
            </a:pPr>
            <a:r>
              <a:rPr lang="en-US" sz="860" dirty="0">
                <a:solidFill>
                  <a:srgbClr val="FBF8F1"/>
                </a:solidFill>
                <a:latin typeface="IBM Plex Sans" pitchFamily="34" charset="0"/>
                <a:ea typeface="IBM Plex Sans" pitchFamily="34" charset="-122"/>
                <a:cs typeface="IBM Plex Sans" pitchFamily="34" charset="-120"/>
              </a:rPr>
              <a:t>Divin No Low</a:t>
            </a:r>
            <a:pPr indent="0" marL="0">
              <a:buNone/>
            </a:pP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6</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i="1" dirty="0">
                <a:solidFill>
                  <a:srgbClr val="46606E"/>
                </a:solidFill>
                <a:latin typeface="Spectral" pitchFamily="34" charset="0"/>
                <a:ea typeface="Spectral" pitchFamily="34" charset="-122"/>
                <a:cs typeface="Spectral" pitchFamily="34" charset="-120"/>
              </a:rPr>
              <a:t>Le tarif de l'Agence SCIO ne donne pas de présentation pour ce domaine. Nous n'en inventons pas.</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Sur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pPr indent="0" marL="0">
              <a:lnSpc>
                <a:spcPct val="104000"/>
              </a:lnSpc>
              <a:buNone/>
            </a:pP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Quatre générations de passionnés et adhérent historique des Vignerons Indépendants : Jean-Yves Bretaudeau allie bon sens paysan et précision œnologique. Certifié HVE, le domaine préserve ses paysages ligériens pour des vins friands et expressifs.</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   Domaine du Colombier / J.Y Bretaudeau</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287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87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52422"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24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828000" y="292666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8388000"/>
            <a:ext cx="6120000" cy="0"/>
          </a:xfrm>
          <a:prstGeom prst="line">
            <a:avLst/>
          </a:prstGeom>
          <a:noFill/>
          <a:ln w="8890">
            <a:solidFill>
              <a:srgbClr val="46606E"/>
            </a:solidFill>
            <a:prstDash val="solid"/>
          </a:ln>
        </p:spPr>
      </p:sp>
      <p:sp>
        <p:nvSpPr>
          <p:cNvPr id="16" name="Text 11"/>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7" name="Text 12"/>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8" name="Text 13"/>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19"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0"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Depuis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Premier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828000" y="8388000"/>
            <a:ext cx="6120000" cy="0"/>
          </a:xfrm>
          <a:prstGeom prst="line">
            <a:avLst/>
          </a:prstGeom>
          <a:noFill/>
          <a:ln w="8890">
            <a:solidFill>
              <a:srgbClr val="46606E"/>
            </a:solidFill>
            <a:prstDash val="solid"/>
          </a:ln>
        </p:spPr>
      </p:sp>
      <p:sp>
        <p:nvSpPr>
          <p:cNvPr id="20"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4"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864357" cy="180000"/>
          </a:xfrm>
          <a:prstGeom prst="roundRect">
            <a:avLst>
              <a:gd name="adj" fmla="val 10160"/>
            </a:avLst>
          </a:prstGeom>
          <a:solidFill>
            <a:srgbClr val="D08C3C"/>
          </a:solidFill>
          <a:ln w="8890">
            <a:solidFill>
              <a:srgbClr val="D08C3C"/>
            </a:solidFill>
            <a:prstDash val="solid"/>
          </a:ln>
        </p:spPr>
      </p:sp>
      <p:sp>
        <p:nvSpPr>
          <p:cNvPr id="10" name="Text 7"/>
          <p:cNvSpPr/>
          <p:nvPr/>
        </p:nvSpPr>
        <p:spPr>
          <a:xfrm>
            <a:off x="2043390"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1" name="Shape 8"/>
          <p:cNvSpPr/>
          <p:nvPr/>
        </p:nvSpPr>
        <p:spPr>
          <a:xfrm>
            <a:off x="2986947"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986947"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Spécialiste du Sauvignon Blanc ligérien, le domaine explore les plus beaux terroirs de Loire (Sancerre, Pouilly-Fumé, Menetou-Salon, Touraine). Techniques modernes et respect de la typicité des sols calcaires et de silex pour des blancs d’une grande pureté.</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15</a:t>
            </a:r>
            <a:endParaRPr lang="en-US" sz="740" dirty="0"/>
          </a:p>
        </p:txBody>
      </p:sp>
      <p:sp>
        <p:nvSpPr>
          <p:cNvPr id="20" name="Shape 16"/>
          <p:cNvSpPr/>
          <p:nvPr/>
        </p:nvSpPr>
        <p:spPr>
          <a:xfrm>
            <a:off x="612000" y="8388000"/>
            <a:ext cx="6120000" cy="0"/>
          </a:xfrm>
          <a:prstGeom prst="line">
            <a:avLst/>
          </a:prstGeom>
          <a:noFill/>
          <a:ln w="8890">
            <a:solidFill>
              <a:srgbClr val="46606E"/>
            </a:solidFill>
            <a:prstDash val="solid"/>
          </a:ln>
        </p:spPr>
      </p:sp>
      <p:sp>
        <p:nvSpPr>
          <p:cNvPr id="21"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5"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Jean de Villebois</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864357" cy="180000"/>
          </a:xfrm>
          <a:prstGeom prst="roundRect">
            <a:avLst>
              <a:gd name="adj" fmla="val 10160"/>
            </a:avLst>
          </a:prstGeom>
          <a:solidFill>
            <a:srgbClr val="D08C3C"/>
          </a:solidFill>
          <a:ln w="8890">
            <a:solidFill>
              <a:srgbClr val="D08C3C"/>
            </a:solidFill>
            <a:prstDash val="solid"/>
          </a:ln>
        </p:spPr>
      </p:sp>
      <p:sp>
        <p:nvSpPr>
          <p:cNvPr id="10" name="Text 7"/>
          <p:cNvSpPr/>
          <p:nvPr/>
        </p:nvSpPr>
        <p:spPr>
          <a:xfrm>
            <a:off x="2259390"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1" name="Shape 8"/>
          <p:cNvSpPr/>
          <p:nvPr/>
        </p:nvSpPr>
        <p:spPr>
          <a:xfrm>
            <a:off x="3202947"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3202947"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15</a:t>
            </a:r>
            <a:endParaRPr lang="en-US" sz="740" dirty="0"/>
          </a:p>
        </p:txBody>
      </p:sp>
      <p:sp>
        <p:nvSpPr>
          <p:cNvPr id="15" name="Shape 11"/>
          <p:cNvSpPr/>
          <p:nvPr/>
        </p:nvSpPr>
        <p:spPr>
          <a:xfrm>
            <a:off x="828000" y="8388000"/>
            <a:ext cx="6120000" cy="0"/>
          </a:xfrm>
          <a:prstGeom prst="line">
            <a:avLst/>
          </a:prstGeom>
          <a:noFill/>
          <a:ln w="8890">
            <a:solidFill>
              <a:srgbClr val="46606E"/>
            </a:solidFill>
            <a:prstDash val="solid"/>
          </a:ln>
        </p:spPr>
      </p:sp>
      <p:sp>
        <p:nvSpPr>
          <p:cNvPr id="16"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7"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18"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1" name="Shape 8"/>
          <p:cNvSpPr/>
          <p:nvPr/>
        </p:nvSpPr>
        <p:spPr>
          <a:xfrm>
            <a:off x="612000" y="1357200"/>
            <a:ext cx="1152000" cy="1152000"/>
          </a:xfrm>
          <a:prstGeom prst="ellipse">
            <a:avLst/>
          </a:prstGeom>
          <a:solidFill>
            <a:srgbClr val="F2EADA"/>
          </a:solidFill>
          <a:ln w="12700">
            <a:solidFill>
              <a:srgbClr val="46606E"/>
            </a:solidFill>
            <a:prstDash val="dash"/>
          </a:ln>
        </p:spPr>
      </p:sp>
      <p:sp>
        <p:nvSpPr>
          <p:cNvPr id="12" name="Text 9"/>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3"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4"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5" name="Text 12"/>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Le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13</a:t>
            </a:r>
            <a:endParaRPr lang="en-US" sz="740" dirty="0"/>
          </a:p>
        </p:txBody>
      </p:sp>
      <p:sp>
        <p:nvSpPr>
          <p:cNvPr id="18" name="Shape 14"/>
          <p:cNvSpPr/>
          <p:nvPr/>
        </p:nvSpPr>
        <p:spPr>
          <a:xfrm>
            <a:off x="612000" y="8388000"/>
            <a:ext cx="6120000" cy="0"/>
          </a:xfrm>
          <a:prstGeom prst="line">
            <a:avLst/>
          </a:prstGeom>
          <a:noFill/>
          <a:ln w="8890">
            <a:solidFill>
              <a:srgbClr val="46606E"/>
            </a:solidFill>
            <a:prstDash val="solid"/>
          </a:ln>
        </p:spPr>
      </p:sp>
      <p:sp>
        <p:nvSpPr>
          <p:cNvPr id="19" name="Text 15"/>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0" name="Text 16"/>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1"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2"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3"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alsa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pPr indent="0" marL="0">
              <a:buNone/>
            </a:pPr>
            <a:r>
              <a:rPr lang="en-US" sz="860" dirty="0">
                <a:solidFill>
                  <a:srgbClr val="FBF8F1"/>
                </a:solidFill>
                <a:latin typeface="IBM Plex Sans" pitchFamily="34" charset="0"/>
                <a:ea typeface="IBM Plex Sans" pitchFamily="34" charset="-122"/>
                <a:cs typeface="IBM Plex Sans" pitchFamily="34" charset="-120"/>
              </a:rPr>
              <a:t>Domaine Boehler</a:t>
            </a:r>
            <a:pPr indent="0" marL="0">
              <a:buNone/>
            </a:pP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16</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Berceau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Conditions de port non précisées par le domaine — nous consulter.</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Boehler</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Shape 10"/>
          <p:cNvSpPr/>
          <p:nvPr/>
        </p:nvSpPr>
        <p:spPr>
          <a:xfrm>
            <a:off x="828000" y="8388000"/>
            <a:ext cx="6120000" cy="0"/>
          </a:xfrm>
          <a:prstGeom prst="line">
            <a:avLst/>
          </a:prstGeom>
          <a:noFill/>
          <a:ln w="8890">
            <a:solidFill>
              <a:srgbClr val="46606E"/>
            </a:solidFill>
            <a:prstDash val="solid"/>
          </a:ln>
        </p:spPr>
      </p:sp>
      <p:sp>
        <p:nvSpPr>
          <p:cNvPr id="15" name="Text 11"/>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Conditions de port non précisées par le domaine — nous consulter.</a:t>
            </a:r>
            <a:endParaRPr lang="en-US" sz="720" dirty="0"/>
          </a:p>
        </p:txBody>
      </p:sp>
      <p:sp>
        <p:nvSpPr>
          <p:cNvPr id="16" name="Text 12"/>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17" name="Text 13"/>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eaujolais.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eaujolais.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Beaujolais</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le Clos des Nugues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des Nugues</a:t>
            </a:r>
            <a:pPr indent="0" marL="0">
              <a:buNone/>
            </a:pP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287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87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52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2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En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828000" y="8388000"/>
            <a:ext cx="6120000" cy="0"/>
          </a:xfrm>
          <a:prstGeom prst="line">
            <a:avLst/>
          </a:prstGeom>
          <a:noFill/>
          <a:ln w="8890">
            <a:solidFill>
              <a:srgbClr val="46606E"/>
            </a:solidFill>
            <a:prstDash val="solid"/>
          </a:ln>
        </p:spPr>
      </p:sp>
      <p:sp>
        <p:nvSpPr>
          <p:cNvPr id="20"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4"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pPr indent="0" marL="0">
              <a:buNone/>
            </a:pPr>
            <a:r>
              <a:rPr lang="en-US" sz="860" dirty="0">
                <a:solidFill>
                  <a:srgbClr val="FBF8F1"/>
                </a:solidFill>
                <a:latin typeface="IBM Plex Sans" pitchFamily="34" charset="0"/>
                <a:ea typeface="IBM Plex Sans" pitchFamily="34" charset="-122"/>
                <a:cs typeface="IBM Plex Sans" pitchFamily="34" charset="-120"/>
              </a:rPr>
              <a:t>Domaine Sébastien Magnien</a:t>
            </a:r>
            <a:pPr indent="0" marL="0">
              <a:buNone/>
            </a:pP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11   </a:t>
            </a:r>
            <a:pPr indent="0" marL="0">
              <a:buNone/>
            </a:pPr>
            <a:r>
              <a:rPr lang="en-US" sz="860" dirty="0">
                <a:solidFill>
                  <a:srgbClr val="FBF8F1"/>
                </a:solidFill>
                <a:latin typeface="IBM Plex Sans" pitchFamily="34" charset="0"/>
                <a:ea typeface="IBM Plex Sans" pitchFamily="34" charset="-122"/>
                <a:cs typeface="IBM Plex Sans" pitchFamily="34" charset="-120"/>
              </a:rPr>
              <a:t>Domaine Nadine Ferrand</a:t>
            </a:r>
            <a:pPr indent="0" marL="0">
              <a:buNone/>
            </a:pP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pPr indent="0" marL="0">
              <a:buNone/>
            </a:pPr>
            <a:r>
              <a:rPr lang="en-US" sz="860" dirty="0">
                <a:solidFill>
                  <a:srgbClr val="FBF8F1"/>
                </a:solidFill>
                <a:latin typeface="IBM Plex Sans" pitchFamily="34" charset="0"/>
                <a:ea typeface="IBM Plex Sans" pitchFamily="34" charset="-122"/>
                <a:cs typeface="IBM Plex Sans" pitchFamily="34" charset="-120"/>
              </a:rPr>
              <a:t>Maison et Domaine André Goichot</a:t>
            </a:r>
            <a:pPr indent="0" marL="0">
              <a:buNone/>
            </a:pP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du Cray</a:t>
            </a:r>
            <a:pPr indent="0" marL="0">
              <a:buNone/>
            </a:pP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pPr indent="0" marL="0">
              <a:buNone/>
            </a:pPr>
            <a:r>
              <a:rPr lang="en-US" sz="860" dirty="0">
                <a:solidFill>
                  <a:srgbClr val="FBF8F1"/>
                </a:solidFill>
                <a:latin typeface="IBM Plex Sans" pitchFamily="34" charset="0"/>
                <a:ea typeface="IBM Plex Sans" pitchFamily="34" charset="-122"/>
                <a:cs typeface="IBM Plex Sans" pitchFamily="34" charset="-120"/>
              </a:rPr>
              <a:t>Domaine Les Guignottes</a:t>
            </a:r>
            <a:pPr indent="0" marL="0">
              <a:buNone/>
            </a:pPr>
            <a:r>
              <a:rPr lang="en-US" sz="860" b="1" dirty="0">
                <a:solidFill>
                  <a:srgbClr val="FBF8F1"/>
                </a:solidFill>
                <a:latin typeface="IBM Plex Sans" pitchFamily="34" charset="0"/>
                <a:ea typeface="IBM Plex Sans" pitchFamily="34" charset="-122"/>
                <a:cs typeface="IBM Plex Sans" pitchFamily="34" charset="-120"/>
              </a:rPr>
              <a:t>   28</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15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des Verchères</a:t>
            </a:r>
            <a:pPr indent="0" marL="0">
              <a:buNone/>
            </a:pP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21</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Installé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Sébastien Magnien</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077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077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788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88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252750"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25275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2"/>
          <p:cNvSpPr/>
          <p:nvPr/>
        </p:nvSpPr>
        <p:spPr>
          <a:xfrm>
            <a:off x="612000" y="8388000"/>
            <a:ext cx="6120000" cy="0"/>
          </a:xfrm>
          <a:prstGeom prst="line">
            <a:avLst/>
          </a:prstGeom>
          <a:noFill/>
          <a:ln w="8890">
            <a:solidFill>
              <a:srgbClr val="46606E"/>
            </a:solidFill>
            <a:prstDash val="solid"/>
          </a:ln>
        </p:spPr>
      </p:sp>
      <p:sp>
        <p:nvSpPr>
          <p:cNvPr id="17"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8"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9"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0"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1"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Depuis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pPr indent="0" marL="0">
              <a:lnSpc>
                <a:spcPct val="104000"/>
              </a:lnSpc>
              <a:buNone/>
            </a:pP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630911" cy="180000"/>
          </a:xfrm>
          <a:prstGeom prst="roundRect">
            <a:avLst>
              <a:gd name="adj" fmla="val 10160"/>
            </a:avLst>
          </a:prstGeom>
          <a:solidFill>
            <a:srgbClr val="67067C"/>
          </a:solidFill>
          <a:ln w="8890">
            <a:solidFill>
              <a:srgbClr val="67067C"/>
            </a:solidFill>
            <a:prstDash val="solid"/>
          </a:ln>
        </p:spPr>
      </p:sp>
      <p:sp>
        <p:nvSpPr>
          <p:cNvPr id="8" name="Text 5"/>
          <p:cNvSpPr/>
          <p:nvPr/>
        </p:nvSpPr>
        <p:spPr>
          <a:xfrm>
            <a:off x="6120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9" name="Shape 6"/>
          <p:cNvSpPr/>
          <p:nvPr/>
        </p:nvSpPr>
        <p:spPr>
          <a:xfrm>
            <a:off x="132211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32211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753500"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350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Fleuron familial et indépendant fondé en 1947, la Maison André Goichot porte l’exigence des grands climats de Bourgogne. Sélections parcellaires méticuleuses et cuverie d’élevage de pointe inaugurée en 2020.</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27 · n°14 p. 28</a:t>
            </a:r>
            <a:endParaRPr lang="en-US" sz="740" dirty="0"/>
          </a:p>
        </p:txBody>
      </p:sp>
      <p:sp>
        <p:nvSpPr>
          <p:cNvPr id="20" name="Shape 16"/>
          <p:cNvSpPr/>
          <p:nvPr/>
        </p:nvSpPr>
        <p:spPr>
          <a:xfrm>
            <a:off x="612000" y="8388000"/>
            <a:ext cx="6120000" cy="0"/>
          </a:xfrm>
          <a:prstGeom prst="line">
            <a:avLst/>
          </a:prstGeom>
          <a:noFill/>
          <a:ln w="8890">
            <a:solidFill>
              <a:srgbClr val="46606E"/>
            </a:solidFill>
            <a:prstDash val="solid"/>
          </a:ln>
        </p:spPr>
      </p:sp>
      <p:sp>
        <p:nvSpPr>
          <p:cNvPr id="21"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2"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5"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pPr indent="0" marL="0">
              <a:lnSpc>
                <a:spcPct val="104000"/>
              </a:lnSpc>
              <a:buNone/>
            </a:pPr>
            <a:r>
              <a:rPr lang="en-US" sz="1750" dirty="0">
                <a:solidFill>
                  <a:srgbClr val="46606E"/>
                </a:solidFill>
                <a:latin typeface="Young Serif" pitchFamily="34" charset="0"/>
                <a:ea typeface="Young Serif" pitchFamily="34" charset="-122"/>
                <a:cs typeface="Young Serif" pitchFamily="34" charset="-120"/>
              </a:rPr>
              <a:t>   Maison et Domaine André Goichot</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630911" cy="180000"/>
          </a:xfrm>
          <a:prstGeom prst="roundRect">
            <a:avLst>
              <a:gd name="adj" fmla="val 10160"/>
            </a:avLst>
          </a:prstGeom>
          <a:solidFill>
            <a:srgbClr val="67067C"/>
          </a:solidFill>
          <a:ln w="8890">
            <a:solidFill>
              <a:srgbClr val="67067C"/>
            </a:solidFill>
            <a:prstDash val="solid"/>
          </a:ln>
        </p:spPr>
      </p:sp>
      <p:sp>
        <p:nvSpPr>
          <p:cNvPr id="8" name="Text 5"/>
          <p:cNvSpPr/>
          <p:nvPr/>
        </p:nvSpPr>
        <p:spPr>
          <a:xfrm>
            <a:off x="8280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9" name="Shape 6"/>
          <p:cNvSpPr/>
          <p:nvPr/>
        </p:nvSpPr>
        <p:spPr>
          <a:xfrm>
            <a:off x="153811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53811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969500"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96950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27 · n°14 p. 28</a:t>
            </a:r>
            <a:endParaRPr lang="en-US" sz="740" dirty="0"/>
          </a:p>
        </p:txBody>
      </p:sp>
      <p:sp>
        <p:nvSpPr>
          <p:cNvPr id="15" name="Shape 11"/>
          <p:cNvSpPr/>
          <p:nvPr/>
        </p:nvSpPr>
        <p:spPr>
          <a:xfrm>
            <a:off x="828000" y="8388000"/>
            <a:ext cx="6120000" cy="0"/>
          </a:xfrm>
          <a:prstGeom prst="line">
            <a:avLst/>
          </a:prstGeom>
          <a:noFill/>
          <a:ln w="8890">
            <a:solidFill>
              <a:srgbClr val="46606E"/>
            </a:solidFill>
            <a:prstDash val="solid"/>
          </a:ln>
        </p:spPr>
      </p:sp>
      <p:sp>
        <p:nvSpPr>
          <p:cNvPr id="16"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17"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8"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1" name="Shape 8"/>
          <p:cNvSpPr/>
          <p:nvPr/>
        </p:nvSpPr>
        <p:spPr>
          <a:xfrm>
            <a:off x="612000" y="1357200"/>
            <a:ext cx="1152000" cy="1152000"/>
          </a:xfrm>
          <a:prstGeom prst="ellipse">
            <a:avLst/>
          </a:prstGeom>
          <a:solidFill>
            <a:srgbClr val="F2EADA"/>
          </a:solidFill>
          <a:ln w="12700">
            <a:solidFill>
              <a:srgbClr val="46606E"/>
            </a:solidFill>
            <a:prstDash val="dash"/>
          </a:ln>
        </p:spPr>
      </p:sp>
      <p:sp>
        <p:nvSpPr>
          <p:cNvPr id="12" name="Text 9"/>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3"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4"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5" name="Text 12"/>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Depuis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9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25 · n°14 p. 28</a:t>
            </a:r>
            <a:endParaRPr lang="en-US" sz="740" dirty="0"/>
          </a:p>
        </p:txBody>
      </p:sp>
      <p:sp>
        <p:nvSpPr>
          <p:cNvPr id="18" name="Shape 14"/>
          <p:cNvSpPr/>
          <p:nvPr/>
        </p:nvSpPr>
        <p:spPr>
          <a:xfrm>
            <a:off x="612000" y="8388000"/>
            <a:ext cx="6120000" cy="0"/>
          </a:xfrm>
          <a:prstGeom prst="line">
            <a:avLst/>
          </a:prstGeom>
          <a:noFill/>
          <a:ln w="8890">
            <a:solidFill>
              <a:srgbClr val="46606E"/>
            </a:solidFill>
            <a:prstDash val="solid"/>
          </a:ln>
        </p:spPr>
      </p:sp>
      <p:sp>
        <p:nvSpPr>
          <p:cNvPr id="19" name="Text 15"/>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0" name="Text 16"/>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3"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sp>
        <p:nvSpPr>
          <p:cNvPr id="11" name="Shape 8"/>
          <p:cNvSpPr/>
          <p:nvPr/>
        </p:nvSpPr>
        <p:spPr>
          <a:xfrm>
            <a:off x="828000" y="1357200"/>
            <a:ext cx="1152000" cy="1152000"/>
          </a:xfrm>
          <a:prstGeom prst="ellipse">
            <a:avLst/>
          </a:prstGeom>
          <a:solidFill>
            <a:srgbClr val="F2EADA"/>
          </a:solidFill>
          <a:ln w="12700">
            <a:solidFill>
              <a:srgbClr val="46606E"/>
            </a:solidFill>
            <a:prstDash val="dash"/>
          </a:ln>
        </p:spPr>
      </p:sp>
      <p:sp>
        <p:nvSpPr>
          <p:cNvPr id="12" name="Text 9"/>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3" name="Shape 10"/>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4" name="Text 11"/>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5" name="Text 12"/>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Depuis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3"/>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25 · n°13 p. 27</a:t>
            </a:r>
            <a:endParaRPr lang="en-US" sz="740" dirty="0"/>
          </a:p>
        </p:txBody>
      </p:sp>
      <p:sp>
        <p:nvSpPr>
          <p:cNvPr id="18" name="Shape 14"/>
          <p:cNvSpPr/>
          <p:nvPr/>
        </p:nvSpPr>
        <p:spPr>
          <a:xfrm>
            <a:off x="828000" y="8388000"/>
            <a:ext cx="6120000" cy="0"/>
          </a:xfrm>
          <a:prstGeom prst="line">
            <a:avLst/>
          </a:prstGeom>
          <a:noFill/>
          <a:ln w="8890">
            <a:solidFill>
              <a:srgbClr val="46606E"/>
            </a:solidFill>
            <a:prstDash val="solid"/>
          </a:ln>
        </p:spPr>
      </p:sp>
      <p:sp>
        <p:nvSpPr>
          <p:cNvPr id="19"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Prix de la bouteille H.T. Franco de port.</a:t>
            </a:r>
            <a:endParaRPr lang="en-US" sz="720" dirty="0"/>
          </a:p>
        </p:txBody>
      </p:sp>
      <p:sp>
        <p:nvSpPr>
          <p:cNvPr id="20"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1"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3"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Propriété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chai.</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rho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27</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pPr indent="0" marL="0">
              <a:buNone/>
            </a:pPr>
            <a:r>
              <a:rPr lang="en-US" sz="860" dirty="0">
                <a:solidFill>
                  <a:srgbClr val="FBF8F1"/>
                </a:solidFill>
                <a:latin typeface="IBM Plex Sans" pitchFamily="34" charset="0"/>
                <a:ea typeface="IBM Plex Sans" pitchFamily="34" charset="-122"/>
                <a:cs typeface="IBM Plex Sans" pitchFamily="34" charset="-120"/>
              </a:rPr>
              <a:t>Domaine Le Prieuré des Papes</a:t>
            </a:r>
            <a:pPr indent="0" marL="0">
              <a:buNone/>
            </a:pP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 Coyeux</a:t>
            </a:r>
            <a:pPr indent="0" marL="0">
              <a:buNone/>
            </a:pP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du Moulin Blanc</a:t>
            </a:r>
            <a:pPr indent="0" marL="0">
              <a:buNone/>
            </a:pP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 la Pousterle</a:t>
            </a:r>
            <a:pPr indent="0" marL="0">
              <a:buNone/>
            </a:pP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des Pasquiers</a:t>
            </a:r>
            <a:pPr indent="0" marL="0">
              <a:buNone/>
            </a:pPr>
            <a:r>
              <a:rPr lang="en-US" sz="860" b="1" dirty="0">
                <a:solidFill>
                  <a:srgbClr val="FBF8F1"/>
                </a:solidFill>
                <a:latin typeface="IBM Plex Sans" pitchFamily="34" charset="0"/>
                <a:ea typeface="IBM Plex Sans" pitchFamily="34" charset="-122"/>
                <a:cs typeface="IBM Plex Sans" pitchFamily="34" charset="-120"/>
              </a:rPr>
              <a:t>   35</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pPr indent="0" marL="0">
              <a:buNone/>
            </a:pPr>
            <a:r>
              <a:rPr lang="en-US" sz="860" dirty="0">
                <a:solidFill>
                  <a:srgbClr val="FBF8F1"/>
                </a:solidFill>
                <a:latin typeface="IBM Plex Sans" pitchFamily="34" charset="0"/>
                <a:ea typeface="IBM Plex Sans" pitchFamily="34" charset="-122"/>
                <a:cs typeface="IBM Plex Sans" pitchFamily="34" charset="-120"/>
              </a:rPr>
              <a:t>Domaine Trichon</a:t>
            </a:r>
            <a:pPr indent="0" marL="0">
              <a:buNone/>
            </a:pP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30</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Au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32 · n°18 p. 33 · n°19 p. 34</a:t>
            </a:r>
            <a:endParaRPr lang="en-US" sz="740" dirty="0"/>
          </a:p>
        </p:txBody>
      </p:sp>
      <p:sp>
        <p:nvSpPr>
          <p:cNvPr id="20" name="Shape 16"/>
          <p:cNvSpPr/>
          <p:nvPr/>
        </p:nvSpPr>
        <p:spPr>
          <a:xfrm>
            <a:off x="612000" y="8388000"/>
            <a:ext cx="6120000" cy="0"/>
          </a:xfrm>
          <a:prstGeom prst="line">
            <a:avLst/>
          </a:prstGeom>
          <a:noFill/>
          <a:ln w="8890">
            <a:solidFill>
              <a:srgbClr val="46606E"/>
            </a:solidFill>
            <a:prstDash val="solid"/>
          </a:ln>
        </p:spPr>
      </p:sp>
      <p:sp>
        <p:nvSpPr>
          <p:cNvPr id="21"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5"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Propriété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n°18 p. 33 · n°19 p. 34</a:t>
            </a:r>
            <a:endParaRPr lang="en-US" sz="740" dirty="0"/>
          </a:p>
        </p:txBody>
      </p:sp>
      <p:sp>
        <p:nvSpPr>
          <p:cNvPr id="20" name="Shape 16"/>
          <p:cNvSpPr/>
          <p:nvPr/>
        </p:nvSpPr>
        <p:spPr>
          <a:xfrm>
            <a:off x="828000" y="8388000"/>
            <a:ext cx="6120000" cy="0"/>
          </a:xfrm>
          <a:prstGeom prst="line">
            <a:avLst/>
          </a:prstGeom>
          <a:noFill/>
          <a:ln w="8890">
            <a:solidFill>
              <a:srgbClr val="46606E"/>
            </a:solidFill>
            <a:prstDash val="solid"/>
          </a:ln>
        </p:spPr>
      </p:sp>
      <p:sp>
        <p:nvSpPr>
          <p:cNvPr id="21" name="Text 17"/>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8"/>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Situé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n°17 p. 32 · n°19 p. 34</a:t>
            </a:r>
            <a:endParaRPr lang="en-US" sz="740" dirty="0"/>
          </a:p>
        </p:txBody>
      </p:sp>
      <p:sp>
        <p:nvSpPr>
          <p:cNvPr id="20" name="Shape 16"/>
          <p:cNvSpPr/>
          <p:nvPr/>
        </p:nvSpPr>
        <p:spPr>
          <a:xfrm>
            <a:off x="612000" y="8388000"/>
            <a:ext cx="6120000" cy="0"/>
          </a:xfrm>
          <a:prstGeom prst="line">
            <a:avLst/>
          </a:prstGeom>
          <a:noFill/>
          <a:ln w="8890">
            <a:solidFill>
              <a:srgbClr val="46606E"/>
            </a:solidFill>
            <a:prstDash val="solid"/>
          </a:ln>
        </p:spPr>
      </p:sp>
      <p:sp>
        <p:nvSpPr>
          <p:cNvPr id="21"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5"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Situé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9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n°17 p. 32 · n°18 p. 33</a:t>
            </a:r>
            <a:endParaRPr lang="en-US" sz="740" dirty="0"/>
          </a:p>
        </p:txBody>
      </p:sp>
      <p:sp>
        <p:nvSpPr>
          <p:cNvPr id="20" name="Shape 16"/>
          <p:cNvSpPr/>
          <p:nvPr/>
        </p:nvSpPr>
        <p:spPr>
          <a:xfrm>
            <a:off x="828000" y="8388000"/>
            <a:ext cx="6120000" cy="0"/>
          </a:xfrm>
          <a:prstGeom prst="line">
            <a:avLst/>
          </a:prstGeom>
          <a:noFill/>
          <a:ln w="8890">
            <a:solidFill>
              <a:srgbClr val="46606E"/>
            </a:solidFill>
            <a:prstDash val="solid"/>
          </a:ln>
        </p:spPr>
      </p:sp>
      <p:sp>
        <p:nvSpPr>
          <p:cNvPr id="21" name="Text 17"/>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8"/>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5"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Depuis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9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Les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9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828000" y="8388000"/>
            <a:ext cx="6120000" cy="0"/>
          </a:xfrm>
          <a:prstGeom prst="line">
            <a:avLst/>
          </a:prstGeom>
          <a:noFill/>
          <a:ln w="8890">
            <a:solidFill>
              <a:srgbClr val="46606E"/>
            </a:solidFill>
            <a:prstDash val="solid"/>
          </a:ln>
        </p:spPr>
      </p:sp>
      <p:sp>
        <p:nvSpPr>
          <p:cNvPr id="20"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21"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4"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40</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pPr indent="0" marL="0">
              <a:buNone/>
            </a:pPr>
            <a:r>
              <a:rPr lang="en-US" sz="860" dirty="0">
                <a:solidFill>
                  <a:srgbClr val="FBF8F1"/>
                </a:solidFill>
                <a:latin typeface="IBM Plex Sans" pitchFamily="34" charset="0"/>
                <a:ea typeface="IBM Plex Sans" pitchFamily="34" charset="-122"/>
                <a:cs typeface="IBM Plex Sans" pitchFamily="34" charset="-120"/>
              </a:rPr>
              <a:t>Domaine Stratéus</a:t>
            </a:r>
            <a:pPr indent="0" marL="0">
              <a:buNone/>
            </a:pP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23   </a:t>
            </a:r>
            <a:pPr indent="0" marL="0">
              <a:buNone/>
            </a:pPr>
            <a:r>
              <a:rPr lang="en-US" sz="860" dirty="0">
                <a:solidFill>
                  <a:srgbClr val="FBF8F1"/>
                </a:solidFill>
                <a:latin typeface="IBM Plex Sans" pitchFamily="34" charset="0"/>
                <a:ea typeface="IBM Plex Sans" pitchFamily="34" charset="-122"/>
                <a:cs typeface="IBM Plex Sans" pitchFamily="34" charset="-120"/>
              </a:rPr>
              <a:t>Domaine Haut Marin</a:t>
            </a:r>
            <a:pPr indent="0" marL="0">
              <a:buNone/>
            </a:pP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pPr indent="0" marL="0">
              <a:buNone/>
            </a:pPr>
            <a:r>
              <a:rPr lang="en-US" sz="860" dirty="0">
                <a:solidFill>
                  <a:srgbClr val="FBF8F1"/>
                </a:solidFill>
                <a:latin typeface="IBM Plex Sans" pitchFamily="34" charset="0"/>
                <a:ea typeface="IBM Plex Sans" pitchFamily="34" charset="-122"/>
                <a:cs typeface="IBM Plex Sans" pitchFamily="34" charset="-120"/>
              </a:rPr>
              <a:t>Fabien Castaing</a:t>
            </a:r>
            <a:pPr indent="0" marL="0">
              <a:buNone/>
            </a:pPr>
            <a:r>
              <a:rPr lang="en-US" sz="860" b="1" dirty="0">
                <a:solidFill>
                  <a:srgbClr val="FBF8F1"/>
                </a:solidFill>
                <a:latin typeface="IBM Plex Sans" pitchFamily="34" charset="0"/>
                <a:ea typeface="IBM Plex Sans" pitchFamily="34" charset="-122"/>
                <a:cs typeface="IBM Plex Sans" pitchFamily="34" charset="-120"/>
              </a:rPr>
              <a:t>   41</a:t>
            </a:r>
            <a:endParaRPr lang="en-US" sz="860" dirty="0"/>
          </a:p>
        </p:txBody>
      </p:sp>
      <p:sp>
        <p:nvSpPr>
          <p:cNvPr id="15" name="Text 1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37</a:t>
            </a:r>
            <a:endParaRPr lang="en-US" sz="750" dirty="0"/>
          </a:p>
        </p:txBody>
      </p:sp>
      <p:sp>
        <p:nvSpPr>
          <p:cNvPr id="16" name="Text 1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Né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9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63997"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6399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IGP</a:t>
            </a:r>
            <a:endParaRPr lang="en-US" sz="720" dirty="0"/>
          </a:p>
        </p:txBody>
      </p:sp>
      <p:sp>
        <p:nvSpPr>
          <p:cNvPr id="9" name="Shape 6"/>
          <p:cNvSpPr/>
          <p:nvPr/>
        </p:nvSpPr>
        <p:spPr>
          <a:xfrm>
            <a:off x="1055197"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55197"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514946"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514946"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2979619"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2979619"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3923176"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92317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sp>
        <p:nvSpPr>
          <p:cNvPr id="17" name="Shape 14"/>
          <p:cNvSpPr/>
          <p:nvPr/>
        </p:nvSpPr>
        <p:spPr>
          <a:xfrm>
            <a:off x="612000" y="1357200"/>
            <a:ext cx="1152000" cy="1152000"/>
          </a:xfrm>
          <a:prstGeom prst="ellipse">
            <a:avLst/>
          </a:prstGeom>
          <a:solidFill>
            <a:srgbClr val="F2EADA"/>
          </a:solidFill>
          <a:ln w="12700">
            <a:solidFill>
              <a:srgbClr val="46606E"/>
            </a:solidFill>
            <a:prstDash val="dash"/>
          </a:ln>
        </p:spPr>
      </p:sp>
      <p:sp>
        <p:nvSpPr>
          <p:cNvPr id="18" name="Text 15"/>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9" name="Shape 16"/>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20" name="Text 17"/>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21" name="Text 18"/>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En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9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9"/>
          <p:cNvSpPr/>
          <p:nvPr/>
        </p:nvSpPr>
        <p:spPr>
          <a:xfrm>
            <a:off x="612000" y="8388000"/>
            <a:ext cx="6120000" cy="0"/>
          </a:xfrm>
          <a:prstGeom prst="line">
            <a:avLst/>
          </a:prstGeom>
          <a:noFill/>
          <a:ln w="8890">
            <a:solidFill>
              <a:srgbClr val="46606E"/>
            </a:solidFill>
            <a:prstDash val="solid"/>
          </a:ln>
        </p:spPr>
      </p:sp>
      <p:sp>
        <p:nvSpPr>
          <p:cNvPr id="24" name="Text 20"/>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5" name="Text 21"/>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6" name="Text 22"/>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7"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8"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Haut Marin</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63997"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6399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IGP</a:t>
            </a:r>
            <a:endParaRPr lang="en-US" sz="720" dirty="0"/>
          </a:p>
        </p:txBody>
      </p:sp>
      <p:sp>
        <p:nvSpPr>
          <p:cNvPr id="9" name="Shape 6"/>
          <p:cNvSpPr/>
          <p:nvPr/>
        </p:nvSpPr>
        <p:spPr>
          <a:xfrm>
            <a:off x="1271197"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71197"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730946"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30946"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95619"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3195619"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4139176"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413917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269583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2000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1990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21" name="Table 2"/>
          <p:cNvGraphicFramePr>
            <a:graphicFrameLocks noGrp="1"/>
          </p:cNvGraphicFramePr>
          <p:nvPr>
            <p:extLst>
              <p:ext uri="{D42A27DB-BD31-4B8C-83A1-F6EECF244321}">
                <p14:modId xmlns:p14="http://schemas.microsoft.com/office/powerpoint/2010/main" val="1579011935"/>
              </p:ext>
            </p:extLst>
          </p:nvPr>
        </p:nvGraphicFramePr>
        <p:xfrm>
          <a:off x="828000" y="5799423"/>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10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8388000"/>
            <a:ext cx="6120000" cy="0"/>
          </a:xfrm>
          <a:prstGeom prst="line">
            <a:avLst/>
          </a:prstGeom>
          <a:noFill/>
          <a:ln w="8890">
            <a:solidFill>
              <a:srgbClr val="46606E"/>
            </a:solidFill>
            <a:prstDash val="solid"/>
          </a:ln>
        </p:spPr>
      </p:sp>
      <p:sp>
        <p:nvSpPr>
          <p:cNvPr id="21"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489800"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4898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2954473"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29544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3898030"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8980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sp>
        <p:nvSpPr>
          <p:cNvPr id="17" name="Shape 14"/>
          <p:cNvSpPr/>
          <p:nvPr/>
        </p:nvSpPr>
        <p:spPr>
          <a:xfrm>
            <a:off x="612000" y="1357200"/>
            <a:ext cx="1152000" cy="1152000"/>
          </a:xfrm>
          <a:prstGeom prst="ellipse">
            <a:avLst/>
          </a:prstGeom>
          <a:solidFill>
            <a:srgbClr val="F2EADA"/>
          </a:solidFill>
          <a:ln w="12700">
            <a:solidFill>
              <a:srgbClr val="46606E"/>
            </a:solidFill>
            <a:prstDash val="dash"/>
          </a:ln>
        </p:spPr>
      </p:sp>
      <p:sp>
        <p:nvSpPr>
          <p:cNvPr id="18" name="Text 15"/>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9" name="Shape 16"/>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20" name="Text 17"/>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21" name="Text 18"/>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Le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9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9"/>
          <p:cNvSpPr/>
          <p:nvPr/>
        </p:nvSpPr>
        <p:spPr>
          <a:xfrm>
            <a:off x="612000" y="8388000"/>
            <a:ext cx="6120000" cy="0"/>
          </a:xfrm>
          <a:prstGeom prst="line">
            <a:avLst/>
          </a:prstGeom>
          <a:noFill/>
          <a:ln w="8890">
            <a:solidFill>
              <a:srgbClr val="46606E"/>
            </a:solidFill>
            <a:prstDash val="solid"/>
          </a:ln>
        </p:spPr>
      </p:sp>
      <p:sp>
        <p:nvSpPr>
          <p:cNvPr id="24" name="Text 20"/>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5" name="Text 21"/>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22"/>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7"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8"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Fabien Castaing</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46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705800"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058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70473"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31704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4114030"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41140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828000" y="3696109"/>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4"/>
          <p:cNvSpPr/>
          <p:nvPr/>
        </p:nvSpPr>
        <p:spPr>
          <a:xfrm>
            <a:off x="828000" y="8388000"/>
            <a:ext cx="6120000" cy="0"/>
          </a:xfrm>
          <a:prstGeom prst="line">
            <a:avLst/>
          </a:prstGeom>
          <a:noFill/>
          <a:ln w="8890">
            <a:solidFill>
              <a:srgbClr val="46606E"/>
            </a:solidFill>
            <a:prstDash val="solid"/>
          </a:ln>
        </p:spPr>
      </p:sp>
      <p:sp>
        <p:nvSpPr>
          <p:cNvPr id="20"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3"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4"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rdeaux.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59</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pPr indent="0" marL="0">
              <a:buNone/>
            </a:pPr>
            <a:r>
              <a:rPr lang="en-US" sz="860" dirty="0">
                <a:solidFill>
                  <a:srgbClr val="FBF8F1"/>
                </a:solidFill>
                <a:latin typeface="IBM Plex Sans" pitchFamily="34" charset="0"/>
                <a:ea typeface="IBM Plex Sans" pitchFamily="34" charset="-122"/>
                <a:cs typeface="IBM Plex Sans" pitchFamily="34" charset="-120"/>
              </a:rPr>
              <a:t>La Passion des Terroirs</a:t>
            </a:r>
            <a:pPr indent="0" marL="0">
              <a:buNone/>
            </a:pPr>
            <a:r>
              <a:rPr lang="en-US" sz="860" b="1" dirty="0">
                <a:solidFill>
                  <a:srgbClr val="FBF8F1"/>
                </a:solidFill>
                <a:latin typeface="IBM Plex Sans" pitchFamily="34" charset="0"/>
                <a:ea typeface="IBM Plex Sans" pitchFamily="34" charset="-122"/>
                <a:cs typeface="IBM Plex Sans" pitchFamily="34" charset="-120"/>
              </a:rPr>
              <a:t>   44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la Gorce</a:t>
            </a:r>
            <a:pPr indent="0" marL="0">
              <a:buNone/>
            </a:pPr>
            <a:r>
              <a:rPr lang="en-US" sz="860" b="1" dirty="0">
                <a:solidFill>
                  <a:srgbClr val="FBF8F1"/>
                </a:solidFill>
                <a:latin typeface="IBM Plex Sans" pitchFamily="34" charset="0"/>
                <a:ea typeface="IBM Plex Sans" pitchFamily="34" charset="-122"/>
                <a:cs typeface="IBM Plex Sans" pitchFamily="34" charset="-120"/>
              </a:rPr>
              <a:t>   47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27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Falfas</a:t>
            </a:r>
            <a:pPr indent="0" marL="0">
              <a:buNone/>
            </a:pPr>
            <a:r>
              <a:rPr lang="en-US" sz="860" b="1" dirty="0">
                <a:solidFill>
                  <a:srgbClr val="FBF8F1"/>
                </a:solidFill>
                <a:latin typeface="IBM Plex Sans" pitchFamily="34" charset="0"/>
                <a:ea typeface="IBM Plex Sans" pitchFamily="34" charset="-122"/>
                <a:cs typeface="IBM Plex Sans" pitchFamily="34" charset="-120"/>
              </a:rPr>
              <a:t>   49</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28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Pré la Lande</a:t>
            </a:r>
            <a:pPr indent="0" marL="0">
              <a:buNone/>
            </a:pPr>
            <a:r>
              <a:rPr lang="en-US" sz="860" b="1" dirty="0">
                <a:solidFill>
                  <a:srgbClr val="FBF8F1"/>
                </a:solidFill>
                <a:latin typeface="IBM Plex Sans" pitchFamily="34" charset="0"/>
                <a:ea typeface="IBM Plex Sans" pitchFamily="34" charset="-122"/>
                <a:cs typeface="IBM Plex Sans" pitchFamily="34" charset="-120"/>
              </a:rPr>
              <a:t>   50</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29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Balac</a:t>
            </a:r>
            <a:pPr indent="0" marL="0">
              <a:buNone/>
            </a:pPr>
            <a:r>
              <a:rPr lang="en-US" sz="860" b="1" dirty="0">
                <a:solidFill>
                  <a:srgbClr val="FBF8F1"/>
                </a:solidFill>
                <a:latin typeface="IBM Plex Sans" pitchFamily="34" charset="0"/>
                <a:ea typeface="IBM Plex Sans" pitchFamily="34" charset="-122"/>
                <a:cs typeface="IBM Plex Sans" pitchFamily="34" charset="-120"/>
              </a:rPr>
              <a:t>   51</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30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l’Escarderie</a:t>
            </a:r>
            <a:pPr indent="0" marL="0">
              <a:buNone/>
            </a:pPr>
            <a:r>
              <a:rPr lang="en-US" sz="860" b="1" dirty="0">
                <a:solidFill>
                  <a:srgbClr val="FBF8F1"/>
                </a:solidFill>
                <a:latin typeface="IBM Plex Sans" pitchFamily="34" charset="0"/>
                <a:ea typeface="IBM Plex Sans" pitchFamily="34" charset="-122"/>
                <a:cs typeface="IBM Plex Sans" pitchFamily="34" charset="-120"/>
              </a:rPr>
              <a:t>   52</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43</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710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654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654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Une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9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La Passion des Terroirs</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494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438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38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2"/>
          <p:cNvSpPr/>
          <p:nvPr/>
        </p:nvSpPr>
        <p:spPr>
          <a:xfrm>
            <a:off x="612000" y="8388000"/>
            <a:ext cx="6120000" cy="0"/>
          </a:xfrm>
          <a:prstGeom prst="line">
            <a:avLst/>
          </a:prstGeom>
          <a:noFill/>
          <a:ln w="8890">
            <a:solidFill>
              <a:srgbClr val="46606E"/>
            </a:solidFill>
            <a:prstDash val="solid"/>
          </a:ln>
        </p:spPr>
      </p:sp>
      <p:sp>
        <p:nvSpPr>
          <p:cNvPr id="17"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18"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19"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0"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1"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La Passion des Terroirs</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710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654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654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2"/>
          <p:cNvSpPr/>
          <p:nvPr/>
        </p:nvSpPr>
        <p:spPr>
          <a:xfrm>
            <a:off x="828000" y="8388000"/>
            <a:ext cx="6120000" cy="0"/>
          </a:xfrm>
          <a:prstGeom prst="line">
            <a:avLst/>
          </a:prstGeom>
          <a:noFill/>
          <a:ln w="8890">
            <a:solidFill>
              <a:srgbClr val="46606E"/>
            </a:solidFill>
            <a:prstDash val="solid"/>
          </a:ln>
        </p:spPr>
      </p:sp>
      <p:sp>
        <p:nvSpPr>
          <p:cNvPr id="17"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18"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19"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0"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1"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En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9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la Gorce</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Shape 10"/>
          <p:cNvSpPr/>
          <p:nvPr/>
        </p:nvSpPr>
        <p:spPr>
          <a:xfrm>
            <a:off x="828000" y="8388000"/>
            <a:ext cx="6120000" cy="0"/>
          </a:xfrm>
          <a:prstGeom prst="line">
            <a:avLst/>
          </a:prstGeom>
          <a:noFill/>
          <a:ln w="8890">
            <a:solidFill>
              <a:srgbClr val="46606E"/>
            </a:solidFill>
            <a:prstDash val="solid"/>
          </a:ln>
        </p:spPr>
      </p:sp>
      <p:sp>
        <p:nvSpPr>
          <p:cNvPr id="15" name="Text 11"/>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16" name="Text 12"/>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7" name="Text 13"/>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568457"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56845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Biodyvin</a:t>
            </a:r>
            <a:endParaRPr lang="en-US" sz="720" dirty="0"/>
          </a:p>
        </p:txBody>
      </p:sp>
      <p:sp>
        <p:nvSpPr>
          <p:cNvPr id="11" name="Shape 8"/>
          <p:cNvSpPr/>
          <p:nvPr/>
        </p:nvSpPr>
        <p:spPr>
          <a:xfrm>
            <a:off x="1677709"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677709"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42382"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14238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5" name="Shape 12"/>
          <p:cNvSpPr/>
          <p:nvPr/>
        </p:nvSpPr>
        <p:spPr>
          <a:xfrm>
            <a:off x="612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Sentinelle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9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7"/>
          <p:cNvSpPr/>
          <p:nvPr/>
        </p:nvSpPr>
        <p:spPr>
          <a:xfrm>
            <a:off x="612000" y="8388000"/>
            <a:ext cx="6120000" cy="0"/>
          </a:xfrm>
          <a:prstGeom prst="line">
            <a:avLst/>
          </a:prstGeom>
          <a:noFill/>
          <a:ln w="8890">
            <a:solidFill>
              <a:srgbClr val="46606E"/>
            </a:solidFill>
            <a:prstDash val="solid"/>
          </a:ln>
        </p:spPr>
      </p:sp>
      <p:sp>
        <p:nvSpPr>
          <p:cNvPr id="22" name="Text 18"/>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9"/>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5"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26"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569006"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46051" y="1047600"/>
            <a:ext cx="56900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Demeter</a:t>
            </a:r>
            <a:endParaRPr lang="en-US" sz="720" dirty="0"/>
          </a:p>
        </p:txBody>
      </p:sp>
      <p:sp>
        <p:nvSpPr>
          <p:cNvPr id="11" name="Shape 8"/>
          <p:cNvSpPr/>
          <p:nvPr/>
        </p:nvSpPr>
        <p:spPr>
          <a:xfrm>
            <a:off x="189425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89425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358931"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35893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Perchée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9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chai.</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Au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9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Joyau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9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828000" y="8388000"/>
            <a:ext cx="6120000" cy="0"/>
          </a:xfrm>
          <a:prstGeom prst="line">
            <a:avLst/>
          </a:prstGeom>
          <a:noFill/>
          <a:ln w="8890">
            <a:solidFill>
              <a:srgbClr val="46606E"/>
            </a:solidFill>
            <a:prstDash val="solid"/>
          </a:ln>
        </p:spPr>
      </p:sp>
      <p:sp>
        <p:nvSpPr>
          <p:cNvPr id="20"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franco à partir de 180 bouteilles.</a:t>
            </a:r>
            <a:endParaRPr lang="en-US" sz="720" dirty="0"/>
          </a:p>
        </p:txBody>
      </p:sp>
      <p:sp>
        <p:nvSpPr>
          <p:cNvPr id="21"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3"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52</a:t>
            </a:r>
            <a:endParaRPr lang="en-US" sz="750" dirty="0"/>
          </a:p>
        </p:txBody>
      </p:sp>
      <p:sp>
        <p:nvSpPr>
          <p:cNvPr id="24"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31   </a:t>
            </a:r>
            <a:pPr indent="0" marL="0">
              <a:buNone/>
            </a:pPr>
            <a:r>
              <a:rPr lang="en-US" sz="860" dirty="0">
                <a:solidFill>
                  <a:srgbClr val="FBF8F1"/>
                </a:solidFill>
                <a:latin typeface="IBM Plex Sans" pitchFamily="34" charset="0"/>
                <a:ea typeface="IBM Plex Sans" pitchFamily="34" charset="-122"/>
                <a:cs typeface="IBM Plex Sans" pitchFamily="34" charset="-120"/>
              </a:rPr>
              <a:t>Bastide de Blacailloux</a:t>
            </a:r>
            <a:pPr indent="0" marL="0">
              <a:buNone/>
            </a:pPr>
            <a:r>
              <a:rPr lang="en-US" sz="860" b="1" dirty="0">
                <a:solidFill>
                  <a:srgbClr val="FBF8F1"/>
                </a:solidFill>
                <a:latin typeface="IBM Plex Sans" pitchFamily="34" charset="0"/>
                <a:ea typeface="IBM Plex Sans" pitchFamily="34" charset="-122"/>
                <a:cs typeface="IBM Plex Sans" pitchFamily="34" charset="-120"/>
              </a:rPr>
              <a:t>   54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Écrin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9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828000" y="689810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5"/>
          <p:cNvSpPr/>
          <p:nvPr/>
        </p:nvSpPr>
        <p:spPr>
          <a:xfrm>
            <a:off x="828000" y="8388000"/>
            <a:ext cx="6120000" cy="0"/>
          </a:xfrm>
          <a:prstGeom prst="line">
            <a:avLst/>
          </a:prstGeom>
          <a:noFill/>
          <a:ln w="8890">
            <a:solidFill>
              <a:srgbClr val="46606E"/>
            </a:solidFill>
            <a:prstDash val="solid"/>
          </a:ln>
        </p:spPr>
      </p:sp>
      <p:sp>
        <p:nvSpPr>
          <p:cNvPr id="21"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2"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54</a:t>
            </a:r>
            <a:endParaRPr lang="en-US" sz="750" dirty="0"/>
          </a:p>
        </p:txBody>
      </p:sp>
      <p:sp>
        <p:nvSpPr>
          <p:cNvPr id="25"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9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32   </a:t>
            </a:r>
            <a:pPr indent="0" marL="0">
              <a:buNone/>
            </a:pPr>
            <a:r>
              <a:rPr lang="en-US" sz="860" dirty="0">
                <a:solidFill>
                  <a:srgbClr val="FBF8F1"/>
                </a:solidFill>
                <a:latin typeface="IBM Plex Sans" pitchFamily="34" charset="0"/>
                <a:ea typeface="IBM Plex Sans" pitchFamily="34" charset="-122"/>
                <a:cs typeface="IBM Plex Sans" pitchFamily="34" charset="-120"/>
              </a:rPr>
              <a:t>Famille d’Exea</a:t>
            </a:r>
            <a:pPr indent="0" marL="0">
              <a:buNone/>
            </a:pPr>
            <a:r>
              <a:rPr lang="en-US" sz="860" b="1" dirty="0">
                <a:solidFill>
                  <a:srgbClr val="FBF8F1"/>
                </a:solidFill>
                <a:latin typeface="IBM Plex Sans" pitchFamily="34" charset="0"/>
                <a:ea typeface="IBM Plex Sans" pitchFamily="34" charset="-122"/>
                <a:cs typeface="IBM Plex Sans" pitchFamily="34" charset="-120"/>
              </a:rPr>
              <a:t>   56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33   </a:t>
            </a:r>
            <a:pPr indent="0" marL="0">
              <a:buNone/>
            </a:pPr>
            <a:r>
              <a:rPr lang="en-US" sz="860" dirty="0">
                <a:solidFill>
                  <a:srgbClr val="FBF8F1"/>
                </a:solidFill>
                <a:latin typeface="IBM Plex Sans" pitchFamily="34" charset="0"/>
                <a:ea typeface="IBM Plex Sans" pitchFamily="34" charset="-122"/>
                <a:cs typeface="IBM Plex Sans" pitchFamily="34" charset="-120"/>
              </a:rPr>
              <a:t>Famille d’Exea — Jus de Cépages</a:t>
            </a:r>
            <a:pPr indent="0" marL="0">
              <a:buNone/>
            </a:pPr>
            <a:r>
              <a:rPr lang="en-US" sz="860" b="1" dirty="0">
                <a:solidFill>
                  <a:srgbClr val="FBF8F1"/>
                </a:solidFill>
                <a:latin typeface="IBM Plex Sans" pitchFamily="34" charset="0"/>
                <a:ea typeface="IBM Plex Sans" pitchFamily="34" charset="-122"/>
                <a:cs typeface="IBM Plex Sans" pitchFamily="34" charset="-120"/>
              </a:rPr>
              <a:t>   58</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34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de Gragnos</a:t>
            </a:r>
            <a:pPr indent="0" marL="0">
              <a:buNone/>
            </a:pPr>
            <a:r>
              <a:rPr lang="en-US" sz="860" b="1" dirty="0">
                <a:solidFill>
                  <a:srgbClr val="FBF8F1"/>
                </a:solidFill>
                <a:latin typeface="IBM Plex Sans" pitchFamily="34" charset="0"/>
                <a:ea typeface="IBM Plex Sans" pitchFamily="34" charset="-122"/>
                <a:cs typeface="IBM Plex Sans" pitchFamily="34" charset="-120"/>
              </a:rPr>
              <a:t>   59</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35   </a:t>
            </a:r>
            <a:pPr indent="0" marL="0">
              <a:buNone/>
            </a:pPr>
            <a:r>
              <a:rPr lang="en-US" sz="860" dirty="0">
                <a:solidFill>
                  <a:srgbClr val="FBF8F1"/>
                </a:solidFill>
                <a:latin typeface="IBM Plex Sans" pitchFamily="34" charset="0"/>
                <a:ea typeface="IBM Plex Sans" pitchFamily="34" charset="-122"/>
                <a:cs typeface="IBM Plex Sans" pitchFamily="34" charset="-120"/>
              </a:rPr>
              <a:t>Domaine Les Lys</a:t>
            </a:r>
            <a:pPr indent="0" marL="0">
              <a:buNone/>
            </a:pPr>
            <a:r>
              <a:rPr lang="en-US" sz="860" b="1" dirty="0">
                <a:solidFill>
                  <a:srgbClr val="FBF8F1"/>
                </a:solidFill>
                <a:latin typeface="IBM Plex Sans" pitchFamily="34" charset="0"/>
                <a:ea typeface="IBM Plex Sans" pitchFamily="34" charset="-122"/>
                <a:cs typeface="IBM Plex Sans" pitchFamily="34" charset="-120"/>
              </a:rPr>
              <a:t>   60</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36   </a:t>
            </a:r>
            <a:pPr indent="0" marL="0">
              <a:buNone/>
            </a:pPr>
            <a:r>
              <a:rPr lang="en-US" sz="860" dirty="0">
                <a:solidFill>
                  <a:srgbClr val="FBF8F1"/>
                </a:solidFill>
                <a:latin typeface="IBM Plex Sans" pitchFamily="34" charset="0"/>
                <a:ea typeface="IBM Plex Sans" pitchFamily="34" charset="-122"/>
                <a:cs typeface="IBM Plex Sans" pitchFamily="34" charset="-120"/>
              </a:rPr>
              <a:t>Prieuré Sainte-Marie d’Albas</a:t>
            </a:r>
            <a:pPr indent="0" marL="0">
              <a:buNone/>
            </a:pPr>
            <a:r>
              <a:rPr lang="en-US" sz="860" b="1" dirty="0">
                <a:solidFill>
                  <a:srgbClr val="FBF8F1"/>
                </a:solidFill>
                <a:latin typeface="IBM Plex Sans" pitchFamily="34" charset="0"/>
                <a:ea typeface="IBM Plex Sans" pitchFamily="34" charset="-122"/>
                <a:cs typeface="IBM Plex Sans" pitchFamily="34" charset="-120"/>
              </a:rPr>
              <a:t>   61</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55</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Depuis plusieurs générations, la famille d’Exea façonne sur les terroirs solaires du Languedoc des vins biologiques vibrants et sincères, alliant pureté du fruit et convivialité.</a:t>
            </a:r>
            <a:endParaRPr lang="en-US" sz="95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58</a:t>
            </a:r>
            <a:endParaRPr lang="en-US" sz="740" dirty="0"/>
          </a:p>
        </p:txBody>
      </p:sp>
      <p:sp>
        <p:nvSpPr>
          <p:cNvPr id="20" name="Shape 16"/>
          <p:cNvSpPr/>
          <p:nvPr/>
        </p:nvSpPr>
        <p:spPr>
          <a:xfrm>
            <a:off x="828000" y="8388000"/>
            <a:ext cx="6120000" cy="0"/>
          </a:xfrm>
          <a:prstGeom prst="line">
            <a:avLst/>
          </a:prstGeom>
          <a:noFill/>
          <a:ln w="8890">
            <a:solidFill>
              <a:srgbClr val="46606E"/>
            </a:solidFill>
            <a:prstDash val="solid"/>
          </a:ln>
        </p:spPr>
      </p:sp>
      <p:sp>
        <p:nvSpPr>
          <p:cNvPr id="21" name="Text 17"/>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22" name="Text 18"/>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56</a:t>
            </a:r>
            <a:endParaRPr lang="en-US" sz="750" dirty="0"/>
          </a:p>
        </p:txBody>
      </p:sp>
      <p:sp>
        <p:nvSpPr>
          <p:cNvPr id="25"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Famille d’Exea</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612000" y="568103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50 BIB demi pal</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100 BIB 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5" name="Text 10"/>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58</a:t>
            </a:r>
            <a:endParaRPr lang="en-US" sz="740" dirty="0"/>
          </a:p>
        </p:txBody>
      </p:sp>
      <p:sp>
        <p:nvSpPr>
          <p:cNvPr id="16" name="Shape 11"/>
          <p:cNvSpPr/>
          <p:nvPr/>
        </p:nvSpPr>
        <p:spPr>
          <a:xfrm>
            <a:off x="612000" y="8388000"/>
            <a:ext cx="6120000" cy="0"/>
          </a:xfrm>
          <a:prstGeom prst="line">
            <a:avLst/>
          </a:prstGeom>
          <a:noFill/>
          <a:ln w="8890">
            <a:solidFill>
              <a:srgbClr val="46606E"/>
            </a:solidFill>
            <a:prstDash val="solid"/>
          </a:ln>
        </p:spPr>
      </p:sp>
      <p:sp>
        <p:nvSpPr>
          <p:cNvPr id="17"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18"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19"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0"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57</a:t>
            </a:r>
            <a:endParaRPr lang="en-US" sz="750" dirty="0"/>
          </a:p>
        </p:txBody>
      </p:sp>
      <p:sp>
        <p:nvSpPr>
          <p:cNvPr id="21"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Issu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9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828000" y="6067346"/>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56</a:t>
            </a:r>
            <a:endParaRPr lang="en-US" sz="740" dirty="0"/>
          </a:p>
        </p:txBody>
      </p:sp>
      <p:sp>
        <p:nvSpPr>
          <p:cNvPr id="21" name="Shape 16"/>
          <p:cNvSpPr/>
          <p:nvPr/>
        </p:nvSpPr>
        <p:spPr>
          <a:xfrm>
            <a:off x="828000" y="8388000"/>
            <a:ext cx="6120000" cy="0"/>
          </a:xfrm>
          <a:prstGeom prst="line">
            <a:avLst/>
          </a:prstGeom>
          <a:noFill/>
          <a:ln w="8890">
            <a:solidFill>
              <a:srgbClr val="46606E"/>
            </a:solidFill>
            <a:prstDash val="solid"/>
          </a:ln>
        </p:spPr>
      </p:sp>
      <p:sp>
        <p:nvSpPr>
          <p:cNvPr id="22" name="Text 17"/>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23" name="Text 18"/>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5"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58</a:t>
            </a:r>
            <a:endParaRPr lang="en-US" sz="750" dirty="0"/>
          </a:p>
        </p:txBody>
      </p:sp>
      <p:sp>
        <p:nvSpPr>
          <p:cNvPr id="26"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Alain,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95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 à partir de 180 bouteilles.</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59</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Situé entre vignes et garrigues, le domaine près d'Uzès, face aux Cévennes, produit des vins d'une fraîcheur minérale incomparable. En respectant la biodiversité, ces parcelles sont reconnues par les appellations AOP Duché d’Uzès et IGP Cévennes.</a:t>
            </a:r>
            <a:endParaRPr lang="en-US" sz="95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5"/>
          <p:cNvSpPr/>
          <p:nvPr/>
        </p:nvSpPr>
        <p:spPr>
          <a:xfrm>
            <a:off x="828000" y="8388000"/>
            <a:ext cx="6120000" cy="0"/>
          </a:xfrm>
          <a:prstGeom prst="line">
            <a:avLst/>
          </a:prstGeom>
          <a:noFill/>
          <a:ln w="8890">
            <a:solidFill>
              <a:srgbClr val="46606E"/>
            </a:solidFill>
            <a:prstDash val="solid"/>
          </a:ln>
        </p:spPr>
      </p:sp>
      <p:sp>
        <p:nvSpPr>
          <p:cNvPr id="20"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60</a:t>
            </a:r>
            <a:endParaRPr lang="en-US" sz="750" dirty="0"/>
          </a:p>
        </p:txBody>
      </p:sp>
      <p:sp>
        <p:nvSpPr>
          <p:cNvPr id="24"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85474"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9" name="Shape 6"/>
          <p:cNvSpPr/>
          <p:nvPr/>
        </p:nvSpPr>
        <p:spPr>
          <a:xfrm>
            <a:off x="2076674" y="1047600"/>
            <a:ext cx="787182"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7667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sp>
        <p:nvSpPr>
          <p:cNvPr id="11" name="Shape 8"/>
          <p:cNvSpPr/>
          <p:nvPr/>
        </p:nvSpPr>
        <p:spPr>
          <a:xfrm>
            <a:off x="612000" y="1357200"/>
            <a:ext cx="1152000" cy="1152000"/>
          </a:xfrm>
          <a:prstGeom prst="ellipse">
            <a:avLst/>
          </a:prstGeom>
          <a:solidFill>
            <a:srgbClr val="F2EADA"/>
          </a:solidFill>
          <a:ln w="12700">
            <a:solidFill>
              <a:srgbClr val="46606E"/>
            </a:solidFill>
            <a:prstDash val="dash"/>
          </a:ln>
        </p:spPr>
      </p:sp>
      <p:sp>
        <p:nvSpPr>
          <p:cNvPr id="12" name="Text 9"/>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3"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4"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5" name="Text 12"/>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Au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9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3"/>
          <p:cNvSpPr/>
          <p:nvPr/>
        </p:nvSpPr>
        <p:spPr>
          <a:xfrm>
            <a:off x="612000" y="8388000"/>
            <a:ext cx="6120000" cy="0"/>
          </a:xfrm>
          <a:prstGeom prst="line">
            <a:avLst/>
          </a:prstGeom>
          <a:noFill/>
          <a:ln w="8890">
            <a:solidFill>
              <a:srgbClr val="46606E"/>
            </a:solidFill>
            <a:prstDash val="solid"/>
          </a:ln>
        </p:spPr>
      </p:sp>
      <p:sp>
        <p:nvSpPr>
          <p:cNvPr id="18"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19"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1"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61</a:t>
            </a:r>
            <a:endParaRPr lang="en-US" sz="750" dirty="0"/>
          </a:p>
        </p:txBody>
      </p:sp>
      <p:sp>
        <p:nvSpPr>
          <p:cNvPr id="22"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Prieuré Sainte-Marie d’Albas</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85474"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9" name="Shape 6"/>
          <p:cNvSpPr/>
          <p:nvPr/>
        </p:nvSpPr>
        <p:spPr>
          <a:xfrm>
            <a:off x="2292674" y="1047600"/>
            <a:ext cx="787182"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9267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BIB 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2" name="Shape 8"/>
          <p:cNvSpPr/>
          <p:nvPr/>
        </p:nvSpPr>
        <p:spPr>
          <a:xfrm>
            <a:off x="828000" y="8388000"/>
            <a:ext cx="6120000" cy="0"/>
          </a:xfrm>
          <a:prstGeom prst="line">
            <a:avLst/>
          </a:prstGeom>
          <a:noFill/>
          <a:ln w="8890">
            <a:solidFill>
              <a:srgbClr val="46606E"/>
            </a:solidFill>
            <a:prstDash val="solid"/>
          </a:ln>
        </p:spPr>
      </p:sp>
      <p:sp>
        <p:nvSpPr>
          <p:cNvPr id="13" name="Text 9"/>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14" name="Text 10"/>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5" name="Text 11"/>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62</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champa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10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26</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37   </a:t>
            </a:r>
            <a:pPr indent="0" marL="0">
              <a:buNone/>
            </a:pPr>
            <a:r>
              <a:rPr lang="en-US" sz="860" dirty="0">
                <a:solidFill>
                  <a:srgbClr val="46606E"/>
                </a:solidFill>
                <a:latin typeface="IBM Plex Sans" pitchFamily="34" charset="0"/>
                <a:ea typeface="IBM Plex Sans" pitchFamily="34" charset="-122"/>
                <a:cs typeface="IBM Plex Sans" pitchFamily="34" charset="-120"/>
              </a:rPr>
              <a:t>Champagne Dekeyne</a:t>
            </a:r>
            <a:pPr indent="0" marL="0">
              <a:buNone/>
            </a:pPr>
            <a:r>
              <a:rPr lang="en-US" sz="860" b="1" dirty="0">
                <a:solidFill>
                  <a:srgbClr val="46606E"/>
                </a:solidFill>
                <a:latin typeface="IBM Plex Sans" pitchFamily="34" charset="0"/>
                <a:ea typeface="IBM Plex Sans" pitchFamily="34" charset="-122"/>
                <a:cs typeface="IBM Plex Sans" pitchFamily="34" charset="-120"/>
              </a:rPr>
              <a:t>   64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38   </a:t>
            </a:r>
            <a:pPr indent="0" marL="0">
              <a:buNone/>
            </a:pPr>
            <a:r>
              <a:rPr lang="en-US" sz="860" dirty="0">
                <a:solidFill>
                  <a:srgbClr val="46606E"/>
                </a:solidFill>
                <a:latin typeface="IBM Plex Sans" pitchFamily="34" charset="0"/>
                <a:ea typeface="IBM Plex Sans" pitchFamily="34" charset="-122"/>
                <a:cs typeface="IBM Plex Sans" pitchFamily="34" charset="-120"/>
              </a:rPr>
              <a:t>Champagne Denis Frézier</a:t>
            </a:r>
            <a:pPr indent="0" marL="0">
              <a:buNone/>
            </a:pPr>
            <a:r>
              <a:rPr lang="en-US" sz="860" b="1" dirty="0">
                <a:solidFill>
                  <a:srgbClr val="46606E"/>
                </a:solidFill>
                <a:latin typeface="IBM Plex Sans" pitchFamily="34" charset="0"/>
                <a:ea typeface="IBM Plex Sans" pitchFamily="34" charset="-122"/>
                <a:cs typeface="IBM Plex Sans" pitchFamily="34" charset="-120"/>
              </a:rPr>
              <a:t>   65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39   </a:t>
            </a:r>
            <a:pPr indent="0" marL="0">
              <a:buNone/>
            </a:pPr>
            <a:r>
              <a:rPr lang="en-US" sz="860" dirty="0">
                <a:solidFill>
                  <a:srgbClr val="46606E"/>
                </a:solidFill>
                <a:latin typeface="IBM Plex Sans" pitchFamily="34" charset="0"/>
                <a:ea typeface="IBM Plex Sans" pitchFamily="34" charset="-122"/>
                <a:cs typeface="IBM Plex Sans" pitchFamily="34" charset="-120"/>
              </a:rPr>
              <a:t>Champagne Solemme</a:t>
            </a:r>
            <a:pPr indent="0" marL="0">
              <a:buNone/>
            </a:pPr>
            <a:r>
              <a:rPr lang="en-US" sz="860" b="1" dirty="0">
                <a:solidFill>
                  <a:srgbClr val="46606E"/>
                </a:solidFill>
                <a:latin typeface="IBM Plex Sans" pitchFamily="34" charset="0"/>
                <a:ea typeface="IBM Plex Sans" pitchFamily="34" charset="-122"/>
                <a:cs typeface="IBM Plex Sans" pitchFamily="34" charset="-120"/>
              </a:rPr>
              <a:t>   66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40   </a:t>
            </a:r>
            <a:pPr indent="0" marL="0">
              <a:buNone/>
            </a:pPr>
            <a:r>
              <a:rPr lang="en-US" sz="860" dirty="0">
                <a:solidFill>
                  <a:srgbClr val="46606E"/>
                </a:solidFill>
                <a:latin typeface="IBM Plex Sans" pitchFamily="34" charset="0"/>
                <a:ea typeface="IBM Plex Sans" pitchFamily="34" charset="-122"/>
                <a:cs typeface="IBM Plex Sans" pitchFamily="34" charset="-120"/>
              </a:rPr>
              <a:t>Vazart-Coquart &amp; Fils</a:t>
            </a:r>
            <a:pPr indent="0" marL="0">
              <a:buNone/>
            </a:pPr>
            <a:r>
              <a:rPr lang="en-US" sz="860" b="1" dirty="0">
                <a:solidFill>
                  <a:srgbClr val="46606E"/>
                </a:solidFill>
                <a:latin typeface="IBM Plex Sans" pitchFamily="34" charset="0"/>
                <a:ea typeface="IBM Plex Sans" pitchFamily="34" charset="-122"/>
                <a:cs typeface="IBM Plex Sans" pitchFamily="34" charset="-120"/>
              </a:rPr>
              <a:t>   67</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63</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sp>
        <p:nvSpPr>
          <p:cNvPr id="15" name="Shape 12"/>
          <p:cNvSpPr/>
          <p:nvPr/>
        </p:nvSpPr>
        <p:spPr>
          <a:xfrm>
            <a:off x="828000" y="1357200"/>
            <a:ext cx="1152000" cy="1152000"/>
          </a:xfrm>
          <a:prstGeom prst="ellipse">
            <a:avLst/>
          </a:prstGeom>
          <a:solidFill>
            <a:srgbClr val="F2EADA"/>
          </a:solidFill>
          <a:ln w="12700">
            <a:solidFill>
              <a:srgbClr val="46606E"/>
            </a:solidFill>
            <a:prstDash val="dash"/>
          </a:ln>
        </p:spPr>
      </p:sp>
      <p:sp>
        <p:nvSpPr>
          <p:cNvPr id="16" name="Text 13"/>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7" name="Shape 14"/>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8" name="Text 15"/>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6"/>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Fidèle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95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26,48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7"/>
          <p:cNvSpPr/>
          <p:nvPr/>
        </p:nvSpPr>
        <p:spPr>
          <a:xfrm>
            <a:off x="828000" y="8388000"/>
            <a:ext cx="6120000" cy="0"/>
          </a:xfrm>
          <a:prstGeom prst="line">
            <a:avLst/>
          </a:prstGeom>
          <a:noFill/>
          <a:ln w="8890">
            <a:solidFill>
              <a:srgbClr val="46606E"/>
            </a:solidFill>
            <a:prstDash val="solid"/>
          </a:ln>
        </p:spPr>
      </p:sp>
      <p:sp>
        <p:nvSpPr>
          <p:cNvPr id="22" name="Text 18"/>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 à partir de 48 bouteilles.</a:t>
            </a:r>
            <a:endParaRPr lang="en-US" sz="720" dirty="0"/>
          </a:p>
        </p:txBody>
      </p:sp>
      <p:sp>
        <p:nvSpPr>
          <p:cNvPr id="23" name="Text 19"/>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4"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5"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64</a:t>
            </a:r>
            <a:endParaRPr lang="en-US" sz="750" dirty="0"/>
          </a:p>
        </p:txBody>
      </p:sp>
      <p:sp>
        <p:nvSpPr>
          <p:cNvPr id="26"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489800" y="1047600"/>
            <a:ext cx="630911" cy="180000"/>
          </a:xfrm>
          <a:prstGeom prst="roundRect">
            <a:avLst>
              <a:gd name="adj" fmla="val 10160"/>
            </a:avLst>
          </a:prstGeom>
          <a:solidFill>
            <a:srgbClr val="67067C"/>
          </a:solidFill>
          <a:ln w="8890">
            <a:solidFill>
              <a:srgbClr val="67067C"/>
            </a:solidFill>
            <a:prstDash val="solid"/>
          </a:ln>
        </p:spPr>
      </p:sp>
      <p:sp>
        <p:nvSpPr>
          <p:cNvPr id="12" name="Text 9"/>
          <p:cNvSpPr/>
          <p:nvPr/>
        </p:nvSpPr>
        <p:spPr>
          <a:xfrm>
            <a:off x="14898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3" name="Shape 10"/>
          <p:cNvSpPr/>
          <p:nvPr/>
        </p:nvSpPr>
        <p:spPr>
          <a:xfrm>
            <a:off x="2199910" y="1047600"/>
            <a:ext cx="1385474" cy="180000"/>
          </a:xfrm>
          <a:prstGeom prst="roundRect">
            <a:avLst>
              <a:gd name="adj" fmla="val 10160"/>
            </a:avLst>
          </a:prstGeom>
          <a:solidFill>
            <a:srgbClr val="F2EADA"/>
          </a:solidFill>
          <a:ln w="8890">
            <a:solidFill>
              <a:srgbClr val="A8515F"/>
            </a:solidFill>
            <a:prstDash val="solid"/>
          </a:ln>
        </p:spPr>
      </p:sp>
      <p:sp>
        <p:nvSpPr>
          <p:cNvPr id="14" name="Text 11"/>
          <p:cNvSpPr/>
          <p:nvPr/>
        </p:nvSpPr>
        <p:spPr>
          <a:xfrm>
            <a:off x="219991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2"/>
          <p:cNvSpPr/>
          <p:nvPr/>
        </p:nvSpPr>
        <p:spPr>
          <a:xfrm>
            <a:off x="3664584"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66458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sp>
        <p:nvSpPr>
          <p:cNvPr id="17" name="Shape 14"/>
          <p:cNvSpPr/>
          <p:nvPr/>
        </p:nvSpPr>
        <p:spPr>
          <a:xfrm>
            <a:off x="612000" y="1357200"/>
            <a:ext cx="1152000" cy="1152000"/>
          </a:xfrm>
          <a:prstGeom prst="ellipse">
            <a:avLst/>
          </a:prstGeom>
          <a:solidFill>
            <a:srgbClr val="F2EADA"/>
          </a:solidFill>
          <a:ln w="12700">
            <a:solidFill>
              <a:srgbClr val="46606E"/>
            </a:solidFill>
            <a:prstDash val="dash"/>
          </a:ln>
        </p:spPr>
      </p:sp>
      <p:sp>
        <p:nvSpPr>
          <p:cNvPr id="18" name="Text 15"/>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9" name="Shape 16"/>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20" name="Text 17"/>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21" name="Text 18"/>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Enracinée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95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23,17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612000" y="7667546"/>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RATAFIA · RATAFIA</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13,62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4" name="Shape 19"/>
          <p:cNvSpPr/>
          <p:nvPr/>
        </p:nvSpPr>
        <p:spPr>
          <a:xfrm>
            <a:off x="612000" y="8388000"/>
            <a:ext cx="6120000" cy="0"/>
          </a:xfrm>
          <a:prstGeom prst="line">
            <a:avLst/>
          </a:prstGeom>
          <a:noFill/>
          <a:ln w="8890">
            <a:solidFill>
              <a:srgbClr val="46606E"/>
            </a:solidFill>
            <a:prstDash val="solid"/>
          </a:ln>
        </p:spPr>
      </p:sp>
      <p:sp>
        <p:nvSpPr>
          <p:cNvPr id="25" name="Text 20"/>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6" name="Text 21"/>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22"/>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65</a:t>
            </a:r>
            <a:endParaRPr lang="en-US" sz="750" dirty="0"/>
          </a:p>
        </p:txBody>
      </p:sp>
      <p:sp>
        <p:nvSpPr>
          <p:cNvPr id="29"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sp>
        <p:nvSpPr>
          <p:cNvPr id="13" name="Shape 10"/>
          <p:cNvSpPr/>
          <p:nvPr/>
        </p:nvSpPr>
        <p:spPr>
          <a:xfrm>
            <a:off x="828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828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6084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6084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2160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À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95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28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828000" y="8388000"/>
            <a:ext cx="6120000" cy="0"/>
          </a:xfrm>
          <a:prstGeom prst="line">
            <a:avLst/>
          </a:prstGeom>
          <a:noFill/>
          <a:ln w="8890">
            <a:solidFill>
              <a:srgbClr val="46606E"/>
            </a:solidFill>
            <a:prstDash val="solid"/>
          </a:ln>
        </p:spPr>
      </p:sp>
      <p:sp>
        <p:nvSpPr>
          <p:cNvPr id="20"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3"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66</a:t>
            </a:r>
            <a:endParaRPr lang="en-US" sz="750" dirty="0"/>
          </a:p>
        </p:txBody>
      </p:sp>
      <p:sp>
        <p:nvSpPr>
          <p:cNvPr id="24"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sp>
        <p:nvSpPr>
          <p:cNvPr id="13" name="Shape 10"/>
          <p:cNvSpPr/>
          <p:nvPr/>
        </p:nvSpPr>
        <p:spPr>
          <a:xfrm>
            <a:off x="612000" y="1357200"/>
            <a:ext cx="1152000" cy="1152000"/>
          </a:xfrm>
          <a:prstGeom prst="ellipse">
            <a:avLst/>
          </a:prstGeom>
          <a:solidFill>
            <a:srgbClr val="F2EADA"/>
          </a:solidFill>
          <a:ln w="12700">
            <a:solidFill>
              <a:srgbClr val="46606E"/>
            </a:solidFill>
            <a:prstDash val="dash"/>
          </a:ln>
        </p:spPr>
      </p:sp>
      <p:sp>
        <p:nvSpPr>
          <p:cNvPr id="14" name="Text 11"/>
          <p:cNvSpPr/>
          <p:nvPr/>
        </p:nvSpPr>
        <p:spPr>
          <a:xfrm>
            <a:off x="612000" y="1357200"/>
            <a:ext cx="1152000" cy="1152000"/>
          </a:xfrm>
          <a:prstGeom prst="rect">
            <a:avLst/>
          </a:prstGeom>
          <a:noFill/>
          <a:ln/>
        </p:spPr>
        <p:txBody>
          <a:bodyPr wrap="square" lIns="0" tIns="0" rIns="0" bIns="0" rtlCol="0" anchor="ctr"/>
          <a:lstStyle/>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ROND</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VIGNERON</a:t>
            </a:r>
            <a:endParaRPr lang="en-US" sz="620" dirty="0"/>
          </a:p>
          <a:p>
            <a:pPr algn="ctr" indent="0" marL="0">
              <a:lnSpc>
                <a:spcPct val="125000"/>
              </a:lnSpc>
              <a:buNone/>
            </a:pPr>
            <a:r>
              <a:rPr lang="en-US" sz="620" b="1" dirty="0">
                <a:solidFill>
                  <a:srgbClr val="46606E">
                    <a:alpha val="50000"/>
                  </a:srgbClr>
                </a:solidFill>
                <a:latin typeface="IBM Plex Sans" pitchFamily="34" charset="0"/>
                <a:ea typeface="IBM Plex Sans" pitchFamily="34" charset="-122"/>
                <a:cs typeface="IBM Plex Sans" pitchFamily="34" charset="-120"/>
              </a:rPr>
              <a:t>OU LOGO</a:t>
            </a:r>
            <a:endParaRPr lang="en-US" sz="620" dirty="0"/>
          </a:p>
        </p:txBody>
      </p:sp>
      <p:sp>
        <p:nvSpPr>
          <p:cNvPr id="15" name="Shape 12"/>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3"/>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4"/>
          <p:cNvSpPr/>
          <p:nvPr/>
        </p:nvSpPr>
        <p:spPr>
          <a:xfrm>
            <a:off x="1944000" y="1357200"/>
            <a:ext cx="3744000" cy="1152000"/>
          </a:xfrm>
          <a:prstGeom prst="rect">
            <a:avLst/>
          </a:prstGeom>
          <a:noFill/>
          <a:ln/>
        </p:spPr>
        <p:txBody>
          <a:bodyPr wrap="square" lIns="0" tIns="0" rIns="0" bIns="0" rtlCol="0" anchor="t"/>
          <a:lstStyle/>
          <a:p>
            <a:pPr indent="0" marL="0">
              <a:lnSpc>
                <a:spcPct val="128000"/>
              </a:lnSpc>
              <a:buNone/>
            </a:pPr>
            <a:r>
              <a:rPr lang="en-US" sz="950" dirty="0">
                <a:solidFill>
                  <a:srgbClr val="46606E"/>
                </a:solidFill>
                <a:latin typeface="Spectral" pitchFamily="34" charset="0"/>
                <a:ea typeface="Spectral" pitchFamily="34" charset="-122"/>
                <a:cs typeface="Spectral" pitchFamily="34" charset="-120"/>
              </a:rPr>
              <a:t>Maison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95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12000" y="3733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41,10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5"/>
          <p:cNvSpPr/>
          <p:nvPr/>
        </p:nvSpPr>
        <p:spPr>
          <a:xfrm>
            <a:off x="612000" y="8388000"/>
            <a:ext cx="6120000" cy="0"/>
          </a:xfrm>
          <a:prstGeom prst="line">
            <a:avLst/>
          </a:prstGeom>
          <a:noFill/>
          <a:ln w="8890">
            <a:solidFill>
              <a:srgbClr val="46606E"/>
            </a:solidFill>
            <a:prstDash val="solid"/>
          </a:ln>
        </p:spPr>
      </p:sp>
      <p:sp>
        <p:nvSpPr>
          <p:cNvPr id="20"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3"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67</a:t>
            </a:r>
            <a:endParaRPr lang="en-US" sz="750" dirty="0"/>
          </a:p>
        </p:txBody>
      </p:sp>
      <p:sp>
        <p:nvSpPr>
          <p:cNvPr id="24"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pPr indent="0" marL="0">
              <a:buNone/>
            </a:pPr>
            <a:r>
              <a:rPr lang="en-US" sz="690" b="1" dirty="0">
                <a:solidFill>
                  <a:srgbClr val="67067C"/>
                </a:solidFill>
                <a:latin typeface="IBM Plex Sans" pitchFamily="34" charset="0"/>
                <a:ea typeface="IBM Plex Sans" pitchFamily="34" charset="-122"/>
                <a:cs typeface="IBM Plex Sans" pitchFamily="34" charset="-120"/>
              </a:rPr>
              <a:t>  37</a:t>
            </a:r>
            <a:pPr indent="0" marL="0">
              <a:buNone/>
            </a:pP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pPr indent="0" marL="0">
              <a:buNone/>
            </a:pPr>
            <a:r>
              <a:rPr lang="en-US" sz="690" b="1" dirty="0">
                <a:solidFill>
                  <a:srgbClr val="67067C"/>
                </a:solidFill>
                <a:latin typeface="IBM Plex Sans" pitchFamily="34" charset="0"/>
                <a:ea typeface="IBM Plex Sans" pitchFamily="34" charset="-122"/>
                <a:cs typeface="IBM Plex Sans" pitchFamily="34" charset="-120"/>
              </a:rPr>
              <a:t>  37</a:t>
            </a:r>
            <a:pPr indent="0" marL="0">
              <a:buNone/>
            </a:pP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pPr indent="0" marL="0">
              <a:buNone/>
            </a:pPr>
            <a:r>
              <a:rPr lang="en-US" sz="690" b="1" dirty="0">
                <a:solidFill>
                  <a:srgbClr val="67067C"/>
                </a:solidFill>
                <a:latin typeface="IBM Plex Sans" pitchFamily="34" charset="0"/>
                <a:ea typeface="IBM Plex Sans" pitchFamily="34" charset="-122"/>
                <a:cs typeface="IBM Plex Sans" pitchFamily="34" charset="-120"/>
              </a:rPr>
              <a:t>  37</a:t>
            </a:r>
            <a:pPr indent="0" marL="0">
              <a:buNone/>
            </a:pP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pPr indent="0" marL="0">
              <a:buNone/>
            </a:pPr>
            <a:r>
              <a:rPr lang="en-US" sz="690" b="1" dirty="0">
                <a:solidFill>
                  <a:srgbClr val="67067C"/>
                </a:solidFill>
                <a:latin typeface="IBM Plex Sans" pitchFamily="34" charset="0"/>
                <a:ea typeface="IBM Plex Sans" pitchFamily="34" charset="-122"/>
                <a:cs typeface="IBM Plex Sans" pitchFamily="34" charset="-120"/>
              </a:rPr>
              <a:t>  13</a:t>
            </a:r>
            <a:pPr indent="0" marL="0">
              <a:buNone/>
            </a:pP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13</a:t>
            </a:r>
            <a:pPr indent="0" marL="0">
              <a:buNone/>
            </a:pP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18</a:t>
            </a:r>
            <a:pPr indent="0" marL="0">
              <a:buNone/>
            </a:pP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pPr indent="0" marL="0">
              <a:buNone/>
            </a:pPr>
            <a:r>
              <a:rPr lang="en-US" sz="690" b="1" dirty="0">
                <a:solidFill>
                  <a:srgbClr val="67067C"/>
                </a:solidFill>
                <a:latin typeface="IBM Plex Sans" pitchFamily="34" charset="0"/>
                <a:ea typeface="IBM Plex Sans" pitchFamily="34" charset="-122"/>
                <a:cs typeface="IBM Plex Sans" pitchFamily="34" charset="-120"/>
              </a:rPr>
              <a:t>  5</a:t>
            </a:r>
            <a:pPr indent="0" marL="0">
              <a:buNone/>
            </a:pP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15</a:t>
            </a:r>
            <a:pPr indent="0" marL="0">
              <a:buNone/>
            </a:pP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15</a:t>
            </a:r>
            <a:pPr indent="0" marL="0">
              <a:buNone/>
            </a:pP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pPr indent="0" marL="0">
              <a:buNone/>
            </a:pPr>
            <a:r>
              <a:rPr lang="en-US" sz="690" b="1" dirty="0">
                <a:solidFill>
                  <a:srgbClr val="67067C"/>
                </a:solidFill>
                <a:latin typeface="IBM Plex Sans" pitchFamily="34" charset="0"/>
                <a:ea typeface="IBM Plex Sans" pitchFamily="34" charset="-122"/>
                <a:cs typeface="IBM Plex Sans" pitchFamily="34" charset="-120"/>
              </a:rPr>
              <a:t>  5</a:t>
            </a:r>
            <a:pPr indent="0" marL="0">
              <a:buNone/>
            </a:pP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21</a:t>
            </a:r>
            <a:pPr indent="0" marL="0">
              <a:buNone/>
            </a:pP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16</a:t>
            </a:r>
            <a:pPr indent="0" marL="0">
              <a:buNone/>
            </a:pP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pPr indent="0" marL="0">
              <a:buNone/>
            </a:pPr>
            <a:r>
              <a:rPr lang="en-US" sz="690" b="1" dirty="0">
                <a:solidFill>
                  <a:srgbClr val="67067C"/>
                </a:solidFill>
                <a:latin typeface="IBM Plex Sans" pitchFamily="34" charset="0"/>
                <a:ea typeface="IBM Plex Sans" pitchFamily="34" charset="-122"/>
                <a:cs typeface="IBM Plex Sans" pitchFamily="34" charset="-120"/>
              </a:rPr>
              <a:t>  18</a:t>
            </a:r>
            <a:pPr indent="0" marL="0">
              <a:buNone/>
            </a:pP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pPr indent="0" marL="0">
              <a:buNone/>
            </a:pPr>
            <a:r>
              <a:rPr lang="en-US" sz="690" b="1" dirty="0">
                <a:solidFill>
                  <a:srgbClr val="67067C"/>
                </a:solidFill>
                <a:latin typeface="IBM Plex Sans" pitchFamily="34" charset="0"/>
                <a:ea typeface="IBM Plex Sans" pitchFamily="34" charset="-122"/>
                <a:cs typeface="IBM Plex Sans" pitchFamily="34" charset="-120"/>
              </a:rPr>
              <a:t>  29</a:t>
            </a:r>
            <a:pPr indent="0" marL="0">
              <a:buNone/>
            </a:pP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pPr indent="0" marL="0">
              <a:buNone/>
            </a:pPr>
            <a:r>
              <a:rPr lang="en-US" sz="690" b="1" dirty="0">
                <a:solidFill>
                  <a:srgbClr val="67067C"/>
                </a:solidFill>
                <a:latin typeface="IBM Plex Sans" pitchFamily="34" charset="0"/>
                <a:ea typeface="IBM Plex Sans" pitchFamily="34" charset="-122"/>
                <a:cs typeface="IBM Plex Sans" pitchFamily="34" charset="-120"/>
              </a:rPr>
              <a:t>  15</a:t>
            </a:r>
            <a:pPr indent="0" marL="0">
              <a:buNone/>
            </a:pP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pPr indent="0" marL="0">
              <a:buNone/>
            </a:pPr>
            <a:r>
              <a:rPr lang="en-US" sz="690" b="1" dirty="0">
                <a:solidFill>
                  <a:srgbClr val="67067C"/>
                </a:solidFill>
                <a:latin typeface="IBM Plex Sans" pitchFamily="34" charset="0"/>
                <a:ea typeface="IBM Plex Sans" pitchFamily="34" charset="-122"/>
                <a:cs typeface="IBM Plex Sans" pitchFamily="34" charset="-120"/>
              </a:rPr>
              <a:t>  27</a:t>
            </a:r>
            <a:pPr indent="0" marL="0">
              <a:buNone/>
            </a:pP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pPr indent="0" marL="0">
              <a:buNone/>
            </a:pPr>
            <a:r>
              <a:rPr lang="en-US" sz="690" b="1" dirty="0">
                <a:solidFill>
                  <a:srgbClr val="67067C"/>
                </a:solidFill>
                <a:latin typeface="IBM Plex Sans" pitchFamily="34" charset="0"/>
                <a:ea typeface="IBM Plex Sans" pitchFamily="34" charset="-122"/>
                <a:cs typeface="IBM Plex Sans" pitchFamily="34" charset="-120"/>
              </a:rPr>
              <a:t>  27</a:t>
            </a:r>
            <a:pPr indent="0" marL="0">
              <a:buNone/>
            </a:pP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18</a:t>
            </a:r>
            <a:pPr indent="0" marL="0">
              <a:buNone/>
            </a:pP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pPr indent="0" marL="0">
              <a:buNone/>
            </a:pPr>
            <a:r>
              <a:rPr lang="en-US" sz="690" b="1" dirty="0">
                <a:solidFill>
                  <a:srgbClr val="67067C"/>
                </a:solidFill>
                <a:latin typeface="IBM Plex Sans" pitchFamily="34" charset="0"/>
                <a:ea typeface="IBM Plex Sans" pitchFamily="34" charset="-122"/>
                <a:cs typeface="IBM Plex Sans" pitchFamily="34" charset="-120"/>
              </a:rPr>
              <a:t>  21</a:t>
            </a:r>
            <a:pPr indent="0" marL="0">
              <a:buNone/>
            </a:pP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pPr indent="0" marL="0">
              <a:buNone/>
            </a:pPr>
            <a:r>
              <a:rPr lang="en-US" sz="690" b="1" dirty="0">
                <a:solidFill>
                  <a:srgbClr val="67067C"/>
                </a:solidFill>
                <a:latin typeface="IBM Plex Sans" pitchFamily="34" charset="0"/>
                <a:ea typeface="IBM Plex Sans" pitchFamily="34" charset="-122"/>
                <a:cs typeface="IBM Plex Sans" pitchFamily="34" charset="-120"/>
              </a:rPr>
              <a:t>  28</a:t>
            </a:r>
            <a:pPr indent="0" marL="0">
              <a:buNone/>
            </a:pP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pPr indent="0" marL="0">
              <a:buNone/>
            </a:pPr>
            <a:r>
              <a:rPr lang="en-US" sz="690" b="1" dirty="0">
                <a:solidFill>
                  <a:srgbClr val="67067C"/>
                </a:solidFill>
                <a:latin typeface="IBM Plex Sans" pitchFamily="34" charset="0"/>
                <a:ea typeface="IBM Plex Sans" pitchFamily="34" charset="-122"/>
                <a:cs typeface="IBM Plex Sans" pitchFamily="34" charset="-120"/>
              </a:rPr>
              <a:t>  28</a:t>
            </a:r>
            <a:pPr indent="0" marL="0">
              <a:buNone/>
            </a:pP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pPr indent="0" marL="0">
              <a:buNone/>
            </a:pPr>
            <a:r>
              <a:rPr lang="en-US" sz="690" b="1" dirty="0">
                <a:solidFill>
                  <a:srgbClr val="67067C"/>
                </a:solidFill>
                <a:latin typeface="IBM Plex Sans" pitchFamily="34" charset="0"/>
                <a:ea typeface="IBM Plex Sans" pitchFamily="34" charset="-122"/>
                <a:cs typeface="IBM Plex Sans" pitchFamily="34" charset="-120"/>
              </a:rPr>
              <a:t>  28</a:t>
            </a:r>
            <a:pPr indent="0" marL="0">
              <a:buNone/>
            </a:pP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pPr indent="0" marL="0">
              <a:buNone/>
            </a:pPr>
            <a:r>
              <a:rPr lang="en-US" sz="690" b="1" dirty="0">
                <a:solidFill>
                  <a:srgbClr val="67067C"/>
                </a:solidFill>
                <a:latin typeface="IBM Plex Sans" pitchFamily="34" charset="0"/>
                <a:ea typeface="IBM Plex Sans" pitchFamily="34" charset="-122"/>
                <a:cs typeface="IBM Plex Sans" pitchFamily="34" charset="-120"/>
              </a:rPr>
              <a:t>  29</a:t>
            </a:r>
            <a:pPr indent="0" marL="0">
              <a:buNone/>
            </a:pP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pPr indent="0" marL="0">
              <a:buNone/>
            </a:pPr>
            <a:r>
              <a:rPr lang="en-US" sz="690" b="1" dirty="0">
                <a:solidFill>
                  <a:srgbClr val="67067C"/>
                </a:solidFill>
                <a:latin typeface="IBM Plex Sans" pitchFamily="34" charset="0"/>
                <a:ea typeface="IBM Plex Sans" pitchFamily="34" charset="-122"/>
                <a:cs typeface="IBM Plex Sans" pitchFamily="34" charset="-120"/>
              </a:rPr>
              <a:t>  13</a:t>
            </a:r>
            <a:pPr indent="0" marL="0">
              <a:buNone/>
            </a:pP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pPr indent="0" marL="0">
              <a:buNone/>
            </a:pPr>
            <a:r>
              <a:rPr lang="en-US" sz="690" b="1" dirty="0">
                <a:solidFill>
                  <a:srgbClr val="67067C"/>
                </a:solidFill>
                <a:latin typeface="IBM Plex Sans" pitchFamily="34" charset="0"/>
                <a:ea typeface="IBM Plex Sans" pitchFamily="34" charset="-122"/>
                <a:cs typeface="IBM Plex Sans" pitchFamily="34" charset="-120"/>
              </a:rPr>
              <a:t>  16</a:t>
            </a:r>
            <a:pPr indent="0" marL="0">
              <a:buNone/>
            </a:pP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pPr indent="0" marL="0">
              <a:buNone/>
            </a:pPr>
            <a:r>
              <a:rPr lang="en-US" sz="690" b="1" dirty="0">
                <a:solidFill>
                  <a:srgbClr val="67067C"/>
                </a:solidFill>
                <a:latin typeface="IBM Plex Sans" pitchFamily="34" charset="0"/>
                <a:ea typeface="IBM Plex Sans" pitchFamily="34" charset="-122"/>
                <a:cs typeface="IBM Plex Sans" pitchFamily="34" charset="-120"/>
              </a:rPr>
              <a:t>  27</a:t>
            </a:r>
            <a:pPr indent="0" marL="0">
              <a:buNone/>
            </a:pP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15</a:t>
            </a:r>
            <a:pPr indent="0" marL="0">
              <a:buNone/>
            </a:pP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pPr indent="0" marL="0">
              <a:buNone/>
            </a:pPr>
            <a:r>
              <a:rPr lang="en-US" sz="690" b="1" dirty="0">
                <a:solidFill>
                  <a:srgbClr val="67067C"/>
                </a:solidFill>
                <a:latin typeface="IBM Plex Sans" pitchFamily="34" charset="0"/>
                <a:ea typeface="IBM Plex Sans" pitchFamily="34" charset="-122"/>
                <a:cs typeface="IBM Plex Sans" pitchFamily="34" charset="-120"/>
              </a:rPr>
              <a:t>  5</a:t>
            </a:r>
            <a:pPr indent="0" marL="0">
              <a:buNone/>
            </a:pP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pPr indent="0" marL="0">
              <a:buNone/>
            </a:pPr>
            <a:r>
              <a:rPr lang="en-US" sz="690" b="1" dirty="0">
                <a:solidFill>
                  <a:srgbClr val="67067C"/>
                </a:solidFill>
                <a:latin typeface="IBM Plex Sans" pitchFamily="34" charset="0"/>
                <a:ea typeface="IBM Plex Sans" pitchFamily="34" charset="-122"/>
                <a:cs typeface="IBM Plex Sans" pitchFamily="34" charset="-120"/>
              </a:rPr>
              <a:t>  29</a:t>
            </a:r>
            <a:pPr indent="0" marL="0">
              <a:buNone/>
            </a:pP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21</a:t>
            </a:r>
            <a:pPr indent="0" marL="0">
              <a:buNone/>
            </a:pP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16</a:t>
            </a:r>
            <a:pPr indent="0" marL="0">
              <a:buNone/>
            </a:pP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pPr indent="0" marL="0">
              <a:buNone/>
            </a:pPr>
            <a:r>
              <a:rPr lang="en-US" sz="690" b="1" dirty="0">
                <a:solidFill>
                  <a:srgbClr val="67067C"/>
                </a:solidFill>
                <a:latin typeface="IBM Plex Sans" pitchFamily="34" charset="0"/>
                <a:ea typeface="IBM Plex Sans" pitchFamily="34" charset="-122"/>
                <a:cs typeface="IBM Plex Sans" pitchFamily="34" charset="-120"/>
              </a:rPr>
              <a:t>  37</a:t>
            </a:r>
            <a:pPr indent="0" marL="0">
              <a:buNone/>
            </a:pP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AOP Muscadet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Sauvignon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Chardonnay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Merlot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Cabernet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Cabernet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Amande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3 L   p. 39</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Gulf Stream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5 L   p. 39</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Triton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10 L   p. 39</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pPr indent="0" marL="0">
              <a:buNone/>
            </a:pPr>
            <a:r>
              <a:rPr lang="en-US" sz="740" b="1" dirty="0">
                <a:solidFill>
                  <a:srgbClr val="46606E"/>
                </a:solidFill>
                <a:latin typeface="IBM Plex Sans" pitchFamily="34" charset="0"/>
                <a:ea typeface="IBM Plex Sans" pitchFamily="34" charset="-122"/>
                <a:cs typeface="IBM Plex Sans" pitchFamily="34" charset="-120"/>
              </a:rPr>
              <a:t>BLACAILLOUX  </a:t>
            </a:r>
            <a:pPr indent="0" marL="0">
              <a:buNone/>
            </a:pPr>
            <a:r>
              <a:rPr lang="en-US" sz="680" dirty="0">
                <a:solidFill>
                  <a:srgbClr val="46606E"/>
                </a:solidFill>
                <a:latin typeface="IBM Plex Sans" pitchFamily="34" charset="0"/>
                <a:ea typeface="IBM Plex Sans" pitchFamily="34" charset="-122"/>
                <a:cs typeface="IBM Plex Sans" pitchFamily="34" charset="-120"/>
              </a:rPr>
              <a:t>Bastide de Blacailloux  </a:t>
            </a:r>
            <a:pPr indent="0" marL="0">
              <a:buNone/>
            </a:pP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pPr indent="0" marL="0">
              <a:buNone/>
            </a:pPr>
            <a:r>
              <a:rPr lang="en-US" sz="740" b="1" dirty="0">
                <a:solidFill>
                  <a:srgbClr val="46606E"/>
                </a:solidFill>
                <a:latin typeface="IBM Plex Sans" pitchFamily="34" charset="0"/>
                <a:ea typeface="IBM Plex Sans" pitchFamily="34" charset="-122"/>
                <a:cs typeface="IBM Plex Sans" pitchFamily="34" charset="-120"/>
              </a:rPr>
              <a:t>Pergola D'Exea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pPr indent="0" marL="0">
              <a:buNone/>
            </a:pPr>
            <a:r>
              <a:rPr lang="en-US" sz="740" b="1" dirty="0">
                <a:solidFill>
                  <a:srgbClr val="46606E"/>
                </a:solidFill>
                <a:latin typeface="IBM Plex Sans" pitchFamily="34" charset="0"/>
                <a:ea typeface="IBM Plex Sans" pitchFamily="34" charset="-122"/>
                <a:cs typeface="IBM Plex Sans" pitchFamily="34" charset="-120"/>
              </a:rPr>
              <a:t>Pergola D'Exea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pPr indent="0" marL="0">
              <a:buNone/>
            </a:pPr>
            <a:r>
              <a:rPr lang="en-US" sz="740" b="1" dirty="0">
                <a:solidFill>
                  <a:srgbClr val="46606E"/>
                </a:solidFill>
                <a:latin typeface="IBM Plex Sans" pitchFamily="34" charset="0"/>
                <a:ea typeface="IBM Plex Sans" pitchFamily="34" charset="-122"/>
                <a:cs typeface="IBM Plex Sans" pitchFamily="34" charset="-120"/>
              </a:rPr>
              <a:t>Pergola D'Exea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pPr indent="0" marL="0">
              <a:buNone/>
            </a:pPr>
            <a:r>
              <a:rPr lang="en-US" sz="740" b="1" dirty="0">
                <a:solidFill>
                  <a:srgbClr val="46606E"/>
                </a:solidFill>
                <a:latin typeface="IBM Plex Sans" pitchFamily="34" charset="0"/>
                <a:ea typeface="IBM Plex Sans" pitchFamily="34" charset="-122"/>
                <a:cs typeface="IBM Plex Sans" pitchFamily="34" charset="-120"/>
              </a:rPr>
              <a:t>Corbières Rouge  </a:t>
            </a:r>
            <a:pPr indent="0" marL="0">
              <a:buNone/>
            </a:pPr>
            <a:r>
              <a:rPr lang="en-US" sz="680" dirty="0">
                <a:solidFill>
                  <a:srgbClr val="46606E"/>
                </a:solidFill>
                <a:latin typeface="IBM Plex Sans" pitchFamily="34" charset="0"/>
                <a:ea typeface="IBM Plex Sans" pitchFamily="34" charset="-122"/>
                <a:cs typeface="IBM Plex Sans" pitchFamily="34" charset="-120"/>
              </a:rPr>
              <a:t>Prieuré Sainte-Marie d’Albas  </a:t>
            </a:r>
            <a:pPr indent="0" marL="0">
              <a:buNone/>
            </a:pPr>
            <a:r>
              <a:rPr lang="en-US" sz="680" dirty="0">
                <a:solidFill>
                  <a:srgbClr val="A8515F"/>
                </a:solidFill>
                <a:latin typeface="IBM Plex Sans" pitchFamily="34" charset="0"/>
                <a:ea typeface="IBM Plex Sans" pitchFamily="34" charset="-122"/>
                <a:cs typeface="IBM Plex Sans" pitchFamily="34" charset="-120"/>
              </a:rPr>
              <a:t>BIB 3 L   p. 61</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Pinot Noir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Sauvignon Blanc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Sauvignon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Chenin Blanc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Rosé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Pinot Noir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Sauvignon Blanc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Sauvignon Blanc Blush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SAUVIGNON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CARIGNAN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CHARDONNAY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GRENACHE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LA SYRAH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CHARDONNAY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GRENACHE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LA SYRAH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pPr indent="0" marL="0">
              <a:buNone/>
            </a:pPr>
            <a:r>
              <a:rPr lang="en-US" sz="740" b="1" dirty="0">
                <a:solidFill>
                  <a:srgbClr val="46606E"/>
                </a:solidFill>
                <a:latin typeface="IBM Plex Sans" pitchFamily="34" charset="0"/>
                <a:ea typeface="IBM Plex Sans" pitchFamily="34" charset="-122"/>
                <a:cs typeface="IBM Plex Sans" pitchFamily="34" charset="-120"/>
              </a:rPr>
              <a:t>la barbe  </a:t>
            </a:r>
            <a:pPr indent="0" marL="0">
              <a:buNone/>
            </a:pPr>
            <a:r>
              <a:rPr lang="en-US" sz="680" dirty="0">
                <a:solidFill>
                  <a:srgbClr val="46606E"/>
                </a:solidFill>
                <a:latin typeface="IBM Plex Sans" pitchFamily="34" charset="0"/>
                <a:ea typeface="IBM Plex Sans" pitchFamily="34" charset="-122"/>
                <a:cs typeface="IBM Plex Sans" pitchFamily="34" charset="-120"/>
              </a:rPr>
              <a:t>Fabien Castaing  </a:t>
            </a:r>
            <a:pPr indent="0" marL="0">
              <a:buNone/>
            </a:pP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pPr indent="0" marL="0">
              <a:buNone/>
            </a:pPr>
            <a:r>
              <a:rPr lang="en-US" sz="740" b="1" dirty="0">
                <a:solidFill>
                  <a:srgbClr val="46606E"/>
                </a:solidFill>
                <a:latin typeface="IBM Plex Sans" pitchFamily="34" charset="0"/>
                <a:ea typeface="IBM Plex Sans" pitchFamily="34" charset="-122"/>
                <a:cs typeface="IBM Plex Sans" pitchFamily="34" charset="-120"/>
              </a:rPr>
              <a:t>la barbe  </a:t>
            </a:r>
            <a:pPr indent="0" marL="0">
              <a:buNone/>
            </a:pPr>
            <a:r>
              <a:rPr lang="en-US" sz="680" dirty="0">
                <a:solidFill>
                  <a:srgbClr val="46606E"/>
                </a:solidFill>
                <a:latin typeface="IBM Plex Sans" pitchFamily="34" charset="0"/>
                <a:ea typeface="IBM Plex Sans" pitchFamily="34" charset="-122"/>
                <a:cs typeface="IBM Plex Sans" pitchFamily="34" charset="-120"/>
              </a:rPr>
              <a:t>Fabien Castaing  </a:t>
            </a:r>
            <a:pPr indent="0" marL="0">
              <a:buNone/>
            </a:pP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pPr indent="0" marL="0">
              <a:buNone/>
            </a:pPr>
            <a:r>
              <a:rPr lang="en-US" sz="740" b="1" dirty="0">
                <a:solidFill>
                  <a:srgbClr val="46606E"/>
                </a:solidFill>
                <a:latin typeface="IBM Plex Sans" pitchFamily="34" charset="0"/>
                <a:ea typeface="IBM Plex Sans" pitchFamily="34" charset="-122"/>
                <a:cs typeface="IBM Plex Sans" pitchFamily="34" charset="-120"/>
              </a:rPr>
              <a:t>la barbe  </a:t>
            </a:r>
            <a:pPr indent="0" marL="0">
              <a:buNone/>
            </a:pPr>
            <a:r>
              <a:rPr lang="en-US" sz="680" dirty="0">
                <a:solidFill>
                  <a:srgbClr val="46606E"/>
                </a:solidFill>
                <a:latin typeface="IBM Plex Sans" pitchFamily="34" charset="0"/>
                <a:ea typeface="IBM Plex Sans" pitchFamily="34" charset="-122"/>
                <a:cs typeface="IBM Plex Sans" pitchFamily="34" charset="-120"/>
              </a:rPr>
              <a:t>Fabien Castaing  </a:t>
            </a:r>
            <a:pPr indent="0" marL="0">
              <a:buNone/>
            </a:pP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Blanche Armagnac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Réserve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V.S.O.P.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X.O.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Hors d'Age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Millésimés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Millésimés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pPr indent="0" marL="0">
              <a:buNone/>
            </a:pPr>
            <a:r>
              <a:rPr lang="en-US" sz="740" b="1" dirty="0">
                <a:solidFill>
                  <a:srgbClr val="46606E"/>
                </a:solidFill>
                <a:latin typeface="IBM Plex Sans" pitchFamily="34" charset="0"/>
                <a:ea typeface="IBM Plex Sans" pitchFamily="34" charset="-122"/>
                <a:cs typeface="IBM Plex Sans" pitchFamily="34" charset="-120"/>
              </a:rPr>
              <a:t>Vieux Ratafia  </a:t>
            </a:r>
            <a:pPr indent="0" marL="0">
              <a:buNone/>
            </a:pPr>
            <a:r>
              <a:rPr lang="en-US" sz="680" dirty="0">
                <a:solidFill>
                  <a:srgbClr val="46606E"/>
                </a:solidFill>
                <a:latin typeface="IBM Plex Sans" pitchFamily="34" charset="0"/>
                <a:ea typeface="IBM Plex Sans" pitchFamily="34" charset="-122"/>
                <a:cs typeface="IBM Plex Sans" pitchFamily="34" charset="-120"/>
              </a:rPr>
              <a:t>Champagne Dekeyne  </a:t>
            </a:r>
            <a:pPr indent="0" marL="0">
              <a:buNone/>
            </a:pPr>
            <a:r>
              <a:rPr lang="en-US" sz="680" dirty="0">
                <a:solidFill>
                  <a:srgbClr val="A8515F"/>
                </a:solidFill>
                <a:latin typeface="IBM Plex Sans" pitchFamily="34" charset="0"/>
                <a:ea typeface="IBM Plex Sans" pitchFamily="34" charset="-122"/>
                <a:cs typeface="IBM Plex Sans" pitchFamily="34" charset="-120"/>
              </a:rPr>
              <a:t>75 cl   p. 64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pPr indent="0" marL="0">
              <a:buNone/>
            </a:pPr>
            <a:r>
              <a:rPr lang="en-US" sz="740" b="1" dirty="0">
                <a:solidFill>
                  <a:srgbClr val="46606E"/>
                </a:solidFill>
                <a:latin typeface="IBM Plex Sans" pitchFamily="34" charset="0"/>
                <a:ea typeface="IBM Plex Sans" pitchFamily="34" charset="-122"/>
                <a:cs typeface="IBM Plex Sans" pitchFamily="34" charset="-120"/>
              </a:rPr>
              <a:t>IGP Vieux Ratafia Champenois  </a:t>
            </a:r>
            <a:pPr indent="0" marL="0">
              <a:buNone/>
            </a:pPr>
            <a:r>
              <a:rPr lang="en-US" sz="680" dirty="0">
                <a:solidFill>
                  <a:srgbClr val="46606E"/>
                </a:solidFill>
                <a:latin typeface="IBM Plex Sans" pitchFamily="34" charset="0"/>
                <a:ea typeface="IBM Plex Sans" pitchFamily="34" charset="-122"/>
                <a:cs typeface="IBM Plex Sans" pitchFamily="34" charset="-120"/>
              </a:rPr>
              <a:t>Champagne Denis Frézier  </a:t>
            </a:r>
            <a:pPr indent="0" marL="0">
              <a:buNone/>
            </a:pPr>
            <a:r>
              <a:rPr lang="en-US" sz="680" dirty="0">
                <a:solidFill>
                  <a:srgbClr val="A8515F"/>
                </a:solidFill>
                <a:latin typeface="IBM Plex Sans" pitchFamily="34" charset="0"/>
                <a:ea typeface="IBM Plex Sans" pitchFamily="34" charset="-122"/>
                <a:cs typeface="IBM Plex Sans" pitchFamily="34" charset="-120"/>
              </a:rPr>
              <a:t>75 cl   p. 65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quarante domaines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82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31   </a:t>
            </a:r>
            <a:pPr indent="0" marL="0">
              <a:buNone/>
            </a:pPr>
            <a:r>
              <a:rPr lang="en-US" sz="840" b="1" dirty="0">
                <a:solidFill>
                  <a:srgbClr val="46606E"/>
                </a:solidFill>
                <a:latin typeface="IBM Plex Sans" pitchFamily="34" charset="0"/>
                <a:ea typeface="IBM Plex Sans" pitchFamily="34" charset="-122"/>
                <a:cs typeface="IBM Plex Sans" pitchFamily="34" charset="-120"/>
              </a:rPr>
              <a:t>Bastide de Blacailloux   </a:t>
            </a:r>
            <a:pPr indent="0" marL="0">
              <a:buNone/>
            </a:pPr>
            <a:r>
              <a:rPr lang="en-US" sz="700" dirty="0">
                <a:solidFill>
                  <a:srgbClr val="A8515F"/>
                </a:solidFill>
                <a:latin typeface="IBM Plex Sans" pitchFamily="34" charset="0"/>
                <a:ea typeface="IBM Plex Sans" pitchFamily="34" charset="-122"/>
                <a:cs typeface="IBM Plex Sans" pitchFamily="34" charset="-120"/>
              </a:rPr>
              <a:t>Provence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54</a:t>
            </a:r>
            <a:endParaRPr lang="en-US" sz="840" dirty="0"/>
          </a:p>
        </p:txBody>
      </p:sp>
      <p:sp>
        <p:nvSpPr>
          <p:cNvPr id="5" name="Text 3"/>
          <p:cNvSpPr/>
          <p:nvPr/>
        </p:nvSpPr>
        <p:spPr>
          <a:xfrm>
            <a:off x="82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pPr indent="0" marL="0">
              <a:buNone/>
            </a:pPr>
            <a:r>
              <a:rPr lang="en-US" sz="840" b="1" dirty="0">
                <a:solidFill>
                  <a:srgbClr val="46606E"/>
                </a:solidFill>
                <a:latin typeface="IBM Plex Sans" pitchFamily="34" charset="0"/>
                <a:ea typeface="IBM Plex Sans" pitchFamily="34" charset="-122"/>
                <a:cs typeface="IBM Plex Sans" pitchFamily="34" charset="-120"/>
              </a:rPr>
              <a:t>Chai Berteaud Manceau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6" name="Text 4"/>
          <p:cNvSpPr/>
          <p:nvPr/>
        </p:nvSpPr>
        <p:spPr>
          <a:xfrm>
            <a:off x="82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37   </a:t>
            </a:r>
            <a:pPr indent="0" marL="0">
              <a:buNone/>
            </a:pPr>
            <a:r>
              <a:rPr lang="en-US" sz="840" b="1" dirty="0">
                <a:solidFill>
                  <a:srgbClr val="46606E"/>
                </a:solidFill>
                <a:latin typeface="IBM Plex Sans" pitchFamily="34" charset="0"/>
                <a:ea typeface="IBM Plex Sans" pitchFamily="34" charset="-122"/>
                <a:cs typeface="IBM Plex Sans" pitchFamily="34" charset="-120"/>
              </a:rPr>
              <a:t>Champagne Dekeyne   </a:t>
            </a:r>
            <a:pPr indent="0" marL="0">
              <a:buNone/>
            </a:pPr>
            <a:r>
              <a:rPr lang="en-US" sz="700" dirty="0">
                <a:solidFill>
                  <a:srgbClr val="A8515F"/>
                </a:solidFill>
                <a:latin typeface="IBM Plex Sans" pitchFamily="34" charset="0"/>
                <a:ea typeface="IBM Plex Sans" pitchFamily="34" charset="-122"/>
                <a:cs typeface="IBM Plex Sans" pitchFamily="34" charset="-120"/>
              </a:rPr>
              <a:t>Champagne   </a:t>
            </a:r>
            <a:pPr indent="0" marL="0">
              <a:buNone/>
            </a:pPr>
            <a:r>
              <a:rPr lang="en-US" sz="700" dirty="0">
                <a:solidFill>
                  <a:srgbClr val="46606E"/>
                </a:solidFill>
                <a:latin typeface="IBM Plex Sans" pitchFamily="34" charset="0"/>
                <a:ea typeface="IBM Plex Sans" pitchFamily="34" charset="-122"/>
                <a:cs typeface="IBM Plex Sans" pitchFamily="34" charset="-120"/>
              </a:rPr>
              <a:t>4   </a:t>
            </a:r>
            <a:pPr indent="0" marL="0">
              <a:buNone/>
            </a:pPr>
            <a:r>
              <a:rPr lang="en-US" sz="840" b="1" dirty="0">
                <a:solidFill>
                  <a:srgbClr val="46606E"/>
                </a:solidFill>
                <a:latin typeface="IBM Plex Sans" pitchFamily="34" charset="0"/>
                <a:ea typeface="IBM Plex Sans" pitchFamily="34" charset="-122"/>
                <a:cs typeface="IBM Plex Sans" pitchFamily="34" charset="-120"/>
              </a:rPr>
              <a:t>64</a:t>
            </a:r>
            <a:endParaRPr lang="en-US" sz="840" dirty="0"/>
          </a:p>
        </p:txBody>
      </p:sp>
      <p:sp>
        <p:nvSpPr>
          <p:cNvPr id="7" name="Text 5"/>
          <p:cNvSpPr/>
          <p:nvPr/>
        </p:nvSpPr>
        <p:spPr>
          <a:xfrm>
            <a:off x="82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38   </a:t>
            </a:r>
            <a:pPr indent="0" marL="0">
              <a:buNone/>
            </a:pPr>
            <a:r>
              <a:rPr lang="en-US" sz="840" b="1" dirty="0">
                <a:solidFill>
                  <a:srgbClr val="46606E"/>
                </a:solidFill>
                <a:latin typeface="IBM Plex Sans" pitchFamily="34" charset="0"/>
                <a:ea typeface="IBM Plex Sans" pitchFamily="34" charset="-122"/>
                <a:cs typeface="IBM Plex Sans" pitchFamily="34" charset="-120"/>
              </a:rPr>
              <a:t>Champagne Denis Frézier   </a:t>
            </a:r>
            <a:pPr indent="0" marL="0">
              <a:buNone/>
            </a:pPr>
            <a:r>
              <a:rPr lang="en-US" sz="700" dirty="0">
                <a:solidFill>
                  <a:srgbClr val="A8515F"/>
                </a:solidFill>
                <a:latin typeface="IBM Plex Sans" pitchFamily="34" charset="0"/>
                <a:ea typeface="IBM Plex Sans" pitchFamily="34" charset="-122"/>
                <a:cs typeface="IBM Plex Sans" pitchFamily="34" charset="-120"/>
              </a:rPr>
              <a:t>Champagne   </a:t>
            </a:r>
            <a:pPr indent="0" marL="0">
              <a:buNone/>
            </a:pPr>
            <a:r>
              <a:rPr lang="en-US" sz="700" dirty="0">
                <a:solidFill>
                  <a:srgbClr val="46606E"/>
                </a:solidFill>
                <a:latin typeface="IBM Plex Sans" pitchFamily="34" charset="0"/>
                <a:ea typeface="IBM Plex Sans" pitchFamily="34" charset="-122"/>
                <a:cs typeface="IBM Plex Sans" pitchFamily="34" charset="-120"/>
              </a:rPr>
              <a:t>10   </a:t>
            </a:r>
            <a:pPr indent="0" marL="0">
              <a:buNone/>
            </a:pPr>
            <a:r>
              <a:rPr lang="en-US" sz="840" b="1" dirty="0">
                <a:solidFill>
                  <a:srgbClr val="46606E"/>
                </a:solidFill>
                <a:latin typeface="IBM Plex Sans" pitchFamily="34" charset="0"/>
                <a:ea typeface="IBM Plex Sans" pitchFamily="34" charset="-122"/>
                <a:cs typeface="IBM Plex Sans" pitchFamily="34" charset="-120"/>
              </a:rPr>
              <a:t>65</a:t>
            </a:r>
            <a:endParaRPr lang="en-US" sz="840" dirty="0"/>
          </a:p>
        </p:txBody>
      </p:sp>
      <p:sp>
        <p:nvSpPr>
          <p:cNvPr id="8" name="Text 6"/>
          <p:cNvSpPr/>
          <p:nvPr/>
        </p:nvSpPr>
        <p:spPr>
          <a:xfrm>
            <a:off x="82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39   </a:t>
            </a:r>
            <a:pPr indent="0" marL="0">
              <a:buNone/>
            </a:pPr>
            <a:r>
              <a:rPr lang="en-US" sz="840" b="1" dirty="0">
                <a:solidFill>
                  <a:srgbClr val="46606E"/>
                </a:solidFill>
                <a:latin typeface="IBM Plex Sans" pitchFamily="34" charset="0"/>
                <a:ea typeface="IBM Plex Sans" pitchFamily="34" charset="-122"/>
                <a:cs typeface="IBM Plex Sans" pitchFamily="34" charset="-120"/>
              </a:rPr>
              <a:t>Champagne Solemme   </a:t>
            </a:r>
            <a:pPr indent="0" marL="0">
              <a:buNone/>
            </a:pPr>
            <a:r>
              <a:rPr lang="en-US" sz="700" dirty="0">
                <a:solidFill>
                  <a:srgbClr val="A8515F"/>
                </a:solidFill>
                <a:latin typeface="IBM Plex Sans" pitchFamily="34" charset="0"/>
                <a:ea typeface="IBM Plex Sans" pitchFamily="34" charset="-122"/>
                <a:cs typeface="IBM Plex Sans" pitchFamily="34" charset="-120"/>
              </a:rPr>
              <a:t>Champagne   </a:t>
            </a:r>
            <a:pPr indent="0" marL="0">
              <a:buNone/>
            </a:pPr>
            <a:r>
              <a:rPr lang="en-US" sz="700" dirty="0">
                <a:solidFill>
                  <a:srgbClr val="46606E"/>
                </a:solidFill>
                <a:latin typeface="IBM Plex Sans" pitchFamily="34" charset="0"/>
                <a:ea typeface="IBM Plex Sans" pitchFamily="34" charset="-122"/>
                <a:cs typeface="IBM Plex Sans"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66</a:t>
            </a:r>
            <a:endParaRPr lang="en-US" sz="840" dirty="0"/>
          </a:p>
        </p:txBody>
      </p:sp>
      <p:sp>
        <p:nvSpPr>
          <p:cNvPr id="9" name="Text 7"/>
          <p:cNvSpPr/>
          <p:nvPr/>
        </p:nvSpPr>
        <p:spPr>
          <a:xfrm>
            <a:off x="82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29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Balac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51</a:t>
            </a:r>
            <a:endParaRPr lang="en-US" sz="840" dirty="0"/>
          </a:p>
        </p:txBody>
      </p:sp>
      <p:sp>
        <p:nvSpPr>
          <p:cNvPr id="10" name="Text 8"/>
          <p:cNvSpPr/>
          <p:nvPr/>
        </p:nvSpPr>
        <p:spPr>
          <a:xfrm>
            <a:off x="82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34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de Gragnos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59</a:t>
            </a:r>
            <a:endParaRPr lang="en-US" sz="840" dirty="0"/>
          </a:p>
        </p:txBody>
      </p:sp>
      <p:sp>
        <p:nvSpPr>
          <p:cNvPr id="11" name="Text 9"/>
          <p:cNvSpPr/>
          <p:nvPr/>
        </p:nvSpPr>
        <p:spPr>
          <a:xfrm>
            <a:off x="82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du Cray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12" name="Text 10"/>
          <p:cNvSpPr/>
          <p:nvPr/>
        </p:nvSpPr>
        <p:spPr>
          <a:xfrm>
            <a:off x="82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27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Falfas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49</a:t>
            </a:r>
            <a:endParaRPr lang="en-US" sz="840" dirty="0"/>
          </a:p>
        </p:txBody>
      </p:sp>
      <p:sp>
        <p:nvSpPr>
          <p:cNvPr id="13" name="Text 11"/>
          <p:cNvSpPr/>
          <p:nvPr/>
        </p:nvSpPr>
        <p:spPr>
          <a:xfrm>
            <a:off x="82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30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l’Escarderie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52</a:t>
            </a:r>
            <a:endParaRPr lang="en-US" sz="840" dirty="0"/>
          </a:p>
        </p:txBody>
      </p:sp>
      <p:sp>
        <p:nvSpPr>
          <p:cNvPr id="14" name="Text 12"/>
          <p:cNvSpPr/>
          <p:nvPr/>
        </p:nvSpPr>
        <p:spPr>
          <a:xfrm>
            <a:off x="82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la Gorce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11   </a:t>
            </a:r>
            <a:pPr indent="0" marL="0">
              <a:buNone/>
            </a:pPr>
            <a:r>
              <a:rPr lang="en-US" sz="840" b="1" dirty="0">
                <a:solidFill>
                  <a:srgbClr val="46606E"/>
                </a:solidFill>
                <a:latin typeface="IBM Plex Sans" pitchFamily="34" charset="0"/>
                <a:ea typeface="IBM Plex Sans" pitchFamily="34" charset="-122"/>
                <a:cs typeface="IBM Plex Sans" pitchFamily="34" charset="-120"/>
              </a:rPr>
              <a:t>47</a:t>
            </a:r>
            <a:endParaRPr lang="en-US" sz="840" dirty="0"/>
          </a:p>
        </p:txBody>
      </p:sp>
      <p:sp>
        <p:nvSpPr>
          <p:cNvPr id="15" name="Text 13"/>
          <p:cNvSpPr/>
          <p:nvPr/>
        </p:nvSpPr>
        <p:spPr>
          <a:xfrm>
            <a:off x="82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28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Pré la Lande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50</a:t>
            </a:r>
            <a:endParaRPr lang="en-US" sz="840" dirty="0"/>
          </a:p>
        </p:txBody>
      </p:sp>
      <p:sp>
        <p:nvSpPr>
          <p:cNvPr id="16" name="Text 14"/>
          <p:cNvSpPr/>
          <p:nvPr/>
        </p:nvSpPr>
        <p:spPr>
          <a:xfrm>
            <a:off x="82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pPr indent="0" marL="0">
              <a:buNone/>
            </a:pPr>
            <a:r>
              <a:rPr lang="en-US" sz="840" b="1"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17" name="Text 15"/>
          <p:cNvSpPr/>
          <p:nvPr/>
        </p:nvSpPr>
        <p:spPr>
          <a:xfrm>
            <a:off x="82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Boehler   </a:t>
            </a:r>
            <a:pPr indent="0" marL="0">
              <a:buNone/>
            </a:pPr>
            <a:r>
              <a:rPr lang="en-US" sz="700" dirty="0">
                <a:solidFill>
                  <a:srgbClr val="A8515F"/>
                </a:solidFill>
                <a:latin typeface="IBM Plex Sans" pitchFamily="34" charset="0"/>
                <a:ea typeface="IBM Plex Sans" pitchFamily="34" charset="-122"/>
                <a:cs typeface="IBM Plex Sans" pitchFamily="34" charset="-120"/>
              </a:rPr>
              <a:t>Alsace   </a:t>
            </a:r>
            <a:pPr indent="0" marL="0">
              <a:buNone/>
            </a:pPr>
            <a:r>
              <a:rPr lang="en-US" sz="700" dirty="0">
                <a:solidFill>
                  <a:srgbClr val="46606E"/>
                </a:solidFill>
                <a:latin typeface="IBM Plex Sans" pitchFamily="34" charset="0"/>
                <a:ea typeface="IBM Plex Sans" pitchFamily="34" charset="-122"/>
                <a:cs typeface="IBM Plex Sans" pitchFamily="34" charset="-120"/>
              </a:rPr>
              <a:t>15   </a:t>
            </a:r>
            <a:pPr indent="0" marL="0">
              <a:buNone/>
            </a:pP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18" name="Text 16"/>
          <p:cNvSpPr/>
          <p:nvPr/>
        </p:nvSpPr>
        <p:spPr>
          <a:xfrm>
            <a:off x="82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 Coyeux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7   </a:t>
            </a:r>
            <a:pPr indent="0" marL="0">
              <a:buNone/>
            </a:pP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9" name="Text 17"/>
          <p:cNvSpPr/>
          <p:nvPr/>
        </p:nvSpPr>
        <p:spPr>
          <a:xfrm>
            <a:off x="82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 la Barbinière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10   </a:t>
            </a:r>
            <a:pPr indent="0" marL="0">
              <a:buNone/>
            </a:pP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828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 la Pousterle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5   </a:t>
            </a:r>
            <a:pPr indent="0" marL="0">
              <a:buNone/>
            </a:pP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21" name="Text 19"/>
          <p:cNvSpPr/>
          <p:nvPr/>
        </p:nvSpPr>
        <p:spPr>
          <a:xfrm>
            <a:off x="828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des Noëls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9   </a:t>
            </a:r>
            <a:pPr indent="0" marL="0">
              <a:buNone/>
            </a:pPr>
            <a:r>
              <a:rPr lang="en-US" sz="840" b="1" dirty="0">
                <a:solidFill>
                  <a:srgbClr val="46606E"/>
                </a:solidFill>
                <a:latin typeface="IBM Plex Sans" pitchFamily="34" charset="0"/>
                <a:ea typeface="IBM Plex Sans" pitchFamily="34" charset="-122"/>
                <a:cs typeface="IBM Plex Sans" pitchFamily="34" charset="-120"/>
              </a:rPr>
              <a:t>11</a:t>
            </a:r>
            <a:endParaRPr lang="en-US" sz="840" dirty="0"/>
          </a:p>
        </p:txBody>
      </p:sp>
      <p:sp>
        <p:nvSpPr>
          <p:cNvPr id="22" name="Text 20"/>
          <p:cNvSpPr/>
          <p:nvPr/>
        </p:nvSpPr>
        <p:spPr>
          <a:xfrm>
            <a:off x="828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des Nugues   </a:t>
            </a:r>
            <a:pPr indent="0" marL="0">
              <a:buNone/>
            </a:pPr>
            <a:r>
              <a:rPr lang="en-US" sz="700" dirty="0">
                <a:solidFill>
                  <a:srgbClr val="A8515F"/>
                </a:solidFill>
                <a:latin typeface="IBM Plex Sans" pitchFamily="34" charset="0"/>
                <a:ea typeface="IBM Plex Sans" pitchFamily="34" charset="-122"/>
                <a:cs typeface="IBM Plex Sans" pitchFamily="34" charset="-120"/>
              </a:rPr>
              <a:t>Beaujolais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3" name="Text 21"/>
          <p:cNvSpPr/>
          <p:nvPr/>
        </p:nvSpPr>
        <p:spPr>
          <a:xfrm>
            <a:off x="828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des Pasquiers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35</a:t>
            </a:r>
            <a:endParaRPr lang="en-US" sz="840" dirty="0"/>
          </a:p>
        </p:txBody>
      </p:sp>
      <p:sp>
        <p:nvSpPr>
          <p:cNvPr id="24" name="Text 22"/>
          <p:cNvSpPr/>
          <p:nvPr/>
        </p:nvSpPr>
        <p:spPr>
          <a:xfrm>
            <a:off x="388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des Verchères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4   </a:t>
            </a:r>
            <a:pPr indent="0" marL="0">
              <a:buNone/>
            </a:pP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25" name="Text 23"/>
          <p:cNvSpPr/>
          <p:nvPr/>
        </p:nvSpPr>
        <p:spPr>
          <a:xfrm>
            <a:off x="388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14   </a:t>
            </a:r>
            <a:pPr indent="0" marL="0">
              <a:buNone/>
            </a:pP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26" name="Text 24"/>
          <p:cNvSpPr/>
          <p:nvPr/>
        </p:nvSpPr>
        <p:spPr>
          <a:xfrm>
            <a:off x="388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du Moulin Blanc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27" name="Text 25"/>
          <p:cNvSpPr/>
          <p:nvPr/>
        </p:nvSpPr>
        <p:spPr>
          <a:xfrm>
            <a:off x="388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700" dirty="0">
                <a:solidFill>
                  <a:srgbClr val="A8515F"/>
                </a:solidFill>
                <a:latin typeface="IBM Plex Sans" pitchFamily="34" charset="0"/>
                <a:ea typeface="IBM Plex Sans" pitchFamily="34" charset="-122"/>
                <a:cs typeface="IBM Plex Sans" pitchFamily="34" charset="-120"/>
              </a:rPr>
              <a:t>Sud-Ouest   </a:t>
            </a:r>
            <a:pPr indent="0" marL="0">
              <a:buNone/>
            </a:pPr>
            <a:r>
              <a:rPr lang="en-US" sz="700" dirty="0">
                <a:solidFill>
                  <a:srgbClr val="46606E"/>
                </a:solidFill>
                <a:latin typeface="IBM Plex Sans" pitchFamily="34" charset="0"/>
                <a:ea typeface="IBM Plex Sans" pitchFamily="34" charset="-122"/>
                <a:cs typeface="IBM Plex Sans" pitchFamily="34" charset="-120"/>
              </a:rPr>
              <a:t>21   </a:t>
            </a:r>
            <a:pPr indent="0" marL="0">
              <a:buNone/>
            </a:pP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28" name="Text 26"/>
          <p:cNvSpPr/>
          <p:nvPr/>
        </p:nvSpPr>
        <p:spPr>
          <a:xfrm>
            <a:off x="388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Jean de Villebois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16   </a:t>
            </a:r>
            <a:pPr indent="0" marL="0">
              <a:buNone/>
            </a:pPr>
            <a:r>
              <a:rPr lang="en-US" sz="840" b="1" dirty="0">
                <a:solidFill>
                  <a:srgbClr val="46606E"/>
                </a:solidFill>
                <a:latin typeface="IBM Plex Sans" pitchFamily="34" charset="0"/>
                <a:ea typeface="IBM Plex Sans" pitchFamily="34" charset="-122"/>
                <a:cs typeface="IBM Plex Sans" pitchFamily="34" charset="-120"/>
              </a:rPr>
              <a:t>13</a:t>
            </a:r>
            <a:endParaRPr lang="en-US" sz="840" dirty="0"/>
          </a:p>
        </p:txBody>
      </p:sp>
      <p:sp>
        <p:nvSpPr>
          <p:cNvPr id="29" name="Text 27"/>
          <p:cNvSpPr/>
          <p:nvPr/>
        </p:nvSpPr>
        <p:spPr>
          <a:xfrm>
            <a:off x="388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Le Prieuré des Papes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30" name="Text 28"/>
          <p:cNvSpPr/>
          <p:nvPr/>
        </p:nvSpPr>
        <p:spPr>
          <a:xfrm>
            <a:off x="388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Les Guignottes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5   </a:t>
            </a:r>
            <a:pPr indent="0" marL="0">
              <a:buNone/>
            </a:pPr>
            <a:r>
              <a:rPr lang="en-US" sz="840" b="1" dirty="0">
                <a:solidFill>
                  <a:srgbClr val="46606E"/>
                </a:solidFill>
                <a:latin typeface="IBM Plex Sans" pitchFamily="34" charset="0"/>
                <a:ea typeface="IBM Plex Sans" pitchFamily="34" charset="-122"/>
                <a:cs typeface="IBM Plex Sans" pitchFamily="34" charset="-120"/>
              </a:rPr>
              <a:t>28</a:t>
            </a:r>
            <a:endParaRPr lang="en-US" sz="840" dirty="0"/>
          </a:p>
        </p:txBody>
      </p:sp>
      <p:sp>
        <p:nvSpPr>
          <p:cNvPr id="31" name="Text 29"/>
          <p:cNvSpPr/>
          <p:nvPr/>
        </p:nvSpPr>
        <p:spPr>
          <a:xfrm>
            <a:off x="388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35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Les Lys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7   </a:t>
            </a:r>
            <a:pPr indent="0" marL="0">
              <a:buNone/>
            </a:pPr>
            <a:r>
              <a:rPr lang="en-US" sz="840" b="1" dirty="0">
                <a:solidFill>
                  <a:srgbClr val="46606E"/>
                </a:solidFill>
                <a:latin typeface="IBM Plex Sans" pitchFamily="34" charset="0"/>
                <a:ea typeface="IBM Plex Sans" pitchFamily="34" charset="-122"/>
                <a:cs typeface="IBM Plex Sans" pitchFamily="34" charset="-120"/>
              </a:rPr>
              <a:t>60</a:t>
            </a:r>
            <a:endParaRPr lang="en-US" sz="840" dirty="0"/>
          </a:p>
        </p:txBody>
      </p:sp>
      <p:sp>
        <p:nvSpPr>
          <p:cNvPr id="32" name="Text 30"/>
          <p:cNvSpPr/>
          <p:nvPr/>
        </p:nvSpPr>
        <p:spPr>
          <a:xfrm>
            <a:off x="388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Nadine Ferrand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7   </a:t>
            </a:r>
            <a:pPr indent="0" marL="0">
              <a:buNone/>
            </a:pP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3" name="Text 31"/>
          <p:cNvSpPr/>
          <p:nvPr/>
        </p:nvSpPr>
        <p:spPr>
          <a:xfrm>
            <a:off x="388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Sébastien Magnien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15   </a:t>
            </a:r>
            <a:pPr indent="0" marL="0">
              <a:buNone/>
            </a:pP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34" name="Text 32"/>
          <p:cNvSpPr/>
          <p:nvPr/>
        </p:nvSpPr>
        <p:spPr>
          <a:xfrm>
            <a:off x="388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Stratéus   </a:t>
            </a:r>
            <a:pPr indent="0" marL="0">
              <a:buNone/>
            </a:pPr>
            <a:r>
              <a:rPr lang="en-US" sz="700" dirty="0">
                <a:solidFill>
                  <a:srgbClr val="A8515F"/>
                </a:solidFill>
                <a:latin typeface="IBM Plex Sans" pitchFamily="34" charset="0"/>
                <a:ea typeface="IBM Plex Sans" pitchFamily="34" charset="-122"/>
                <a:cs typeface="IBM Plex Sans" pitchFamily="34" charset="-120"/>
              </a:rPr>
              <a:t>Sud-Ouest   </a:t>
            </a:r>
            <a:pPr indent="0" marL="0">
              <a:buNone/>
            </a:pPr>
            <a:r>
              <a:rPr lang="en-US" sz="700" dirty="0">
                <a:solidFill>
                  <a:srgbClr val="46606E"/>
                </a:solidFill>
                <a:latin typeface="IBM Plex Sans" pitchFamily="34" charset="0"/>
                <a:ea typeface="IBM Plex Sans" pitchFamily="34" charset="-122"/>
                <a:cs typeface="IBM Plex Sans"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35" name="Text 33"/>
          <p:cNvSpPr/>
          <p:nvPr/>
        </p:nvSpPr>
        <p:spPr>
          <a:xfrm>
            <a:off x="388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Trichon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6" name="Text 34"/>
          <p:cNvSpPr/>
          <p:nvPr/>
        </p:nvSpPr>
        <p:spPr>
          <a:xfrm>
            <a:off x="388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pPr indent="0" marL="0">
              <a:buNone/>
            </a:pPr>
            <a:r>
              <a:rPr lang="en-US" sz="840" b="1" dirty="0">
                <a:solidFill>
                  <a:srgbClr val="46606E"/>
                </a:solidFill>
                <a:latin typeface="IBM Plex Sans" pitchFamily="34" charset="0"/>
                <a:ea typeface="IBM Plex Sans" pitchFamily="34" charset="-122"/>
                <a:cs typeface="IBM Plex Sans" pitchFamily="34" charset="-120"/>
              </a:rPr>
              <a:t>Fabien Castaing   </a:t>
            </a:r>
            <a:pPr indent="0" marL="0">
              <a:buNone/>
            </a:pPr>
            <a:r>
              <a:rPr lang="en-US" sz="700" dirty="0">
                <a:solidFill>
                  <a:srgbClr val="A8515F"/>
                </a:solidFill>
                <a:latin typeface="IBM Plex Sans" pitchFamily="34" charset="0"/>
                <a:ea typeface="IBM Plex Sans" pitchFamily="34" charset="-122"/>
                <a:cs typeface="IBM Plex Sans" pitchFamily="34" charset="-120"/>
              </a:rPr>
              <a:t>Sud-Ouest   </a:t>
            </a:r>
            <a:pPr indent="0" marL="0">
              <a:buNone/>
            </a:pPr>
            <a:r>
              <a:rPr lang="en-US" sz="700" dirty="0">
                <a:solidFill>
                  <a:srgbClr val="46606E"/>
                </a:solidFill>
                <a:latin typeface="IBM Plex Sans" pitchFamily="34" charset="0"/>
                <a:ea typeface="IBM Plex Sans" pitchFamily="34" charset="-122"/>
                <a:cs typeface="IBM Plex Sans" pitchFamily="34" charset="-120"/>
              </a:rPr>
              <a:t>13   </a:t>
            </a:r>
            <a:pPr indent="0" marL="0">
              <a:buNone/>
            </a:pP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37" name="Text 35"/>
          <p:cNvSpPr/>
          <p:nvPr/>
        </p:nvSpPr>
        <p:spPr>
          <a:xfrm>
            <a:off x="388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pPr indent="0" marL="0">
              <a:buNone/>
            </a:pPr>
            <a:r>
              <a:rPr lang="en-US" sz="840" b="1"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21   </a:t>
            </a:r>
            <a:pPr indent="0" marL="0">
              <a:buNone/>
            </a:pPr>
            <a:r>
              <a:rPr lang="en-US" sz="840" b="1" dirty="0">
                <a:solidFill>
                  <a:srgbClr val="46606E"/>
                </a:solidFill>
                <a:latin typeface="IBM Plex Sans" pitchFamily="34" charset="0"/>
                <a:ea typeface="IBM Plex Sans" pitchFamily="34" charset="-122"/>
                <a:cs typeface="IBM Plex Sans" pitchFamily="34" charset="-120"/>
              </a:rPr>
              <a:t>56</a:t>
            </a:r>
            <a:endParaRPr lang="en-US" sz="840" dirty="0"/>
          </a:p>
        </p:txBody>
      </p:sp>
      <p:sp>
        <p:nvSpPr>
          <p:cNvPr id="38" name="Text 36"/>
          <p:cNvSpPr/>
          <p:nvPr/>
        </p:nvSpPr>
        <p:spPr>
          <a:xfrm>
            <a:off x="388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pPr indent="0" marL="0">
              <a:buNone/>
            </a:pPr>
            <a:r>
              <a:rPr lang="en-US" sz="840" b="1"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58</a:t>
            </a:r>
            <a:endParaRPr lang="en-US" sz="840" dirty="0"/>
          </a:p>
        </p:txBody>
      </p:sp>
      <p:sp>
        <p:nvSpPr>
          <p:cNvPr id="39" name="Text 37"/>
          <p:cNvSpPr/>
          <p:nvPr/>
        </p:nvSpPr>
        <p:spPr>
          <a:xfrm>
            <a:off x="388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pPr indent="0" marL="0">
              <a:buNone/>
            </a:pPr>
            <a:r>
              <a:rPr lang="en-US" sz="840" b="1" dirty="0">
                <a:solidFill>
                  <a:srgbClr val="46606E"/>
                </a:solidFill>
                <a:latin typeface="IBM Plex Sans" pitchFamily="34" charset="0"/>
                <a:ea typeface="IBM Plex Sans" pitchFamily="34" charset="-122"/>
                <a:cs typeface="IBM Plex Sans" pitchFamily="34" charset="-120"/>
              </a:rPr>
              <a:t>François Reverdy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40" name="Text 38"/>
          <p:cNvSpPr/>
          <p:nvPr/>
        </p:nvSpPr>
        <p:spPr>
          <a:xfrm>
            <a:off x="3888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pPr indent="0" marL="0">
              <a:buNone/>
            </a:pPr>
            <a:r>
              <a:rPr lang="en-US" sz="840" b="1" dirty="0">
                <a:solidFill>
                  <a:srgbClr val="46606E"/>
                </a:solidFill>
                <a:latin typeface="IBM Plex Sans" pitchFamily="34" charset="0"/>
                <a:ea typeface="IBM Plex Sans" pitchFamily="34" charset="-122"/>
                <a:cs typeface="IBM Plex Sans" pitchFamily="34" charset="-120"/>
              </a:rPr>
              <a:t>La Passion des Terroirs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31   </a:t>
            </a:r>
            <a:pPr indent="0" marL="0">
              <a:buNone/>
            </a:pP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41" name="Text 39"/>
          <p:cNvSpPr/>
          <p:nvPr/>
        </p:nvSpPr>
        <p:spPr>
          <a:xfrm>
            <a:off x="3888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pPr indent="0" marL="0">
              <a:buNone/>
            </a:pPr>
            <a:r>
              <a:rPr lang="en-US" sz="840" b="1" dirty="0">
                <a:solidFill>
                  <a:srgbClr val="46606E"/>
                </a:solidFill>
                <a:latin typeface="IBM Plex Sans" pitchFamily="34" charset="0"/>
                <a:ea typeface="IBM Plex Sans" pitchFamily="34" charset="-122"/>
                <a:cs typeface="IBM Plex Sans" pitchFamily="34" charset="-120"/>
              </a:rPr>
              <a:t>Maison et Domaine André Goichot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23   </a:t>
            </a:r>
            <a:pPr indent="0" marL="0">
              <a:buNone/>
            </a:pP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42" name="Text 40"/>
          <p:cNvSpPr/>
          <p:nvPr/>
        </p:nvSpPr>
        <p:spPr>
          <a:xfrm>
            <a:off x="3888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36   </a:t>
            </a:r>
            <a:pPr indent="0" marL="0">
              <a:buNone/>
            </a:pPr>
            <a:r>
              <a:rPr lang="en-US" sz="840" b="1" dirty="0">
                <a:solidFill>
                  <a:srgbClr val="46606E"/>
                </a:solidFill>
                <a:latin typeface="IBM Plex Sans" pitchFamily="34" charset="0"/>
                <a:ea typeface="IBM Plex Sans" pitchFamily="34" charset="-122"/>
                <a:cs typeface="IBM Plex Sans" pitchFamily="34" charset="-120"/>
              </a:rPr>
              <a:t>Prieuré Sainte-Marie d’Albas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13   </a:t>
            </a:r>
            <a:pPr indent="0" marL="0">
              <a:buNone/>
            </a:pPr>
            <a:r>
              <a:rPr lang="en-US" sz="840" b="1" dirty="0">
                <a:solidFill>
                  <a:srgbClr val="46606E"/>
                </a:solidFill>
                <a:latin typeface="IBM Plex Sans" pitchFamily="34" charset="0"/>
                <a:ea typeface="IBM Plex Sans" pitchFamily="34" charset="-122"/>
                <a:cs typeface="IBM Plex Sans" pitchFamily="34" charset="-120"/>
              </a:rPr>
              <a:t>61</a:t>
            </a:r>
            <a:endParaRPr lang="en-US" sz="840" dirty="0"/>
          </a:p>
        </p:txBody>
      </p:sp>
      <p:sp>
        <p:nvSpPr>
          <p:cNvPr id="43" name="Text 41"/>
          <p:cNvSpPr/>
          <p:nvPr/>
        </p:nvSpPr>
        <p:spPr>
          <a:xfrm>
            <a:off x="3888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40   </a:t>
            </a:r>
            <a:pPr indent="0" marL="0">
              <a:buNone/>
            </a:pPr>
            <a:r>
              <a:rPr lang="en-US" sz="840" b="1" dirty="0">
                <a:solidFill>
                  <a:srgbClr val="46606E"/>
                </a:solidFill>
                <a:latin typeface="IBM Plex Sans" pitchFamily="34" charset="0"/>
                <a:ea typeface="IBM Plex Sans" pitchFamily="34" charset="-122"/>
                <a:cs typeface="IBM Plex Sans" pitchFamily="34" charset="-120"/>
              </a:rPr>
              <a:t>Vazart-Coquart &amp; Fils   </a:t>
            </a:r>
            <a:pPr indent="0" marL="0">
              <a:buNone/>
            </a:pPr>
            <a:r>
              <a:rPr lang="en-US" sz="700" dirty="0">
                <a:solidFill>
                  <a:srgbClr val="A8515F"/>
                </a:solidFill>
                <a:latin typeface="IBM Plex Sans" pitchFamily="34" charset="0"/>
                <a:ea typeface="IBM Plex Sans" pitchFamily="34" charset="-122"/>
                <a:cs typeface="IBM Plex Sans" pitchFamily="34" charset="-120"/>
              </a:rPr>
              <a:t>Champagne   </a:t>
            </a:r>
            <a:pPr indent="0" marL="0">
              <a:buNone/>
            </a:pPr>
            <a:r>
              <a:rPr lang="en-US" sz="700" dirty="0">
                <a:solidFill>
                  <a:srgbClr val="46606E"/>
                </a:solidFill>
                <a:latin typeface="IBM Plex Sans" pitchFamily="34" charset="0"/>
                <a:ea typeface="IBM Plex Sans" pitchFamily="34" charset="-122"/>
                <a:cs typeface="IBM Plex Sans"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67</a:t>
            </a:r>
            <a:endParaRPr lang="en-US" sz="840" dirty="0"/>
          </a:p>
        </p:txBody>
      </p:sp>
      <p:sp>
        <p:nvSpPr>
          <p:cNvPr id="44" name="Text 42"/>
          <p:cNvSpPr/>
          <p:nvPr/>
        </p:nvSpPr>
        <p:spPr>
          <a:xfrm>
            <a:off x="828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références au tarif.</a:t>
            </a:r>
            <a:endParaRPr lang="en-US" sz="800" dirty="0"/>
          </a:p>
        </p:txBody>
      </p:sp>
      <p:sp>
        <p:nvSpPr>
          <p:cNvPr id="45" name="Text 4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72</a:t>
            </a:r>
            <a:endParaRPr lang="en-US" sz="750" dirty="0"/>
          </a:p>
        </p:txBody>
      </p:sp>
      <p:sp>
        <p:nvSpPr>
          <p:cNvPr id="46" name="Text 4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612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QUANTITÉS, PALIERS, DATES DE LIVRAISON</a:t>
            </a:r>
            <a:endParaRPr lang="en-US" sz="750" dirty="0"/>
          </a:p>
        </p:txBody>
      </p:sp>
      <p:sp>
        <p:nvSpPr>
          <p:cNvPr id="4" name="Shape 2"/>
          <p:cNvSpPr/>
          <p:nvPr/>
        </p:nvSpPr>
        <p:spPr>
          <a:xfrm>
            <a:off x="612000" y="1440000"/>
            <a:ext cx="6120000" cy="0"/>
          </a:xfrm>
          <a:prstGeom prst="line">
            <a:avLst/>
          </a:prstGeom>
          <a:noFill/>
          <a:ln w="7620">
            <a:solidFill>
              <a:srgbClr val="B4C2C9"/>
            </a:solidFill>
            <a:prstDash val="solid"/>
          </a:ln>
        </p:spPr>
      </p:sp>
      <p:sp>
        <p:nvSpPr>
          <p:cNvPr id="5" name="Shape 3"/>
          <p:cNvSpPr/>
          <p:nvPr/>
        </p:nvSpPr>
        <p:spPr>
          <a:xfrm>
            <a:off x="612000" y="1746000"/>
            <a:ext cx="6120000" cy="0"/>
          </a:xfrm>
          <a:prstGeom prst="line">
            <a:avLst/>
          </a:prstGeom>
          <a:noFill/>
          <a:ln w="7620">
            <a:solidFill>
              <a:srgbClr val="B4C2C9"/>
            </a:solidFill>
            <a:prstDash val="solid"/>
          </a:ln>
        </p:spPr>
      </p:sp>
      <p:sp>
        <p:nvSpPr>
          <p:cNvPr id="6" name="Shape 4"/>
          <p:cNvSpPr/>
          <p:nvPr/>
        </p:nvSpPr>
        <p:spPr>
          <a:xfrm>
            <a:off x="612000" y="2052000"/>
            <a:ext cx="6120000" cy="0"/>
          </a:xfrm>
          <a:prstGeom prst="line">
            <a:avLst/>
          </a:prstGeom>
          <a:noFill/>
          <a:ln w="7620">
            <a:solidFill>
              <a:srgbClr val="B4C2C9"/>
            </a:solidFill>
            <a:prstDash val="solid"/>
          </a:ln>
        </p:spPr>
      </p:sp>
      <p:sp>
        <p:nvSpPr>
          <p:cNvPr id="7" name="Shape 5"/>
          <p:cNvSpPr/>
          <p:nvPr/>
        </p:nvSpPr>
        <p:spPr>
          <a:xfrm>
            <a:off x="612000" y="2358000"/>
            <a:ext cx="6120000" cy="0"/>
          </a:xfrm>
          <a:prstGeom prst="line">
            <a:avLst/>
          </a:prstGeom>
          <a:noFill/>
          <a:ln w="7620">
            <a:solidFill>
              <a:srgbClr val="B4C2C9"/>
            </a:solidFill>
            <a:prstDash val="solid"/>
          </a:ln>
        </p:spPr>
      </p:sp>
      <p:sp>
        <p:nvSpPr>
          <p:cNvPr id="8" name="Shape 6"/>
          <p:cNvSpPr/>
          <p:nvPr/>
        </p:nvSpPr>
        <p:spPr>
          <a:xfrm>
            <a:off x="612000" y="2664000"/>
            <a:ext cx="6120000" cy="0"/>
          </a:xfrm>
          <a:prstGeom prst="line">
            <a:avLst/>
          </a:prstGeom>
          <a:noFill/>
          <a:ln w="7620">
            <a:solidFill>
              <a:srgbClr val="B4C2C9"/>
            </a:solidFill>
            <a:prstDash val="solid"/>
          </a:ln>
        </p:spPr>
      </p:sp>
      <p:sp>
        <p:nvSpPr>
          <p:cNvPr id="9" name="Shape 7"/>
          <p:cNvSpPr/>
          <p:nvPr/>
        </p:nvSpPr>
        <p:spPr>
          <a:xfrm>
            <a:off x="612000" y="2970000"/>
            <a:ext cx="6120000" cy="0"/>
          </a:xfrm>
          <a:prstGeom prst="line">
            <a:avLst/>
          </a:prstGeom>
          <a:noFill/>
          <a:ln w="7620">
            <a:solidFill>
              <a:srgbClr val="B4C2C9"/>
            </a:solidFill>
            <a:prstDash val="solid"/>
          </a:ln>
        </p:spPr>
      </p:sp>
      <p:sp>
        <p:nvSpPr>
          <p:cNvPr id="10" name="Shape 8"/>
          <p:cNvSpPr/>
          <p:nvPr/>
        </p:nvSpPr>
        <p:spPr>
          <a:xfrm>
            <a:off x="612000" y="3276000"/>
            <a:ext cx="6120000" cy="0"/>
          </a:xfrm>
          <a:prstGeom prst="line">
            <a:avLst/>
          </a:prstGeom>
          <a:noFill/>
          <a:ln w="7620">
            <a:solidFill>
              <a:srgbClr val="B4C2C9"/>
            </a:solidFill>
            <a:prstDash val="solid"/>
          </a:ln>
        </p:spPr>
      </p:sp>
      <p:sp>
        <p:nvSpPr>
          <p:cNvPr id="11" name="Shape 9"/>
          <p:cNvSpPr/>
          <p:nvPr/>
        </p:nvSpPr>
        <p:spPr>
          <a:xfrm>
            <a:off x="612000" y="3582000"/>
            <a:ext cx="6120000" cy="0"/>
          </a:xfrm>
          <a:prstGeom prst="line">
            <a:avLst/>
          </a:prstGeom>
          <a:noFill/>
          <a:ln w="7620">
            <a:solidFill>
              <a:srgbClr val="B4C2C9"/>
            </a:solidFill>
            <a:prstDash val="solid"/>
          </a:ln>
        </p:spPr>
      </p:sp>
      <p:sp>
        <p:nvSpPr>
          <p:cNvPr id="12" name="Shape 10"/>
          <p:cNvSpPr/>
          <p:nvPr/>
        </p:nvSpPr>
        <p:spPr>
          <a:xfrm>
            <a:off x="612000" y="3888000"/>
            <a:ext cx="6120000" cy="0"/>
          </a:xfrm>
          <a:prstGeom prst="line">
            <a:avLst/>
          </a:prstGeom>
          <a:noFill/>
          <a:ln w="7620">
            <a:solidFill>
              <a:srgbClr val="B4C2C9"/>
            </a:solidFill>
            <a:prstDash val="solid"/>
          </a:ln>
        </p:spPr>
      </p:sp>
      <p:sp>
        <p:nvSpPr>
          <p:cNvPr id="13" name="Shape 11"/>
          <p:cNvSpPr/>
          <p:nvPr/>
        </p:nvSpPr>
        <p:spPr>
          <a:xfrm>
            <a:off x="612000" y="4194000"/>
            <a:ext cx="6120000" cy="0"/>
          </a:xfrm>
          <a:prstGeom prst="line">
            <a:avLst/>
          </a:prstGeom>
          <a:noFill/>
          <a:ln w="7620">
            <a:solidFill>
              <a:srgbClr val="B4C2C9"/>
            </a:solidFill>
            <a:prstDash val="solid"/>
          </a:ln>
        </p:spPr>
      </p:sp>
      <p:sp>
        <p:nvSpPr>
          <p:cNvPr id="14" name="Shape 12"/>
          <p:cNvSpPr/>
          <p:nvPr/>
        </p:nvSpPr>
        <p:spPr>
          <a:xfrm>
            <a:off x="612000" y="4500000"/>
            <a:ext cx="6120000" cy="0"/>
          </a:xfrm>
          <a:prstGeom prst="line">
            <a:avLst/>
          </a:prstGeom>
          <a:noFill/>
          <a:ln w="7620">
            <a:solidFill>
              <a:srgbClr val="B4C2C9"/>
            </a:solidFill>
            <a:prstDash val="solid"/>
          </a:ln>
        </p:spPr>
      </p:sp>
      <p:sp>
        <p:nvSpPr>
          <p:cNvPr id="15" name="Shape 13"/>
          <p:cNvSpPr/>
          <p:nvPr/>
        </p:nvSpPr>
        <p:spPr>
          <a:xfrm>
            <a:off x="612000" y="4806000"/>
            <a:ext cx="6120000" cy="0"/>
          </a:xfrm>
          <a:prstGeom prst="line">
            <a:avLst/>
          </a:prstGeom>
          <a:noFill/>
          <a:ln w="7620">
            <a:solidFill>
              <a:srgbClr val="B4C2C9"/>
            </a:solidFill>
            <a:prstDash val="solid"/>
          </a:ln>
        </p:spPr>
      </p:sp>
      <p:sp>
        <p:nvSpPr>
          <p:cNvPr id="16" name="Shape 14"/>
          <p:cNvSpPr/>
          <p:nvPr/>
        </p:nvSpPr>
        <p:spPr>
          <a:xfrm>
            <a:off x="612000" y="5112000"/>
            <a:ext cx="6120000" cy="0"/>
          </a:xfrm>
          <a:prstGeom prst="line">
            <a:avLst/>
          </a:prstGeom>
          <a:noFill/>
          <a:ln w="7620">
            <a:solidFill>
              <a:srgbClr val="B4C2C9"/>
            </a:solidFill>
            <a:prstDash val="solid"/>
          </a:ln>
        </p:spPr>
      </p:sp>
      <p:sp>
        <p:nvSpPr>
          <p:cNvPr id="17" name="Shape 15"/>
          <p:cNvSpPr/>
          <p:nvPr/>
        </p:nvSpPr>
        <p:spPr>
          <a:xfrm>
            <a:off x="612000" y="5418000"/>
            <a:ext cx="6120000" cy="0"/>
          </a:xfrm>
          <a:prstGeom prst="line">
            <a:avLst/>
          </a:prstGeom>
          <a:noFill/>
          <a:ln w="7620">
            <a:solidFill>
              <a:srgbClr val="B4C2C9"/>
            </a:solidFill>
            <a:prstDash val="solid"/>
          </a:ln>
        </p:spPr>
      </p:sp>
      <p:sp>
        <p:nvSpPr>
          <p:cNvPr id="18" name="Shape 16"/>
          <p:cNvSpPr/>
          <p:nvPr/>
        </p:nvSpPr>
        <p:spPr>
          <a:xfrm>
            <a:off x="612000" y="5724000"/>
            <a:ext cx="6120000" cy="0"/>
          </a:xfrm>
          <a:prstGeom prst="line">
            <a:avLst/>
          </a:prstGeom>
          <a:noFill/>
          <a:ln w="7620">
            <a:solidFill>
              <a:srgbClr val="B4C2C9"/>
            </a:solidFill>
            <a:prstDash val="solid"/>
          </a:ln>
        </p:spPr>
      </p:sp>
      <p:sp>
        <p:nvSpPr>
          <p:cNvPr id="19" name="Shape 17"/>
          <p:cNvSpPr/>
          <p:nvPr/>
        </p:nvSpPr>
        <p:spPr>
          <a:xfrm>
            <a:off x="612000" y="6030000"/>
            <a:ext cx="6120000" cy="0"/>
          </a:xfrm>
          <a:prstGeom prst="line">
            <a:avLst/>
          </a:prstGeom>
          <a:noFill/>
          <a:ln w="7620">
            <a:solidFill>
              <a:srgbClr val="B4C2C9"/>
            </a:solidFill>
            <a:prstDash val="solid"/>
          </a:ln>
        </p:spPr>
      </p:sp>
      <p:sp>
        <p:nvSpPr>
          <p:cNvPr id="20" name="Shape 18"/>
          <p:cNvSpPr/>
          <p:nvPr/>
        </p:nvSpPr>
        <p:spPr>
          <a:xfrm>
            <a:off x="612000" y="6336000"/>
            <a:ext cx="6120000" cy="0"/>
          </a:xfrm>
          <a:prstGeom prst="line">
            <a:avLst/>
          </a:prstGeom>
          <a:noFill/>
          <a:ln w="7620">
            <a:solidFill>
              <a:srgbClr val="B4C2C9"/>
            </a:solidFill>
            <a:prstDash val="solid"/>
          </a:ln>
        </p:spPr>
      </p:sp>
      <p:sp>
        <p:nvSpPr>
          <p:cNvPr id="21" name="Shape 19"/>
          <p:cNvSpPr/>
          <p:nvPr/>
        </p:nvSpPr>
        <p:spPr>
          <a:xfrm>
            <a:off x="612000" y="6642000"/>
            <a:ext cx="6120000" cy="0"/>
          </a:xfrm>
          <a:prstGeom prst="line">
            <a:avLst/>
          </a:prstGeom>
          <a:noFill/>
          <a:ln w="7620">
            <a:solidFill>
              <a:srgbClr val="B4C2C9"/>
            </a:solidFill>
            <a:prstDash val="solid"/>
          </a:ln>
        </p:spPr>
      </p:sp>
      <p:sp>
        <p:nvSpPr>
          <p:cNvPr id="22" name="Shape 20"/>
          <p:cNvSpPr/>
          <p:nvPr/>
        </p:nvSpPr>
        <p:spPr>
          <a:xfrm>
            <a:off x="612000" y="6948000"/>
            <a:ext cx="6120000" cy="0"/>
          </a:xfrm>
          <a:prstGeom prst="line">
            <a:avLst/>
          </a:prstGeom>
          <a:noFill/>
          <a:ln w="7620">
            <a:solidFill>
              <a:srgbClr val="B4C2C9"/>
            </a:solidFill>
            <a:prstDash val="solid"/>
          </a:ln>
        </p:spPr>
      </p:sp>
      <p:sp>
        <p:nvSpPr>
          <p:cNvPr id="23" name="Shape 21"/>
          <p:cNvSpPr/>
          <p:nvPr/>
        </p:nvSpPr>
        <p:spPr>
          <a:xfrm>
            <a:off x="612000" y="7254000"/>
            <a:ext cx="6120000" cy="0"/>
          </a:xfrm>
          <a:prstGeom prst="line">
            <a:avLst/>
          </a:prstGeom>
          <a:noFill/>
          <a:ln w="7620">
            <a:solidFill>
              <a:srgbClr val="B4C2C9"/>
            </a:solidFill>
            <a:prstDash val="solid"/>
          </a:ln>
        </p:spPr>
      </p:sp>
      <p:sp>
        <p:nvSpPr>
          <p:cNvPr id="24" name="Shape 22"/>
          <p:cNvSpPr/>
          <p:nvPr/>
        </p:nvSpPr>
        <p:spPr>
          <a:xfrm>
            <a:off x="612000" y="7560000"/>
            <a:ext cx="6120000" cy="0"/>
          </a:xfrm>
          <a:prstGeom prst="line">
            <a:avLst/>
          </a:prstGeom>
          <a:noFill/>
          <a:ln w="7620">
            <a:solidFill>
              <a:srgbClr val="B4C2C9"/>
            </a:solidFill>
            <a:prstDash val="solid"/>
          </a:ln>
        </p:spPr>
      </p:sp>
      <p:sp>
        <p:nvSpPr>
          <p:cNvPr id="25" name="Shape 23"/>
          <p:cNvSpPr/>
          <p:nvPr/>
        </p:nvSpPr>
        <p:spPr>
          <a:xfrm>
            <a:off x="612000" y="7866000"/>
            <a:ext cx="6120000" cy="0"/>
          </a:xfrm>
          <a:prstGeom prst="line">
            <a:avLst/>
          </a:prstGeom>
          <a:noFill/>
          <a:ln w="7620">
            <a:solidFill>
              <a:srgbClr val="B4C2C9"/>
            </a:solidFill>
            <a:prstDash val="solid"/>
          </a:ln>
        </p:spPr>
      </p:sp>
      <p:sp>
        <p:nvSpPr>
          <p:cNvPr id="26" name="Shape 24"/>
          <p:cNvSpPr/>
          <p:nvPr/>
        </p:nvSpPr>
        <p:spPr>
          <a:xfrm>
            <a:off x="612000" y="8172000"/>
            <a:ext cx="6120000" cy="0"/>
          </a:xfrm>
          <a:prstGeom prst="line">
            <a:avLst/>
          </a:prstGeom>
          <a:noFill/>
          <a:ln w="7620">
            <a:solidFill>
              <a:srgbClr val="B4C2C9"/>
            </a:solidFill>
            <a:prstDash val="solid"/>
          </a:ln>
        </p:spPr>
      </p:sp>
      <p:sp>
        <p:nvSpPr>
          <p:cNvPr id="27" name="Text 2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73</a:t>
            </a:r>
            <a:endParaRPr lang="en-US" sz="750" dirty="0"/>
          </a:p>
        </p:txBody>
      </p:sp>
      <p:sp>
        <p:nvSpPr>
          <p:cNvPr id="28" name="Text 2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828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QUANTITÉS, PALIERS, DATES DE LIVRAISON</a:t>
            </a:r>
            <a:endParaRPr lang="en-US" sz="750" dirty="0"/>
          </a:p>
        </p:txBody>
      </p:sp>
      <p:sp>
        <p:nvSpPr>
          <p:cNvPr id="4" name="Shape 2"/>
          <p:cNvSpPr/>
          <p:nvPr/>
        </p:nvSpPr>
        <p:spPr>
          <a:xfrm>
            <a:off x="828000" y="1440000"/>
            <a:ext cx="6120000" cy="0"/>
          </a:xfrm>
          <a:prstGeom prst="line">
            <a:avLst/>
          </a:prstGeom>
          <a:noFill/>
          <a:ln w="7620">
            <a:solidFill>
              <a:srgbClr val="B4C2C9"/>
            </a:solidFill>
            <a:prstDash val="solid"/>
          </a:ln>
        </p:spPr>
      </p:sp>
      <p:sp>
        <p:nvSpPr>
          <p:cNvPr id="5" name="Shape 3"/>
          <p:cNvSpPr/>
          <p:nvPr/>
        </p:nvSpPr>
        <p:spPr>
          <a:xfrm>
            <a:off x="828000" y="1746000"/>
            <a:ext cx="6120000" cy="0"/>
          </a:xfrm>
          <a:prstGeom prst="line">
            <a:avLst/>
          </a:prstGeom>
          <a:noFill/>
          <a:ln w="7620">
            <a:solidFill>
              <a:srgbClr val="B4C2C9"/>
            </a:solidFill>
            <a:prstDash val="solid"/>
          </a:ln>
        </p:spPr>
      </p:sp>
      <p:sp>
        <p:nvSpPr>
          <p:cNvPr id="6" name="Shape 4"/>
          <p:cNvSpPr/>
          <p:nvPr/>
        </p:nvSpPr>
        <p:spPr>
          <a:xfrm>
            <a:off x="828000" y="2052000"/>
            <a:ext cx="6120000" cy="0"/>
          </a:xfrm>
          <a:prstGeom prst="line">
            <a:avLst/>
          </a:prstGeom>
          <a:noFill/>
          <a:ln w="7620">
            <a:solidFill>
              <a:srgbClr val="B4C2C9"/>
            </a:solidFill>
            <a:prstDash val="solid"/>
          </a:ln>
        </p:spPr>
      </p:sp>
      <p:sp>
        <p:nvSpPr>
          <p:cNvPr id="7" name="Shape 5"/>
          <p:cNvSpPr/>
          <p:nvPr/>
        </p:nvSpPr>
        <p:spPr>
          <a:xfrm>
            <a:off x="828000" y="2358000"/>
            <a:ext cx="6120000" cy="0"/>
          </a:xfrm>
          <a:prstGeom prst="line">
            <a:avLst/>
          </a:prstGeom>
          <a:noFill/>
          <a:ln w="7620">
            <a:solidFill>
              <a:srgbClr val="B4C2C9"/>
            </a:solidFill>
            <a:prstDash val="solid"/>
          </a:ln>
        </p:spPr>
      </p:sp>
      <p:sp>
        <p:nvSpPr>
          <p:cNvPr id="8" name="Shape 6"/>
          <p:cNvSpPr/>
          <p:nvPr/>
        </p:nvSpPr>
        <p:spPr>
          <a:xfrm>
            <a:off x="828000" y="2664000"/>
            <a:ext cx="6120000" cy="0"/>
          </a:xfrm>
          <a:prstGeom prst="line">
            <a:avLst/>
          </a:prstGeom>
          <a:noFill/>
          <a:ln w="7620">
            <a:solidFill>
              <a:srgbClr val="B4C2C9"/>
            </a:solidFill>
            <a:prstDash val="solid"/>
          </a:ln>
        </p:spPr>
      </p:sp>
      <p:sp>
        <p:nvSpPr>
          <p:cNvPr id="9" name="Shape 7"/>
          <p:cNvSpPr/>
          <p:nvPr/>
        </p:nvSpPr>
        <p:spPr>
          <a:xfrm>
            <a:off x="828000" y="2970000"/>
            <a:ext cx="6120000" cy="0"/>
          </a:xfrm>
          <a:prstGeom prst="line">
            <a:avLst/>
          </a:prstGeom>
          <a:noFill/>
          <a:ln w="7620">
            <a:solidFill>
              <a:srgbClr val="B4C2C9"/>
            </a:solidFill>
            <a:prstDash val="solid"/>
          </a:ln>
        </p:spPr>
      </p:sp>
      <p:sp>
        <p:nvSpPr>
          <p:cNvPr id="10" name="Shape 8"/>
          <p:cNvSpPr/>
          <p:nvPr/>
        </p:nvSpPr>
        <p:spPr>
          <a:xfrm>
            <a:off x="828000" y="3276000"/>
            <a:ext cx="6120000" cy="0"/>
          </a:xfrm>
          <a:prstGeom prst="line">
            <a:avLst/>
          </a:prstGeom>
          <a:noFill/>
          <a:ln w="7620">
            <a:solidFill>
              <a:srgbClr val="B4C2C9"/>
            </a:solidFill>
            <a:prstDash val="solid"/>
          </a:ln>
        </p:spPr>
      </p:sp>
      <p:sp>
        <p:nvSpPr>
          <p:cNvPr id="11" name="Shape 9"/>
          <p:cNvSpPr/>
          <p:nvPr/>
        </p:nvSpPr>
        <p:spPr>
          <a:xfrm>
            <a:off x="828000" y="3582000"/>
            <a:ext cx="6120000" cy="0"/>
          </a:xfrm>
          <a:prstGeom prst="line">
            <a:avLst/>
          </a:prstGeom>
          <a:noFill/>
          <a:ln w="7620">
            <a:solidFill>
              <a:srgbClr val="B4C2C9"/>
            </a:solidFill>
            <a:prstDash val="solid"/>
          </a:ln>
        </p:spPr>
      </p:sp>
      <p:sp>
        <p:nvSpPr>
          <p:cNvPr id="12" name="Shape 10"/>
          <p:cNvSpPr/>
          <p:nvPr/>
        </p:nvSpPr>
        <p:spPr>
          <a:xfrm>
            <a:off x="828000" y="3888000"/>
            <a:ext cx="6120000" cy="0"/>
          </a:xfrm>
          <a:prstGeom prst="line">
            <a:avLst/>
          </a:prstGeom>
          <a:noFill/>
          <a:ln w="7620">
            <a:solidFill>
              <a:srgbClr val="B4C2C9"/>
            </a:solidFill>
            <a:prstDash val="solid"/>
          </a:ln>
        </p:spPr>
      </p:sp>
      <p:sp>
        <p:nvSpPr>
          <p:cNvPr id="13" name="Shape 11"/>
          <p:cNvSpPr/>
          <p:nvPr/>
        </p:nvSpPr>
        <p:spPr>
          <a:xfrm>
            <a:off x="828000" y="4194000"/>
            <a:ext cx="6120000" cy="0"/>
          </a:xfrm>
          <a:prstGeom prst="line">
            <a:avLst/>
          </a:prstGeom>
          <a:noFill/>
          <a:ln w="7620">
            <a:solidFill>
              <a:srgbClr val="B4C2C9"/>
            </a:solidFill>
            <a:prstDash val="solid"/>
          </a:ln>
        </p:spPr>
      </p:sp>
      <p:sp>
        <p:nvSpPr>
          <p:cNvPr id="14" name="Shape 12"/>
          <p:cNvSpPr/>
          <p:nvPr/>
        </p:nvSpPr>
        <p:spPr>
          <a:xfrm>
            <a:off x="828000" y="4500000"/>
            <a:ext cx="6120000" cy="0"/>
          </a:xfrm>
          <a:prstGeom prst="line">
            <a:avLst/>
          </a:prstGeom>
          <a:noFill/>
          <a:ln w="7620">
            <a:solidFill>
              <a:srgbClr val="B4C2C9"/>
            </a:solidFill>
            <a:prstDash val="solid"/>
          </a:ln>
        </p:spPr>
      </p:sp>
      <p:sp>
        <p:nvSpPr>
          <p:cNvPr id="15" name="Shape 13"/>
          <p:cNvSpPr/>
          <p:nvPr/>
        </p:nvSpPr>
        <p:spPr>
          <a:xfrm>
            <a:off x="828000" y="4806000"/>
            <a:ext cx="6120000" cy="0"/>
          </a:xfrm>
          <a:prstGeom prst="line">
            <a:avLst/>
          </a:prstGeom>
          <a:noFill/>
          <a:ln w="7620">
            <a:solidFill>
              <a:srgbClr val="B4C2C9"/>
            </a:solidFill>
            <a:prstDash val="solid"/>
          </a:ln>
        </p:spPr>
      </p:sp>
      <p:sp>
        <p:nvSpPr>
          <p:cNvPr id="16" name="Shape 14"/>
          <p:cNvSpPr/>
          <p:nvPr/>
        </p:nvSpPr>
        <p:spPr>
          <a:xfrm>
            <a:off x="828000" y="5112000"/>
            <a:ext cx="6120000" cy="0"/>
          </a:xfrm>
          <a:prstGeom prst="line">
            <a:avLst/>
          </a:prstGeom>
          <a:noFill/>
          <a:ln w="7620">
            <a:solidFill>
              <a:srgbClr val="B4C2C9"/>
            </a:solidFill>
            <a:prstDash val="solid"/>
          </a:ln>
        </p:spPr>
      </p:sp>
      <p:sp>
        <p:nvSpPr>
          <p:cNvPr id="17" name="Shape 15"/>
          <p:cNvSpPr/>
          <p:nvPr/>
        </p:nvSpPr>
        <p:spPr>
          <a:xfrm>
            <a:off x="828000" y="5418000"/>
            <a:ext cx="6120000" cy="0"/>
          </a:xfrm>
          <a:prstGeom prst="line">
            <a:avLst/>
          </a:prstGeom>
          <a:noFill/>
          <a:ln w="7620">
            <a:solidFill>
              <a:srgbClr val="B4C2C9"/>
            </a:solidFill>
            <a:prstDash val="solid"/>
          </a:ln>
        </p:spPr>
      </p:sp>
      <p:sp>
        <p:nvSpPr>
          <p:cNvPr id="18" name="Shape 16"/>
          <p:cNvSpPr/>
          <p:nvPr/>
        </p:nvSpPr>
        <p:spPr>
          <a:xfrm>
            <a:off x="828000" y="5724000"/>
            <a:ext cx="6120000" cy="0"/>
          </a:xfrm>
          <a:prstGeom prst="line">
            <a:avLst/>
          </a:prstGeom>
          <a:noFill/>
          <a:ln w="7620">
            <a:solidFill>
              <a:srgbClr val="B4C2C9"/>
            </a:solidFill>
            <a:prstDash val="solid"/>
          </a:ln>
        </p:spPr>
      </p:sp>
      <p:sp>
        <p:nvSpPr>
          <p:cNvPr id="19" name="Shape 17"/>
          <p:cNvSpPr/>
          <p:nvPr/>
        </p:nvSpPr>
        <p:spPr>
          <a:xfrm>
            <a:off x="828000" y="6030000"/>
            <a:ext cx="6120000" cy="0"/>
          </a:xfrm>
          <a:prstGeom prst="line">
            <a:avLst/>
          </a:prstGeom>
          <a:noFill/>
          <a:ln w="7620">
            <a:solidFill>
              <a:srgbClr val="B4C2C9"/>
            </a:solidFill>
            <a:prstDash val="solid"/>
          </a:ln>
        </p:spPr>
      </p:sp>
      <p:sp>
        <p:nvSpPr>
          <p:cNvPr id="20" name="Shape 18"/>
          <p:cNvSpPr/>
          <p:nvPr/>
        </p:nvSpPr>
        <p:spPr>
          <a:xfrm>
            <a:off x="828000" y="6336000"/>
            <a:ext cx="6120000" cy="0"/>
          </a:xfrm>
          <a:prstGeom prst="line">
            <a:avLst/>
          </a:prstGeom>
          <a:noFill/>
          <a:ln w="7620">
            <a:solidFill>
              <a:srgbClr val="B4C2C9"/>
            </a:solidFill>
            <a:prstDash val="solid"/>
          </a:ln>
        </p:spPr>
      </p:sp>
      <p:sp>
        <p:nvSpPr>
          <p:cNvPr id="21" name="Shape 19"/>
          <p:cNvSpPr/>
          <p:nvPr/>
        </p:nvSpPr>
        <p:spPr>
          <a:xfrm>
            <a:off x="828000" y="6642000"/>
            <a:ext cx="6120000" cy="0"/>
          </a:xfrm>
          <a:prstGeom prst="line">
            <a:avLst/>
          </a:prstGeom>
          <a:noFill/>
          <a:ln w="7620">
            <a:solidFill>
              <a:srgbClr val="B4C2C9"/>
            </a:solidFill>
            <a:prstDash val="solid"/>
          </a:ln>
        </p:spPr>
      </p:sp>
      <p:sp>
        <p:nvSpPr>
          <p:cNvPr id="22" name="Shape 20"/>
          <p:cNvSpPr/>
          <p:nvPr/>
        </p:nvSpPr>
        <p:spPr>
          <a:xfrm>
            <a:off x="828000" y="6948000"/>
            <a:ext cx="6120000" cy="0"/>
          </a:xfrm>
          <a:prstGeom prst="line">
            <a:avLst/>
          </a:prstGeom>
          <a:noFill/>
          <a:ln w="7620">
            <a:solidFill>
              <a:srgbClr val="B4C2C9"/>
            </a:solidFill>
            <a:prstDash val="solid"/>
          </a:ln>
        </p:spPr>
      </p:sp>
      <p:sp>
        <p:nvSpPr>
          <p:cNvPr id="23" name="Shape 21"/>
          <p:cNvSpPr/>
          <p:nvPr/>
        </p:nvSpPr>
        <p:spPr>
          <a:xfrm>
            <a:off x="828000" y="7254000"/>
            <a:ext cx="6120000" cy="0"/>
          </a:xfrm>
          <a:prstGeom prst="line">
            <a:avLst/>
          </a:prstGeom>
          <a:noFill/>
          <a:ln w="7620">
            <a:solidFill>
              <a:srgbClr val="B4C2C9"/>
            </a:solidFill>
            <a:prstDash val="solid"/>
          </a:ln>
        </p:spPr>
      </p:sp>
      <p:sp>
        <p:nvSpPr>
          <p:cNvPr id="24" name="Shape 22"/>
          <p:cNvSpPr/>
          <p:nvPr/>
        </p:nvSpPr>
        <p:spPr>
          <a:xfrm>
            <a:off x="828000" y="7560000"/>
            <a:ext cx="6120000" cy="0"/>
          </a:xfrm>
          <a:prstGeom prst="line">
            <a:avLst/>
          </a:prstGeom>
          <a:noFill/>
          <a:ln w="7620">
            <a:solidFill>
              <a:srgbClr val="B4C2C9"/>
            </a:solidFill>
            <a:prstDash val="solid"/>
          </a:ln>
        </p:spPr>
      </p:sp>
      <p:sp>
        <p:nvSpPr>
          <p:cNvPr id="25" name="Shape 23"/>
          <p:cNvSpPr/>
          <p:nvPr/>
        </p:nvSpPr>
        <p:spPr>
          <a:xfrm>
            <a:off x="828000" y="7866000"/>
            <a:ext cx="6120000" cy="0"/>
          </a:xfrm>
          <a:prstGeom prst="line">
            <a:avLst/>
          </a:prstGeom>
          <a:noFill/>
          <a:ln w="7620">
            <a:solidFill>
              <a:srgbClr val="B4C2C9"/>
            </a:solidFill>
            <a:prstDash val="solid"/>
          </a:ln>
        </p:spPr>
      </p:sp>
      <p:sp>
        <p:nvSpPr>
          <p:cNvPr id="26" name="Shape 24"/>
          <p:cNvSpPr/>
          <p:nvPr/>
        </p:nvSpPr>
        <p:spPr>
          <a:xfrm>
            <a:off x="828000" y="8172000"/>
            <a:ext cx="6120000" cy="0"/>
          </a:xfrm>
          <a:prstGeom prst="line">
            <a:avLst/>
          </a:prstGeom>
          <a:noFill/>
          <a:ln w="7620">
            <a:solidFill>
              <a:srgbClr val="B4C2C9"/>
            </a:solidFill>
            <a:prstDash val="solid"/>
          </a:ln>
        </p:spPr>
      </p:sp>
      <p:sp>
        <p:nvSpPr>
          <p:cNvPr id="27" name="Text 2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74</a:t>
            </a:r>
            <a:endParaRPr lang="en-US" sz="750" dirty="0"/>
          </a:p>
        </p:txBody>
      </p:sp>
      <p:sp>
        <p:nvSpPr>
          <p:cNvPr id="28" name="Text 2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46606E"/>
        </a:solidFill>
      </p:bgPr>
    </p:bg>
    <p:spTree>
      <p:nvGrpSpPr>
        <p:cNvPr id="1" name=""/>
        <p:cNvGrpSpPr/>
        <p:nvPr/>
      </p:nvGrpSpPr>
      <p:grpSpPr>
        <a:xfrm>
          <a:off x="0" y="0"/>
          <a:ext cx="0" cy="0"/>
          <a:chOff x="0" y="0"/>
          <a:chExt cx="0" cy="0"/>
        </a:xfrm>
      </p:grpSpPr>
      <p:pic>
        <p:nvPicPr>
          <p:cNvPr id="2" name="Image 0" descr="/home/user/philippe1/build/deco/coupe-pleine.png">    </p:cNvPr>
          <p:cNvPicPr>
            <a:picLocks noChangeAspect="1"/>
          </p:cNvPicPr>
          <p:nvPr/>
        </p:nvPicPr>
        <p:blipFill>
          <a:blip r:embed="rId1"/>
          <a:stretch>
            <a:fillRect/>
          </a:stretch>
        </p:blipFill>
        <p:spPr>
          <a:xfrm>
            <a:off x="0" y="0"/>
            <a:ext cx="7560000" cy="9360000"/>
          </a:xfrm>
          <a:prstGeom prst="rect">
            <a:avLst/>
          </a:prstGeom>
        </p:spPr>
      </p:pic>
      <p:sp>
        <p:nvSpPr>
          <p:cNvPr id="3" name="Text 0"/>
          <p:cNvSpPr/>
          <p:nvPr/>
        </p:nvSpPr>
        <p:spPr>
          <a:xfrm>
            <a:off x="612000" y="6732000"/>
            <a:ext cx="4320000" cy="1512000"/>
          </a:xfrm>
          <a:prstGeom prst="rect">
            <a:avLst/>
          </a:prstGeom>
          <a:noFill/>
          <a:ln/>
        </p:spPr>
        <p:txBody>
          <a:bodyPr wrap="square" lIns="0" tIns="0" rIns="0" bIns="0" rtlCol="0" anchor="ctr"/>
          <a:lstStyle/>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Dix régions,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dix sols,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quarante domaines.</a:t>
            </a:r>
            <a:endParaRPr lang="en-US" sz="2600" dirty="0"/>
          </a:p>
        </p:txBody>
      </p:sp>
      <p:sp>
        <p:nvSpPr>
          <p:cNvPr id="4" name="Text 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75</a:t>
            </a:r>
            <a:endParaRPr lang="en-US" sz="750" dirty="0"/>
          </a:p>
        </p:txBody>
      </p:sp>
      <p:sp>
        <p:nvSpPr>
          <p:cNvPr id="5" name="Text 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deux emplacements d'image de chaque fiche sont livrés vides : les photographies qui y seront posées restent à créditer, voir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2026-10-01T16:23:35Z</dcterms:created>
  <dcterms:modified xsi:type="dcterms:W3CDTF">2026-10-01T16:23:35Z</dcterms:modified>
</cp:coreProperties>
</file>