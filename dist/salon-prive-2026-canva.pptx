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3.png"/><Relationship Id="rId5" Type="http://schemas.openxmlformats.org/officeDocument/2006/relationships/image" Target="../media/image-3-5.png"/><Relationship Id="rId6" Type="http://schemas.openxmlformats.org/officeDocument/2006/relationships/image" Target="../media/image-3-5.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1.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940000" cy="1224000"/>
          </a:xfrm>
          <a:prstGeom prst="rect">
            <a:avLst/>
          </a:prstGeom>
          <a:noFill/>
          <a:ln/>
        </p:spPr>
        <p:txBody>
          <a:bodyPr wrap="square" lIns="0" tIns="0" rIns="0" bIns="0" rtlCol="0" anchor="ctr"/>
          <a:lstStyle/>
          <a:p>
            <a:pPr indent="0" marL="0">
              <a:lnSpc>
                <a:spcPct val="92000"/>
              </a:lnSpc>
              <a:buNone/>
            </a:pPr>
            <a:r>
              <a:rPr lang="en-US" sz="4400" dirty="0">
                <a:solidFill>
                  <a:srgbClr val="46606E"/>
                </a:solidFill>
                <a:latin typeface="Young Serif" pitchFamily="34" charset="0"/>
                <a:ea typeface="Young Serif" pitchFamily="34" charset="-122"/>
                <a:cs typeface="Young Serif" pitchFamily="34" charset="-120"/>
              </a:rPr>
              <a:t>Salon Privé</a:t>
            </a:r>
            <a:endParaRPr lang="en-US" sz="4400" dirty="0"/>
          </a:p>
          <a:p>
            <a:pPr indent="0" marL="0">
              <a:lnSpc>
                <a:spcPct val="92000"/>
              </a:lnSpc>
              <a:buNone/>
            </a:pPr>
            <a:r>
              <a:rPr lang="en-US" sz="4400" dirty="0">
                <a:solidFill>
                  <a:srgbClr val="67067C"/>
                </a:solidFill>
                <a:latin typeface="Young Serif" pitchFamily="34" charset="0"/>
                <a:ea typeface="Young Serif" pitchFamily="34" charset="-122"/>
                <a:cs typeface="Young Serif" pitchFamily="34" charset="-120"/>
              </a:rPr>
              <a:t>Vins &amp; Terroirs</a:t>
            </a:r>
            <a:endParaRPr lang="en-US" sz="4400" dirty="0"/>
          </a:p>
        </p:txBody>
      </p:sp>
      <p:sp>
        <p:nvSpPr>
          <p:cNvPr id="5" name="Text 1"/>
          <p:cNvSpPr/>
          <p:nvPr/>
        </p:nvSpPr>
        <p:spPr>
          <a:xfrm>
            <a:off x="612000" y="3204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Vingt-six vignerons, neuf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3528000" y="576000"/>
            <a:ext cx="3420000" cy="306000"/>
          </a:xfrm>
          <a:prstGeom prst="rect">
            <a:avLst/>
          </a:prstGeom>
          <a:noFill/>
          <a:ln/>
        </p:spPr>
        <p:txBody>
          <a:bodyPr wrap="square" lIns="0" tIns="0" rIns="0" bIns="0" rtlCol="0" anchor="t"/>
          <a:lstStyle/>
          <a:p>
            <a:pPr algn="r" indent="0" marL="0">
              <a:buNone/>
            </a:pPr>
            <a:r>
              <a:rPr lang="en-US" sz="1900" dirty="0">
                <a:solidFill>
                  <a:srgbClr val="67067C"/>
                </a:solidFill>
                <a:latin typeface="Young Serif" pitchFamily="34" charset="0"/>
                <a:ea typeface="Young Serif" pitchFamily="34" charset="-122"/>
                <a:cs typeface="Young Serif" pitchFamily="34" charset="-120"/>
              </a:rPr>
              <a:t>Lundi 5 octobre 2026</a:t>
            </a:r>
            <a:endParaRPr lang="en-US" sz="1900" dirty="0"/>
          </a:p>
        </p:txBody>
      </p:sp>
      <p:sp>
        <p:nvSpPr>
          <p:cNvPr id="7" name="Text 3"/>
          <p:cNvSpPr/>
          <p:nvPr/>
        </p:nvSpPr>
        <p:spPr>
          <a:xfrm>
            <a:off x="3528000" y="900000"/>
            <a:ext cx="3420000" cy="324000"/>
          </a:xfrm>
          <a:prstGeom prst="rect">
            <a:avLst/>
          </a:prstGeom>
          <a:noFill/>
          <a:ln/>
        </p:spPr>
        <p:txBody>
          <a:bodyPr wrap="square" lIns="0" tIns="0" rIns="0" bIns="0" rtlCol="0" anchor="t"/>
          <a:lstStyle/>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CHÂTEAU DE LA RAIRIE</a:t>
            </a:r>
            <a:endParaRPr lang="en-US" sz="900" dirty="0"/>
          </a:p>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PONT-SAINT-MARTIN</a:t>
            </a:r>
            <a:endParaRPr lang="en-US" sz="9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sp>
        <p:nvSpPr>
          <p:cNvPr id="9" name="Shape 6"/>
          <p:cNvSpPr/>
          <p:nvPr/>
        </p:nvSpPr>
        <p:spPr>
          <a:xfrm>
            <a:off x="828000" y="4932000"/>
            <a:ext cx="6120000" cy="1296000"/>
          </a:xfrm>
          <a:prstGeom prst="rect">
            <a:avLst/>
          </a:prstGeom>
          <a:solidFill>
            <a:srgbClr val="FBF8F1"/>
          </a:solidFill>
          <a:ln w="12700">
            <a:solidFill>
              <a:srgbClr val="FBF8F1"/>
            </a:solidFill>
            <a:prstDash val="solid"/>
          </a:ln>
        </p:spPr>
      </p:sp>
      <p:sp>
        <p:nvSpPr>
          <p:cNvPr id="10" name="Shape 7"/>
          <p:cNvSpPr/>
          <p:nvPr/>
        </p:nvSpPr>
        <p:spPr>
          <a:xfrm>
            <a:off x="828000" y="4932000"/>
            <a:ext cx="0" cy="1296000"/>
          </a:xfrm>
          <a:prstGeom prst="line">
            <a:avLst/>
          </a:prstGeom>
          <a:noFill/>
          <a:ln w="25400">
            <a:solidFill>
              <a:srgbClr val="E1C853"/>
            </a:solidFill>
            <a:prstDash val="solid"/>
          </a:ln>
        </p:spPr>
      </p:sp>
      <p:sp>
        <p:nvSpPr>
          <p:cNvPr id="11" name="Text 8"/>
          <p:cNvSpPr/>
          <p:nvPr/>
        </p:nvSpPr>
        <p:spPr>
          <a:xfrm>
            <a:off x="1044000" y="4932000"/>
            <a:ext cx="5688000" cy="1296000"/>
          </a:xfrm>
          <a:prstGeom prst="rect">
            <a:avLst/>
          </a:prstGeom>
          <a:noFill/>
          <a:ln/>
        </p:spPr>
        <p:txBody>
          <a:bodyPr wrap="square" lIns="0" tIns="0" rIns="0" bIns="0" rtlCol="0" anchor="ctr"/>
          <a:lstStyle/>
          <a:p>
            <a:pPr indent="0" marL="0">
              <a:lnSpc>
                <a:spcPct val="125000"/>
              </a:lnSpc>
              <a:buNone/>
            </a:pPr>
            <a:r>
              <a:rPr lang="en-US" sz="1800" dirty="0">
                <a:solidFill>
                  <a:srgbClr val="67067C"/>
                </a:solidFill>
                <a:latin typeface="Young Serif" pitchFamily="34" charset="0"/>
                <a:ea typeface="Young Serif" pitchFamily="34" charset="-122"/>
                <a:cs typeface="Young Serif" pitchFamily="34" charset="-120"/>
              </a:rPr>
              <a:t>Salon Privé Vins &amp; Terroirs</a:t>
            </a:r>
            <a:endParaRPr lang="en-US" sz="1800" dirty="0"/>
          </a:p>
          <a:p>
            <a:pPr indent="0" marL="0">
              <a:lnSpc>
                <a:spcPct val="125000"/>
              </a:lnSpc>
              <a:buNone/>
            </a:pPr>
            <a:r>
              <a:rPr lang="en-US" sz="1300" dirty="0">
                <a:solidFill>
                  <a:srgbClr val="46606E"/>
                </a:solidFill>
                <a:latin typeface="Young Serif" pitchFamily="34" charset="0"/>
                <a:ea typeface="Young Serif" pitchFamily="34" charset="-122"/>
                <a:cs typeface="Young Serif" pitchFamily="34" charset="-120"/>
              </a:rPr>
              <a:t>Lundi 5 octobre 2026</a:t>
            </a:r>
            <a:endParaRPr lang="en-US" sz="1800" dirty="0"/>
          </a:p>
          <a:p>
            <a:pPr indent="0" marL="0">
              <a:lnSpc>
                <a:spcPct val="125000"/>
              </a:lnSpc>
              <a:buNone/>
            </a:pPr>
            <a:r>
              <a:rPr lang="en-US" sz="1000" dirty="0">
                <a:solidFill>
                  <a:srgbClr val="46606E"/>
                </a:solidFill>
                <a:latin typeface="Spectral" pitchFamily="34" charset="0"/>
                <a:ea typeface="Spectral" pitchFamily="34" charset="-122"/>
                <a:cs typeface="Spectral" pitchFamily="34" charset="-120"/>
              </a:rPr>
              <a:t>Château de la Rairie, Pont-Saint-Martin</a:t>
            </a:r>
            <a:endParaRPr lang="en-US" sz="1800" dirty="0"/>
          </a:p>
          <a:p>
            <a:pPr indent="0" marL="0">
              <a:lnSpc>
                <a:spcPct val="125000"/>
              </a:lnSpc>
              <a:buNone/>
            </a:pPr>
            <a:r>
              <a:rPr lang="en-US" sz="800" dirty="0">
                <a:solidFill>
                  <a:srgbClr val="A8515F"/>
                </a:solidFill>
                <a:latin typeface="IBM Plex Sans" pitchFamily="34" charset="0"/>
                <a:ea typeface="IBM Plex Sans" pitchFamily="34" charset="-122"/>
                <a:cs typeface="IBM Plex Sans" pitchFamily="34" charset="-120"/>
              </a:rPr>
              <a:t>Organisé par l'Agence SCIO Vins &amp; Spirits</a:t>
            </a:r>
            <a:endParaRPr lang="en-US" sz="1800" dirty="0"/>
          </a:p>
        </p:txBody>
      </p:sp>
      <p:sp>
        <p:nvSpPr>
          <p:cNvPr id="12" name="Shape 9"/>
          <p:cNvSpPr/>
          <p:nvPr/>
        </p:nvSpPr>
        <p:spPr>
          <a:xfrm>
            <a:off x="828000" y="6732000"/>
            <a:ext cx="6120000" cy="0"/>
          </a:xfrm>
          <a:prstGeom prst="line">
            <a:avLst/>
          </a:prstGeom>
          <a:noFill/>
          <a:ln w="10160">
            <a:solidFill>
              <a:srgbClr val="67067C"/>
            </a:solidFill>
            <a:prstDash val="solid"/>
          </a:ln>
        </p:spPr>
      </p:sp>
      <p:sp>
        <p:nvSpPr>
          <p:cNvPr id="13" name="Text 10"/>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26</a:t>
            </a:r>
            <a:endParaRPr lang="en-US" sz="2600" dirty="0"/>
          </a:p>
        </p:txBody>
      </p:sp>
      <p:sp>
        <p:nvSpPr>
          <p:cNvPr id="14" name="Text 11"/>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vignerons</a:t>
            </a:r>
            <a:endParaRPr lang="en-US" sz="900" dirty="0"/>
          </a:p>
        </p:txBody>
      </p:sp>
      <p:sp>
        <p:nvSpPr>
          <p:cNvPr id="15" name="Text 12"/>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9</a:t>
            </a:r>
            <a:endParaRPr lang="en-US" sz="2600" dirty="0"/>
          </a:p>
        </p:txBody>
      </p:sp>
      <p:sp>
        <p:nvSpPr>
          <p:cNvPr id="16" name="Text 13"/>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7" name="Text 14"/>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171</a:t>
            </a:r>
            <a:endParaRPr lang="en-US" sz="2600" dirty="0"/>
          </a:p>
        </p:txBody>
      </p:sp>
      <p:sp>
        <p:nvSpPr>
          <p:cNvPr id="18" name="Text 15"/>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vins à la dégustation</a:t>
            </a:r>
            <a:endParaRPr lang="en-US" sz="900" dirty="0"/>
          </a:p>
        </p:txBody>
      </p:sp>
      <p:sp>
        <p:nvSpPr>
          <p:cNvPr id="19"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20"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RÉGION ; LE PREMIER CHIFFRE EST LE NUMÉRO DU STAND</a:t>
            </a:r>
            <a:endParaRPr lang="en-US" sz="800" dirty="0"/>
          </a:p>
        </p:txBody>
      </p:sp>
      <p:sp>
        <p:nvSpPr>
          <p:cNvPr id="4" name="Shape 2"/>
          <p:cNvSpPr/>
          <p:nvPr/>
        </p:nvSpPr>
        <p:spPr>
          <a:xfrm>
            <a:off x="612000" y="1393200"/>
            <a:ext cx="115200" cy="115200"/>
          </a:xfrm>
          <a:prstGeom prst="rect">
            <a:avLst/>
          </a:prstGeom>
          <a:solidFill>
            <a:srgbClr val="46606E"/>
          </a:solidFill>
          <a:ln w="7620">
            <a:solidFill>
              <a:srgbClr val="46606E"/>
            </a:solidFill>
            <a:prstDash val="solid"/>
          </a:ln>
        </p:spPr>
      </p:sp>
      <p:sp>
        <p:nvSpPr>
          <p:cNvPr id="5" name="Text 3"/>
          <p:cNvSpPr/>
          <p:nvPr/>
        </p:nvSpPr>
        <p:spPr>
          <a:xfrm>
            <a:off x="806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6" name="Shape 4"/>
          <p:cNvSpPr/>
          <p:nvPr/>
        </p:nvSpPr>
        <p:spPr>
          <a:xfrm>
            <a:off x="612000" y="1587600"/>
            <a:ext cx="2952000" cy="0"/>
          </a:xfrm>
          <a:prstGeom prst="line">
            <a:avLst/>
          </a:prstGeom>
          <a:noFill/>
          <a:ln w="11430">
            <a:solidFill>
              <a:srgbClr val="67067C"/>
            </a:solidFill>
            <a:prstDash val="solid"/>
          </a:ln>
        </p:spPr>
      </p:sp>
      <p:sp>
        <p:nvSpPr>
          <p:cNvPr id="7" name="Text 5"/>
          <p:cNvSpPr/>
          <p:nvPr/>
        </p:nvSpPr>
        <p:spPr>
          <a:xfrm>
            <a:off x="612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8" name="Text 6"/>
          <p:cNvSpPr/>
          <p:nvPr/>
        </p:nvSpPr>
        <p:spPr>
          <a:xfrm>
            <a:off x="918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9" name="Text 7"/>
          <p:cNvSpPr/>
          <p:nvPr/>
        </p:nvSpPr>
        <p:spPr>
          <a:xfrm>
            <a:off x="3204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0" name="Shape 8"/>
          <p:cNvSpPr/>
          <p:nvPr/>
        </p:nvSpPr>
        <p:spPr>
          <a:xfrm>
            <a:off x="612000" y="1839600"/>
            <a:ext cx="2952000" cy="0"/>
          </a:xfrm>
          <a:prstGeom prst="line">
            <a:avLst/>
          </a:prstGeom>
          <a:noFill/>
          <a:ln w="3810">
            <a:solidFill>
              <a:srgbClr val="C9CFC9"/>
            </a:solidFill>
            <a:prstDash val="solid"/>
          </a:ln>
        </p:spPr>
      </p:sp>
      <p:sp>
        <p:nvSpPr>
          <p:cNvPr id="11" name="Text 9"/>
          <p:cNvSpPr/>
          <p:nvPr/>
        </p:nvSpPr>
        <p:spPr>
          <a:xfrm>
            <a:off x="612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2" name="Text 10"/>
          <p:cNvSpPr/>
          <p:nvPr/>
        </p:nvSpPr>
        <p:spPr>
          <a:xfrm>
            <a:off x="918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3" name="Text 11"/>
          <p:cNvSpPr/>
          <p:nvPr/>
        </p:nvSpPr>
        <p:spPr>
          <a:xfrm>
            <a:off x="3204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14" name="Shape 12"/>
          <p:cNvSpPr/>
          <p:nvPr/>
        </p:nvSpPr>
        <p:spPr>
          <a:xfrm>
            <a:off x="612000" y="2041200"/>
            <a:ext cx="2952000" cy="0"/>
          </a:xfrm>
          <a:prstGeom prst="line">
            <a:avLst/>
          </a:prstGeom>
          <a:noFill/>
          <a:ln w="3810">
            <a:solidFill>
              <a:srgbClr val="C9CFC9"/>
            </a:solidFill>
            <a:prstDash val="solid"/>
          </a:ln>
        </p:spPr>
      </p:sp>
      <p:sp>
        <p:nvSpPr>
          <p:cNvPr id="15" name="Text 13"/>
          <p:cNvSpPr/>
          <p:nvPr/>
        </p:nvSpPr>
        <p:spPr>
          <a:xfrm>
            <a:off x="612000" y="204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6" name="Text 14"/>
          <p:cNvSpPr/>
          <p:nvPr/>
        </p:nvSpPr>
        <p:spPr>
          <a:xfrm>
            <a:off x="918000" y="204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7" name="Text 15"/>
          <p:cNvSpPr/>
          <p:nvPr/>
        </p:nvSpPr>
        <p:spPr>
          <a:xfrm>
            <a:off x="3204000" y="204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18" name="Shape 16"/>
          <p:cNvSpPr/>
          <p:nvPr/>
        </p:nvSpPr>
        <p:spPr>
          <a:xfrm>
            <a:off x="612000" y="2242800"/>
            <a:ext cx="2952000" cy="0"/>
          </a:xfrm>
          <a:prstGeom prst="line">
            <a:avLst/>
          </a:prstGeom>
          <a:noFill/>
          <a:ln w="3810">
            <a:solidFill>
              <a:srgbClr val="C9CFC9"/>
            </a:solidFill>
            <a:prstDash val="solid"/>
          </a:ln>
        </p:spPr>
      </p:sp>
      <p:sp>
        <p:nvSpPr>
          <p:cNvPr id="19" name="Text 17"/>
          <p:cNvSpPr/>
          <p:nvPr/>
        </p:nvSpPr>
        <p:spPr>
          <a:xfrm>
            <a:off x="612000" y="224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20" name="Text 18"/>
          <p:cNvSpPr/>
          <p:nvPr/>
        </p:nvSpPr>
        <p:spPr>
          <a:xfrm>
            <a:off x="918000" y="224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1" name="Text 19"/>
          <p:cNvSpPr/>
          <p:nvPr/>
        </p:nvSpPr>
        <p:spPr>
          <a:xfrm>
            <a:off x="3204000" y="224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2" name="Shape 20"/>
          <p:cNvSpPr/>
          <p:nvPr/>
        </p:nvSpPr>
        <p:spPr>
          <a:xfrm>
            <a:off x="612000" y="2444400"/>
            <a:ext cx="2952000" cy="0"/>
          </a:xfrm>
          <a:prstGeom prst="line">
            <a:avLst/>
          </a:prstGeom>
          <a:noFill/>
          <a:ln w="3810">
            <a:solidFill>
              <a:srgbClr val="C9CFC9"/>
            </a:solidFill>
            <a:prstDash val="solid"/>
          </a:ln>
        </p:spPr>
      </p:sp>
      <p:sp>
        <p:nvSpPr>
          <p:cNvPr id="23" name="Text 21"/>
          <p:cNvSpPr/>
          <p:nvPr/>
        </p:nvSpPr>
        <p:spPr>
          <a:xfrm>
            <a:off x="612000" y="24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24" name="Text 22"/>
          <p:cNvSpPr/>
          <p:nvPr/>
        </p:nvSpPr>
        <p:spPr>
          <a:xfrm>
            <a:off x="918000" y="24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5" name="Text 23"/>
          <p:cNvSpPr/>
          <p:nvPr/>
        </p:nvSpPr>
        <p:spPr>
          <a:xfrm>
            <a:off x="3204000" y="24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26" name="Shape 24"/>
          <p:cNvSpPr/>
          <p:nvPr/>
        </p:nvSpPr>
        <p:spPr>
          <a:xfrm>
            <a:off x="612000" y="2646000"/>
            <a:ext cx="2952000" cy="0"/>
          </a:xfrm>
          <a:prstGeom prst="line">
            <a:avLst/>
          </a:prstGeom>
          <a:noFill/>
          <a:ln w="3810">
            <a:solidFill>
              <a:srgbClr val="C9CFC9"/>
            </a:solidFill>
            <a:prstDash val="solid"/>
          </a:ln>
        </p:spPr>
      </p:sp>
      <p:sp>
        <p:nvSpPr>
          <p:cNvPr id="27" name="Text 25"/>
          <p:cNvSpPr/>
          <p:nvPr/>
        </p:nvSpPr>
        <p:spPr>
          <a:xfrm>
            <a:off x="612000" y="264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28" name="Text 26"/>
          <p:cNvSpPr/>
          <p:nvPr/>
        </p:nvSpPr>
        <p:spPr>
          <a:xfrm>
            <a:off x="918000" y="264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9" name="Text 27"/>
          <p:cNvSpPr/>
          <p:nvPr/>
        </p:nvSpPr>
        <p:spPr>
          <a:xfrm>
            <a:off x="3204000" y="264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30" name="Shape 28"/>
          <p:cNvSpPr/>
          <p:nvPr/>
        </p:nvSpPr>
        <p:spPr>
          <a:xfrm>
            <a:off x="612000" y="2847600"/>
            <a:ext cx="2952000" cy="0"/>
          </a:xfrm>
          <a:prstGeom prst="line">
            <a:avLst/>
          </a:prstGeom>
          <a:noFill/>
          <a:ln w="3810">
            <a:solidFill>
              <a:srgbClr val="C9CFC9"/>
            </a:solidFill>
            <a:prstDash val="solid"/>
          </a:ln>
        </p:spPr>
      </p:sp>
      <p:sp>
        <p:nvSpPr>
          <p:cNvPr id="31" name="Shape 29"/>
          <p:cNvSpPr/>
          <p:nvPr/>
        </p:nvSpPr>
        <p:spPr>
          <a:xfrm>
            <a:off x="612000" y="3078000"/>
            <a:ext cx="115200" cy="115200"/>
          </a:xfrm>
          <a:prstGeom prst="rect">
            <a:avLst/>
          </a:prstGeom>
          <a:solidFill>
            <a:srgbClr val="3C5B47"/>
          </a:solidFill>
          <a:ln w="7620">
            <a:solidFill>
              <a:srgbClr val="3C5B47"/>
            </a:solidFill>
            <a:prstDash val="solid"/>
          </a:ln>
        </p:spPr>
      </p:sp>
      <p:sp>
        <p:nvSpPr>
          <p:cNvPr id="32" name="Text 30"/>
          <p:cNvSpPr/>
          <p:nvPr/>
        </p:nvSpPr>
        <p:spPr>
          <a:xfrm>
            <a:off x="806400" y="299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3" name="Shape 31"/>
          <p:cNvSpPr/>
          <p:nvPr/>
        </p:nvSpPr>
        <p:spPr>
          <a:xfrm>
            <a:off x="612000" y="3272400"/>
            <a:ext cx="2952000" cy="0"/>
          </a:xfrm>
          <a:prstGeom prst="line">
            <a:avLst/>
          </a:prstGeom>
          <a:noFill/>
          <a:ln w="11430">
            <a:solidFill>
              <a:srgbClr val="67067C"/>
            </a:solidFill>
            <a:prstDash val="solid"/>
          </a:ln>
        </p:spPr>
      </p:sp>
      <p:sp>
        <p:nvSpPr>
          <p:cNvPr id="34" name="Text 32"/>
          <p:cNvSpPr/>
          <p:nvPr/>
        </p:nvSpPr>
        <p:spPr>
          <a:xfrm>
            <a:off x="612000" y="332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35" name="Text 33"/>
          <p:cNvSpPr/>
          <p:nvPr/>
        </p:nvSpPr>
        <p:spPr>
          <a:xfrm>
            <a:off x="918000" y="332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6" name="Text 34"/>
          <p:cNvSpPr/>
          <p:nvPr/>
        </p:nvSpPr>
        <p:spPr>
          <a:xfrm>
            <a:off x="3204000" y="332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37" name="Shape 35"/>
          <p:cNvSpPr/>
          <p:nvPr/>
        </p:nvSpPr>
        <p:spPr>
          <a:xfrm>
            <a:off x="612000" y="3524400"/>
            <a:ext cx="2952000" cy="0"/>
          </a:xfrm>
          <a:prstGeom prst="line">
            <a:avLst/>
          </a:prstGeom>
          <a:noFill/>
          <a:ln w="3810">
            <a:solidFill>
              <a:srgbClr val="C9CFC9"/>
            </a:solidFill>
            <a:prstDash val="solid"/>
          </a:ln>
        </p:spPr>
      </p:sp>
      <p:sp>
        <p:nvSpPr>
          <p:cNvPr id="38" name="Shape 36"/>
          <p:cNvSpPr/>
          <p:nvPr/>
        </p:nvSpPr>
        <p:spPr>
          <a:xfrm>
            <a:off x="612000" y="3754800"/>
            <a:ext cx="115200" cy="115200"/>
          </a:xfrm>
          <a:prstGeom prst="rect">
            <a:avLst/>
          </a:prstGeom>
          <a:solidFill>
            <a:srgbClr val="D08C3C"/>
          </a:solidFill>
          <a:ln w="7620">
            <a:solidFill>
              <a:srgbClr val="D08C3C"/>
            </a:solidFill>
            <a:prstDash val="solid"/>
          </a:ln>
        </p:spPr>
      </p:sp>
      <p:sp>
        <p:nvSpPr>
          <p:cNvPr id="39" name="Text 37"/>
          <p:cNvSpPr/>
          <p:nvPr/>
        </p:nvSpPr>
        <p:spPr>
          <a:xfrm>
            <a:off x="806400" y="3675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40" name="Shape 38"/>
          <p:cNvSpPr/>
          <p:nvPr/>
        </p:nvSpPr>
        <p:spPr>
          <a:xfrm>
            <a:off x="612000" y="3949200"/>
            <a:ext cx="2952000" cy="0"/>
          </a:xfrm>
          <a:prstGeom prst="line">
            <a:avLst/>
          </a:prstGeom>
          <a:noFill/>
          <a:ln w="11430">
            <a:solidFill>
              <a:srgbClr val="67067C"/>
            </a:solidFill>
            <a:prstDash val="solid"/>
          </a:ln>
        </p:spPr>
      </p:sp>
      <p:sp>
        <p:nvSpPr>
          <p:cNvPr id="41" name="Text 39"/>
          <p:cNvSpPr/>
          <p:nvPr/>
        </p:nvSpPr>
        <p:spPr>
          <a:xfrm>
            <a:off x="612000" y="399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42" name="Text 40"/>
          <p:cNvSpPr/>
          <p:nvPr/>
        </p:nvSpPr>
        <p:spPr>
          <a:xfrm>
            <a:off x="918000" y="399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43" name="Text 41"/>
          <p:cNvSpPr/>
          <p:nvPr/>
        </p:nvSpPr>
        <p:spPr>
          <a:xfrm>
            <a:off x="3204000" y="399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16</a:t>
            </a:r>
            <a:endParaRPr lang="en-US" sz="900" dirty="0"/>
          </a:p>
        </p:txBody>
      </p:sp>
      <p:sp>
        <p:nvSpPr>
          <p:cNvPr id="44" name="Shape 42"/>
          <p:cNvSpPr/>
          <p:nvPr/>
        </p:nvSpPr>
        <p:spPr>
          <a:xfrm>
            <a:off x="612000" y="4201200"/>
            <a:ext cx="2952000" cy="0"/>
          </a:xfrm>
          <a:prstGeom prst="line">
            <a:avLst/>
          </a:prstGeom>
          <a:noFill/>
          <a:ln w="3810">
            <a:solidFill>
              <a:srgbClr val="C9CFC9"/>
            </a:solidFill>
            <a:prstDash val="solid"/>
          </a:ln>
        </p:spPr>
      </p:sp>
      <p:sp>
        <p:nvSpPr>
          <p:cNvPr id="45" name="Text 43"/>
          <p:cNvSpPr/>
          <p:nvPr/>
        </p:nvSpPr>
        <p:spPr>
          <a:xfrm>
            <a:off x="612000" y="420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46" name="Text 44"/>
          <p:cNvSpPr/>
          <p:nvPr/>
        </p:nvSpPr>
        <p:spPr>
          <a:xfrm>
            <a:off x="918000" y="420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47" name="Text 45"/>
          <p:cNvSpPr/>
          <p:nvPr/>
        </p:nvSpPr>
        <p:spPr>
          <a:xfrm>
            <a:off x="3204000" y="420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48" name="Shape 46"/>
          <p:cNvSpPr/>
          <p:nvPr/>
        </p:nvSpPr>
        <p:spPr>
          <a:xfrm>
            <a:off x="612000" y="4402800"/>
            <a:ext cx="2952000" cy="0"/>
          </a:xfrm>
          <a:prstGeom prst="line">
            <a:avLst/>
          </a:prstGeom>
          <a:noFill/>
          <a:ln w="3810">
            <a:solidFill>
              <a:srgbClr val="C9CFC9"/>
            </a:solidFill>
            <a:prstDash val="solid"/>
          </a:ln>
        </p:spPr>
      </p:sp>
      <p:sp>
        <p:nvSpPr>
          <p:cNvPr id="49" name="Text 47"/>
          <p:cNvSpPr/>
          <p:nvPr/>
        </p:nvSpPr>
        <p:spPr>
          <a:xfrm>
            <a:off x="612000" y="440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0" name="Text 48"/>
          <p:cNvSpPr/>
          <p:nvPr/>
        </p:nvSpPr>
        <p:spPr>
          <a:xfrm>
            <a:off x="918000" y="440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51" name="Text 49"/>
          <p:cNvSpPr/>
          <p:nvPr/>
        </p:nvSpPr>
        <p:spPr>
          <a:xfrm>
            <a:off x="3204000" y="440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52" name="Shape 50"/>
          <p:cNvSpPr/>
          <p:nvPr/>
        </p:nvSpPr>
        <p:spPr>
          <a:xfrm>
            <a:off x="612000" y="4604400"/>
            <a:ext cx="2952000" cy="0"/>
          </a:xfrm>
          <a:prstGeom prst="line">
            <a:avLst/>
          </a:prstGeom>
          <a:noFill/>
          <a:ln w="3810">
            <a:solidFill>
              <a:srgbClr val="C9CFC9"/>
            </a:solidFill>
            <a:prstDash val="solid"/>
          </a:ln>
        </p:spPr>
      </p:sp>
      <p:sp>
        <p:nvSpPr>
          <p:cNvPr id="53" name="Text 51"/>
          <p:cNvSpPr/>
          <p:nvPr/>
        </p:nvSpPr>
        <p:spPr>
          <a:xfrm>
            <a:off x="612000" y="460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4" name="Text 52"/>
          <p:cNvSpPr/>
          <p:nvPr/>
        </p:nvSpPr>
        <p:spPr>
          <a:xfrm>
            <a:off x="918000" y="460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55" name="Text 53"/>
          <p:cNvSpPr/>
          <p:nvPr/>
        </p:nvSpPr>
        <p:spPr>
          <a:xfrm>
            <a:off x="3204000" y="460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56" name="Shape 54"/>
          <p:cNvSpPr/>
          <p:nvPr/>
        </p:nvSpPr>
        <p:spPr>
          <a:xfrm>
            <a:off x="612000" y="4806000"/>
            <a:ext cx="2952000" cy="0"/>
          </a:xfrm>
          <a:prstGeom prst="line">
            <a:avLst/>
          </a:prstGeom>
          <a:noFill/>
          <a:ln w="3810">
            <a:solidFill>
              <a:srgbClr val="C9CFC9"/>
            </a:solidFill>
            <a:prstDash val="solid"/>
          </a:ln>
        </p:spPr>
      </p:sp>
      <p:sp>
        <p:nvSpPr>
          <p:cNvPr id="57" name="Text 55"/>
          <p:cNvSpPr/>
          <p:nvPr/>
        </p:nvSpPr>
        <p:spPr>
          <a:xfrm>
            <a:off x="612000" y="480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58" name="Text 56"/>
          <p:cNvSpPr/>
          <p:nvPr/>
        </p:nvSpPr>
        <p:spPr>
          <a:xfrm>
            <a:off x="918000" y="480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59" name="Text 57"/>
          <p:cNvSpPr/>
          <p:nvPr/>
        </p:nvSpPr>
        <p:spPr>
          <a:xfrm>
            <a:off x="3204000" y="480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60" name="Shape 58"/>
          <p:cNvSpPr/>
          <p:nvPr/>
        </p:nvSpPr>
        <p:spPr>
          <a:xfrm>
            <a:off x="612000" y="5007600"/>
            <a:ext cx="2952000" cy="0"/>
          </a:xfrm>
          <a:prstGeom prst="line">
            <a:avLst/>
          </a:prstGeom>
          <a:noFill/>
          <a:ln w="3810">
            <a:solidFill>
              <a:srgbClr val="C9CFC9"/>
            </a:solidFill>
            <a:prstDash val="solid"/>
          </a:ln>
        </p:spPr>
      </p:sp>
      <p:sp>
        <p:nvSpPr>
          <p:cNvPr id="61" name="Shape 59"/>
          <p:cNvSpPr/>
          <p:nvPr/>
        </p:nvSpPr>
        <p:spPr>
          <a:xfrm>
            <a:off x="612000" y="5238000"/>
            <a:ext cx="115200" cy="115200"/>
          </a:xfrm>
          <a:prstGeom prst="rect">
            <a:avLst/>
          </a:prstGeom>
          <a:solidFill>
            <a:srgbClr val="3C5B47"/>
          </a:solidFill>
          <a:ln w="7620">
            <a:solidFill>
              <a:srgbClr val="3C5B47"/>
            </a:solidFill>
            <a:prstDash val="solid"/>
          </a:ln>
        </p:spPr>
      </p:sp>
      <p:sp>
        <p:nvSpPr>
          <p:cNvPr id="62" name="Text 60"/>
          <p:cNvSpPr/>
          <p:nvPr/>
        </p:nvSpPr>
        <p:spPr>
          <a:xfrm>
            <a:off x="806400" y="515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63" name="Shape 61"/>
          <p:cNvSpPr/>
          <p:nvPr/>
        </p:nvSpPr>
        <p:spPr>
          <a:xfrm>
            <a:off x="612000" y="5432400"/>
            <a:ext cx="2952000" cy="0"/>
          </a:xfrm>
          <a:prstGeom prst="line">
            <a:avLst/>
          </a:prstGeom>
          <a:noFill/>
          <a:ln w="11430">
            <a:solidFill>
              <a:srgbClr val="67067C"/>
            </a:solidFill>
            <a:prstDash val="solid"/>
          </a:ln>
        </p:spPr>
      </p:sp>
      <p:sp>
        <p:nvSpPr>
          <p:cNvPr id="64" name="Text 62"/>
          <p:cNvSpPr/>
          <p:nvPr/>
        </p:nvSpPr>
        <p:spPr>
          <a:xfrm>
            <a:off x="612000" y="548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5" name="Text 63"/>
          <p:cNvSpPr/>
          <p:nvPr/>
        </p:nvSpPr>
        <p:spPr>
          <a:xfrm>
            <a:off x="918000" y="548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66" name="Text 64"/>
          <p:cNvSpPr/>
          <p:nvPr/>
        </p:nvSpPr>
        <p:spPr>
          <a:xfrm>
            <a:off x="3204000" y="548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67" name="Shape 65"/>
          <p:cNvSpPr/>
          <p:nvPr/>
        </p:nvSpPr>
        <p:spPr>
          <a:xfrm>
            <a:off x="612000" y="5684400"/>
            <a:ext cx="2952000" cy="0"/>
          </a:xfrm>
          <a:prstGeom prst="line">
            <a:avLst/>
          </a:prstGeom>
          <a:noFill/>
          <a:ln w="3810">
            <a:solidFill>
              <a:srgbClr val="C9CFC9"/>
            </a:solidFill>
            <a:prstDash val="solid"/>
          </a:ln>
        </p:spPr>
      </p:sp>
      <p:sp>
        <p:nvSpPr>
          <p:cNvPr id="68" name="Text 66"/>
          <p:cNvSpPr/>
          <p:nvPr/>
        </p:nvSpPr>
        <p:spPr>
          <a:xfrm>
            <a:off x="612000" y="568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9" name="Text 67"/>
          <p:cNvSpPr/>
          <p:nvPr/>
        </p:nvSpPr>
        <p:spPr>
          <a:xfrm>
            <a:off x="918000" y="568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70" name="Text 68"/>
          <p:cNvSpPr/>
          <p:nvPr/>
        </p:nvSpPr>
        <p:spPr>
          <a:xfrm>
            <a:off x="3204000" y="568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71" name="Shape 69"/>
          <p:cNvSpPr/>
          <p:nvPr/>
        </p:nvSpPr>
        <p:spPr>
          <a:xfrm>
            <a:off x="612000" y="5886000"/>
            <a:ext cx="2952000" cy="0"/>
          </a:xfrm>
          <a:prstGeom prst="line">
            <a:avLst/>
          </a:prstGeom>
          <a:noFill/>
          <a:ln w="3810">
            <a:solidFill>
              <a:srgbClr val="C9CFC9"/>
            </a:solidFill>
            <a:prstDash val="solid"/>
          </a:ln>
        </p:spPr>
      </p:sp>
      <p:sp>
        <p:nvSpPr>
          <p:cNvPr id="72" name="Text 70"/>
          <p:cNvSpPr/>
          <p:nvPr/>
        </p:nvSpPr>
        <p:spPr>
          <a:xfrm>
            <a:off x="612000" y="58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3" name="Text 71"/>
          <p:cNvSpPr/>
          <p:nvPr/>
        </p:nvSpPr>
        <p:spPr>
          <a:xfrm>
            <a:off x="918000" y="58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74" name="Text 72"/>
          <p:cNvSpPr/>
          <p:nvPr/>
        </p:nvSpPr>
        <p:spPr>
          <a:xfrm>
            <a:off x="3204000" y="58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75" name="Shape 73"/>
          <p:cNvSpPr/>
          <p:nvPr/>
        </p:nvSpPr>
        <p:spPr>
          <a:xfrm>
            <a:off x="612000" y="6087600"/>
            <a:ext cx="2952000" cy="0"/>
          </a:xfrm>
          <a:prstGeom prst="line">
            <a:avLst/>
          </a:prstGeom>
          <a:noFill/>
          <a:ln w="3810">
            <a:solidFill>
              <a:srgbClr val="C9CFC9"/>
            </a:solidFill>
            <a:prstDash val="solid"/>
          </a:ln>
        </p:spPr>
      </p:sp>
      <p:sp>
        <p:nvSpPr>
          <p:cNvPr id="76" name="Text 74"/>
          <p:cNvSpPr/>
          <p:nvPr/>
        </p:nvSpPr>
        <p:spPr>
          <a:xfrm>
            <a:off x="612000" y="60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7" name="Text 75"/>
          <p:cNvSpPr/>
          <p:nvPr/>
        </p:nvSpPr>
        <p:spPr>
          <a:xfrm>
            <a:off x="918000" y="60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78" name="Text 76"/>
          <p:cNvSpPr/>
          <p:nvPr/>
        </p:nvSpPr>
        <p:spPr>
          <a:xfrm>
            <a:off x="3204000" y="60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79" name="Shape 77"/>
          <p:cNvSpPr/>
          <p:nvPr/>
        </p:nvSpPr>
        <p:spPr>
          <a:xfrm>
            <a:off x="612000" y="6289200"/>
            <a:ext cx="2952000" cy="0"/>
          </a:xfrm>
          <a:prstGeom prst="line">
            <a:avLst/>
          </a:prstGeom>
          <a:noFill/>
          <a:ln w="3810">
            <a:solidFill>
              <a:srgbClr val="C9CFC9"/>
            </a:solidFill>
            <a:prstDash val="solid"/>
          </a:ln>
        </p:spPr>
      </p:sp>
      <p:sp>
        <p:nvSpPr>
          <p:cNvPr id="80" name="Text 78"/>
          <p:cNvSpPr/>
          <p:nvPr/>
        </p:nvSpPr>
        <p:spPr>
          <a:xfrm>
            <a:off x="612000" y="62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81" name="Text 79"/>
          <p:cNvSpPr/>
          <p:nvPr/>
        </p:nvSpPr>
        <p:spPr>
          <a:xfrm>
            <a:off x="918000" y="62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82" name="Text 80"/>
          <p:cNvSpPr/>
          <p:nvPr/>
        </p:nvSpPr>
        <p:spPr>
          <a:xfrm>
            <a:off x="3204000" y="62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83" name="Shape 81"/>
          <p:cNvSpPr/>
          <p:nvPr/>
        </p:nvSpPr>
        <p:spPr>
          <a:xfrm>
            <a:off x="612000" y="6490800"/>
            <a:ext cx="2952000" cy="0"/>
          </a:xfrm>
          <a:prstGeom prst="line">
            <a:avLst/>
          </a:prstGeom>
          <a:noFill/>
          <a:ln w="3810">
            <a:solidFill>
              <a:srgbClr val="C9CFC9"/>
            </a:solidFill>
            <a:prstDash val="solid"/>
          </a:ln>
        </p:spPr>
      </p:sp>
      <p:sp>
        <p:nvSpPr>
          <p:cNvPr id="84" name="Shape 82"/>
          <p:cNvSpPr/>
          <p:nvPr/>
        </p:nvSpPr>
        <p:spPr>
          <a:xfrm>
            <a:off x="3780000" y="1393200"/>
            <a:ext cx="115200" cy="115200"/>
          </a:xfrm>
          <a:prstGeom prst="rect">
            <a:avLst/>
          </a:prstGeom>
          <a:solidFill>
            <a:srgbClr val="D08C3C"/>
          </a:solidFill>
          <a:ln w="7620">
            <a:solidFill>
              <a:srgbClr val="D08C3C"/>
            </a:solidFill>
            <a:prstDash val="solid"/>
          </a:ln>
        </p:spPr>
      </p:sp>
      <p:sp>
        <p:nvSpPr>
          <p:cNvPr id="85" name="Text 83"/>
          <p:cNvSpPr/>
          <p:nvPr/>
        </p:nvSpPr>
        <p:spPr>
          <a:xfrm>
            <a:off x="3974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86" name="Shape 84"/>
          <p:cNvSpPr/>
          <p:nvPr/>
        </p:nvSpPr>
        <p:spPr>
          <a:xfrm>
            <a:off x="3780000" y="1587600"/>
            <a:ext cx="2952000" cy="0"/>
          </a:xfrm>
          <a:prstGeom prst="line">
            <a:avLst/>
          </a:prstGeom>
          <a:noFill/>
          <a:ln w="11430">
            <a:solidFill>
              <a:srgbClr val="67067C"/>
            </a:solidFill>
            <a:prstDash val="solid"/>
          </a:ln>
        </p:spPr>
      </p:sp>
      <p:sp>
        <p:nvSpPr>
          <p:cNvPr id="87" name="Text 85"/>
          <p:cNvSpPr/>
          <p:nvPr/>
        </p:nvSpPr>
        <p:spPr>
          <a:xfrm>
            <a:off x="3780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88" name="Text 86"/>
          <p:cNvSpPr/>
          <p:nvPr/>
        </p:nvSpPr>
        <p:spPr>
          <a:xfrm>
            <a:off x="4086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89" name="Text 87"/>
          <p:cNvSpPr/>
          <p:nvPr/>
        </p:nvSpPr>
        <p:spPr>
          <a:xfrm>
            <a:off x="6372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90" name="Shape 88"/>
          <p:cNvSpPr/>
          <p:nvPr/>
        </p:nvSpPr>
        <p:spPr>
          <a:xfrm>
            <a:off x="3780000" y="1839600"/>
            <a:ext cx="2952000" cy="0"/>
          </a:xfrm>
          <a:prstGeom prst="line">
            <a:avLst/>
          </a:prstGeom>
          <a:noFill/>
          <a:ln w="3810">
            <a:solidFill>
              <a:srgbClr val="C9CFC9"/>
            </a:solidFill>
            <a:prstDash val="solid"/>
          </a:ln>
        </p:spPr>
      </p:sp>
      <p:sp>
        <p:nvSpPr>
          <p:cNvPr id="91" name="Text 89"/>
          <p:cNvSpPr/>
          <p:nvPr/>
        </p:nvSpPr>
        <p:spPr>
          <a:xfrm>
            <a:off x="3780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92" name="Text 90"/>
          <p:cNvSpPr/>
          <p:nvPr/>
        </p:nvSpPr>
        <p:spPr>
          <a:xfrm>
            <a:off x="4086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93" name="Text 91"/>
          <p:cNvSpPr/>
          <p:nvPr/>
        </p:nvSpPr>
        <p:spPr>
          <a:xfrm>
            <a:off x="6372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94" name="Shape 92"/>
          <p:cNvSpPr/>
          <p:nvPr/>
        </p:nvSpPr>
        <p:spPr>
          <a:xfrm>
            <a:off x="3780000" y="2041200"/>
            <a:ext cx="2952000" cy="0"/>
          </a:xfrm>
          <a:prstGeom prst="line">
            <a:avLst/>
          </a:prstGeom>
          <a:noFill/>
          <a:ln w="3810">
            <a:solidFill>
              <a:srgbClr val="C9CFC9"/>
            </a:solidFill>
            <a:prstDash val="solid"/>
          </a:ln>
        </p:spPr>
      </p:sp>
      <p:sp>
        <p:nvSpPr>
          <p:cNvPr id="95" name="Shape 93"/>
          <p:cNvSpPr/>
          <p:nvPr/>
        </p:nvSpPr>
        <p:spPr>
          <a:xfrm>
            <a:off x="3780000" y="2271600"/>
            <a:ext cx="115200" cy="115200"/>
          </a:xfrm>
          <a:prstGeom prst="rect">
            <a:avLst/>
          </a:prstGeom>
          <a:solidFill>
            <a:srgbClr val="A8515F"/>
          </a:solidFill>
          <a:ln w="7620">
            <a:solidFill>
              <a:srgbClr val="A8515F"/>
            </a:solidFill>
            <a:prstDash val="solid"/>
          </a:ln>
        </p:spPr>
      </p:sp>
      <p:sp>
        <p:nvSpPr>
          <p:cNvPr id="96" name="Text 94"/>
          <p:cNvSpPr/>
          <p:nvPr/>
        </p:nvSpPr>
        <p:spPr>
          <a:xfrm>
            <a:off x="3974400" y="219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97" name="Shape 95"/>
          <p:cNvSpPr/>
          <p:nvPr/>
        </p:nvSpPr>
        <p:spPr>
          <a:xfrm>
            <a:off x="3780000" y="2466000"/>
            <a:ext cx="2952000" cy="0"/>
          </a:xfrm>
          <a:prstGeom prst="line">
            <a:avLst/>
          </a:prstGeom>
          <a:noFill/>
          <a:ln w="11430">
            <a:solidFill>
              <a:srgbClr val="67067C"/>
            </a:solidFill>
            <a:prstDash val="solid"/>
          </a:ln>
        </p:spPr>
      </p:sp>
      <p:sp>
        <p:nvSpPr>
          <p:cNvPr id="98" name="Text 96"/>
          <p:cNvSpPr/>
          <p:nvPr/>
        </p:nvSpPr>
        <p:spPr>
          <a:xfrm>
            <a:off x="3780000" y="251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99" name="Text 97"/>
          <p:cNvSpPr/>
          <p:nvPr/>
        </p:nvSpPr>
        <p:spPr>
          <a:xfrm>
            <a:off x="4086000" y="251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00" name="Text 98"/>
          <p:cNvSpPr/>
          <p:nvPr/>
        </p:nvSpPr>
        <p:spPr>
          <a:xfrm>
            <a:off x="6372000" y="251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01" name="Shape 99"/>
          <p:cNvSpPr/>
          <p:nvPr/>
        </p:nvSpPr>
        <p:spPr>
          <a:xfrm>
            <a:off x="3780000" y="2718000"/>
            <a:ext cx="2952000" cy="0"/>
          </a:xfrm>
          <a:prstGeom prst="line">
            <a:avLst/>
          </a:prstGeom>
          <a:noFill/>
          <a:ln w="3810">
            <a:solidFill>
              <a:srgbClr val="C9CFC9"/>
            </a:solidFill>
            <a:prstDash val="solid"/>
          </a:ln>
        </p:spPr>
      </p:sp>
      <p:sp>
        <p:nvSpPr>
          <p:cNvPr id="102" name="Text 100"/>
          <p:cNvSpPr/>
          <p:nvPr/>
        </p:nvSpPr>
        <p:spPr>
          <a:xfrm>
            <a:off x="3780000" y="271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103" name="Text 101"/>
          <p:cNvSpPr/>
          <p:nvPr/>
        </p:nvSpPr>
        <p:spPr>
          <a:xfrm>
            <a:off x="4086000" y="271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04" name="Text 102"/>
          <p:cNvSpPr/>
          <p:nvPr/>
        </p:nvSpPr>
        <p:spPr>
          <a:xfrm>
            <a:off x="6372000" y="271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05" name="Shape 103"/>
          <p:cNvSpPr/>
          <p:nvPr/>
        </p:nvSpPr>
        <p:spPr>
          <a:xfrm>
            <a:off x="3780000" y="2919600"/>
            <a:ext cx="2952000" cy="0"/>
          </a:xfrm>
          <a:prstGeom prst="line">
            <a:avLst/>
          </a:prstGeom>
          <a:noFill/>
          <a:ln w="3810">
            <a:solidFill>
              <a:srgbClr val="C9CFC9"/>
            </a:solidFill>
            <a:prstDash val="solid"/>
          </a:ln>
        </p:spPr>
      </p:sp>
      <p:sp>
        <p:nvSpPr>
          <p:cNvPr id="106" name="Text 104"/>
          <p:cNvSpPr/>
          <p:nvPr/>
        </p:nvSpPr>
        <p:spPr>
          <a:xfrm>
            <a:off x="3780000" y="291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107" name="Text 105"/>
          <p:cNvSpPr/>
          <p:nvPr/>
        </p:nvSpPr>
        <p:spPr>
          <a:xfrm>
            <a:off x="4086000" y="291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08" name="Text 106"/>
          <p:cNvSpPr/>
          <p:nvPr/>
        </p:nvSpPr>
        <p:spPr>
          <a:xfrm>
            <a:off x="6372000" y="291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09" name="Shape 107"/>
          <p:cNvSpPr/>
          <p:nvPr/>
        </p:nvSpPr>
        <p:spPr>
          <a:xfrm>
            <a:off x="3780000" y="3121200"/>
            <a:ext cx="2952000" cy="0"/>
          </a:xfrm>
          <a:prstGeom prst="line">
            <a:avLst/>
          </a:prstGeom>
          <a:noFill/>
          <a:ln w="3810">
            <a:solidFill>
              <a:srgbClr val="C9CFC9"/>
            </a:solidFill>
            <a:prstDash val="solid"/>
          </a:ln>
        </p:spPr>
      </p:sp>
      <p:sp>
        <p:nvSpPr>
          <p:cNvPr id="110" name="Text 108"/>
          <p:cNvSpPr/>
          <p:nvPr/>
        </p:nvSpPr>
        <p:spPr>
          <a:xfrm>
            <a:off x="3780000" y="312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1" name="Text 109"/>
          <p:cNvSpPr/>
          <p:nvPr/>
        </p:nvSpPr>
        <p:spPr>
          <a:xfrm>
            <a:off x="4086000" y="312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12" name="Text 110"/>
          <p:cNvSpPr/>
          <p:nvPr/>
        </p:nvSpPr>
        <p:spPr>
          <a:xfrm>
            <a:off x="6372000" y="312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113" name="Shape 111"/>
          <p:cNvSpPr/>
          <p:nvPr/>
        </p:nvSpPr>
        <p:spPr>
          <a:xfrm>
            <a:off x="3780000" y="3322800"/>
            <a:ext cx="2952000" cy="0"/>
          </a:xfrm>
          <a:prstGeom prst="line">
            <a:avLst/>
          </a:prstGeom>
          <a:noFill/>
          <a:ln w="3810">
            <a:solidFill>
              <a:srgbClr val="C9CFC9"/>
            </a:solidFill>
            <a:prstDash val="solid"/>
          </a:ln>
        </p:spPr>
      </p:sp>
      <p:sp>
        <p:nvSpPr>
          <p:cNvPr id="114" name="Shape 112"/>
          <p:cNvSpPr/>
          <p:nvPr/>
        </p:nvSpPr>
        <p:spPr>
          <a:xfrm>
            <a:off x="3780000" y="3553200"/>
            <a:ext cx="115200" cy="115200"/>
          </a:xfrm>
          <a:prstGeom prst="rect">
            <a:avLst/>
          </a:prstGeom>
          <a:solidFill>
            <a:srgbClr val="46606E"/>
          </a:solidFill>
          <a:ln w="7620">
            <a:solidFill>
              <a:srgbClr val="46606E"/>
            </a:solidFill>
            <a:prstDash val="solid"/>
          </a:ln>
        </p:spPr>
      </p:sp>
      <p:sp>
        <p:nvSpPr>
          <p:cNvPr id="115" name="Text 113"/>
          <p:cNvSpPr/>
          <p:nvPr/>
        </p:nvSpPr>
        <p:spPr>
          <a:xfrm>
            <a:off x="3974400" y="347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16" name="Shape 114"/>
          <p:cNvSpPr/>
          <p:nvPr/>
        </p:nvSpPr>
        <p:spPr>
          <a:xfrm>
            <a:off x="3780000" y="3747600"/>
            <a:ext cx="2952000" cy="0"/>
          </a:xfrm>
          <a:prstGeom prst="line">
            <a:avLst/>
          </a:prstGeom>
          <a:noFill/>
          <a:ln w="11430">
            <a:solidFill>
              <a:srgbClr val="67067C"/>
            </a:solidFill>
            <a:prstDash val="solid"/>
          </a:ln>
        </p:spPr>
      </p:sp>
      <p:sp>
        <p:nvSpPr>
          <p:cNvPr id="117" name="Text 115"/>
          <p:cNvSpPr/>
          <p:nvPr/>
        </p:nvSpPr>
        <p:spPr>
          <a:xfrm>
            <a:off x="3780000" y="379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118" name="Text 116"/>
          <p:cNvSpPr/>
          <p:nvPr/>
        </p:nvSpPr>
        <p:spPr>
          <a:xfrm>
            <a:off x="4086000" y="379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19" name="Text 117"/>
          <p:cNvSpPr/>
          <p:nvPr/>
        </p:nvSpPr>
        <p:spPr>
          <a:xfrm>
            <a:off x="6372000" y="379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20" name="Shape 118"/>
          <p:cNvSpPr/>
          <p:nvPr/>
        </p:nvSpPr>
        <p:spPr>
          <a:xfrm>
            <a:off x="3780000" y="3999600"/>
            <a:ext cx="2952000" cy="0"/>
          </a:xfrm>
          <a:prstGeom prst="line">
            <a:avLst/>
          </a:prstGeom>
          <a:noFill/>
          <a:ln w="3810">
            <a:solidFill>
              <a:srgbClr val="C9CFC9"/>
            </a:solidFill>
            <a:prstDash val="solid"/>
          </a:ln>
        </p:spPr>
      </p:sp>
      <p:sp>
        <p:nvSpPr>
          <p:cNvPr id="121" name="Shape 119"/>
          <p:cNvSpPr/>
          <p:nvPr/>
        </p:nvSpPr>
        <p:spPr>
          <a:xfrm>
            <a:off x="3780000" y="4230000"/>
            <a:ext cx="115200" cy="115200"/>
          </a:xfrm>
          <a:prstGeom prst="rect">
            <a:avLst/>
          </a:prstGeom>
          <a:solidFill>
            <a:srgbClr val="3C5B47"/>
          </a:solidFill>
          <a:ln w="7620">
            <a:solidFill>
              <a:srgbClr val="3C5B47"/>
            </a:solidFill>
            <a:prstDash val="solid"/>
          </a:ln>
        </p:spPr>
      </p:sp>
      <p:sp>
        <p:nvSpPr>
          <p:cNvPr id="122" name="Text 120"/>
          <p:cNvSpPr/>
          <p:nvPr/>
        </p:nvSpPr>
        <p:spPr>
          <a:xfrm>
            <a:off x="3974400" y="4150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23" name="Shape 121"/>
          <p:cNvSpPr/>
          <p:nvPr/>
        </p:nvSpPr>
        <p:spPr>
          <a:xfrm>
            <a:off x="3780000" y="4424400"/>
            <a:ext cx="2952000" cy="0"/>
          </a:xfrm>
          <a:prstGeom prst="line">
            <a:avLst/>
          </a:prstGeom>
          <a:noFill/>
          <a:ln w="11430">
            <a:solidFill>
              <a:srgbClr val="67067C"/>
            </a:solidFill>
            <a:prstDash val="solid"/>
          </a:ln>
        </p:spPr>
      </p:sp>
      <p:sp>
        <p:nvSpPr>
          <p:cNvPr id="124" name="Text 122"/>
          <p:cNvSpPr/>
          <p:nvPr/>
        </p:nvSpPr>
        <p:spPr>
          <a:xfrm>
            <a:off x="3780000" y="4474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25" name="Text 123"/>
          <p:cNvSpPr/>
          <p:nvPr/>
        </p:nvSpPr>
        <p:spPr>
          <a:xfrm>
            <a:off x="4086000" y="4474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26" name="Text 124"/>
          <p:cNvSpPr/>
          <p:nvPr/>
        </p:nvSpPr>
        <p:spPr>
          <a:xfrm>
            <a:off x="6372000" y="4474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39</a:t>
            </a:r>
            <a:endParaRPr lang="en-US" sz="900" dirty="0"/>
          </a:p>
        </p:txBody>
      </p:sp>
      <p:sp>
        <p:nvSpPr>
          <p:cNvPr id="127" name="Shape 125"/>
          <p:cNvSpPr/>
          <p:nvPr/>
        </p:nvSpPr>
        <p:spPr>
          <a:xfrm>
            <a:off x="3780000" y="4676400"/>
            <a:ext cx="2952000" cy="0"/>
          </a:xfrm>
          <a:prstGeom prst="line">
            <a:avLst/>
          </a:prstGeom>
          <a:noFill/>
          <a:ln w="3810">
            <a:solidFill>
              <a:srgbClr val="C9CFC9"/>
            </a:solidFill>
            <a:prstDash val="solid"/>
          </a:ln>
        </p:spPr>
      </p:sp>
      <p:sp>
        <p:nvSpPr>
          <p:cNvPr id="128" name="Text 126"/>
          <p:cNvSpPr/>
          <p:nvPr/>
        </p:nvSpPr>
        <p:spPr>
          <a:xfrm>
            <a:off x="3780000" y="467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129" name="Text 127"/>
          <p:cNvSpPr/>
          <p:nvPr/>
        </p:nvSpPr>
        <p:spPr>
          <a:xfrm>
            <a:off x="4086000" y="467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30" name="Text 128"/>
          <p:cNvSpPr/>
          <p:nvPr/>
        </p:nvSpPr>
        <p:spPr>
          <a:xfrm>
            <a:off x="6372000" y="467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31" name="Shape 129"/>
          <p:cNvSpPr/>
          <p:nvPr/>
        </p:nvSpPr>
        <p:spPr>
          <a:xfrm>
            <a:off x="3780000" y="4878000"/>
            <a:ext cx="2952000" cy="0"/>
          </a:xfrm>
          <a:prstGeom prst="line">
            <a:avLst/>
          </a:prstGeom>
          <a:noFill/>
          <a:ln w="3810">
            <a:solidFill>
              <a:srgbClr val="C9CFC9"/>
            </a:solidFill>
            <a:prstDash val="solid"/>
          </a:ln>
        </p:spPr>
      </p:sp>
      <p:sp>
        <p:nvSpPr>
          <p:cNvPr id="132" name="Text 130"/>
          <p:cNvSpPr/>
          <p:nvPr/>
        </p:nvSpPr>
        <p:spPr>
          <a:xfrm>
            <a:off x="3780000" y="48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33" name="Text 131"/>
          <p:cNvSpPr/>
          <p:nvPr/>
        </p:nvSpPr>
        <p:spPr>
          <a:xfrm>
            <a:off x="4086000" y="48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34" name="Text 132"/>
          <p:cNvSpPr/>
          <p:nvPr/>
        </p:nvSpPr>
        <p:spPr>
          <a:xfrm>
            <a:off x="6372000" y="48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35" name="Shape 133"/>
          <p:cNvSpPr/>
          <p:nvPr/>
        </p:nvSpPr>
        <p:spPr>
          <a:xfrm>
            <a:off x="3780000" y="5079600"/>
            <a:ext cx="2952000" cy="0"/>
          </a:xfrm>
          <a:prstGeom prst="line">
            <a:avLst/>
          </a:prstGeom>
          <a:noFill/>
          <a:ln w="3810">
            <a:solidFill>
              <a:srgbClr val="C9CFC9"/>
            </a:solidFill>
            <a:prstDash val="solid"/>
          </a:ln>
        </p:spPr>
      </p:sp>
      <p:sp>
        <p:nvSpPr>
          <p:cNvPr id="136" name="Shape 134"/>
          <p:cNvSpPr/>
          <p:nvPr/>
        </p:nvSpPr>
        <p:spPr>
          <a:xfrm>
            <a:off x="3780000" y="5310000"/>
            <a:ext cx="115200" cy="115200"/>
          </a:xfrm>
          <a:prstGeom prst="rect">
            <a:avLst/>
          </a:prstGeom>
          <a:solidFill>
            <a:srgbClr val="FBF8F1"/>
          </a:solidFill>
          <a:ln w="7620">
            <a:solidFill>
              <a:srgbClr val="46606E"/>
            </a:solidFill>
            <a:prstDash val="solid"/>
          </a:ln>
        </p:spPr>
      </p:sp>
      <p:sp>
        <p:nvSpPr>
          <p:cNvPr id="137" name="Text 135"/>
          <p:cNvSpPr/>
          <p:nvPr/>
        </p:nvSpPr>
        <p:spPr>
          <a:xfrm>
            <a:off x="3974400" y="5230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38" name="Shape 136"/>
          <p:cNvSpPr/>
          <p:nvPr/>
        </p:nvSpPr>
        <p:spPr>
          <a:xfrm>
            <a:off x="3780000" y="5504400"/>
            <a:ext cx="2952000" cy="0"/>
          </a:xfrm>
          <a:prstGeom prst="line">
            <a:avLst/>
          </a:prstGeom>
          <a:noFill/>
          <a:ln w="11430">
            <a:solidFill>
              <a:srgbClr val="67067C"/>
            </a:solidFill>
            <a:prstDash val="solid"/>
          </a:ln>
        </p:spPr>
      </p:sp>
      <p:sp>
        <p:nvSpPr>
          <p:cNvPr id="139" name="Text 137"/>
          <p:cNvSpPr/>
          <p:nvPr/>
        </p:nvSpPr>
        <p:spPr>
          <a:xfrm>
            <a:off x="3780000" y="5554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140" name="Text 138"/>
          <p:cNvSpPr/>
          <p:nvPr/>
        </p:nvSpPr>
        <p:spPr>
          <a:xfrm>
            <a:off x="4086000" y="5554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41" name="Text 139"/>
          <p:cNvSpPr/>
          <p:nvPr/>
        </p:nvSpPr>
        <p:spPr>
          <a:xfrm>
            <a:off x="6372000" y="5554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42" name="Shape 140"/>
          <p:cNvSpPr/>
          <p:nvPr/>
        </p:nvSpPr>
        <p:spPr>
          <a:xfrm>
            <a:off x="3780000" y="5756400"/>
            <a:ext cx="2952000" cy="0"/>
          </a:xfrm>
          <a:prstGeom prst="line">
            <a:avLst/>
          </a:prstGeom>
          <a:noFill/>
          <a:ln w="3810">
            <a:solidFill>
              <a:srgbClr val="C9CFC9"/>
            </a:solidFill>
            <a:prstDash val="solid"/>
          </a:ln>
        </p:spPr>
      </p:sp>
      <p:sp>
        <p:nvSpPr>
          <p:cNvPr id="143" name="Text 141"/>
          <p:cNvSpPr/>
          <p:nvPr/>
        </p:nvSpPr>
        <p:spPr>
          <a:xfrm>
            <a:off x="3780000" y="575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44" name="Text 142"/>
          <p:cNvSpPr/>
          <p:nvPr/>
        </p:nvSpPr>
        <p:spPr>
          <a:xfrm>
            <a:off x="4086000" y="575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45" name="Text 143"/>
          <p:cNvSpPr/>
          <p:nvPr/>
        </p:nvSpPr>
        <p:spPr>
          <a:xfrm>
            <a:off x="6372000" y="575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46" name="Shape 144"/>
          <p:cNvSpPr/>
          <p:nvPr/>
        </p:nvSpPr>
        <p:spPr>
          <a:xfrm>
            <a:off x="3780000" y="5958000"/>
            <a:ext cx="2952000" cy="0"/>
          </a:xfrm>
          <a:prstGeom prst="line">
            <a:avLst/>
          </a:prstGeom>
          <a:noFill/>
          <a:ln w="3810">
            <a:solidFill>
              <a:srgbClr val="C9CFC9"/>
            </a:solidFill>
            <a:prstDash val="solid"/>
          </a:ln>
        </p:spPr>
      </p:sp>
      <p:sp>
        <p:nvSpPr>
          <p:cNvPr id="147" name="Text 145"/>
          <p:cNvSpPr/>
          <p:nvPr/>
        </p:nvSpPr>
        <p:spPr>
          <a:xfrm>
            <a:off x="3780000" y="595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48" name="Text 146"/>
          <p:cNvSpPr/>
          <p:nvPr/>
        </p:nvSpPr>
        <p:spPr>
          <a:xfrm>
            <a:off x="4086000" y="595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49" name="Text 147"/>
          <p:cNvSpPr/>
          <p:nvPr/>
        </p:nvSpPr>
        <p:spPr>
          <a:xfrm>
            <a:off x="6372000" y="595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50" name="Shape 148"/>
          <p:cNvSpPr/>
          <p:nvPr/>
        </p:nvSpPr>
        <p:spPr>
          <a:xfrm>
            <a:off x="3780000" y="6159600"/>
            <a:ext cx="2952000" cy="0"/>
          </a:xfrm>
          <a:prstGeom prst="line">
            <a:avLst/>
          </a:prstGeom>
          <a:noFill/>
          <a:ln w="3810">
            <a:solidFill>
              <a:srgbClr val="C9CFC9"/>
            </a:solidFill>
            <a:prstDash val="solid"/>
          </a:ln>
        </p:spPr>
      </p:sp>
      <p:sp>
        <p:nvSpPr>
          <p:cNvPr id="151" name="Text 149"/>
          <p:cNvSpPr/>
          <p:nvPr/>
        </p:nvSpPr>
        <p:spPr>
          <a:xfrm>
            <a:off x="3780000" y="615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152" name="Text 150"/>
          <p:cNvSpPr/>
          <p:nvPr/>
        </p:nvSpPr>
        <p:spPr>
          <a:xfrm>
            <a:off x="4086000" y="615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53" name="Text 151"/>
          <p:cNvSpPr/>
          <p:nvPr/>
        </p:nvSpPr>
        <p:spPr>
          <a:xfrm>
            <a:off x="6372000" y="615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54" name="Shape 152"/>
          <p:cNvSpPr/>
          <p:nvPr/>
        </p:nvSpPr>
        <p:spPr>
          <a:xfrm>
            <a:off x="3780000" y="6361200"/>
            <a:ext cx="2952000" cy="0"/>
          </a:xfrm>
          <a:prstGeom prst="line">
            <a:avLst/>
          </a:prstGeom>
          <a:noFill/>
          <a:ln w="3810">
            <a:solidFill>
              <a:srgbClr val="C9CFC9"/>
            </a:solidFill>
            <a:prstDash val="solid"/>
          </a:ln>
        </p:spPr>
      </p:sp>
      <p:sp>
        <p:nvSpPr>
          <p:cNvPr id="155" name="Shape 153"/>
          <p:cNvSpPr/>
          <p:nvPr/>
        </p:nvSpPr>
        <p:spPr>
          <a:xfrm>
            <a:off x="612000" y="8280000"/>
            <a:ext cx="6120000" cy="0"/>
          </a:xfrm>
          <a:prstGeom prst="line">
            <a:avLst/>
          </a:prstGeom>
          <a:noFill/>
          <a:ln w="10160">
            <a:solidFill>
              <a:srgbClr val="67067C"/>
            </a:solidFill>
            <a:prstDash val="solid"/>
          </a:ln>
        </p:spPr>
      </p:sp>
      <p:sp>
        <p:nvSpPr>
          <p:cNvPr id="156" name="Text 154"/>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57" name="Text 155"/>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58" name="Image 0" descr="/home/user/philippe1/build/deco-salon-prive-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159" name="Text 156"/>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60" name="Image 1" descr="/home/user/philippe1/build/deco-salon-prive-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161" name="Text 157"/>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162" name="Image 2" descr="/home/user/philippe1/build/deco-salon-prive-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163" name="Text 158"/>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164" name="Image 3" descr="/home/user/philippe1/build/deco-salon-prive-2026/label-biobiodyn.png">    </p:cNvPr>
          <p:cNvPicPr>
            <a:picLocks noChangeAspect="1"/>
          </p:cNvPicPr>
          <p:nvPr/>
        </p:nvPicPr>
        <p:blipFill>
          <a:blip r:embed="rId4"/>
          <a:stretch>
            <a:fillRect/>
          </a:stretch>
        </p:blipFill>
        <p:spPr>
          <a:xfrm>
            <a:off x="3396791" y="8559000"/>
            <a:ext cx="108000" cy="108000"/>
          </a:xfrm>
          <a:prstGeom prst="rect">
            <a:avLst/>
          </a:prstGeom>
        </p:spPr>
      </p:pic>
      <p:sp>
        <p:nvSpPr>
          <p:cNvPr id="165" name="Text 159"/>
          <p:cNvSpPr/>
          <p:nvPr/>
        </p:nvSpPr>
        <p:spPr>
          <a:xfrm>
            <a:off x="3544391" y="8532000"/>
            <a:ext cx="800671"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 &amp; Biodynamie</a:t>
            </a:r>
            <a:endParaRPr lang="en-US" sz="740" dirty="0"/>
          </a:p>
        </p:txBody>
      </p:sp>
      <p:pic>
        <p:nvPicPr>
          <p:cNvPr id="166" name="Image 4" descr="/home/user/philippe1/build/deco-salon-prive-2026/label-hve.png">    </p:cNvPr>
          <p:cNvPicPr>
            <a:picLocks noChangeAspect="1"/>
          </p:cNvPicPr>
          <p:nvPr/>
        </p:nvPicPr>
        <p:blipFill>
          <a:blip r:embed="rId5"/>
          <a:stretch>
            <a:fillRect/>
          </a:stretch>
        </p:blipFill>
        <p:spPr>
          <a:xfrm>
            <a:off x="4453062" y="8559000"/>
            <a:ext cx="108000" cy="108000"/>
          </a:xfrm>
          <a:prstGeom prst="rect">
            <a:avLst/>
          </a:prstGeom>
        </p:spPr>
      </p:pic>
      <p:sp>
        <p:nvSpPr>
          <p:cNvPr id="167" name="Text 160"/>
          <p:cNvSpPr/>
          <p:nvPr/>
        </p:nvSpPr>
        <p:spPr>
          <a:xfrm>
            <a:off x="4600662"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168" name="Image 5" descr="/home/user/philippe1/build/deco-salon-prive-2026/label-hve.png">    </p:cNvPr>
          <p:cNvPicPr>
            <a:picLocks noChangeAspect="1"/>
          </p:cNvPicPr>
          <p:nvPr/>
        </p:nvPicPr>
        <p:blipFill>
          <a:blip r:embed="rId6"/>
          <a:stretch>
            <a:fillRect/>
          </a:stretch>
        </p:blipFill>
        <p:spPr>
          <a:xfrm>
            <a:off x="4941130" y="8559000"/>
            <a:ext cx="108000" cy="108000"/>
          </a:xfrm>
          <a:prstGeom prst="rect">
            <a:avLst/>
          </a:prstGeom>
        </p:spPr>
      </p:pic>
      <p:sp>
        <p:nvSpPr>
          <p:cNvPr id="169" name="Text 161"/>
          <p:cNvSpPr/>
          <p:nvPr/>
        </p:nvSpPr>
        <p:spPr>
          <a:xfrm>
            <a:off x="5088730"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170" name="Image 6" descr="/home/user/philippe1/build/deco-salon-prive-2026/label-raisonnee.png">    </p:cNvPr>
          <p:cNvPicPr>
            <a:picLocks noChangeAspect="1"/>
          </p:cNvPicPr>
          <p:nvPr/>
        </p:nvPicPr>
        <p:blipFill>
          <a:blip r:embed="rId7"/>
          <a:stretch>
            <a:fillRect/>
          </a:stretch>
        </p:blipFill>
        <p:spPr>
          <a:xfrm>
            <a:off x="5507765" y="8559000"/>
            <a:ext cx="108000" cy="108000"/>
          </a:xfrm>
          <a:prstGeom prst="rect">
            <a:avLst/>
          </a:prstGeom>
        </p:spPr>
      </p:pic>
      <p:sp>
        <p:nvSpPr>
          <p:cNvPr id="171" name="Text 162"/>
          <p:cNvSpPr/>
          <p:nvPr/>
        </p:nvSpPr>
        <p:spPr>
          <a:xfrm>
            <a:off x="5655365"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172" name="Image 7" descr="/home/user/philippe1/build/deco-salon-prive-2026/label-iso.png">    </p:cNvPr>
          <p:cNvPicPr>
            <a:picLocks noChangeAspect="1"/>
          </p:cNvPicPr>
          <p:nvPr/>
        </p:nvPicPr>
        <p:blipFill>
          <a:blip r:embed="rId8"/>
          <a:stretch>
            <a:fillRect/>
          </a:stretch>
        </p:blipFill>
        <p:spPr>
          <a:xfrm>
            <a:off x="6722580" y="8559000"/>
            <a:ext cx="108000" cy="108000"/>
          </a:xfrm>
          <a:prstGeom prst="rect">
            <a:avLst/>
          </a:prstGeom>
        </p:spPr>
      </p:pic>
      <p:sp>
        <p:nvSpPr>
          <p:cNvPr id="173" name="Text 163"/>
          <p:cNvSpPr/>
          <p:nvPr/>
        </p:nvSpPr>
        <p:spPr>
          <a:xfrm>
            <a:off x="6870180"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174" name="Text 164"/>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175" name="Text 16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176" name="Text 16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 plan des exposants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CHÂTEAU DE LA RAIRIE, PONT-SAINT-MARTIN</a:t>
            </a:r>
            <a:endParaRPr lang="en-US" sz="800" dirty="0"/>
          </a:p>
        </p:txBody>
      </p:sp>
      <p:pic>
        <p:nvPicPr>
          <p:cNvPr id="4" name="Image 0" descr="/home/user/philippe1/build/deco-salon-prive-2026/plan-salles.png">    </p:cNvPr>
          <p:cNvPicPr>
            <a:picLocks noChangeAspect="1"/>
          </p:cNvPicPr>
          <p:nvPr/>
        </p:nvPicPr>
        <p:blipFill>
          <a:blip r:embed="rId1"/>
          <a:stretch>
            <a:fillRect/>
          </a:stretch>
        </p:blipFill>
        <p:spPr>
          <a:xfrm>
            <a:off x="828000" y="1296000"/>
            <a:ext cx="6120000" cy="2887258"/>
          </a:xfrm>
          <a:prstGeom prst="rect">
            <a:avLst/>
          </a:prstGeom>
        </p:spPr>
      </p:pic>
      <p:sp>
        <p:nvSpPr>
          <p:cNvPr id="5" name="Shape 2"/>
          <p:cNvSpPr/>
          <p:nvPr/>
        </p:nvSpPr>
        <p:spPr>
          <a:xfrm>
            <a:off x="6371187" y="3759445"/>
            <a:ext cx="176400" cy="176400"/>
          </a:xfrm>
          <a:prstGeom prst="ellipse">
            <a:avLst/>
          </a:prstGeom>
          <a:solidFill>
            <a:srgbClr val="A8515F"/>
          </a:solidFill>
          <a:ln w="7620">
            <a:solidFill>
              <a:srgbClr val="A8515F"/>
            </a:solidFill>
            <a:prstDash val="solid"/>
          </a:ln>
        </p:spPr>
      </p:sp>
      <p:sp>
        <p:nvSpPr>
          <p:cNvPr id="6" name="Text 3"/>
          <p:cNvSpPr/>
          <p:nvPr/>
        </p:nvSpPr>
        <p:spPr>
          <a:xfrm>
            <a:off x="6371187"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1</a:t>
            </a:r>
            <a:endParaRPr lang="en-US" sz="740" dirty="0"/>
          </a:p>
        </p:txBody>
      </p:sp>
      <p:sp>
        <p:nvSpPr>
          <p:cNvPr id="7" name="Shape 4"/>
          <p:cNvSpPr/>
          <p:nvPr/>
        </p:nvSpPr>
        <p:spPr>
          <a:xfrm>
            <a:off x="6114832" y="3759445"/>
            <a:ext cx="176400" cy="176400"/>
          </a:xfrm>
          <a:prstGeom prst="ellipse">
            <a:avLst/>
          </a:prstGeom>
          <a:solidFill>
            <a:srgbClr val="FBF8F1"/>
          </a:solidFill>
          <a:ln w="7620">
            <a:solidFill>
              <a:srgbClr val="46606E"/>
            </a:solidFill>
            <a:prstDash val="solid"/>
          </a:ln>
        </p:spPr>
      </p:sp>
      <p:sp>
        <p:nvSpPr>
          <p:cNvPr id="8" name="Text 5"/>
          <p:cNvSpPr/>
          <p:nvPr/>
        </p:nvSpPr>
        <p:spPr>
          <a:xfrm>
            <a:off x="6114832" y="3759445"/>
            <a:ext cx="176400" cy="176400"/>
          </a:xfrm>
          <a:prstGeom prst="rect">
            <a:avLst/>
          </a:prstGeom>
          <a:noFill/>
          <a:ln/>
        </p:spPr>
        <p:txBody>
          <a:bodyPr wrap="square" lIns="0" tIns="0" rIns="0" bIns="0" rtlCol="0" anchor="ctr"/>
          <a:lstStyle/>
          <a:p>
            <a:pPr algn="ctr" indent="0" marL="0">
              <a:buNone/>
            </a:pPr>
            <a:r>
              <a:rPr lang="en-US" sz="740" b="1" dirty="0">
                <a:solidFill>
                  <a:srgbClr val="46606E"/>
                </a:solidFill>
                <a:latin typeface="IBM Plex Sans" pitchFamily="34" charset="0"/>
                <a:ea typeface="IBM Plex Sans" pitchFamily="34" charset="-122"/>
                <a:cs typeface="IBM Plex Sans" pitchFamily="34" charset="-120"/>
              </a:rPr>
              <a:t>2</a:t>
            </a:r>
            <a:endParaRPr lang="en-US" sz="740" dirty="0"/>
          </a:p>
        </p:txBody>
      </p:sp>
      <p:sp>
        <p:nvSpPr>
          <p:cNvPr id="9" name="Shape 6"/>
          <p:cNvSpPr/>
          <p:nvPr/>
        </p:nvSpPr>
        <p:spPr>
          <a:xfrm>
            <a:off x="5916832" y="3759445"/>
            <a:ext cx="176400" cy="176400"/>
          </a:xfrm>
          <a:prstGeom prst="ellipse">
            <a:avLst/>
          </a:prstGeom>
          <a:solidFill>
            <a:srgbClr val="3C5B47"/>
          </a:solidFill>
          <a:ln w="7620">
            <a:solidFill>
              <a:srgbClr val="3C5B47"/>
            </a:solidFill>
            <a:prstDash val="solid"/>
          </a:ln>
        </p:spPr>
      </p:sp>
      <p:sp>
        <p:nvSpPr>
          <p:cNvPr id="10" name="Text 7"/>
          <p:cNvSpPr/>
          <p:nvPr/>
        </p:nvSpPr>
        <p:spPr>
          <a:xfrm>
            <a:off x="5916832"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3</a:t>
            </a:r>
            <a:endParaRPr lang="en-US" sz="740" dirty="0"/>
          </a:p>
        </p:txBody>
      </p:sp>
      <p:sp>
        <p:nvSpPr>
          <p:cNvPr id="11" name="Shape 8"/>
          <p:cNvSpPr/>
          <p:nvPr/>
        </p:nvSpPr>
        <p:spPr>
          <a:xfrm>
            <a:off x="5705187" y="3759445"/>
            <a:ext cx="176400" cy="176400"/>
          </a:xfrm>
          <a:prstGeom prst="ellipse">
            <a:avLst/>
          </a:prstGeom>
          <a:solidFill>
            <a:srgbClr val="46606E"/>
          </a:solidFill>
          <a:ln w="7620">
            <a:solidFill>
              <a:srgbClr val="46606E"/>
            </a:solidFill>
            <a:prstDash val="solid"/>
          </a:ln>
        </p:spPr>
      </p:sp>
      <p:sp>
        <p:nvSpPr>
          <p:cNvPr id="12" name="Text 9"/>
          <p:cNvSpPr/>
          <p:nvPr/>
        </p:nvSpPr>
        <p:spPr>
          <a:xfrm>
            <a:off x="5705187"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4</a:t>
            </a:r>
            <a:endParaRPr lang="en-US" sz="740" dirty="0"/>
          </a:p>
        </p:txBody>
      </p:sp>
      <p:sp>
        <p:nvSpPr>
          <p:cNvPr id="13" name="Shape 10"/>
          <p:cNvSpPr/>
          <p:nvPr/>
        </p:nvSpPr>
        <p:spPr>
          <a:xfrm>
            <a:off x="5507187" y="3759445"/>
            <a:ext cx="176400" cy="176400"/>
          </a:xfrm>
          <a:prstGeom prst="ellipse">
            <a:avLst/>
          </a:prstGeom>
          <a:solidFill>
            <a:srgbClr val="D08C3C"/>
          </a:solidFill>
          <a:ln w="7620">
            <a:solidFill>
              <a:srgbClr val="D08C3C"/>
            </a:solidFill>
            <a:prstDash val="solid"/>
          </a:ln>
        </p:spPr>
      </p:sp>
      <p:sp>
        <p:nvSpPr>
          <p:cNvPr id="14" name="Text 11"/>
          <p:cNvSpPr/>
          <p:nvPr/>
        </p:nvSpPr>
        <p:spPr>
          <a:xfrm>
            <a:off x="5507187"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5</a:t>
            </a:r>
            <a:endParaRPr lang="en-US" sz="740" dirty="0"/>
          </a:p>
        </p:txBody>
      </p:sp>
      <p:sp>
        <p:nvSpPr>
          <p:cNvPr id="15" name="Shape 12"/>
          <p:cNvSpPr/>
          <p:nvPr/>
        </p:nvSpPr>
        <p:spPr>
          <a:xfrm>
            <a:off x="5196542" y="3759445"/>
            <a:ext cx="176400" cy="176400"/>
          </a:xfrm>
          <a:prstGeom prst="ellipse">
            <a:avLst/>
          </a:prstGeom>
          <a:solidFill>
            <a:srgbClr val="D08C3C"/>
          </a:solidFill>
          <a:ln w="7620">
            <a:solidFill>
              <a:srgbClr val="D08C3C"/>
            </a:solidFill>
            <a:prstDash val="solid"/>
          </a:ln>
        </p:spPr>
      </p:sp>
      <p:sp>
        <p:nvSpPr>
          <p:cNvPr id="16" name="Text 13"/>
          <p:cNvSpPr/>
          <p:nvPr/>
        </p:nvSpPr>
        <p:spPr>
          <a:xfrm>
            <a:off x="5196542"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6</a:t>
            </a:r>
            <a:endParaRPr lang="en-US" sz="740" dirty="0"/>
          </a:p>
        </p:txBody>
      </p:sp>
      <p:sp>
        <p:nvSpPr>
          <p:cNvPr id="17" name="Shape 14"/>
          <p:cNvSpPr/>
          <p:nvPr/>
        </p:nvSpPr>
        <p:spPr>
          <a:xfrm>
            <a:off x="4061381" y="3759445"/>
            <a:ext cx="176400" cy="176400"/>
          </a:xfrm>
          <a:prstGeom prst="ellipse">
            <a:avLst/>
          </a:prstGeom>
          <a:solidFill>
            <a:srgbClr val="3C5B47"/>
          </a:solidFill>
          <a:ln w="7620">
            <a:solidFill>
              <a:srgbClr val="3C5B47"/>
            </a:solidFill>
            <a:prstDash val="solid"/>
          </a:ln>
        </p:spPr>
      </p:sp>
      <p:sp>
        <p:nvSpPr>
          <p:cNvPr id="18" name="Text 15"/>
          <p:cNvSpPr/>
          <p:nvPr/>
        </p:nvSpPr>
        <p:spPr>
          <a:xfrm>
            <a:off x="4061381"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7</a:t>
            </a:r>
            <a:endParaRPr lang="en-US" sz="740" dirty="0"/>
          </a:p>
        </p:txBody>
      </p:sp>
      <p:sp>
        <p:nvSpPr>
          <p:cNvPr id="19" name="Shape 16"/>
          <p:cNvSpPr/>
          <p:nvPr/>
        </p:nvSpPr>
        <p:spPr>
          <a:xfrm>
            <a:off x="3693977" y="3759445"/>
            <a:ext cx="176400" cy="176400"/>
          </a:xfrm>
          <a:prstGeom prst="ellipse">
            <a:avLst/>
          </a:prstGeom>
          <a:solidFill>
            <a:srgbClr val="A8515F"/>
          </a:solidFill>
          <a:ln w="7620">
            <a:solidFill>
              <a:srgbClr val="A8515F"/>
            </a:solidFill>
            <a:prstDash val="solid"/>
          </a:ln>
        </p:spPr>
      </p:sp>
      <p:sp>
        <p:nvSpPr>
          <p:cNvPr id="20" name="Text 17"/>
          <p:cNvSpPr/>
          <p:nvPr/>
        </p:nvSpPr>
        <p:spPr>
          <a:xfrm>
            <a:off x="3693977"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8</a:t>
            </a:r>
            <a:endParaRPr lang="en-US" sz="740" dirty="0"/>
          </a:p>
        </p:txBody>
      </p:sp>
      <p:sp>
        <p:nvSpPr>
          <p:cNvPr id="21" name="Shape 18"/>
          <p:cNvSpPr/>
          <p:nvPr/>
        </p:nvSpPr>
        <p:spPr>
          <a:xfrm>
            <a:off x="3495977" y="3759445"/>
            <a:ext cx="176400" cy="176400"/>
          </a:xfrm>
          <a:prstGeom prst="ellipse">
            <a:avLst/>
          </a:prstGeom>
          <a:solidFill>
            <a:srgbClr val="3C5B47"/>
          </a:solidFill>
          <a:ln w="7620">
            <a:solidFill>
              <a:srgbClr val="3C5B47"/>
            </a:solidFill>
            <a:prstDash val="solid"/>
          </a:ln>
        </p:spPr>
      </p:sp>
      <p:sp>
        <p:nvSpPr>
          <p:cNvPr id="22" name="Text 19"/>
          <p:cNvSpPr/>
          <p:nvPr/>
        </p:nvSpPr>
        <p:spPr>
          <a:xfrm>
            <a:off x="3495977"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9</a:t>
            </a:r>
            <a:endParaRPr lang="en-US" sz="740" dirty="0"/>
          </a:p>
        </p:txBody>
      </p:sp>
      <p:sp>
        <p:nvSpPr>
          <p:cNvPr id="23" name="Shape 20"/>
          <p:cNvSpPr/>
          <p:nvPr/>
        </p:nvSpPr>
        <p:spPr>
          <a:xfrm>
            <a:off x="3168058" y="3759445"/>
            <a:ext cx="176400" cy="176400"/>
          </a:xfrm>
          <a:prstGeom prst="ellipse">
            <a:avLst/>
          </a:prstGeom>
          <a:solidFill>
            <a:srgbClr val="46606E"/>
          </a:solidFill>
          <a:ln w="7620">
            <a:solidFill>
              <a:srgbClr val="46606E"/>
            </a:solidFill>
            <a:prstDash val="solid"/>
          </a:ln>
        </p:spPr>
      </p:sp>
      <p:sp>
        <p:nvSpPr>
          <p:cNvPr id="24" name="Text 21"/>
          <p:cNvSpPr/>
          <p:nvPr/>
        </p:nvSpPr>
        <p:spPr>
          <a:xfrm>
            <a:off x="3168058"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10</a:t>
            </a:r>
            <a:endParaRPr lang="en-US" sz="740" dirty="0"/>
          </a:p>
        </p:txBody>
      </p:sp>
      <p:sp>
        <p:nvSpPr>
          <p:cNvPr id="25" name="Shape 22"/>
          <p:cNvSpPr/>
          <p:nvPr/>
        </p:nvSpPr>
        <p:spPr>
          <a:xfrm>
            <a:off x="2802832" y="3759445"/>
            <a:ext cx="176400" cy="176400"/>
          </a:xfrm>
          <a:prstGeom prst="ellipse">
            <a:avLst/>
          </a:prstGeom>
          <a:solidFill>
            <a:srgbClr val="FBF8F1"/>
          </a:solidFill>
          <a:ln w="7620">
            <a:solidFill>
              <a:srgbClr val="46606E"/>
            </a:solidFill>
            <a:prstDash val="solid"/>
          </a:ln>
        </p:spPr>
      </p:sp>
      <p:sp>
        <p:nvSpPr>
          <p:cNvPr id="26" name="Text 23"/>
          <p:cNvSpPr/>
          <p:nvPr/>
        </p:nvSpPr>
        <p:spPr>
          <a:xfrm>
            <a:off x="2802832" y="3759445"/>
            <a:ext cx="176400" cy="176400"/>
          </a:xfrm>
          <a:prstGeom prst="rect">
            <a:avLst/>
          </a:prstGeom>
          <a:noFill/>
          <a:ln/>
        </p:spPr>
        <p:txBody>
          <a:bodyPr wrap="square" lIns="0" tIns="0" rIns="0" bIns="0" rtlCol="0" anchor="ctr"/>
          <a:lstStyle/>
          <a:p>
            <a:pPr algn="ctr" indent="0" marL="0">
              <a:buNone/>
            </a:pPr>
            <a:r>
              <a:rPr lang="en-US" sz="740" b="1" dirty="0">
                <a:solidFill>
                  <a:srgbClr val="46606E"/>
                </a:solidFill>
                <a:latin typeface="IBM Plex Sans" pitchFamily="34" charset="0"/>
                <a:ea typeface="IBM Plex Sans" pitchFamily="34" charset="-122"/>
                <a:cs typeface="IBM Plex Sans" pitchFamily="34" charset="-120"/>
              </a:rPr>
              <a:t>11</a:t>
            </a:r>
            <a:endParaRPr lang="en-US" sz="740" dirty="0"/>
          </a:p>
        </p:txBody>
      </p:sp>
      <p:sp>
        <p:nvSpPr>
          <p:cNvPr id="27" name="Shape 24"/>
          <p:cNvSpPr/>
          <p:nvPr/>
        </p:nvSpPr>
        <p:spPr>
          <a:xfrm>
            <a:off x="2383316" y="3759445"/>
            <a:ext cx="176400" cy="176400"/>
          </a:xfrm>
          <a:prstGeom prst="ellipse">
            <a:avLst/>
          </a:prstGeom>
          <a:solidFill>
            <a:srgbClr val="3C5B47"/>
          </a:solidFill>
          <a:ln w="7620">
            <a:solidFill>
              <a:srgbClr val="3C5B47"/>
            </a:solidFill>
            <a:prstDash val="solid"/>
          </a:ln>
        </p:spPr>
      </p:sp>
      <p:sp>
        <p:nvSpPr>
          <p:cNvPr id="28" name="Text 25"/>
          <p:cNvSpPr/>
          <p:nvPr/>
        </p:nvSpPr>
        <p:spPr>
          <a:xfrm>
            <a:off x="2383316"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12</a:t>
            </a:r>
            <a:endParaRPr lang="en-US" sz="740" dirty="0"/>
          </a:p>
        </p:txBody>
      </p:sp>
      <p:sp>
        <p:nvSpPr>
          <p:cNvPr id="29" name="Shape 26"/>
          <p:cNvSpPr/>
          <p:nvPr/>
        </p:nvSpPr>
        <p:spPr>
          <a:xfrm>
            <a:off x="2015913" y="3759445"/>
            <a:ext cx="176400" cy="176400"/>
          </a:xfrm>
          <a:prstGeom prst="ellipse">
            <a:avLst/>
          </a:prstGeom>
          <a:solidFill>
            <a:srgbClr val="3C5B47"/>
          </a:solidFill>
          <a:ln w="7620">
            <a:solidFill>
              <a:srgbClr val="3C5B47"/>
            </a:solidFill>
            <a:prstDash val="solid"/>
          </a:ln>
        </p:spPr>
      </p:sp>
      <p:sp>
        <p:nvSpPr>
          <p:cNvPr id="30" name="Text 27"/>
          <p:cNvSpPr/>
          <p:nvPr/>
        </p:nvSpPr>
        <p:spPr>
          <a:xfrm>
            <a:off x="2015913"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13</a:t>
            </a:r>
            <a:endParaRPr lang="en-US" sz="740" dirty="0"/>
          </a:p>
        </p:txBody>
      </p:sp>
      <p:sp>
        <p:nvSpPr>
          <p:cNvPr id="31" name="Shape 28"/>
          <p:cNvSpPr/>
          <p:nvPr/>
        </p:nvSpPr>
        <p:spPr>
          <a:xfrm>
            <a:off x="1817913" y="3759445"/>
            <a:ext cx="176400" cy="176400"/>
          </a:xfrm>
          <a:prstGeom prst="ellipse">
            <a:avLst/>
          </a:prstGeom>
          <a:solidFill>
            <a:srgbClr val="46606E"/>
          </a:solidFill>
          <a:ln w="7620">
            <a:solidFill>
              <a:srgbClr val="46606E"/>
            </a:solidFill>
            <a:prstDash val="solid"/>
          </a:ln>
        </p:spPr>
      </p:sp>
      <p:sp>
        <p:nvSpPr>
          <p:cNvPr id="32" name="Text 29"/>
          <p:cNvSpPr/>
          <p:nvPr/>
        </p:nvSpPr>
        <p:spPr>
          <a:xfrm>
            <a:off x="1817913"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14</a:t>
            </a:r>
            <a:endParaRPr lang="en-US" sz="740" dirty="0"/>
          </a:p>
        </p:txBody>
      </p:sp>
      <p:sp>
        <p:nvSpPr>
          <p:cNvPr id="33" name="Shape 30"/>
          <p:cNvSpPr/>
          <p:nvPr/>
        </p:nvSpPr>
        <p:spPr>
          <a:xfrm>
            <a:off x="1494929" y="3759445"/>
            <a:ext cx="176400" cy="176400"/>
          </a:xfrm>
          <a:prstGeom prst="ellipse">
            <a:avLst/>
          </a:prstGeom>
          <a:solidFill>
            <a:srgbClr val="FBF8F1"/>
          </a:solidFill>
          <a:ln w="7620">
            <a:solidFill>
              <a:srgbClr val="46606E"/>
            </a:solidFill>
            <a:prstDash val="solid"/>
          </a:ln>
        </p:spPr>
      </p:sp>
      <p:sp>
        <p:nvSpPr>
          <p:cNvPr id="34" name="Text 31"/>
          <p:cNvSpPr/>
          <p:nvPr/>
        </p:nvSpPr>
        <p:spPr>
          <a:xfrm>
            <a:off x="1494929" y="3759445"/>
            <a:ext cx="176400" cy="176400"/>
          </a:xfrm>
          <a:prstGeom prst="rect">
            <a:avLst/>
          </a:prstGeom>
          <a:noFill/>
          <a:ln/>
        </p:spPr>
        <p:txBody>
          <a:bodyPr wrap="square" lIns="0" tIns="0" rIns="0" bIns="0" rtlCol="0" anchor="ctr"/>
          <a:lstStyle/>
          <a:p>
            <a:pPr algn="ctr" indent="0" marL="0">
              <a:buNone/>
            </a:pPr>
            <a:r>
              <a:rPr lang="en-US" sz="740" b="1" dirty="0">
                <a:solidFill>
                  <a:srgbClr val="46606E"/>
                </a:solidFill>
                <a:latin typeface="IBM Plex Sans" pitchFamily="34" charset="0"/>
                <a:ea typeface="IBM Plex Sans" pitchFamily="34" charset="-122"/>
                <a:cs typeface="IBM Plex Sans" pitchFamily="34" charset="-120"/>
              </a:rPr>
              <a:t>15</a:t>
            </a:r>
            <a:endParaRPr lang="en-US" sz="740" dirty="0"/>
          </a:p>
        </p:txBody>
      </p:sp>
      <p:sp>
        <p:nvSpPr>
          <p:cNvPr id="35" name="Shape 32"/>
          <p:cNvSpPr/>
          <p:nvPr/>
        </p:nvSpPr>
        <p:spPr>
          <a:xfrm>
            <a:off x="1134639" y="3759445"/>
            <a:ext cx="176400" cy="176400"/>
          </a:xfrm>
          <a:prstGeom prst="ellipse">
            <a:avLst/>
          </a:prstGeom>
          <a:solidFill>
            <a:srgbClr val="A8515F"/>
          </a:solidFill>
          <a:ln w="7620">
            <a:solidFill>
              <a:srgbClr val="A8515F"/>
            </a:solidFill>
            <a:prstDash val="solid"/>
          </a:ln>
        </p:spPr>
      </p:sp>
      <p:sp>
        <p:nvSpPr>
          <p:cNvPr id="36" name="Text 33"/>
          <p:cNvSpPr/>
          <p:nvPr/>
        </p:nvSpPr>
        <p:spPr>
          <a:xfrm>
            <a:off x="1134639" y="3759445"/>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16</a:t>
            </a:r>
            <a:endParaRPr lang="en-US" sz="740" dirty="0"/>
          </a:p>
        </p:txBody>
      </p:sp>
      <p:sp>
        <p:nvSpPr>
          <p:cNvPr id="37" name="Shape 34"/>
          <p:cNvSpPr/>
          <p:nvPr/>
        </p:nvSpPr>
        <p:spPr>
          <a:xfrm>
            <a:off x="1134639" y="3167187"/>
            <a:ext cx="176400" cy="176400"/>
          </a:xfrm>
          <a:prstGeom prst="ellipse">
            <a:avLst/>
          </a:prstGeom>
          <a:solidFill>
            <a:srgbClr val="46606E"/>
          </a:solidFill>
          <a:ln w="7620">
            <a:solidFill>
              <a:srgbClr val="46606E"/>
            </a:solidFill>
            <a:prstDash val="solid"/>
          </a:ln>
        </p:spPr>
      </p:sp>
      <p:sp>
        <p:nvSpPr>
          <p:cNvPr id="38" name="Text 35"/>
          <p:cNvSpPr/>
          <p:nvPr/>
        </p:nvSpPr>
        <p:spPr>
          <a:xfrm>
            <a:off x="1134639" y="3167187"/>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17</a:t>
            </a:r>
            <a:endParaRPr lang="en-US" sz="740" dirty="0"/>
          </a:p>
        </p:txBody>
      </p:sp>
      <p:sp>
        <p:nvSpPr>
          <p:cNvPr id="39" name="Shape 36"/>
          <p:cNvSpPr/>
          <p:nvPr/>
        </p:nvSpPr>
        <p:spPr>
          <a:xfrm>
            <a:off x="1494929" y="3167187"/>
            <a:ext cx="176400" cy="176400"/>
          </a:xfrm>
          <a:prstGeom prst="ellipse">
            <a:avLst/>
          </a:prstGeom>
          <a:solidFill>
            <a:srgbClr val="D08C3C"/>
          </a:solidFill>
          <a:ln w="7620">
            <a:solidFill>
              <a:srgbClr val="D08C3C"/>
            </a:solidFill>
            <a:prstDash val="solid"/>
          </a:ln>
        </p:spPr>
      </p:sp>
      <p:sp>
        <p:nvSpPr>
          <p:cNvPr id="40" name="Text 37"/>
          <p:cNvSpPr/>
          <p:nvPr/>
        </p:nvSpPr>
        <p:spPr>
          <a:xfrm>
            <a:off x="1494929" y="3167187"/>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18</a:t>
            </a:r>
            <a:endParaRPr lang="en-US" sz="740" dirty="0"/>
          </a:p>
        </p:txBody>
      </p:sp>
      <p:sp>
        <p:nvSpPr>
          <p:cNvPr id="41" name="Shape 38"/>
          <p:cNvSpPr/>
          <p:nvPr/>
        </p:nvSpPr>
        <p:spPr>
          <a:xfrm>
            <a:off x="1817913" y="3167187"/>
            <a:ext cx="176400" cy="176400"/>
          </a:xfrm>
          <a:prstGeom prst="ellipse">
            <a:avLst/>
          </a:prstGeom>
          <a:solidFill>
            <a:srgbClr val="46606E"/>
          </a:solidFill>
          <a:ln w="7620">
            <a:solidFill>
              <a:srgbClr val="46606E"/>
            </a:solidFill>
            <a:prstDash val="solid"/>
          </a:ln>
        </p:spPr>
      </p:sp>
      <p:sp>
        <p:nvSpPr>
          <p:cNvPr id="42" name="Text 39"/>
          <p:cNvSpPr/>
          <p:nvPr/>
        </p:nvSpPr>
        <p:spPr>
          <a:xfrm>
            <a:off x="1817913" y="3167187"/>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19</a:t>
            </a:r>
            <a:endParaRPr lang="en-US" sz="740" dirty="0"/>
          </a:p>
        </p:txBody>
      </p:sp>
      <p:sp>
        <p:nvSpPr>
          <p:cNvPr id="43" name="Shape 40"/>
          <p:cNvSpPr/>
          <p:nvPr/>
        </p:nvSpPr>
        <p:spPr>
          <a:xfrm>
            <a:off x="2015913" y="3167187"/>
            <a:ext cx="176400" cy="176400"/>
          </a:xfrm>
          <a:prstGeom prst="ellipse">
            <a:avLst/>
          </a:prstGeom>
          <a:solidFill>
            <a:srgbClr val="D08C3C"/>
          </a:solidFill>
          <a:ln w="7620">
            <a:solidFill>
              <a:srgbClr val="D08C3C"/>
            </a:solidFill>
            <a:prstDash val="solid"/>
          </a:ln>
        </p:spPr>
      </p:sp>
      <p:sp>
        <p:nvSpPr>
          <p:cNvPr id="44" name="Text 41"/>
          <p:cNvSpPr/>
          <p:nvPr/>
        </p:nvSpPr>
        <p:spPr>
          <a:xfrm>
            <a:off x="2015913" y="3167187"/>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20</a:t>
            </a:r>
            <a:endParaRPr lang="en-US" sz="740" dirty="0"/>
          </a:p>
        </p:txBody>
      </p:sp>
      <p:sp>
        <p:nvSpPr>
          <p:cNvPr id="45" name="Shape 42"/>
          <p:cNvSpPr/>
          <p:nvPr/>
        </p:nvSpPr>
        <p:spPr>
          <a:xfrm>
            <a:off x="2383316" y="3167187"/>
            <a:ext cx="176400" cy="176400"/>
          </a:xfrm>
          <a:prstGeom prst="ellipse">
            <a:avLst/>
          </a:prstGeom>
          <a:solidFill>
            <a:srgbClr val="3C5B47"/>
          </a:solidFill>
          <a:ln w="7620">
            <a:solidFill>
              <a:srgbClr val="3C5B47"/>
            </a:solidFill>
            <a:prstDash val="solid"/>
          </a:ln>
        </p:spPr>
      </p:sp>
      <p:sp>
        <p:nvSpPr>
          <p:cNvPr id="46" name="Text 43"/>
          <p:cNvSpPr/>
          <p:nvPr/>
        </p:nvSpPr>
        <p:spPr>
          <a:xfrm>
            <a:off x="2383316" y="3167187"/>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21</a:t>
            </a:r>
            <a:endParaRPr lang="en-US" sz="740" dirty="0"/>
          </a:p>
        </p:txBody>
      </p:sp>
      <p:sp>
        <p:nvSpPr>
          <p:cNvPr id="47" name="Shape 44"/>
          <p:cNvSpPr/>
          <p:nvPr/>
        </p:nvSpPr>
        <p:spPr>
          <a:xfrm>
            <a:off x="2802832" y="3167187"/>
            <a:ext cx="176400" cy="176400"/>
          </a:xfrm>
          <a:prstGeom prst="ellipse">
            <a:avLst/>
          </a:prstGeom>
          <a:solidFill>
            <a:srgbClr val="46606E"/>
          </a:solidFill>
          <a:ln w="7620">
            <a:solidFill>
              <a:srgbClr val="46606E"/>
            </a:solidFill>
            <a:prstDash val="solid"/>
          </a:ln>
        </p:spPr>
      </p:sp>
      <p:sp>
        <p:nvSpPr>
          <p:cNvPr id="48" name="Text 45"/>
          <p:cNvSpPr/>
          <p:nvPr/>
        </p:nvSpPr>
        <p:spPr>
          <a:xfrm>
            <a:off x="2802832" y="3167187"/>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22</a:t>
            </a:r>
            <a:endParaRPr lang="en-US" sz="740" dirty="0"/>
          </a:p>
        </p:txBody>
      </p:sp>
      <p:sp>
        <p:nvSpPr>
          <p:cNvPr id="49" name="Shape 46"/>
          <p:cNvSpPr/>
          <p:nvPr/>
        </p:nvSpPr>
        <p:spPr>
          <a:xfrm>
            <a:off x="3168058" y="3167187"/>
            <a:ext cx="176400" cy="176400"/>
          </a:xfrm>
          <a:prstGeom prst="ellipse">
            <a:avLst/>
          </a:prstGeom>
          <a:solidFill>
            <a:srgbClr val="FBF8F1"/>
          </a:solidFill>
          <a:ln w="7620">
            <a:solidFill>
              <a:srgbClr val="46606E"/>
            </a:solidFill>
            <a:prstDash val="solid"/>
          </a:ln>
        </p:spPr>
      </p:sp>
      <p:sp>
        <p:nvSpPr>
          <p:cNvPr id="50" name="Text 47"/>
          <p:cNvSpPr/>
          <p:nvPr/>
        </p:nvSpPr>
        <p:spPr>
          <a:xfrm>
            <a:off x="3168058" y="3167187"/>
            <a:ext cx="176400" cy="176400"/>
          </a:xfrm>
          <a:prstGeom prst="rect">
            <a:avLst/>
          </a:prstGeom>
          <a:noFill/>
          <a:ln/>
        </p:spPr>
        <p:txBody>
          <a:bodyPr wrap="square" lIns="0" tIns="0" rIns="0" bIns="0" rtlCol="0" anchor="ctr"/>
          <a:lstStyle/>
          <a:p>
            <a:pPr algn="ctr" indent="0" marL="0">
              <a:buNone/>
            </a:pPr>
            <a:r>
              <a:rPr lang="en-US" sz="740" b="1" dirty="0">
                <a:solidFill>
                  <a:srgbClr val="46606E"/>
                </a:solidFill>
                <a:latin typeface="IBM Plex Sans" pitchFamily="34" charset="0"/>
                <a:ea typeface="IBM Plex Sans" pitchFamily="34" charset="-122"/>
                <a:cs typeface="IBM Plex Sans" pitchFamily="34" charset="-120"/>
              </a:rPr>
              <a:t>23</a:t>
            </a:r>
            <a:endParaRPr lang="en-US" sz="740" dirty="0"/>
          </a:p>
        </p:txBody>
      </p:sp>
      <p:sp>
        <p:nvSpPr>
          <p:cNvPr id="51" name="Shape 48"/>
          <p:cNvSpPr/>
          <p:nvPr/>
        </p:nvSpPr>
        <p:spPr>
          <a:xfrm>
            <a:off x="3495977" y="3167187"/>
            <a:ext cx="176400" cy="176400"/>
          </a:xfrm>
          <a:prstGeom prst="ellipse">
            <a:avLst/>
          </a:prstGeom>
          <a:solidFill>
            <a:srgbClr val="A8515F"/>
          </a:solidFill>
          <a:ln w="7620">
            <a:solidFill>
              <a:srgbClr val="A8515F"/>
            </a:solidFill>
            <a:prstDash val="solid"/>
          </a:ln>
        </p:spPr>
      </p:sp>
      <p:sp>
        <p:nvSpPr>
          <p:cNvPr id="52" name="Text 49"/>
          <p:cNvSpPr/>
          <p:nvPr/>
        </p:nvSpPr>
        <p:spPr>
          <a:xfrm>
            <a:off x="3495977" y="3167187"/>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24</a:t>
            </a:r>
            <a:endParaRPr lang="en-US" sz="740" dirty="0"/>
          </a:p>
        </p:txBody>
      </p:sp>
      <p:sp>
        <p:nvSpPr>
          <p:cNvPr id="53" name="Shape 50"/>
          <p:cNvSpPr/>
          <p:nvPr/>
        </p:nvSpPr>
        <p:spPr>
          <a:xfrm>
            <a:off x="3693977" y="3167187"/>
            <a:ext cx="176400" cy="176400"/>
          </a:xfrm>
          <a:prstGeom prst="ellipse">
            <a:avLst/>
          </a:prstGeom>
          <a:solidFill>
            <a:srgbClr val="46606E"/>
          </a:solidFill>
          <a:ln w="7620">
            <a:solidFill>
              <a:srgbClr val="46606E"/>
            </a:solidFill>
            <a:prstDash val="solid"/>
          </a:ln>
        </p:spPr>
      </p:sp>
      <p:sp>
        <p:nvSpPr>
          <p:cNvPr id="54" name="Text 51"/>
          <p:cNvSpPr/>
          <p:nvPr/>
        </p:nvSpPr>
        <p:spPr>
          <a:xfrm>
            <a:off x="3693977" y="3167187"/>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25</a:t>
            </a:r>
            <a:endParaRPr lang="en-US" sz="740" dirty="0"/>
          </a:p>
        </p:txBody>
      </p:sp>
      <p:sp>
        <p:nvSpPr>
          <p:cNvPr id="55" name="Shape 52"/>
          <p:cNvSpPr/>
          <p:nvPr/>
        </p:nvSpPr>
        <p:spPr>
          <a:xfrm>
            <a:off x="4061381" y="3167187"/>
            <a:ext cx="176400" cy="176400"/>
          </a:xfrm>
          <a:prstGeom prst="ellipse">
            <a:avLst/>
          </a:prstGeom>
          <a:solidFill>
            <a:srgbClr val="D08C3C"/>
          </a:solidFill>
          <a:ln w="7620">
            <a:solidFill>
              <a:srgbClr val="D08C3C"/>
            </a:solidFill>
            <a:prstDash val="solid"/>
          </a:ln>
        </p:spPr>
      </p:sp>
      <p:sp>
        <p:nvSpPr>
          <p:cNvPr id="56" name="Text 53"/>
          <p:cNvSpPr/>
          <p:nvPr/>
        </p:nvSpPr>
        <p:spPr>
          <a:xfrm>
            <a:off x="4061381" y="3167187"/>
            <a:ext cx="176400" cy="176400"/>
          </a:xfrm>
          <a:prstGeom prst="rect">
            <a:avLst/>
          </a:prstGeom>
          <a:noFill/>
          <a:ln/>
        </p:spPr>
        <p:txBody>
          <a:bodyPr wrap="square" lIns="0" tIns="0" rIns="0" bIns="0" rtlCol="0" anchor="ctr"/>
          <a:lstStyle/>
          <a:p>
            <a:pPr algn="ctr" indent="0" marL="0">
              <a:buNone/>
            </a:pPr>
            <a:r>
              <a:rPr lang="en-US" sz="740" b="1" dirty="0">
                <a:solidFill>
                  <a:srgbClr val="FBF8F1"/>
                </a:solidFill>
                <a:latin typeface="IBM Plex Sans" pitchFamily="34" charset="0"/>
                <a:ea typeface="IBM Plex Sans" pitchFamily="34" charset="-122"/>
                <a:cs typeface="IBM Plex Sans" pitchFamily="34" charset="-120"/>
              </a:rPr>
              <a:t>26</a:t>
            </a:r>
            <a:endParaRPr lang="en-US" sz="740" dirty="0"/>
          </a:p>
        </p:txBody>
      </p:sp>
      <p:sp>
        <p:nvSpPr>
          <p:cNvPr id="57" name="Text 54"/>
          <p:cNvSpPr/>
          <p:nvPr/>
        </p:nvSpPr>
        <p:spPr>
          <a:xfrm>
            <a:off x="828000" y="4291258"/>
            <a:ext cx="6120000" cy="324000"/>
          </a:xfrm>
          <a:prstGeom prst="rect">
            <a:avLst/>
          </a:prstGeom>
          <a:noFill/>
          <a:ln/>
        </p:spPr>
        <p:txBody>
          <a:bodyPr wrap="square" lIns="0" tIns="0" rIns="0" bIns="0" rtlCol="0" anchor="ctr"/>
          <a:lstStyle/>
          <a:p>
            <a:pPr indent="0" marL="0">
              <a:buNone/>
            </a:pPr>
            <a:r>
              <a:rPr lang="en-US" sz="900" i="1" dirty="0">
                <a:solidFill>
                  <a:srgbClr val="46606E"/>
                </a:solidFill>
                <a:latin typeface="Spectral" pitchFamily="34" charset="0"/>
                <a:ea typeface="Spectral" pitchFamily="34" charset="-122"/>
                <a:cs typeface="Spectral" pitchFamily="34" charset="-120"/>
              </a:rPr>
              <a:t>Schéma d'après le plan des exposants de l'agence. Salle Blanche : stands 1 à 6, près de l'accueil. Salle Noire : stands 7 à 26. Chaque pastille a la couleur de sa région.</a:t>
            </a:r>
            <a:endParaRPr lang="en-US" sz="900" dirty="0"/>
          </a:p>
        </p:txBody>
      </p:sp>
      <p:sp>
        <p:nvSpPr>
          <p:cNvPr id="58" name="Shape 55"/>
          <p:cNvSpPr/>
          <p:nvPr/>
        </p:nvSpPr>
        <p:spPr>
          <a:xfrm>
            <a:off x="828000" y="4813258"/>
            <a:ext cx="194400" cy="194400"/>
          </a:xfrm>
          <a:prstGeom prst="ellipse">
            <a:avLst/>
          </a:prstGeom>
          <a:solidFill>
            <a:srgbClr val="A8515F"/>
          </a:solidFill>
          <a:ln w="7620">
            <a:solidFill>
              <a:srgbClr val="A8515F"/>
            </a:solidFill>
            <a:prstDash val="solid"/>
          </a:ln>
        </p:spPr>
      </p:sp>
      <p:sp>
        <p:nvSpPr>
          <p:cNvPr id="59" name="Text 56"/>
          <p:cNvSpPr/>
          <p:nvPr/>
        </p:nvSpPr>
        <p:spPr>
          <a:xfrm>
            <a:off x="828000" y="48132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1</a:t>
            </a:r>
            <a:endParaRPr lang="en-US" sz="760" dirty="0"/>
          </a:p>
        </p:txBody>
      </p:sp>
      <p:sp>
        <p:nvSpPr>
          <p:cNvPr id="60" name="Text 57"/>
          <p:cNvSpPr/>
          <p:nvPr/>
        </p:nvSpPr>
        <p:spPr>
          <a:xfrm>
            <a:off x="1108800" y="47952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Château Balac</a:t>
            </a:r>
            <a:endParaRPr lang="en-US" sz="950" dirty="0"/>
          </a:p>
        </p:txBody>
      </p:sp>
      <p:sp>
        <p:nvSpPr>
          <p:cNvPr id="61" name="Text 58"/>
          <p:cNvSpPr/>
          <p:nvPr/>
        </p:nvSpPr>
        <p:spPr>
          <a:xfrm>
            <a:off x="2772000" y="47952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Bordeaux</a:t>
            </a:r>
            <a:endParaRPr lang="en-US" sz="760" dirty="0"/>
          </a:p>
        </p:txBody>
      </p:sp>
      <p:sp>
        <p:nvSpPr>
          <p:cNvPr id="62" name="Text 59"/>
          <p:cNvSpPr/>
          <p:nvPr/>
        </p:nvSpPr>
        <p:spPr>
          <a:xfrm>
            <a:off x="3456000" y="47952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63" name="Shape 60"/>
          <p:cNvSpPr/>
          <p:nvPr/>
        </p:nvSpPr>
        <p:spPr>
          <a:xfrm>
            <a:off x="828000" y="5025658"/>
            <a:ext cx="2916000" cy="0"/>
          </a:xfrm>
          <a:prstGeom prst="line">
            <a:avLst/>
          </a:prstGeom>
          <a:noFill/>
          <a:ln w="3810">
            <a:solidFill>
              <a:srgbClr val="C9CFC9"/>
            </a:solidFill>
            <a:prstDash val="solid"/>
          </a:ln>
        </p:spPr>
      </p:sp>
      <p:sp>
        <p:nvSpPr>
          <p:cNvPr id="64" name="Shape 61"/>
          <p:cNvSpPr/>
          <p:nvPr/>
        </p:nvSpPr>
        <p:spPr>
          <a:xfrm>
            <a:off x="828000" y="5043658"/>
            <a:ext cx="194400" cy="194400"/>
          </a:xfrm>
          <a:prstGeom prst="ellipse">
            <a:avLst/>
          </a:prstGeom>
          <a:solidFill>
            <a:srgbClr val="FBF8F1"/>
          </a:solidFill>
          <a:ln w="7620">
            <a:solidFill>
              <a:srgbClr val="46606E"/>
            </a:solidFill>
            <a:prstDash val="solid"/>
          </a:ln>
        </p:spPr>
      </p:sp>
      <p:sp>
        <p:nvSpPr>
          <p:cNvPr id="65" name="Text 62"/>
          <p:cNvSpPr/>
          <p:nvPr/>
        </p:nvSpPr>
        <p:spPr>
          <a:xfrm>
            <a:off x="828000" y="5043658"/>
            <a:ext cx="194400" cy="194400"/>
          </a:xfrm>
          <a:prstGeom prst="rect">
            <a:avLst/>
          </a:prstGeom>
          <a:noFill/>
          <a:ln/>
        </p:spPr>
        <p:txBody>
          <a:bodyPr wrap="square" lIns="0" tIns="0" rIns="0" bIns="0" rtlCol="0" anchor="ctr"/>
          <a:lstStyle/>
          <a:p>
            <a:pPr algn="ctr" indent="0" marL="0">
              <a:buNone/>
            </a:pPr>
            <a:r>
              <a:rPr lang="en-US" sz="760" b="1" dirty="0">
                <a:solidFill>
                  <a:srgbClr val="46606E"/>
                </a:solidFill>
                <a:latin typeface="IBM Plex Sans" pitchFamily="34" charset="0"/>
                <a:ea typeface="IBM Plex Sans" pitchFamily="34" charset="-122"/>
                <a:cs typeface="IBM Plex Sans" pitchFamily="34" charset="-120"/>
              </a:rPr>
              <a:t>2</a:t>
            </a:r>
            <a:endParaRPr lang="en-US" sz="760" dirty="0"/>
          </a:p>
        </p:txBody>
      </p:sp>
      <p:sp>
        <p:nvSpPr>
          <p:cNvPr id="66" name="Text 63"/>
          <p:cNvSpPr/>
          <p:nvPr/>
        </p:nvSpPr>
        <p:spPr>
          <a:xfrm>
            <a:off x="1108800" y="50256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Champagne Denis Frézier</a:t>
            </a:r>
            <a:endParaRPr lang="en-US" sz="950" dirty="0"/>
          </a:p>
        </p:txBody>
      </p:sp>
      <p:sp>
        <p:nvSpPr>
          <p:cNvPr id="67" name="Text 64"/>
          <p:cNvSpPr/>
          <p:nvPr/>
        </p:nvSpPr>
        <p:spPr>
          <a:xfrm>
            <a:off x="2772000" y="50256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Champagne</a:t>
            </a:r>
            <a:endParaRPr lang="en-US" sz="760" dirty="0"/>
          </a:p>
        </p:txBody>
      </p:sp>
      <p:sp>
        <p:nvSpPr>
          <p:cNvPr id="68" name="Text 65"/>
          <p:cNvSpPr/>
          <p:nvPr/>
        </p:nvSpPr>
        <p:spPr>
          <a:xfrm>
            <a:off x="3456000" y="50256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69" name="Shape 66"/>
          <p:cNvSpPr/>
          <p:nvPr/>
        </p:nvSpPr>
        <p:spPr>
          <a:xfrm>
            <a:off x="828000" y="5256058"/>
            <a:ext cx="2916000" cy="0"/>
          </a:xfrm>
          <a:prstGeom prst="line">
            <a:avLst/>
          </a:prstGeom>
          <a:noFill/>
          <a:ln w="3810">
            <a:solidFill>
              <a:srgbClr val="C9CFC9"/>
            </a:solidFill>
            <a:prstDash val="solid"/>
          </a:ln>
        </p:spPr>
      </p:sp>
      <p:sp>
        <p:nvSpPr>
          <p:cNvPr id="70" name="Shape 67"/>
          <p:cNvSpPr/>
          <p:nvPr/>
        </p:nvSpPr>
        <p:spPr>
          <a:xfrm>
            <a:off x="828000" y="5274058"/>
            <a:ext cx="194400" cy="194400"/>
          </a:xfrm>
          <a:prstGeom prst="ellipse">
            <a:avLst/>
          </a:prstGeom>
          <a:solidFill>
            <a:srgbClr val="3C5B47"/>
          </a:solidFill>
          <a:ln w="7620">
            <a:solidFill>
              <a:srgbClr val="3C5B47"/>
            </a:solidFill>
            <a:prstDash val="solid"/>
          </a:ln>
        </p:spPr>
      </p:sp>
      <p:sp>
        <p:nvSpPr>
          <p:cNvPr id="71" name="Text 68"/>
          <p:cNvSpPr/>
          <p:nvPr/>
        </p:nvSpPr>
        <p:spPr>
          <a:xfrm>
            <a:off x="828000" y="52740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3</a:t>
            </a:r>
            <a:endParaRPr lang="en-US" sz="760" dirty="0"/>
          </a:p>
        </p:txBody>
      </p:sp>
      <p:sp>
        <p:nvSpPr>
          <p:cNvPr id="72" name="Text 69"/>
          <p:cNvSpPr/>
          <p:nvPr/>
        </p:nvSpPr>
        <p:spPr>
          <a:xfrm>
            <a:off x="1108800" y="5256058"/>
            <a:ext cx="1692000" cy="230400"/>
          </a:xfrm>
          <a:prstGeom prst="rect">
            <a:avLst/>
          </a:prstGeom>
          <a:noFill/>
          <a:ln/>
        </p:spPr>
        <p:txBody>
          <a:bodyPr wrap="square" lIns="0" tIns="0" rIns="0" bIns="0" rtlCol="0" anchor="ctr"/>
          <a:lstStyle/>
          <a:p>
            <a:pPr indent="0" marL="0">
              <a:buNone/>
            </a:pPr>
            <a:r>
              <a:rPr lang="en-US" sz="750" dirty="0">
                <a:solidFill>
                  <a:srgbClr val="2A3942"/>
                </a:solidFill>
                <a:latin typeface="Spectral" pitchFamily="34" charset="0"/>
                <a:ea typeface="Spectral" pitchFamily="34" charset="-122"/>
                <a:cs typeface="Spectral" pitchFamily="34" charset="-120"/>
              </a:rPr>
              <a:t>Domaine Prieuré Sainte Marie d’Albas</a:t>
            </a:r>
            <a:endParaRPr lang="en-US" sz="750" dirty="0"/>
          </a:p>
        </p:txBody>
      </p:sp>
      <p:sp>
        <p:nvSpPr>
          <p:cNvPr id="73" name="Text 70"/>
          <p:cNvSpPr/>
          <p:nvPr/>
        </p:nvSpPr>
        <p:spPr>
          <a:xfrm>
            <a:off x="2772000" y="52560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Languedoc</a:t>
            </a:r>
            <a:endParaRPr lang="en-US" sz="760" dirty="0"/>
          </a:p>
        </p:txBody>
      </p:sp>
      <p:sp>
        <p:nvSpPr>
          <p:cNvPr id="74" name="Text 71"/>
          <p:cNvSpPr/>
          <p:nvPr/>
        </p:nvSpPr>
        <p:spPr>
          <a:xfrm>
            <a:off x="3456000" y="52560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75" name="Shape 72"/>
          <p:cNvSpPr/>
          <p:nvPr/>
        </p:nvSpPr>
        <p:spPr>
          <a:xfrm>
            <a:off x="828000" y="5486458"/>
            <a:ext cx="2916000" cy="0"/>
          </a:xfrm>
          <a:prstGeom prst="line">
            <a:avLst/>
          </a:prstGeom>
          <a:noFill/>
          <a:ln w="3810">
            <a:solidFill>
              <a:srgbClr val="C9CFC9"/>
            </a:solidFill>
            <a:prstDash val="solid"/>
          </a:ln>
        </p:spPr>
      </p:sp>
      <p:sp>
        <p:nvSpPr>
          <p:cNvPr id="76" name="Shape 73"/>
          <p:cNvSpPr/>
          <p:nvPr/>
        </p:nvSpPr>
        <p:spPr>
          <a:xfrm>
            <a:off x="828000" y="5504458"/>
            <a:ext cx="194400" cy="194400"/>
          </a:xfrm>
          <a:prstGeom prst="ellipse">
            <a:avLst/>
          </a:prstGeom>
          <a:solidFill>
            <a:srgbClr val="46606E"/>
          </a:solidFill>
          <a:ln w="7620">
            <a:solidFill>
              <a:srgbClr val="46606E"/>
            </a:solidFill>
            <a:prstDash val="solid"/>
          </a:ln>
        </p:spPr>
      </p:sp>
      <p:sp>
        <p:nvSpPr>
          <p:cNvPr id="77" name="Text 74"/>
          <p:cNvSpPr/>
          <p:nvPr/>
        </p:nvSpPr>
        <p:spPr>
          <a:xfrm>
            <a:off x="828000" y="55044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4</a:t>
            </a:r>
            <a:endParaRPr lang="en-US" sz="760" dirty="0"/>
          </a:p>
        </p:txBody>
      </p:sp>
      <p:sp>
        <p:nvSpPr>
          <p:cNvPr id="78" name="Text 75"/>
          <p:cNvSpPr/>
          <p:nvPr/>
        </p:nvSpPr>
        <p:spPr>
          <a:xfrm>
            <a:off x="1108800" y="54864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Domaine du Colombier</a:t>
            </a:r>
            <a:endParaRPr lang="en-US" sz="950" dirty="0"/>
          </a:p>
        </p:txBody>
      </p:sp>
      <p:sp>
        <p:nvSpPr>
          <p:cNvPr id="79" name="Text 76"/>
          <p:cNvSpPr/>
          <p:nvPr/>
        </p:nvSpPr>
        <p:spPr>
          <a:xfrm>
            <a:off x="2772000" y="54864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Loire</a:t>
            </a:r>
            <a:endParaRPr lang="en-US" sz="760" dirty="0"/>
          </a:p>
        </p:txBody>
      </p:sp>
      <p:sp>
        <p:nvSpPr>
          <p:cNvPr id="80" name="Text 77"/>
          <p:cNvSpPr/>
          <p:nvPr/>
        </p:nvSpPr>
        <p:spPr>
          <a:xfrm>
            <a:off x="3456000" y="54864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81" name="Shape 78"/>
          <p:cNvSpPr/>
          <p:nvPr/>
        </p:nvSpPr>
        <p:spPr>
          <a:xfrm>
            <a:off x="828000" y="5716858"/>
            <a:ext cx="2916000" cy="0"/>
          </a:xfrm>
          <a:prstGeom prst="line">
            <a:avLst/>
          </a:prstGeom>
          <a:noFill/>
          <a:ln w="3810">
            <a:solidFill>
              <a:srgbClr val="C9CFC9"/>
            </a:solidFill>
            <a:prstDash val="solid"/>
          </a:ln>
        </p:spPr>
      </p:sp>
      <p:sp>
        <p:nvSpPr>
          <p:cNvPr id="82" name="Shape 79"/>
          <p:cNvSpPr/>
          <p:nvPr/>
        </p:nvSpPr>
        <p:spPr>
          <a:xfrm>
            <a:off x="828000" y="5734858"/>
            <a:ext cx="194400" cy="194400"/>
          </a:xfrm>
          <a:prstGeom prst="ellipse">
            <a:avLst/>
          </a:prstGeom>
          <a:solidFill>
            <a:srgbClr val="D08C3C"/>
          </a:solidFill>
          <a:ln w="7620">
            <a:solidFill>
              <a:srgbClr val="D08C3C"/>
            </a:solidFill>
            <a:prstDash val="solid"/>
          </a:ln>
        </p:spPr>
      </p:sp>
      <p:sp>
        <p:nvSpPr>
          <p:cNvPr id="83" name="Text 80"/>
          <p:cNvSpPr/>
          <p:nvPr/>
        </p:nvSpPr>
        <p:spPr>
          <a:xfrm>
            <a:off x="828000" y="57348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5</a:t>
            </a:r>
            <a:endParaRPr lang="en-US" sz="760" dirty="0"/>
          </a:p>
        </p:txBody>
      </p:sp>
      <p:sp>
        <p:nvSpPr>
          <p:cNvPr id="84" name="Text 81"/>
          <p:cNvSpPr/>
          <p:nvPr/>
        </p:nvSpPr>
        <p:spPr>
          <a:xfrm>
            <a:off x="1108800" y="57168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Domaine des Verchères</a:t>
            </a:r>
            <a:endParaRPr lang="en-US" sz="950" dirty="0"/>
          </a:p>
        </p:txBody>
      </p:sp>
      <p:sp>
        <p:nvSpPr>
          <p:cNvPr id="85" name="Text 82"/>
          <p:cNvSpPr/>
          <p:nvPr/>
        </p:nvSpPr>
        <p:spPr>
          <a:xfrm>
            <a:off x="2772000" y="57168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Bourgogne</a:t>
            </a:r>
            <a:endParaRPr lang="en-US" sz="760" dirty="0"/>
          </a:p>
        </p:txBody>
      </p:sp>
      <p:sp>
        <p:nvSpPr>
          <p:cNvPr id="86" name="Text 83"/>
          <p:cNvSpPr/>
          <p:nvPr/>
        </p:nvSpPr>
        <p:spPr>
          <a:xfrm>
            <a:off x="3456000" y="57168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87" name="Shape 84"/>
          <p:cNvSpPr/>
          <p:nvPr/>
        </p:nvSpPr>
        <p:spPr>
          <a:xfrm>
            <a:off x="828000" y="5947258"/>
            <a:ext cx="2916000" cy="0"/>
          </a:xfrm>
          <a:prstGeom prst="line">
            <a:avLst/>
          </a:prstGeom>
          <a:noFill/>
          <a:ln w="3810">
            <a:solidFill>
              <a:srgbClr val="C9CFC9"/>
            </a:solidFill>
            <a:prstDash val="solid"/>
          </a:ln>
        </p:spPr>
      </p:sp>
      <p:sp>
        <p:nvSpPr>
          <p:cNvPr id="88" name="Shape 85"/>
          <p:cNvSpPr/>
          <p:nvPr/>
        </p:nvSpPr>
        <p:spPr>
          <a:xfrm>
            <a:off x="828000" y="5965258"/>
            <a:ext cx="194400" cy="194400"/>
          </a:xfrm>
          <a:prstGeom prst="ellipse">
            <a:avLst/>
          </a:prstGeom>
          <a:solidFill>
            <a:srgbClr val="D08C3C"/>
          </a:solidFill>
          <a:ln w="7620">
            <a:solidFill>
              <a:srgbClr val="D08C3C"/>
            </a:solidFill>
            <a:prstDash val="solid"/>
          </a:ln>
        </p:spPr>
      </p:sp>
      <p:sp>
        <p:nvSpPr>
          <p:cNvPr id="89" name="Text 86"/>
          <p:cNvSpPr/>
          <p:nvPr/>
        </p:nvSpPr>
        <p:spPr>
          <a:xfrm>
            <a:off x="828000" y="59652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6</a:t>
            </a:r>
            <a:endParaRPr lang="en-US" sz="760" dirty="0"/>
          </a:p>
        </p:txBody>
      </p:sp>
      <p:sp>
        <p:nvSpPr>
          <p:cNvPr id="90" name="Text 87"/>
          <p:cNvSpPr/>
          <p:nvPr/>
        </p:nvSpPr>
        <p:spPr>
          <a:xfrm>
            <a:off x="1108800" y="59472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Domaine Haut Marin</a:t>
            </a:r>
            <a:endParaRPr lang="en-US" sz="950" dirty="0"/>
          </a:p>
        </p:txBody>
      </p:sp>
      <p:sp>
        <p:nvSpPr>
          <p:cNvPr id="91" name="Text 88"/>
          <p:cNvSpPr/>
          <p:nvPr/>
        </p:nvSpPr>
        <p:spPr>
          <a:xfrm>
            <a:off x="2772000" y="59472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Sud-Ouest</a:t>
            </a:r>
            <a:endParaRPr lang="en-US" sz="760" dirty="0"/>
          </a:p>
        </p:txBody>
      </p:sp>
      <p:sp>
        <p:nvSpPr>
          <p:cNvPr id="92" name="Text 89"/>
          <p:cNvSpPr/>
          <p:nvPr/>
        </p:nvSpPr>
        <p:spPr>
          <a:xfrm>
            <a:off x="3456000" y="59472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93" name="Shape 90"/>
          <p:cNvSpPr/>
          <p:nvPr/>
        </p:nvSpPr>
        <p:spPr>
          <a:xfrm>
            <a:off x="828000" y="6177658"/>
            <a:ext cx="2916000" cy="0"/>
          </a:xfrm>
          <a:prstGeom prst="line">
            <a:avLst/>
          </a:prstGeom>
          <a:noFill/>
          <a:ln w="3810">
            <a:solidFill>
              <a:srgbClr val="C9CFC9"/>
            </a:solidFill>
            <a:prstDash val="solid"/>
          </a:ln>
        </p:spPr>
      </p:sp>
      <p:sp>
        <p:nvSpPr>
          <p:cNvPr id="94" name="Shape 91"/>
          <p:cNvSpPr/>
          <p:nvPr/>
        </p:nvSpPr>
        <p:spPr>
          <a:xfrm>
            <a:off x="828000" y="6195658"/>
            <a:ext cx="194400" cy="194400"/>
          </a:xfrm>
          <a:prstGeom prst="ellipse">
            <a:avLst/>
          </a:prstGeom>
          <a:solidFill>
            <a:srgbClr val="3C5B47"/>
          </a:solidFill>
          <a:ln w="7620">
            <a:solidFill>
              <a:srgbClr val="3C5B47"/>
            </a:solidFill>
            <a:prstDash val="solid"/>
          </a:ln>
        </p:spPr>
      </p:sp>
      <p:sp>
        <p:nvSpPr>
          <p:cNvPr id="95" name="Text 92"/>
          <p:cNvSpPr/>
          <p:nvPr/>
        </p:nvSpPr>
        <p:spPr>
          <a:xfrm>
            <a:off x="828000" y="61956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7</a:t>
            </a:r>
            <a:endParaRPr lang="en-US" sz="760" dirty="0"/>
          </a:p>
        </p:txBody>
      </p:sp>
      <p:sp>
        <p:nvSpPr>
          <p:cNvPr id="96" name="Text 93"/>
          <p:cNvSpPr/>
          <p:nvPr/>
        </p:nvSpPr>
        <p:spPr>
          <a:xfrm>
            <a:off x="1108800" y="61776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Vignobles Strasser Radziwill</a:t>
            </a:r>
            <a:endParaRPr lang="en-US" sz="950" dirty="0"/>
          </a:p>
        </p:txBody>
      </p:sp>
      <p:sp>
        <p:nvSpPr>
          <p:cNvPr id="97" name="Text 94"/>
          <p:cNvSpPr/>
          <p:nvPr/>
        </p:nvSpPr>
        <p:spPr>
          <a:xfrm>
            <a:off x="2772000" y="61776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Rhône</a:t>
            </a:r>
            <a:endParaRPr lang="en-US" sz="760" dirty="0"/>
          </a:p>
        </p:txBody>
      </p:sp>
      <p:sp>
        <p:nvSpPr>
          <p:cNvPr id="98" name="Text 95"/>
          <p:cNvSpPr/>
          <p:nvPr/>
        </p:nvSpPr>
        <p:spPr>
          <a:xfrm>
            <a:off x="3456000" y="61776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99" name="Shape 96"/>
          <p:cNvSpPr/>
          <p:nvPr/>
        </p:nvSpPr>
        <p:spPr>
          <a:xfrm>
            <a:off x="828000" y="6408058"/>
            <a:ext cx="2916000" cy="0"/>
          </a:xfrm>
          <a:prstGeom prst="line">
            <a:avLst/>
          </a:prstGeom>
          <a:noFill/>
          <a:ln w="3810">
            <a:solidFill>
              <a:srgbClr val="C9CFC9"/>
            </a:solidFill>
            <a:prstDash val="solid"/>
          </a:ln>
        </p:spPr>
      </p:sp>
      <p:sp>
        <p:nvSpPr>
          <p:cNvPr id="100" name="Shape 97"/>
          <p:cNvSpPr/>
          <p:nvPr/>
        </p:nvSpPr>
        <p:spPr>
          <a:xfrm>
            <a:off x="828000" y="6426058"/>
            <a:ext cx="194400" cy="194400"/>
          </a:xfrm>
          <a:prstGeom prst="ellipse">
            <a:avLst/>
          </a:prstGeom>
          <a:solidFill>
            <a:srgbClr val="A8515F"/>
          </a:solidFill>
          <a:ln w="7620">
            <a:solidFill>
              <a:srgbClr val="A8515F"/>
            </a:solidFill>
            <a:prstDash val="solid"/>
          </a:ln>
        </p:spPr>
      </p:sp>
      <p:sp>
        <p:nvSpPr>
          <p:cNvPr id="101" name="Text 98"/>
          <p:cNvSpPr/>
          <p:nvPr/>
        </p:nvSpPr>
        <p:spPr>
          <a:xfrm>
            <a:off x="828000" y="64260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8</a:t>
            </a:r>
            <a:endParaRPr lang="en-US" sz="760" dirty="0"/>
          </a:p>
        </p:txBody>
      </p:sp>
      <p:sp>
        <p:nvSpPr>
          <p:cNvPr id="102" name="Text 99"/>
          <p:cNvSpPr/>
          <p:nvPr/>
        </p:nvSpPr>
        <p:spPr>
          <a:xfrm>
            <a:off x="1108800" y="64080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Château Falfas</a:t>
            </a:r>
            <a:endParaRPr lang="en-US" sz="950" dirty="0"/>
          </a:p>
        </p:txBody>
      </p:sp>
      <p:sp>
        <p:nvSpPr>
          <p:cNvPr id="103" name="Text 100"/>
          <p:cNvSpPr/>
          <p:nvPr/>
        </p:nvSpPr>
        <p:spPr>
          <a:xfrm>
            <a:off x="2772000" y="64080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Bordeaux</a:t>
            </a:r>
            <a:endParaRPr lang="en-US" sz="760" dirty="0"/>
          </a:p>
        </p:txBody>
      </p:sp>
      <p:sp>
        <p:nvSpPr>
          <p:cNvPr id="104" name="Text 101"/>
          <p:cNvSpPr/>
          <p:nvPr/>
        </p:nvSpPr>
        <p:spPr>
          <a:xfrm>
            <a:off x="3456000" y="64080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05" name="Shape 102"/>
          <p:cNvSpPr/>
          <p:nvPr/>
        </p:nvSpPr>
        <p:spPr>
          <a:xfrm>
            <a:off x="828000" y="6638458"/>
            <a:ext cx="2916000" cy="0"/>
          </a:xfrm>
          <a:prstGeom prst="line">
            <a:avLst/>
          </a:prstGeom>
          <a:noFill/>
          <a:ln w="3810">
            <a:solidFill>
              <a:srgbClr val="C9CFC9"/>
            </a:solidFill>
            <a:prstDash val="solid"/>
          </a:ln>
        </p:spPr>
      </p:sp>
      <p:sp>
        <p:nvSpPr>
          <p:cNvPr id="106" name="Shape 103"/>
          <p:cNvSpPr/>
          <p:nvPr/>
        </p:nvSpPr>
        <p:spPr>
          <a:xfrm>
            <a:off x="828000" y="6656458"/>
            <a:ext cx="194400" cy="194400"/>
          </a:xfrm>
          <a:prstGeom prst="ellipse">
            <a:avLst/>
          </a:prstGeom>
          <a:solidFill>
            <a:srgbClr val="3C5B47"/>
          </a:solidFill>
          <a:ln w="7620">
            <a:solidFill>
              <a:srgbClr val="3C5B47"/>
            </a:solidFill>
            <a:prstDash val="solid"/>
          </a:ln>
        </p:spPr>
      </p:sp>
      <p:sp>
        <p:nvSpPr>
          <p:cNvPr id="107" name="Text 104"/>
          <p:cNvSpPr/>
          <p:nvPr/>
        </p:nvSpPr>
        <p:spPr>
          <a:xfrm>
            <a:off x="828000" y="66564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9</a:t>
            </a:r>
            <a:endParaRPr lang="en-US" sz="760" dirty="0"/>
          </a:p>
        </p:txBody>
      </p:sp>
      <p:sp>
        <p:nvSpPr>
          <p:cNvPr id="108" name="Text 105"/>
          <p:cNvSpPr/>
          <p:nvPr/>
        </p:nvSpPr>
        <p:spPr>
          <a:xfrm>
            <a:off x="1108800" y="66384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Domaine Boehler</a:t>
            </a:r>
            <a:endParaRPr lang="en-US" sz="950" dirty="0"/>
          </a:p>
        </p:txBody>
      </p:sp>
      <p:sp>
        <p:nvSpPr>
          <p:cNvPr id="109" name="Text 106"/>
          <p:cNvSpPr/>
          <p:nvPr/>
        </p:nvSpPr>
        <p:spPr>
          <a:xfrm>
            <a:off x="2772000" y="66384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Alsace</a:t>
            </a:r>
            <a:endParaRPr lang="en-US" sz="760" dirty="0"/>
          </a:p>
        </p:txBody>
      </p:sp>
      <p:sp>
        <p:nvSpPr>
          <p:cNvPr id="110" name="Text 107"/>
          <p:cNvSpPr/>
          <p:nvPr/>
        </p:nvSpPr>
        <p:spPr>
          <a:xfrm>
            <a:off x="3456000" y="66384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111" name="Shape 108"/>
          <p:cNvSpPr/>
          <p:nvPr/>
        </p:nvSpPr>
        <p:spPr>
          <a:xfrm>
            <a:off x="828000" y="6868858"/>
            <a:ext cx="2916000" cy="0"/>
          </a:xfrm>
          <a:prstGeom prst="line">
            <a:avLst/>
          </a:prstGeom>
          <a:noFill/>
          <a:ln w="3810">
            <a:solidFill>
              <a:srgbClr val="C9CFC9"/>
            </a:solidFill>
            <a:prstDash val="solid"/>
          </a:ln>
        </p:spPr>
      </p:sp>
      <p:sp>
        <p:nvSpPr>
          <p:cNvPr id="112" name="Shape 109"/>
          <p:cNvSpPr/>
          <p:nvPr/>
        </p:nvSpPr>
        <p:spPr>
          <a:xfrm>
            <a:off x="828000" y="6886858"/>
            <a:ext cx="194400" cy="194400"/>
          </a:xfrm>
          <a:prstGeom prst="ellipse">
            <a:avLst/>
          </a:prstGeom>
          <a:solidFill>
            <a:srgbClr val="46606E"/>
          </a:solidFill>
          <a:ln w="7620">
            <a:solidFill>
              <a:srgbClr val="46606E"/>
            </a:solidFill>
            <a:prstDash val="solid"/>
          </a:ln>
        </p:spPr>
      </p:sp>
      <p:sp>
        <p:nvSpPr>
          <p:cNvPr id="113" name="Text 110"/>
          <p:cNvSpPr/>
          <p:nvPr/>
        </p:nvSpPr>
        <p:spPr>
          <a:xfrm>
            <a:off x="828000" y="68868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10</a:t>
            </a:r>
            <a:endParaRPr lang="en-US" sz="760" dirty="0"/>
          </a:p>
        </p:txBody>
      </p:sp>
      <p:sp>
        <p:nvSpPr>
          <p:cNvPr id="114" name="Text 111"/>
          <p:cNvSpPr/>
          <p:nvPr/>
        </p:nvSpPr>
        <p:spPr>
          <a:xfrm>
            <a:off x="1108800" y="68688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François Reverdy</a:t>
            </a:r>
            <a:endParaRPr lang="en-US" sz="950" dirty="0"/>
          </a:p>
        </p:txBody>
      </p:sp>
      <p:sp>
        <p:nvSpPr>
          <p:cNvPr id="115" name="Text 112"/>
          <p:cNvSpPr/>
          <p:nvPr/>
        </p:nvSpPr>
        <p:spPr>
          <a:xfrm>
            <a:off x="2772000" y="68688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Loire</a:t>
            </a:r>
            <a:endParaRPr lang="en-US" sz="760" dirty="0"/>
          </a:p>
        </p:txBody>
      </p:sp>
      <p:sp>
        <p:nvSpPr>
          <p:cNvPr id="116" name="Text 113"/>
          <p:cNvSpPr/>
          <p:nvPr/>
        </p:nvSpPr>
        <p:spPr>
          <a:xfrm>
            <a:off x="3456000" y="68688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17" name="Shape 114"/>
          <p:cNvSpPr/>
          <p:nvPr/>
        </p:nvSpPr>
        <p:spPr>
          <a:xfrm>
            <a:off x="828000" y="7099258"/>
            <a:ext cx="2916000" cy="0"/>
          </a:xfrm>
          <a:prstGeom prst="line">
            <a:avLst/>
          </a:prstGeom>
          <a:noFill/>
          <a:ln w="3810">
            <a:solidFill>
              <a:srgbClr val="C9CFC9"/>
            </a:solidFill>
            <a:prstDash val="solid"/>
          </a:ln>
        </p:spPr>
      </p:sp>
      <p:sp>
        <p:nvSpPr>
          <p:cNvPr id="118" name="Shape 115"/>
          <p:cNvSpPr/>
          <p:nvPr/>
        </p:nvSpPr>
        <p:spPr>
          <a:xfrm>
            <a:off x="828000" y="7117258"/>
            <a:ext cx="194400" cy="194400"/>
          </a:xfrm>
          <a:prstGeom prst="ellipse">
            <a:avLst/>
          </a:prstGeom>
          <a:solidFill>
            <a:srgbClr val="FBF8F1"/>
          </a:solidFill>
          <a:ln w="7620">
            <a:solidFill>
              <a:srgbClr val="46606E"/>
            </a:solidFill>
            <a:prstDash val="solid"/>
          </a:ln>
        </p:spPr>
      </p:sp>
      <p:sp>
        <p:nvSpPr>
          <p:cNvPr id="119" name="Text 116"/>
          <p:cNvSpPr/>
          <p:nvPr/>
        </p:nvSpPr>
        <p:spPr>
          <a:xfrm>
            <a:off x="828000" y="7117258"/>
            <a:ext cx="194400" cy="194400"/>
          </a:xfrm>
          <a:prstGeom prst="rect">
            <a:avLst/>
          </a:prstGeom>
          <a:noFill/>
          <a:ln/>
        </p:spPr>
        <p:txBody>
          <a:bodyPr wrap="square" lIns="0" tIns="0" rIns="0" bIns="0" rtlCol="0" anchor="ctr"/>
          <a:lstStyle/>
          <a:p>
            <a:pPr algn="ctr" indent="0" marL="0">
              <a:buNone/>
            </a:pPr>
            <a:r>
              <a:rPr lang="en-US" sz="760" b="1" dirty="0">
                <a:solidFill>
                  <a:srgbClr val="46606E"/>
                </a:solidFill>
                <a:latin typeface="IBM Plex Sans" pitchFamily="34" charset="0"/>
                <a:ea typeface="IBM Plex Sans" pitchFamily="34" charset="-122"/>
                <a:cs typeface="IBM Plex Sans" pitchFamily="34" charset="-120"/>
              </a:rPr>
              <a:t>11</a:t>
            </a:r>
            <a:endParaRPr lang="en-US" sz="760" dirty="0"/>
          </a:p>
        </p:txBody>
      </p:sp>
      <p:sp>
        <p:nvSpPr>
          <p:cNvPr id="120" name="Text 117"/>
          <p:cNvSpPr/>
          <p:nvPr/>
        </p:nvSpPr>
        <p:spPr>
          <a:xfrm>
            <a:off x="1108800" y="70992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Champagne Dekeyne</a:t>
            </a:r>
            <a:endParaRPr lang="en-US" sz="950" dirty="0"/>
          </a:p>
        </p:txBody>
      </p:sp>
      <p:sp>
        <p:nvSpPr>
          <p:cNvPr id="121" name="Text 118"/>
          <p:cNvSpPr/>
          <p:nvPr/>
        </p:nvSpPr>
        <p:spPr>
          <a:xfrm>
            <a:off x="2772000" y="70992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Champagne</a:t>
            </a:r>
            <a:endParaRPr lang="en-US" sz="760" dirty="0"/>
          </a:p>
        </p:txBody>
      </p:sp>
      <p:sp>
        <p:nvSpPr>
          <p:cNvPr id="122" name="Text 119"/>
          <p:cNvSpPr/>
          <p:nvPr/>
        </p:nvSpPr>
        <p:spPr>
          <a:xfrm>
            <a:off x="3456000" y="70992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23" name="Shape 120"/>
          <p:cNvSpPr/>
          <p:nvPr/>
        </p:nvSpPr>
        <p:spPr>
          <a:xfrm>
            <a:off x="828000" y="7329658"/>
            <a:ext cx="2916000" cy="0"/>
          </a:xfrm>
          <a:prstGeom prst="line">
            <a:avLst/>
          </a:prstGeom>
          <a:noFill/>
          <a:ln w="3810">
            <a:solidFill>
              <a:srgbClr val="C9CFC9"/>
            </a:solidFill>
            <a:prstDash val="solid"/>
          </a:ln>
        </p:spPr>
      </p:sp>
      <p:sp>
        <p:nvSpPr>
          <p:cNvPr id="124" name="Shape 121"/>
          <p:cNvSpPr/>
          <p:nvPr/>
        </p:nvSpPr>
        <p:spPr>
          <a:xfrm>
            <a:off x="828000" y="7347658"/>
            <a:ext cx="194400" cy="194400"/>
          </a:xfrm>
          <a:prstGeom prst="ellipse">
            <a:avLst/>
          </a:prstGeom>
          <a:solidFill>
            <a:srgbClr val="3C5B47"/>
          </a:solidFill>
          <a:ln w="7620">
            <a:solidFill>
              <a:srgbClr val="3C5B47"/>
            </a:solidFill>
            <a:prstDash val="solid"/>
          </a:ln>
        </p:spPr>
      </p:sp>
      <p:sp>
        <p:nvSpPr>
          <p:cNvPr id="125" name="Text 122"/>
          <p:cNvSpPr/>
          <p:nvPr/>
        </p:nvSpPr>
        <p:spPr>
          <a:xfrm>
            <a:off x="828000" y="73476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12</a:t>
            </a:r>
            <a:endParaRPr lang="en-US" sz="760" dirty="0"/>
          </a:p>
        </p:txBody>
      </p:sp>
      <p:sp>
        <p:nvSpPr>
          <p:cNvPr id="126" name="Text 123"/>
          <p:cNvSpPr/>
          <p:nvPr/>
        </p:nvSpPr>
        <p:spPr>
          <a:xfrm>
            <a:off x="1108800" y="73296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Domaine Trichon</a:t>
            </a:r>
            <a:endParaRPr lang="en-US" sz="950" dirty="0"/>
          </a:p>
        </p:txBody>
      </p:sp>
      <p:sp>
        <p:nvSpPr>
          <p:cNvPr id="127" name="Text 124"/>
          <p:cNvSpPr/>
          <p:nvPr/>
        </p:nvSpPr>
        <p:spPr>
          <a:xfrm>
            <a:off x="2772000" y="73296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Rhône</a:t>
            </a:r>
            <a:endParaRPr lang="en-US" sz="760" dirty="0"/>
          </a:p>
        </p:txBody>
      </p:sp>
      <p:sp>
        <p:nvSpPr>
          <p:cNvPr id="128" name="Text 125"/>
          <p:cNvSpPr/>
          <p:nvPr/>
        </p:nvSpPr>
        <p:spPr>
          <a:xfrm>
            <a:off x="3456000" y="73296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129" name="Shape 126"/>
          <p:cNvSpPr/>
          <p:nvPr/>
        </p:nvSpPr>
        <p:spPr>
          <a:xfrm>
            <a:off x="828000" y="7560058"/>
            <a:ext cx="2916000" cy="0"/>
          </a:xfrm>
          <a:prstGeom prst="line">
            <a:avLst/>
          </a:prstGeom>
          <a:noFill/>
          <a:ln w="3810">
            <a:solidFill>
              <a:srgbClr val="C9CFC9"/>
            </a:solidFill>
            <a:prstDash val="solid"/>
          </a:ln>
        </p:spPr>
      </p:sp>
      <p:sp>
        <p:nvSpPr>
          <p:cNvPr id="130" name="Shape 127"/>
          <p:cNvSpPr/>
          <p:nvPr/>
        </p:nvSpPr>
        <p:spPr>
          <a:xfrm>
            <a:off x="828000" y="7578058"/>
            <a:ext cx="194400" cy="194400"/>
          </a:xfrm>
          <a:prstGeom prst="ellipse">
            <a:avLst/>
          </a:prstGeom>
          <a:solidFill>
            <a:srgbClr val="3C5B47"/>
          </a:solidFill>
          <a:ln w="7620">
            <a:solidFill>
              <a:srgbClr val="3C5B47"/>
            </a:solidFill>
            <a:prstDash val="solid"/>
          </a:ln>
        </p:spPr>
      </p:sp>
      <p:sp>
        <p:nvSpPr>
          <p:cNvPr id="131" name="Text 128"/>
          <p:cNvSpPr/>
          <p:nvPr/>
        </p:nvSpPr>
        <p:spPr>
          <a:xfrm>
            <a:off x="828000" y="75780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13</a:t>
            </a:r>
            <a:endParaRPr lang="en-US" sz="760" dirty="0"/>
          </a:p>
        </p:txBody>
      </p:sp>
      <p:sp>
        <p:nvSpPr>
          <p:cNvPr id="132" name="Text 129"/>
          <p:cNvSpPr/>
          <p:nvPr/>
        </p:nvSpPr>
        <p:spPr>
          <a:xfrm>
            <a:off x="1108800" y="75600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Château de Gragnos</a:t>
            </a:r>
            <a:endParaRPr lang="en-US" sz="950" dirty="0"/>
          </a:p>
        </p:txBody>
      </p:sp>
      <p:sp>
        <p:nvSpPr>
          <p:cNvPr id="133" name="Text 130"/>
          <p:cNvSpPr/>
          <p:nvPr/>
        </p:nvSpPr>
        <p:spPr>
          <a:xfrm>
            <a:off x="2772000" y="75600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Languedoc</a:t>
            </a:r>
            <a:endParaRPr lang="en-US" sz="760" dirty="0"/>
          </a:p>
        </p:txBody>
      </p:sp>
      <p:sp>
        <p:nvSpPr>
          <p:cNvPr id="134" name="Text 131"/>
          <p:cNvSpPr/>
          <p:nvPr/>
        </p:nvSpPr>
        <p:spPr>
          <a:xfrm>
            <a:off x="3456000" y="75600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35" name="Shape 132"/>
          <p:cNvSpPr/>
          <p:nvPr/>
        </p:nvSpPr>
        <p:spPr>
          <a:xfrm>
            <a:off x="828000" y="7790458"/>
            <a:ext cx="2916000" cy="0"/>
          </a:xfrm>
          <a:prstGeom prst="line">
            <a:avLst/>
          </a:prstGeom>
          <a:noFill/>
          <a:ln w="3810">
            <a:solidFill>
              <a:srgbClr val="C9CFC9"/>
            </a:solidFill>
            <a:prstDash val="solid"/>
          </a:ln>
        </p:spPr>
      </p:sp>
      <p:sp>
        <p:nvSpPr>
          <p:cNvPr id="136" name="Shape 133"/>
          <p:cNvSpPr/>
          <p:nvPr/>
        </p:nvSpPr>
        <p:spPr>
          <a:xfrm>
            <a:off x="4032000" y="4813258"/>
            <a:ext cx="194400" cy="194400"/>
          </a:xfrm>
          <a:prstGeom prst="ellipse">
            <a:avLst/>
          </a:prstGeom>
          <a:solidFill>
            <a:srgbClr val="46606E"/>
          </a:solidFill>
          <a:ln w="7620">
            <a:solidFill>
              <a:srgbClr val="46606E"/>
            </a:solidFill>
            <a:prstDash val="solid"/>
          </a:ln>
        </p:spPr>
      </p:sp>
      <p:sp>
        <p:nvSpPr>
          <p:cNvPr id="137" name="Text 134"/>
          <p:cNvSpPr/>
          <p:nvPr/>
        </p:nvSpPr>
        <p:spPr>
          <a:xfrm>
            <a:off x="4032000" y="48132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14</a:t>
            </a:r>
            <a:endParaRPr lang="en-US" sz="760" dirty="0"/>
          </a:p>
        </p:txBody>
      </p:sp>
      <p:sp>
        <p:nvSpPr>
          <p:cNvPr id="138" name="Text 135"/>
          <p:cNvSpPr/>
          <p:nvPr/>
        </p:nvSpPr>
        <p:spPr>
          <a:xfrm>
            <a:off x="4312800" y="47952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Domaine des Noëls</a:t>
            </a:r>
            <a:endParaRPr lang="en-US" sz="950" dirty="0"/>
          </a:p>
        </p:txBody>
      </p:sp>
      <p:sp>
        <p:nvSpPr>
          <p:cNvPr id="139" name="Text 136"/>
          <p:cNvSpPr/>
          <p:nvPr/>
        </p:nvSpPr>
        <p:spPr>
          <a:xfrm>
            <a:off x="5976000" y="47952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Loire</a:t>
            </a:r>
            <a:endParaRPr lang="en-US" sz="760" dirty="0"/>
          </a:p>
        </p:txBody>
      </p:sp>
      <p:sp>
        <p:nvSpPr>
          <p:cNvPr id="140" name="Text 137"/>
          <p:cNvSpPr/>
          <p:nvPr/>
        </p:nvSpPr>
        <p:spPr>
          <a:xfrm>
            <a:off x="6660000" y="47952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141" name="Shape 138"/>
          <p:cNvSpPr/>
          <p:nvPr/>
        </p:nvSpPr>
        <p:spPr>
          <a:xfrm>
            <a:off x="4032000" y="5025658"/>
            <a:ext cx="2916000" cy="0"/>
          </a:xfrm>
          <a:prstGeom prst="line">
            <a:avLst/>
          </a:prstGeom>
          <a:noFill/>
          <a:ln w="3810">
            <a:solidFill>
              <a:srgbClr val="C9CFC9"/>
            </a:solidFill>
            <a:prstDash val="solid"/>
          </a:ln>
        </p:spPr>
      </p:sp>
      <p:sp>
        <p:nvSpPr>
          <p:cNvPr id="142" name="Shape 139"/>
          <p:cNvSpPr/>
          <p:nvPr/>
        </p:nvSpPr>
        <p:spPr>
          <a:xfrm>
            <a:off x="4032000" y="5043658"/>
            <a:ext cx="194400" cy="194400"/>
          </a:xfrm>
          <a:prstGeom prst="ellipse">
            <a:avLst/>
          </a:prstGeom>
          <a:solidFill>
            <a:srgbClr val="FBF8F1"/>
          </a:solidFill>
          <a:ln w="7620">
            <a:solidFill>
              <a:srgbClr val="46606E"/>
            </a:solidFill>
            <a:prstDash val="solid"/>
          </a:ln>
        </p:spPr>
      </p:sp>
      <p:sp>
        <p:nvSpPr>
          <p:cNvPr id="143" name="Text 140"/>
          <p:cNvSpPr/>
          <p:nvPr/>
        </p:nvSpPr>
        <p:spPr>
          <a:xfrm>
            <a:off x="4032000" y="5043658"/>
            <a:ext cx="194400" cy="194400"/>
          </a:xfrm>
          <a:prstGeom prst="rect">
            <a:avLst/>
          </a:prstGeom>
          <a:noFill/>
          <a:ln/>
        </p:spPr>
        <p:txBody>
          <a:bodyPr wrap="square" lIns="0" tIns="0" rIns="0" bIns="0" rtlCol="0" anchor="ctr"/>
          <a:lstStyle/>
          <a:p>
            <a:pPr algn="ctr" indent="0" marL="0">
              <a:buNone/>
            </a:pPr>
            <a:r>
              <a:rPr lang="en-US" sz="760" b="1" dirty="0">
                <a:solidFill>
                  <a:srgbClr val="46606E"/>
                </a:solidFill>
                <a:latin typeface="IBM Plex Sans" pitchFamily="34" charset="0"/>
                <a:ea typeface="IBM Plex Sans" pitchFamily="34" charset="-122"/>
                <a:cs typeface="IBM Plex Sans" pitchFamily="34" charset="-120"/>
              </a:rPr>
              <a:t>15</a:t>
            </a:r>
            <a:endParaRPr lang="en-US" sz="760" dirty="0"/>
          </a:p>
        </p:txBody>
      </p:sp>
      <p:sp>
        <p:nvSpPr>
          <p:cNvPr id="144" name="Text 141"/>
          <p:cNvSpPr/>
          <p:nvPr/>
        </p:nvSpPr>
        <p:spPr>
          <a:xfrm>
            <a:off x="4312800" y="50256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Champagne Vazart-Coquart</a:t>
            </a:r>
            <a:endParaRPr lang="en-US" sz="950" dirty="0"/>
          </a:p>
        </p:txBody>
      </p:sp>
      <p:sp>
        <p:nvSpPr>
          <p:cNvPr id="145" name="Text 142"/>
          <p:cNvSpPr/>
          <p:nvPr/>
        </p:nvSpPr>
        <p:spPr>
          <a:xfrm>
            <a:off x="5976000" y="50256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Champagne</a:t>
            </a:r>
            <a:endParaRPr lang="en-US" sz="760" dirty="0"/>
          </a:p>
        </p:txBody>
      </p:sp>
      <p:sp>
        <p:nvSpPr>
          <p:cNvPr id="146" name="Text 143"/>
          <p:cNvSpPr/>
          <p:nvPr/>
        </p:nvSpPr>
        <p:spPr>
          <a:xfrm>
            <a:off x="6660000" y="50256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47" name="Shape 144"/>
          <p:cNvSpPr/>
          <p:nvPr/>
        </p:nvSpPr>
        <p:spPr>
          <a:xfrm>
            <a:off x="4032000" y="5256058"/>
            <a:ext cx="2916000" cy="0"/>
          </a:xfrm>
          <a:prstGeom prst="line">
            <a:avLst/>
          </a:prstGeom>
          <a:noFill/>
          <a:ln w="3810">
            <a:solidFill>
              <a:srgbClr val="C9CFC9"/>
            </a:solidFill>
            <a:prstDash val="solid"/>
          </a:ln>
        </p:spPr>
      </p:sp>
      <p:sp>
        <p:nvSpPr>
          <p:cNvPr id="148" name="Shape 145"/>
          <p:cNvSpPr/>
          <p:nvPr/>
        </p:nvSpPr>
        <p:spPr>
          <a:xfrm>
            <a:off x="4032000" y="5274058"/>
            <a:ext cx="194400" cy="194400"/>
          </a:xfrm>
          <a:prstGeom prst="ellipse">
            <a:avLst/>
          </a:prstGeom>
          <a:solidFill>
            <a:srgbClr val="A8515F"/>
          </a:solidFill>
          <a:ln w="7620">
            <a:solidFill>
              <a:srgbClr val="A8515F"/>
            </a:solidFill>
            <a:prstDash val="solid"/>
          </a:ln>
        </p:spPr>
      </p:sp>
      <p:sp>
        <p:nvSpPr>
          <p:cNvPr id="149" name="Text 146"/>
          <p:cNvSpPr/>
          <p:nvPr/>
        </p:nvSpPr>
        <p:spPr>
          <a:xfrm>
            <a:off x="4032000" y="52740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16</a:t>
            </a:r>
            <a:endParaRPr lang="en-US" sz="760" dirty="0"/>
          </a:p>
        </p:txBody>
      </p:sp>
      <p:sp>
        <p:nvSpPr>
          <p:cNvPr id="150" name="Text 147"/>
          <p:cNvSpPr/>
          <p:nvPr/>
        </p:nvSpPr>
        <p:spPr>
          <a:xfrm>
            <a:off x="4312800" y="52560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Château Pré La Lande</a:t>
            </a:r>
            <a:endParaRPr lang="en-US" sz="950" dirty="0"/>
          </a:p>
        </p:txBody>
      </p:sp>
      <p:sp>
        <p:nvSpPr>
          <p:cNvPr id="151" name="Text 148"/>
          <p:cNvSpPr/>
          <p:nvPr/>
        </p:nvSpPr>
        <p:spPr>
          <a:xfrm>
            <a:off x="5976000" y="52560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Bordeaux</a:t>
            </a:r>
            <a:endParaRPr lang="en-US" sz="760" dirty="0"/>
          </a:p>
        </p:txBody>
      </p:sp>
      <p:sp>
        <p:nvSpPr>
          <p:cNvPr id="152" name="Text 149"/>
          <p:cNvSpPr/>
          <p:nvPr/>
        </p:nvSpPr>
        <p:spPr>
          <a:xfrm>
            <a:off x="6660000" y="52560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53" name="Shape 150"/>
          <p:cNvSpPr/>
          <p:nvPr/>
        </p:nvSpPr>
        <p:spPr>
          <a:xfrm>
            <a:off x="4032000" y="5486458"/>
            <a:ext cx="2916000" cy="0"/>
          </a:xfrm>
          <a:prstGeom prst="line">
            <a:avLst/>
          </a:prstGeom>
          <a:noFill/>
          <a:ln w="3810">
            <a:solidFill>
              <a:srgbClr val="C9CFC9"/>
            </a:solidFill>
            <a:prstDash val="solid"/>
          </a:ln>
        </p:spPr>
      </p:sp>
      <p:sp>
        <p:nvSpPr>
          <p:cNvPr id="154" name="Shape 151"/>
          <p:cNvSpPr/>
          <p:nvPr/>
        </p:nvSpPr>
        <p:spPr>
          <a:xfrm>
            <a:off x="4032000" y="5504458"/>
            <a:ext cx="194400" cy="194400"/>
          </a:xfrm>
          <a:prstGeom prst="ellipse">
            <a:avLst/>
          </a:prstGeom>
          <a:solidFill>
            <a:srgbClr val="46606E"/>
          </a:solidFill>
          <a:ln w="7620">
            <a:solidFill>
              <a:srgbClr val="46606E"/>
            </a:solidFill>
            <a:prstDash val="solid"/>
          </a:ln>
        </p:spPr>
      </p:sp>
      <p:sp>
        <p:nvSpPr>
          <p:cNvPr id="155" name="Text 152"/>
          <p:cNvSpPr/>
          <p:nvPr/>
        </p:nvSpPr>
        <p:spPr>
          <a:xfrm>
            <a:off x="4032000" y="55044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17</a:t>
            </a:r>
            <a:endParaRPr lang="en-US" sz="760" dirty="0"/>
          </a:p>
        </p:txBody>
      </p:sp>
      <p:sp>
        <p:nvSpPr>
          <p:cNvPr id="156" name="Text 153"/>
          <p:cNvSpPr/>
          <p:nvPr/>
        </p:nvSpPr>
        <p:spPr>
          <a:xfrm>
            <a:off x="4312800" y="54864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Vignobles Jean de Villebois</a:t>
            </a:r>
            <a:endParaRPr lang="en-US" sz="950" dirty="0"/>
          </a:p>
        </p:txBody>
      </p:sp>
      <p:sp>
        <p:nvSpPr>
          <p:cNvPr id="157" name="Text 154"/>
          <p:cNvSpPr/>
          <p:nvPr/>
        </p:nvSpPr>
        <p:spPr>
          <a:xfrm>
            <a:off x="5976000" y="54864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Loire</a:t>
            </a:r>
            <a:endParaRPr lang="en-US" sz="760" dirty="0"/>
          </a:p>
        </p:txBody>
      </p:sp>
      <p:sp>
        <p:nvSpPr>
          <p:cNvPr id="158" name="Text 155"/>
          <p:cNvSpPr/>
          <p:nvPr/>
        </p:nvSpPr>
        <p:spPr>
          <a:xfrm>
            <a:off x="6660000" y="54864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159" name="Shape 156"/>
          <p:cNvSpPr/>
          <p:nvPr/>
        </p:nvSpPr>
        <p:spPr>
          <a:xfrm>
            <a:off x="4032000" y="5716858"/>
            <a:ext cx="2916000" cy="0"/>
          </a:xfrm>
          <a:prstGeom prst="line">
            <a:avLst/>
          </a:prstGeom>
          <a:noFill/>
          <a:ln w="3810">
            <a:solidFill>
              <a:srgbClr val="C9CFC9"/>
            </a:solidFill>
            <a:prstDash val="solid"/>
          </a:ln>
        </p:spPr>
      </p:sp>
      <p:sp>
        <p:nvSpPr>
          <p:cNvPr id="160" name="Shape 157"/>
          <p:cNvSpPr/>
          <p:nvPr/>
        </p:nvSpPr>
        <p:spPr>
          <a:xfrm>
            <a:off x="4032000" y="5734858"/>
            <a:ext cx="194400" cy="194400"/>
          </a:xfrm>
          <a:prstGeom prst="ellipse">
            <a:avLst/>
          </a:prstGeom>
          <a:solidFill>
            <a:srgbClr val="D08C3C"/>
          </a:solidFill>
          <a:ln w="7620">
            <a:solidFill>
              <a:srgbClr val="D08C3C"/>
            </a:solidFill>
            <a:prstDash val="solid"/>
          </a:ln>
        </p:spPr>
      </p:sp>
      <p:sp>
        <p:nvSpPr>
          <p:cNvPr id="161" name="Text 158"/>
          <p:cNvSpPr/>
          <p:nvPr/>
        </p:nvSpPr>
        <p:spPr>
          <a:xfrm>
            <a:off x="4032000" y="57348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18</a:t>
            </a:r>
            <a:endParaRPr lang="en-US" sz="760" dirty="0"/>
          </a:p>
        </p:txBody>
      </p:sp>
      <p:sp>
        <p:nvSpPr>
          <p:cNvPr id="162" name="Text 159"/>
          <p:cNvSpPr/>
          <p:nvPr/>
        </p:nvSpPr>
        <p:spPr>
          <a:xfrm>
            <a:off x="4312800" y="57168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Domaine Sébastien Magnien</a:t>
            </a:r>
            <a:endParaRPr lang="en-US" sz="950" dirty="0"/>
          </a:p>
        </p:txBody>
      </p:sp>
      <p:sp>
        <p:nvSpPr>
          <p:cNvPr id="163" name="Text 160"/>
          <p:cNvSpPr/>
          <p:nvPr/>
        </p:nvSpPr>
        <p:spPr>
          <a:xfrm>
            <a:off x="5976000" y="57168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Bourgogne</a:t>
            </a:r>
            <a:endParaRPr lang="en-US" sz="760" dirty="0"/>
          </a:p>
        </p:txBody>
      </p:sp>
      <p:sp>
        <p:nvSpPr>
          <p:cNvPr id="164" name="Text 161"/>
          <p:cNvSpPr/>
          <p:nvPr/>
        </p:nvSpPr>
        <p:spPr>
          <a:xfrm>
            <a:off x="6660000" y="57168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16</a:t>
            </a:r>
            <a:endParaRPr lang="en-US" sz="900" dirty="0"/>
          </a:p>
        </p:txBody>
      </p:sp>
      <p:sp>
        <p:nvSpPr>
          <p:cNvPr id="165" name="Shape 162"/>
          <p:cNvSpPr/>
          <p:nvPr/>
        </p:nvSpPr>
        <p:spPr>
          <a:xfrm>
            <a:off x="4032000" y="5947258"/>
            <a:ext cx="2916000" cy="0"/>
          </a:xfrm>
          <a:prstGeom prst="line">
            <a:avLst/>
          </a:prstGeom>
          <a:noFill/>
          <a:ln w="3810">
            <a:solidFill>
              <a:srgbClr val="C9CFC9"/>
            </a:solidFill>
            <a:prstDash val="solid"/>
          </a:ln>
        </p:spPr>
      </p:sp>
      <p:sp>
        <p:nvSpPr>
          <p:cNvPr id="166" name="Shape 163"/>
          <p:cNvSpPr/>
          <p:nvPr/>
        </p:nvSpPr>
        <p:spPr>
          <a:xfrm>
            <a:off x="4032000" y="5965258"/>
            <a:ext cx="194400" cy="194400"/>
          </a:xfrm>
          <a:prstGeom prst="ellipse">
            <a:avLst/>
          </a:prstGeom>
          <a:solidFill>
            <a:srgbClr val="46606E"/>
          </a:solidFill>
          <a:ln w="7620">
            <a:solidFill>
              <a:srgbClr val="46606E"/>
            </a:solidFill>
            <a:prstDash val="solid"/>
          </a:ln>
        </p:spPr>
      </p:sp>
      <p:sp>
        <p:nvSpPr>
          <p:cNvPr id="167" name="Text 164"/>
          <p:cNvSpPr/>
          <p:nvPr/>
        </p:nvSpPr>
        <p:spPr>
          <a:xfrm>
            <a:off x="4032000" y="59652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19</a:t>
            </a:r>
            <a:endParaRPr lang="en-US" sz="760" dirty="0"/>
          </a:p>
        </p:txBody>
      </p:sp>
      <p:sp>
        <p:nvSpPr>
          <p:cNvPr id="168" name="Text 165"/>
          <p:cNvSpPr/>
          <p:nvPr/>
        </p:nvSpPr>
        <p:spPr>
          <a:xfrm>
            <a:off x="4312800" y="59472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Bastide de Blacailloux</a:t>
            </a:r>
            <a:endParaRPr lang="en-US" sz="950" dirty="0"/>
          </a:p>
        </p:txBody>
      </p:sp>
      <p:sp>
        <p:nvSpPr>
          <p:cNvPr id="169" name="Text 166"/>
          <p:cNvSpPr/>
          <p:nvPr/>
        </p:nvSpPr>
        <p:spPr>
          <a:xfrm>
            <a:off x="5976000" y="59472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Provence</a:t>
            </a:r>
            <a:endParaRPr lang="en-US" sz="760" dirty="0"/>
          </a:p>
        </p:txBody>
      </p:sp>
      <p:sp>
        <p:nvSpPr>
          <p:cNvPr id="170" name="Text 167"/>
          <p:cNvSpPr/>
          <p:nvPr/>
        </p:nvSpPr>
        <p:spPr>
          <a:xfrm>
            <a:off x="6660000" y="59472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71" name="Shape 168"/>
          <p:cNvSpPr/>
          <p:nvPr/>
        </p:nvSpPr>
        <p:spPr>
          <a:xfrm>
            <a:off x="4032000" y="6177658"/>
            <a:ext cx="2916000" cy="0"/>
          </a:xfrm>
          <a:prstGeom prst="line">
            <a:avLst/>
          </a:prstGeom>
          <a:noFill/>
          <a:ln w="3810">
            <a:solidFill>
              <a:srgbClr val="C9CFC9"/>
            </a:solidFill>
            <a:prstDash val="solid"/>
          </a:ln>
        </p:spPr>
      </p:sp>
      <p:sp>
        <p:nvSpPr>
          <p:cNvPr id="172" name="Shape 169"/>
          <p:cNvSpPr/>
          <p:nvPr/>
        </p:nvSpPr>
        <p:spPr>
          <a:xfrm>
            <a:off x="4032000" y="6195658"/>
            <a:ext cx="194400" cy="194400"/>
          </a:xfrm>
          <a:prstGeom prst="ellipse">
            <a:avLst/>
          </a:prstGeom>
          <a:solidFill>
            <a:srgbClr val="D08C3C"/>
          </a:solidFill>
          <a:ln w="7620">
            <a:solidFill>
              <a:srgbClr val="D08C3C"/>
            </a:solidFill>
            <a:prstDash val="solid"/>
          </a:ln>
        </p:spPr>
      </p:sp>
      <p:sp>
        <p:nvSpPr>
          <p:cNvPr id="173" name="Text 170"/>
          <p:cNvSpPr/>
          <p:nvPr/>
        </p:nvSpPr>
        <p:spPr>
          <a:xfrm>
            <a:off x="4032000" y="61956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20</a:t>
            </a:r>
            <a:endParaRPr lang="en-US" sz="760" dirty="0"/>
          </a:p>
        </p:txBody>
      </p:sp>
      <p:sp>
        <p:nvSpPr>
          <p:cNvPr id="174" name="Text 171"/>
          <p:cNvSpPr/>
          <p:nvPr/>
        </p:nvSpPr>
        <p:spPr>
          <a:xfrm>
            <a:off x="4312800" y="61776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Domaine Stratéus</a:t>
            </a:r>
            <a:endParaRPr lang="en-US" sz="950" dirty="0"/>
          </a:p>
        </p:txBody>
      </p:sp>
      <p:sp>
        <p:nvSpPr>
          <p:cNvPr id="175" name="Text 172"/>
          <p:cNvSpPr/>
          <p:nvPr/>
        </p:nvSpPr>
        <p:spPr>
          <a:xfrm>
            <a:off x="5976000" y="61776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Sud-Ouest</a:t>
            </a:r>
            <a:endParaRPr lang="en-US" sz="760" dirty="0"/>
          </a:p>
        </p:txBody>
      </p:sp>
      <p:sp>
        <p:nvSpPr>
          <p:cNvPr id="176" name="Text 173"/>
          <p:cNvSpPr/>
          <p:nvPr/>
        </p:nvSpPr>
        <p:spPr>
          <a:xfrm>
            <a:off x="6660000" y="61776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77" name="Shape 174"/>
          <p:cNvSpPr/>
          <p:nvPr/>
        </p:nvSpPr>
        <p:spPr>
          <a:xfrm>
            <a:off x="4032000" y="6408058"/>
            <a:ext cx="2916000" cy="0"/>
          </a:xfrm>
          <a:prstGeom prst="line">
            <a:avLst/>
          </a:prstGeom>
          <a:noFill/>
          <a:ln w="3810">
            <a:solidFill>
              <a:srgbClr val="C9CFC9"/>
            </a:solidFill>
            <a:prstDash val="solid"/>
          </a:ln>
        </p:spPr>
      </p:sp>
      <p:sp>
        <p:nvSpPr>
          <p:cNvPr id="178" name="Shape 175"/>
          <p:cNvSpPr/>
          <p:nvPr/>
        </p:nvSpPr>
        <p:spPr>
          <a:xfrm>
            <a:off x="4032000" y="6426058"/>
            <a:ext cx="194400" cy="194400"/>
          </a:xfrm>
          <a:prstGeom prst="ellipse">
            <a:avLst/>
          </a:prstGeom>
          <a:solidFill>
            <a:srgbClr val="3C5B47"/>
          </a:solidFill>
          <a:ln w="7620">
            <a:solidFill>
              <a:srgbClr val="3C5B47"/>
            </a:solidFill>
            <a:prstDash val="solid"/>
          </a:ln>
        </p:spPr>
      </p:sp>
      <p:sp>
        <p:nvSpPr>
          <p:cNvPr id="179" name="Text 176"/>
          <p:cNvSpPr/>
          <p:nvPr/>
        </p:nvSpPr>
        <p:spPr>
          <a:xfrm>
            <a:off x="4032000" y="64260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21</a:t>
            </a:r>
            <a:endParaRPr lang="en-US" sz="760" dirty="0"/>
          </a:p>
        </p:txBody>
      </p:sp>
      <p:sp>
        <p:nvSpPr>
          <p:cNvPr id="180" name="Text 177"/>
          <p:cNvSpPr/>
          <p:nvPr/>
        </p:nvSpPr>
        <p:spPr>
          <a:xfrm>
            <a:off x="4312800" y="64080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Famille d’Exea</a:t>
            </a:r>
            <a:endParaRPr lang="en-US" sz="950" dirty="0"/>
          </a:p>
        </p:txBody>
      </p:sp>
      <p:sp>
        <p:nvSpPr>
          <p:cNvPr id="181" name="Text 178"/>
          <p:cNvSpPr/>
          <p:nvPr/>
        </p:nvSpPr>
        <p:spPr>
          <a:xfrm>
            <a:off x="5976000" y="64080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Languedoc</a:t>
            </a:r>
            <a:endParaRPr lang="en-US" sz="760" dirty="0"/>
          </a:p>
        </p:txBody>
      </p:sp>
      <p:sp>
        <p:nvSpPr>
          <p:cNvPr id="182" name="Text 179"/>
          <p:cNvSpPr/>
          <p:nvPr/>
        </p:nvSpPr>
        <p:spPr>
          <a:xfrm>
            <a:off x="6660000" y="64080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39</a:t>
            </a:r>
            <a:endParaRPr lang="en-US" sz="900" dirty="0"/>
          </a:p>
        </p:txBody>
      </p:sp>
      <p:sp>
        <p:nvSpPr>
          <p:cNvPr id="183" name="Shape 180"/>
          <p:cNvSpPr/>
          <p:nvPr/>
        </p:nvSpPr>
        <p:spPr>
          <a:xfrm>
            <a:off x="4032000" y="6638458"/>
            <a:ext cx="2916000" cy="0"/>
          </a:xfrm>
          <a:prstGeom prst="line">
            <a:avLst/>
          </a:prstGeom>
          <a:noFill/>
          <a:ln w="3810">
            <a:solidFill>
              <a:srgbClr val="C9CFC9"/>
            </a:solidFill>
            <a:prstDash val="solid"/>
          </a:ln>
        </p:spPr>
      </p:sp>
      <p:sp>
        <p:nvSpPr>
          <p:cNvPr id="184" name="Shape 181"/>
          <p:cNvSpPr/>
          <p:nvPr/>
        </p:nvSpPr>
        <p:spPr>
          <a:xfrm>
            <a:off x="4032000" y="6656458"/>
            <a:ext cx="194400" cy="194400"/>
          </a:xfrm>
          <a:prstGeom prst="ellipse">
            <a:avLst/>
          </a:prstGeom>
          <a:solidFill>
            <a:srgbClr val="46606E"/>
          </a:solidFill>
          <a:ln w="7620">
            <a:solidFill>
              <a:srgbClr val="46606E"/>
            </a:solidFill>
            <a:prstDash val="solid"/>
          </a:ln>
        </p:spPr>
      </p:sp>
      <p:sp>
        <p:nvSpPr>
          <p:cNvPr id="185" name="Text 182"/>
          <p:cNvSpPr/>
          <p:nvPr/>
        </p:nvSpPr>
        <p:spPr>
          <a:xfrm>
            <a:off x="4032000" y="66564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22</a:t>
            </a:r>
            <a:endParaRPr lang="en-US" sz="760" dirty="0"/>
          </a:p>
        </p:txBody>
      </p:sp>
      <p:sp>
        <p:nvSpPr>
          <p:cNvPr id="186" name="Text 183"/>
          <p:cNvSpPr/>
          <p:nvPr/>
        </p:nvSpPr>
        <p:spPr>
          <a:xfrm>
            <a:off x="4312800" y="66384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Domaine de la Barbinière</a:t>
            </a:r>
            <a:endParaRPr lang="en-US" sz="950" dirty="0"/>
          </a:p>
        </p:txBody>
      </p:sp>
      <p:sp>
        <p:nvSpPr>
          <p:cNvPr id="187" name="Text 184"/>
          <p:cNvSpPr/>
          <p:nvPr/>
        </p:nvSpPr>
        <p:spPr>
          <a:xfrm>
            <a:off x="5976000" y="66384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Loire</a:t>
            </a:r>
            <a:endParaRPr lang="en-US" sz="760" dirty="0"/>
          </a:p>
        </p:txBody>
      </p:sp>
      <p:sp>
        <p:nvSpPr>
          <p:cNvPr id="188" name="Text 185"/>
          <p:cNvSpPr/>
          <p:nvPr/>
        </p:nvSpPr>
        <p:spPr>
          <a:xfrm>
            <a:off x="6660000" y="66384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189" name="Shape 186"/>
          <p:cNvSpPr/>
          <p:nvPr/>
        </p:nvSpPr>
        <p:spPr>
          <a:xfrm>
            <a:off x="4032000" y="6868858"/>
            <a:ext cx="2916000" cy="0"/>
          </a:xfrm>
          <a:prstGeom prst="line">
            <a:avLst/>
          </a:prstGeom>
          <a:noFill/>
          <a:ln w="3810">
            <a:solidFill>
              <a:srgbClr val="C9CFC9"/>
            </a:solidFill>
            <a:prstDash val="solid"/>
          </a:ln>
        </p:spPr>
      </p:sp>
      <p:sp>
        <p:nvSpPr>
          <p:cNvPr id="190" name="Shape 187"/>
          <p:cNvSpPr/>
          <p:nvPr/>
        </p:nvSpPr>
        <p:spPr>
          <a:xfrm>
            <a:off x="4032000" y="6886858"/>
            <a:ext cx="194400" cy="194400"/>
          </a:xfrm>
          <a:prstGeom prst="ellipse">
            <a:avLst/>
          </a:prstGeom>
          <a:solidFill>
            <a:srgbClr val="FBF8F1"/>
          </a:solidFill>
          <a:ln w="7620">
            <a:solidFill>
              <a:srgbClr val="46606E"/>
            </a:solidFill>
            <a:prstDash val="solid"/>
          </a:ln>
        </p:spPr>
      </p:sp>
      <p:sp>
        <p:nvSpPr>
          <p:cNvPr id="191" name="Text 188"/>
          <p:cNvSpPr/>
          <p:nvPr/>
        </p:nvSpPr>
        <p:spPr>
          <a:xfrm>
            <a:off x="4032000" y="6886858"/>
            <a:ext cx="194400" cy="194400"/>
          </a:xfrm>
          <a:prstGeom prst="rect">
            <a:avLst/>
          </a:prstGeom>
          <a:noFill/>
          <a:ln/>
        </p:spPr>
        <p:txBody>
          <a:bodyPr wrap="square" lIns="0" tIns="0" rIns="0" bIns="0" rtlCol="0" anchor="ctr"/>
          <a:lstStyle/>
          <a:p>
            <a:pPr algn="ctr" indent="0" marL="0">
              <a:buNone/>
            </a:pPr>
            <a:r>
              <a:rPr lang="en-US" sz="760" b="1" dirty="0">
                <a:solidFill>
                  <a:srgbClr val="46606E"/>
                </a:solidFill>
                <a:latin typeface="IBM Plex Sans" pitchFamily="34" charset="0"/>
                <a:ea typeface="IBM Plex Sans" pitchFamily="34" charset="-122"/>
                <a:cs typeface="IBM Plex Sans" pitchFamily="34" charset="-120"/>
              </a:rPr>
              <a:t>23</a:t>
            </a:r>
            <a:endParaRPr lang="en-US" sz="760" dirty="0"/>
          </a:p>
        </p:txBody>
      </p:sp>
      <p:sp>
        <p:nvSpPr>
          <p:cNvPr id="192" name="Text 189"/>
          <p:cNvSpPr/>
          <p:nvPr/>
        </p:nvSpPr>
        <p:spPr>
          <a:xfrm>
            <a:off x="4312800" y="68688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Champagne Solemme</a:t>
            </a:r>
            <a:endParaRPr lang="en-US" sz="950" dirty="0"/>
          </a:p>
        </p:txBody>
      </p:sp>
      <p:sp>
        <p:nvSpPr>
          <p:cNvPr id="193" name="Text 190"/>
          <p:cNvSpPr/>
          <p:nvPr/>
        </p:nvSpPr>
        <p:spPr>
          <a:xfrm>
            <a:off x="5976000" y="68688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Champagne</a:t>
            </a:r>
            <a:endParaRPr lang="en-US" sz="760" dirty="0"/>
          </a:p>
        </p:txBody>
      </p:sp>
      <p:sp>
        <p:nvSpPr>
          <p:cNvPr id="194" name="Text 191"/>
          <p:cNvSpPr/>
          <p:nvPr/>
        </p:nvSpPr>
        <p:spPr>
          <a:xfrm>
            <a:off x="6660000" y="68688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95" name="Shape 192"/>
          <p:cNvSpPr/>
          <p:nvPr/>
        </p:nvSpPr>
        <p:spPr>
          <a:xfrm>
            <a:off x="4032000" y="7099258"/>
            <a:ext cx="2916000" cy="0"/>
          </a:xfrm>
          <a:prstGeom prst="line">
            <a:avLst/>
          </a:prstGeom>
          <a:noFill/>
          <a:ln w="3810">
            <a:solidFill>
              <a:srgbClr val="C9CFC9"/>
            </a:solidFill>
            <a:prstDash val="solid"/>
          </a:ln>
        </p:spPr>
      </p:sp>
      <p:sp>
        <p:nvSpPr>
          <p:cNvPr id="196" name="Shape 193"/>
          <p:cNvSpPr/>
          <p:nvPr/>
        </p:nvSpPr>
        <p:spPr>
          <a:xfrm>
            <a:off x="4032000" y="7117258"/>
            <a:ext cx="194400" cy="194400"/>
          </a:xfrm>
          <a:prstGeom prst="ellipse">
            <a:avLst/>
          </a:prstGeom>
          <a:solidFill>
            <a:srgbClr val="A8515F"/>
          </a:solidFill>
          <a:ln w="7620">
            <a:solidFill>
              <a:srgbClr val="A8515F"/>
            </a:solidFill>
            <a:prstDash val="solid"/>
          </a:ln>
        </p:spPr>
      </p:sp>
      <p:sp>
        <p:nvSpPr>
          <p:cNvPr id="197" name="Text 194"/>
          <p:cNvSpPr/>
          <p:nvPr/>
        </p:nvSpPr>
        <p:spPr>
          <a:xfrm>
            <a:off x="4032000" y="71172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24</a:t>
            </a:r>
            <a:endParaRPr lang="en-US" sz="760" dirty="0"/>
          </a:p>
        </p:txBody>
      </p:sp>
      <p:sp>
        <p:nvSpPr>
          <p:cNvPr id="198" name="Text 195"/>
          <p:cNvSpPr/>
          <p:nvPr/>
        </p:nvSpPr>
        <p:spPr>
          <a:xfrm>
            <a:off x="4312800" y="70992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Château Escarderie</a:t>
            </a:r>
            <a:endParaRPr lang="en-US" sz="950" dirty="0"/>
          </a:p>
        </p:txBody>
      </p:sp>
      <p:sp>
        <p:nvSpPr>
          <p:cNvPr id="199" name="Text 196"/>
          <p:cNvSpPr/>
          <p:nvPr/>
        </p:nvSpPr>
        <p:spPr>
          <a:xfrm>
            <a:off x="5976000" y="70992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Bordeaux</a:t>
            </a:r>
            <a:endParaRPr lang="en-US" sz="760" dirty="0"/>
          </a:p>
        </p:txBody>
      </p:sp>
      <p:sp>
        <p:nvSpPr>
          <p:cNvPr id="200" name="Text 197"/>
          <p:cNvSpPr/>
          <p:nvPr/>
        </p:nvSpPr>
        <p:spPr>
          <a:xfrm>
            <a:off x="6660000" y="70992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201" name="Shape 198"/>
          <p:cNvSpPr/>
          <p:nvPr/>
        </p:nvSpPr>
        <p:spPr>
          <a:xfrm>
            <a:off x="4032000" y="7329658"/>
            <a:ext cx="2916000" cy="0"/>
          </a:xfrm>
          <a:prstGeom prst="line">
            <a:avLst/>
          </a:prstGeom>
          <a:noFill/>
          <a:ln w="3810">
            <a:solidFill>
              <a:srgbClr val="C9CFC9"/>
            </a:solidFill>
            <a:prstDash val="solid"/>
          </a:ln>
        </p:spPr>
      </p:sp>
      <p:sp>
        <p:nvSpPr>
          <p:cNvPr id="202" name="Shape 199"/>
          <p:cNvSpPr/>
          <p:nvPr/>
        </p:nvSpPr>
        <p:spPr>
          <a:xfrm>
            <a:off x="4032000" y="7347658"/>
            <a:ext cx="194400" cy="194400"/>
          </a:xfrm>
          <a:prstGeom prst="ellipse">
            <a:avLst/>
          </a:prstGeom>
          <a:solidFill>
            <a:srgbClr val="46606E"/>
          </a:solidFill>
          <a:ln w="7620">
            <a:solidFill>
              <a:srgbClr val="46606E"/>
            </a:solidFill>
            <a:prstDash val="solid"/>
          </a:ln>
        </p:spPr>
      </p:sp>
      <p:sp>
        <p:nvSpPr>
          <p:cNvPr id="203" name="Text 200"/>
          <p:cNvSpPr/>
          <p:nvPr/>
        </p:nvSpPr>
        <p:spPr>
          <a:xfrm>
            <a:off x="4032000" y="73476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25</a:t>
            </a:r>
            <a:endParaRPr lang="en-US" sz="760" dirty="0"/>
          </a:p>
        </p:txBody>
      </p:sp>
      <p:sp>
        <p:nvSpPr>
          <p:cNvPr id="204" name="Text 201"/>
          <p:cNvSpPr/>
          <p:nvPr/>
        </p:nvSpPr>
        <p:spPr>
          <a:xfrm>
            <a:off x="4312800" y="73296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Chai Berteaud Manceau</a:t>
            </a:r>
            <a:endParaRPr lang="en-US" sz="950" dirty="0"/>
          </a:p>
        </p:txBody>
      </p:sp>
      <p:sp>
        <p:nvSpPr>
          <p:cNvPr id="205" name="Text 202"/>
          <p:cNvSpPr/>
          <p:nvPr/>
        </p:nvSpPr>
        <p:spPr>
          <a:xfrm>
            <a:off x="5976000" y="73296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Loire</a:t>
            </a:r>
            <a:endParaRPr lang="en-US" sz="760" dirty="0"/>
          </a:p>
        </p:txBody>
      </p:sp>
      <p:sp>
        <p:nvSpPr>
          <p:cNvPr id="206" name="Text 203"/>
          <p:cNvSpPr/>
          <p:nvPr/>
        </p:nvSpPr>
        <p:spPr>
          <a:xfrm>
            <a:off x="6660000" y="73296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207" name="Shape 204"/>
          <p:cNvSpPr/>
          <p:nvPr/>
        </p:nvSpPr>
        <p:spPr>
          <a:xfrm>
            <a:off x="4032000" y="7560058"/>
            <a:ext cx="2916000" cy="0"/>
          </a:xfrm>
          <a:prstGeom prst="line">
            <a:avLst/>
          </a:prstGeom>
          <a:noFill/>
          <a:ln w="3810">
            <a:solidFill>
              <a:srgbClr val="C9CFC9"/>
            </a:solidFill>
            <a:prstDash val="solid"/>
          </a:ln>
        </p:spPr>
      </p:sp>
      <p:sp>
        <p:nvSpPr>
          <p:cNvPr id="208" name="Shape 205"/>
          <p:cNvSpPr/>
          <p:nvPr/>
        </p:nvSpPr>
        <p:spPr>
          <a:xfrm>
            <a:off x="4032000" y="7578058"/>
            <a:ext cx="194400" cy="194400"/>
          </a:xfrm>
          <a:prstGeom prst="ellipse">
            <a:avLst/>
          </a:prstGeom>
          <a:solidFill>
            <a:srgbClr val="D08C3C"/>
          </a:solidFill>
          <a:ln w="7620">
            <a:solidFill>
              <a:srgbClr val="D08C3C"/>
            </a:solidFill>
            <a:prstDash val="solid"/>
          </a:ln>
        </p:spPr>
      </p:sp>
      <p:sp>
        <p:nvSpPr>
          <p:cNvPr id="209" name="Text 206"/>
          <p:cNvSpPr/>
          <p:nvPr/>
        </p:nvSpPr>
        <p:spPr>
          <a:xfrm>
            <a:off x="4032000" y="7578058"/>
            <a:ext cx="194400" cy="194400"/>
          </a:xfrm>
          <a:prstGeom prst="rect">
            <a:avLst/>
          </a:prstGeom>
          <a:noFill/>
          <a:ln/>
        </p:spPr>
        <p:txBody>
          <a:bodyPr wrap="square" lIns="0" tIns="0" rIns="0" bIns="0" rtlCol="0" anchor="ctr"/>
          <a:lstStyle/>
          <a:p>
            <a:pPr algn="ctr" indent="0" marL="0">
              <a:buNone/>
            </a:pPr>
            <a:r>
              <a:rPr lang="en-US" sz="760" b="1" dirty="0">
                <a:solidFill>
                  <a:srgbClr val="FBF8F1"/>
                </a:solidFill>
                <a:latin typeface="IBM Plex Sans" pitchFamily="34" charset="0"/>
                <a:ea typeface="IBM Plex Sans" pitchFamily="34" charset="-122"/>
                <a:cs typeface="IBM Plex Sans" pitchFamily="34" charset="-120"/>
              </a:rPr>
              <a:t>26</a:t>
            </a:r>
            <a:endParaRPr lang="en-US" sz="760" dirty="0"/>
          </a:p>
        </p:txBody>
      </p:sp>
      <p:sp>
        <p:nvSpPr>
          <p:cNvPr id="210" name="Text 207"/>
          <p:cNvSpPr/>
          <p:nvPr/>
        </p:nvSpPr>
        <p:spPr>
          <a:xfrm>
            <a:off x="4312800" y="7560058"/>
            <a:ext cx="1692000" cy="230400"/>
          </a:xfrm>
          <a:prstGeom prst="rect">
            <a:avLst/>
          </a:prstGeom>
          <a:noFill/>
          <a:ln/>
        </p:spPr>
        <p:txBody>
          <a:bodyPr wrap="square" lIns="0" tIns="0" rIns="0" bIns="0" rtlCol="0" anchor="ctr"/>
          <a:lstStyle/>
          <a:p>
            <a:pPr indent="0" marL="0">
              <a:buNone/>
            </a:pPr>
            <a:r>
              <a:rPr lang="en-US" sz="950" dirty="0">
                <a:solidFill>
                  <a:srgbClr val="2A3942"/>
                </a:solidFill>
                <a:latin typeface="Spectral" pitchFamily="34" charset="0"/>
                <a:ea typeface="Spectral" pitchFamily="34" charset="-122"/>
                <a:cs typeface="Spectral" pitchFamily="34" charset="-120"/>
              </a:rPr>
              <a:t>Maison André Goichot</a:t>
            </a:r>
            <a:endParaRPr lang="en-US" sz="950" dirty="0"/>
          </a:p>
        </p:txBody>
      </p:sp>
      <p:sp>
        <p:nvSpPr>
          <p:cNvPr id="211" name="Text 208"/>
          <p:cNvSpPr/>
          <p:nvPr/>
        </p:nvSpPr>
        <p:spPr>
          <a:xfrm>
            <a:off x="5976000" y="7560058"/>
            <a:ext cx="648000" cy="230400"/>
          </a:xfrm>
          <a:prstGeom prst="rect">
            <a:avLst/>
          </a:prstGeom>
          <a:noFill/>
          <a:ln/>
        </p:spPr>
        <p:txBody>
          <a:bodyPr wrap="square" lIns="0" tIns="0" rIns="0" bIns="0" rtlCol="0" anchor="ctr"/>
          <a:lstStyle/>
          <a:p>
            <a:pPr algn="r" indent="0" marL="0">
              <a:buNone/>
            </a:pPr>
            <a:r>
              <a:rPr lang="en-US" sz="760" dirty="0">
                <a:solidFill>
                  <a:srgbClr val="A8515F"/>
                </a:solidFill>
                <a:latin typeface="IBM Plex Sans" pitchFamily="34" charset="0"/>
                <a:ea typeface="IBM Plex Sans" pitchFamily="34" charset="-122"/>
                <a:cs typeface="IBM Plex Sans" pitchFamily="34" charset="-120"/>
              </a:rPr>
              <a:t>Bourgogne</a:t>
            </a:r>
            <a:endParaRPr lang="en-US" sz="760" dirty="0"/>
          </a:p>
        </p:txBody>
      </p:sp>
      <p:sp>
        <p:nvSpPr>
          <p:cNvPr id="212" name="Text 209"/>
          <p:cNvSpPr/>
          <p:nvPr/>
        </p:nvSpPr>
        <p:spPr>
          <a:xfrm>
            <a:off x="6660000" y="7560058"/>
            <a:ext cx="288000" cy="2304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213" name="Shape 210"/>
          <p:cNvSpPr/>
          <p:nvPr/>
        </p:nvSpPr>
        <p:spPr>
          <a:xfrm>
            <a:off x="4032000" y="7790458"/>
            <a:ext cx="2916000" cy="0"/>
          </a:xfrm>
          <a:prstGeom prst="line">
            <a:avLst/>
          </a:prstGeom>
          <a:noFill/>
          <a:ln w="3810">
            <a:solidFill>
              <a:srgbClr val="C9CFC9"/>
            </a:solidFill>
            <a:prstDash val="solid"/>
          </a:ln>
        </p:spPr>
      </p:sp>
      <p:sp>
        <p:nvSpPr>
          <p:cNvPr id="214" name="Text 21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215" name="Text 21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oir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45</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r>
              <a:rPr lang="en-US" sz="860" dirty="0">
                <a:solidFill>
                  <a:srgbClr val="FBF8F1"/>
                </a:solidFill>
                <a:latin typeface="IBM Plex Sans" pitchFamily="34" charset="0"/>
                <a:ea typeface="IBM Plex Sans" pitchFamily="34" charset="-122"/>
                <a:cs typeface="IBM Plex Sans" pitchFamily="34" charset="-120"/>
              </a:rPr>
              <a:t>François Reverdy</a:t>
            </a:r>
            <a:r>
              <a:rPr lang="en-US" sz="860" b="1" dirty="0">
                <a:solidFill>
                  <a:srgbClr val="FBF8F1"/>
                </a:solidFill>
                <a:latin typeface="IBM Plex Sans" pitchFamily="34" charset="0"/>
                <a:ea typeface="IBM Plex Sans" pitchFamily="34" charset="-122"/>
                <a:cs typeface="IBM Plex Sans" pitchFamily="34" charset="-120"/>
              </a:rPr>
              <a:t>   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r>
              <a:rPr lang="en-US" sz="860" dirty="0">
                <a:solidFill>
                  <a:srgbClr val="FBF8F1"/>
                </a:solidFill>
                <a:latin typeface="IBM Plex Sans" pitchFamily="34" charset="0"/>
                <a:ea typeface="IBM Plex Sans" pitchFamily="34" charset="-122"/>
                <a:cs typeface="IBM Plex Sans" pitchFamily="34" charset="-120"/>
              </a:rPr>
              <a:t>Domaine de la Barbinière</a:t>
            </a: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r>
              <a:rPr lang="en-US" sz="860" dirty="0">
                <a:solidFill>
                  <a:srgbClr val="FBF8F1"/>
                </a:solidFill>
                <a:latin typeface="IBM Plex Sans" pitchFamily="34" charset="0"/>
                <a:ea typeface="IBM Plex Sans" pitchFamily="34" charset="-122"/>
                <a:cs typeface="IBM Plex Sans" pitchFamily="34" charset="-120"/>
              </a:rPr>
              <a:t>Domaine du Colombier / J.Y Bretaudeau</a:t>
            </a:r>
            <a:r>
              <a:rPr lang="en-US" sz="860" b="1" dirty="0">
                <a:solidFill>
                  <a:srgbClr val="FBF8F1"/>
                </a:solidFill>
                <a:latin typeface="IBM Plex Sans" pitchFamily="34" charset="0"/>
                <a:ea typeface="IBM Plex Sans" pitchFamily="34" charset="-122"/>
                <a:cs typeface="IBM Plex Sans" pitchFamily="34" charset="-120"/>
              </a:rPr>
              <a:t>   8</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r>
              <a:rPr lang="en-US" sz="860" dirty="0">
                <a:solidFill>
                  <a:srgbClr val="FBF8F1"/>
                </a:solidFill>
                <a:latin typeface="IBM Plex Sans" pitchFamily="34" charset="0"/>
                <a:ea typeface="IBM Plex Sans" pitchFamily="34" charset="-122"/>
                <a:cs typeface="IBM Plex Sans" pitchFamily="34" charset="-120"/>
              </a:rPr>
              <a:t>Domaine des Noëls</a:t>
            </a: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r>
              <a:rPr lang="en-US" sz="860" dirty="0">
                <a:solidFill>
                  <a:srgbClr val="FBF8F1"/>
                </a:solidFill>
                <a:latin typeface="IBM Plex Sans" pitchFamily="34" charset="0"/>
                <a:ea typeface="IBM Plex Sans" pitchFamily="34" charset="-122"/>
                <a:cs typeface="IBM Plex Sans" pitchFamily="34" charset="-120"/>
              </a:rPr>
              <a:t>Chai Berteaud Manceau</a:t>
            </a:r>
            <a:r>
              <a:rPr lang="en-US" sz="860" b="1" dirty="0">
                <a:solidFill>
                  <a:srgbClr val="FBF8F1"/>
                </a:solidFill>
                <a:latin typeface="IBM Plex Sans" pitchFamily="34" charset="0"/>
                <a:ea typeface="IBM Plex Sans" pitchFamily="34" charset="-122"/>
                <a:cs typeface="IBM Plex Sans" pitchFamily="34" charset="-120"/>
              </a:rPr>
              <a:t>   10</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r>
              <a:rPr lang="en-US" sz="860" dirty="0">
                <a:solidFill>
                  <a:srgbClr val="FBF8F1"/>
                </a:solidFill>
                <a:latin typeface="IBM Plex Sans" pitchFamily="34" charset="0"/>
                <a:ea typeface="IBM Plex Sans" pitchFamily="34" charset="-122"/>
                <a:cs typeface="IBM Plex Sans" pitchFamily="34" charset="-120"/>
              </a:rPr>
              <a:t>Domaine Jean de Villebois</a:t>
            </a:r>
            <a:r>
              <a:rPr lang="en-US" sz="860" b="1" dirty="0">
                <a:solidFill>
                  <a:srgbClr val="FBF8F1"/>
                </a:solidFill>
                <a:latin typeface="IBM Plex Sans" pitchFamily="34" charset="0"/>
                <a:ea typeface="IBM Plex Sans" pitchFamily="34" charset="-122"/>
                <a:cs typeface="IBM Plex Sans" pitchFamily="34" charset="-120"/>
              </a:rPr>
              <a:t>   11</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François Reverdy</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vins à la dégustation</a:t>
            </a:r>
            <a:endParaRPr lang="en-US" sz="720" dirty="0"/>
          </a:p>
        </p:txBody>
      </p:sp>
      <p:pic>
        <p:nvPicPr>
          <p:cNvPr id="16" name="Image 2" descr="portrait du vigneron, noir et blanc — François Reverdy">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François Reverdy">    </p:cNvPr>
          <p:cNvPicPr>
            <a:picLocks noChangeAspect="1"/>
          </p:cNvPicPr>
          <p:nvPr/>
        </p:nvPicPr>
        <p:blipFill>
          <a:blip r:embed="rId4"/>
          <a:stretch>
            <a:fillRect/>
          </a:stretch>
        </p:blipFill>
        <p:spPr>
          <a:xfrm>
            <a:off x="6208033" y="1735388"/>
            <a:ext cx="615934" cy="2232000"/>
          </a:xfrm>
          <a:prstGeom prst="rect">
            <a:avLst/>
          </a:prstGeom>
        </p:spPr>
      </p:pic>
      <p:sp>
        <p:nvSpPr>
          <p:cNvPr id="18" name="Text 12"/>
          <p:cNvSpPr/>
          <p:nvPr/>
        </p:nvSpPr>
        <p:spPr>
          <a:xfrm>
            <a:off x="2393967" y="163995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9" name="Text 13"/>
          <p:cNvSpPr/>
          <p:nvPr/>
        </p:nvSpPr>
        <p:spPr>
          <a:xfrm>
            <a:off x="2448000" y="1782715"/>
            <a:ext cx="3456000" cy="2184573"/>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Jusqu'à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2264">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Grolleau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Cravant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470857"/>
            <a:ext cx="0" cy="288349"/>
          </a:xfrm>
          <a:prstGeom prst="line">
            <a:avLst/>
          </a:prstGeom>
          <a:noFill/>
          <a:ln w="17780">
            <a:solidFill>
              <a:srgbClr val="67067C"/>
            </a:solidFill>
            <a:prstDash val="solid"/>
          </a:ln>
        </p:spPr>
      </p:sp>
      <p:sp>
        <p:nvSpPr>
          <p:cNvPr id="22" name="Text 15"/>
          <p:cNvSpPr/>
          <p:nvPr/>
        </p:nvSpPr>
        <p:spPr>
          <a:xfrm>
            <a:off x="936000" y="7470857"/>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828000" y="8388000"/>
            <a:ext cx="6120000" cy="0"/>
          </a:xfrm>
          <a:prstGeom prst="line">
            <a:avLst/>
          </a:prstGeom>
          <a:noFill/>
          <a:ln w="8890">
            <a:solidFill>
              <a:srgbClr val="46606E"/>
            </a:solidFill>
            <a:prstDash val="solid"/>
          </a:ln>
        </p:spPr>
      </p:sp>
      <p:sp>
        <p:nvSpPr>
          <p:cNvPr id="24"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Autre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Barbinière</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177651"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1887762" y="1425788"/>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1887762"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352436"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352436"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vendanges dans les vignes du domaine — Domaine de la Barbinière">    </p:cNvPr>
          <p:cNvPicPr>
            <a:picLocks noChangeAspect="1"/>
          </p:cNvPicPr>
          <p:nvPr/>
        </p:nvPicPr>
        <p:blipFill>
          <a:blip r:embed="rId3"/>
          <a:stretch>
            <a:fillRect/>
          </a:stretch>
        </p:blipFill>
        <p:spPr>
          <a:xfrm>
            <a:off x="612000" y="1735388"/>
            <a:ext cx="1440000" cy="1440000"/>
          </a:xfrm>
          <a:prstGeom prst="rect">
            <a:avLst/>
          </a:prstGeom>
        </p:spPr>
      </p:pic>
      <p:pic>
        <p:nvPicPr>
          <p:cNvPr id="19" name="Image 3" descr="Une bouteille du domaine Domaine de la Barbinière">    </p:cNvPr>
          <p:cNvPicPr>
            <a:picLocks noChangeAspect="1"/>
          </p:cNvPicPr>
          <p:nvPr/>
        </p:nvPicPr>
        <p:blipFill>
          <a:blip r:embed="rId4"/>
          <a:stretch>
            <a:fillRect/>
          </a:stretch>
        </p:blipFill>
        <p:spPr>
          <a:xfrm>
            <a:off x="6013377" y="1735388"/>
            <a:ext cx="573246" cy="2232000"/>
          </a:xfrm>
          <a:prstGeom prst="rect">
            <a:avLst/>
          </a:prstGeom>
        </p:spPr>
      </p:pic>
      <p:sp>
        <p:nvSpPr>
          <p:cNvPr id="20" name="Text 14"/>
          <p:cNvSpPr/>
          <p:nvPr/>
        </p:nvSpPr>
        <p:spPr>
          <a:xfrm>
            <a:off x="2177960" y="173091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232000" y="1841123"/>
            <a:ext cx="3456000" cy="21261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612000" y="7157276"/>
            <a:ext cx="0" cy="288349"/>
          </a:xfrm>
          <a:prstGeom prst="line">
            <a:avLst/>
          </a:prstGeom>
          <a:noFill/>
          <a:ln w="17780">
            <a:solidFill>
              <a:srgbClr val="67067C"/>
            </a:solidFill>
            <a:prstDash val="solid"/>
          </a:ln>
        </p:spPr>
      </p:sp>
      <p:sp>
        <p:nvSpPr>
          <p:cNvPr id="24" name="Text 17"/>
          <p:cNvSpPr/>
          <p:nvPr/>
        </p:nvSpPr>
        <p:spPr>
          <a:xfrm>
            <a:off x="720000" y="715727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Shape 18"/>
          <p:cNvSpPr/>
          <p:nvPr/>
        </p:nvSpPr>
        <p:spPr>
          <a:xfrm>
            <a:off x="612000" y="8388000"/>
            <a:ext cx="6120000" cy="0"/>
          </a:xfrm>
          <a:prstGeom prst="line">
            <a:avLst/>
          </a:prstGeom>
          <a:noFill/>
          <a:ln w="8890">
            <a:solidFill>
              <a:srgbClr val="46606E"/>
            </a:solidFill>
            <a:prstDash val="solid"/>
          </a:ln>
        </p:spPr>
      </p:sp>
      <p:sp>
        <p:nvSpPr>
          <p:cNvPr id="26" name="Text 19"/>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7"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9"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1550" dirty="0">
                <a:solidFill>
                  <a:srgbClr val="46606E"/>
                </a:solidFill>
                <a:latin typeface="Young Serif" pitchFamily="34" charset="0"/>
                <a:ea typeface="Young Serif" pitchFamily="34" charset="-122"/>
                <a:cs typeface="Young Serif" pitchFamily="34" charset="-120"/>
              </a:rPr>
              <a:t>Domaine du Colombier / J.Y Bretaudeau</a:t>
            </a:r>
            <a:endParaRPr lang="en-US" sz="155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e vigneron au chai — Domaine du Colombier / J.Y Bretaudeau">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Domaine du Colombier / J.Y Bretaudeau">    </p:cNvPr>
          <p:cNvPicPr>
            <a:picLocks noChangeAspect="1"/>
          </p:cNvPicPr>
          <p:nvPr/>
        </p:nvPicPr>
        <p:blipFill>
          <a:blip r:embed="rId4"/>
          <a:stretch>
            <a:fillRect/>
          </a:stretch>
        </p:blipFill>
        <p:spPr>
          <a:xfrm>
            <a:off x="6218705" y="1735388"/>
            <a:ext cx="594590" cy="2232000"/>
          </a:xfrm>
          <a:prstGeom prst="rect">
            <a:avLst/>
          </a:prstGeom>
        </p:spPr>
      </p:pic>
      <p:sp>
        <p:nvSpPr>
          <p:cNvPr id="18" name="Text 12"/>
          <p:cNvSpPr/>
          <p:nvPr/>
        </p:nvSpPr>
        <p:spPr>
          <a:xfrm>
            <a:off x="2394005" y="186216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9" name="Text 13"/>
          <p:cNvSpPr/>
          <p:nvPr/>
        </p:nvSpPr>
        <p:spPr>
          <a:xfrm>
            <a:off x="2448000" y="1988265"/>
            <a:ext cx="3456000" cy="197902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friands et expressifs.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Muscadet Sèvre et Maine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L'envol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7157276"/>
            <a:ext cx="0" cy="288349"/>
          </a:xfrm>
          <a:prstGeom prst="line">
            <a:avLst/>
          </a:prstGeom>
          <a:noFill/>
          <a:ln w="17780">
            <a:solidFill>
              <a:srgbClr val="67067C"/>
            </a:solidFill>
            <a:prstDash val="solid"/>
          </a:ln>
        </p:spPr>
      </p:sp>
      <p:sp>
        <p:nvSpPr>
          <p:cNvPr id="22" name="Text 15"/>
          <p:cNvSpPr/>
          <p:nvPr/>
        </p:nvSpPr>
        <p:spPr>
          <a:xfrm>
            <a:off x="936000" y="715727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828000" y="8388000"/>
            <a:ext cx="6120000" cy="0"/>
          </a:xfrm>
          <a:prstGeom prst="line">
            <a:avLst/>
          </a:prstGeom>
          <a:noFill/>
          <a:ln w="8890">
            <a:solidFill>
              <a:srgbClr val="46606E"/>
            </a:solidFill>
            <a:prstDash val="solid"/>
          </a:ln>
        </p:spPr>
      </p:sp>
      <p:sp>
        <p:nvSpPr>
          <p:cNvPr id="24"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Autre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Noëls</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portrait — Domaine des Noëls">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Domaine des Noëls">    </p:cNvPr>
          <p:cNvPicPr>
            <a:picLocks noChangeAspect="1"/>
          </p:cNvPicPr>
          <p:nvPr/>
        </p:nvPicPr>
        <p:blipFill>
          <a:blip r:embed="rId4"/>
          <a:stretch>
            <a:fillRect/>
          </a:stretch>
        </p:blipFill>
        <p:spPr>
          <a:xfrm>
            <a:off x="6001180" y="1735388"/>
            <a:ext cx="597639" cy="2232000"/>
          </a:xfrm>
          <a:prstGeom prst="rect">
            <a:avLst/>
          </a:prstGeom>
        </p:spPr>
      </p:pic>
      <p:sp>
        <p:nvSpPr>
          <p:cNvPr id="18" name="Text 12"/>
          <p:cNvSpPr/>
          <p:nvPr/>
        </p:nvSpPr>
        <p:spPr>
          <a:xfrm>
            <a:off x="2177965" y="185572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232000" y="1992694"/>
            <a:ext cx="3456000" cy="197459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7073783"/>
            <a:ext cx="0" cy="288349"/>
          </a:xfrm>
          <a:prstGeom prst="line">
            <a:avLst/>
          </a:prstGeom>
          <a:noFill/>
          <a:ln w="17780">
            <a:solidFill>
              <a:srgbClr val="67067C"/>
            </a:solidFill>
            <a:prstDash val="solid"/>
          </a:ln>
        </p:spPr>
      </p:sp>
      <p:sp>
        <p:nvSpPr>
          <p:cNvPr id="22" name="Text 15"/>
          <p:cNvSpPr/>
          <p:nvPr/>
        </p:nvSpPr>
        <p:spPr>
          <a:xfrm>
            <a:off x="720000" y="707378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388000"/>
            <a:ext cx="6120000" cy="0"/>
          </a:xfrm>
          <a:prstGeom prst="line">
            <a:avLst/>
          </a:prstGeom>
          <a:noFill/>
          <a:ln w="8890">
            <a:solidFill>
              <a:srgbClr val="46606E"/>
            </a:solidFill>
            <a:prstDash val="solid"/>
          </a:ln>
        </p:spPr>
      </p:sp>
      <p:sp>
        <p:nvSpPr>
          <p:cNvPr id="24"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Chai Berteaud Manceau</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s deux fondateurs du chai — Chai Berteaud Manceau">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Chai Berteaud Manceau">    </p:cNvPr>
          <p:cNvPicPr>
            <a:picLocks noChangeAspect="1"/>
          </p:cNvPicPr>
          <p:nvPr/>
        </p:nvPicPr>
        <p:blipFill>
          <a:blip r:embed="rId4"/>
          <a:stretch>
            <a:fillRect/>
          </a:stretch>
        </p:blipFill>
        <p:spPr>
          <a:xfrm>
            <a:off x="6214131" y="1735388"/>
            <a:ext cx="603738" cy="2232000"/>
          </a:xfrm>
          <a:prstGeom prst="rect">
            <a:avLst/>
          </a:prstGeom>
        </p:spPr>
      </p:pic>
      <p:sp>
        <p:nvSpPr>
          <p:cNvPr id="18" name="Text 12"/>
          <p:cNvSpPr/>
          <p:nvPr/>
        </p:nvSpPr>
        <p:spPr>
          <a:xfrm>
            <a:off x="2394017" y="186673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985121"/>
            <a:ext cx="3456000" cy="19821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L'Eberluant –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064431"/>
            <a:ext cx="0" cy="288349"/>
          </a:xfrm>
          <a:prstGeom prst="line">
            <a:avLst/>
          </a:prstGeom>
          <a:noFill/>
          <a:ln w="17780">
            <a:solidFill>
              <a:srgbClr val="67067C"/>
            </a:solidFill>
            <a:prstDash val="solid"/>
          </a:ln>
        </p:spPr>
      </p:sp>
      <p:sp>
        <p:nvSpPr>
          <p:cNvPr id="22" name="Text 15"/>
          <p:cNvSpPr/>
          <p:nvPr/>
        </p:nvSpPr>
        <p:spPr>
          <a:xfrm>
            <a:off x="936000" y="6064431"/>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649678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828000" y="6644380"/>
            <a:ext cx="6120000" cy="1148400"/>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Autre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Jean de Villebois</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80475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is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2" name="Shape 8"/>
          <p:cNvSpPr/>
          <p:nvPr/>
        </p:nvSpPr>
        <p:spPr>
          <a:xfrm>
            <a:off x="149595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9595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927344" y="1425788"/>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2927344" y="1425788"/>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3870901" y="1425788"/>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870901" y="1425788"/>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12 vins à la dégustation</a:t>
            </a:r>
            <a:endParaRPr lang="en-US" sz="720" dirty="0"/>
          </a:p>
        </p:txBody>
      </p:sp>
      <p:pic>
        <p:nvPicPr>
          <p:cNvPr id="18" name="Image 2" descr="dans les vignes — Domaine Jean de Villebois">    </p:cNvPr>
          <p:cNvPicPr>
            <a:picLocks noChangeAspect="1"/>
          </p:cNvPicPr>
          <p:nvPr/>
        </p:nvPicPr>
        <p:blipFill>
          <a:blip r:embed="rId3"/>
          <a:stretch>
            <a:fillRect/>
          </a:stretch>
        </p:blipFill>
        <p:spPr>
          <a:xfrm>
            <a:off x="612000" y="1735388"/>
            <a:ext cx="1440000" cy="1440000"/>
          </a:xfrm>
          <a:prstGeom prst="rect">
            <a:avLst/>
          </a:prstGeom>
        </p:spPr>
      </p:pic>
      <p:pic>
        <p:nvPicPr>
          <p:cNvPr id="19" name="Image 3" descr="Une bouteille du domaine Domaine Jean de Villebois">    </p:cNvPr>
          <p:cNvPicPr>
            <a:picLocks noChangeAspect="1"/>
          </p:cNvPicPr>
          <p:nvPr/>
        </p:nvPicPr>
        <p:blipFill>
          <a:blip r:embed="rId4"/>
          <a:stretch>
            <a:fillRect/>
          </a:stretch>
        </p:blipFill>
        <p:spPr>
          <a:xfrm>
            <a:off x="5993557" y="1735388"/>
            <a:ext cx="612885" cy="2232000"/>
          </a:xfrm>
          <a:prstGeom prst="rect">
            <a:avLst/>
          </a:prstGeom>
        </p:spPr>
      </p:pic>
      <p:sp>
        <p:nvSpPr>
          <p:cNvPr id="20" name="Text 14"/>
          <p:cNvSpPr/>
          <p:nvPr/>
        </p:nvSpPr>
        <p:spPr>
          <a:xfrm>
            <a:off x="2177960" y="187157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232000" y="1981788"/>
            <a:ext cx="3456000" cy="19855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Menetou-Salon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Beltins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Text 16"/>
          <p:cNvSpPr/>
          <p:nvPr/>
        </p:nvSpPr>
        <p:spPr>
          <a:xfrm>
            <a:off x="612000" y="56262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5773884"/>
            <a:ext cx="6120000" cy="1152745"/>
          </a:xfrm>
          <a:prstGeom prst="rect">
            <a:avLst/>
          </a:prstGeom>
        </p:spPr>
      </p:pic>
      <p:sp>
        <p:nvSpPr>
          <p:cNvPr id="25" name="Text 17"/>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a:t>
            </a:r>
            <a:endParaRPr lang="en-US" sz="740" dirty="0"/>
          </a:p>
        </p:txBody>
      </p:sp>
      <p:sp>
        <p:nvSpPr>
          <p:cNvPr id="26" name="Shape 18"/>
          <p:cNvSpPr/>
          <p:nvPr/>
        </p:nvSpPr>
        <p:spPr>
          <a:xfrm>
            <a:off x="612000" y="8388000"/>
            <a:ext cx="6120000" cy="0"/>
          </a:xfrm>
          <a:prstGeom prst="line">
            <a:avLst/>
          </a:prstGeom>
          <a:noFill/>
          <a:ln w="8890">
            <a:solidFill>
              <a:srgbClr val="46606E"/>
            </a:solidFill>
            <a:prstDash val="solid"/>
          </a:ln>
        </p:spPr>
      </p:sp>
      <p:sp>
        <p:nvSpPr>
          <p:cNvPr id="27" name="Text 19"/>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8"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Jean de Villebois</a:t>
            </a:r>
            <a:r>
              <a:rPr lang="en-US" sz="1100" i="1" dirty="0">
                <a:solidFill>
                  <a:srgbClr val="A8515F"/>
                </a:solidFill>
                <a:latin typeface="Spectral" pitchFamily="34" charset="0"/>
                <a:ea typeface="Spectral" pitchFamily="34" charset="-122"/>
                <a:cs typeface="Spectral" pitchFamily="34" charset="-120"/>
              </a:rPr>
              <a:t>  (suite)</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80475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is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2" name="Shape 8"/>
          <p:cNvSpPr/>
          <p:nvPr/>
        </p:nvSpPr>
        <p:spPr>
          <a:xfrm>
            <a:off x="171195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1195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143344" y="1425788"/>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3143344" y="1425788"/>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4086901" y="1425788"/>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086901" y="1425788"/>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12 vins à la dégustation</a:t>
            </a:r>
            <a:endParaRPr lang="en-US" sz="72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17353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Vignes de Tréleau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4"/>
          <p:cNvSpPr/>
          <p:nvPr/>
        </p:nvSpPr>
        <p:spPr>
          <a:xfrm>
            <a:off x="828000" y="4428810"/>
            <a:ext cx="0" cy="288349"/>
          </a:xfrm>
          <a:prstGeom prst="line">
            <a:avLst/>
          </a:prstGeom>
          <a:noFill/>
          <a:ln w="17780">
            <a:solidFill>
              <a:srgbClr val="67067C"/>
            </a:solidFill>
            <a:prstDash val="solid"/>
          </a:ln>
        </p:spPr>
      </p:sp>
      <p:sp>
        <p:nvSpPr>
          <p:cNvPr id="20" name="Text 15"/>
          <p:cNvSpPr/>
          <p:nvPr/>
        </p:nvSpPr>
        <p:spPr>
          <a:xfrm>
            <a:off x="936000" y="442881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6"/>
          <p:cNvSpPr/>
          <p:nvPr/>
        </p:nvSpPr>
        <p:spPr>
          <a:xfrm>
            <a:off x="828000" y="486115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2" descr="/home/user/philippe1/build/deco-salon-prive-2026/sol-loire.png">    </p:cNvPr>
          <p:cNvPicPr>
            <a:picLocks noChangeAspect="1"/>
          </p:cNvPicPr>
          <p:nvPr/>
        </p:nvPicPr>
        <p:blipFill>
          <a:blip r:embed="rId3"/>
          <a:stretch>
            <a:fillRect/>
          </a:stretch>
        </p:blipFill>
        <p:spPr>
          <a:xfrm>
            <a:off x="828000" y="5008759"/>
            <a:ext cx="6120000" cy="1611821"/>
          </a:xfrm>
          <a:prstGeom prst="rect">
            <a:avLst/>
          </a:prstGeom>
        </p:spPr>
      </p:pic>
      <p:sp>
        <p:nvSpPr>
          <p:cNvPr id="23" name="Text 17"/>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a:t>
            </a:r>
            <a:endParaRPr lang="en-US" sz="740" dirty="0"/>
          </a:p>
        </p:txBody>
      </p:sp>
      <p:sp>
        <p:nvSpPr>
          <p:cNvPr id="24" name="Shape 18"/>
          <p:cNvSpPr/>
          <p:nvPr/>
        </p:nvSpPr>
        <p:spPr>
          <a:xfrm>
            <a:off x="828000" y="8388000"/>
            <a:ext cx="6120000" cy="0"/>
          </a:xfrm>
          <a:prstGeom prst="line">
            <a:avLst/>
          </a:prstGeom>
          <a:noFill/>
          <a:ln w="8890">
            <a:solidFill>
              <a:srgbClr val="46606E"/>
            </a:solidFill>
            <a:prstDash val="solid"/>
          </a:ln>
        </p:spPr>
      </p:sp>
      <p:sp>
        <p:nvSpPr>
          <p:cNvPr id="25" name="Text 19"/>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7"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8"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alsa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7</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r>
              <a:rPr lang="en-US" sz="860" dirty="0">
                <a:solidFill>
                  <a:srgbClr val="FBF8F1"/>
                </a:solidFill>
                <a:latin typeface="IBM Plex Sans" pitchFamily="34" charset="0"/>
                <a:ea typeface="IBM Plex Sans" pitchFamily="34" charset="-122"/>
                <a:cs typeface="IBM Plex Sans" pitchFamily="34" charset="-120"/>
              </a:rPr>
              <a:t>Domaine Boehler</a:t>
            </a:r>
            <a:r>
              <a:rPr lang="en-US" sz="860" b="1" dirty="0">
                <a:solidFill>
                  <a:srgbClr val="FBF8F1"/>
                </a:solidFill>
                <a:latin typeface="IBM Plex Sans" pitchFamily="34" charset="0"/>
                <a:ea typeface="IBM Plex Sans" pitchFamily="34" charset="-122"/>
                <a:cs typeface="IBM Plex Sans" pitchFamily="34" charset="-120"/>
              </a:rPr>
              <a:t>   14</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13</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Boehler</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u domaine — Domaine Boehler">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Domaine Boehler">    </p:cNvPr>
          <p:cNvPicPr>
            <a:picLocks noChangeAspect="1"/>
          </p:cNvPicPr>
          <p:nvPr/>
        </p:nvPicPr>
        <p:blipFill>
          <a:blip r:embed="rId4"/>
          <a:stretch>
            <a:fillRect/>
          </a:stretch>
        </p:blipFill>
        <p:spPr>
          <a:xfrm>
            <a:off x="6272066" y="1735388"/>
            <a:ext cx="487869" cy="2232000"/>
          </a:xfrm>
          <a:prstGeom prst="rect">
            <a:avLst/>
          </a:prstGeom>
        </p:spPr>
      </p:pic>
      <p:sp>
        <p:nvSpPr>
          <p:cNvPr id="18" name="Text 12"/>
          <p:cNvSpPr/>
          <p:nvPr/>
        </p:nvSpPr>
        <p:spPr>
          <a:xfrm>
            <a:off x="2393956" y="1730081"/>
            <a:ext cx="251419" cy="439318"/>
          </a:xfrm>
          <a:prstGeom prst="rect">
            <a:avLst/>
          </a:prstGeom>
          <a:noFill/>
          <a:ln/>
        </p:spPr>
        <p:txBody>
          <a:bodyPr wrap="square" lIns="0" tIns="0" rIns="0" bIns="0" rtlCol="0" anchor="t"/>
          <a:lstStyle/>
          <a:p>
            <a:pPr algn="r" indent="0" marL="0">
              <a:lnSpc>
                <a:spcPct val="125900"/>
              </a:lnSpc>
              <a:buNone/>
            </a:pPr>
            <a:r>
              <a:rPr lang="en-US" sz="2162" dirty="0">
                <a:solidFill>
                  <a:srgbClr val="67067C"/>
                </a:solidFill>
                <a:latin typeface="Young Serif" pitchFamily="34" charset="0"/>
                <a:ea typeface="Young Serif" pitchFamily="34" charset="-122"/>
                <a:cs typeface="Young Serif" pitchFamily="34" charset="-120"/>
              </a:rPr>
              <a:t>B</a:t>
            </a:r>
            <a:endParaRPr lang="en-US" sz="2162" dirty="0"/>
          </a:p>
        </p:txBody>
      </p:sp>
      <p:sp>
        <p:nvSpPr>
          <p:cNvPr id="19" name="Text 13"/>
          <p:cNvSpPr/>
          <p:nvPr/>
        </p:nvSpPr>
        <p:spPr>
          <a:xfrm>
            <a:off x="2448000" y="1841694"/>
            <a:ext cx="3456000" cy="212559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7218593"/>
            <a:ext cx="0" cy="288349"/>
          </a:xfrm>
          <a:prstGeom prst="line">
            <a:avLst/>
          </a:prstGeom>
          <a:noFill/>
          <a:ln w="17780">
            <a:solidFill>
              <a:srgbClr val="67067C"/>
            </a:solidFill>
            <a:prstDash val="solid"/>
          </a:ln>
        </p:spPr>
      </p:sp>
      <p:sp>
        <p:nvSpPr>
          <p:cNvPr id="22" name="Text 15"/>
          <p:cNvSpPr/>
          <p:nvPr/>
        </p:nvSpPr>
        <p:spPr>
          <a:xfrm>
            <a:off x="936000" y="7218593"/>
            <a:ext cx="6012000" cy="288349"/>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3" name="Shape 16"/>
          <p:cNvSpPr/>
          <p:nvPr/>
        </p:nvSpPr>
        <p:spPr>
          <a:xfrm>
            <a:off x="828000" y="8388000"/>
            <a:ext cx="6120000" cy="0"/>
          </a:xfrm>
          <a:prstGeom prst="line">
            <a:avLst/>
          </a:prstGeom>
          <a:noFill/>
          <a:ln w="8890">
            <a:solidFill>
              <a:srgbClr val="46606E"/>
            </a:solidFill>
            <a:prstDash val="solid"/>
          </a:ln>
        </p:spPr>
      </p:sp>
      <p:sp>
        <p:nvSpPr>
          <p:cNvPr id="24"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23</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r>
              <a:rPr lang="en-US" sz="860" dirty="0">
                <a:solidFill>
                  <a:srgbClr val="FBF8F1"/>
                </a:solidFill>
                <a:latin typeface="IBM Plex Sans" pitchFamily="34" charset="0"/>
                <a:ea typeface="IBM Plex Sans" pitchFamily="34" charset="-122"/>
                <a:cs typeface="IBM Plex Sans" pitchFamily="34" charset="-120"/>
              </a:rPr>
              <a:t>Domaine Sébastien Magnien</a:t>
            </a:r>
            <a:r>
              <a:rPr lang="en-US" sz="860" b="1" dirty="0">
                <a:solidFill>
                  <a:srgbClr val="FBF8F1"/>
                </a:solidFill>
                <a:latin typeface="IBM Plex Sans" pitchFamily="34" charset="0"/>
                <a:ea typeface="IBM Plex Sans" pitchFamily="34" charset="-122"/>
                <a:cs typeface="IBM Plex Sans" pitchFamily="34" charset="-120"/>
              </a:rPr>
              <a:t>   16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Maison et Domaine André Goichot</a:t>
            </a:r>
            <a:r>
              <a:rPr lang="en-US" sz="860" b="1" dirty="0">
                <a:solidFill>
                  <a:srgbClr val="FBF8F1"/>
                </a:solidFill>
                <a:latin typeface="IBM Plex Sans" pitchFamily="34" charset="0"/>
                <a:ea typeface="IBM Plex Sans" pitchFamily="34" charset="-122"/>
                <a:cs typeface="IBM Plex Sans" pitchFamily="34" charset="-120"/>
              </a:rPr>
              <a:t>   17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Château du Cray</a:t>
            </a:r>
            <a:r>
              <a:rPr lang="en-US" sz="860" b="1" dirty="0">
                <a:solidFill>
                  <a:srgbClr val="FBF8F1"/>
                </a:solidFill>
                <a:latin typeface="IBM Plex Sans" pitchFamily="34" charset="0"/>
                <a:ea typeface="IBM Plex Sans" pitchFamily="34" charset="-122"/>
                <a:cs typeface="IBM Plex Sans" pitchFamily="34" charset="-120"/>
              </a:rPr>
              <a:t>   18</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Domaine Les Guignottes</a:t>
            </a:r>
            <a:r>
              <a:rPr lang="en-US" sz="860" b="1" dirty="0">
                <a:solidFill>
                  <a:srgbClr val="FBF8F1"/>
                </a:solidFill>
                <a:latin typeface="IBM Plex Sans" pitchFamily="34" charset="0"/>
                <a:ea typeface="IBM Plex Sans" pitchFamily="34" charset="-122"/>
                <a:cs typeface="IBM Plex Sans" pitchFamily="34" charset="-120"/>
              </a:rPr>
              <a:t>   19</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r>
              <a:rPr lang="en-US" sz="860" dirty="0">
                <a:solidFill>
                  <a:srgbClr val="FBF8F1"/>
                </a:solidFill>
                <a:latin typeface="IBM Plex Sans" pitchFamily="34" charset="0"/>
                <a:ea typeface="IBM Plex Sans" pitchFamily="34" charset="-122"/>
                <a:cs typeface="IBM Plex Sans" pitchFamily="34" charset="-120"/>
              </a:rPr>
              <a:t>Domaine des Verchères</a:t>
            </a: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15</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Sébastien Magnien</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26451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raisonnee.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2" name="Shape 8"/>
          <p:cNvSpPr/>
          <p:nvPr/>
        </p:nvSpPr>
        <p:spPr>
          <a:xfrm>
            <a:off x="2171714"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171714"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881825" y="1425788"/>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881825"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346499"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346499"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8" name="Image 2" descr="portrait au chai, recadré au-dessus du verre — Domaine Sébastien Magnien">    </p:cNvPr>
          <p:cNvPicPr>
            <a:picLocks noChangeAspect="1"/>
          </p:cNvPicPr>
          <p:nvPr/>
        </p:nvPicPr>
        <p:blipFill>
          <a:blip r:embed="rId3"/>
          <a:stretch>
            <a:fillRect/>
          </a:stretch>
        </p:blipFill>
        <p:spPr>
          <a:xfrm>
            <a:off x="828000" y="1735388"/>
            <a:ext cx="1440000" cy="1440000"/>
          </a:xfrm>
          <a:prstGeom prst="rect">
            <a:avLst/>
          </a:prstGeom>
        </p:spPr>
      </p:pic>
      <p:pic>
        <p:nvPicPr>
          <p:cNvPr id="19" name="Image 3" descr="Une bouteille du domaine Domaine Sébastien Magnien">    </p:cNvPr>
          <p:cNvPicPr>
            <a:picLocks noChangeAspect="1"/>
          </p:cNvPicPr>
          <p:nvPr/>
        </p:nvPicPr>
        <p:blipFill>
          <a:blip r:embed="rId4"/>
          <a:stretch>
            <a:fillRect/>
          </a:stretch>
        </p:blipFill>
        <p:spPr>
          <a:xfrm>
            <a:off x="6223279" y="1735388"/>
            <a:ext cx="585443" cy="2232000"/>
          </a:xfrm>
          <a:prstGeom prst="rect">
            <a:avLst/>
          </a:prstGeom>
        </p:spPr>
      </p:pic>
      <p:sp>
        <p:nvSpPr>
          <p:cNvPr id="20" name="Text 14"/>
          <p:cNvSpPr/>
          <p:nvPr/>
        </p:nvSpPr>
        <p:spPr>
          <a:xfrm>
            <a:off x="2394024" y="1725998"/>
            <a:ext cx="168801" cy="451307"/>
          </a:xfrm>
          <a:prstGeom prst="rect">
            <a:avLst/>
          </a:prstGeom>
          <a:noFill/>
          <a:ln/>
        </p:spPr>
        <p:txBody>
          <a:bodyPr wrap="square" lIns="0" tIns="0" rIns="0" bIns="0" rtlCol="0" anchor="t"/>
          <a:lstStyle/>
          <a:p>
            <a:pPr algn="r" indent="0" marL="0">
              <a:lnSpc>
                <a:spcPct val="125000"/>
              </a:lnSpc>
              <a:buNone/>
            </a:pPr>
            <a:r>
              <a:rPr lang="en-US" sz="2221" dirty="0">
                <a:solidFill>
                  <a:srgbClr val="67067C"/>
                </a:solidFill>
                <a:latin typeface="Young Serif" pitchFamily="34" charset="0"/>
                <a:ea typeface="Young Serif" pitchFamily="34" charset="-122"/>
                <a:cs typeface="Young Serif" pitchFamily="34" charset="-120"/>
              </a:rPr>
              <a:t>I</a:t>
            </a:r>
            <a:endParaRPr lang="en-US" sz="2221" dirty="0"/>
          </a:p>
        </p:txBody>
      </p:sp>
      <p:sp>
        <p:nvSpPr>
          <p:cNvPr id="21" name="Text 15"/>
          <p:cNvSpPr/>
          <p:nvPr/>
        </p:nvSpPr>
        <p:spPr>
          <a:xfrm>
            <a:off x="2448000" y="1844504"/>
            <a:ext cx="3456000" cy="212278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Meursault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6627745"/>
            <a:ext cx="0" cy="288349"/>
          </a:xfrm>
          <a:prstGeom prst="line">
            <a:avLst/>
          </a:prstGeom>
          <a:noFill/>
          <a:ln w="17780">
            <a:solidFill>
              <a:srgbClr val="67067C"/>
            </a:solidFill>
            <a:prstDash val="solid"/>
          </a:ln>
        </p:spPr>
      </p:sp>
      <p:sp>
        <p:nvSpPr>
          <p:cNvPr id="24" name="Text 17"/>
          <p:cNvSpPr/>
          <p:nvPr/>
        </p:nvSpPr>
        <p:spPr>
          <a:xfrm>
            <a:off x="936000" y="662774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7060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6" name="Image 4" descr="/home/user/philippe1/build/deco-salon-prive-2026/sol-bourgogne.png">    </p:cNvPr>
          <p:cNvPicPr>
            <a:picLocks noChangeAspect="1"/>
          </p:cNvPicPr>
          <p:nvPr/>
        </p:nvPicPr>
        <p:blipFill>
          <a:blip r:embed="rId5"/>
          <a:stretch>
            <a:fillRect/>
          </a:stretch>
        </p:blipFill>
        <p:spPr>
          <a:xfrm>
            <a:off x="828000" y="7207695"/>
            <a:ext cx="6120000" cy="906347"/>
          </a:xfrm>
          <a:prstGeom prst="rect">
            <a:avLst/>
          </a:prstGeom>
        </p:spPr>
      </p:pic>
      <p:sp>
        <p:nvSpPr>
          <p:cNvPr id="27" name="Shape 19"/>
          <p:cNvSpPr/>
          <p:nvPr/>
        </p:nvSpPr>
        <p:spPr>
          <a:xfrm>
            <a:off x="828000" y="8388000"/>
            <a:ext cx="6120000" cy="0"/>
          </a:xfrm>
          <a:prstGeom prst="line">
            <a:avLst/>
          </a:prstGeom>
          <a:noFill/>
          <a:ln w="8890">
            <a:solidFill>
              <a:srgbClr val="46606E"/>
            </a:solidFill>
            <a:prstDash val="solid"/>
          </a:ln>
        </p:spPr>
      </p:sp>
      <p:sp>
        <p:nvSpPr>
          <p:cNvPr id="28" name="Text 20"/>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1850" dirty="0">
                <a:solidFill>
                  <a:srgbClr val="46606E"/>
                </a:solidFill>
                <a:latin typeface="Young Serif" pitchFamily="34" charset="0"/>
                <a:ea typeface="Young Serif" pitchFamily="34" charset="-122"/>
                <a:cs typeface="Young Serif" pitchFamily="34" charset="-120"/>
              </a:rPr>
              <a:t>Maison et Domaine André Goichot</a:t>
            </a:r>
            <a:endParaRPr lang="en-US" sz="185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219348"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1929459" y="1425788"/>
            <a:ext cx="1352190"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1929459"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6" name="Shape 12"/>
          <p:cNvSpPr/>
          <p:nvPr/>
        </p:nvSpPr>
        <p:spPr>
          <a:xfrm>
            <a:off x="3360848" y="1425788"/>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360848" y="1425788"/>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8" name="Image 2" descr="deux portraits de la maison, côte à côte — Maison et Domaine André Goichot">    </p:cNvPr>
          <p:cNvPicPr>
            <a:picLocks noChangeAspect="1"/>
          </p:cNvPicPr>
          <p:nvPr/>
        </p:nvPicPr>
        <p:blipFill>
          <a:blip r:embed="rId3"/>
          <a:stretch>
            <a:fillRect/>
          </a:stretch>
        </p:blipFill>
        <p:spPr>
          <a:xfrm>
            <a:off x="612000" y="1735388"/>
            <a:ext cx="1440000" cy="1440000"/>
          </a:xfrm>
          <a:prstGeom prst="rect">
            <a:avLst/>
          </a:prstGeom>
        </p:spPr>
      </p:pic>
      <p:pic>
        <p:nvPicPr>
          <p:cNvPr id="19" name="Image 3" descr="Une bouteille du domaine Maison et Domaine André Goichot">    </p:cNvPr>
          <p:cNvPicPr>
            <a:picLocks noChangeAspect="1"/>
          </p:cNvPicPr>
          <p:nvPr/>
        </p:nvPicPr>
        <p:blipFill>
          <a:blip r:embed="rId4"/>
          <a:stretch>
            <a:fillRect/>
          </a:stretch>
        </p:blipFill>
        <p:spPr>
          <a:xfrm>
            <a:off x="6019475" y="1735388"/>
            <a:ext cx="561049" cy="2232000"/>
          </a:xfrm>
          <a:prstGeom prst="rect">
            <a:avLst/>
          </a:prstGeom>
        </p:spPr>
      </p:pic>
      <p:sp>
        <p:nvSpPr>
          <p:cNvPr id="20" name="Text 14"/>
          <p:cNvSpPr/>
          <p:nvPr/>
        </p:nvSpPr>
        <p:spPr>
          <a:xfrm>
            <a:off x="2178034" y="200608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2126692"/>
            <a:ext cx="3456000" cy="184059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Pouilly-Vinzelles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Baron Auguste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Baron Auguste Rosé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Nuits-Saint-Georges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Aux Allots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Mercurey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Givry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7297770"/>
            <a:ext cx="0" cy="288349"/>
          </a:xfrm>
          <a:prstGeom prst="line">
            <a:avLst/>
          </a:prstGeom>
          <a:noFill/>
          <a:ln w="17780">
            <a:solidFill>
              <a:srgbClr val="67067C"/>
            </a:solidFill>
            <a:prstDash val="solid"/>
          </a:ln>
        </p:spPr>
      </p:sp>
      <p:sp>
        <p:nvSpPr>
          <p:cNvPr id="24" name="Text 17"/>
          <p:cNvSpPr/>
          <p:nvPr/>
        </p:nvSpPr>
        <p:spPr>
          <a:xfrm>
            <a:off x="720000" y="729777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Château du Cray, stand 26 p. 18 · Domaine Les Guignottes, stand 26 p. 19</a:t>
            </a:r>
            <a:endParaRPr lang="en-US" sz="740" dirty="0"/>
          </a:p>
        </p:txBody>
      </p:sp>
      <p:sp>
        <p:nvSpPr>
          <p:cNvPr id="26" name="Shape 19"/>
          <p:cNvSpPr/>
          <p:nvPr/>
        </p:nvSpPr>
        <p:spPr>
          <a:xfrm>
            <a:off x="612000" y="8388000"/>
            <a:ext cx="6120000" cy="0"/>
          </a:xfrm>
          <a:prstGeom prst="line">
            <a:avLst/>
          </a:prstGeom>
          <a:noFill/>
          <a:ln w="8890">
            <a:solidFill>
              <a:srgbClr val="46606E"/>
            </a:solidFill>
            <a:prstDash val="solid"/>
          </a:ln>
        </p:spPr>
      </p:sp>
      <p:sp>
        <p:nvSpPr>
          <p:cNvPr id="27" name="Text 20"/>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1"/>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9"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30"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du Cray</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828000"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259390" y="1425788"/>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259390" y="1425788"/>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le vignoble du Château du Cray (bannière de sa page) — Château du Cray">    </p:cNvPr>
          <p:cNvPicPr>
            <a:picLocks noChangeAspect="1"/>
          </p:cNvPicPr>
          <p:nvPr/>
        </p:nvPicPr>
        <p:blipFill>
          <a:blip r:embed="rId2"/>
          <a:stretch>
            <a:fillRect/>
          </a:stretch>
        </p:blipFill>
        <p:spPr>
          <a:xfrm>
            <a:off x="828000" y="1735388"/>
            <a:ext cx="1440000" cy="1440000"/>
          </a:xfrm>
          <a:prstGeom prst="rect">
            <a:avLst/>
          </a:prstGeom>
        </p:spPr>
      </p:pic>
      <p:pic>
        <p:nvPicPr>
          <p:cNvPr id="14" name="Image 2" descr="Une bouteille du domaine Château du Cray">    </p:cNvPr>
          <p:cNvPicPr>
            <a:picLocks noChangeAspect="1"/>
          </p:cNvPicPr>
          <p:nvPr/>
        </p:nvPicPr>
        <p:blipFill>
          <a:blip r:embed="rId3"/>
          <a:stretch>
            <a:fillRect/>
          </a:stretch>
        </p:blipFill>
        <p:spPr>
          <a:xfrm>
            <a:off x="6216831" y="1735388"/>
            <a:ext cx="598337" cy="2232000"/>
          </a:xfrm>
          <a:prstGeom prst="rect">
            <a:avLst/>
          </a:prstGeom>
        </p:spPr>
      </p:pic>
      <p:sp>
        <p:nvSpPr>
          <p:cNvPr id="15" name="Text 10"/>
          <p:cNvSpPr/>
          <p:nvPr/>
        </p:nvSpPr>
        <p:spPr>
          <a:xfrm>
            <a:off x="2393990" y="177181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448000" y="1886077"/>
            <a:ext cx="3456000" cy="2081211"/>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828000" y="4704142"/>
            <a:ext cx="0" cy="288349"/>
          </a:xfrm>
          <a:prstGeom prst="line">
            <a:avLst/>
          </a:prstGeom>
          <a:noFill/>
          <a:ln w="17780">
            <a:solidFill>
              <a:srgbClr val="67067C"/>
            </a:solidFill>
            <a:prstDash val="solid"/>
          </a:ln>
        </p:spPr>
      </p:sp>
      <p:sp>
        <p:nvSpPr>
          <p:cNvPr id="19" name="Text 13"/>
          <p:cNvSpPr/>
          <p:nvPr/>
        </p:nvSpPr>
        <p:spPr>
          <a:xfrm>
            <a:off x="936000" y="470414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0" name="Text 14"/>
          <p:cNvSpPr/>
          <p:nvPr/>
        </p:nvSpPr>
        <p:spPr>
          <a:xfrm>
            <a:off x="828000" y="51364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828000" y="5284091"/>
            <a:ext cx="6120000" cy="1372326"/>
          </a:xfrm>
          <a:prstGeom prst="rect">
            <a:avLst/>
          </a:prstGeom>
        </p:spPr>
      </p:pic>
      <p:sp>
        <p:nvSpPr>
          <p:cNvPr id="22" name="Text 15"/>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17 · Domaine Les Guignottes, stand 26 p. 19</a:t>
            </a:r>
            <a:endParaRPr lang="en-US" sz="740" dirty="0"/>
          </a:p>
        </p:txBody>
      </p:sp>
      <p:sp>
        <p:nvSpPr>
          <p:cNvPr id="23" name="Shape 16"/>
          <p:cNvSpPr/>
          <p:nvPr/>
        </p:nvSpPr>
        <p:spPr>
          <a:xfrm>
            <a:off x="828000" y="8388000"/>
            <a:ext cx="6120000" cy="0"/>
          </a:xfrm>
          <a:prstGeom prst="line">
            <a:avLst/>
          </a:prstGeom>
          <a:noFill/>
          <a:ln w="8890">
            <a:solidFill>
              <a:srgbClr val="46606E"/>
            </a:solidFill>
            <a:prstDash val="solid"/>
          </a:ln>
        </p:spPr>
      </p:sp>
      <p:sp>
        <p:nvSpPr>
          <p:cNvPr id="24"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Les Guignottes</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612000"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043390" y="1425788"/>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043390" y="1425788"/>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nom du domaine sur ses vignes — Domaine Les Guignottes">    </p:cNvPr>
          <p:cNvPicPr>
            <a:picLocks noChangeAspect="1"/>
          </p:cNvPicPr>
          <p:nvPr/>
        </p:nvPicPr>
        <p:blipFill>
          <a:blip r:embed="rId2"/>
          <a:stretch>
            <a:fillRect/>
          </a:stretch>
        </p:blipFill>
        <p:spPr>
          <a:xfrm>
            <a:off x="612000" y="1735388"/>
            <a:ext cx="1440000" cy="1440000"/>
          </a:xfrm>
          <a:prstGeom prst="rect">
            <a:avLst/>
          </a:prstGeom>
        </p:spPr>
      </p:pic>
      <p:pic>
        <p:nvPicPr>
          <p:cNvPr id="14" name="Image 2" descr="Une bouteille du domaine Domaine Les Guignottes">    </p:cNvPr>
          <p:cNvPicPr>
            <a:picLocks noChangeAspect="1"/>
          </p:cNvPicPr>
          <p:nvPr/>
        </p:nvPicPr>
        <p:blipFill>
          <a:blip r:embed="rId3"/>
          <a:stretch>
            <a:fillRect/>
          </a:stretch>
        </p:blipFill>
        <p:spPr>
          <a:xfrm>
            <a:off x="6014902" y="1735388"/>
            <a:ext cx="570197" cy="2232000"/>
          </a:xfrm>
          <a:prstGeom prst="rect">
            <a:avLst/>
          </a:prstGeom>
        </p:spPr>
      </p:pic>
      <p:sp>
        <p:nvSpPr>
          <p:cNvPr id="15" name="Text 10"/>
          <p:cNvSpPr/>
          <p:nvPr/>
        </p:nvSpPr>
        <p:spPr>
          <a:xfrm>
            <a:off x="2177990" y="165279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232000" y="1767053"/>
            <a:ext cx="3456000" cy="2200235"/>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612000" y="4704142"/>
            <a:ext cx="0" cy="288349"/>
          </a:xfrm>
          <a:prstGeom prst="line">
            <a:avLst/>
          </a:prstGeom>
          <a:noFill/>
          <a:ln w="17780">
            <a:solidFill>
              <a:srgbClr val="67067C"/>
            </a:solidFill>
            <a:prstDash val="solid"/>
          </a:ln>
        </p:spPr>
      </p:sp>
      <p:sp>
        <p:nvSpPr>
          <p:cNvPr id="19" name="Text 13"/>
          <p:cNvSpPr/>
          <p:nvPr/>
        </p:nvSpPr>
        <p:spPr>
          <a:xfrm>
            <a:off x="720000" y="470414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20" name="Text 14"/>
          <p:cNvSpPr/>
          <p:nvPr/>
        </p:nvSpPr>
        <p:spPr>
          <a:xfrm>
            <a:off x="612000" y="51364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612000" y="5284091"/>
            <a:ext cx="6120000" cy="1372326"/>
          </a:xfrm>
          <a:prstGeom prst="rect">
            <a:avLst/>
          </a:prstGeom>
        </p:spPr>
      </p:pic>
      <p:sp>
        <p:nvSpPr>
          <p:cNvPr id="22"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17 · Château du Cray, stand 26 p. 18</a:t>
            </a:r>
            <a:endParaRPr lang="en-US" sz="740" dirty="0"/>
          </a:p>
        </p:txBody>
      </p:sp>
      <p:sp>
        <p:nvSpPr>
          <p:cNvPr id="23" name="Shape 16"/>
          <p:cNvSpPr/>
          <p:nvPr/>
        </p:nvSpPr>
        <p:spPr>
          <a:xfrm>
            <a:off x="612000" y="8388000"/>
            <a:ext cx="6120000" cy="0"/>
          </a:xfrm>
          <a:prstGeom prst="line">
            <a:avLst/>
          </a:prstGeom>
          <a:noFill/>
          <a:ln w="8890">
            <a:solidFill>
              <a:srgbClr val="46606E"/>
            </a:solidFill>
            <a:prstDash val="solid"/>
          </a:ln>
        </p:spPr>
      </p:sp>
      <p:sp>
        <p:nvSpPr>
          <p:cNvPr id="24"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Verchères</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portrait du vigneron — Domaine des Verchères">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Domaine des Verchères">    </p:cNvPr>
          <p:cNvPicPr>
            <a:picLocks noChangeAspect="1"/>
          </p:cNvPicPr>
          <p:nvPr/>
        </p:nvPicPr>
        <p:blipFill>
          <a:blip r:embed="rId4"/>
          <a:stretch>
            <a:fillRect/>
          </a:stretch>
        </p:blipFill>
        <p:spPr>
          <a:xfrm>
            <a:off x="6240049" y="1735388"/>
            <a:ext cx="551902" cy="2232000"/>
          </a:xfrm>
          <a:prstGeom prst="rect">
            <a:avLst/>
          </a:prstGeom>
        </p:spPr>
      </p:pic>
      <p:sp>
        <p:nvSpPr>
          <p:cNvPr id="18" name="Text 12"/>
          <p:cNvSpPr/>
          <p:nvPr/>
        </p:nvSpPr>
        <p:spPr>
          <a:xfrm>
            <a:off x="2394017" y="172606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844456"/>
            <a:ext cx="3456000" cy="212283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3991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Bourgogne Passe-Tout-Grain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2264">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Bulles du Puits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171885"/>
            <a:ext cx="0" cy="288349"/>
          </a:xfrm>
          <a:prstGeom prst="line">
            <a:avLst/>
          </a:prstGeom>
          <a:noFill/>
          <a:ln w="17780">
            <a:solidFill>
              <a:srgbClr val="67067C"/>
            </a:solidFill>
            <a:prstDash val="solid"/>
          </a:ln>
        </p:spPr>
      </p:sp>
      <p:sp>
        <p:nvSpPr>
          <p:cNvPr id="22" name="Text 15"/>
          <p:cNvSpPr/>
          <p:nvPr/>
        </p:nvSpPr>
        <p:spPr>
          <a:xfrm>
            <a:off x="936000" y="6171885"/>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828000" y="66042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4" name="Image 4" descr="/home/user/philippe1/build/deco-salon-prive-2026/sol-bourgogne.png">    </p:cNvPr>
          <p:cNvPicPr>
            <a:picLocks noChangeAspect="1"/>
          </p:cNvPicPr>
          <p:nvPr/>
        </p:nvPicPr>
        <p:blipFill>
          <a:blip r:embed="rId5"/>
          <a:stretch>
            <a:fillRect/>
          </a:stretch>
        </p:blipFill>
        <p:spPr>
          <a:xfrm>
            <a:off x="828000" y="6751834"/>
            <a:ext cx="6120000" cy="1148400"/>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Autre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rho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22</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Le Prieuré des Papes</a:t>
            </a: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Coyeux</a:t>
            </a:r>
            <a:r>
              <a:rPr lang="en-US" sz="860" b="1" dirty="0">
                <a:solidFill>
                  <a:srgbClr val="FBF8F1"/>
                </a:solidFill>
                <a:latin typeface="IBM Plex Sans" pitchFamily="34" charset="0"/>
                <a:ea typeface="IBM Plex Sans" pitchFamily="34" charset="-122"/>
                <a:cs typeface="IBM Plex Sans" pitchFamily="34" charset="-120"/>
              </a:rPr>
              <a:t>   23</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du Moulin Blanc</a:t>
            </a:r>
            <a:r>
              <a:rPr lang="en-US" sz="860" b="1" dirty="0">
                <a:solidFill>
                  <a:srgbClr val="FBF8F1"/>
                </a:solidFill>
                <a:latin typeface="IBM Plex Sans" pitchFamily="34" charset="0"/>
                <a:ea typeface="IBM Plex Sans" pitchFamily="34" charset="-122"/>
                <a:cs typeface="IBM Plex Sans" pitchFamily="34" charset="-120"/>
              </a:rPr>
              <a:t>   24</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la Pousterle</a:t>
            </a:r>
            <a:r>
              <a:rPr lang="en-US" sz="860" b="1" dirty="0">
                <a:solidFill>
                  <a:srgbClr val="FBF8F1"/>
                </a:solidFill>
                <a:latin typeface="IBM Plex Sans" pitchFamily="34" charset="0"/>
                <a:ea typeface="IBM Plex Sans" pitchFamily="34" charset="-122"/>
                <a:cs typeface="IBM Plex Sans" pitchFamily="34" charset="-120"/>
              </a:rPr>
              <a:t>   25</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r>
              <a:rPr lang="en-US" sz="860" dirty="0">
                <a:solidFill>
                  <a:srgbClr val="FBF8F1"/>
                </a:solidFill>
                <a:latin typeface="IBM Plex Sans" pitchFamily="34" charset="0"/>
                <a:ea typeface="IBM Plex Sans" pitchFamily="34" charset="-122"/>
                <a:cs typeface="IBM Plex Sans" pitchFamily="34" charset="-120"/>
              </a:rPr>
              <a:t>Domaine Trichon</a:t>
            </a:r>
            <a:r>
              <a:rPr lang="en-US" sz="860" b="1" dirty="0">
                <a:solidFill>
                  <a:srgbClr val="FBF8F1"/>
                </a:solidFill>
                <a:latin typeface="IBM Plex Sans" pitchFamily="34" charset="0"/>
                <a:ea typeface="IBM Plex Sans" pitchFamily="34" charset="-122"/>
                <a:cs typeface="IBM Plex Sans" pitchFamily="34" charset="-120"/>
              </a:rPr>
              <a:t>   26</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21</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 Prieuré des Papes</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439884"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39884"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ogo du domaine — Domaine Le Prieuré des Papes">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Domaine Le Prieuré des Papes">    </p:cNvPr>
          <p:cNvPicPr>
            <a:picLocks noChangeAspect="1"/>
          </p:cNvPicPr>
          <p:nvPr/>
        </p:nvPicPr>
        <p:blipFill>
          <a:blip r:embed="rId4"/>
          <a:stretch>
            <a:fillRect/>
          </a:stretch>
        </p:blipFill>
        <p:spPr>
          <a:xfrm>
            <a:off x="6227852" y="1735388"/>
            <a:ext cx="576295" cy="2232000"/>
          </a:xfrm>
          <a:prstGeom prst="rect">
            <a:avLst/>
          </a:prstGeom>
        </p:spPr>
      </p:pic>
      <p:sp>
        <p:nvSpPr>
          <p:cNvPr id="18" name="Text 12"/>
          <p:cNvSpPr/>
          <p:nvPr/>
        </p:nvSpPr>
        <p:spPr>
          <a:xfrm>
            <a:off x="2394049" y="156832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9" name="Text 13"/>
          <p:cNvSpPr/>
          <p:nvPr/>
        </p:nvSpPr>
        <p:spPr>
          <a:xfrm>
            <a:off x="2448000" y="1595917"/>
            <a:ext cx="3456000" cy="2492071"/>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424998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Couchant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123813"/>
            <a:ext cx="0" cy="288349"/>
          </a:xfrm>
          <a:prstGeom prst="line">
            <a:avLst/>
          </a:prstGeom>
          <a:noFill/>
          <a:ln w="17780">
            <a:solidFill>
              <a:srgbClr val="67067C"/>
            </a:solidFill>
            <a:prstDash val="solid"/>
          </a:ln>
        </p:spPr>
      </p:sp>
      <p:sp>
        <p:nvSpPr>
          <p:cNvPr id="22" name="Text 15"/>
          <p:cNvSpPr/>
          <p:nvPr/>
        </p:nvSpPr>
        <p:spPr>
          <a:xfrm>
            <a:off x="936000" y="612381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655616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6703762"/>
            <a:ext cx="6120000" cy="881939"/>
          </a:xfrm>
          <a:prstGeom prst="rect">
            <a:avLst/>
          </a:prstGeom>
        </p:spPr>
      </p:pic>
      <p:sp>
        <p:nvSpPr>
          <p:cNvPr id="25" name="Text 17"/>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de Coyeux, stand 7 p. 23 · Domaine du Moulin Blanc, stand 7 p. 24 · Domaine de la Pousterle, stand 7 p. 25</a:t>
            </a:r>
            <a:endParaRPr lang="en-US" sz="740" dirty="0"/>
          </a:p>
        </p:txBody>
      </p:sp>
      <p:sp>
        <p:nvSpPr>
          <p:cNvPr id="26" name="Shape 18"/>
          <p:cNvSpPr/>
          <p:nvPr/>
        </p:nvSpPr>
        <p:spPr>
          <a:xfrm>
            <a:off x="828000" y="8388000"/>
            <a:ext cx="6120000" cy="0"/>
          </a:xfrm>
          <a:prstGeom prst="line">
            <a:avLst/>
          </a:prstGeom>
          <a:noFill/>
          <a:ln w="8890">
            <a:solidFill>
              <a:srgbClr val="46606E"/>
            </a:solidFill>
            <a:prstDash val="solid"/>
          </a:ln>
        </p:spPr>
      </p:sp>
      <p:sp>
        <p:nvSpPr>
          <p:cNvPr id="27" name="Text 19"/>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Coyeux</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9249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223884"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884"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 domaine — Domaine de Coyeux">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Domaine de Coyeux">    </p:cNvPr>
          <p:cNvPicPr>
            <a:picLocks noChangeAspect="1"/>
          </p:cNvPicPr>
          <p:nvPr/>
        </p:nvPicPr>
        <p:blipFill>
          <a:blip r:embed="rId4"/>
          <a:stretch>
            <a:fillRect/>
          </a:stretch>
        </p:blipFill>
        <p:spPr>
          <a:xfrm>
            <a:off x="6001180" y="1735388"/>
            <a:ext cx="597639" cy="2232000"/>
          </a:xfrm>
          <a:prstGeom prst="rect">
            <a:avLst/>
          </a:prstGeom>
        </p:spPr>
      </p:pic>
      <p:sp>
        <p:nvSpPr>
          <p:cNvPr id="18" name="Text 12"/>
          <p:cNvSpPr/>
          <p:nvPr/>
        </p:nvSpPr>
        <p:spPr>
          <a:xfrm>
            <a:off x="2178017" y="155268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9" name="Text 13"/>
          <p:cNvSpPr/>
          <p:nvPr/>
        </p:nvSpPr>
        <p:spPr>
          <a:xfrm>
            <a:off x="2232000" y="1636007"/>
            <a:ext cx="3456000" cy="2813930"/>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461193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Premières Fleurs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Or des Dentelles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Or des Dentelles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547080"/>
            <a:ext cx="0" cy="288349"/>
          </a:xfrm>
          <a:prstGeom prst="line">
            <a:avLst/>
          </a:prstGeom>
          <a:noFill/>
          <a:ln w="17780">
            <a:solidFill>
              <a:srgbClr val="67067C"/>
            </a:solidFill>
            <a:prstDash val="solid"/>
          </a:ln>
        </p:spPr>
      </p:sp>
      <p:sp>
        <p:nvSpPr>
          <p:cNvPr id="22" name="Text 15"/>
          <p:cNvSpPr/>
          <p:nvPr/>
        </p:nvSpPr>
        <p:spPr>
          <a:xfrm>
            <a:off x="720000" y="654708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22 · Domaine du Moulin Blanc, stand 7 p. 24 · Domaine de la Pousterle, stand 7 p. 25</a:t>
            </a:r>
            <a:endParaRPr lang="en-US" sz="740" dirty="0"/>
          </a:p>
        </p:txBody>
      </p:sp>
      <p:sp>
        <p:nvSpPr>
          <p:cNvPr id="24" name="Shape 17"/>
          <p:cNvSpPr/>
          <p:nvPr/>
        </p:nvSpPr>
        <p:spPr>
          <a:xfrm>
            <a:off x="612000" y="8388000"/>
            <a:ext cx="6120000" cy="0"/>
          </a:xfrm>
          <a:prstGeom prst="line">
            <a:avLst/>
          </a:prstGeom>
          <a:noFill/>
          <a:ln w="8890">
            <a:solidFill>
              <a:srgbClr val="46606E"/>
            </a:solidFill>
            <a:prstDash val="solid"/>
          </a:ln>
        </p:spPr>
      </p:sp>
      <p:sp>
        <p:nvSpPr>
          <p:cNvPr id="25"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Autre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du Moulin Blanc</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439884" y="1425788"/>
            <a:ext cx="1103747"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39884" y="1425788"/>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6" name="Image 2" descr="le couple, recadré au-dessus du verre — Domaine du Moulin Blanc">    </p:cNvPr>
          <p:cNvPicPr>
            <a:picLocks noChangeAspect="1"/>
          </p:cNvPicPr>
          <p:nvPr/>
        </p:nvPicPr>
        <p:blipFill>
          <a:blip r:embed="rId3"/>
          <a:stretch>
            <a:fillRect/>
          </a:stretch>
        </p:blipFill>
        <p:spPr>
          <a:xfrm>
            <a:off x="828000" y="1735388"/>
            <a:ext cx="1440000" cy="1440000"/>
          </a:xfrm>
          <a:prstGeom prst="rect">
            <a:avLst/>
          </a:prstGeom>
        </p:spPr>
      </p:pic>
      <p:sp>
        <p:nvSpPr>
          <p:cNvPr id="17" name="Shape 12"/>
          <p:cNvSpPr/>
          <p:nvPr/>
        </p:nvSpPr>
        <p:spPr>
          <a:xfrm>
            <a:off x="6084000" y="1735388"/>
            <a:ext cx="864000" cy="2232000"/>
          </a:xfrm>
          <a:prstGeom prst="roundRect">
            <a:avLst>
              <a:gd name="adj" fmla="val 2117"/>
            </a:avLst>
          </a:prstGeom>
          <a:solidFill>
            <a:srgbClr val="F2EADA"/>
          </a:solidFill>
          <a:ln w="12700">
            <a:solidFill>
              <a:srgbClr val="46606E"/>
            </a:solidFill>
            <a:prstDash val="dash"/>
          </a:ln>
        </p:spPr>
      </p:sp>
      <p:sp>
        <p:nvSpPr>
          <p:cNvPr id="18" name="Text 13"/>
          <p:cNvSpPr/>
          <p:nvPr/>
        </p:nvSpPr>
        <p:spPr>
          <a:xfrm>
            <a:off x="6084000" y="1735388"/>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9" name="Text 14"/>
          <p:cNvSpPr/>
          <p:nvPr/>
        </p:nvSpPr>
        <p:spPr>
          <a:xfrm>
            <a:off x="2393970" y="1696217"/>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20" name="Text 15"/>
          <p:cNvSpPr/>
          <p:nvPr/>
        </p:nvSpPr>
        <p:spPr>
          <a:xfrm>
            <a:off x="2448000" y="1776013"/>
            <a:ext cx="3456000" cy="2191275"/>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3514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6"/>
          <p:cNvSpPr/>
          <p:nvPr/>
        </p:nvSpPr>
        <p:spPr>
          <a:xfrm>
            <a:off x="828000" y="4765459"/>
            <a:ext cx="0" cy="288349"/>
          </a:xfrm>
          <a:prstGeom prst="line">
            <a:avLst/>
          </a:prstGeom>
          <a:noFill/>
          <a:ln w="17780">
            <a:solidFill>
              <a:srgbClr val="67067C"/>
            </a:solidFill>
            <a:prstDash val="solid"/>
          </a:ln>
        </p:spPr>
      </p:sp>
      <p:sp>
        <p:nvSpPr>
          <p:cNvPr id="23" name="Text 17"/>
          <p:cNvSpPr/>
          <p:nvPr/>
        </p:nvSpPr>
        <p:spPr>
          <a:xfrm>
            <a:off x="936000" y="4765459"/>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4" name="Text 18"/>
          <p:cNvSpPr/>
          <p:nvPr/>
        </p:nvSpPr>
        <p:spPr>
          <a:xfrm>
            <a:off x="828000" y="519780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5" name="Image 3" descr="/home/user/philippe1/build/deco-salon-prive-2026/sol-rhone.png">    </p:cNvPr>
          <p:cNvPicPr>
            <a:picLocks noChangeAspect="1"/>
          </p:cNvPicPr>
          <p:nvPr/>
        </p:nvPicPr>
        <p:blipFill>
          <a:blip r:embed="rId4"/>
          <a:stretch>
            <a:fillRect/>
          </a:stretch>
        </p:blipFill>
        <p:spPr>
          <a:xfrm>
            <a:off x="828000" y="5345408"/>
            <a:ext cx="6120000" cy="1335536"/>
          </a:xfrm>
          <a:prstGeom prst="rect">
            <a:avLst/>
          </a:prstGeom>
        </p:spPr>
      </p:pic>
      <p:sp>
        <p:nvSpPr>
          <p:cNvPr id="26" name="Text 19"/>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22 · Domaine de Coyeux, stand 7 p. 23 · Domaine de la Pousterle, stand 7 p. 25</a:t>
            </a:r>
            <a:endParaRPr lang="en-US" sz="740" dirty="0"/>
          </a:p>
        </p:txBody>
      </p:sp>
      <p:sp>
        <p:nvSpPr>
          <p:cNvPr id="27" name="Shape 20"/>
          <p:cNvSpPr/>
          <p:nvPr/>
        </p:nvSpPr>
        <p:spPr>
          <a:xfrm>
            <a:off x="828000" y="8388000"/>
            <a:ext cx="6120000" cy="0"/>
          </a:xfrm>
          <a:prstGeom prst="line">
            <a:avLst/>
          </a:prstGeom>
          <a:noFill/>
          <a:ln w="8890">
            <a:solidFill>
              <a:srgbClr val="46606E"/>
            </a:solidFill>
            <a:prstDash val="solid"/>
          </a:ln>
        </p:spPr>
      </p:sp>
      <p:sp>
        <p:nvSpPr>
          <p:cNvPr id="28" name="Text 21"/>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2"/>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30" name="Text 2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31" name="Text 2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Pousterle</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92494"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223884"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884"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dans les vignes — Domaine de la Pousterle">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Domaine de la Pousterle">    </p:cNvPr>
          <p:cNvPicPr>
            <a:picLocks noChangeAspect="1"/>
          </p:cNvPicPr>
          <p:nvPr/>
        </p:nvPicPr>
        <p:blipFill>
          <a:blip r:embed="rId4"/>
          <a:stretch>
            <a:fillRect/>
          </a:stretch>
        </p:blipFill>
        <p:spPr>
          <a:xfrm>
            <a:off x="6007279" y="1735388"/>
            <a:ext cx="585443" cy="2232000"/>
          </a:xfrm>
          <a:prstGeom prst="rect">
            <a:avLst/>
          </a:prstGeom>
        </p:spPr>
      </p:pic>
      <p:sp>
        <p:nvSpPr>
          <p:cNvPr id="18" name="Text 12"/>
          <p:cNvSpPr/>
          <p:nvPr/>
        </p:nvSpPr>
        <p:spPr>
          <a:xfrm>
            <a:off x="2177990" y="166644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9" name="Text 13"/>
          <p:cNvSpPr/>
          <p:nvPr/>
        </p:nvSpPr>
        <p:spPr>
          <a:xfrm>
            <a:off x="2232000" y="1748549"/>
            <a:ext cx="3456000" cy="22187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Chardonnay-Viognier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679710"/>
            <a:ext cx="0" cy="288349"/>
          </a:xfrm>
          <a:prstGeom prst="line">
            <a:avLst/>
          </a:prstGeom>
          <a:noFill/>
          <a:ln w="17780">
            <a:solidFill>
              <a:srgbClr val="67067C"/>
            </a:solidFill>
            <a:prstDash val="solid"/>
          </a:ln>
        </p:spPr>
      </p:sp>
      <p:sp>
        <p:nvSpPr>
          <p:cNvPr id="22" name="Text 15"/>
          <p:cNvSpPr/>
          <p:nvPr/>
        </p:nvSpPr>
        <p:spPr>
          <a:xfrm>
            <a:off x="720000" y="5679710"/>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11205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612000" y="6259659"/>
            <a:ext cx="6120000" cy="1148400"/>
          </a:xfrm>
          <a:prstGeom prst="rect">
            <a:avLst/>
          </a:prstGeom>
        </p:spPr>
      </p:pic>
      <p:sp>
        <p:nvSpPr>
          <p:cNvPr id="25" name="Text 17"/>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22 · Domaine de Coyeux, stand 7 p. 23 · Domaine du Moulin Blanc, stand 7 p. 24</a:t>
            </a:r>
            <a:endParaRPr lang="en-US" sz="740" dirty="0"/>
          </a:p>
        </p:txBody>
      </p:sp>
      <p:sp>
        <p:nvSpPr>
          <p:cNvPr id="26" name="Shape 18"/>
          <p:cNvSpPr/>
          <p:nvPr/>
        </p:nvSpPr>
        <p:spPr>
          <a:xfrm>
            <a:off x="612000" y="8388000"/>
            <a:ext cx="6120000" cy="0"/>
          </a:xfrm>
          <a:prstGeom prst="line">
            <a:avLst/>
          </a:prstGeom>
          <a:noFill/>
          <a:ln w="8890">
            <a:solidFill>
              <a:srgbClr val="46606E"/>
            </a:solidFill>
            <a:prstDash val="solid"/>
          </a:ln>
        </p:spPr>
      </p:sp>
      <p:sp>
        <p:nvSpPr>
          <p:cNvPr id="27" name="Text 19"/>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Trichon</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425788"/>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425788"/>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les deux vignerons, recadrés sur leurs visages — Domaine Trichon">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Domaine Trichon">    </p:cNvPr>
          <p:cNvPicPr>
            <a:picLocks noChangeAspect="1"/>
          </p:cNvPicPr>
          <p:nvPr/>
        </p:nvPicPr>
        <p:blipFill>
          <a:blip r:embed="rId4"/>
          <a:stretch>
            <a:fillRect/>
          </a:stretch>
        </p:blipFill>
        <p:spPr>
          <a:xfrm>
            <a:off x="6199083" y="1735388"/>
            <a:ext cx="633834" cy="2232000"/>
          </a:xfrm>
          <a:prstGeom prst="rect">
            <a:avLst/>
          </a:prstGeom>
        </p:spPr>
      </p:pic>
      <p:sp>
        <p:nvSpPr>
          <p:cNvPr id="18" name="Text 12"/>
          <p:cNvSpPr/>
          <p:nvPr/>
        </p:nvSpPr>
        <p:spPr>
          <a:xfrm>
            <a:off x="2393985" y="170757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9" name="Text 13"/>
          <p:cNvSpPr/>
          <p:nvPr/>
        </p:nvSpPr>
        <p:spPr>
          <a:xfrm>
            <a:off x="2448000" y="1813821"/>
            <a:ext cx="3456000" cy="2153467"/>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allient leurs savoir-faire à la vigne et dans la création des cuvées.</a:t>
            </a:r>
            <a:endParaRPr lang="en-US" sz="1175"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Brut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Extra-Brut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Mondeuse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828000" y="61220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salon-prive-2026/sol-rhone.png">    </p:cNvPr>
          <p:cNvPicPr>
            <a:picLocks noChangeAspect="1"/>
          </p:cNvPicPr>
          <p:nvPr/>
        </p:nvPicPr>
        <p:blipFill>
          <a:blip r:embed="rId5"/>
          <a:stretch>
            <a:fillRect/>
          </a:stretch>
        </p:blipFill>
        <p:spPr>
          <a:xfrm>
            <a:off x="828000" y="6269631"/>
            <a:ext cx="6120000" cy="1148400"/>
          </a:xfrm>
          <a:prstGeom prst="rect">
            <a:avLst/>
          </a:prstGeom>
        </p:spPr>
      </p:pic>
      <p:sp>
        <p:nvSpPr>
          <p:cNvPr id="23" name="Shape 15"/>
          <p:cNvSpPr/>
          <p:nvPr/>
        </p:nvSpPr>
        <p:spPr>
          <a:xfrm>
            <a:off x="828000" y="8388000"/>
            <a:ext cx="6120000" cy="0"/>
          </a:xfrm>
          <a:prstGeom prst="line">
            <a:avLst/>
          </a:prstGeom>
          <a:noFill/>
          <a:ln w="8890">
            <a:solidFill>
              <a:srgbClr val="46606E"/>
            </a:solidFill>
            <a:prstDash val="solid"/>
          </a:ln>
        </p:spPr>
      </p:sp>
      <p:sp>
        <p:nvSpPr>
          <p:cNvPr id="24" name="Text 16"/>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Jus de cépages    ● Autre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Trichon</a:t>
            </a:r>
            <a:r>
              <a:rPr lang="en-US" sz="1100" i="1" dirty="0">
                <a:solidFill>
                  <a:srgbClr val="A8515F"/>
                </a:solidFill>
                <a:latin typeface="Spectral" pitchFamily="34" charset="0"/>
                <a:ea typeface="Spectral" pitchFamily="34" charset="-122"/>
                <a:cs typeface="Spectral" pitchFamily="34" charset="-120"/>
              </a:rPr>
              <a:t>  (suite)</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425788"/>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425788"/>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17353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2264">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Pétillant de Jus de Raisin 0 %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Gamay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Mas de Lusanne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612000" y="4312277"/>
            <a:ext cx="0" cy="288349"/>
          </a:xfrm>
          <a:prstGeom prst="line">
            <a:avLst/>
          </a:prstGeom>
          <a:noFill/>
          <a:ln w="17780">
            <a:solidFill>
              <a:srgbClr val="67067C"/>
            </a:solidFill>
            <a:prstDash val="solid"/>
          </a:ln>
        </p:spPr>
      </p:sp>
      <p:sp>
        <p:nvSpPr>
          <p:cNvPr id="18" name="Text 13"/>
          <p:cNvSpPr/>
          <p:nvPr/>
        </p:nvSpPr>
        <p:spPr>
          <a:xfrm>
            <a:off x="720000" y="4312277"/>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19" name="Text 14"/>
          <p:cNvSpPr/>
          <p:nvPr/>
        </p:nvSpPr>
        <p:spPr>
          <a:xfrm>
            <a:off x="612000" y="474462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0" name="Image 2" descr="/home/user/philippe1/build/deco-salon-prive-2026/sol-rhone.png">    </p:cNvPr>
          <p:cNvPicPr>
            <a:picLocks noChangeAspect="1"/>
          </p:cNvPicPr>
          <p:nvPr/>
        </p:nvPicPr>
        <p:blipFill>
          <a:blip r:embed="rId3"/>
          <a:stretch>
            <a:fillRect/>
          </a:stretch>
        </p:blipFill>
        <p:spPr>
          <a:xfrm>
            <a:off x="612000" y="4892227"/>
            <a:ext cx="6120000" cy="1924449"/>
          </a:xfrm>
          <a:prstGeom prst="rect">
            <a:avLst/>
          </a:prstGeom>
        </p:spPr>
      </p:pic>
      <p:sp>
        <p:nvSpPr>
          <p:cNvPr id="21" name="Shape 15"/>
          <p:cNvSpPr/>
          <p:nvPr/>
        </p:nvSpPr>
        <p:spPr>
          <a:xfrm>
            <a:off x="612000" y="8388000"/>
            <a:ext cx="6120000" cy="0"/>
          </a:xfrm>
          <a:prstGeom prst="line">
            <a:avLst/>
          </a:prstGeom>
          <a:noFill/>
          <a:ln w="8890">
            <a:solidFill>
              <a:srgbClr val="46606E"/>
            </a:solidFill>
            <a:prstDash val="solid"/>
          </a:ln>
        </p:spPr>
      </p:sp>
      <p:sp>
        <p:nvSpPr>
          <p:cNvPr id="22" name="Text 16"/>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Jus de cépages    ● Autre     pictos de l’Agence SCIO, pas les logos officiels</a:t>
            </a:r>
            <a:endParaRPr lang="en-US" sz="650" dirty="0"/>
          </a:p>
        </p:txBody>
      </p:sp>
      <p:sp>
        <p:nvSpPr>
          <p:cNvPr id="24"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5"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sud-ouest.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13</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r>
              <a:rPr lang="en-US" sz="860" dirty="0">
                <a:solidFill>
                  <a:srgbClr val="FBF8F1"/>
                </a:solidFill>
                <a:latin typeface="IBM Plex Sans" pitchFamily="34" charset="0"/>
                <a:ea typeface="IBM Plex Sans" pitchFamily="34" charset="-122"/>
                <a:cs typeface="IBM Plex Sans" pitchFamily="34" charset="-120"/>
              </a:rPr>
              <a:t>Domaine Stratéus</a:t>
            </a: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r>
              <a:rPr lang="en-US" sz="860" dirty="0">
                <a:solidFill>
                  <a:srgbClr val="FBF8F1"/>
                </a:solidFill>
                <a:latin typeface="IBM Plex Sans" pitchFamily="34" charset="0"/>
                <a:ea typeface="IBM Plex Sans" pitchFamily="34" charset="-122"/>
                <a:cs typeface="IBM Plex Sans" pitchFamily="34" charset="-120"/>
              </a:rPr>
              <a:t>Domaine Haut Marin</a:t>
            </a:r>
            <a:r>
              <a:rPr lang="en-US" sz="860" b="1" dirty="0">
                <a:solidFill>
                  <a:srgbClr val="FBF8F1"/>
                </a:solidFill>
                <a:latin typeface="IBM Plex Sans" pitchFamily="34" charset="0"/>
                <a:ea typeface="IBM Plex Sans" pitchFamily="34" charset="-122"/>
                <a:cs typeface="IBM Plex Sans" pitchFamily="34" charset="-120"/>
              </a:rPr>
              <a:t>   30</a:t>
            </a:r>
            <a:endParaRPr lang="en-US" sz="860" dirty="0"/>
          </a:p>
        </p:txBody>
      </p:sp>
      <p:sp>
        <p:nvSpPr>
          <p:cNvPr id="14" name="Text 1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28</a:t>
            </a:r>
            <a:endParaRPr lang="en-US" sz="750" dirty="0"/>
          </a:p>
        </p:txBody>
      </p:sp>
      <p:sp>
        <p:nvSpPr>
          <p:cNvPr id="15" name="Text 1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Stratéus</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792494"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502605" y="1425788"/>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502605"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967278"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967278"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8" name="Image 2" descr="logo du domaine — Domaine Stratéus">    </p:cNvPr>
          <p:cNvPicPr>
            <a:picLocks noChangeAspect="1"/>
          </p:cNvPicPr>
          <p:nvPr/>
        </p:nvPicPr>
        <p:blipFill>
          <a:blip r:embed="rId3"/>
          <a:stretch>
            <a:fillRect/>
          </a:stretch>
        </p:blipFill>
        <p:spPr>
          <a:xfrm>
            <a:off x="612000" y="1735388"/>
            <a:ext cx="1440000" cy="1440000"/>
          </a:xfrm>
          <a:prstGeom prst="rect">
            <a:avLst/>
          </a:prstGeom>
        </p:spPr>
      </p:pic>
      <p:pic>
        <p:nvPicPr>
          <p:cNvPr id="19" name="Image 3" descr="Une bouteille du domaine Domaine Stratéus">    </p:cNvPr>
          <p:cNvPicPr>
            <a:picLocks noChangeAspect="1"/>
          </p:cNvPicPr>
          <p:nvPr/>
        </p:nvPicPr>
        <p:blipFill>
          <a:blip r:embed="rId4"/>
          <a:stretch>
            <a:fillRect/>
          </a:stretch>
        </p:blipFill>
        <p:spPr>
          <a:xfrm>
            <a:off x="6056066" y="1735388"/>
            <a:ext cx="487869" cy="2232000"/>
          </a:xfrm>
          <a:prstGeom prst="rect">
            <a:avLst/>
          </a:prstGeom>
        </p:spPr>
      </p:pic>
      <p:sp>
        <p:nvSpPr>
          <p:cNvPr id="20" name="Text 14"/>
          <p:cNvSpPr/>
          <p:nvPr/>
        </p:nvSpPr>
        <p:spPr>
          <a:xfrm>
            <a:off x="2177975" y="1849151"/>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21" name="Text 15"/>
          <p:cNvSpPr/>
          <p:nvPr/>
        </p:nvSpPr>
        <p:spPr>
          <a:xfrm>
            <a:off x="2232000" y="1997218"/>
            <a:ext cx="3456000" cy="197007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6833872"/>
            <a:ext cx="0" cy="288349"/>
          </a:xfrm>
          <a:prstGeom prst="line">
            <a:avLst/>
          </a:prstGeom>
          <a:noFill/>
          <a:ln w="17780">
            <a:solidFill>
              <a:srgbClr val="67067C"/>
            </a:solidFill>
            <a:prstDash val="solid"/>
          </a:ln>
        </p:spPr>
      </p:sp>
      <p:sp>
        <p:nvSpPr>
          <p:cNvPr id="24" name="Text 17"/>
          <p:cNvSpPr/>
          <p:nvPr/>
        </p:nvSpPr>
        <p:spPr>
          <a:xfrm>
            <a:off x="720000" y="683387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612000" y="726622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612000" y="7413821"/>
            <a:ext cx="6120000" cy="700220"/>
          </a:xfrm>
          <a:prstGeom prst="rect">
            <a:avLst/>
          </a:prstGeom>
        </p:spPr>
      </p:pic>
      <p:sp>
        <p:nvSpPr>
          <p:cNvPr id="27" name="Shape 19"/>
          <p:cNvSpPr/>
          <p:nvPr/>
        </p:nvSpPr>
        <p:spPr>
          <a:xfrm>
            <a:off x="612000" y="8388000"/>
            <a:ext cx="6120000" cy="0"/>
          </a:xfrm>
          <a:prstGeom prst="line">
            <a:avLst/>
          </a:prstGeom>
          <a:noFill/>
          <a:ln w="8890">
            <a:solidFill>
              <a:srgbClr val="46606E"/>
            </a:solidFill>
            <a:prstDash val="solid"/>
          </a:ln>
        </p:spPr>
      </p:sp>
      <p:sp>
        <p:nvSpPr>
          <p:cNvPr id="28" name="Text 20"/>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Haut Marin</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604592"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2" name="Shape 8"/>
          <p:cNvSpPr/>
          <p:nvPr/>
        </p:nvSpPr>
        <p:spPr>
          <a:xfrm>
            <a:off x="1511792"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11792"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76466" y="1425788"/>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2976466" y="1425788"/>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3920023"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920023"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logo du domaine — Domaine Haut Marin">    </p:cNvPr>
          <p:cNvPicPr>
            <a:picLocks noChangeAspect="1"/>
          </p:cNvPicPr>
          <p:nvPr/>
        </p:nvPicPr>
        <p:blipFill>
          <a:blip r:embed="rId3"/>
          <a:stretch>
            <a:fillRect/>
          </a:stretch>
        </p:blipFill>
        <p:spPr>
          <a:xfrm>
            <a:off x="828000" y="1735388"/>
            <a:ext cx="1440000" cy="1440000"/>
          </a:xfrm>
          <a:prstGeom prst="rect">
            <a:avLst/>
          </a:prstGeom>
        </p:spPr>
      </p:pic>
      <p:pic>
        <p:nvPicPr>
          <p:cNvPr id="19" name="Image 3" descr="Une bouteille du domaine Domaine Haut Marin">    </p:cNvPr>
          <p:cNvPicPr>
            <a:picLocks noChangeAspect="1"/>
          </p:cNvPicPr>
          <p:nvPr/>
        </p:nvPicPr>
        <p:blipFill>
          <a:blip r:embed="rId4"/>
          <a:stretch>
            <a:fillRect/>
          </a:stretch>
        </p:blipFill>
        <p:spPr>
          <a:xfrm>
            <a:off x="6244623" y="1735388"/>
            <a:ext cx="542754" cy="2232000"/>
          </a:xfrm>
          <a:prstGeom prst="rect">
            <a:avLst/>
          </a:prstGeom>
        </p:spPr>
      </p:pic>
      <p:sp>
        <p:nvSpPr>
          <p:cNvPr id="20" name="Text 14"/>
          <p:cNvSpPr/>
          <p:nvPr/>
        </p:nvSpPr>
        <p:spPr>
          <a:xfrm>
            <a:off x="2393992" y="170744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448000" y="1857267"/>
            <a:ext cx="3456000" cy="211002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a:t>
            </a:r>
            <a:endParaRPr lang="en-US" sz="13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7311164"/>
            <a:ext cx="0" cy="288349"/>
          </a:xfrm>
          <a:prstGeom prst="line">
            <a:avLst/>
          </a:prstGeom>
          <a:noFill/>
          <a:ln w="17780">
            <a:solidFill>
              <a:srgbClr val="67067C"/>
            </a:solidFill>
            <a:prstDash val="solid"/>
          </a:ln>
        </p:spPr>
      </p:sp>
      <p:sp>
        <p:nvSpPr>
          <p:cNvPr id="24" name="Text 17"/>
          <p:cNvSpPr/>
          <p:nvPr/>
        </p:nvSpPr>
        <p:spPr>
          <a:xfrm>
            <a:off x="936000" y="731116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Shape 18"/>
          <p:cNvSpPr/>
          <p:nvPr/>
        </p:nvSpPr>
        <p:spPr>
          <a:xfrm>
            <a:off x="828000" y="8388000"/>
            <a:ext cx="6120000" cy="0"/>
          </a:xfrm>
          <a:prstGeom prst="line">
            <a:avLst/>
          </a:prstGeom>
          <a:noFill/>
          <a:ln w="8890">
            <a:solidFill>
              <a:srgbClr val="46606E"/>
            </a:solidFill>
            <a:prstDash val="solid"/>
          </a:ln>
        </p:spPr>
      </p:sp>
      <p:sp>
        <p:nvSpPr>
          <p:cNvPr id="26" name="Text 19"/>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7" name="Text 20"/>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pictos de l’Agence SCIO, pas les logos officiels</a:t>
            </a:r>
            <a:endParaRPr lang="en-US" sz="650" dirty="0"/>
          </a:p>
        </p:txBody>
      </p:sp>
      <p:sp>
        <p:nvSpPr>
          <p:cNvPr id="28"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9"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rdeaux.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17</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r>
              <a:rPr lang="en-US" sz="860" dirty="0">
                <a:solidFill>
                  <a:srgbClr val="FBF8F1"/>
                </a:solidFill>
                <a:latin typeface="IBM Plex Sans" pitchFamily="34" charset="0"/>
                <a:ea typeface="IBM Plex Sans" pitchFamily="34" charset="-122"/>
                <a:cs typeface="IBM Plex Sans" pitchFamily="34" charset="-120"/>
              </a:rPr>
              <a:t>Château Falfas</a:t>
            </a: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r>
              <a:rPr lang="en-US" sz="860" dirty="0">
                <a:solidFill>
                  <a:srgbClr val="FBF8F1"/>
                </a:solidFill>
                <a:latin typeface="IBM Plex Sans" pitchFamily="34" charset="0"/>
                <a:ea typeface="IBM Plex Sans" pitchFamily="34" charset="-122"/>
                <a:cs typeface="IBM Plex Sans" pitchFamily="34" charset="-120"/>
              </a:rPr>
              <a:t>Château Pré la Lande</a:t>
            </a:r>
            <a:r>
              <a:rPr lang="en-US" sz="860" b="1" dirty="0">
                <a:solidFill>
                  <a:srgbClr val="FBF8F1"/>
                </a:solidFill>
                <a:latin typeface="IBM Plex Sans" pitchFamily="34" charset="0"/>
                <a:ea typeface="IBM Plex Sans" pitchFamily="34" charset="-122"/>
                <a:cs typeface="IBM Plex Sans" pitchFamily="34" charset="-120"/>
              </a:rPr>
              <a:t>   33</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r>
              <a:rPr lang="en-US" sz="860" dirty="0">
                <a:solidFill>
                  <a:srgbClr val="FBF8F1"/>
                </a:solidFill>
                <a:latin typeface="IBM Plex Sans" pitchFamily="34" charset="0"/>
                <a:ea typeface="IBM Plex Sans" pitchFamily="34" charset="-122"/>
                <a:cs typeface="IBM Plex Sans" pitchFamily="34" charset="-120"/>
              </a:rPr>
              <a:t>Château Balac</a:t>
            </a: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r>
              <a:rPr lang="en-US" sz="860" dirty="0">
                <a:solidFill>
                  <a:srgbClr val="FBF8F1"/>
                </a:solidFill>
                <a:latin typeface="IBM Plex Sans" pitchFamily="34" charset="0"/>
                <a:ea typeface="IBM Plex Sans" pitchFamily="34" charset="-122"/>
                <a:cs typeface="IBM Plex Sans" pitchFamily="34" charset="-120"/>
              </a:rPr>
              <a:t>Château l’Escarderie</a:t>
            </a:r>
            <a:r>
              <a:rPr lang="en-US" sz="860" b="1" dirty="0">
                <a:solidFill>
                  <a:srgbClr val="FBF8F1"/>
                </a:solidFill>
                <a:latin typeface="IBM Plex Sans" pitchFamily="34" charset="0"/>
                <a:ea typeface="IBM Plex Sans" pitchFamily="34" charset="-122"/>
                <a:cs typeface="IBM Plex Sans" pitchFamily="34" charset="-120"/>
              </a:rPr>
              <a:t>   35</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31</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Falfas</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758680"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58680"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223354"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354"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u château — Château Falfas">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Château Falfas">    </p:cNvPr>
          <p:cNvPicPr>
            <a:picLocks noChangeAspect="1"/>
          </p:cNvPicPr>
          <p:nvPr/>
        </p:nvPicPr>
        <p:blipFill>
          <a:blip r:embed="rId4"/>
          <a:stretch>
            <a:fillRect/>
          </a:stretch>
        </p:blipFill>
        <p:spPr>
          <a:xfrm>
            <a:off x="6244623" y="1735388"/>
            <a:ext cx="542754" cy="2232000"/>
          </a:xfrm>
          <a:prstGeom prst="rect">
            <a:avLst/>
          </a:prstGeom>
        </p:spPr>
      </p:pic>
      <p:sp>
        <p:nvSpPr>
          <p:cNvPr id="18" name="Text 12"/>
          <p:cNvSpPr/>
          <p:nvPr/>
        </p:nvSpPr>
        <p:spPr>
          <a:xfrm>
            <a:off x="2393960" y="173091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448000" y="1841123"/>
            <a:ext cx="3456000" cy="21261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7157276"/>
            <a:ext cx="0" cy="288349"/>
          </a:xfrm>
          <a:prstGeom prst="line">
            <a:avLst/>
          </a:prstGeom>
          <a:noFill/>
          <a:ln w="17780">
            <a:solidFill>
              <a:srgbClr val="67067C"/>
            </a:solidFill>
            <a:prstDash val="solid"/>
          </a:ln>
        </p:spPr>
      </p:sp>
      <p:sp>
        <p:nvSpPr>
          <p:cNvPr id="22" name="Text 15"/>
          <p:cNvSpPr/>
          <p:nvPr/>
        </p:nvSpPr>
        <p:spPr>
          <a:xfrm>
            <a:off x="936000" y="7157276"/>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828000" y="8388000"/>
            <a:ext cx="6120000" cy="0"/>
          </a:xfrm>
          <a:prstGeom prst="line">
            <a:avLst/>
          </a:prstGeom>
          <a:noFill/>
          <a:ln w="8890">
            <a:solidFill>
              <a:srgbClr val="46606E"/>
            </a:solidFill>
            <a:prstDash val="solid"/>
          </a:ln>
        </p:spPr>
      </p:sp>
      <p:sp>
        <p:nvSpPr>
          <p:cNvPr id="24" name="Text 17"/>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Pré la Lande</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au domaine — Château Pré la Lande">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Château Pré la Lande">    </p:cNvPr>
          <p:cNvPicPr>
            <a:picLocks noChangeAspect="1"/>
          </p:cNvPicPr>
          <p:nvPr/>
        </p:nvPicPr>
        <p:blipFill>
          <a:blip r:embed="rId4"/>
          <a:stretch>
            <a:fillRect/>
          </a:stretch>
        </p:blipFill>
        <p:spPr>
          <a:xfrm>
            <a:off x="6022525" y="1735388"/>
            <a:ext cx="554951" cy="2232000"/>
          </a:xfrm>
          <a:prstGeom prst="rect">
            <a:avLst/>
          </a:prstGeom>
        </p:spPr>
      </p:pic>
      <p:sp>
        <p:nvSpPr>
          <p:cNvPr id="18" name="Text 12"/>
          <p:cNvSpPr/>
          <p:nvPr/>
        </p:nvSpPr>
        <p:spPr>
          <a:xfrm>
            <a:off x="2178017" y="172606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232000" y="1844456"/>
            <a:ext cx="3456000" cy="212283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618393"/>
            <a:ext cx="0" cy="288349"/>
          </a:xfrm>
          <a:prstGeom prst="line">
            <a:avLst/>
          </a:prstGeom>
          <a:noFill/>
          <a:ln w="17780">
            <a:solidFill>
              <a:srgbClr val="67067C"/>
            </a:solidFill>
            <a:prstDash val="solid"/>
          </a:ln>
        </p:spPr>
      </p:sp>
      <p:sp>
        <p:nvSpPr>
          <p:cNvPr id="22" name="Text 15"/>
          <p:cNvSpPr/>
          <p:nvPr/>
        </p:nvSpPr>
        <p:spPr>
          <a:xfrm>
            <a:off x="720000" y="561839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612000" y="605074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198342"/>
            <a:ext cx="6120000" cy="1148400"/>
          </a:xfrm>
          <a:prstGeom prst="rect">
            <a:avLst/>
          </a:prstGeom>
        </p:spPr>
      </p:pic>
      <p:sp>
        <p:nvSpPr>
          <p:cNvPr id="25" name="Shape 17"/>
          <p:cNvSpPr/>
          <p:nvPr/>
        </p:nvSpPr>
        <p:spPr>
          <a:xfrm>
            <a:off x="612000" y="8388000"/>
            <a:ext cx="6120000" cy="0"/>
          </a:xfrm>
          <a:prstGeom prst="line">
            <a:avLst/>
          </a:prstGeom>
          <a:noFill/>
          <a:ln w="8890">
            <a:solidFill>
              <a:srgbClr val="46606E"/>
            </a:solidFill>
            <a:prstDash val="solid"/>
          </a:ln>
        </p:spPr>
      </p:sp>
      <p:sp>
        <p:nvSpPr>
          <p:cNvPr id="26"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Balac</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portrait des vignerons — Château Balac">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Château Balac">    </p:cNvPr>
          <p:cNvPicPr>
            <a:picLocks noChangeAspect="1"/>
          </p:cNvPicPr>
          <p:nvPr/>
        </p:nvPicPr>
        <p:blipFill>
          <a:blip r:embed="rId4"/>
          <a:stretch>
            <a:fillRect/>
          </a:stretch>
        </p:blipFill>
        <p:spPr>
          <a:xfrm>
            <a:off x="6246148" y="1735388"/>
            <a:ext cx="539705" cy="2232000"/>
          </a:xfrm>
          <a:prstGeom prst="rect">
            <a:avLst/>
          </a:prstGeom>
        </p:spPr>
      </p:pic>
      <p:sp>
        <p:nvSpPr>
          <p:cNvPr id="18" name="Text 12"/>
          <p:cNvSpPr/>
          <p:nvPr/>
        </p:nvSpPr>
        <p:spPr>
          <a:xfrm>
            <a:off x="2393976" y="1854896"/>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448000" y="1993265"/>
            <a:ext cx="3456000" cy="197402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Cru Bourgeois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Balac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064431"/>
            <a:ext cx="0" cy="288349"/>
          </a:xfrm>
          <a:prstGeom prst="line">
            <a:avLst/>
          </a:prstGeom>
          <a:noFill/>
          <a:ln w="17780">
            <a:solidFill>
              <a:srgbClr val="67067C"/>
            </a:solidFill>
            <a:prstDash val="solid"/>
          </a:ln>
        </p:spPr>
      </p:sp>
      <p:sp>
        <p:nvSpPr>
          <p:cNvPr id="22" name="Text 15"/>
          <p:cNvSpPr/>
          <p:nvPr/>
        </p:nvSpPr>
        <p:spPr>
          <a:xfrm>
            <a:off x="936000" y="6064431"/>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649678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6644380"/>
            <a:ext cx="6120000" cy="1148400"/>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 Autre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l’Escarderie</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les deux vignerons, deux portraits côte à côte — Château l’Escarderie">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Château l’Escarderie">    </p:cNvPr>
          <p:cNvPicPr>
            <a:picLocks noChangeAspect="1"/>
          </p:cNvPicPr>
          <p:nvPr/>
        </p:nvPicPr>
        <p:blipFill>
          <a:blip r:embed="rId4"/>
          <a:stretch>
            <a:fillRect/>
          </a:stretch>
        </p:blipFill>
        <p:spPr>
          <a:xfrm>
            <a:off x="6027098" y="1735388"/>
            <a:ext cx="545803" cy="2232000"/>
          </a:xfrm>
          <a:prstGeom prst="rect">
            <a:avLst/>
          </a:prstGeom>
        </p:spPr>
      </p:pic>
      <p:sp>
        <p:nvSpPr>
          <p:cNvPr id="18" name="Text 12"/>
          <p:cNvSpPr/>
          <p:nvPr/>
        </p:nvSpPr>
        <p:spPr>
          <a:xfrm>
            <a:off x="2178014" y="171769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9" name="Text 13"/>
          <p:cNvSpPr/>
          <p:nvPr/>
        </p:nvSpPr>
        <p:spPr>
          <a:xfrm>
            <a:off x="2232000" y="1850219"/>
            <a:ext cx="3456000" cy="211706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Lafargue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618393"/>
            <a:ext cx="0" cy="288349"/>
          </a:xfrm>
          <a:prstGeom prst="line">
            <a:avLst/>
          </a:prstGeom>
          <a:noFill/>
          <a:ln w="17780">
            <a:solidFill>
              <a:srgbClr val="67067C"/>
            </a:solidFill>
            <a:prstDash val="solid"/>
          </a:ln>
        </p:spPr>
      </p:sp>
      <p:sp>
        <p:nvSpPr>
          <p:cNvPr id="22" name="Text 15"/>
          <p:cNvSpPr/>
          <p:nvPr/>
        </p:nvSpPr>
        <p:spPr>
          <a:xfrm>
            <a:off x="720000" y="5618393"/>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3" name="Text 16"/>
          <p:cNvSpPr/>
          <p:nvPr/>
        </p:nvSpPr>
        <p:spPr>
          <a:xfrm>
            <a:off x="612000" y="605074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198342"/>
            <a:ext cx="6120000" cy="1148400"/>
          </a:xfrm>
          <a:prstGeom prst="rect">
            <a:avLst/>
          </a:prstGeom>
        </p:spPr>
      </p:pic>
      <p:sp>
        <p:nvSpPr>
          <p:cNvPr id="25" name="Shape 17"/>
          <p:cNvSpPr/>
          <p:nvPr/>
        </p:nvSpPr>
        <p:spPr>
          <a:xfrm>
            <a:off x="612000" y="8388000"/>
            <a:ext cx="6120000" cy="0"/>
          </a:xfrm>
          <a:prstGeom prst="line">
            <a:avLst/>
          </a:prstGeom>
          <a:noFill/>
          <a:ln w="8890">
            <a:solidFill>
              <a:srgbClr val="46606E"/>
            </a:solidFill>
            <a:prstDash val="solid"/>
          </a:ln>
        </p:spPr>
      </p:sp>
      <p:sp>
        <p:nvSpPr>
          <p:cNvPr id="26"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 Autre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provenc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r>
              <a:rPr lang="en-US" sz="860" dirty="0">
                <a:solidFill>
                  <a:srgbClr val="FBF8F1"/>
                </a:solidFill>
                <a:latin typeface="IBM Plex Sans" pitchFamily="34" charset="0"/>
                <a:ea typeface="IBM Plex Sans" pitchFamily="34" charset="-122"/>
                <a:cs typeface="IBM Plex Sans" pitchFamily="34" charset="-120"/>
              </a:rPr>
              <a:t>Bastide de Blacailloux</a:t>
            </a:r>
            <a:r>
              <a:rPr lang="en-US" sz="860" b="1" dirty="0">
                <a:solidFill>
                  <a:srgbClr val="FBF8F1"/>
                </a:solidFill>
                <a:latin typeface="IBM Plex Sans" pitchFamily="34" charset="0"/>
                <a:ea typeface="IBM Plex Sans" pitchFamily="34" charset="-122"/>
                <a:cs typeface="IBM Plex Sans" pitchFamily="34" charset="-120"/>
              </a:rPr>
              <a:t>   37</a:t>
            </a:r>
            <a:endParaRPr lang="en-US" sz="860" dirty="0"/>
          </a:p>
        </p:txBody>
      </p:sp>
      <p:sp>
        <p:nvSpPr>
          <p:cNvPr id="13" name="Text 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36</a:t>
            </a:r>
            <a:endParaRPr lang="en-US" sz="750" dirty="0"/>
          </a:p>
        </p:txBody>
      </p:sp>
      <p:sp>
        <p:nvSpPr>
          <p:cNvPr id="14" name="Text 1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proven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Bastide de Blacailloux</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vins à la dégustation</a:t>
            </a:r>
            <a:endParaRPr lang="en-US" sz="720" dirty="0"/>
          </a:p>
        </p:txBody>
      </p:sp>
      <p:pic>
        <p:nvPicPr>
          <p:cNvPr id="16" name="Image 2" descr="borie en pierre sèche du domaine — Bastide de Blacailloux">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Bastide de Blacailloux">    </p:cNvPr>
          <p:cNvPicPr>
            <a:picLocks noChangeAspect="1"/>
          </p:cNvPicPr>
          <p:nvPr/>
        </p:nvPicPr>
        <p:blipFill>
          <a:blip r:embed="rId4"/>
          <a:stretch>
            <a:fillRect/>
          </a:stretch>
        </p:blipFill>
        <p:spPr>
          <a:xfrm>
            <a:off x="6051492" y="1735388"/>
            <a:ext cx="497016" cy="2232000"/>
          </a:xfrm>
          <a:prstGeom prst="rect">
            <a:avLst/>
          </a:prstGeom>
        </p:spPr>
      </p:pic>
      <p:sp>
        <p:nvSpPr>
          <p:cNvPr id="18" name="Text 12"/>
          <p:cNvSpPr/>
          <p:nvPr/>
        </p:nvSpPr>
        <p:spPr>
          <a:xfrm>
            <a:off x="2177992" y="170744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9" name="Text 13"/>
          <p:cNvSpPr/>
          <p:nvPr/>
        </p:nvSpPr>
        <p:spPr>
          <a:xfrm>
            <a:off x="2232000" y="1857267"/>
            <a:ext cx="3456000" cy="211002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Miraia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Miraia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Aquino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Aquino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603314"/>
            <a:ext cx="0" cy="288349"/>
          </a:xfrm>
          <a:prstGeom prst="line">
            <a:avLst/>
          </a:prstGeom>
          <a:noFill/>
          <a:ln w="17780">
            <a:solidFill>
              <a:srgbClr val="67067C"/>
            </a:solidFill>
            <a:prstDash val="solid"/>
          </a:ln>
        </p:spPr>
      </p:sp>
      <p:sp>
        <p:nvSpPr>
          <p:cNvPr id="22" name="Text 15"/>
          <p:cNvSpPr/>
          <p:nvPr/>
        </p:nvSpPr>
        <p:spPr>
          <a:xfrm>
            <a:off x="720000" y="760331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Shape 16"/>
          <p:cNvSpPr/>
          <p:nvPr/>
        </p:nvSpPr>
        <p:spPr>
          <a:xfrm>
            <a:off x="612000" y="8388000"/>
            <a:ext cx="6120000" cy="0"/>
          </a:xfrm>
          <a:prstGeom prst="line">
            <a:avLst/>
          </a:prstGeom>
          <a:noFill/>
          <a:ln w="8890">
            <a:solidFill>
              <a:srgbClr val="46606E"/>
            </a:solidFill>
            <a:prstDash val="solid"/>
          </a:ln>
        </p:spPr>
      </p:sp>
      <p:sp>
        <p:nvSpPr>
          <p:cNvPr id="24" name="Text 17"/>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anguedoc.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3</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15</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a:t>
            </a: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r>
              <a:rPr lang="en-US" sz="860" dirty="0">
                <a:solidFill>
                  <a:srgbClr val="FBF8F1"/>
                </a:solidFill>
                <a:latin typeface="IBM Plex Sans" pitchFamily="34" charset="0"/>
                <a:ea typeface="IBM Plex Sans" pitchFamily="34" charset="-122"/>
                <a:cs typeface="IBM Plex Sans" pitchFamily="34" charset="-120"/>
              </a:rPr>
              <a:t>Château de Gragnos</a:t>
            </a:r>
            <a:r>
              <a:rPr lang="en-US" sz="860" b="1" dirty="0">
                <a:solidFill>
                  <a:srgbClr val="FBF8F1"/>
                </a:solidFill>
                <a:latin typeface="IBM Plex Sans" pitchFamily="34" charset="0"/>
                <a:ea typeface="IBM Plex Sans" pitchFamily="34" charset="-122"/>
                <a:cs typeface="IBM Plex Sans" pitchFamily="34" charset="-120"/>
              </a:rPr>
              <a:t>   40</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r>
              <a:rPr lang="en-US" sz="860" dirty="0">
                <a:solidFill>
                  <a:srgbClr val="FBF8F1"/>
                </a:solidFill>
                <a:latin typeface="IBM Plex Sans" pitchFamily="34" charset="0"/>
                <a:ea typeface="IBM Plex Sans" pitchFamily="34" charset="-122"/>
                <a:cs typeface="IBM Plex Sans" pitchFamily="34" charset="-120"/>
              </a:rPr>
              <a:t>Prieuré Sainte-Marie d’Albas</a:t>
            </a:r>
            <a:r>
              <a:rPr lang="en-US" sz="860" b="1" dirty="0">
                <a:solidFill>
                  <a:srgbClr val="FBF8F1"/>
                </a:solidFill>
                <a:latin typeface="IBM Plex Sans" pitchFamily="34" charset="0"/>
                <a:ea typeface="IBM Plex Sans" pitchFamily="34" charset="-122"/>
                <a:cs typeface="IBM Plex Sans" pitchFamily="34" charset="-120"/>
              </a:rPr>
              <a:t>   41</a:t>
            </a:r>
            <a:endParaRPr lang="en-US" sz="860" dirty="0"/>
          </a:p>
        </p:txBody>
      </p:sp>
      <p:sp>
        <p:nvSpPr>
          <p:cNvPr id="15" name="Text 1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38</a:t>
            </a:r>
            <a:endParaRPr lang="en-US" sz="750" dirty="0"/>
          </a:p>
        </p:txBody>
      </p:sp>
      <p:sp>
        <p:nvSpPr>
          <p:cNvPr id="16" name="Text 1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Famille d’Exea</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425788"/>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425788"/>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ogo de la maison — Famille d’Exea">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Famille d’Exea">    </p:cNvPr>
          <p:cNvPicPr>
            <a:picLocks noChangeAspect="1"/>
          </p:cNvPicPr>
          <p:nvPr/>
        </p:nvPicPr>
        <p:blipFill>
          <a:blip r:embed="rId4"/>
          <a:stretch>
            <a:fillRect/>
          </a:stretch>
        </p:blipFill>
        <p:spPr>
          <a:xfrm>
            <a:off x="6007279" y="1735388"/>
            <a:ext cx="585443" cy="2232000"/>
          </a:xfrm>
          <a:prstGeom prst="rect">
            <a:avLst/>
          </a:prstGeom>
        </p:spPr>
      </p:pic>
      <p:sp>
        <p:nvSpPr>
          <p:cNvPr id="18" name="Text 12"/>
          <p:cNvSpPr/>
          <p:nvPr/>
        </p:nvSpPr>
        <p:spPr>
          <a:xfrm>
            <a:off x="2177965" y="213705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232000" y="2274024"/>
            <a:ext cx="3456000" cy="169326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49152"/>
            <a:ext cx="0" cy="288349"/>
          </a:xfrm>
          <a:prstGeom prst="line">
            <a:avLst/>
          </a:prstGeom>
          <a:noFill/>
          <a:ln w="17780">
            <a:solidFill>
              <a:srgbClr val="67067C"/>
            </a:solidFill>
            <a:prstDash val="solid"/>
          </a:ln>
        </p:spPr>
      </p:sp>
      <p:sp>
        <p:nvSpPr>
          <p:cNvPr id="22" name="Text 15"/>
          <p:cNvSpPr/>
          <p:nvPr/>
        </p:nvSpPr>
        <p:spPr>
          <a:xfrm>
            <a:off x="720000" y="644915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612000" y="68815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7029101"/>
            <a:ext cx="6120000" cy="680426"/>
          </a:xfrm>
          <a:prstGeom prst="rect">
            <a:avLst/>
          </a:prstGeom>
        </p:spPr>
      </p:pic>
      <p:sp>
        <p:nvSpPr>
          <p:cNvPr id="25" name="Text 17"/>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a:t>
            </a:r>
            <a:endParaRPr lang="en-US" sz="740" dirty="0"/>
          </a:p>
        </p:txBody>
      </p:sp>
      <p:sp>
        <p:nvSpPr>
          <p:cNvPr id="26" name="Shape 18"/>
          <p:cNvSpPr/>
          <p:nvPr/>
        </p:nvSpPr>
        <p:spPr>
          <a:xfrm>
            <a:off x="612000" y="8388000"/>
            <a:ext cx="6120000" cy="0"/>
          </a:xfrm>
          <a:prstGeom prst="line">
            <a:avLst/>
          </a:prstGeom>
          <a:noFill/>
          <a:ln w="8890">
            <a:solidFill>
              <a:srgbClr val="46606E"/>
            </a:solidFill>
            <a:prstDash val="solid"/>
          </a:ln>
        </p:spPr>
      </p:sp>
      <p:sp>
        <p:nvSpPr>
          <p:cNvPr id="27" name="Text 19"/>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8"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de Gragnos</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473168"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73168"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grappes à la vigne — Château de Gragnos">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Château de Gragnos">    </p:cNvPr>
          <p:cNvPicPr>
            <a:picLocks noChangeAspect="1"/>
          </p:cNvPicPr>
          <p:nvPr/>
        </p:nvPicPr>
        <p:blipFill>
          <a:blip r:embed="rId4"/>
          <a:stretch>
            <a:fillRect/>
          </a:stretch>
        </p:blipFill>
        <p:spPr>
          <a:xfrm>
            <a:off x="6224803" y="1735388"/>
            <a:ext cx="582393" cy="2232000"/>
          </a:xfrm>
          <a:prstGeom prst="rect">
            <a:avLst/>
          </a:prstGeom>
        </p:spPr>
      </p:pic>
      <p:sp>
        <p:nvSpPr>
          <p:cNvPr id="18" name="Text 12"/>
          <p:cNvSpPr/>
          <p:nvPr/>
        </p:nvSpPr>
        <p:spPr>
          <a:xfrm>
            <a:off x="2393976" y="171423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448000" y="1852600"/>
            <a:ext cx="3456000" cy="211468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Juliette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387834"/>
            <a:ext cx="0" cy="288349"/>
          </a:xfrm>
          <a:prstGeom prst="line">
            <a:avLst/>
          </a:prstGeom>
          <a:noFill/>
          <a:ln w="17780">
            <a:solidFill>
              <a:srgbClr val="67067C"/>
            </a:solidFill>
            <a:prstDash val="solid"/>
          </a:ln>
        </p:spPr>
      </p:sp>
      <p:sp>
        <p:nvSpPr>
          <p:cNvPr id="22" name="Text 15"/>
          <p:cNvSpPr/>
          <p:nvPr/>
        </p:nvSpPr>
        <p:spPr>
          <a:xfrm>
            <a:off x="936000" y="638783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3" name="Text 16"/>
          <p:cNvSpPr/>
          <p:nvPr/>
        </p:nvSpPr>
        <p:spPr>
          <a:xfrm>
            <a:off x="828000" y="68201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6967784"/>
            <a:ext cx="6120000" cy="1146258"/>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Autre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Prieuré Sainte-Marie d’Albas</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es deux vignerons et leur rosé, noir et blanc — Prieuré Sainte-Marie d’Albas">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Prieuré Sainte-Marie d’Albas">    </p:cNvPr>
          <p:cNvPicPr>
            <a:picLocks noChangeAspect="1"/>
          </p:cNvPicPr>
          <p:nvPr/>
        </p:nvPicPr>
        <p:blipFill>
          <a:blip r:embed="rId4"/>
          <a:stretch>
            <a:fillRect/>
          </a:stretch>
        </p:blipFill>
        <p:spPr>
          <a:xfrm>
            <a:off x="6056066" y="1735388"/>
            <a:ext cx="487869" cy="2232000"/>
          </a:xfrm>
          <a:prstGeom prst="rect">
            <a:avLst/>
          </a:prstGeom>
        </p:spPr>
      </p:pic>
      <p:sp>
        <p:nvSpPr>
          <p:cNvPr id="18" name="Text 12"/>
          <p:cNvSpPr/>
          <p:nvPr/>
        </p:nvSpPr>
        <p:spPr>
          <a:xfrm>
            <a:off x="2177963" y="1647634"/>
            <a:ext cx="278400" cy="456794"/>
          </a:xfrm>
          <a:prstGeom prst="rect">
            <a:avLst/>
          </a:prstGeom>
          <a:noFill/>
          <a:ln/>
        </p:spPr>
        <p:txBody>
          <a:bodyPr wrap="square" lIns="0" tIns="0" rIns="0" bIns="0" rtlCol="0" anchor="t"/>
          <a:lstStyle/>
          <a:p>
            <a:pPr algn="r" indent="0" marL="0">
              <a:lnSpc>
                <a:spcPct val="122800"/>
              </a:lnSpc>
              <a:buNone/>
            </a:pPr>
            <a:r>
              <a:rPr lang="en-US" sz="2248" dirty="0">
                <a:solidFill>
                  <a:srgbClr val="67067C"/>
                </a:solidFill>
                <a:latin typeface="Young Serif" pitchFamily="34" charset="0"/>
                <a:ea typeface="Young Serif" pitchFamily="34" charset="-122"/>
                <a:cs typeface="Young Serif" pitchFamily="34" charset="-120"/>
              </a:rPr>
              <a:t>A</a:t>
            </a:r>
            <a:endParaRPr lang="en-US" sz="2248" dirty="0"/>
          </a:p>
        </p:txBody>
      </p:sp>
      <p:sp>
        <p:nvSpPr>
          <p:cNvPr id="19" name="Text 13"/>
          <p:cNvSpPr/>
          <p:nvPr/>
        </p:nvSpPr>
        <p:spPr>
          <a:xfrm>
            <a:off x="2232000" y="1777429"/>
            <a:ext cx="3456000" cy="2189859"/>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 AOP Corbières et IGP Pays d’Oc.</a:t>
            </a:r>
            <a:endParaRPr lang="en-US" sz="1225"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387834"/>
            <a:ext cx="0" cy="288349"/>
          </a:xfrm>
          <a:prstGeom prst="line">
            <a:avLst/>
          </a:prstGeom>
          <a:noFill/>
          <a:ln w="17780">
            <a:solidFill>
              <a:srgbClr val="67067C"/>
            </a:solidFill>
            <a:prstDash val="solid"/>
          </a:ln>
        </p:spPr>
      </p:sp>
      <p:sp>
        <p:nvSpPr>
          <p:cNvPr id="22" name="Text 15"/>
          <p:cNvSpPr/>
          <p:nvPr/>
        </p:nvSpPr>
        <p:spPr>
          <a:xfrm>
            <a:off x="720000" y="638783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3" name="Text 16"/>
          <p:cNvSpPr/>
          <p:nvPr/>
        </p:nvSpPr>
        <p:spPr>
          <a:xfrm>
            <a:off x="612000" y="68201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6967784"/>
            <a:ext cx="6120000" cy="1146258"/>
          </a:xfrm>
          <a:prstGeom prst="rect">
            <a:avLst/>
          </a:prstGeom>
        </p:spPr>
      </p:pic>
      <p:sp>
        <p:nvSpPr>
          <p:cNvPr id="25" name="Shape 17"/>
          <p:cNvSpPr/>
          <p:nvPr/>
        </p:nvSpPr>
        <p:spPr>
          <a:xfrm>
            <a:off x="612000" y="8388000"/>
            <a:ext cx="6120000" cy="0"/>
          </a:xfrm>
          <a:prstGeom prst="line">
            <a:avLst/>
          </a:prstGeom>
          <a:noFill/>
          <a:ln w="8890">
            <a:solidFill>
              <a:srgbClr val="46606E"/>
            </a:solidFill>
            <a:prstDash val="solid"/>
          </a:ln>
        </p:spPr>
      </p:sp>
      <p:sp>
        <p:nvSpPr>
          <p:cNvPr id="26"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champag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9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21</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11   </a:t>
            </a:r>
            <a:r>
              <a:rPr lang="en-US" sz="860" dirty="0">
                <a:solidFill>
                  <a:srgbClr val="46606E"/>
                </a:solidFill>
                <a:latin typeface="IBM Plex Sans" pitchFamily="34" charset="0"/>
                <a:ea typeface="IBM Plex Sans" pitchFamily="34" charset="-122"/>
                <a:cs typeface="IBM Plex Sans" pitchFamily="34" charset="-120"/>
              </a:rPr>
              <a:t>Champagne Dekeyne</a:t>
            </a:r>
            <a:r>
              <a:rPr lang="en-US" sz="860" b="1" dirty="0">
                <a:solidFill>
                  <a:srgbClr val="46606E"/>
                </a:solidFill>
                <a:latin typeface="IBM Plex Sans" pitchFamily="34" charset="0"/>
                <a:ea typeface="IBM Plex Sans" pitchFamily="34" charset="-122"/>
                <a:cs typeface="IBM Plex Sans" pitchFamily="34" charset="-120"/>
              </a:rPr>
              <a:t>   43</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   </a:t>
            </a:r>
            <a:r>
              <a:rPr lang="en-US" sz="860" dirty="0">
                <a:solidFill>
                  <a:srgbClr val="46606E"/>
                </a:solidFill>
                <a:latin typeface="IBM Plex Sans" pitchFamily="34" charset="0"/>
                <a:ea typeface="IBM Plex Sans" pitchFamily="34" charset="-122"/>
                <a:cs typeface="IBM Plex Sans" pitchFamily="34" charset="-120"/>
              </a:rPr>
              <a:t>Champagne Denis Frézier</a:t>
            </a:r>
            <a:r>
              <a:rPr lang="en-US" sz="860" b="1" dirty="0">
                <a:solidFill>
                  <a:srgbClr val="46606E"/>
                </a:solidFill>
                <a:latin typeface="IBM Plex Sans" pitchFamily="34" charset="0"/>
                <a:ea typeface="IBM Plex Sans" pitchFamily="34" charset="-122"/>
                <a:cs typeface="IBM Plex Sans" pitchFamily="34" charset="-120"/>
              </a:rPr>
              <a:t>   44</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23   </a:t>
            </a:r>
            <a:r>
              <a:rPr lang="en-US" sz="860" dirty="0">
                <a:solidFill>
                  <a:srgbClr val="46606E"/>
                </a:solidFill>
                <a:latin typeface="IBM Plex Sans" pitchFamily="34" charset="0"/>
                <a:ea typeface="IBM Plex Sans" pitchFamily="34" charset="-122"/>
                <a:cs typeface="IBM Plex Sans" pitchFamily="34" charset="-120"/>
              </a:rPr>
              <a:t>Champagne Solemme</a:t>
            </a:r>
            <a:r>
              <a:rPr lang="en-US" sz="860" b="1" dirty="0">
                <a:solidFill>
                  <a:srgbClr val="46606E"/>
                </a:solidFill>
                <a:latin typeface="IBM Plex Sans" pitchFamily="34" charset="0"/>
                <a:ea typeface="IBM Plex Sans" pitchFamily="34" charset="-122"/>
                <a:cs typeface="IBM Plex Sans" pitchFamily="34" charset="-120"/>
              </a:rPr>
              <a:t>   45</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15   </a:t>
            </a:r>
            <a:r>
              <a:rPr lang="en-US" sz="860" dirty="0">
                <a:solidFill>
                  <a:srgbClr val="46606E"/>
                </a:solidFill>
                <a:latin typeface="IBM Plex Sans" pitchFamily="34" charset="0"/>
                <a:ea typeface="IBM Plex Sans" pitchFamily="34" charset="-122"/>
                <a:cs typeface="IBM Plex Sans" pitchFamily="34" charset="-120"/>
              </a:rPr>
              <a:t>Vazart-Coquart &amp; Fils</a:t>
            </a:r>
            <a:r>
              <a:rPr lang="en-US" sz="860" b="1" dirty="0">
                <a:solidFill>
                  <a:srgbClr val="46606E"/>
                </a:solidFill>
                <a:latin typeface="IBM Plex Sans" pitchFamily="34" charset="0"/>
                <a:ea typeface="IBM Plex Sans" pitchFamily="34" charset="-122"/>
                <a:cs typeface="IBM Plex Sans" pitchFamily="34" charset="-120"/>
              </a:rPr>
              <a:t>   46</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Dekeyne</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792494"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502605" y="1425788"/>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502605"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967278"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967278"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8" name="Image 2" descr="les deux frères dans les vignes — Champagne Dekeyne">    </p:cNvPr>
          <p:cNvPicPr>
            <a:picLocks noChangeAspect="1"/>
          </p:cNvPicPr>
          <p:nvPr/>
        </p:nvPicPr>
        <p:blipFill>
          <a:blip r:embed="rId3"/>
          <a:stretch>
            <a:fillRect/>
          </a:stretch>
        </p:blipFill>
        <p:spPr>
          <a:xfrm>
            <a:off x="612000" y="1735388"/>
            <a:ext cx="1440000" cy="1440000"/>
          </a:xfrm>
          <a:prstGeom prst="rect">
            <a:avLst/>
          </a:prstGeom>
        </p:spPr>
      </p:pic>
      <p:pic>
        <p:nvPicPr>
          <p:cNvPr id="19" name="Image 3" descr="Une bouteille du domaine Champagne Dekeyne">    </p:cNvPr>
          <p:cNvPicPr>
            <a:picLocks noChangeAspect="1"/>
          </p:cNvPicPr>
          <p:nvPr/>
        </p:nvPicPr>
        <p:blipFill>
          <a:blip r:embed="rId4"/>
          <a:stretch>
            <a:fillRect/>
          </a:stretch>
        </p:blipFill>
        <p:spPr>
          <a:xfrm>
            <a:off x="6005754" y="1735388"/>
            <a:ext cx="588492" cy="2232000"/>
          </a:xfrm>
          <a:prstGeom prst="rect">
            <a:avLst/>
          </a:prstGeom>
        </p:spPr>
      </p:pic>
      <p:sp>
        <p:nvSpPr>
          <p:cNvPr id="20" name="Text 14"/>
          <p:cNvSpPr/>
          <p:nvPr/>
        </p:nvSpPr>
        <p:spPr>
          <a:xfrm>
            <a:off x="2178034" y="186541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1986026"/>
            <a:ext cx="3456000" cy="198126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Supernova Extra-Brut Zéro Dosage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6003114"/>
            <a:ext cx="0" cy="288349"/>
          </a:xfrm>
          <a:prstGeom prst="line">
            <a:avLst/>
          </a:prstGeom>
          <a:noFill/>
          <a:ln w="17780">
            <a:solidFill>
              <a:srgbClr val="67067C"/>
            </a:solidFill>
            <a:prstDash val="solid"/>
          </a:ln>
        </p:spPr>
      </p:sp>
      <p:sp>
        <p:nvSpPr>
          <p:cNvPr id="24" name="Text 17"/>
          <p:cNvSpPr/>
          <p:nvPr/>
        </p:nvSpPr>
        <p:spPr>
          <a:xfrm>
            <a:off x="720000" y="6003114"/>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5" name="Text 18"/>
          <p:cNvSpPr/>
          <p:nvPr/>
        </p:nvSpPr>
        <p:spPr>
          <a:xfrm>
            <a:off x="612000" y="643546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612000" y="6583063"/>
            <a:ext cx="6120000" cy="1148400"/>
          </a:xfrm>
          <a:prstGeom prst="rect">
            <a:avLst/>
          </a:prstGeom>
        </p:spPr>
      </p:pic>
      <p:sp>
        <p:nvSpPr>
          <p:cNvPr id="27" name="Shape 19"/>
          <p:cNvSpPr/>
          <p:nvPr/>
        </p:nvSpPr>
        <p:spPr>
          <a:xfrm>
            <a:off x="612000" y="8388000"/>
            <a:ext cx="6120000" cy="0"/>
          </a:xfrm>
          <a:prstGeom prst="line">
            <a:avLst/>
          </a:prstGeom>
          <a:noFill/>
          <a:ln w="8890">
            <a:solidFill>
              <a:srgbClr val="46606E"/>
            </a:solidFill>
            <a:prstDash val="solid"/>
          </a:ln>
        </p:spPr>
      </p:sp>
      <p:sp>
        <p:nvSpPr>
          <p:cNvPr id="28" name="Text 20"/>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9" name="Text 21"/>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Denis Frézier</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425788"/>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425788"/>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425788"/>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425788"/>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8" name="Image 2" descr="le village dans ses vignes — Champagne Denis Frézier">    </p:cNvPr>
          <p:cNvPicPr>
            <a:picLocks noChangeAspect="1"/>
          </p:cNvPicPr>
          <p:nvPr/>
        </p:nvPicPr>
        <p:blipFill>
          <a:blip r:embed="rId3"/>
          <a:stretch>
            <a:fillRect/>
          </a:stretch>
        </p:blipFill>
        <p:spPr>
          <a:xfrm>
            <a:off x="828000" y="1735388"/>
            <a:ext cx="1440000" cy="1440000"/>
          </a:xfrm>
          <a:prstGeom prst="rect">
            <a:avLst/>
          </a:prstGeom>
        </p:spPr>
      </p:pic>
      <p:pic>
        <p:nvPicPr>
          <p:cNvPr id="19" name="Image 3" descr="Une bouteille du domaine Champagne Denis Frézier">    </p:cNvPr>
          <p:cNvPicPr>
            <a:picLocks noChangeAspect="1"/>
          </p:cNvPicPr>
          <p:nvPr/>
        </p:nvPicPr>
        <p:blipFill>
          <a:blip r:embed="rId4"/>
          <a:stretch>
            <a:fillRect/>
          </a:stretch>
        </p:blipFill>
        <p:spPr>
          <a:xfrm>
            <a:off x="6218705" y="1735388"/>
            <a:ext cx="594590" cy="2232000"/>
          </a:xfrm>
          <a:prstGeom prst="rect">
            <a:avLst/>
          </a:prstGeom>
        </p:spPr>
      </p:pic>
      <p:sp>
        <p:nvSpPr>
          <p:cNvPr id="20" name="Text 14"/>
          <p:cNvSpPr/>
          <p:nvPr/>
        </p:nvSpPr>
        <p:spPr>
          <a:xfrm>
            <a:off x="2393992" y="184811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448000" y="1997933"/>
            <a:ext cx="3456000" cy="196935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Trois Crus, Terroir Noir et Terroir Blanc.</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Millésime Expression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449152"/>
            <a:ext cx="0" cy="288349"/>
          </a:xfrm>
          <a:prstGeom prst="line">
            <a:avLst/>
          </a:prstGeom>
          <a:noFill/>
          <a:ln w="17780">
            <a:solidFill>
              <a:srgbClr val="67067C"/>
            </a:solidFill>
            <a:prstDash val="solid"/>
          </a:ln>
        </p:spPr>
      </p:sp>
      <p:sp>
        <p:nvSpPr>
          <p:cNvPr id="24" name="Text 17"/>
          <p:cNvSpPr/>
          <p:nvPr/>
        </p:nvSpPr>
        <p:spPr>
          <a:xfrm>
            <a:off x="936000" y="644915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68815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828000" y="7029101"/>
            <a:ext cx="6120000" cy="1084941"/>
          </a:xfrm>
          <a:prstGeom prst="rect">
            <a:avLst/>
          </a:prstGeom>
        </p:spPr>
      </p:pic>
      <p:sp>
        <p:nvSpPr>
          <p:cNvPr id="27" name="Shape 19"/>
          <p:cNvSpPr/>
          <p:nvPr/>
        </p:nvSpPr>
        <p:spPr>
          <a:xfrm>
            <a:off x="828000" y="8388000"/>
            <a:ext cx="6120000" cy="0"/>
          </a:xfrm>
          <a:prstGeom prst="line">
            <a:avLst/>
          </a:prstGeom>
          <a:noFill/>
          <a:ln w="8890">
            <a:solidFill>
              <a:srgbClr val="46606E"/>
            </a:solidFill>
            <a:prstDash val="solid"/>
          </a:ln>
        </p:spPr>
      </p:sp>
      <p:sp>
        <p:nvSpPr>
          <p:cNvPr id="28" name="Text 20"/>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Solemme</a:t>
            </a:r>
            <a:endParaRPr lang="en-US" sz="2000" dirty="0"/>
          </a:p>
        </p:txBody>
      </p:sp>
      <p:sp>
        <p:nvSpPr>
          <p:cNvPr id="7" name="Text 4"/>
          <p:cNvSpPr/>
          <p:nvPr/>
        </p:nvSpPr>
        <p:spPr>
          <a:xfrm>
            <a:off x="5292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332188"/>
            <a:ext cx="6120000" cy="0"/>
          </a:xfrm>
          <a:prstGeom prst="line">
            <a:avLst/>
          </a:prstGeom>
          <a:noFill/>
          <a:ln w="17780">
            <a:solidFill>
              <a:srgbClr val="67067C"/>
            </a:solidFill>
            <a:prstDash val="solid"/>
          </a:ln>
        </p:spPr>
      </p:sp>
      <p:sp>
        <p:nvSpPr>
          <p:cNvPr id="9" name="Shape 6"/>
          <p:cNvSpPr/>
          <p:nvPr/>
        </p:nvSpPr>
        <p:spPr>
          <a:xfrm>
            <a:off x="612000" y="1425788"/>
            <a:ext cx="109708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461788"/>
            <a:ext cx="108000" cy="108000"/>
          </a:xfrm>
          <a:prstGeom prst="rect">
            <a:avLst/>
          </a:prstGeom>
        </p:spPr>
      </p:pic>
      <p:sp>
        <p:nvSpPr>
          <p:cNvPr id="11" name="Text 7"/>
          <p:cNvSpPr/>
          <p:nvPr/>
        </p:nvSpPr>
        <p:spPr>
          <a:xfrm>
            <a:off x="759600" y="1425788"/>
            <a:ext cx="94948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 &amp; Biodynamie</a:t>
            </a:r>
            <a:endParaRPr lang="en-US" sz="720" dirty="0"/>
          </a:p>
        </p:txBody>
      </p:sp>
      <p:sp>
        <p:nvSpPr>
          <p:cNvPr id="12" name="Shape 8"/>
          <p:cNvSpPr/>
          <p:nvPr/>
        </p:nvSpPr>
        <p:spPr>
          <a:xfrm>
            <a:off x="1788288"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88288"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252961"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52961"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logo de la maison — Champagne Solemme">    </p:cNvPr>
          <p:cNvPicPr>
            <a:picLocks noChangeAspect="1"/>
          </p:cNvPicPr>
          <p:nvPr/>
        </p:nvPicPr>
        <p:blipFill>
          <a:blip r:embed="rId3"/>
          <a:stretch>
            <a:fillRect/>
          </a:stretch>
        </p:blipFill>
        <p:spPr>
          <a:xfrm>
            <a:off x="612000" y="1735388"/>
            <a:ext cx="1440000" cy="1440000"/>
          </a:xfrm>
          <a:prstGeom prst="rect">
            <a:avLst/>
          </a:prstGeom>
        </p:spPr>
      </p:pic>
      <p:pic>
        <p:nvPicPr>
          <p:cNvPr id="17" name="Image 3" descr="Une bouteille du domaine Champagne Solemme">    </p:cNvPr>
          <p:cNvPicPr>
            <a:picLocks noChangeAspect="1"/>
          </p:cNvPicPr>
          <p:nvPr/>
        </p:nvPicPr>
        <p:blipFill>
          <a:blip r:embed="rId4"/>
          <a:stretch>
            <a:fillRect/>
          </a:stretch>
        </p:blipFill>
        <p:spPr>
          <a:xfrm>
            <a:off x="6002705" y="1735388"/>
            <a:ext cx="594590" cy="2232000"/>
          </a:xfrm>
          <a:prstGeom prst="rect">
            <a:avLst/>
          </a:prstGeom>
        </p:spPr>
      </p:pic>
      <p:sp>
        <p:nvSpPr>
          <p:cNvPr id="18" name="Text 12"/>
          <p:cNvSpPr/>
          <p:nvPr/>
        </p:nvSpPr>
        <p:spPr>
          <a:xfrm>
            <a:off x="2177976" y="171423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9" name="Text 13"/>
          <p:cNvSpPr/>
          <p:nvPr/>
        </p:nvSpPr>
        <p:spPr>
          <a:xfrm>
            <a:off x="2232000" y="1852600"/>
            <a:ext cx="3456000" cy="211468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BSA</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833872"/>
            <a:ext cx="0" cy="288349"/>
          </a:xfrm>
          <a:prstGeom prst="line">
            <a:avLst/>
          </a:prstGeom>
          <a:noFill/>
          <a:ln w="17780">
            <a:solidFill>
              <a:srgbClr val="67067C"/>
            </a:solidFill>
            <a:prstDash val="solid"/>
          </a:ln>
        </p:spPr>
      </p:sp>
      <p:sp>
        <p:nvSpPr>
          <p:cNvPr id="22" name="Text 15"/>
          <p:cNvSpPr/>
          <p:nvPr/>
        </p:nvSpPr>
        <p:spPr>
          <a:xfrm>
            <a:off x="720000" y="683387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612000" y="726622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612000" y="7413821"/>
            <a:ext cx="6120000" cy="700220"/>
          </a:xfrm>
          <a:prstGeom prst="rect">
            <a:avLst/>
          </a:prstGeom>
        </p:spPr>
      </p:pic>
      <p:sp>
        <p:nvSpPr>
          <p:cNvPr id="25" name="Shape 17"/>
          <p:cNvSpPr/>
          <p:nvPr/>
        </p:nvSpPr>
        <p:spPr>
          <a:xfrm>
            <a:off x="612000" y="8388000"/>
            <a:ext cx="6120000" cy="0"/>
          </a:xfrm>
          <a:prstGeom prst="line">
            <a:avLst/>
          </a:prstGeom>
          <a:noFill/>
          <a:ln w="8890">
            <a:solidFill>
              <a:srgbClr val="46606E"/>
            </a:solidFill>
            <a:prstDash val="solid"/>
          </a:ln>
        </p:spPr>
      </p:sp>
      <p:sp>
        <p:nvSpPr>
          <p:cNvPr id="26" name="Text 18"/>
          <p:cNvSpPr/>
          <p:nvPr/>
        </p:nvSpPr>
        <p:spPr>
          <a:xfrm>
            <a:off x="612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67894"/>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67894"/>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74188"/>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Vazart-Coquart &amp; Fils</a:t>
            </a:r>
            <a:endParaRPr lang="en-US" sz="2000" dirty="0"/>
          </a:p>
        </p:txBody>
      </p:sp>
      <p:sp>
        <p:nvSpPr>
          <p:cNvPr id="7" name="Text 4"/>
          <p:cNvSpPr/>
          <p:nvPr/>
        </p:nvSpPr>
        <p:spPr>
          <a:xfrm>
            <a:off x="5508000" y="540000"/>
            <a:ext cx="1440000" cy="774188"/>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332188"/>
            <a:ext cx="6120000" cy="0"/>
          </a:xfrm>
          <a:prstGeom prst="line">
            <a:avLst/>
          </a:prstGeom>
          <a:noFill/>
          <a:ln w="17780">
            <a:solidFill>
              <a:srgbClr val="67067C"/>
            </a:solidFill>
            <a:prstDash val="solid"/>
          </a:ln>
        </p:spPr>
      </p:sp>
      <p:sp>
        <p:nvSpPr>
          <p:cNvPr id="9" name="Shape 6"/>
          <p:cNvSpPr/>
          <p:nvPr/>
        </p:nvSpPr>
        <p:spPr>
          <a:xfrm>
            <a:off x="828000" y="1425788"/>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461788"/>
            <a:ext cx="108000" cy="108000"/>
          </a:xfrm>
          <a:prstGeom prst="rect">
            <a:avLst/>
          </a:prstGeom>
        </p:spPr>
      </p:pic>
      <p:sp>
        <p:nvSpPr>
          <p:cNvPr id="11" name="Text 7"/>
          <p:cNvSpPr/>
          <p:nvPr/>
        </p:nvSpPr>
        <p:spPr>
          <a:xfrm>
            <a:off x="975600" y="1425788"/>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425788"/>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425788"/>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473168" y="1425788"/>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73168" y="1425788"/>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la maison de champagne — Vazart-Coquart &amp; Fils">    </p:cNvPr>
          <p:cNvPicPr>
            <a:picLocks noChangeAspect="1"/>
          </p:cNvPicPr>
          <p:nvPr/>
        </p:nvPicPr>
        <p:blipFill>
          <a:blip r:embed="rId3"/>
          <a:stretch>
            <a:fillRect/>
          </a:stretch>
        </p:blipFill>
        <p:spPr>
          <a:xfrm>
            <a:off x="828000" y="1735388"/>
            <a:ext cx="1440000" cy="1440000"/>
          </a:xfrm>
          <a:prstGeom prst="rect">
            <a:avLst/>
          </a:prstGeom>
        </p:spPr>
      </p:pic>
      <p:pic>
        <p:nvPicPr>
          <p:cNvPr id="17" name="Image 3" descr="Une bouteille du domaine Vazart-Coquart &amp; Fils">    </p:cNvPr>
          <p:cNvPicPr>
            <a:picLocks noChangeAspect="1"/>
          </p:cNvPicPr>
          <p:nvPr/>
        </p:nvPicPr>
        <p:blipFill>
          <a:blip r:embed="rId4"/>
          <a:stretch>
            <a:fillRect/>
          </a:stretch>
        </p:blipFill>
        <p:spPr>
          <a:xfrm>
            <a:off x="6129248" y="1735388"/>
            <a:ext cx="773503" cy="2232000"/>
          </a:xfrm>
          <a:prstGeom prst="rect">
            <a:avLst/>
          </a:prstGeom>
        </p:spPr>
      </p:pic>
      <p:sp>
        <p:nvSpPr>
          <p:cNvPr id="18" name="Text 12"/>
          <p:cNvSpPr/>
          <p:nvPr/>
        </p:nvSpPr>
        <p:spPr>
          <a:xfrm>
            <a:off x="2394033" y="1851436"/>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9" name="Text 13"/>
          <p:cNvSpPr/>
          <p:nvPr/>
        </p:nvSpPr>
        <p:spPr>
          <a:xfrm>
            <a:off x="2448000" y="1995647"/>
            <a:ext cx="3456000" cy="19716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 Troisième domaine certifié HVE de France.</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4129288"/>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82/17 Blanc de Blancs Zéro Dosage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88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833872"/>
            <a:ext cx="0" cy="288349"/>
          </a:xfrm>
          <a:prstGeom prst="line">
            <a:avLst/>
          </a:prstGeom>
          <a:noFill/>
          <a:ln w="17780">
            <a:solidFill>
              <a:srgbClr val="67067C"/>
            </a:solidFill>
            <a:prstDash val="solid"/>
          </a:ln>
        </p:spPr>
      </p:sp>
      <p:sp>
        <p:nvSpPr>
          <p:cNvPr id="22" name="Text 15"/>
          <p:cNvSpPr/>
          <p:nvPr/>
        </p:nvSpPr>
        <p:spPr>
          <a:xfrm>
            <a:off x="936000" y="6833872"/>
            <a:ext cx="6012000" cy="288349"/>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726622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828000" y="7413821"/>
            <a:ext cx="6120000" cy="700220"/>
          </a:xfrm>
          <a:prstGeom prst="rect">
            <a:avLst/>
          </a:prstGeom>
        </p:spPr>
      </p:pic>
      <p:sp>
        <p:nvSpPr>
          <p:cNvPr id="25" name="Shape 17"/>
          <p:cNvSpPr/>
          <p:nvPr/>
        </p:nvSpPr>
        <p:spPr>
          <a:xfrm>
            <a:off x="828000" y="8388000"/>
            <a:ext cx="6120000" cy="0"/>
          </a:xfrm>
          <a:prstGeom prst="line">
            <a:avLst/>
          </a:prstGeom>
          <a:noFill/>
          <a:ln w="8890">
            <a:solidFill>
              <a:srgbClr val="46606E"/>
            </a:solidFill>
            <a:prstDash val="solid"/>
          </a:ln>
        </p:spPr>
      </p:sp>
      <p:sp>
        <p:nvSpPr>
          <p:cNvPr id="26" name="Text 18"/>
          <p:cNvSpPr/>
          <p:nvPr/>
        </p:nvSpPr>
        <p:spPr>
          <a:xfrm>
            <a:off x="828000" y="8424000"/>
            <a:ext cx="6120000" cy="180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612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stand, le dernier chiffre est la page.</a:t>
            </a:r>
            <a:endParaRPr lang="en-US" sz="860" dirty="0"/>
          </a:p>
        </p:txBody>
      </p:sp>
      <p:sp>
        <p:nvSpPr>
          <p:cNvPr id="5" name="Text 3"/>
          <p:cNvSpPr/>
          <p:nvPr/>
        </p:nvSpPr>
        <p:spPr>
          <a:xfrm>
            <a:off x="612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61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82/17 Blanc de Blancs Zéro Dosage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7" name="Text 5"/>
          <p:cNvSpPr/>
          <p:nvPr/>
        </p:nvSpPr>
        <p:spPr>
          <a:xfrm>
            <a:off x="61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8" name="Text 6"/>
          <p:cNvSpPr/>
          <p:nvPr/>
        </p:nvSpPr>
        <p:spPr>
          <a:xfrm>
            <a:off x="61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9" name="Text 7"/>
          <p:cNvSpPr/>
          <p:nvPr/>
        </p:nvSpPr>
        <p:spPr>
          <a:xfrm>
            <a:off x="61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Rosé</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0" name="Text 8"/>
          <p:cNvSpPr/>
          <p:nvPr/>
        </p:nvSpPr>
        <p:spPr>
          <a:xfrm>
            <a:off x="61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1" name="Text 9"/>
          <p:cNvSpPr/>
          <p:nvPr/>
        </p:nvSpPr>
        <p:spPr>
          <a:xfrm>
            <a:off x="61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 name="Text 10"/>
          <p:cNvSpPr/>
          <p:nvPr/>
        </p:nvSpPr>
        <p:spPr>
          <a:xfrm>
            <a:off x="61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3" name="Text 11"/>
          <p:cNvSpPr/>
          <p:nvPr/>
        </p:nvSpPr>
        <p:spPr>
          <a:xfrm>
            <a:off x="61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4" name="Text 12"/>
          <p:cNvSpPr/>
          <p:nvPr/>
        </p:nvSpPr>
        <p:spPr>
          <a:xfrm>
            <a:off x="61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5" name="Text 13"/>
          <p:cNvSpPr/>
          <p:nvPr/>
        </p:nvSpPr>
        <p:spPr>
          <a:xfrm>
            <a:off x="61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6" name="Text 14"/>
          <p:cNvSpPr/>
          <p:nvPr/>
        </p:nvSpPr>
        <p:spPr>
          <a:xfrm>
            <a:off x="61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7" name="Text 15"/>
          <p:cNvSpPr/>
          <p:nvPr/>
        </p:nvSpPr>
        <p:spPr>
          <a:xfrm>
            <a:off x="61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8" name="Text 16"/>
          <p:cNvSpPr/>
          <p:nvPr/>
        </p:nvSpPr>
        <p:spPr>
          <a:xfrm>
            <a:off x="61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9" name="Text 17"/>
          <p:cNvSpPr/>
          <p:nvPr/>
        </p:nvSpPr>
        <p:spPr>
          <a:xfrm>
            <a:off x="61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20" name="Text 18"/>
          <p:cNvSpPr/>
          <p:nvPr/>
        </p:nvSpPr>
        <p:spPr>
          <a:xfrm>
            <a:off x="61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21" name="Text 19"/>
          <p:cNvSpPr/>
          <p:nvPr/>
        </p:nvSpPr>
        <p:spPr>
          <a:xfrm>
            <a:off x="61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Extra-Brut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22" name="Text 20"/>
          <p:cNvSpPr/>
          <p:nvPr/>
        </p:nvSpPr>
        <p:spPr>
          <a:xfrm>
            <a:off x="61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Millésime Expression</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3" name="Text 21"/>
          <p:cNvSpPr/>
          <p:nvPr/>
        </p:nvSpPr>
        <p:spPr>
          <a:xfrm>
            <a:off x="61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61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5" name="Text 23"/>
          <p:cNvSpPr/>
          <p:nvPr/>
        </p:nvSpPr>
        <p:spPr>
          <a:xfrm>
            <a:off x="61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26" name="Text 24"/>
          <p:cNvSpPr/>
          <p:nvPr/>
        </p:nvSpPr>
        <p:spPr>
          <a:xfrm>
            <a:off x="61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27" name="Text 25"/>
          <p:cNvSpPr/>
          <p:nvPr/>
        </p:nvSpPr>
        <p:spPr>
          <a:xfrm>
            <a:off x="61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8" name="Text 26"/>
          <p:cNvSpPr/>
          <p:nvPr/>
        </p:nvSpPr>
        <p:spPr>
          <a:xfrm>
            <a:off x="61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29" name="Text 27"/>
          <p:cNvSpPr/>
          <p:nvPr/>
        </p:nvSpPr>
        <p:spPr>
          <a:xfrm>
            <a:off x="61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30" name="Text 28"/>
          <p:cNvSpPr/>
          <p:nvPr/>
        </p:nvSpPr>
        <p:spPr>
          <a:xfrm>
            <a:off x="61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Supernova Extra-Brut Zéro Dosage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1" name="Text 29"/>
          <p:cNvSpPr/>
          <p:nvPr/>
        </p:nvSpPr>
        <p:spPr>
          <a:xfrm>
            <a:off x="61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2" name="Text 30"/>
          <p:cNvSpPr/>
          <p:nvPr/>
        </p:nvSpPr>
        <p:spPr>
          <a:xfrm>
            <a:off x="61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3" name="Text 31"/>
          <p:cNvSpPr/>
          <p:nvPr/>
        </p:nvSpPr>
        <p:spPr>
          <a:xfrm>
            <a:off x="61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4" name="Text 32"/>
          <p:cNvSpPr/>
          <p:nvPr/>
        </p:nvSpPr>
        <p:spPr>
          <a:xfrm>
            <a:off x="61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5" name="Text 33"/>
          <p:cNvSpPr/>
          <p:nvPr/>
        </p:nvSpPr>
        <p:spPr>
          <a:xfrm>
            <a:off x="61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6" name="Text 34"/>
          <p:cNvSpPr/>
          <p:nvPr/>
        </p:nvSpPr>
        <p:spPr>
          <a:xfrm>
            <a:off x="612000" y="5526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7" name="Text 35"/>
          <p:cNvSpPr/>
          <p:nvPr/>
        </p:nvSpPr>
        <p:spPr>
          <a:xfrm>
            <a:off x="61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Anjou</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38" name="Text 36"/>
          <p:cNvSpPr/>
          <p:nvPr/>
        </p:nvSpPr>
        <p:spPr>
          <a:xfrm>
            <a:off x="61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39" name="Text 37"/>
          <p:cNvSpPr/>
          <p:nvPr/>
        </p:nvSpPr>
        <p:spPr>
          <a:xfrm>
            <a:off x="61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Meursault</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40" name="Text 38"/>
          <p:cNvSpPr/>
          <p:nvPr/>
        </p:nvSpPr>
        <p:spPr>
          <a:xfrm>
            <a:off x="61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Pacherenc du Vic-Bilh Sec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1" name="Text 39"/>
          <p:cNvSpPr/>
          <p:nvPr/>
        </p:nvSpPr>
        <p:spPr>
          <a:xfrm>
            <a:off x="61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Pouilly-Vinzelles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42" name="Text 40"/>
          <p:cNvSpPr/>
          <p:nvPr/>
        </p:nvSpPr>
        <p:spPr>
          <a:xfrm>
            <a:off x="61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3" name="Text 41"/>
          <p:cNvSpPr/>
          <p:nvPr/>
        </p:nvSpPr>
        <p:spPr>
          <a:xfrm>
            <a:off x="265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4" name="Text 42"/>
          <p:cNvSpPr/>
          <p:nvPr/>
        </p:nvSpPr>
        <p:spPr>
          <a:xfrm>
            <a:off x="265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5" name="Text 43"/>
          <p:cNvSpPr/>
          <p:nvPr/>
        </p:nvSpPr>
        <p:spPr>
          <a:xfrm>
            <a:off x="265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6" name="Text 44"/>
          <p:cNvSpPr/>
          <p:nvPr/>
        </p:nvSpPr>
        <p:spPr>
          <a:xfrm>
            <a:off x="265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7" name="Text 45"/>
          <p:cNvSpPr/>
          <p:nvPr/>
        </p:nvSpPr>
        <p:spPr>
          <a:xfrm>
            <a:off x="265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2024</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8" name="Text 46"/>
          <p:cNvSpPr/>
          <p:nvPr/>
        </p:nvSpPr>
        <p:spPr>
          <a:xfrm>
            <a:off x="265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9" name="Text 47"/>
          <p:cNvSpPr/>
          <p:nvPr/>
        </p:nvSpPr>
        <p:spPr>
          <a:xfrm>
            <a:off x="265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50" name="Text 48"/>
          <p:cNvSpPr/>
          <p:nvPr/>
        </p:nvSpPr>
        <p:spPr>
          <a:xfrm>
            <a:off x="265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51" name="Text 49"/>
          <p:cNvSpPr/>
          <p:nvPr/>
        </p:nvSpPr>
        <p:spPr>
          <a:xfrm>
            <a:off x="265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2" name="Text 50"/>
          <p:cNvSpPr/>
          <p:nvPr/>
        </p:nvSpPr>
        <p:spPr>
          <a:xfrm>
            <a:off x="265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3" name="Text 51"/>
          <p:cNvSpPr/>
          <p:nvPr/>
        </p:nvSpPr>
        <p:spPr>
          <a:xfrm>
            <a:off x="265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Chardonnay-Viognier</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4" name="Text 52"/>
          <p:cNvSpPr/>
          <p:nvPr/>
        </p:nvSpPr>
        <p:spPr>
          <a:xfrm>
            <a:off x="265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55" name="Text 53"/>
          <p:cNvSpPr/>
          <p:nvPr/>
        </p:nvSpPr>
        <p:spPr>
          <a:xfrm>
            <a:off x="265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6" name="Text 54"/>
          <p:cNvSpPr/>
          <p:nvPr/>
        </p:nvSpPr>
        <p:spPr>
          <a:xfrm>
            <a:off x="265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7" name="Text 55"/>
          <p:cNvSpPr/>
          <p:nvPr/>
        </p:nvSpPr>
        <p:spPr>
          <a:xfrm>
            <a:off x="265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8" name="Text 56"/>
          <p:cNvSpPr/>
          <p:nvPr/>
        </p:nvSpPr>
        <p:spPr>
          <a:xfrm>
            <a:off x="265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9" name="Text 57"/>
          <p:cNvSpPr/>
          <p:nvPr/>
        </p:nvSpPr>
        <p:spPr>
          <a:xfrm>
            <a:off x="265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0" name="Text 58"/>
          <p:cNvSpPr/>
          <p:nvPr/>
        </p:nvSpPr>
        <p:spPr>
          <a:xfrm>
            <a:off x="265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1" name="Text 59"/>
          <p:cNvSpPr/>
          <p:nvPr/>
        </p:nvSpPr>
        <p:spPr>
          <a:xfrm>
            <a:off x="265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2" name="Text 60"/>
          <p:cNvSpPr/>
          <p:nvPr/>
        </p:nvSpPr>
        <p:spPr>
          <a:xfrm>
            <a:off x="265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3" name="Text 61"/>
          <p:cNvSpPr/>
          <p:nvPr/>
        </p:nvSpPr>
        <p:spPr>
          <a:xfrm>
            <a:off x="265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64" name="Text 62"/>
          <p:cNvSpPr/>
          <p:nvPr/>
        </p:nvSpPr>
        <p:spPr>
          <a:xfrm>
            <a:off x="265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5" name="Text 63"/>
          <p:cNvSpPr/>
          <p:nvPr/>
        </p:nvSpPr>
        <p:spPr>
          <a:xfrm>
            <a:off x="265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66" name="Text 64"/>
          <p:cNvSpPr/>
          <p:nvPr/>
        </p:nvSpPr>
        <p:spPr>
          <a:xfrm>
            <a:off x="265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7" name="Text 65"/>
          <p:cNvSpPr/>
          <p:nvPr/>
        </p:nvSpPr>
        <p:spPr>
          <a:xfrm>
            <a:off x="265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8" name="Text 66"/>
          <p:cNvSpPr/>
          <p:nvPr/>
        </p:nvSpPr>
        <p:spPr>
          <a:xfrm>
            <a:off x="265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69" name="Text 67"/>
          <p:cNvSpPr/>
          <p:nvPr/>
        </p:nvSpPr>
        <p:spPr>
          <a:xfrm>
            <a:off x="265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0" name="Text 68"/>
          <p:cNvSpPr/>
          <p:nvPr/>
        </p:nvSpPr>
        <p:spPr>
          <a:xfrm>
            <a:off x="265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1" name="Text 69"/>
          <p:cNvSpPr/>
          <p:nvPr/>
        </p:nvSpPr>
        <p:spPr>
          <a:xfrm>
            <a:off x="265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72" name="Text 70"/>
          <p:cNvSpPr/>
          <p:nvPr/>
        </p:nvSpPr>
        <p:spPr>
          <a:xfrm>
            <a:off x="265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3" name="Text 71"/>
          <p:cNvSpPr/>
          <p:nvPr/>
        </p:nvSpPr>
        <p:spPr>
          <a:xfrm>
            <a:off x="265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Beltins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4" name="Text 72"/>
          <p:cNvSpPr/>
          <p:nvPr/>
        </p:nvSpPr>
        <p:spPr>
          <a:xfrm>
            <a:off x="265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5" name="Text 73"/>
          <p:cNvSpPr/>
          <p:nvPr/>
        </p:nvSpPr>
        <p:spPr>
          <a:xfrm>
            <a:off x="265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6" name="Text 74"/>
          <p:cNvSpPr/>
          <p:nvPr/>
        </p:nvSpPr>
        <p:spPr>
          <a:xfrm>
            <a:off x="265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7" name="Text 75"/>
          <p:cNvSpPr/>
          <p:nvPr/>
        </p:nvSpPr>
        <p:spPr>
          <a:xfrm>
            <a:off x="265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2024</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8" name="Text 76"/>
          <p:cNvSpPr/>
          <p:nvPr/>
        </p:nvSpPr>
        <p:spPr>
          <a:xfrm>
            <a:off x="265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79" name="Text 77"/>
          <p:cNvSpPr/>
          <p:nvPr/>
        </p:nvSpPr>
        <p:spPr>
          <a:xfrm>
            <a:off x="265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0" name="Text 78"/>
          <p:cNvSpPr/>
          <p:nvPr/>
        </p:nvSpPr>
        <p:spPr>
          <a:xfrm>
            <a:off x="265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1" name="Text 79"/>
          <p:cNvSpPr/>
          <p:nvPr/>
        </p:nvSpPr>
        <p:spPr>
          <a:xfrm>
            <a:off x="469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2" name="Text 80"/>
          <p:cNvSpPr/>
          <p:nvPr/>
        </p:nvSpPr>
        <p:spPr>
          <a:xfrm>
            <a:off x="469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83" name="Text 81"/>
          <p:cNvSpPr/>
          <p:nvPr/>
        </p:nvSpPr>
        <p:spPr>
          <a:xfrm>
            <a:off x="469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4" name="Text 82"/>
          <p:cNvSpPr/>
          <p:nvPr/>
        </p:nvSpPr>
        <p:spPr>
          <a:xfrm>
            <a:off x="469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5" name="Text 83"/>
          <p:cNvSpPr/>
          <p:nvPr/>
        </p:nvSpPr>
        <p:spPr>
          <a:xfrm>
            <a:off x="469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86" name="Text 84"/>
          <p:cNvSpPr/>
          <p:nvPr/>
        </p:nvSpPr>
        <p:spPr>
          <a:xfrm>
            <a:off x="469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7" name="Text 85"/>
          <p:cNvSpPr/>
          <p:nvPr/>
        </p:nvSpPr>
        <p:spPr>
          <a:xfrm>
            <a:off x="469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8" name="Text 86"/>
          <p:cNvSpPr/>
          <p:nvPr/>
        </p:nvSpPr>
        <p:spPr>
          <a:xfrm>
            <a:off x="4692000" y="25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89" name="Text 87"/>
          <p:cNvSpPr/>
          <p:nvPr/>
        </p:nvSpPr>
        <p:spPr>
          <a:xfrm>
            <a:off x="469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0" name="Text 88"/>
          <p:cNvSpPr/>
          <p:nvPr/>
        </p:nvSpPr>
        <p:spPr>
          <a:xfrm>
            <a:off x="469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1" name="Text 89"/>
          <p:cNvSpPr/>
          <p:nvPr/>
        </p:nvSpPr>
        <p:spPr>
          <a:xfrm>
            <a:off x="469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2" name="Text 90"/>
          <p:cNvSpPr/>
          <p:nvPr/>
        </p:nvSpPr>
        <p:spPr>
          <a:xfrm>
            <a:off x="469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2024/25</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3" name="Text 91"/>
          <p:cNvSpPr/>
          <p:nvPr/>
        </p:nvSpPr>
        <p:spPr>
          <a:xfrm>
            <a:off x="4692000" y="313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94" name="Text 92"/>
          <p:cNvSpPr/>
          <p:nvPr/>
        </p:nvSpPr>
        <p:spPr>
          <a:xfrm>
            <a:off x="469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95" name="Text 93"/>
          <p:cNvSpPr/>
          <p:nvPr/>
        </p:nvSpPr>
        <p:spPr>
          <a:xfrm>
            <a:off x="469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96" name="Text 94"/>
          <p:cNvSpPr/>
          <p:nvPr/>
        </p:nvSpPr>
        <p:spPr>
          <a:xfrm>
            <a:off x="469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Givry</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97" name="Text 95"/>
          <p:cNvSpPr/>
          <p:nvPr/>
        </p:nvSpPr>
        <p:spPr>
          <a:xfrm>
            <a:off x="469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8" name="Text 96"/>
          <p:cNvSpPr/>
          <p:nvPr/>
        </p:nvSpPr>
        <p:spPr>
          <a:xfrm>
            <a:off x="469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99" name="Text 97"/>
          <p:cNvSpPr/>
          <p:nvPr/>
        </p:nvSpPr>
        <p:spPr>
          <a:xfrm>
            <a:off x="469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00" name="Text 98"/>
          <p:cNvSpPr/>
          <p:nvPr/>
        </p:nvSpPr>
        <p:spPr>
          <a:xfrm>
            <a:off x="469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01" name="Text 99"/>
          <p:cNvSpPr/>
          <p:nvPr/>
        </p:nvSpPr>
        <p:spPr>
          <a:xfrm>
            <a:off x="469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2" name="Text 100"/>
          <p:cNvSpPr/>
          <p:nvPr/>
        </p:nvSpPr>
        <p:spPr>
          <a:xfrm>
            <a:off x="469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3" name="Text 101"/>
          <p:cNvSpPr/>
          <p:nvPr/>
        </p:nvSpPr>
        <p:spPr>
          <a:xfrm>
            <a:off x="469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4" name="Text 102"/>
          <p:cNvSpPr/>
          <p:nvPr/>
        </p:nvSpPr>
        <p:spPr>
          <a:xfrm>
            <a:off x="469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05" name="Text 103"/>
          <p:cNvSpPr/>
          <p:nvPr/>
        </p:nvSpPr>
        <p:spPr>
          <a:xfrm>
            <a:off x="469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2023</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06" name="Text 104"/>
          <p:cNvSpPr/>
          <p:nvPr/>
        </p:nvSpPr>
        <p:spPr>
          <a:xfrm>
            <a:off x="469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Aux Allots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07" name="Text 105"/>
          <p:cNvSpPr/>
          <p:nvPr/>
        </p:nvSpPr>
        <p:spPr>
          <a:xfrm>
            <a:off x="469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8" name="Text 106"/>
          <p:cNvSpPr/>
          <p:nvPr/>
        </p:nvSpPr>
        <p:spPr>
          <a:xfrm>
            <a:off x="469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09" name="Text 107"/>
          <p:cNvSpPr/>
          <p:nvPr/>
        </p:nvSpPr>
        <p:spPr>
          <a:xfrm>
            <a:off x="469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0" name="Text 108"/>
          <p:cNvSpPr/>
          <p:nvPr/>
        </p:nvSpPr>
        <p:spPr>
          <a:xfrm>
            <a:off x="469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11" name="Text 109"/>
          <p:cNvSpPr/>
          <p:nvPr/>
        </p:nvSpPr>
        <p:spPr>
          <a:xfrm>
            <a:off x="469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12" name="Text 110"/>
          <p:cNvSpPr/>
          <p:nvPr/>
        </p:nvSpPr>
        <p:spPr>
          <a:xfrm>
            <a:off x="469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13" name="Text 111"/>
          <p:cNvSpPr/>
          <p:nvPr/>
        </p:nvSpPr>
        <p:spPr>
          <a:xfrm>
            <a:off x="469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14" name="Text 112"/>
          <p:cNvSpPr/>
          <p:nvPr/>
        </p:nvSpPr>
        <p:spPr>
          <a:xfrm>
            <a:off x="469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15" name="Text 113"/>
          <p:cNvSpPr/>
          <p:nvPr/>
        </p:nvSpPr>
        <p:spPr>
          <a:xfrm>
            <a:off x="469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16" name="Text 114"/>
          <p:cNvSpPr/>
          <p:nvPr/>
        </p:nvSpPr>
        <p:spPr>
          <a:xfrm>
            <a:off x="469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17" name="Text 115"/>
          <p:cNvSpPr/>
          <p:nvPr/>
        </p:nvSpPr>
        <p:spPr>
          <a:xfrm>
            <a:off x="469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118" name="Text 1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119" name="Text 1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Cravant</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Pousterle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Couchant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24" name="Text 22"/>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5" name="Text 23"/>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26" name="Text 24"/>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27" name="Text 25"/>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28" name="Text 26"/>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29" name="Text 27"/>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0" name="Text 28"/>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2022</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1" name="Text 29"/>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2" name="Text 30"/>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33" name="Text 31"/>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4" name="Text 32"/>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5" name="Text 33"/>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6" name="Text 34"/>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37" name="Text 35"/>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8" name="Text 36"/>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39" name="Text 37"/>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0" name="Text 38"/>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1" name="Text 39"/>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2" name="Text 40"/>
          <p:cNvSpPr/>
          <p:nvPr/>
        </p:nvSpPr>
        <p:spPr>
          <a:xfrm>
            <a:off x="2868000" y="280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43" name="Text 41"/>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44" name="Text 42"/>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45" name="Text 43"/>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6" name="Text 44"/>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7" name="Text 45"/>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8" name="Text 46"/>
          <p:cNvSpPr/>
          <p:nvPr/>
        </p:nvSpPr>
        <p:spPr>
          <a:xfrm>
            <a:off x="4908000" y="79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49" name="Text 47"/>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Pétillant de Jus de Raisin 0 %</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4908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51" name="Text 49"/>
          <p:cNvSpPr/>
          <p:nvPr/>
        </p:nvSpPr>
        <p:spPr>
          <a:xfrm>
            <a:off x="490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Bourgogne Passe-Tout-Grain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52" name="Text 50"/>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3" name="Text 51"/>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Lafargue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54" name="Text 52"/>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Juliette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55" name="Text 53"/>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L'Eberluant – Chardonnay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6" name="Text 54"/>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L'envol</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7" name="Text 55"/>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Grolleau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8" name="Text 56"/>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Bulles du Puits</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59" name="Text 57"/>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Chardonnay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0" name="Text 58"/>
          <p:cNvSpPr/>
          <p:nvPr/>
        </p:nvSpPr>
        <p:spPr>
          <a:xfrm>
            <a:off x="490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Gamay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1" name="Text 59"/>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Mondeuse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2" name="Text 60"/>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Pinot Noir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3" name="Text 61"/>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2023</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4" name="Text 62"/>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2022</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5" name="Text 63"/>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6" name="Text 64"/>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Vignes de Tréleau</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7" name="Text 6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68" name="Text 6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vingt-six exposants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61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40" b="1" dirty="0">
                <a:solidFill>
                  <a:srgbClr val="46606E"/>
                </a:solidFill>
                <a:latin typeface="IBM Plex Sans" pitchFamily="34" charset="0"/>
                <a:ea typeface="IBM Plex Sans" pitchFamily="34" charset="-122"/>
                <a:cs typeface="IBM Plex Sans" pitchFamily="34" charset="-120"/>
              </a:rPr>
              <a:t>Bastide de Blacailloux   </a:t>
            </a:r>
            <a:r>
              <a:rPr lang="en-US" sz="700" dirty="0">
                <a:solidFill>
                  <a:srgbClr val="A8515F"/>
                </a:solidFill>
                <a:latin typeface="IBM Plex Sans" pitchFamily="34" charset="0"/>
                <a:ea typeface="IBM Plex Sans" pitchFamily="34" charset="-122"/>
                <a:cs typeface="IBM Plex Sans" pitchFamily="34" charset="-120"/>
              </a:rPr>
              <a:t>Provence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37</a:t>
            </a:r>
            <a:endParaRPr lang="en-US" sz="840" dirty="0"/>
          </a:p>
        </p:txBody>
      </p:sp>
      <p:sp>
        <p:nvSpPr>
          <p:cNvPr id="5" name="Text 3"/>
          <p:cNvSpPr/>
          <p:nvPr/>
        </p:nvSpPr>
        <p:spPr>
          <a:xfrm>
            <a:off x="61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r>
              <a:rPr lang="en-US" sz="840" b="1" dirty="0">
                <a:solidFill>
                  <a:srgbClr val="46606E"/>
                </a:solidFill>
                <a:latin typeface="IBM Plex Sans" pitchFamily="34" charset="0"/>
                <a:ea typeface="IBM Plex Sans" pitchFamily="34" charset="-122"/>
                <a:cs typeface="IBM Plex Sans" pitchFamily="34" charset="-120"/>
              </a:rPr>
              <a:t>Chai Berteaud Manceau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10</a:t>
            </a:r>
            <a:endParaRPr lang="en-US" sz="840" dirty="0"/>
          </a:p>
        </p:txBody>
      </p:sp>
      <p:sp>
        <p:nvSpPr>
          <p:cNvPr id="6" name="Text 4"/>
          <p:cNvSpPr/>
          <p:nvPr/>
        </p:nvSpPr>
        <p:spPr>
          <a:xfrm>
            <a:off x="61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r>
              <a:rPr lang="en-US" sz="840" b="1" dirty="0">
                <a:solidFill>
                  <a:srgbClr val="46606E"/>
                </a:solidFill>
                <a:latin typeface="IBM Plex Sans" pitchFamily="34" charset="0"/>
                <a:ea typeface="IBM Plex Sans" pitchFamily="34" charset="-122"/>
                <a:cs typeface="IBM Plex Sans" pitchFamily="34" charset="-120"/>
              </a:rPr>
              <a:t>Champagne Dekeyne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43</a:t>
            </a:r>
            <a:endParaRPr lang="en-US" sz="840" dirty="0"/>
          </a:p>
        </p:txBody>
      </p:sp>
      <p:sp>
        <p:nvSpPr>
          <p:cNvPr id="7" name="Text 5"/>
          <p:cNvSpPr/>
          <p:nvPr/>
        </p:nvSpPr>
        <p:spPr>
          <a:xfrm>
            <a:off x="61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r>
              <a:rPr lang="en-US" sz="840" b="1" dirty="0">
                <a:solidFill>
                  <a:srgbClr val="46606E"/>
                </a:solidFill>
                <a:latin typeface="IBM Plex Sans" pitchFamily="34" charset="0"/>
                <a:ea typeface="IBM Plex Sans" pitchFamily="34" charset="-122"/>
                <a:cs typeface="IBM Plex Sans" pitchFamily="34" charset="-120"/>
              </a:rPr>
              <a:t>Champagne Denis Frézier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44</a:t>
            </a:r>
            <a:endParaRPr lang="en-US" sz="840" dirty="0"/>
          </a:p>
        </p:txBody>
      </p:sp>
      <p:sp>
        <p:nvSpPr>
          <p:cNvPr id="8" name="Text 6"/>
          <p:cNvSpPr/>
          <p:nvPr/>
        </p:nvSpPr>
        <p:spPr>
          <a:xfrm>
            <a:off x="61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r>
              <a:rPr lang="en-US" sz="840" b="1" dirty="0">
                <a:solidFill>
                  <a:srgbClr val="46606E"/>
                </a:solidFill>
                <a:latin typeface="IBM Plex Sans" pitchFamily="34" charset="0"/>
                <a:ea typeface="IBM Plex Sans" pitchFamily="34" charset="-122"/>
                <a:cs typeface="IBM Plex Sans" pitchFamily="34" charset="-120"/>
              </a:rPr>
              <a:t>Champagne Solemme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45</a:t>
            </a:r>
            <a:endParaRPr lang="en-US" sz="840" dirty="0"/>
          </a:p>
        </p:txBody>
      </p:sp>
      <p:sp>
        <p:nvSpPr>
          <p:cNvPr id="9" name="Text 7"/>
          <p:cNvSpPr/>
          <p:nvPr/>
        </p:nvSpPr>
        <p:spPr>
          <a:xfrm>
            <a:off x="61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r>
              <a:rPr lang="en-US" sz="840" b="1" dirty="0">
                <a:solidFill>
                  <a:srgbClr val="46606E"/>
                </a:solidFill>
                <a:latin typeface="IBM Plex Sans" pitchFamily="34" charset="0"/>
                <a:ea typeface="IBM Plex Sans" pitchFamily="34" charset="-122"/>
                <a:cs typeface="IBM Plex Sans" pitchFamily="34" charset="-120"/>
              </a:rPr>
              <a:t>Château Balac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10" name="Text 8"/>
          <p:cNvSpPr/>
          <p:nvPr/>
        </p:nvSpPr>
        <p:spPr>
          <a:xfrm>
            <a:off x="61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40" b="1" dirty="0">
                <a:solidFill>
                  <a:srgbClr val="46606E"/>
                </a:solidFill>
                <a:latin typeface="IBM Plex Sans" pitchFamily="34" charset="0"/>
                <a:ea typeface="IBM Plex Sans" pitchFamily="34" charset="-122"/>
                <a:cs typeface="IBM Plex Sans" pitchFamily="34" charset="-120"/>
              </a:rPr>
              <a:t>Château de Gragnos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40</a:t>
            </a:r>
            <a:endParaRPr lang="en-US" sz="840" dirty="0"/>
          </a:p>
        </p:txBody>
      </p:sp>
      <p:sp>
        <p:nvSpPr>
          <p:cNvPr id="11" name="Text 9"/>
          <p:cNvSpPr/>
          <p:nvPr/>
        </p:nvSpPr>
        <p:spPr>
          <a:xfrm>
            <a:off x="61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18</a:t>
            </a:r>
            <a:endParaRPr lang="en-US" sz="840" dirty="0"/>
          </a:p>
        </p:txBody>
      </p:sp>
      <p:sp>
        <p:nvSpPr>
          <p:cNvPr id="12" name="Text 10"/>
          <p:cNvSpPr/>
          <p:nvPr/>
        </p:nvSpPr>
        <p:spPr>
          <a:xfrm>
            <a:off x="61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r>
              <a:rPr lang="en-US" sz="840" b="1" dirty="0">
                <a:solidFill>
                  <a:srgbClr val="46606E"/>
                </a:solidFill>
                <a:latin typeface="IBM Plex Sans" pitchFamily="34" charset="0"/>
                <a:ea typeface="IBM Plex Sans" pitchFamily="34" charset="-122"/>
                <a:cs typeface="IBM Plex Sans" pitchFamily="34" charset="-120"/>
              </a:rPr>
              <a:t>Château Falfas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13" name="Text 11"/>
          <p:cNvSpPr/>
          <p:nvPr/>
        </p:nvSpPr>
        <p:spPr>
          <a:xfrm>
            <a:off x="61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r>
              <a:rPr lang="en-US" sz="840" b="1" dirty="0">
                <a:solidFill>
                  <a:srgbClr val="46606E"/>
                </a:solidFill>
                <a:latin typeface="IBM Plex Sans" pitchFamily="34" charset="0"/>
                <a:ea typeface="IBM Plex Sans" pitchFamily="34" charset="-122"/>
                <a:cs typeface="IBM Plex Sans" pitchFamily="34" charset="-120"/>
              </a:rPr>
              <a:t>Château l’Escarderie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35</a:t>
            </a:r>
            <a:endParaRPr lang="en-US" sz="840" dirty="0"/>
          </a:p>
        </p:txBody>
      </p:sp>
      <p:sp>
        <p:nvSpPr>
          <p:cNvPr id="14" name="Text 12"/>
          <p:cNvSpPr/>
          <p:nvPr/>
        </p:nvSpPr>
        <p:spPr>
          <a:xfrm>
            <a:off x="61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40" b="1" dirty="0">
                <a:solidFill>
                  <a:srgbClr val="46606E"/>
                </a:solidFill>
                <a:latin typeface="IBM Plex Sans" pitchFamily="34" charset="0"/>
                <a:ea typeface="IBM Plex Sans" pitchFamily="34" charset="-122"/>
                <a:cs typeface="IBM Plex Sans" pitchFamily="34" charset="-120"/>
              </a:rPr>
              <a:t>Château Pré la Lande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33</a:t>
            </a:r>
            <a:endParaRPr lang="en-US" sz="840" dirty="0"/>
          </a:p>
        </p:txBody>
      </p:sp>
      <p:sp>
        <p:nvSpPr>
          <p:cNvPr id="15" name="Text 13"/>
          <p:cNvSpPr/>
          <p:nvPr/>
        </p:nvSpPr>
        <p:spPr>
          <a:xfrm>
            <a:off x="61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r>
              <a:rPr lang="en-US" sz="840" b="1" dirty="0">
                <a:solidFill>
                  <a:srgbClr val="46606E"/>
                </a:solidFill>
                <a:latin typeface="IBM Plex Sans" pitchFamily="34" charset="0"/>
                <a:ea typeface="IBM Plex Sans" pitchFamily="34" charset="-122"/>
                <a:cs typeface="IBM Plex Sans" pitchFamily="34" charset="-120"/>
              </a:rPr>
              <a:t>Domaine Boehler   </a:t>
            </a:r>
            <a:r>
              <a:rPr lang="en-US" sz="700" dirty="0">
                <a:solidFill>
                  <a:srgbClr val="A8515F"/>
                </a:solidFill>
                <a:latin typeface="IBM Plex Sans" pitchFamily="34" charset="0"/>
                <a:ea typeface="IBM Plex Sans" pitchFamily="34" charset="-122"/>
                <a:cs typeface="IBM Plex Sans" pitchFamily="34" charset="-120"/>
              </a:rPr>
              <a:t>Alsace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14</a:t>
            </a:r>
            <a:endParaRPr lang="en-US" sz="840" dirty="0"/>
          </a:p>
        </p:txBody>
      </p:sp>
      <p:sp>
        <p:nvSpPr>
          <p:cNvPr id="16" name="Text 14"/>
          <p:cNvSpPr/>
          <p:nvPr/>
        </p:nvSpPr>
        <p:spPr>
          <a:xfrm>
            <a:off x="61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23</a:t>
            </a:r>
            <a:endParaRPr lang="en-US" sz="840" dirty="0"/>
          </a:p>
        </p:txBody>
      </p:sp>
      <p:sp>
        <p:nvSpPr>
          <p:cNvPr id="17" name="Text 15"/>
          <p:cNvSpPr/>
          <p:nvPr/>
        </p:nvSpPr>
        <p:spPr>
          <a:xfrm>
            <a:off x="61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r>
              <a:rPr lang="en-US" sz="840" b="1" dirty="0">
                <a:solidFill>
                  <a:srgbClr val="46606E"/>
                </a:solidFill>
                <a:latin typeface="IBM Plex Sans" pitchFamily="34" charset="0"/>
                <a:ea typeface="IBM Plex Sans" pitchFamily="34" charset="-122"/>
                <a:cs typeface="IBM Plex Sans" pitchFamily="34" charset="-120"/>
              </a:rPr>
              <a:t>Domaine de la Barbinière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18" name="Text 16"/>
          <p:cNvSpPr/>
          <p:nvPr/>
        </p:nvSpPr>
        <p:spPr>
          <a:xfrm>
            <a:off x="61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25</a:t>
            </a:r>
            <a:endParaRPr lang="en-US" sz="840" dirty="0"/>
          </a:p>
        </p:txBody>
      </p:sp>
      <p:sp>
        <p:nvSpPr>
          <p:cNvPr id="19" name="Text 17"/>
          <p:cNvSpPr/>
          <p:nvPr/>
        </p:nvSpPr>
        <p:spPr>
          <a:xfrm>
            <a:off x="61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40" b="1" dirty="0">
                <a:solidFill>
                  <a:srgbClr val="46606E"/>
                </a:solidFill>
                <a:latin typeface="IBM Plex Sans" pitchFamily="34" charset="0"/>
                <a:ea typeface="IBM Plex Sans" pitchFamily="34" charset="-122"/>
                <a:cs typeface="IBM Plex Sans" pitchFamily="34" charset="-120"/>
              </a:rPr>
              <a:t>Domaine des Noëls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20" name="Text 18"/>
          <p:cNvSpPr/>
          <p:nvPr/>
        </p:nvSpPr>
        <p:spPr>
          <a:xfrm>
            <a:off x="367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r>
              <a:rPr lang="en-US" sz="840" b="1" dirty="0">
                <a:solidFill>
                  <a:srgbClr val="46606E"/>
                </a:solidFill>
                <a:latin typeface="IBM Plex Sans" pitchFamily="34" charset="0"/>
                <a:ea typeface="IBM Plex Sans" pitchFamily="34" charset="-122"/>
                <a:cs typeface="IBM Plex Sans" pitchFamily="34" charset="-120"/>
              </a:rPr>
              <a:t>Domaine des Verchères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21" name="Text 19"/>
          <p:cNvSpPr/>
          <p:nvPr/>
        </p:nvSpPr>
        <p:spPr>
          <a:xfrm>
            <a:off x="367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8</a:t>
            </a:r>
            <a:endParaRPr lang="en-US" sz="840" dirty="0"/>
          </a:p>
        </p:txBody>
      </p:sp>
      <p:sp>
        <p:nvSpPr>
          <p:cNvPr id="22" name="Text 20"/>
          <p:cNvSpPr/>
          <p:nvPr/>
        </p:nvSpPr>
        <p:spPr>
          <a:xfrm>
            <a:off x="367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24</a:t>
            </a:r>
            <a:endParaRPr lang="en-US" sz="840" dirty="0"/>
          </a:p>
        </p:txBody>
      </p:sp>
      <p:sp>
        <p:nvSpPr>
          <p:cNvPr id="23" name="Text 21"/>
          <p:cNvSpPr/>
          <p:nvPr/>
        </p:nvSpPr>
        <p:spPr>
          <a:xfrm>
            <a:off x="367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40" b="1" dirty="0">
                <a:solidFill>
                  <a:srgbClr val="46606E"/>
                </a:solidFill>
                <a:latin typeface="IBM Plex Sans" pitchFamily="34" charset="0"/>
                <a:ea typeface="IBM Plex Sans" pitchFamily="34" charset="-122"/>
                <a:cs typeface="IBM Plex Sans" pitchFamily="34" charset="-120"/>
              </a:rPr>
              <a:t>Domaine Haut Marin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30</a:t>
            </a:r>
            <a:endParaRPr lang="en-US" sz="840" dirty="0"/>
          </a:p>
        </p:txBody>
      </p:sp>
      <p:sp>
        <p:nvSpPr>
          <p:cNvPr id="24" name="Text 22"/>
          <p:cNvSpPr/>
          <p:nvPr/>
        </p:nvSpPr>
        <p:spPr>
          <a:xfrm>
            <a:off x="367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4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12   </a:t>
            </a:r>
            <a:r>
              <a:rPr lang="en-US" sz="840" b="1" dirty="0">
                <a:solidFill>
                  <a:srgbClr val="46606E"/>
                </a:solidFill>
                <a:latin typeface="IBM Plex Sans" pitchFamily="34" charset="0"/>
                <a:ea typeface="IBM Plex Sans" pitchFamily="34" charset="-122"/>
                <a:cs typeface="IBM Plex Sans" pitchFamily="34" charset="-120"/>
              </a:rPr>
              <a:t>11</a:t>
            </a:r>
            <a:endParaRPr lang="en-US" sz="840" dirty="0"/>
          </a:p>
        </p:txBody>
      </p:sp>
      <p:sp>
        <p:nvSpPr>
          <p:cNvPr id="25" name="Text 23"/>
          <p:cNvSpPr/>
          <p:nvPr/>
        </p:nvSpPr>
        <p:spPr>
          <a:xfrm>
            <a:off x="367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26" name="Text 24"/>
          <p:cNvSpPr/>
          <p:nvPr/>
        </p:nvSpPr>
        <p:spPr>
          <a:xfrm>
            <a:off x="367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19</a:t>
            </a:r>
            <a:endParaRPr lang="en-US" sz="840" dirty="0"/>
          </a:p>
        </p:txBody>
      </p:sp>
      <p:sp>
        <p:nvSpPr>
          <p:cNvPr id="27" name="Text 25"/>
          <p:cNvSpPr/>
          <p:nvPr/>
        </p:nvSpPr>
        <p:spPr>
          <a:xfrm>
            <a:off x="367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40" b="1" dirty="0">
                <a:solidFill>
                  <a:srgbClr val="46606E"/>
                </a:solidFill>
                <a:latin typeface="IBM Plex Sans" pitchFamily="34" charset="0"/>
                <a:ea typeface="IBM Plex Sans" pitchFamily="34" charset="-122"/>
                <a:cs typeface="IBM Plex Sans" pitchFamily="34" charset="-120"/>
              </a:rPr>
              <a:t>Domaine Sébastien Magnien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16</a:t>
            </a:r>
            <a:endParaRPr lang="en-US" sz="840" dirty="0"/>
          </a:p>
        </p:txBody>
      </p:sp>
      <p:sp>
        <p:nvSpPr>
          <p:cNvPr id="28" name="Text 26"/>
          <p:cNvSpPr/>
          <p:nvPr/>
        </p:nvSpPr>
        <p:spPr>
          <a:xfrm>
            <a:off x="367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r>
              <a:rPr lang="en-US" sz="840" b="1" dirty="0">
                <a:solidFill>
                  <a:srgbClr val="46606E"/>
                </a:solidFill>
                <a:latin typeface="IBM Plex Sans" pitchFamily="34" charset="0"/>
                <a:ea typeface="IBM Plex Sans" pitchFamily="34" charset="-122"/>
                <a:cs typeface="IBM Plex Sans" pitchFamily="34" charset="-120"/>
              </a:rPr>
              <a:t>Domaine Stratéus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29" name="Text 27"/>
          <p:cNvSpPr/>
          <p:nvPr/>
        </p:nvSpPr>
        <p:spPr>
          <a:xfrm>
            <a:off x="367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40" b="1" dirty="0">
                <a:solidFill>
                  <a:srgbClr val="46606E"/>
                </a:solidFill>
                <a:latin typeface="IBM Plex Sans" pitchFamily="34" charset="0"/>
                <a:ea typeface="IBM Plex Sans" pitchFamily="34" charset="-122"/>
                <a:cs typeface="IBM Plex Sans" pitchFamily="34" charset="-120"/>
              </a:rPr>
              <a:t>Domaine Trichon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26</a:t>
            </a:r>
            <a:endParaRPr lang="en-US" sz="840" dirty="0"/>
          </a:p>
        </p:txBody>
      </p:sp>
      <p:sp>
        <p:nvSpPr>
          <p:cNvPr id="30" name="Text 28"/>
          <p:cNvSpPr/>
          <p:nvPr/>
        </p:nvSpPr>
        <p:spPr>
          <a:xfrm>
            <a:off x="367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31" name="Text 29"/>
          <p:cNvSpPr/>
          <p:nvPr/>
        </p:nvSpPr>
        <p:spPr>
          <a:xfrm>
            <a:off x="367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r>
              <a:rPr lang="en-US" sz="840" b="1" dirty="0">
                <a:solidFill>
                  <a:srgbClr val="46606E"/>
                </a:solidFill>
                <a:latin typeface="IBM Plex Sans" pitchFamily="34" charset="0"/>
                <a:ea typeface="IBM Plex Sans" pitchFamily="34" charset="-122"/>
                <a:cs typeface="IBM Plex Sans" pitchFamily="34" charset="-120"/>
              </a:rPr>
              <a:t>François Reverdy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6</a:t>
            </a:r>
            <a:endParaRPr lang="en-US" sz="840" dirty="0"/>
          </a:p>
        </p:txBody>
      </p:sp>
      <p:sp>
        <p:nvSpPr>
          <p:cNvPr id="32" name="Text 30"/>
          <p:cNvSpPr/>
          <p:nvPr/>
        </p:nvSpPr>
        <p:spPr>
          <a:xfrm>
            <a:off x="367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17</a:t>
            </a:r>
            <a:endParaRPr lang="en-US" sz="840" dirty="0"/>
          </a:p>
        </p:txBody>
      </p:sp>
      <p:sp>
        <p:nvSpPr>
          <p:cNvPr id="33" name="Text 31"/>
          <p:cNvSpPr/>
          <p:nvPr/>
        </p:nvSpPr>
        <p:spPr>
          <a:xfrm>
            <a:off x="367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r>
              <a:rPr lang="en-US" sz="840" b="1" dirty="0">
                <a:solidFill>
                  <a:srgbClr val="46606E"/>
                </a:solidFill>
                <a:latin typeface="IBM Plex Sans" pitchFamily="34" charset="0"/>
                <a:ea typeface="IBM Plex Sans" pitchFamily="34" charset="-122"/>
                <a:cs typeface="IBM Plex Sans" pitchFamily="34" charset="-120"/>
              </a:rPr>
              <a:t>Prieuré Sainte-Marie d’Albas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41</a:t>
            </a:r>
            <a:endParaRPr lang="en-US" sz="840" dirty="0"/>
          </a:p>
        </p:txBody>
      </p:sp>
      <p:sp>
        <p:nvSpPr>
          <p:cNvPr id="34" name="Text 32"/>
          <p:cNvSpPr/>
          <p:nvPr/>
        </p:nvSpPr>
        <p:spPr>
          <a:xfrm>
            <a:off x="367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r>
              <a:rPr lang="en-US" sz="840" b="1" dirty="0">
                <a:solidFill>
                  <a:srgbClr val="46606E"/>
                </a:solidFill>
                <a:latin typeface="IBM Plex Sans" pitchFamily="34" charset="0"/>
                <a:ea typeface="IBM Plex Sans" pitchFamily="34" charset="-122"/>
                <a:cs typeface="IBM Plex Sans" pitchFamily="34" charset="-120"/>
              </a:rPr>
              <a:t>Vazart-Coquart &amp; Fils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46</a:t>
            </a:r>
            <a:endParaRPr lang="en-US" sz="840" dirty="0"/>
          </a:p>
        </p:txBody>
      </p:sp>
      <p:sp>
        <p:nvSpPr>
          <p:cNvPr id="35" name="Text 33"/>
          <p:cNvSpPr/>
          <p:nvPr/>
        </p:nvSpPr>
        <p:spPr>
          <a:xfrm>
            <a:off x="612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vins à la dégustation.</a:t>
            </a:r>
            <a:endParaRPr lang="en-US" sz="800" dirty="0"/>
          </a:p>
        </p:txBody>
      </p:sp>
      <p:sp>
        <p:nvSpPr>
          <p:cNvPr id="36" name="Text 3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37" name="Text 3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324000"/>
          </a:xfrm>
          <a:prstGeom prst="rect">
            <a:avLst/>
          </a:prstGeom>
          <a:noFill/>
          <a:ln/>
        </p:spPr>
        <p:txBody>
          <a:bodyPr wrap="square" lIns="0" tIns="0" rIns="0" bIns="0" rtlCol="0" anchor="b"/>
          <a:lstStyle/>
          <a:p>
            <a:pPr indent="0" marL="0">
              <a:buNone/>
            </a:pPr>
            <a:r>
              <a:rPr lang="en-US" sz="2000" dirty="0">
                <a:solidFill>
                  <a:srgbClr val="67067C"/>
                </a:solidFill>
                <a:latin typeface="Young Serif" pitchFamily="34" charset="0"/>
                <a:ea typeface="Young Serif" pitchFamily="34" charset="-122"/>
                <a:cs typeface="Young Serif" pitchFamily="34" charset="-120"/>
              </a:rPr>
              <a:t>Vos notes</a:t>
            </a:r>
            <a:endParaRPr lang="en-US" sz="2000" dirty="0"/>
          </a:p>
        </p:txBody>
      </p:sp>
      <p:sp>
        <p:nvSpPr>
          <p:cNvPr id="3" name="Text 1"/>
          <p:cNvSpPr/>
          <p:nvPr/>
        </p:nvSpPr>
        <p:spPr>
          <a:xfrm>
            <a:off x="828000" y="882000"/>
            <a:ext cx="6120000" cy="180000"/>
          </a:xfrm>
          <a:prstGeom prst="rect">
            <a:avLst/>
          </a:prstGeom>
          <a:noFill/>
          <a:ln/>
        </p:spPr>
        <p:txBody>
          <a:bodyPr wrap="square" lIns="0" tIns="0" rIns="0" bIns="0" rtlCol="0" anchor="ctr"/>
          <a:lstStyle/>
          <a:p>
            <a:pPr indent="0" marL="0">
              <a:buNone/>
            </a:pPr>
            <a:r>
              <a:rPr lang="en-US" sz="750" b="1" spc="30" kern="0" dirty="0">
                <a:solidFill>
                  <a:srgbClr val="A8515F"/>
                </a:solidFill>
                <a:latin typeface="IBM Plex Sans" pitchFamily="34" charset="0"/>
                <a:ea typeface="IBM Plex Sans" pitchFamily="34" charset="-122"/>
                <a:cs typeface="IBM Plex Sans" pitchFamily="34" charset="-120"/>
              </a:rPr>
              <a:t>STANDS, VINS, QUANTITÉS, COMMANDES</a:t>
            </a:r>
            <a:endParaRPr lang="en-US" sz="750" dirty="0"/>
          </a:p>
        </p:txBody>
      </p:sp>
      <p:sp>
        <p:nvSpPr>
          <p:cNvPr id="4" name="Shape 2"/>
          <p:cNvSpPr/>
          <p:nvPr/>
        </p:nvSpPr>
        <p:spPr>
          <a:xfrm>
            <a:off x="828000" y="1440000"/>
            <a:ext cx="6120000" cy="0"/>
          </a:xfrm>
          <a:prstGeom prst="line">
            <a:avLst/>
          </a:prstGeom>
          <a:noFill/>
          <a:ln w="7620">
            <a:solidFill>
              <a:srgbClr val="B4C2C9"/>
            </a:solidFill>
            <a:prstDash val="solid"/>
          </a:ln>
        </p:spPr>
      </p:sp>
      <p:sp>
        <p:nvSpPr>
          <p:cNvPr id="5" name="Shape 3"/>
          <p:cNvSpPr/>
          <p:nvPr/>
        </p:nvSpPr>
        <p:spPr>
          <a:xfrm>
            <a:off x="828000" y="1746000"/>
            <a:ext cx="6120000" cy="0"/>
          </a:xfrm>
          <a:prstGeom prst="line">
            <a:avLst/>
          </a:prstGeom>
          <a:noFill/>
          <a:ln w="7620">
            <a:solidFill>
              <a:srgbClr val="B4C2C9"/>
            </a:solidFill>
            <a:prstDash val="solid"/>
          </a:ln>
        </p:spPr>
      </p:sp>
      <p:sp>
        <p:nvSpPr>
          <p:cNvPr id="6" name="Shape 4"/>
          <p:cNvSpPr/>
          <p:nvPr/>
        </p:nvSpPr>
        <p:spPr>
          <a:xfrm>
            <a:off x="828000" y="2052000"/>
            <a:ext cx="6120000" cy="0"/>
          </a:xfrm>
          <a:prstGeom prst="line">
            <a:avLst/>
          </a:prstGeom>
          <a:noFill/>
          <a:ln w="7620">
            <a:solidFill>
              <a:srgbClr val="B4C2C9"/>
            </a:solidFill>
            <a:prstDash val="solid"/>
          </a:ln>
        </p:spPr>
      </p:sp>
      <p:sp>
        <p:nvSpPr>
          <p:cNvPr id="7" name="Shape 5"/>
          <p:cNvSpPr/>
          <p:nvPr/>
        </p:nvSpPr>
        <p:spPr>
          <a:xfrm>
            <a:off x="828000" y="2358000"/>
            <a:ext cx="6120000" cy="0"/>
          </a:xfrm>
          <a:prstGeom prst="line">
            <a:avLst/>
          </a:prstGeom>
          <a:noFill/>
          <a:ln w="7620">
            <a:solidFill>
              <a:srgbClr val="B4C2C9"/>
            </a:solidFill>
            <a:prstDash val="solid"/>
          </a:ln>
        </p:spPr>
      </p:sp>
      <p:sp>
        <p:nvSpPr>
          <p:cNvPr id="8" name="Shape 6"/>
          <p:cNvSpPr/>
          <p:nvPr/>
        </p:nvSpPr>
        <p:spPr>
          <a:xfrm>
            <a:off x="828000" y="2664000"/>
            <a:ext cx="6120000" cy="0"/>
          </a:xfrm>
          <a:prstGeom prst="line">
            <a:avLst/>
          </a:prstGeom>
          <a:noFill/>
          <a:ln w="7620">
            <a:solidFill>
              <a:srgbClr val="B4C2C9"/>
            </a:solidFill>
            <a:prstDash val="solid"/>
          </a:ln>
        </p:spPr>
      </p:sp>
      <p:sp>
        <p:nvSpPr>
          <p:cNvPr id="9" name="Shape 7"/>
          <p:cNvSpPr/>
          <p:nvPr/>
        </p:nvSpPr>
        <p:spPr>
          <a:xfrm>
            <a:off x="828000" y="2970000"/>
            <a:ext cx="6120000" cy="0"/>
          </a:xfrm>
          <a:prstGeom prst="line">
            <a:avLst/>
          </a:prstGeom>
          <a:noFill/>
          <a:ln w="7620">
            <a:solidFill>
              <a:srgbClr val="B4C2C9"/>
            </a:solidFill>
            <a:prstDash val="solid"/>
          </a:ln>
        </p:spPr>
      </p:sp>
      <p:sp>
        <p:nvSpPr>
          <p:cNvPr id="10" name="Shape 8"/>
          <p:cNvSpPr/>
          <p:nvPr/>
        </p:nvSpPr>
        <p:spPr>
          <a:xfrm>
            <a:off x="828000" y="3276000"/>
            <a:ext cx="6120000" cy="0"/>
          </a:xfrm>
          <a:prstGeom prst="line">
            <a:avLst/>
          </a:prstGeom>
          <a:noFill/>
          <a:ln w="7620">
            <a:solidFill>
              <a:srgbClr val="B4C2C9"/>
            </a:solidFill>
            <a:prstDash val="solid"/>
          </a:ln>
        </p:spPr>
      </p:sp>
      <p:sp>
        <p:nvSpPr>
          <p:cNvPr id="11" name="Shape 9"/>
          <p:cNvSpPr/>
          <p:nvPr/>
        </p:nvSpPr>
        <p:spPr>
          <a:xfrm>
            <a:off x="828000" y="3582000"/>
            <a:ext cx="6120000" cy="0"/>
          </a:xfrm>
          <a:prstGeom prst="line">
            <a:avLst/>
          </a:prstGeom>
          <a:noFill/>
          <a:ln w="7620">
            <a:solidFill>
              <a:srgbClr val="B4C2C9"/>
            </a:solidFill>
            <a:prstDash val="solid"/>
          </a:ln>
        </p:spPr>
      </p:sp>
      <p:sp>
        <p:nvSpPr>
          <p:cNvPr id="12" name="Shape 10"/>
          <p:cNvSpPr/>
          <p:nvPr/>
        </p:nvSpPr>
        <p:spPr>
          <a:xfrm>
            <a:off x="828000" y="3888000"/>
            <a:ext cx="6120000" cy="0"/>
          </a:xfrm>
          <a:prstGeom prst="line">
            <a:avLst/>
          </a:prstGeom>
          <a:noFill/>
          <a:ln w="7620">
            <a:solidFill>
              <a:srgbClr val="B4C2C9"/>
            </a:solidFill>
            <a:prstDash val="solid"/>
          </a:ln>
        </p:spPr>
      </p:sp>
      <p:sp>
        <p:nvSpPr>
          <p:cNvPr id="13" name="Shape 11"/>
          <p:cNvSpPr/>
          <p:nvPr/>
        </p:nvSpPr>
        <p:spPr>
          <a:xfrm>
            <a:off x="828000" y="4194000"/>
            <a:ext cx="6120000" cy="0"/>
          </a:xfrm>
          <a:prstGeom prst="line">
            <a:avLst/>
          </a:prstGeom>
          <a:noFill/>
          <a:ln w="7620">
            <a:solidFill>
              <a:srgbClr val="B4C2C9"/>
            </a:solidFill>
            <a:prstDash val="solid"/>
          </a:ln>
        </p:spPr>
      </p:sp>
      <p:sp>
        <p:nvSpPr>
          <p:cNvPr id="14" name="Shape 12"/>
          <p:cNvSpPr/>
          <p:nvPr/>
        </p:nvSpPr>
        <p:spPr>
          <a:xfrm>
            <a:off x="828000" y="4500000"/>
            <a:ext cx="6120000" cy="0"/>
          </a:xfrm>
          <a:prstGeom prst="line">
            <a:avLst/>
          </a:prstGeom>
          <a:noFill/>
          <a:ln w="7620">
            <a:solidFill>
              <a:srgbClr val="B4C2C9"/>
            </a:solidFill>
            <a:prstDash val="solid"/>
          </a:ln>
        </p:spPr>
      </p:sp>
      <p:sp>
        <p:nvSpPr>
          <p:cNvPr id="15" name="Shape 13"/>
          <p:cNvSpPr/>
          <p:nvPr/>
        </p:nvSpPr>
        <p:spPr>
          <a:xfrm>
            <a:off x="828000" y="4806000"/>
            <a:ext cx="6120000" cy="0"/>
          </a:xfrm>
          <a:prstGeom prst="line">
            <a:avLst/>
          </a:prstGeom>
          <a:noFill/>
          <a:ln w="7620">
            <a:solidFill>
              <a:srgbClr val="B4C2C9"/>
            </a:solidFill>
            <a:prstDash val="solid"/>
          </a:ln>
        </p:spPr>
      </p:sp>
      <p:sp>
        <p:nvSpPr>
          <p:cNvPr id="16" name="Shape 14"/>
          <p:cNvSpPr/>
          <p:nvPr/>
        </p:nvSpPr>
        <p:spPr>
          <a:xfrm>
            <a:off x="828000" y="5112000"/>
            <a:ext cx="6120000" cy="0"/>
          </a:xfrm>
          <a:prstGeom prst="line">
            <a:avLst/>
          </a:prstGeom>
          <a:noFill/>
          <a:ln w="7620">
            <a:solidFill>
              <a:srgbClr val="B4C2C9"/>
            </a:solidFill>
            <a:prstDash val="solid"/>
          </a:ln>
        </p:spPr>
      </p:sp>
      <p:sp>
        <p:nvSpPr>
          <p:cNvPr id="17" name="Shape 15"/>
          <p:cNvSpPr/>
          <p:nvPr/>
        </p:nvSpPr>
        <p:spPr>
          <a:xfrm>
            <a:off x="828000" y="5418000"/>
            <a:ext cx="6120000" cy="0"/>
          </a:xfrm>
          <a:prstGeom prst="line">
            <a:avLst/>
          </a:prstGeom>
          <a:noFill/>
          <a:ln w="7620">
            <a:solidFill>
              <a:srgbClr val="B4C2C9"/>
            </a:solidFill>
            <a:prstDash val="solid"/>
          </a:ln>
        </p:spPr>
      </p:sp>
      <p:sp>
        <p:nvSpPr>
          <p:cNvPr id="18" name="Shape 16"/>
          <p:cNvSpPr/>
          <p:nvPr/>
        </p:nvSpPr>
        <p:spPr>
          <a:xfrm>
            <a:off x="828000" y="5724000"/>
            <a:ext cx="6120000" cy="0"/>
          </a:xfrm>
          <a:prstGeom prst="line">
            <a:avLst/>
          </a:prstGeom>
          <a:noFill/>
          <a:ln w="7620">
            <a:solidFill>
              <a:srgbClr val="B4C2C9"/>
            </a:solidFill>
            <a:prstDash val="solid"/>
          </a:ln>
        </p:spPr>
      </p:sp>
      <p:sp>
        <p:nvSpPr>
          <p:cNvPr id="19" name="Shape 17"/>
          <p:cNvSpPr/>
          <p:nvPr/>
        </p:nvSpPr>
        <p:spPr>
          <a:xfrm>
            <a:off x="828000" y="6030000"/>
            <a:ext cx="6120000" cy="0"/>
          </a:xfrm>
          <a:prstGeom prst="line">
            <a:avLst/>
          </a:prstGeom>
          <a:noFill/>
          <a:ln w="7620">
            <a:solidFill>
              <a:srgbClr val="B4C2C9"/>
            </a:solidFill>
            <a:prstDash val="solid"/>
          </a:ln>
        </p:spPr>
      </p:sp>
      <p:sp>
        <p:nvSpPr>
          <p:cNvPr id="20" name="Shape 18"/>
          <p:cNvSpPr/>
          <p:nvPr/>
        </p:nvSpPr>
        <p:spPr>
          <a:xfrm>
            <a:off x="828000" y="6336000"/>
            <a:ext cx="6120000" cy="0"/>
          </a:xfrm>
          <a:prstGeom prst="line">
            <a:avLst/>
          </a:prstGeom>
          <a:noFill/>
          <a:ln w="7620">
            <a:solidFill>
              <a:srgbClr val="B4C2C9"/>
            </a:solidFill>
            <a:prstDash val="solid"/>
          </a:ln>
        </p:spPr>
      </p:sp>
      <p:sp>
        <p:nvSpPr>
          <p:cNvPr id="21" name="Shape 19"/>
          <p:cNvSpPr/>
          <p:nvPr/>
        </p:nvSpPr>
        <p:spPr>
          <a:xfrm>
            <a:off x="828000" y="6642000"/>
            <a:ext cx="6120000" cy="0"/>
          </a:xfrm>
          <a:prstGeom prst="line">
            <a:avLst/>
          </a:prstGeom>
          <a:noFill/>
          <a:ln w="7620">
            <a:solidFill>
              <a:srgbClr val="B4C2C9"/>
            </a:solidFill>
            <a:prstDash val="solid"/>
          </a:ln>
        </p:spPr>
      </p:sp>
      <p:sp>
        <p:nvSpPr>
          <p:cNvPr id="22" name="Shape 20"/>
          <p:cNvSpPr/>
          <p:nvPr/>
        </p:nvSpPr>
        <p:spPr>
          <a:xfrm>
            <a:off x="828000" y="6948000"/>
            <a:ext cx="6120000" cy="0"/>
          </a:xfrm>
          <a:prstGeom prst="line">
            <a:avLst/>
          </a:prstGeom>
          <a:noFill/>
          <a:ln w="7620">
            <a:solidFill>
              <a:srgbClr val="B4C2C9"/>
            </a:solidFill>
            <a:prstDash val="solid"/>
          </a:ln>
        </p:spPr>
      </p:sp>
      <p:sp>
        <p:nvSpPr>
          <p:cNvPr id="23" name="Shape 21"/>
          <p:cNvSpPr/>
          <p:nvPr/>
        </p:nvSpPr>
        <p:spPr>
          <a:xfrm>
            <a:off x="828000" y="7254000"/>
            <a:ext cx="6120000" cy="0"/>
          </a:xfrm>
          <a:prstGeom prst="line">
            <a:avLst/>
          </a:prstGeom>
          <a:noFill/>
          <a:ln w="7620">
            <a:solidFill>
              <a:srgbClr val="B4C2C9"/>
            </a:solidFill>
            <a:prstDash val="solid"/>
          </a:ln>
        </p:spPr>
      </p:sp>
      <p:sp>
        <p:nvSpPr>
          <p:cNvPr id="24" name="Shape 22"/>
          <p:cNvSpPr/>
          <p:nvPr/>
        </p:nvSpPr>
        <p:spPr>
          <a:xfrm>
            <a:off x="828000" y="7560000"/>
            <a:ext cx="6120000" cy="0"/>
          </a:xfrm>
          <a:prstGeom prst="line">
            <a:avLst/>
          </a:prstGeom>
          <a:noFill/>
          <a:ln w="7620">
            <a:solidFill>
              <a:srgbClr val="B4C2C9"/>
            </a:solidFill>
            <a:prstDash val="solid"/>
          </a:ln>
        </p:spPr>
      </p:sp>
      <p:sp>
        <p:nvSpPr>
          <p:cNvPr id="25" name="Shape 23"/>
          <p:cNvSpPr/>
          <p:nvPr/>
        </p:nvSpPr>
        <p:spPr>
          <a:xfrm>
            <a:off x="828000" y="7866000"/>
            <a:ext cx="6120000" cy="0"/>
          </a:xfrm>
          <a:prstGeom prst="line">
            <a:avLst/>
          </a:prstGeom>
          <a:noFill/>
          <a:ln w="7620">
            <a:solidFill>
              <a:srgbClr val="B4C2C9"/>
            </a:solidFill>
            <a:prstDash val="solid"/>
          </a:ln>
        </p:spPr>
      </p:sp>
      <p:sp>
        <p:nvSpPr>
          <p:cNvPr id="26" name="Shape 24"/>
          <p:cNvSpPr/>
          <p:nvPr/>
        </p:nvSpPr>
        <p:spPr>
          <a:xfrm>
            <a:off x="828000" y="8172000"/>
            <a:ext cx="6120000" cy="0"/>
          </a:xfrm>
          <a:prstGeom prst="line">
            <a:avLst/>
          </a:prstGeom>
          <a:noFill/>
          <a:ln w="7620">
            <a:solidFill>
              <a:srgbClr val="B4C2C9"/>
            </a:solidFill>
            <a:prstDash val="solid"/>
          </a:ln>
        </p:spPr>
      </p:sp>
      <p:sp>
        <p:nvSpPr>
          <p:cNvPr id="27" name="Text 2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28" name="Text 2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coupe-pleine.png">    </p:cNvPr>
          <p:cNvPicPr>
            <a:picLocks noChangeAspect="1"/>
          </p:cNvPicPr>
          <p:nvPr/>
        </p:nvPicPr>
        <p:blipFill>
          <a:blip r:embed="rId1"/>
          <a:stretch>
            <a:fillRect/>
          </a:stretch>
        </p:blipFill>
        <p:spPr>
          <a:xfrm>
            <a:off x="0" y="0"/>
            <a:ext cx="7560000" cy="9360000"/>
          </a:xfrm>
          <a:prstGeom prst="rect">
            <a:avLst/>
          </a:prstGeom>
        </p:spPr>
      </p:pic>
      <p:sp>
        <p:nvSpPr>
          <p:cNvPr id="3" name="Text 0"/>
          <p:cNvSpPr/>
          <p:nvPr/>
        </p:nvSpPr>
        <p:spPr>
          <a:xfrm>
            <a:off x="612000" y="6400421"/>
            <a:ext cx="4320000" cy="1512000"/>
          </a:xfrm>
          <a:prstGeom prst="rect">
            <a:avLst/>
          </a:prstGeom>
          <a:noFill/>
          <a:ln/>
        </p:spPr>
        <p:txBody>
          <a:bodyPr wrap="square" lIns="0" tIns="0" rIns="0" bIns="0" rtlCol="0" anchor="ctr"/>
          <a:lstStyle/>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Neuf régions,</a:t>
            </a:r>
            <a:endParaRPr lang="en-US" sz="2600" dirty="0"/>
          </a:p>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neuf sols,</a:t>
            </a:r>
            <a:endParaRPr lang="en-US" sz="2600" dirty="0"/>
          </a:p>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vingt-six vignerons.</a:t>
            </a:r>
            <a:endParaRPr lang="en-US" sz="2600" dirty="0"/>
          </a:p>
        </p:txBody>
      </p:sp>
      <p:sp>
        <p:nvSpPr>
          <p:cNvPr id="4" name="Text 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51</a:t>
            </a:r>
            <a:endParaRPr lang="en-US" sz="750" dirty="0"/>
          </a:p>
        </p:txBody>
      </p:sp>
      <p:sp>
        <p:nvSpPr>
          <p:cNvPr id="5" name="Text 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6120000" cy="396000"/>
          </a:xfrm>
          <a:prstGeom prst="rect">
            <a:avLst/>
          </a:prstGeom>
          <a:noFill/>
          <a:ln/>
        </p:spPr>
        <p:txBody>
          <a:bodyPr wrap="square" lIns="0" tIns="0" rIns="0" bIns="0" rtlCol="0" anchor="ctr"/>
          <a:lstStyle/>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Salon Privé Vins &amp; Terroirs</a:t>
            </a:r>
            <a:endParaRPr lang="en-US" sz="1200" dirty="0"/>
          </a:p>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Lundi 5 octobre 2026, Château de la Rairie, Pont-Saint-Martin</a:t>
            </a:r>
            <a:endParaRPr lang="en-US" sz="1200" dirty="0"/>
          </a:p>
        </p:txBody>
      </p:sp>
      <p:sp>
        <p:nvSpPr>
          <p:cNvPr id="8" name="Text 5"/>
          <p:cNvSpPr/>
          <p:nvPr/>
        </p:nvSpPr>
        <p:spPr>
          <a:xfrm>
            <a:off x="828000" y="2664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9" name="Image 1" descr="/home/user/philippe1/build/deco-salon-prive-2026/coupe-nue.png">    </p:cNvPr>
          <p:cNvPicPr>
            <a:picLocks noChangeAspect="1"/>
          </p:cNvPicPr>
          <p:nvPr/>
        </p:nvPicPr>
        <p:blipFill>
          <a:blip r:embed="rId2"/>
          <a:stretch>
            <a:fillRect/>
          </a:stretch>
        </p:blipFill>
        <p:spPr>
          <a:xfrm>
            <a:off x="828000" y="3420000"/>
            <a:ext cx="6120000" cy="956455"/>
          </a:xfrm>
          <a:prstGeom prst="rect">
            <a:avLst/>
          </a:prstGeom>
        </p:spPr>
      </p:pic>
      <p:sp>
        <p:nvSpPr>
          <p:cNvPr id="10" name="Shape 6"/>
          <p:cNvSpPr/>
          <p:nvPr/>
        </p:nvSpPr>
        <p:spPr>
          <a:xfrm>
            <a:off x="828000" y="4788000"/>
            <a:ext cx="6120000" cy="0"/>
          </a:xfrm>
          <a:prstGeom prst="line">
            <a:avLst/>
          </a:prstGeom>
          <a:noFill/>
          <a:ln w="10160">
            <a:solidFill>
              <a:srgbClr val="67067C"/>
            </a:solidFill>
            <a:prstDash val="solid"/>
          </a:ln>
        </p:spPr>
      </p:sp>
      <p:sp>
        <p:nvSpPr>
          <p:cNvPr id="11" name="Text 7"/>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2" name="Text 8"/>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3" name="Text 9"/>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4" name="Text 10"/>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5" name="Text 11"/>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6" name="Text 12"/>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7" name="Shape 13"/>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8" name="Text 14"/>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Salon Privé Vins &amp; Terroirs — Lundi 5 octobre 2026</dc:title>
  <dc:subject>PptxGenJS Presentation</dc:subject>
  <dc:creator>Agence SCIO Vins &amp; Spirits</dc:creator>
  <cp:lastModifiedBy>Agence SCIO Vins &amp; Spirits</cp:lastModifiedBy>
  <cp:revision>1</cp:revision>
  <dcterms:created xsi:type="dcterms:W3CDTF">2026-10-02T11:48:35Z</dcterms:created>
  <dcterms:modified xsi:type="dcterms:W3CDTF">2026-10-02T11:48:35Z</dcterms:modified>
</cp:coreProperties>
</file>