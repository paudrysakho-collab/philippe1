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7560000" cy="9360000"/>
  <p:notesSz cx="9360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oupe-titree.png">    </p:cNvPr>
          <p:cNvPicPr>
            <a:picLocks noChangeAspect="1"/>
          </p:cNvPicPr>
          <p:nvPr/>
        </p:nvPicPr>
        <p:blipFill>
          <a:blip r:embed="rId1"/>
          <a:stretch>
            <a:fillRect/>
          </a:stretch>
        </p:blipFill>
        <p:spPr>
          <a:xfrm>
            <a:off x="0" y="4032000"/>
            <a:ext cx="7560000" cy="5328000"/>
          </a:xfrm>
          <a:prstGeom prst="rect">
            <a:avLst/>
          </a:prstGeom>
        </p:spPr>
      </p:pic>
      <p:pic>
        <p:nvPicPr>
          <p:cNvPr id="3" name="Image 1" descr="/home/user/philippe1/src/images/logo-agence-scio-detoure.png">    </p:cNvPr>
          <p:cNvPicPr>
            <a:picLocks noChangeAspect="1"/>
          </p:cNvPicPr>
          <p:nvPr/>
        </p:nvPicPr>
        <p:blipFill>
          <a:blip r:embed="rId2"/>
          <a:stretch>
            <a:fillRect/>
          </a:stretch>
        </p:blipFill>
        <p:spPr>
          <a:xfrm>
            <a:off x="612000" y="612000"/>
            <a:ext cx="2232000" cy="543915"/>
          </a:xfrm>
          <a:prstGeom prst="rect">
            <a:avLst/>
          </a:prstGeom>
        </p:spPr>
      </p:pic>
      <p:sp>
        <p:nvSpPr>
          <p:cNvPr id="4" name="Text 0"/>
          <p:cNvSpPr/>
          <p:nvPr/>
        </p:nvSpPr>
        <p:spPr>
          <a:xfrm>
            <a:off x="612000" y="1512000"/>
            <a:ext cx="5940000" cy="1224000"/>
          </a:xfrm>
          <a:prstGeom prst="rect">
            <a:avLst/>
          </a:prstGeom>
          <a:noFill/>
          <a:ln/>
        </p:spPr>
        <p:txBody>
          <a:bodyPr wrap="square" lIns="0" tIns="0" rIns="0" bIns="0" rtlCol="0" anchor="ctr"/>
          <a:lstStyle/>
          <a:p>
            <a:pPr indent="0" marL="0">
              <a:lnSpc>
                <a:spcPct val="92000"/>
              </a:lnSpc>
              <a:buNone/>
            </a:pPr>
            <a:r>
              <a:rPr lang="en-US" sz="4400" dirty="0">
                <a:solidFill>
                  <a:srgbClr val="46606E"/>
                </a:solidFill>
                <a:latin typeface="Young Serif" pitchFamily="34" charset="0"/>
                <a:ea typeface="Young Serif" pitchFamily="34" charset="-122"/>
                <a:cs typeface="Young Serif" pitchFamily="34" charset="-120"/>
              </a:rPr>
              <a:t>Salon Privé</a:t>
            </a:r>
            <a:endParaRPr lang="en-US" sz="4400" dirty="0"/>
          </a:p>
          <a:p>
            <a:pPr indent="0" marL="0">
              <a:lnSpc>
                <a:spcPct val="92000"/>
              </a:lnSpc>
              <a:buNone/>
            </a:pPr>
            <a:r>
              <a:rPr lang="en-US" sz="4400" dirty="0">
                <a:solidFill>
                  <a:srgbClr val="67067C"/>
                </a:solidFill>
                <a:latin typeface="Young Serif" pitchFamily="34" charset="0"/>
                <a:ea typeface="Young Serif" pitchFamily="34" charset="-122"/>
                <a:cs typeface="Young Serif" pitchFamily="34" charset="-120"/>
              </a:rPr>
              <a:t>Vins &amp; Terroirs</a:t>
            </a:r>
            <a:endParaRPr lang="en-US" sz="4400" dirty="0"/>
          </a:p>
        </p:txBody>
      </p:sp>
      <p:sp>
        <p:nvSpPr>
          <p:cNvPr id="5" name="Text 1"/>
          <p:cNvSpPr/>
          <p:nvPr/>
        </p:nvSpPr>
        <p:spPr>
          <a:xfrm>
            <a:off x="612000" y="3204000"/>
            <a:ext cx="4320000" cy="504000"/>
          </a:xfrm>
          <a:prstGeom prst="rect">
            <a:avLst/>
          </a:prstGeom>
          <a:noFill/>
          <a:ln/>
        </p:spPr>
        <p:txBody>
          <a:bodyPr wrap="square" lIns="0" tIns="0" rIns="0" bIns="0" rtlCol="0" anchor="ctr"/>
          <a:lstStyle/>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Vingt-six vignerons, neuf régions,</a:t>
            </a:r>
            <a:endParaRPr lang="en-US" sz="1050" dirty="0"/>
          </a:p>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et la terre qu'ils ont sous les pieds.</a:t>
            </a:r>
            <a:endParaRPr lang="en-US" sz="1050" dirty="0"/>
          </a:p>
        </p:txBody>
      </p:sp>
      <p:sp>
        <p:nvSpPr>
          <p:cNvPr id="6" name="Text 2"/>
          <p:cNvSpPr/>
          <p:nvPr/>
        </p:nvSpPr>
        <p:spPr>
          <a:xfrm>
            <a:off x="3528000" y="576000"/>
            <a:ext cx="3420000" cy="306000"/>
          </a:xfrm>
          <a:prstGeom prst="rect">
            <a:avLst/>
          </a:prstGeom>
          <a:noFill/>
          <a:ln/>
        </p:spPr>
        <p:txBody>
          <a:bodyPr wrap="square" lIns="0" tIns="0" rIns="0" bIns="0" rtlCol="0" anchor="t"/>
          <a:lstStyle/>
          <a:p>
            <a:pPr algn="r" indent="0" marL="0">
              <a:buNone/>
            </a:pPr>
            <a:r>
              <a:rPr lang="en-US" sz="1900" dirty="0">
                <a:solidFill>
                  <a:srgbClr val="67067C"/>
                </a:solidFill>
                <a:latin typeface="Young Serif" pitchFamily="34" charset="0"/>
                <a:ea typeface="Young Serif" pitchFamily="34" charset="-122"/>
                <a:cs typeface="Young Serif" pitchFamily="34" charset="-120"/>
              </a:rPr>
              <a:t>Lundi 5 octobre 2026</a:t>
            </a:r>
            <a:endParaRPr lang="en-US" sz="1900" dirty="0"/>
          </a:p>
        </p:txBody>
      </p:sp>
      <p:sp>
        <p:nvSpPr>
          <p:cNvPr id="7" name="Text 3"/>
          <p:cNvSpPr/>
          <p:nvPr/>
        </p:nvSpPr>
        <p:spPr>
          <a:xfrm>
            <a:off x="3528000" y="900000"/>
            <a:ext cx="3420000" cy="324000"/>
          </a:xfrm>
          <a:prstGeom prst="rect">
            <a:avLst/>
          </a:prstGeom>
          <a:noFill/>
          <a:ln/>
        </p:spPr>
        <p:txBody>
          <a:bodyPr wrap="square" lIns="0" tIns="0" rIns="0" bIns="0" rtlCol="0" anchor="t"/>
          <a:lstStyle/>
          <a:p>
            <a:pPr algn="r" indent="0" marL="0">
              <a:lnSpc>
                <a:spcPct val="120000"/>
              </a:lnSpc>
              <a:buNone/>
            </a:pPr>
            <a:r>
              <a:rPr lang="en-US" sz="900" b="1" spc="30" kern="0" dirty="0">
                <a:solidFill>
                  <a:srgbClr val="46606E"/>
                </a:solidFill>
                <a:latin typeface="IBM Plex Sans" pitchFamily="34" charset="0"/>
                <a:ea typeface="IBM Plex Sans" pitchFamily="34" charset="-122"/>
                <a:cs typeface="IBM Plex Sans" pitchFamily="34" charset="-120"/>
              </a:rPr>
              <a:t>CHÂTEAU DE LA RAIRIE</a:t>
            </a:r>
            <a:endParaRPr lang="en-US" sz="900" dirty="0"/>
          </a:p>
          <a:p>
            <a:pPr algn="r" indent="0" marL="0">
              <a:lnSpc>
                <a:spcPct val="120000"/>
              </a:lnSpc>
              <a:buNone/>
            </a:pPr>
            <a:r>
              <a:rPr lang="en-US" sz="900" b="1" spc="30" kern="0" dirty="0">
                <a:solidFill>
                  <a:srgbClr val="46606E"/>
                </a:solidFill>
                <a:latin typeface="IBM Plex Sans" pitchFamily="34" charset="0"/>
                <a:ea typeface="IBM Plex Sans" pitchFamily="34" charset="-122"/>
                <a:cs typeface="IBM Plex Sans" pitchFamily="34" charset="-120"/>
              </a:rPr>
              <a:t>PONT-SAINT-MARTIN</a:t>
            </a:r>
            <a:endParaRPr lang="en-US" sz="900" dirty="0"/>
          </a:p>
        </p:txBody>
      </p:sp>
      <p:sp>
        <p:nvSpPr>
          <p:cNvPr id="8" name="Text 4"/>
          <p:cNvSpPr/>
          <p:nvPr/>
        </p:nvSpPr>
        <p:spPr>
          <a:xfrm>
            <a:off x="612000" y="8892000"/>
            <a:ext cx="5040000" cy="180000"/>
          </a:xfrm>
          <a:prstGeom prst="rect">
            <a:avLst/>
          </a:prstGeom>
          <a:noFill/>
          <a:ln/>
        </p:spPr>
        <p:txBody>
          <a:bodyPr wrap="square" lIns="0" tIns="0" rIns="0" bIns="0" rtlCol="0" anchor="ctr"/>
          <a:lstStyle/>
          <a:p>
            <a:pPr indent="0" marL="0">
              <a:buNone/>
            </a:pPr>
            <a:r>
              <a:rPr lang="en-US" sz="560"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664000" cy="649188"/>
          </a:xfrm>
          <a:prstGeom prst="rect">
            <a:avLst/>
          </a:prstGeom>
        </p:spPr>
      </p:pic>
      <p:sp>
        <p:nvSpPr>
          <p:cNvPr id="3" name="Text 0"/>
          <p:cNvSpPr/>
          <p:nvPr/>
        </p:nvSpPr>
        <p:spPr>
          <a:xfrm>
            <a:off x="828000" y="1692000"/>
            <a:ext cx="5400000" cy="1440000"/>
          </a:xfrm>
          <a:prstGeom prst="rect">
            <a:avLst/>
          </a:prstGeom>
          <a:noFill/>
          <a:ln/>
        </p:spPr>
        <p:txBody>
          <a:bodyPr wrap="square" lIns="0" tIns="0" rIns="0" bIns="0" rtlCol="0" anchor="ctr"/>
          <a:lstStyle/>
          <a:p>
            <a:pPr indent="0" marL="0">
              <a:lnSpc>
                <a:spcPct val="128000"/>
              </a:lnSpc>
              <a:buNone/>
            </a:pPr>
            <a:r>
              <a:rPr lang="en-US" sz="1600" dirty="0">
                <a:solidFill>
                  <a:srgbClr val="46606E"/>
                </a:solidFill>
                <a:latin typeface="Young Serif" pitchFamily="34" charset="0"/>
                <a:ea typeface="Young Serif" pitchFamily="34" charset="-122"/>
                <a:cs typeface="Young Serif" pitchFamily="34" charset="-120"/>
              </a:rPr>
              <a:t>L'Agence SCIO, c'est </a:t>
            </a:r>
            <a:r>
              <a:rPr lang="en-US" sz="1600" dirty="0">
                <a:solidFill>
                  <a:srgbClr val="67067C"/>
                </a:solidFill>
                <a:latin typeface="Young Serif" pitchFamily="34" charset="0"/>
                <a:ea typeface="Young Serif" pitchFamily="34" charset="-122"/>
                <a:cs typeface="Young Serif" pitchFamily="34" charset="-120"/>
              </a:rPr>
              <a:t>partager notre savoir et notre passion</a:t>
            </a:r>
            <a:r>
              <a:rPr lang="en-US" sz="1600" dirty="0">
                <a:solidFill>
                  <a:srgbClr val="46606E"/>
                </a:solidFill>
                <a:latin typeface="Young Serif" pitchFamily="34" charset="0"/>
                <a:ea typeface="Young Serif" pitchFamily="34" charset="-122"/>
                <a:cs typeface="Young Serif" pitchFamily="34" charset="-120"/>
              </a:rPr>
              <a:t> en vous proposant des vignerons de tous horizons, avant-gardistes et respectueux de la nature. Découvrez notre sélection. Laissez-vous guider et conseiller.</a:t>
            </a:r>
            <a:endParaRPr lang="en-US" sz="1600" dirty="0"/>
          </a:p>
        </p:txBody>
      </p:sp>
      <p:sp>
        <p:nvSpPr>
          <p:cNvPr id="4" name="Text 1"/>
          <p:cNvSpPr/>
          <p:nvPr/>
        </p:nvSpPr>
        <p:spPr>
          <a:xfrm>
            <a:off x="82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5" name="Text 2"/>
          <p:cNvSpPr/>
          <p:nvPr/>
        </p:nvSpPr>
        <p:spPr>
          <a:xfrm>
            <a:off x="82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6" name="Text 3"/>
          <p:cNvSpPr/>
          <p:nvPr/>
        </p:nvSpPr>
        <p:spPr>
          <a:xfrm>
            <a:off x="280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7" name="Text 4"/>
          <p:cNvSpPr/>
          <p:nvPr/>
        </p:nvSpPr>
        <p:spPr>
          <a:xfrm>
            <a:off x="280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8" name="Text 5"/>
          <p:cNvSpPr/>
          <p:nvPr/>
        </p:nvSpPr>
        <p:spPr>
          <a:xfrm>
            <a:off x="828000" y="3924000"/>
            <a:ext cx="4320000" cy="720000"/>
          </a:xfrm>
          <a:prstGeom prst="rect">
            <a:avLst/>
          </a:prstGeom>
          <a:noFill/>
          <a:ln/>
        </p:spPr>
        <p:txBody>
          <a:bodyPr wrap="square" lIns="0" tIns="0" rIns="0" bIns="0" rtlCol="0" anchor="ctr"/>
          <a:lstStyle/>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contact@agencescio.com</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www.agencescio.com</a:t>
            </a:r>
            <a:endParaRPr lang="en-US" sz="1000" dirty="0"/>
          </a:p>
        </p:txBody>
      </p:sp>
      <p:sp>
        <p:nvSpPr>
          <p:cNvPr id="9" name="Shape 6"/>
          <p:cNvSpPr/>
          <p:nvPr/>
        </p:nvSpPr>
        <p:spPr>
          <a:xfrm>
            <a:off x="828000" y="4932000"/>
            <a:ext cx="6120000" cy="1296000"/>
          </a:xfrm>
          <a:prstGeom prst="rect">
            <a:avLst/>
          </a:prstGeom>
          <a:solidFill>
            <a:srgbClr val="FBF8F1"/>
          </a:solidFill>
          <a:ln w="12700">
            <a:solidFill>
              <a:srgbClr val="FBF8F1"/>
            </a:solidFill>
            <a:prstDash val="solid"/>
          </a:ln>
        </p:spPr>
      </p:sp>
      <p:sp>
        <p:nvSpPr>
          <p:cNvPr id="10" name="Shape 7"/>
          <p:cNvSpPr/>
          <p:nvPr/>
        </p:nvSpPr>
        <p:spPr>
          <a:xfrm>
            <a:off x="828000" y="4932000"/>
            <a:ext cx="0" cy="1296000"/>
          </a:xfrm>
          <a:prstGeom prst="line">
            <a:avLst/>
          </a:prstGeom>
          <a:noFill/>
          <a:ln w="25400">
            <a:solidFill>
              <a:srgbClr val="E1C853"/>
            </a:solidFill>
            <a:prstDash val="solid"/>
          </a:ln>
        </p:spPr>
      </p:sp>
      <p:sp>
        <p:nvSpPr>
          <p:cNvPr id="11" name="Text 8"/>
          <p:cNvSpPr/>
          <p:nvPr/>
        </p:nvSpPr>
        <p:spPr>
          <a:xfrm>
            <a:off x="1044000" y="4932000"/>
            <a:ext cx="5688000" cy="1296000"/>
          </a:xfrm>
          <a:prstGeom prst="rect">
            <a:avLst/>
          </a:prstGeom>
          <a:noFill/>
          <a:ln/>
        </p:spPr>
        <p:txBody>
          <a:bodyPr wrap="square" lIns="0" tIns="0" rIns="0" bIns="0" rtlCol="0" anchor="ctr"/>
          <a:lstStyle/>
          <a:p>
            <a:pPr indent="0" marL="0">
              <a:lnSpc>
                <a:spcPct val="125000"/>
              </a:lnSpc>
              <a:buNone/>
            </a:pPr>
            <a:r>
              <a:rPr lang="en-US" sz="1800" dirty="0">
                <a:solidFill>
                  <a:srgbClr val="67067C"/>
                </a:solidFill>
                <a:latin typeface="Young Serif" pitchFamily="34" charset="0"/>
                <a:ea typeface="Young Serif" pitchFamily="34" charset="-122"/>
                <a:cs typeface="Young Serif" pitchFamily="34" charset="-120"/>
              </a:rPr>
              <a:t>Salon Privé Vins &amp; Terroirs</a:t>
            </a:r>
            <a:endParaRPr lang="en-US" sz="1800" dirty="0"/>
          </a:p>
          <a:p>
            <a:pPr indent="0" marL="0">
              <a:lnSpc>
                <a:spcPct val="125000"/>
              </a:lnSpc>
              <a:buNone/>
            </a:pPr>
            <a:r>
              <a:rPr lang="en-US" sz="1300" dirty="0">
                <a:solidFill>
                  <a:srgbClr val="46606E"/>
                </a:solidFill>
                <a:latin typeface="Young Serif" pitchFamily="34" charset="0"/>
                <a:ea typeface="Young Serif" pitchFamily="34" charset="-122"/>
                <a:cs typeface="Young Serif" pitchFamily="34" charset="-120"/>
              </a:rPr>
              <a:t>Lundi 5 octobre 2026</a:t>
            </a:r>
            <a:endParaRPr lang="en-US" sz="1800" dirty="0"/>
          </a:p>
          <a:p>
            <a:pPr indent="0" marL="0">
              <a:lnSpc>
                <a:spcPct val="125000"/>
              </a:lnSpc>
              <a:buNone/>
            </a:pPr>
            <a:r>
              <a:rPr lang="en-US" sz="1000" dirty="0">
                <a:solidFill>
                  <a:srgbClr val="46606E"/>
                </a:solidFill>
                <a:latin typeface="Spectral" pitchFamily="34" charset="0"/>
                <a:ea typeface="Spectral" pitchFamily="34" charset="-122"/>
                <a:cs typeface="Spectral" pitchFamily="34" charset="-120"/>
              </a:rPr>
              <a:t>Château de la Rairie, Pont-Saint-Martin</a:t>
            </a:r>
            <a:endParaRPr lang="en-US" sz="1800" dirty="0"/>
          </a:p>
          <a:p>
            <a:pPr indent="0" marL="0">
              <a:lnSpc>
                <a:spcPct val="125000"/>
              </a:lnSpc>
              <a:buNone/>
            </a:pPr>
            <a:r>
              <a:rPr lang="en-US" sz="800" dirty="0">
                <a:solidFill>
                  <a:srgbClr val="A8515F"/>
                </a:solidFill>
                <a:latin typeface="IBM Plex Sans" pitchFamily="34" charset="0"/>
                <a:ea typeface="IBM Plex Sans" pitchFamily="34" charset="-122"/>
                <a:cs typeface="IBM Plex Sans" pitchFamily="34" charset="-120"/>
              </a:rPr>
              <a:t>Organisé par l'Agence SCIO Vins &amp; Spirits</a:t>
            </a:r>
            <a:endParaRPr lang="en-US" sz="1800" dirty="0"/>
          </a:p>
        </p:txBody>
      </p:sp>
      <p:sp>
        <p:nvSpPr>
          <p:cNvPr id="12" name="Shape 9"/>
          <p:cNvSpPr/>
          <p:nvPr/>
        </p:nvSpPr>
        <p:spPr>
          <a:xfrm>
            <a:off x="828000" y="6732000"/>
            <a:ext cx="6120000" cy="0"/>
          </a:xfrm>
          <a:prstGeom prst="line">
            <a:avLst/>
          </a:prstGeom>
          <a:noFill/>
          <a:ln w="10160">
            <a:solidFill>
              <a:srgbClr val="67067C"/>
            </a:solidFill>
            <a:prstDash val="solid"/>
          </a:ln>
        </p:spPr>
      </p:sp>
      <p:sp>
        <p:nvSpPr>
          <p:cNvPr id="13" name="Text 10"/>
          <p:cNvSpPr/>
          <p:nvPr/>
        </p:nvSpPr>
        <p:spPr>
          <a:xfrm>
            <a:off x="828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26</a:t>
            </a:r>
            <a:endParaRPr lang="en-US" sz="2600" dirty="0"/>
          </a:p>
        </p:txBody>
      </p:sp>
      <p:sp>
        <p:nvSpPr>
          <p:cNvPr id="14" name="Text 11"/>
          <p:cNvSpPr/>
          <p:nvPr/>
        </p:nvSpPr>
        <p:spPr>
          <a:xfrm>
            <a:off x="828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vignerons</a:t>
            </a:r>
            <a:endParaRPr lang="en-US" sz="900" dirty="0"/>
          </a:p>
        </p:txBody>
      </p:sp>
      <p:sp>
        <p:nvSpPr>
          <p:cNvPr id="15" name="Text 12"/>
          <p:cNvSpPr/>
          <p:nvPr/>
        </p:nvSpPr>
        <p:spPr>
          <a:xfrm>
            <a:off x="2340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9</a:t>
            </a:r>
            <a:endParaRPr lang="en-US" sz="2600" dirty="0"/>
          </a:p>
        </p:txBody>
      </p:sp>
      <p:sp>
        <p:nvSpPr>
          <p:cNvPr id="16" name="Text 13"/>
          <p:cNvSpPr/>
          <p:nvPr/>
        </p:nvSpPr>
        <p:spPr>
          <a:xfrm>
            <a:off x="2340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régions</a:t>
            </a:r>
            <a:endParaRPr lang="en-US" sz="900" dirty="0"/>
          </a:p>
        </p:txBody>
      </p:sp>
      <p:sp>
        <p:nvSpPr>
          <p:cNvPr id="17" name="Text 14"/>
          <p:cNvSpPr/>
          <p:nvPr/>
        </p:nvSpPr>
        <p:spPr>
          <a:xfrm>
            <a:off x="3852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192</a:t>
            </a:r>
            <a:endParaRPr lang="en-US" sz="2600" dirty="0"/>
          </a:p>
        </p:txBody>
      </p:sp>
      <p:sp>
        <p:nvSpPr>
          <p:cNvPr id="18" name="Text 15"/>
          <p:cNvSpPr/>
          <p:nvPr/>
        </p:nvSpPr>
        <p:spPr>
          <a:xfrm>
            <a:off x="3852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vins à la dégustation</a:t>
            </a:r>
            <a:endParaRPr lang="en-US" sz="900" dirty="0"/>
          </a:p>
        </p:txBody>
      </p:sp>
      <p:sp>
        <p:nvSpPr>
          <p:cNvPr id="19"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a:t>
            </a:r>
            <a:endParaRPr lang="en-US" sz="750" dirty="0"/>
          </a:p>
        </p:txBody>
      </p:sp>
      <p:sp>
        <p:nvSpPr>
          <p:cNvPr id="20"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Sommaire</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PAR RÉGION ; LE PREMIER CHIFFRE EST LE NUMÉRO DU STAND</a:t>
            </a:r>
            <a:endParaRPr lang="en-US" sz="800" dirty="0"/>
          </a:p>
        </p:txBody>
      </p:sp>
      <p:sp>
        <p:nvSpPr>
          <p:cNvPr id="4" name="Shape 2"/>
          <p:cNvSpPr/>
          <p:nvPr/>
        </p:nvSpPr>
        <p:spPr>
          <a:xfrm>
            <a:off x="612000" y="1393200"/>
            <a:ext cx="115200" cy="115200"/>
          </a:xfrm>
          <a:prstGeom prst="rect">
            <a:avLst/>
          </a:prstGeom>
          <a:solidFill>
            <a:srgbClr val="46606E"/>
          </a:solidFill>
          <a:ln w="7620">
            <a:solidFill>
              <a:srgbClr val="46606E"/>
            </a:solidFill>
            <a:prstDash val="solid"/>
          </a:ln>
        </p:spPr>
      </p:sp>
      <p:sp>
        <p:nvSpPr>
          <p:cNvPr id="5" name="Text 3"/>
          <p:cNvSpPr/>
          <p:nvPr/>
        </p:nvSpPr>
        <p:spPr>
          <a:xfrm>
            <a:off x="806400" y="1314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Loire</a:t>
            </a:r>
            <a:endParaRPr lang="en-US" sz="1300" dirty="0"/>
          </a:p>
        </p:txBody>
      </p:sp>
      <p:sp>
        <p:nvSpPr>
          <p:cNvPr id="6" name="Shape 4"/>
          <p:cNvSpPr/>
          <p:nvPr/>
        </p:nvSpPr>
        <p:spPr>
          <a:xfrm>
            <a:off x="612000" y="1587600"/>
            <a:ext cx="2952000" cy="0"/>
          </a:xfrm>
          <a:prstGeom prst="line">
            <a:avLst/>
          </a:prstGeom>
          <a:noFill/>
          <a:ln w="11430">
            <a:solidFill>
              <a:srgbClr val="67067C"/>
            </a:solidFill>
            <a:prstDash val="solid"/>
          </a:ln>
        </p:spPr>
      </p:sp>
      <p:sp>
        <p:nvSpPr>
          <p:cNvPr id="7" name="Text 5"/>
          <p:cNvSpPr/>
          <p:nvPr/>
        </p:nvSpPr>
        <p:spPr>
          <a:xfrm>
            <a:off x="612000" y="163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10</a:t>
            </a:r>
            <a:endParaRPr lang="en-US" sz="850" dirty="0"/>
          </a:p>
        </p:txBody>
      </p:sp>
      <p:sp>
        <p:nvSpPr>
          <p:cNvPr id="8" name="Text 6"/>
          <p:cNvSpPr/>
          <p:nvPr/>
        </p:nvSpPr>
        <p:spPr>
          <a:xfrm>
            <a:off x="918000" y="163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François Reverdy</a:t>
            </a:r>
            <a:endParaRPr lang="en-US" sz="1000" dirty="0"/>
          </a:p>
        </p:txBody>
      </p:sp>
      <p:sp>
        <p:nvSpPr>
          <p:cNvPr id="9" name="Text 7"/>
          <p:cNvSpPr/>
          <p:nvPr/>
        </p:nvSpPr>
        <p:spPr>
          <a:xfrm>
            <a:off x="3204000" y="163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a:t>
            </a:r>
            <a:endParaRPr lang="en-US" sz="900" dirty="0"/>
          </a:p>
        </p:txBody>
      </p:sp>
      <p:sp>
        <p:nvSpPr>
          <p:cNvPr id="10" name="Shape 8"/>
          <p:cNvSpPr/>
          <p:nvPr/>
        </p:nvSpPr>
        <p:spPr>
          <a:xfrm>
            <a:off x="612000" y="1839600"/>
            <a:ext cx="2952000" cy="0"/>
          </a:xfrm>
          <a:prstGeom prst="line">
            <a:avLst/>
          </a:prstGeom>
          <a:noFill/>
          <a:ln w="3810">
            <a:solidFill>
              <a:srgbClr val="C9CFC9"/>
            </a:solidFill>
            <a:prstDash val="solid"/>
          </a:ln>
        </p:spPr>
      </p:sp>
      <p:sp>
        <p:nvSpPr>
          <p:cNvPr id="11" name="Text 9"/>
          <p:cNvSpPr/>
          <p:nvPr/>
        </p:nvSpPr>
        <p:spPr>
          <a:xfrm>
            <a:off x="612000" y="183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22</a:t>
            </a:r>
            <a:endParaRPr lang="en-US" sz="850" dirty="0"/>
          </a:p>
        </p:txBody>
      </p:sp>
      <p:sp>
        <p:nvSpPr>
          <p:cNvPr id="12" name="Text 10"/>
          <p:cNvSpPr/>
          <p:nvPr/>
        </p:nvSpPr>
        <p:spPr>
          <a:xfrm>
            <a:off x="918000" y="183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la Barbinière</a:t>
            </a:r>
            <a:endParaRPr lang="en-US" sz="1000" dirty="0"/>
          </a:p>
        </p:txBody>
      </p:sp>
      <p:sp>
        <p:nvSpPr>
          <p:cNvPr id="13" name="Text 11"/>
          <p:cNvSpPr/>
          <p:nvPr/>
        </p:nvSpPr>
        <p:spPr>
          <a:xfrm>
            <a:off x="3204000" y="183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a:t>
            </a:r>
            <a:endParaRPr lang="en-US" sz="900" dirty="0"/>
          </a:p>
        </p:txBody>
      </p:sp>
      <p:sp>
        <p:nvSpPr>
          <p:cNvPr id="14" name="Shape 12"/>
          <p:cNvSpPr/>
          <p:nvPr/>
        </p:nvSpPr>
        <p:spPr>
          <a:xfrm>
            <a:off x="612000" y="2041200"/>
            <a:ext cx="2952000" cy="0"/>
          </a:xfrm>
          <a:prstGeom prst="line">
            <a:avLst/>
          </a:prstGeom>
          <a:noFill/>
          <a:ln w="3810">
            <a:solidFill>
              <a:srgbClr val="C9CFC9"/>
            </a:solidFill>
            <a:prstDash val="solid"/>
          </a:ln>
        </p:spPr>
      </p:sp>
      <p:sp>
        <p:nvSpPr>
          <p:cNvPr id="15" name="Text 13"/>
          <p:cNvSpPr/>
          <p:nvPr/>
        </p:nvSpPr>
        <p:spPr>
          <a:xfrm>
            <a:off x="612000" y="2041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4</a:t>
            </a:r>
            <a:endParaRPr lang="en-US" sz="850" dirty="0"/>
          </a:p>
        </p:txBody>
      </p:sp>
      <p:sp>
        <p:nvSpPr>
          <p:cNvPr id="16" name="Text 14"/>
          <p:cNvSpPr/>
          <p:nvPr/>
        </p:nvSpPr>
        <p:spPr>
          <a:xfrm>
            <a:off x="918000" y="2041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du Colombier / J.Y Bretaudeau</a:t>
            </a:r>
            <a:endParaRPr lang="en-US" sz="1000" dirty="0"/>
          </a:p>
        </p:txBody>
      </p:sp>
      <p:sp>
        <p:nvSpPr>
          <p:cNvPr id="17" name="Text 15"/>
          <p:cNvSpPr/>
          <p:nvPr/>
        </p:nvSpPr>
        <p:spPr>
          <a:xfrm>
            <a:off x="3204000" y="2041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7</a:t>
            </a:r>
            <a:endParaRPr lang="en-US" sz="900" dirty="0"/>
          </a:p>
        </p:txBody>
      </p:sp>
      <p:sp>
        <p:nvSpPr>
          <p:cNvPr id="18" name="Shape 16"/>
          <p:cNvSpPr/>
          <p:nvPr/>
        </p:nvSpPr>
        <p:spPr>
          <a:xfrm>
            <a:off x="612000" y="2242800"/>
            <a:ext cx="2952000" cy="0"/>
          </a:xfrm>
          <a:prstGeom prst="line">
            <a:avLst/>
          </a:prstGeom>
          <a:noFill/>
          <a:ln w="3810">
            <a:solidFill>
              <a:srgbClr val="C9CFC9"/>
            </a:solidFill>
            <a:prstDash val="solid"/>
          </a:ln>
        </p:spPr>
      </p:sp>
      <p:sp>
        <p:nvSpPr>
          <p:cNvPr id="19" name="Text 17"/>
          <p:cNvSpPr/>
          <p:nvPr/>
        </p:nvSpPr>
        <p:spPr>
          <a:xfrm>
            <a:off x="612000" y="2242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14</a:t>
            </a:r>
            <a:endParaRPr lang="en-US" sz="850" dirty="0"/>
          </a:p>
        </p:txBody>
      </p:sp>
      <p:sp>
        <p:nvSpPr>
          <p:cNvPr id="20" name="Text 18"/>
          <p:cNvSpPr/>
          <p:nvPr/>
        </p:nvSpPr>
        <p:spPr>
          <a:xfrm>
            <a:off x="918000" y="2242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Noëls</a:t>
            </a:r>
            <a:endParaRPr lang="en-US" sz="1000" dirty="0"/>
          </a:p>
        </p:txBody>
      </p:sp>
      <p:sp>
        <p:nvSpPr>
          <p:cNvPr id="21" name="Text 19"/>
          <p:cNvSpPr/>
          <p:nvPr/>
        </p:nvSpPr>
        <p:spPr>
          <a:xfrm>
            <a:off x="3204000" y="2242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8</a:t>
            </a:r>
            <a:endParaRPr lang="en-US" sz="900" dirty="0"/>
          </a:p>
        </p:txBody>
      </p:sp>
      <p:sp>
        <p:nvSpPr>
          <p:cNvPr id="22" name="Shape 20"/>
          <p:cNvSpPr/>
          <p:nvPr/>
        </p:nvSpPr>
        <p:spPr>
          <a:xfrm>
            <a:off x="612000" y="2444400"/>
            <a:ext cx="2952000" cy="0"/>
          </a:xfrm>
          <a:prstGeom prst="line">
            <a:avLst/>
          </a:prstGeom>
          <a:noFill/>
          <a:ln w="3810">
            <a:solidFill>
              <a:srgbClr val="C9CFC9"/>
            </a:solidFill>
            <a:prstDash val="solid"/>
          </a:ln>
        </p:spPr>
      </p:sp>
      <p:sp>
        <p:nvSpPr>
          <p:cNvPr id="23" name="Text 21"/>
          <p:cNvSpPr/>
          <p:nvPr/>
        </p:nvSpPr>
        <p:spPr>
          <a:xfrm>
            <a:off x="612000" y="2444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25</a:t>
            </a:r>
            <a:endParaRPr lang="en-US" sz="850" dirty="0"/>
          </a:p>
        </p:txBody>
      </p:sp>
      <p:sp>
        <p:nvSpPr>
          <p:cNvPr id="24" name="Text 22"/>
          <p:cNvSpPr/>
          <p:nvPr/>
        </p:nvSpPr>
        <p:spPr>
          <a:xfrm>
            <a:off x="918000" y="2444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Chai Berteaud Manceau</a:t>
            </a:r>
            <a:endParaRPr lang="en-US" sz="1000" dirty="0"/>
          </a:p>
        </p:txBody>
      </p:sp>
      <p:sp>
        <p:nvSpPr>
          <p:cNvPr id="25" name="Text 23"/>
          <p:cNvSpPr/>
          <p:nvPr/>
        </p:nvSpPr>
        <p:spPr>
          <a:xfrm>
            <a:off x="3204000" y="2444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9</a:t>
            </a:r>
            <a:endParaRPr lang="en-US" sz="900" dirty="0"/>
          </a:p>
        </p:txBody>
      </p:sp>
      <p:sp>
        <p:nvSpPr>
          <p:cNvPr id="26" name="Shape 24"/>
          <p:cNvSpPr/>
          <p:nvPr/>
        </p:nvSpPr>
        <p:spPr>
          <a:xfrm>
            <a:off x="612000" y="2646000"/>
            <a:ext cx="2952000" cy="0"/>
          </a:xfrm>
          <a:prstGeom prst="line">
            <a:avLst/>
          </a:prstGeom>
          <a:noFill/>
          <a:ln w="3810">
            <a:solidFill>
              <a:srgbClr val="C9CFC9"/>
            </a:solidFill>
            <a:prstDash val="solid"/>
          </a:ln>
        </p:spPr>
      </p:sp>
      <p:sp>
        <p:nvSpPr>
          <p:cNvPr id="27" name="Text 25"/>
          <p:cNvSpPr/>
          <p:nvPr/>
        </p:nvSpPr>
        <p:spPr>
          <a:xfrm>
            <a:off x="612000" y="264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17</a:t>
            </a:r>
            <a:endParaRPr lang="en-US" sz="850" dirty="0"/>
          </a:p>
        </p:txBody>
      </p:sp>
      <p:sp>
        <p:nvSpPr>
          <p:cNvPr id="28" name="Text 26"/>
          <p:cNvSpPr/>
          <p:nvPr/>
        </p:nvSpPr>
        <p:spPr>
          <a:xfrm>
            <a:off x="918000" y="264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Jean de Villebois</a:t>
            </a:r>
            <a:endParaRPr lang="en-US" sz="1000" dirty="0"/>
          </a:p>
        </p:txBody>
      </p:sp>
      <p:sp>
        <p:nvSpPr>
          <p:cNvPr id="29" name="Text 27"/>
          <p:cNvSpPr/>
          <p:nvPr/>
        </p:nvSpPr>
        <p:spPr>
          <a:xfrm>
            <a:off x="3204000" y="264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10</a:t>
            </a:r>
            <a:endParaRPr lang="en-US" sz="900" dirty="0"/>
          </a:p>
        </p:txBody>
      </p:sp>
      <p:sp>
        <p:nvSpPr>
          <p:cNvPr id="30" name="Shape 28"/>
          <p:cNvSpPr/>
          <p:nvPr/>
        </p:nvSpPr>
        <p:spPr>
          <a:xfrm>
            <a:off x="612000" y="2847600"/>
            <a:ext cx="2952000" cy="0"/>
          </a:xfrm>
          <a:prstGeom prst="line">
            <a:avLst/>
          </a:prstGeom>
          <a:noFill/>
          <a:ln w="3810">
            <a:solidFill>
              <a:srgbClr val="C9CFC9"/>
            </a:solidFill>
            <a:prstDash val="solid"/>
          </a:ln>
        </p:spPr>
      </p:sp>
      <p:sp>
        <p:nvSpPr>
          <p:cNvPr id="31" name="Shape 29"/>
          <p:cNvSpPr/>
          <p:nvPr/>
        </p:nvSpPr>
        <p:spPr>
          <a:xfrm>
            <a:off x="612000" y="3078000"/>
            <a:ext cx="115200" cy="115200"/>
          </a:xfrm>
          <a:prstGeom prst="rect">
            <a:avLst/>
          </a:prstGeom>
          <a:solidFill>
            <a:srgbClr val="3C5B47"/>
          </a:solidFill>
          <a:ln w="7620">
            <a:solidFill>
              <a:srgbClr val="3C5B47"/>
            </a:solidFill>
            <a:prstDash val="solid"/>
          </a:ln>
        </p:spPr>
      </p:sp>
      <p:sp>
        <p:nvSpPr>
          <p:cNvPr id="32" name="Text 30"/>
          <p:cNvSpPr/>
          <p:nvPr/>
        </p:nvSpPr>
        <p:spPr>
          <a:xfrm>
            <a:off x="806400" y="2998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Alsace</a:t>
            </a:r>
            <a:endParaRPr lang="en-US" sz="1300" dirty="0"/>
          </a:p>
        </p:txBody>
      </p:sp>
      <p:sp>
        <p:nvSpPr>
          <p:cNvPr id="33" name="Shape 31"/>
          <p:cNvSpPr/>
          <p:nvPr/>
        </p:nvSpPr>
        <p:spPr>
          <a:xfrm>
            <a:off x="612000" y="3272400"/>
            <a:ext cx="2952000" cy="0"/>
          </a:xfrm>
          <a:prstGeom prst="line">
            <a:avLst/>
          </a:prstGeom>
          <a:noFill/>
          <a:ln w="11430">
            <a:solidFill>
              <a:srgbClr val="67067C"/>
            </a:solidFill>
            <a:prstDash val="solid"/>
          </a:ln>
        </p:spPr>
      </p:sp>
      <p:sp>
        <p:nvSpPr>
          <p:cNvPr id="34" name="Text 32"/>
          <p:cNvSpPr/>
          <p:nvPr/>
        </p:nvSpPr>
        <p:spPr>
          <a:xfrm>
            <a:off x="612000" y="3322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9</a:t>
            </a:r>
            <a:endParaRPr lang="en-US" sz="850" dirty="0"/>
          </a:p>
        </p:txBody>
      </p:sp>
      <p:sp>
        <p:nvSpPr>
          <p:cNvPr id="35" name="Text 33"/>
          <p:cNvSpPr/>
          <p:nvPr/>
        </p:nvSpPr>
        <p:spPr>
          <a:xfrm>
            <a:off x="918000" y="3322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Boehler</a:t>
            </a:r>
            <a:endParaRPr lang="en-US" sz="1000" dirty="0"/>
          </a:p>
        </p:txBody>
      </p:sp>
      <p:sp>
        <p:nvSpPr>
          <p:cNvPr id="36" name="Text 34"/>
          <p:cNvSpPr/>
          <p:nvPr/>
        </p:nvSpPr>
        <p:spPr>
          <a:xfrm>
            <a:off x="3204000" y="3322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12</a:t>
            </a:r>
            <a:endParaRPr lang="en-US" sz="900" dirty="0"/>
          </a:p>
        </p:txBody>
      </p:sp>
      <p:sp>
        <p:nvSpPr>
          <p:cNvPr id="37" name="Shape 35"/>
          <p:cNvSpPr/>
          <p:nvPr/>
        </p:nvSpPr>
        <p:spPr>
          <a:xfrm>
            <a:off x="612000" y="3524400"/>
            <a:ext cx="2952000" cy="0"/>
          </a:xfrm>
          <a:prstGeom prst="line">
            <a:avLst/>
          </a:prstGeom>
          <a:noFill/>
          <a:ln w="3810">
            <a:solidFill>
              <a:srgbClr val="C9CFC9"/>
            </a:solidFill>
            <a:prstDash val="solid"/>
          </a:ln>
        </p:spPr>
      </p:sp>
      <p:sp>
        <p:nvSpPr>
          <p:cNvPr id="38" name="Shape 36"/>
          <p:cNvSpPr/>
          <p:nvPr/>
        </p:nvSpPr>
        <p:spPr>
          <a:xfrm>
            <a:off x="612000" y="3754800"/>
            <a:ext cx="115200" cy="115200"/>
          </a:xfrm>
          <a:prstGeom prst="rect">
            <a:avLst/>
          </a:prstGeom>
          <a:solidFill>
            <a:srgbClr val="D08C3C"/>
          </a:solidFill>
          <a:ln w="7620">
            <a:solidFill>
              <a:srgbClr val="D08C3C"/>
            </a:solidFill>
            <a:prstDash val="solid"/>
          </a:ln>
        </p:spPr>
      </p:sp>
      <p:sp>
        <p:nvSpPr>
          <p:cNvPr id="39" name="Text 37"/>
          <p:cNvSpPr/>
          <p:nvPr/>
        </p:nvSpPr>
        <p:spPr>
          <a:xfrm>
            <a:off x="806400" y="36756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Bourgogne</a:t>
            </a:r>
            <a:endParaRPr lang="en-US" sz="1300" dirty="0"/>
          </a:p>
        </p:txBody>
      </p:sp>
      <p:sp>
        <p:nvSpPr>
          <p:cNvPr id="40" name="Shape 38"/>
          <p:cNvSpPr/>
          <p:nvPr/>
        </p:nvSpPr>
        <p:spPr>
          <a:xfrm>
            <a:off x="612000" y="3949200"/>
            <a:ext cx="2952000" cy="0"/>
          </a:xfrm>
          <a:prstGeom prst="line">
            <a:avLst/>
          </a:prstGeom>
          <a:noFill/>
          <a:ln w="11430">
            <a:solidFill>
              <a:srgbClr val="67067C"/>
            </a:solidFill>
            <a:prstDash val="solid"/>
          </a:ln>
        </p:spPr>
      </p:sp>
      <p:sp>
        <p:nvSpPr>
          <p:cNvPr id="41" name="Text 39"/>
          <p:cNvSpPr/>
          <p:nvPr/>
        </p:nvSpPr>
        <p:spPr>
          <a:xfrm>
            <a:off x="612000" y="399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18</a:t>
            </a:r>
            <a:endParaRPr lang="en-US" sz="850" dirty="0"/>
          </a:p>
        </p:txBody>
      </p:sp>
      <p:sp>
        <p:nvSpPr>
          <p:cNvPr id="42" name="Text 40"/>
          <p:cNvSpPr/>
          <p:nvPr/>
        </p:nvSpPr>
        <p:spPr>
          <a:xfrm>
            <a:off x="918000" y="399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Sébastien Magnien</a:t>
            </a:r>
            <a:endParaRPr lang="en-US" sz="1000" dirty="0"/>
          </a:p>
        </p:txBody>
      </p:sp>
      <p:sp>
        <p:nvSpPr>
          <p:cNvPr id="43" name="Text 41"/>
          <p:cNvSpPr/>
          <p:nvPr/>
        </p:nvSpPr>
        <p:spPr>
          <a:xfrm>
            <a:off x="3204000" y="399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14</a:t>
            </a:r>
            <a:endParaRPr lang="en-US" sz="900" dirty="0"/>
          </a:p>
        </p:txBody>
      </p:sp>
      <p:sp>
        <p:nvSpPr>
          <p:cNvPr id="44" name="Shape 42"/>
          <p:cNvSpPr/>
          <p:nvPr/>
        </p:nvSpPr>
        <p:spPr>
          <a:xfrm>
            <a:off x="612000" y="4201200"/>
            <a:ext cx="2952000" cy="0"/>
          </a:xfrm>
          <a:prstGeom prst="line">
            <a:avLst/>
          </a:prstGeom>
          <a:noFill/>
          <a:ln w="3810">
            <a:solidFill>
              <a:srgbClr val="C9CFC9"/>
            </a:solidFill>
            <a:prstDash val="solid"/>
          </a:ln>
        </p:spPr>
      </p:sp>
      <p:sp>
        <p:nvSpPr>
          <p:cNvPr id="45" name="Text 43"/>
          <p:cNvSpPr/>
          <p:nvPr/>
        </p:nvSpPr>
        <p:spPr>
          <a:xfrm>
            <a:off x="612000" y="4201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26</a:t>
            </a:r>
            <a:endParaRPr lang="en-US" sz="850" dirty="0"/>
          </a:p>
        </p:txBody>
      </p:sp>
      <p:sp>
        <p:nvSpPr>
          <p:cNvPr id="46" name="Text 44"/>
          <p:cNvSpPr/>
          <p:nvPr/>
        </p:nvSpPr>
        <p:spPr>
          <a:xfrm>
            <a:off x="918000" y="4201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Maison et Domaine André Goichot</a:t>
            </a:r>
            <a:endParaRPr lang="en-US" sz="1000" dirty="0"/>
          </a:p>
        </p:txBody>
      </p:sp>
      <p:sp>
        <p:nvSpPr>
          <p:cNvPr id="47" name="Text 45"/>
          <p:cNvSpPr/>
          <p:nvPr/>
        </p:nvSpPr>
        <p:spPr>
          <a:xfrm>
            <a:off x="3204000" y="4201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15</a:t>
            </a:r>
            <a:endParaRPr lang="en-US" sz="900" dirty="0"/>
          </a:p>
        </p:txBody>
      </p:sp>
      <p:sp>
        <p:nvSpPr>
          <p:cNvPr id="48" name="Shape 46"/>
          <p:cNvSpPr/>
          <p:nvPr/>
        </p:nvSpPr>
        <p:spPr>
          <a:xfrm>
            <a:off x="612000" y="4402800"/>
            <a:ext cx="2952000" cy="0"/>
          </a:xfrm>
          <a:prstGeom prst="line">
            <a:avLst/>
          </a:prstGeom>
          <a:noFill/>
          <a:ln w="3810">
            <a:solidFill>
              <a:srgbClr val="C9CFC9"/>
            </a:solidFill>
            <a:prstDash val="solid"/>
          </a:ln>
        </p:spPr>
      </p:sp>
      <p:sp>
        <p:nvSpPr>
          <p:cNvPr id="49" name="Text 47"/>
          <p:cNvSpPr/>
          <p:nvPr/>
        </p:nvSpPr>
        <p:spPr>
          <a:xfrm>
            <a:off x="612000" y="4402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26</a:t>
            </a:r>
            <a:endParaRPr lang="en-US" sz="850" dirty="0"/>
          </a:p>
        </p:txBody>
      </p:sp>
      <p:sp>
        <p:nvSpPr>
          <p:cNvPr id="50" name="Text 48"/>
          <p:cNvSpPr/>
          <p:nvPr/>
        </p:nvSpPr>
        <p:spPr>
          <a:xfrm>
            <a:off x="918000" y="4402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du Cray</a:t>
            </a:r>
            <a:endParaRPr lang="en-US" sz="1000" dirty="0"/>
          </a:p>
        </p:txBody>
      </p:sp>
      <p:sp>
        <p:nvSpPr>
          <p:cNvPr id="51" name="Text 49"/>
          <p:cNvSpPr/>
          <p:nvPr/>
        </p:nvSpPr>
        <p:spPr>
          <a:xfrm>
            <a:off x="3204000" y="4402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16</a:t>
            </a:r>
            <a:endParaRPr lang="en-US" sz="900" dirty="0"/>
          </a:p>
        </p:txBody>
      </p:sp>
      <p:sp>
        <p:nvSpPr>
          <p:cNvPr id="52" name="Shape 50"/>
          <p:cNvSpPr/>
          <p:nvPr/>
        </p:nvSpPr>
        <p:spPr>
          <a:xfrm>
            <a:off x="612000" y="4604400"/>
            <a:ext cx="2952000" cy="0"/>
          </a:xfrm>
          <a:prstGeom prst="line">
            <a:avLst/>
          </a:prstGeom>
          <a:noFill/>
          <a:ln w="3810">
            <a:solidFill>
              <a:srgbClr val="C9CFC9"/>
            </a:solidFill>
            <a:prstDash val="solid"/>
          </a:ln>
        </p:spPr>
      </p:sp>
      <p:sp>
        <p:nvSpPr>
          <p:cNvPr id="53" name="Text 51"/>
          <p:cNvSpPr/>
          <p:nvPr/>
        </p:nvSpPr>
        <p:spPr>
          <a:xfrm>
            <a:off x="612000" y="4604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26</a:t>
            </a:r>
            <a:endParaRPr lang="en-US" sz="850" dirty="0"/>
          </a:p>
        </p:txBody>
      </p:sp>
      <p:sp>
        <p:nvSpPr>
          <p:cNvPr id="54" name="Text 52"/>
          <p:cNvSpPr/>
          <p:nvPr/>
        </p:nvSpPr>
        <p:spPr>
          <a:xfrm>
            <a:off x="918000" y="4604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Les Guignottes</a:t>
            </a:r>
            <a:endParaRPr lang="en-US" sz="1000" dirty="0"/>
          </a:p>
        </p:txBody>
      </p:sp>
      <p:sp>
        <p:nvSpPr>
          <p:cNvPr id="55" name="Text 53"/>
          <p:cNvSpPr/>
          <p:nvPr/>
        </p:nvSpPr>
        <p:spPr>
          <a:xfrm>
            <a:off x="3204000" y="4604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17</a:t>
            </a:r>
            <a:endParaRPr lang="en-US" sz="900" dirty="0"/>
          </a:p>
        </p:txBody>
      </p:sp>
      <p:sp>
        <p:nvSpPr>
          <p:cNvPr id="56" name="Shape 54"/>
          <p:cNvSpPr/>
          <p:nvPr/>
        </p:nvSpPr>
        <p:spPr>
          <a:xfrm>
            <a:off x="612000" y="4806000"/>
            <a:ext cx="2952000" cy="0"/>
          </a:xfrm>
          <a:prstGeom prst="line">
            <a:avLst/>
          </a:prstGeom>
          <a:noFill/>
          <a:ln w="3810">
            <a:solidFill>
              <a:srgbClr val="C9CFC9"/>
            </a:solidFill>
            <a:prstDash val="solid"/>
          </a:ln>
        </p:spPr>
      </p:sp>
      <p:sp>
        <p:nvSpPr>
          <p:cNvPr id="57" name="Text 55"/>
          <p:cNvSpPr/>
          <p:nvPr/>
        </p:nvSpPr>
        <p:spPr>
          <a:xfrm>
            <a:off x="612000" y="480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5</a:t>
            </a:r>
            <a:endParaRPr lang="en-US" sz="850" dirty="0"/>
          </a:p>
        </p:txBody>
      </p:sp>
      <p:sp>
        <p:nvSpPr>
          <p:cNvPr id="58" name="Text 56"/>
          <p:cNvSpPr/>
          <p:nvPr/>
        </p:nvSpPr>
        <p:spPr>
          <a:xfrm>
            <a:off x="918000" y="480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Verchères</a:t>
            </a:r>
            <a:endParaRPr lang="en-US" sz="1000" dirty="0"/>
          </a:p>
        </p:txBody>
      </p:sp>
      <p:sp>
        <p:nvSpPr>
          <p:cNvPr id="59" name="Text 57"/>
          <p:cNvSpPr/>
          <p:nvPr/>
        </p:nvSpPr>
        <p:spPr>
          <a:xfrm>
            <a:off x="3204000" y="480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18</a:t>
            </a:r>
            <a:endParaRPr lang="en-US" sz="900" dirty="0"/>
          </a:p>
        </p:txBody>
      </p:sp>
      <p:sp>
        <p:nvSpPr>
          <p:cNvPr id="60" name="Shape 58"/>
          <p:cNvSpPr/>
          <p:nvPr/>
        </p:nvSpPr>
        <p:spPr>
          <a:xfrm>
            <a:off x="612000" y="5007600"/>
            <a:ext cx="2952000" cy="0"/>
          </a:xfrm>
          <a:prstGeom prst="line">
            <a:avLst/>
          </a:prstGeom>
          <a:noFill/>
          <a:ln w="3810">
            <a:solidFill>
              <a:srgbClr val="C9CFC9"/>
            </a:solidFill>
            <a:prstDash val="solid"/>
          </a:ln>
        </p:spPr>
      </p:sp>
      <p:sp>
        <p:nvSpPr>
          <p:cNvPr id="61" name="Shape 59"/>
          <p:cNvSpPr/>
          <p:nvPr/>
        </p:nvSpPr>
        <p:spPr>
          <a:xfrm>
            <a:off x="612000" y="5238000"/>
            <a:ext cx="115200" cy="115200"/>
          </a:xfrm>
          <a:prstGeom prst="rect">
            <a:avLst/>
          </a:prstGeom>
          <a:solidFill>
            <a:srgbClr val="3C5B47"/>
          </a:solidFill>
          <a:ln w="7620">
            <a:solidFill>
              <a:srgbClr val="3C5B47"/>
            </a:solidFill>
            <a:prstDash val="solid"/>
          </a:ln>
        </p:spPr>
      </p:sp>
      <p:sp>
        <p:nvSpPr>
          <p:cNvPr id="62" name="Text 60"/>
          <p:cNvSpPr/>
          <p:nvPr/>
        </p:nvSpPr>
        <p:spPr>
          <a:xfrm>
            <a:off x="806400" y="5158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Rhône</a:t>
            </a:r>
            <a:endParaRPr lang="en-US" sz="1300" dirty="0"/>
          </a:p>
        </p:txBody>
      </p:sp>
      <p:sp>
        <p:nvSpPr>
          <p:cNvPr id="63" name="Shape 61"/>
          <p:cNvSpPr/>
          <p:nvPr/>
        </p:nvSpPr>
        <p:spPr>
          <a:xfrm>
            <a:off x="612000" y="5432400"/>
            <a:ext cx="2952000" cy="0"/>
          </a:xfrm>
          <a:prstGeom prst="line">
            <a:avLst/>
          </a:prstGeom>
          <a:noFill/>
          <a:ln w="11430">
            <a:solidFill>
              <a:srgbClr val="67067C"/>
            </a:solidFill>
            <a:prstDash val="solid"/>
          </a:ln>
        </p:spPr>
      </p:sp>
      <p:sp>
        <p:nvSpPr>
          <p:cNvPr id="64" name="Text 62"/>
          <p:cNvSpPr/>
          <p:nvPr/>
        </p:nvSpPr>
        <p:spPr>
          <a:xfrm>
            <a:off x="918000" y="5662800"/>
            <a:ext cx="2304000" cy="115200"/>
          </a:xfrm>
          <a:prstGeom prst="rect">
            <a:avLst/>
          </a:prstGeom>
          <a:noFill/>
          <a:ln/>
        </p:spPr>
        <p:txBody>
          <a:bodyPr wrap="square" lIns="0" tIns="0" rIns="0" bIns="0" rtlCol="0" anchor="ct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(Vignobles Strasser Radziwill)</a:t>
            </a:r>
            <a:endParaRPr lang="en-US" sz="720" dirty="0"/>
          </a:p>
        </p:txBody>
      </p:sp>
      <p:sp>
        <p:nvSpPr>
          <p:cNvPr id="65" name="Text 63"/>
          <p:cNvSpPr/>
          <p:nvPr/>
        </p:nvSpPr>
        <p:spPr>
          <a:xfrm>
            <a:off x="612000" y="5482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7</a:t>
            </a:r>
            <a:endParaRPr lang="en-US" sz="850" dirty="0"/>
          </a:p>
        </p:txBody>
      </p:sp>
      <p:sp>
        <p:nvSpPr>
          <p:cNvPr id="66" name="Text 64"/>
          <p:cNvSpPr/>
          <p:nvPr/>
        </p:nvSpPr>
        <p:spPr>
          <a:xfrm>
            <a:off x="918000" y="5482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Le Prieuré des Papes</a:t>
            </a:r>
            <a:endParaRPr lang="en-US" sz="1000" dirty="0"/>
          </a:p>
        </p:txBody>
      </p:sp>
      <p:sp>
        <p:nvSpPr>
          <p:cNvPr id="67" name="Text 65"/>
          <p:cNvSpPr/>
          <p:nvPr/>
        </p:nvSpPr>
        <p:spPr>
          <a:xfrm>
            <a:off x="3204000" y="5482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20</a:t>
            </a:r>
            <a:endParaRPr lang="en-US" sz="900" dirty="0"/>
          </a:p>
        </p:txBody>
      </p:sp>
      <p:sp>
        <p:nvSpPr>
          <p:cNvPr id="68" name="Shape 66"/>
          <p:cNvSpPr/>
          <p:nvPr/>
        </p:nvSpPr>
        <p:spPr>
          <a:xfrm>
            <a:off x="612000" y="5799600"/>
            <a:ext cx="2952000" cy="0"/>
          </a:xfrm>
          <a:prstGeom prst="line">
            <a:avLst/>
          </a:prstGeom>
          <a:noFill/>
          <a:ln w="3810">
            <a:solidFill>
              <a:srgbClr val="C9CFC9"/>
            </a:solidFill>
            <a:prstDash val="solid"/>
          </a:ln>
        </p:spPr>
      </p:sp>
      <p:sp>
        <p:nvSpPr>
          <p:cNvPr id="69" name="Text 67"/>
          <p:cNvSpPr/>
          <p:nvPr/>
        </p:nvSpPr>
        <p:spPr>
          <a:xfrm>
            <a:off x="918000" y="5979600"/>
            <a:ext cx="2304000" cy="115200"/>
          </a:xfrm>
          <a:prstGeom prst="rect">
            <a:avLst/>
          </a:prstGeom>
          <a:noFill/>
          <a:ln/>
        </p:spPr>
        <p:txBody>
          <a:bodyPr wrap="square" lIns="0" tIns="0" rIns="0" bIns="0" rtlCol="0" anchor="ct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(Vignobles Strasser Radziwill)</a:t>
            </a:r>
            <a:endParaRPr lang="en-US" sz="720" dirty="0"/>
          </a:p>
        </p:txBody>
      </p:sp>
      <p:sp>
        <p:nvSpPr>
          <p:cNvPr id="70" name="Text 68"/>
          <p:cNvSpPr/>
          <p:nvPr/>
        </p:nvSpPr>
        <p:spPr>
          <a:xfrm>
            <a:off x="612000" y="579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7</a:t>
            </a:r>
            <a:endParaRPr lang="en-US" sz="850" dirty="0"/>
          </a:p>
        </p:txBody>
      </p:sp>
      <p:sp>
        <p:nvSpPr>
          <p:cNvPr id="71" name="Text 69"/>
          <p:cNvSpPr/>
          <p:nvPr/>
        </p:nvSpPr>
        <p:spPr>
          <a:xfrm>
            <a:off x="918000" y="579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Coyeux</a:t>
            </a:r>
            <a:endParaRPr lang="en-US" sz="1000" dirty="0"/>
          </a:p>
        </p:txBody>
      </p:sp>
      <p:sp>
        <p:nvSpPr>
          <p:cNvPr id="72" name="Text 70"/>
          <p:cNvSpPr/>
          <p:nvPr/>
        </p:nvSpPr>
        <p:spPr>
          <a:xfrm>
            <a:off x="3204000" y="579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21</a:t>
            </a:r>
            <a:endParaRPr lang="en-US" sz="900" dirty="0"/>
          </a:p>
        </p:txBody>
      </p:sp>
      <p:sp>
        <p:nvSpPr>
          <p:cNvPr id="73" name="Shape 71"/>
          <p:cNvSpPr/>
          <p:nvPr/>
        </p:nvSpPr>
        <p:spPr>
          <a:xfrm>
            <a:off x="612000" y="6116400"/>
            <a:ext cx="2952000" cy="0"/>
          </a:xfrm>
          <a:prstGeom prst="line">
            <a:avLst/>
          </a:prstGeom>
          <a:noFill/>
          <a:ln w="3810">
            <a:solidFill>
              <a:srgbClr val="C9CFC9"/>
            </a:solidFill>
            <a:prstDash val="solid"/>
          </a:ln>
        </p:spPr>
      </p:sp>
      <p:sp>
        <p:nvSpPr>
          <p:cNvPr id="74" name="Text 72"/>
          <p:cNvSpPr/>
          <p:nvPr/>
        </p:nvSpPr>
        <p:spPr>
          <a:xfrm>
            <a:off x="918000" y="6296400"/>
            <a:ext cx="2304000" cy="115200"/>
          </a:xfrm>
          <a:prstGeom prst="rect">
            <a:avLst/>
          </a:prstGeom>
          <a:noFill/>
          <a:ln/>
        </p:spPr>
        <p:txBody>
          <a:bodyPr wrap="square" lIns="0" tIns="0" rIns="0" bIns="0" rtlCol="0" anchor="ct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(Vignobles Strasser Radziwill)</a:t>
            </a:r>
            <a:endParaRPr lang="en-US" sz="720" dirty="0"/>
          </a:p>
        </p:txBody>
      </p:sp>
      <p:sp>
        <p:nvSpPr>
          <p:cNvPr id="75" name="Text 73"/>
          <p:cNvSpPr/>
          <p:nvPr/>
        </p:nvSpPr>
        <p:spPr>
          <a:xfrm>
            <a:off x="612000" y="6116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7</a:t>
            </a:r>
            <a:endParaRPr lang="en-US" sz="850" dirty="0"/>
          </a:p>
        </p:txBody>
      </p:sp>
      <p:sp>
        <p:nvSpPr>
          <p:cNvPr id="76" name="Text 74"/>
          <p:cNvSpPr/>
          <p:nvPr/>
        </p:nvSpPr>
        <p:spPr>
          <a:xfrm>
            <a:off x="918000" y="6116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du Moulin Blanc</a:t>
            </a:r>
            <a:endParaRPr lang="en-US" sz="1000" dirty="0"/>
          </a:p>
        </p:txBody>
      </p:sp>
      <p:sp>
        <p:nvSpPr>
          <p:cNvPr id="77" name="Text 75"/>
          <p:cNvSpPr/>
          <p:nvPr/>
        </p:nvSpPr>
        <p:spPr>
          <a:xfrm>
            <a:off x="3204000" y="6116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22</a:t>
            </a:r>
            <a:endParaRPr lang="en-US" sz="900" dirty="0"/>
          </a:p>
        </p:txBody>
      </p:sp>
      <p:sp>
        <p:nvSpPr>
          <p:cNvPr id="78" name="Shape 76"/>
          <p:cNvSpPr/>
          <p:nvPr/>
        </p:nvSpPr>
        <p:spPr>
          <a:xfrm>
            <a:off x="612000" y="6433200"/>
            <a:ext cx="2952000" cy="0"/>
          </a:xfrm>
          <a:prstGeom prst="line">
            <a:avLst/>
          </a:prstGeom>
          <a:noFill/>
          <a:ln w="3810">
            <a:solidFill>
              <a:srgbClr val="C9CFC9"/>
            </a:solidFill>
            <a:prstDash val="solid"/>
          </a:ln>
        </p:spPr>
      </p:sp>
      <p:sp>
        <p:nvSpPr>
          <p:cNvPr id="79" name="Text 77"/>
          <p:cNvSpPr/>
          <p:nvPr/>
        </p:nvSpPr>
        <p:spPr>
          <a:xfrm>
            <a:off x="918000" y="6613200"/>
            <a:ext cx="2304000" cy="115200"/>
          </a:xfrm>
          <a:prstGeom prst="rect">
            <a:avLst/>
          </a:prstGeom>
          <a:noFill/>
          <a:ln/>
        </p:spPr>
        <p:txBody>
          <a:bodyPr wrap="square" lIns="0" tIns="0" rIns="0" bIns="0" rtlCol="0" anchor="ct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(Vignobles Strasser Radziwill)</a:t>
            </a:r>
            <a:endParaRPr lang="en-US" sz="720" dirty="0"/>
          </a:p>
        </p:txBody>
      </p:sp>
      <p:sp>
        <p:nvSpPr>
          <p:cNvPr id="80" name="Text 78"/>
          <p:cNvSpPr/>
          <p:nvPr/>
        </p:nvSpPr>
        <p:spPr>
          <a:xfrm>
            <a:off x="612000" y="6433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7</a:t>
            </a:r>
            <a:endParaRPr lang="en-US" sz="850" dirty="0"/>
          </a:p>
        </p:txBody>
      </p:sp>
      <p:sp>
        <p:nvSpPr>
          <p:cNvPr id="81" name="Text 79"/>
          <p:cNvSpPr/>
          <p:nvPr/>
        </p:nvSpPr>
        <p:spPr>
          <a:xfrm>
            <a:off x="918000" y="6433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la Pousterle</a:t>
            </a:r>
            <a:endParaRPr lang="en-US" sz="1000" dirty="0"/>
          </a:p>
        </p:txBody>
      </p:sp>
      <p:sp>
        <p:nvSpPr>
          <p:cNvPr id="82" name="Text 80"/>
          <p:cNvSpPr/>
          <p:nvPr/>
        </p:nvSpPr>
        <p:spPr>
          <a:xfrm>
            <a:off x="3204000" y="6433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23</a:t>
            </a:r>
            <a:endParaRPr lang="en-US" sz="900" dirty="0"/>
          </a:p>
        </p:txBody>
      </p:sp>
      <p:sp>
        <p:nvSpPr>
          <p:cNvPr id="83" name="Shape 81"/>
          <p:cNvSpPr/>
          <p:nvPr/>
        </p:nvSpPr>
        <p:spPr>
          <a:xfrm>
            <a:off x="612000" y="6750000"/>
            <a:ext cx="2952000" cy="0"/>
          </a:xfrm>
          <a:prstGeom prst="line">
            <a:avLst/>
          </a:prstGeom>
          <a:noFill/>
          <a:ln w="3810">
            <a:solidFill>
              <a:srgbClr val="C9CFC9"/>
            </a:solidFill>
            <a:prstDash val="solid"/>
          </a:ln>
        </p:spPr>
      </p:sp>
      <p:sp>
        <p:nvSpPr>
          <p:cNvPr id="84" name="Text 82"/>
          <p:cNvSpPr/>
          <p:nvPr/>
        </p:nvSpPr>
        <p:spPr>
          <a:xfrm>
            <a:off x="612000" y="6750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12</a:t>
            </a:r>
            <a:endParaRPr lang="en-US" sz="850" dirty="0"/>
          </a:p>
        </p:txBody>
      </p:sp>
      <p:sp>
        <p:nvSpPr>
          <p:cNvPr id="85" name="Text 83"/>
          <p:cNvSpPr/>
          <p:nvPr/>
        </p:nvSpPr>
        <p:spPr>
          <a:xfrm>
            <a:off x="918000" y="6750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Trichon</a:t>
            </a:r>
            <a:endParaRPr lang="en-US" sz="1000" dirty="0"/>
          </a:p>
        </p:txBody>
      </p:sp>
      <p:sp>
        <p:nvSpPr>
          <p:cNvPr id="86" name="Text 84"/>
          <p:cNvSpPr/>
          <p:nvPr/>
        </p:nvSpPr>
        <p:spPr>
          <a:xfrm>
            <a:off x="3204000" y="6750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24</a:t>
            </a:r>
            <a:endParaRPr lang="en-US" sz="900" dirty="0"/>
          </a:p>
        </p:txBody>
      </p:sp>
      <p:sp>
        <p:nvSpPr>
          <p:cNvPr id="87" name="Shape 85"/>
          <p:cNvSpPr/>
          <p:nvPr/>
        </p:nvSpPr>
        <p:spPr>
          <a:xfrm>
            <a:off x="612000" y="6951600"/>
            <a:ext cx="2952000" cy="0"/>
          </a:xfrm>
          <a:prstGeom prst="line">
            <a:avLst/>
          </a:prstGeom>
          <a:noFill/>
          <a:ln w="3810">
            <a:solidFill>
              <a:srgbClr val="C9CFC9"/>
            </a:solidFill>
            <a:prstDash val="solid"/>
          </a:ln>
        </p:spPr>
      </p:sp>
      <p:sp>
        <p:nvSpPr>
          <p:cNvPr id="88" name="Shape 86"/>
          <p:cNvSpPr/>
          <p:nvPr/>
        </p:nvSpPr>
        <p:spPr>
          <a:xfrm>
            <a:off x="3780000" y="1393200"/>
            <a:ext cx="115200" cy="115200"/>
          </a:xfrm>
          <a:prstGeom prst="rect">
            <a:avLst/>
          </a:prstGeom>
          <a:solidFill>
            <a:srgbClr val="D08C3C"/>
          </a:solidFill>
          <a:ln w="7620">
            <a:solidFill>
              <a:srgbClr val="D08C3C"/>
            </a:solidFill>
            <a:prstDash val="solid"/>
          </a:ln>
        </p:spPr>
      </p:sp>
      <p:sp>
        <p:nvSpPr>
          <p:cNvPr id="89" name="Text 87"/>
          <p:cNvSpPr/>
          <p:nvPr/>
        </p:nvSpPr>
        <p:spPr>
          <a:xfrm>
            <a:off x="3974400" y="1314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Sud-Ouest</a:t>
            </a:r>
            <a:endParaRPr lang="en-US" sz="1300" dirty="0"/>
          </a:p>
        </p:txBody>
      </p:sp>
      <p:sp>
        <p:nvSpPr>
          <p:cNvPr id="90" name="Shape 88"/>
          <p:cNvSpPr/>
          <p:nvPr/>
        </p:nvSpPr>
        <p:spPr>
          <a:xfrm>
            <a:off x="3780000" y="1587600"/>
            <a:ext cx="2952000" cy="0"/>
          </a:xfrm>
          <a:prstGeom prst="line">
            <a:avLst/>
          </a:prstGeom>
          <a:noFill/>
          <a:ln w="11430">
            <a:solidFill>
              <a:srgbClr val="67067C"/>
            </a:solidFill>
            <a:prstDash val="solid"/>
          </a:ln>
        </p:spPr>
      </p:sp>
      <p:sp>
        <p:nvSpPr>
          <p:cNvPr id="91" name="Text 89"/>
          <p:cNvSpPr/>
          <p:nvPr/>
        </p:nvSpPr>
        <p:spPr>
          <a:xfrm>
            <a:off x="3780000" y="163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20</a:t>
            </a:r>
            <a:endParaRPr lang="en-US" sz="850" dirty="0"/>
          </a:p>
        </p:txBody>
      </p:sp>
      <p:sp>
        <p:nvSpPr>
          <p:cNvPr id="92" name="Text 90"/>
          <p:cNvSpPr/>
          <p:nvPr/>
        </p:nvSpPr>
        <p:spPr>
          <a:xfrm>
            <a:off x="4086000" y="163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Stratéus</a:t>
            </a:r>
            <a:endParaRPr lang="en-US" sz="1000" dirty="0"/>
          </a:p>
        </p:txBody>
      </p:sp>
      <p:sp>
        <p:nvSpPr>
          <p:cNvPr id="93" name="Text 91"/>
          <p:cNvSpPr/>
          <p:nvPr/>
        </p:nvSpPr>
        <p:spPr>
          <a:xfrm>
            <a:off x="6372000" y="163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26</a:t>
            </a:r>
            <a:endParaRPr lang="en-US" sz="900" dirty="0"/>
          </a:p>
        </p:txBody>
      </p:sp>
      <p:sp>
        <p:nvSpPr>
          <p:cNvPr id="94" name="Shape 92"/>
          <p:cNvSpPr/>
          <p:nvPr/>
        </p:nvSpPr>
        <p:spPr>
          <a:xfrm>
            <a:off x="3780000" y="1839600"/>
            <a:ext cx="2952000" cy="0"/>
          </a:xfrm>
          <a:prstGeom prst="line">
            <a:avLst/>
          </a:prstGeom>
          <a:noFill/>
          <a:ln w="3810">
            <a:solidFill>
              <a:srgbClr val="C9CFC9"/>
            </a:solidFill>
            <a:prstDash val="solid"/>
          </a:ln>
        </p:spPr>
      </p:sp>
      <p:sp>
        <p:nvSpPr>
          <p:cNvPr id="95" name="Text 93"/>
          <p:cNvSpPr/>
          <p:nvPr/>
        </p:nvSpPr>
        <p:spPr>
          <a:xfrm>
            <a:off x="3780000" y="183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6</a:t>
            </a:r>
            <a:endParaRPr lang="en-US" sz="850" dirty="0"/>
          </a:p>
        </p:txBody>
      </p:sp>
      <p:sp>
        <p:nvSpPr>
          <p:cNvPr id="96" name="Text 94"/>
          <p:cNvSpPr/>
          <p:nvPr/>
        </p:nvSpPr>
        <p:spPr>
          <a:xfrm>
            <a:off x="4086000" y="183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Haut Marin</a:t>
            </a:r>
            <a:endParaRPr lang="en-US" sz="1000" dirty="0"/>
          </a:p>
        </p:txBody>
      </p:sp>
      <p:sp>
        <p:nvSpPr>
          <p:cNvPr id="97" name="Text 95"/>
          <p:cNvSpPr/>
          <p:nvPr/>
        </p:nvSpPr>
        <p:spPr>
          <a:xfrm>
            <a:off x="6372000" y="183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27</a:t>
            </a:r>
            <a:endParaRPr lang="en-US" sz="900" dirty="0"/>
          </a:p>
        </p:txBody>
      </p:sp>
      <p:sp>
        <p:nvSpPr>
          <p:cNvPr id="98" name="Shape 96"/>
          <p:cNvSpPr/>
          <p:nvPr/>
        </p:nvSpPr>
        <p:spPr>
          <a:xfrm>
            <a:off x="3780000" y="2041200"/>
            <a:ext cx="2952000" cy="0"/>
          </a:xfrm>
          <a:prstGeom prst="line">
            <a:avLst/>
          </a:prstGeom>
          <a:noFill/>
          <a:ln w="3810">
            <a:solidFill>
              <a:srgbClr val="C9CFC9"/>
            </a:solidFill>
            <a:prstDash val="solid"/>
          </a:ln>
        </p:spPr>
      </p:sp>
      <p:sp>
        <p:nvSpPr>
          <p:cNvPr id="99" name="Shape 97"/>
          <p:cNvSpPr/>
          <p:nvPr/>
        </p:nvSpPr>
        <p:spPr>
          <a:xfrm>
            <a:off x="3780000" y="2271600"/>
            <a:ext cx="115200" cy="115200"/>
          </a:xfrm>
          <a:prstGeom prst="rect">
            <a:avLst/>
          </a:prstGeom>
          <a:solidFill>
            <a:srgbClr val="A8515F"/>
          </a:solidFill>
          <a:ln w="7620">
            <a:solidFill>
              <a:srgbClr val="A8515F"/>
            </a:solidFill>
            <a:prstDash val="solid"/>
          </a:ln>
        </p:spPr>
      </p:sp>
      <p:sp>
        <p:nvSpPr>
          <p:cNvPr id="100" name="Text 98"/>
          <p:cNvSpPr/>
          <p:nvPr/>
        </p:nvSpPr>
        <p:spPr>
          <a:xfrm>
            <a:off x="3974400" y="21924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Bordeaux</a:t>
            </a:r>
            <a:endParaRPr lang="en-US" sz="1300" dirty="0"/>
          </a:p>
        </p:txBody>
      </p:sp>
      <p:sp>
        <p:nvSpPr>
          <p:cNvPr id="101" name="Shape 99"/>
          <p:cNvSpPr/>
          <p:nvPr/>
        </p:nvSpPr>
        <p:spPr>
          <a:xfrm>
            <a:off x="3780000" y="2466000"/>
            <a:ext cx="2952000" cy="0"/>
          </a:xfrm>
          <a:prstGeom prst="line">
            <a:avLst/>
          </a:prstGeom>
          <a:noFill/>
          <a:ln w="11430">
            <a:solidFill>
              <a:srgbClr val="67067C"/>
            </a:solidFill>
            <a:prstDash val="solid"/>
          </a:ln>
        </p:spPr>
      </p:sp>
      <p:sp>
        <p:nvSpPr>
          <p:cNvPr id="102" name="Text 100"/>
          <p:cNvSpPr/>
          <p:nvPr/>
        </p:nvSpPr>
        <p:spPr>
          <a:xfrm>
            <a:off x="3780000" y="2516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8</a:t>
            </a:r>
            <a:endParaRPr lang="en-US" sz="850" dirty="0"/>
          </a:p>
        </p:txBody>
      </p:sp>
      <p:sp>
        <p:nvSpPr>
          <p:cNvPr id="103" name="Text 101"/>
          <p:cNvSpPr/>
          <p:nvPr/>
        </p:nvSpPr>
        <p:spPr>
          <a:xfrm>
            <a:off x="4086000" y="2516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Falfas</a:t>
            </a:r>
            <a:endParaRPr lang="en-US" sz="1000" dirty="0"/>
          </a:p>
        </p:txBody>
      </p:sp>
      <p:sp>
        <p:nvSpPr>
          <p:cNvPr id="104" name="Text 102"/>
          <p:cNvSpPr/>
          <p:nvPr/>
        </p:nvSpPr>
        <p:spPr>
          <a:xfrm>
            <a:off x="6372000" y="2516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29</a:t>
            </a:r>
            <a:endParaRPr lang="en-US" sz="900" dirty="0"/>
          </a:p>
        </p:txBody>
      </p:sp>
      <p:sp>
        <p:nvSpPr>
          <p:cNvPr id="105" name="Shape 103"/>
          <p:cNvSpPr/>
          <p:nvPr/>
        </p:nvSpPr>
        <p:spPr>
          <a:xfrm>
            <a:off x="3780000" y="2718000"/>
            <a:ext cx="2952000" cy="0"/>
          </a:xfrm>
          <a:prstGeom prst="line">
            <a:avLst/>
          </a:prstGeom>
          <a:noFill/>
          <a:ln w="3810">
            <a:solidFill>
              <a:srgbClr val="C9CFC9"/>
            </a:solidFill>
            <a:prstDash val="solid"/>
          </a:ln>
        </p:spPr>
      </p:sp>
      <p:sp>
        <p:nvSpPr>
          <p:cNvPr id="106" name="Text 104"/>
          <p:cNvSpPr/>
          <p:nvPr/>
        </p:nvSpPr>
        <p:spPr>
          <a:xfrm>
            <a:off x="3780000" y="271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16</a:t>
            </a:r>
            <a:endParaRPr lang="en-US" sz="850" dirty="0"/>
          </a:p>
        </p:txBody>
      </p:sp>
      <p:sp>
        <p:nvSpPr>
          <p:cNvPr id="107" name="Text 105"/>
          <p:cNvSpPr/>
          <p:nvPr/>
        </p:nvSpPr>
        <p:spPr>
          <a:xfrm>
            <a:off x="4086000" y="271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Pré la Lande</a:t>
            </a:r>
            <a:endParaRPr lang="en-US" sz="1000" dirty="0"/>
          </a:p>
        </p:txBody>
      </p:sp>
      <p:sp>
        <p:nvSpPr>
          <p:cNvPr id="108" name="Text 106"/>
          <p:cNvSpPr/>
          <p:nvPr/>
        </p:nvSpPr>
        <p:spPr>
          <a:xfrm>
            <a:off x="6372000" y="271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30</a:t>
            </a:r>
            <a:endParaRPr lang="en-US" sz="900" dirty="0"/>
          </a:p>
        </p:txBody>
      </p:sp>
      <p:sp>
        <p:nvSpPr>
          <p:cNvPr id="109" name="Shape 107"/>
          <p:cNvSpPr/>
          <p:nvPr/>
        </p:nvSpPr>
        <p:spPr>
          <a:xfrm>
            <a:off x="3780000" y="2919600"/>
            <a:ext cx="2952000" cy="0"/>
          </a:xfrm>
          <a:prstGeom prst="line">
            <a:avLst/>
          </a:prstGeom>
          <a:noFill/>
          <a:ln w="3810">
            <a:solidFill>
              <a:srgbClr val="C9CFC9"/>
            </a:solidFill>
            <a:prstDash val="solid"/>
          </a:ln>
        </p:spPr>
      </p:sp>
      <p:sp>
        <p:nvSpPr>
          <p:cNvPr id="110" name="Text 108"/>
          <p:cNvSpPr/>
          <p:nvPr/>
        </p:nvSpPr>
        <p:spPr>
          <a:xfrm>
            <a:off x="3780000" y="291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a:t>
            </a:r>
            <a:endParaRPr lang="en-US" sz="850" dirty="0"/>
          </a:p>
        </p:txBody>
      </p:sp>
      <p:sp>
        <p:nvSpPr>
          <p:cNvPr id="111" name="Text 109"/>
          <p:cNvSpPr/>
          <p:nvPr/>
        </p:nvSpPr>
        <p:spPr>
          <a:xfrm>
            <a:off x="4086000" y="291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Balac</a:t>
            </a:r>
            <a:endParaRPr lang="en-US" sz="1000" dirty="0"/>
          </a:p>
        </p:txBody>
      </p:sp>
      <p:sp>
        <p:nvSpPr>
          <p:cNvPr id="112" name="Text 110"/>
          <p:cNvSpPr/>
          <p:nvPr/>
        </p:nvSpPr>
        <p:spPr>
          <a:xfrm>
            <a:off x="6372000" y="291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31</a:t>
            </a:r>
            <a:endParaRPr lang="en-US" sz="900" dirty="0"/>
          </a:p>
        </p:txBody>
      </p:sp>
      <p:sp>
        <p:nvSpPr>
          <p:cNvPr id="113" name="Shape 111"/>
          <p:cNvSpPr/>
          <p:nvPr/>
        </p:nvSpPr>
        <p:spPr>
          <a:xfrm>
            <a:off x="3780000" y="3121200"/>
            <a:ext cx="2952000" cy="0"/>
          </a:xfrm>
          <a:prstGeom prst="line">
            <a:avLst/>
          </a:prstGeom>
          <a:noFill/>
          <a:ln w="3810">
            <a:solidFill>
              <a:srgbClr val="C9CFC9"/>
            </a:solidFill>
            <a:prstDash val="solid"/>
          </a:ln>
        </p:spPr>
      </p:sp>
      <p:sp>
        <p:nvSpPr>
          <p:cNvPr id="114" name="Text 112"/>
          <p:cNvSpPr/>
          <p:nvPr/>
        </p:nvSpPr>
        <p:spPr>
          <a:xfrm>
            <a:off x="3780000" y="3121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24</a:t>
            </a:r>
            <a:endParaRPr lang="en-US" sz="850" dirty="0"/>
          </a:p>
        </p:txBody>
      </p:sp>
      <p:sp>
        <p:nvSpPr>
          <p:cNvPr id="115" name="Text 113"/>
          <p:cNvSpPr/>
          <p:nvPr/>
        </p:nvSpPr>
        <p:spPr>
          <a:xfrm>
            <a:off x="4086000" y="3121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l’Escarderie</a:t>
            </a:r>
            <a:endParaRPr lang="en-US" sz="1000" dirty="0"/>
          </a:p>
        </p:txBody>
      </p:sp>
      <p:sp>
        <p:nvSpPr>
          <p:cNvPr id="116" name="Text 114"/>
          <p:cNvSpPr/>
          <p:nvPr/>
        </p:nvSpPr>
        <p:spPr>
          <a:xfrm>
            <a:off x="6372000" y="3121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32</a:t>
            </a:r>
            <a:endParaRPr lang="en-US" sz="900" dirty="0"/>
          </a:p>
        </p:txBody>
      </p:sp>
      <p:sp>
        <p:nvSpPr>
          <p:cNvPr id="117" name="Shape 115"/>
          <p:cNvSpPr/>
          <p:nvPr/>
        </p:nvSpPr>
        <p:spPr>
          <a:xfrm>
            <a:off x="3780000" y="3322800"/>
            <a:ext cx="2952000" cy="0"/>
          </a:xfrm>
          <a:prstGeom prst="line">
            <a:avLst/>
          </a:prstGeom>
          <a:noFill/>
          <a:ln w="3810">
            <a:solidFill>
              <a:srgbClr val="C9CFC9"/>
            </a:solidFill>
            <a:prstDash val="solid"/>
          </a:ln>
        </p:spPr>
      </p:sp>
      <p:sp>
        <p:nvSpPr>
          <p:cNvPr id="118" name="Shape 116"/>
          <p:cNvSpPr/>
          <p:nvPr/>
        </p:nvSpPr>
        <p:spPr>
          <a:xfrm>
            <a:off x="3780000" y="3553200"/>
            <a:ext cx="115200" cy="115200"/>
          </a:xfrm>
          <a:prstGeom prst="rect">
            <a:avLst/>
          </a:prstGeom>
          <a:solidFill>
            <a:srgbClr val="46606E"/>
          </a:solidFill>
          <a:ln w="7620">
            <a:solidFill>
              <a:srgbClr val="46606E"/>
            </a:solidFill>
            <a:prstDash val="solid"/>
          </a:ln>
        </p:spPr>
      </p:sp>
      <p:sp>
        <p:nvSpPr>
          <p:cNvPr id="119" name="Text 117"/>
          <p:cNvSpPr/>
          <p:nvPr/>
        </p:nvSpPr>
        <p:spPr>
          <a:xfrm>
            <a:off x="3974400" y="3474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Provence</a:t>
            </a:r>
            <a:endParaRPr lang="en-US" sz="1300" dirty="0"/>
          </a:p>
        </p:txBody>
      </p:sp>
      <p:sp>
        <p:nvSpPr>
          <p:cNvPr id="120" name="Shape 118"/>
          <p:cNvSpPr/>
          <p:nvPr/>
        </p:nvSpPr>
        <p:spPr>
          <a:xfrm>
            <a:off x="3780000" y="3747600"/>
            <a:ext cx="2952000" cy="0"/>
          </a:xfrm>
          <a:prstGeom prst="line">
            <a:avLst/>
          </a:prstGeom>
          <a:noFill/>
          <a:ln w="11430">
            <a:solidFill>
              <a:srgbClr val="67067C"/>
            </a:solidFill>
            <a:prstDash val="solid"/>
          </a:ln>
        </p:spPr>
      </p:sp>
      <p:sp>
        <p:nvSpPr>
          <p:cNvPr id="121" name="Text 119"/>
          <p:cNvSpPr/>
          <p:nvPr/>
        </p:nvSpPr>
        <p:spPr>
          <a:xfrm>
            <a:off x="3780000" y="379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19</a:t>
            </a:r>
            <a:endParaRPr lang="en-US" sz="850" dirty="0"/>
          </a:p>
        </p:txBody>
      </p:sp>
      <p:sp>
        <p:nvSpPr>
          <p:cNvPr id="122" name="Text 120"/>
          <p:cNvSpPr/>
          <p:nvPr/>
        </p:nvSpPr>
        <p:spPr>
          <a:xfrm>
            <a:off x="4086000" y="379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Bastide de Blacailloux</a:t>
            </a:r>
            <a:endParaRPr lang="en-US" sz="1000" dirty="0"/>
          </a:p>
        </p:txBody>
      </p:sp>
      <p:sp>
        <p:nvSpPr>
          <p:cNvPr id="123" name="Text 121"/>
          <p:cNvSpPr/>
          <p:nvPr/>
        </p:nvSpPr>
        <p:spPr>
          <a:xfrm>
            <a:off x="6372000" y="379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34</a:t>
            </a:r>
            <a:endParaRPr lang="en-US" sz="900" dirty="0"/>
          </a:p>
        </p:txBody>
      </p:sp>
      <p:sp>
        <p:nvSpPr>
          <p:cNvPr id="124" name="Shape 122"/>
          <p:cNvSpPr/>
          <p:nvPr/>
        </p:nvSpPr>
        <p:spPr>
          <a:xfrm>
            <a:off x="3780000" y="3999600"/>
            <a:ext cx="2952000" cy="0"/>
          </a:xfrm>
          <a:prstGeom prst="line">
            <a:avLst/>
          </a:prstGeom>
          <a:noFill/>
          <a:ln w="3810">
            <a:solidFill>
              <a:srgbClr val="C9CFC9"/>
            </a:solidFill>
            <a:prstDash val="solid"/>
          </a:ln>
        </p:spPr>
      </p:sp>
      <p:sp>
        <p:nvSpPr>
          <p:cNvPr id="125" name="Shape 123"/>
          <p:cNvSpPr/>
          <p:nvPr/>
        </p:nvSpPr>
        <p:spPr>
          <a:xfrm>
            <a:off x="3780000" y="4230000"/>
            <a:ext cx="115200" cy="115200"/>
          </a:xfrm>
          <a:prstGeom prst="rect">
            <a:avLst/>
          </a:prstGeom>
          <a:solidFill>
            <a:srgbClr val="3C5B47"/>
          </a:solidFill>
          <a:ln w="7620">
            <a:solidFill>
              <a:srgbClr val="3C5B47"/>
            </a:solidFill>
            <a:prstDash val="solid"/>
          </a:ln>
        </p:spPr>
      </p:sp>
      <p:sp>
        <p:nvSpPr>
          <p:cNvPr id="126" name="Text 124"/>
          <p:cNvSpPr/>
          <p:nvPr/>
        </p:nvSpPr>
        <p:spPr>
          <a:xfrm>
            <a:off x="3974400" y="4150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Languedoc</a:t>
            </a:r>
            <a:endParaRPr lang="en-US" sz="1300" dirty="0"/>
          </a:p>
        </p:txBody>
      </p:sp>
      <p:sp>
        <p:nvSpPr>
          <p:cNvPr id="127" name="Shape 125"/>
          <p:cNvSpPr/>
          <p:nvPr/>
        </p:nvSpPr>
        <p:spPr>
          <a:xfrm>
            <a:off x="3780000" y="4424400"/>
            <a:ext cx="2952000" cy="0"/>
          </a:xfrm>
          <a:prstGeom prst="line">
            <a:avLst/>
          </a:prstGeom>
          <a:noFill/>
          <a:ln w="11430">
            <a:solidFill>
              <a:srgbClr val="67067C"/>
            </a:solidFill>
            <a:prstDash val="solid"/>
          </a:ln>
        </p:spPr>
      </p:sp>
      <p:sp>
        <p:nvSpPr>
          <p:cNvPr id="128" name="Text 126"/>
          <p:cNvSpPr/>
          <p:nvPr/>
        </p:nvSpPr>
        <p:spPr>
          <a:xfrm>
            <a:off x="3780000" y="4474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21</a:t>
            </a:r>
            <a:endParaRPr lang="en-US" sz="850" dirty="0"/>
          </a:p>
        </p:txBody>
      </p:sp>
      <p:sp>
        <p:nvSpPr>
          <p:cNvPr id="129" name="Text 127"/>
          <p:cNvSpPr/>
          <p:nvPr/>
        </p:nvSpPr>
        <p:spPr>
          <a:xfrm>
            <a:off x="4086000" y="4474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Famille d’Exea</a:t>
            </a:r>
            <a:endParaRPr lang="en-US" sz="1000" dirty="0"/>
          </a:p>
        </p:txBody>
      </p:sp>
      <p:sp>
        <p:nvSpPr>
          <p:cNvPr id="130" name="Text 128"/>
          <p:cNvSpPr/>
          <p:nvPr/>
        </p:nvSpPr>
        <p:spPr>
          <a:xfrm>
            <a:off x="6372000" y="4474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36</a:t>
            </a:r>
            <a:endParaRPr lang="en-US" sz="900" dirty="0"/>
          </a:p>
        </p:txBody>
      </p:sp>
      <p:sp>
        <p:nvSpPr>
          <p:cNvPr id="131" name="Shape 129"/>
          <p:cNvSpPr/>
          <p:nvPr/>
        </p:nvSpPr>
        <p:spPr>
          <a:xfrm>
            <a:off x="3780000" y="4676400"/>
            <a:ext cx="2952000" cy="0"/>
          </a:xfrm>
          <a:prstGeom prst="line">
            <a:avLst/>
          </a:prstGeom>
          <a:noFill/>
          <a:ln w="3810">
            <a:solidFill>
              <a:srgbClr val="C9CFC9"/>
            </a:solidFill>
            <a:prstDash val="solid"/>
          </a:ln>
        </p:spPr>
      </p:sp>
      <p:sp>
        <p:nvSpPr>
          <p:cNvPr id="132" name="Text 130"/>
          <p:cNvSpPr/>
          <p:nvPr/>
        </p:nvSpPr>
        <p:spPr>
          <a:xfrm>
            <a:off x="3780000" y="4676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21</a:t>
            </a:r>
            <a:endParaRPr lang="en-US" sz="850" dirty="0"/>
          </a:p>
        </p:txBody>
      </p:sp>
      <p:sp>
        <p:nvSpPr>
          <p:cNvPr id="133" name="Text 131"/>
          <p:cNvSpPr/>
          <p:nvPr/>
        </p:nvSpPr>
        <p:spPr>
          <a:xfrm>
            <a:off x="4086000" y="4676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Famille d’Exea — Jus de Cépages</a:t>
            </a:r>
            <a:endParaRPr lang="en-US" sz="1000" dirty="0"/>
          </a:p>
        </p:txBody>
      </p:sp>
      <p:sp>
        <p:nvSpPr>
          <p:cNvPr id="134" name="Text 132"/>
          <p:cNvSpPr/>
          <p:nvPr/>
        </p:nvSpPr>
        <p:spPr>
          <a:xfrm>
            <a:off x="6372000" y="4676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37</a:t>
            </a:r>
            <a:endParaRPr lang="en-US" sz="900" dirty="0"/>
          </a:p>
        </p:txBody>
      </p:sp>
      <p:sp>
        <p:nvSpPr>
          <p:cNvPr id="135" name="Shape 133"/>
          <p:cNvSpPr/>
          <p:nvPr/>
        </p:nvSpPr>
        <p:spPr>
          <a:xfrm>
            <a:off x="3780000" y="4878000"/>
            <a:ext cx="2952000" cy="0"/>
          </a:xfrm>
          <a:prstGeom prst="line">
            <a:avLst/>
          </a:prstGeom>
          <a:noFill/>
          <a:ln w="3810">
            <a:solidFill>
              <a:srgbClr val="C9CFC9"/>
            </a:solidFill>
            <a:prstDash val="solid"/>
          </a:ln>
        </p:spPr>
      </p:sp>
      <p:sp>
        <p:nvSpPr>
          <p:cNvPr id="136" name="Text 134"/>
          <p:cNvSpPr/>
          <p:nvPr/>
        </p:nvSpPr>
        <p:spPr>
          <a:xfrm>
            <a:off x="3780000" y="487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13</a:t>
            </a:r>
            <a:endParaRPr lang="en-US" sz="850" dirty="0"/>
          </a:p>
        </p:txBody>
      </p:sp>
      <p:sp>
        <p:nvSpPr>
          <p:cNvPr id="137" name="Text 135"/>
          <p:cNvSpPr/>
          <p:nvPr/>
        </p:nvSpPr>
        <p:spPr>
          <a:xfrm>
            <a:off x="4086000" y="487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de Gragnos</a:t>
            </a:r>
            <a:endParaRPr lang="en-US" sz="1000" dirty="0"/>
          </a:p>
        </p:txBody>
      </p:sp>
      <p:sp>
        <p:nvSpPr>
          <p:cNvPr id="138" name="Text 136"/>
          <p:cNvSpPr/>
          <p:nvPr/>
        </p:nvSpPr>
        <p:spPr>
          <a:xfrm>
            <a:off x="6372000" y="487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38</a:t>
            </a:r>
            <a:endParaRPr lang="en-US" sz="900" dirty="0"/>
          </a:p>
        </p:txBody>
      </p:sp>
      <p:sp>
        <p:nvSpPr>
          <p:cNvPr id="139" name="Shape 137"/>
          <p:cNvSpPr/>
          <p:nvPr/>
        </p:nvSpPr>
        <p:spPr>
          <a:xfrm>
            <a:off x="3780000" y="5079600"/>
            <a:ext cx="2952000" cy="0"/>
          </a:xfrm>
          <a:prstGeom prst="line">
            <a:avLst/>
          </a:prstGeom>
          <a:noFill/>
          <a:ln w="3810">
            <a:solidFill>
              <a:srgbClr val="C9CFC9"/>
            </a:solidFill>
            <a:prstDash val="solid"/>
          </a:ln>
        </p:spPr>
      </p:sp>
      <p:sp>
        <p:nvSpPr>
          <p:cNvPr id="140" name="Text 138"/>
          <p:cNvSpPr/>
          <p:nvPr/>
        </p:nvSpPr>
        <p:spPr>
          <a:xfrm>
            <a:off x="3780000" y="507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a:t>
            </a:r>
            <a:endParaRPr lang="en-US" sz="850" dirty="0"/>
          </a:p>
        </p:txBody>
      </p:sp>
      <p:sp>
        <p:nvSpPr>
          <p:cNvPr id="141" name="Text 139"/>
          <p:cNvSpPr/>
          <p:nvPr/>
        </p:nvSpPr>
        <p:spPr>
          <a:xfrm>
            <a:off x="4086000" y="507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Prieuré Sainte-Marie d’Albas</a:t>
            </a:r>
            <a:endParaRPr lang="en-US" sz="1000" dirty="0"/>
          </a:p>
        </p:txBody>
      </p:sp>
      <p:sp>
        <p:nvSpPr>
          <p:cNvPr id="142" name="Text 140"/>
          <p:cNvSpPr/>
          <p:nvPr/>
        </p:nvSpPr>
        <p:spPr>
          <a:xfrm>
            <a:off x="6372000" y="507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39</a:t>
            </a:r>
            <a:endParaRPr lang="en-US" sz="900" dirty="0"/>
          </a:p>
        </p:txBody>
      </p:sp>
      <p:sp>
        <p:nvSpPr>
          <p:cNvPr id="143" name="Shape 141"/>
          <p:cNvSpPr/>
          <p:nvPr/>
        </p:nvSpPr>
        <p:spPr>
          <a:xfrm>
            <a:off x="3780000" y="5281200"/>
            <a:ext cx="2952000" cy="0"/>
          </a:xfrm>
          <a:prstGeom prst="line">
            <a:avLst/>
          </a:prstGeom>
          <a:noFill/>
          <a:ln w="3810">
            <a:solidFill>
              <a:srgbClr val="C9CFC9"/>
            </a:solidFill>
            <a:prstDash val="solid"/>
          </a:ln>
        </p:spPr>
      </p:sp>
      <p:sp>
        <p:nvSpPr>
          <p:cNvPr id="144" name="Shape 142"/>
          <p:cNvSpPr/>
          <p:nvPr/>
        </p:nvSpPr>
        <p:spPr>
          <a:xfrm>
            <a:off x="3780000" y="5511600"/>
            <a:ext cx="115200" cy="115200"/>
          </a:xfrm>
          <a:prstGeom prst="rect">
            <a:avLst/>
          </a:prstGeom>
          <a:solidFill>
            <a:srgbClr val="FBF8F1"/>
          </a:solidFill>
          <a:ln w="7620">
            <a:solidFill>
              <a:srgbClr val="46606E"/>
            </a:solidFill>
            <a:prstDash val="solid"/>
          </a:ln>
        </p:spPr>
      </p:sp>
      <p:sp>
        <p:nvSpPr>
          <p:cNvPr id="145" name="Text 143"/>
          <p:cNvSpPr/>
          <p:nvPr/>
        </p:nvSpPr>
        <p:spPr>
          <a:xfrm>
            <a:off x="3974400" y="54324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Champagne</a:t>
            </a:r>
            <a:endParaRPr lang="en-US" sz="1300" dirty="0"/>
          </a:p>
        </p:txBody>
      </p:sp>
      <p:sp>
        <p:nvSpPr>
          <p:cNvPr id="146" name="Shape 144"/>
          <p:cNvSpPr/>
          <p:nvPr/>
        </p:nvSpPr>
        <p:spPr>
          <a:xfrm>
            <a:off x="3780000" y="5706000"/>
            <a:ext cx="2952000" cy="0"/>
          </a:xfrm>
          <a:prstGeom prst="line">
            <a:avLst/>
          </a:prstGeom>
          <a:noFill/>
          <a:ln w="11430">
            <a:solidFill>
              <a:srgbClr val="67067C"/>
            </a:solidFill>
            <a:prstDash val="solid"/>
          </a:ln>
        </p:spPr>
      </p:sp>
      <p:sp>
        <p:nvSpPr>
          <p:cNvPr id="147" name="Text 145"/>
          <p:cNvSpPr/>
          <p:nvPr/>
        </p:nvSpPr>
        <p:spPr>
          <a:xfrm>
            <a:off x="3780000" y="5756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11</a:t>
            </a:r>
            <a:endParaRPr lang="en-US" sz="850" dirty="0"/>
          </a:p>
        </p:txBody>
      </p:sp>
      <p:sp>
        <p:nvSpPr>
          <p:cNvPr id="148" name="Text 146"/>
          <p:cNvSpPr/>
          <p:nvPr/>
        </p:nvSpPr>
        <p:spPr>
          <a:xfrm>
            <a:off x="4086000" y="5756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Dekeyne</a:t>
            </a:r>
            <a:endParaRPr lang="en-US" sz="1000" dirty="0"/>
          </a:p>
        </p:txBody>
      </p:sp>
      <p:sp>
        <p:nvSpPr>
          <p:cNvPr id="149" name="Text 147"/>
          <p:cNvSpPr/>
          <p:nvPr/>
        </p:nvSpPr>
        <p:spPr>
          <a:xfrm>
            <a:off x="6372000" y="5756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41</a:t>
            </a:r>
            <a:endParaRPr lang="en-US" sz="900" dirty="0"/>
          </a:p>
        </p:txBody>
      </p:sp>
      <p:sp>
        <p:nvSpPr>
          <p:cNvPr id="150" name="Shape 148"/>
          <p:cNvSpPr/>
          <p:nvPr/>
        </p:nvSpPr>
        <p:spPr>
          <a:xfrm>
            <a:off x="3780000" y="5958000"/>
            <a:ext cx="2952000" cy="0"/>
          </a:xfrm>
          <a:prstGeom prst="line">
            <a:avLst/>
          </a:prstGeom>
          <a:noFill/>
          <a:ln w="3810">
            <a:solidFill>
              <a:srgbClr val="C9CFC9"/>
            </a:solidFill>
            <a:prstDash val="solid"/>
          </a:ln>
        </p:spPr>
      </p:sp>
      <p:sp>
        <p:nvSpPr>
          <p:cNvPr id="151" name="Text 149"/>
          <p:cNvSpPr/>
          <p:nvPr/>
        </p:nvSpPr>
        <p:spPr>
          <a:xfrm>
            <a:off x="3780000" y="5958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a:t>
            </a:r>
            <a:endParaRPr lang="en-US" sz="850" dirty="0"/>
          </a:p>
        </p:txBody>
      </p:sp>
      <p:sp>
        <p:nvSpPr>
          <p:cNvPr id="152" name="Text 150"/>
          <p:cNvSpPr/>
          <p:nvPr/>
        </p:nvSpPr>
        <p:spPr>
          <a:xfrm>
            <a:off x="4086000" y="5958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Denis Frézier</a:t>
            </a:r>
            <a:endParaRPr lang="en-US" sz="1000" dirty="0"/>
          </a:p>
        </p:txBody>
      </p:sp>
      <p:sp>
        <p:nvSpPr>
          <p:cNvPr id="153" name="Text 151"/>
          <p:cNvSpPr/>
          <p:nvPr/>
        </p:nvSpPr>
        <p:spPr>
          <a:xfrm>
            <a:off x="6372000" y="5958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42</a:t>
            </a:r>
            <a:endParaRPr lang="en-US" sz="900" dirty="0"/>
          </a:p>
        </p:txBody>
      </p:sp>
      <p:sp>
        <p:nvSpPr>
          <p:cNvPr id="154" name="Shape 152"/>
          <p:cNvSpPr/>
          <p:nvPr/>
        </p:nvSpPr>
        <p:spPr>
          <a:xfrm>
            <a:off x="3780000" y="6159600"/>
            <a:ext cx="2952000" cy="0"/>
          </a:xfrm>
          <a:prstGeom prst="line">
            <a:avLst/>
          </a:prstGeom>
          <a:noFill/>
          <a:ln w="3810">
            <a:solidFill>
              <a:srgbClr val="C9CFC9"/>
            </a:solidFill>
            <a:prstDash val="solid"/>
          </a:ln>
        </p:spPr>
      </p:sp>
      <p:sp>
        <p:nvSpPr>
          <p:cNvPr id="155" name="Text 153"/>
          <p:cNvSpPr/>
          <p:nvPr/>
        </p:nvSpPr>
        <p:spPr>
          <a:xfrm>
            <a:off x="3780000" y="6159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23</a:t>
            </a:r>
            <a:endParaRPr lang="en-US" sz="850" dirty="0"/>
          </a:p>
        </p:txBody>
      </p:sp>
      <p:sp>
        <p:nvSpPr>
          <p:cNvPr id="156" name="Text 154"/>
          <p:cNvSpPr/>
          <p:nvPr/>
        </p:nvSpPr>
        <p:spPr>
          <a:xfrm>
            <a:off x="4086000" y="6159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Solemme</a:t>
            </a:r>
            <a:endParaRPr lang="en-US" sz="1000" dirty="0"/>
          </a:p>
        </p:txBody>
      </p:sp>
      <p:sp>
        <p:nvSpPr>
          <p:cNvPr id="157" name="Text 155"/>
          <p:cNvSpPr/>
          <p:nvPr/>
        </p:nvSpPr>
        <p:spPr>
          <a:xfrm>
            <a:off x="6372000" y="6159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43</a:t>
            </a:r>
            <a:endParaRPr lang="en-US" sz="900" dirty="0"/>
          </a:p>
        </p:txBody>
      </p:sp>
      <p:sp>
        <p:nvSpPr>
          <p:cNvPr id="158" name="Shape 156"/>
          <p:cNvSpPr/>
          <p:nvPr/>
        </p:nvSpPr>
        <p:spPr>
          <a:xfrm>
            <a:off x="3780000" y="6361200"/>
            <a:ext cx="2952000" cy="0"/>
          </a:xfrm>
          <a:prstGeom prst="line">
            <a:avLst/>
          </a:prstGeom>
          <a:noFill/>
          <a:ln w="3810">
            <a:solidFill>
              <a:srgbClr val="C9CFC9"/>
            </a:solidFill>
            <a:prstDash val="solid"/>
          </a:ln>
        </p:spPr>
      </p:sp>
      <p:sp>
        <p:nvSpPr>
          <p:cNvPr id="159" name="Text 157"/>
          <p:cNvSpPr/>
          <p:nvPr/>
        </p:nvSpPr>
        <p:spPr>
          <a:xfrm>
            <a:off x="3780000" y="6361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15</a:t>
            </a:r>
            <a:endParaRPr lang="en-US" sz="850" dirty="0"/>
          </a:p>
        </p:txBody>
      </p:sp>
      <p:sp>
        <p:nvSpPr>
          <p:cNvPr id="160" name="Text 158"/>
          <p:cNvSpPr/>
          <p:nvPr/>
        </p:nvSpPr>
        <p:spPr>
          <a:xfrm>
            <a:off x="4086000" y="6361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Vazart-Coquart &amp; Fils</a:t>
            </a:r>
            <a:endParaRPr lang="en-US" sz="1000" dirty="0"/>
          </a:p>
        </p:txBody>
      </p:sp>
      <p:sp>
        <p:nvSpPr>
          <p:cNvPr id="161" name="Text 159"/>
          <p:cNvSpPr/>
          <p:nvPr/>
        </p:nvSpPr>
        <p:spPr>
          <a:xfrm>
            <a:off x="6372000" y="6361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44</a:t>
            </a:r>
            <a:endParaRPr lang="en-US" sz="900" dirty="0"/>
          </a:p>
        </p:txBody>
      </p:sp>
      <p:sp>
        <p:nvSpPr>
          <p:cNvPr id="162" name="Shape 160"/>
          <p:cNvSpPr/>
          <p:nvPr/>
        </p:nvSpPr>
        <p:spPr>
          <a:xfrm>
            <a:off x="3780000" y="6562800"/>
            <a:ext cx="2952000" cy="0"/>
          </a:xfrm>
          <a:prstGeom prst="line">
            <a:avLst/>
          </a:prstGeom>
          <a:noFill/>
          <a:ln w="3810">
            <a:solidFill>
              <a:srgbClr val="C9CFC9"/>
            </a:solidFill>
            <a:prstDash val="solid"/>
          </a:ln>
        </p:spPr>
      </p:sp>
      <p:sp>
        <p:nvSpPr>
          <p:cNvPr id="163" name="Shape 161"/>
          <p:cNvSpPr/>
          <p:nvPr/>
        </p:nvSpPr>
        <p:spPr>
          <a:xfrm>
            <a:off x="612000" y="8280000"/>
            <a:ext cx="6120000" cy="0"/>
          </a:xfrm>
          <a:prstGeom prst="line">
            <a:avLst/>
          </a:prstGeom>
          <a:noFill/>
          <a:ln w="10160">
            <a:solidFill>
              <a:srgbClr val="67067C"/>
            </a:solidFill>
            <a:prstDash val="solid"/>
          </a:ln>
        </p:spPr>
      </p:sp>
      <p:sp>
        <p:nvSpPr>
          <p:cNvPr id="164" name="Text 162"/>
          <p:cNvSpPr/>
          <p:nvPr/>
        </p:nvSpPr>
        <p:spPr>
          <a:xfrm>
            <a:off x="612000" y="8352000"/>
            <a:ext cx="6120000" cy="162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Types    </a:t>
            </a:r>
            <a:r>
              <a:rPr lang="en-US" sz="740" dirty="0">
                <a:solidFill>
                  <a:srgbClr val="46606E"/>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Bulles    </a:t>
            </a:r>
            <a:r>
              <a:rPr lang="en-US" sz="740" dirty="0">
                <a:solidFill>
                  <a:srgbClr val="FBF8F1"/>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Blanc    </a:t>
            </a:r>
            <a:r>
              <a:rPr lang="en-US" sz="740" dirty="0">
                <a:solidFill>
                  <a:srgbClr val="D98FA0"/>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Rosé    </a:t>
            </a:r>
            <a:r>
              <a:rPr lang="en-US" sz="740" dirty="0">
                <a:solidFill>
                  <a:srgbClr val="A8515F"/>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Rouge    </a:t>
            </a:r>
            <a:r>
              <a:rPr lang="en-US" sz="740" dirty="0">
                <a:solidFill>
                  <a:srgbClr val="E1C853"/>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Doux    </a:t>
            </a:r>
            <a:r>
              <a:rPr lang="en-US" sz="740" dirty="0">
                <a:solidFill>
                  <a:srgbClr val="46606E"/>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Sans alcool    </a:t>
            </a:r>
            <a:r>
              <a:rPr lang="en-US" sz="740" dirty="0">
                <a:solidFill>
                  <a:srgbClr val="3C5B47"/>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Jus de cépages    </a:t>
            </a:r>
            <a:r>
              <a:rPr lang="en-US" sz="740" dirty="0">
                <a:solidFill>
                  <a:srgbClr val="D08C3C"/>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Bière    </a:t>
            </a:r>
            <a:r>
              <a:rPr lang="en-US" sz="740" dirty="0">
                <a:solidFill>
                  <a:srgbClr val="8A6230"/>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Spiritueux    </a:t>
            </a:r>
            <a:endParaRPr lang="en-US" sz="740" dirty="0"/>
          </a:p>
        </p:txBody>
      </p:sp>
      <p:sp>
        <p:nvSpPr>
          <p:cNvPr id="165" name="Text 163"/>
          <p:cNvSpPr/>
          <p:nvPr/>
        </p:nvSpPr>
        <p:spPr>
          <a:xfrm>
            <a:off x="612000" y="8532000"/>
            <a:ext cx="468000" cy="162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Labels</a:t>
            </a:r>
            <a:endParaRPr lang="en-US" sz="740" dirty="0"/>
          </a:p>
        </p:txBody>
      </p:sp>
      <p:pic>
        <p:nvPicPr>
          <p:cNvPr id="166" name="Image 0" descr="/home/user/philippe1/build/deco-salon-prive-2026/label-bio.png">    </p:cNvPr>
          <p:cNvPicPr>
            <a:picLocks noChangeAspect="1"/>
          </p:cNvPicPr>
          <p:nvPr/>
        </p:nvPicPr>
        <p:blipFill>
          <a:blip r:embed="rId1"/>
          <a:stretch>
            <a:fillRect/>
          </a:stretch>
        </p:blipFill>
        <p:spPr>
          <a:xfrm>
            <a:off x="1080000" y="8559000"/>
            <a:ext cx="108000" cy="108000"/>
          </a:xfrm>
          <a:prstGeom prst="rect">
            <a:avLst/>
          </a:prstGeom>
        </p:spPr>
      </p:pic>
      <p:sp>
        <p:nvSpPr>
          <p:cNvPr id="167" name="Text 164"/>
          <p:cNvSpPr/>
          <p:nvPr/>
        </p:nvSpPr>
        <p:spPr>
          <a:xfrm>
            <a:off x="1227600" y="8532000"/>
            <a:ext cx="191493"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Bio</a:t>
            </a:r>
            <a:endParaRPr lang="en-US" sz="740" dirty="0"/>
          </a:p>
        </p:txBody>
      </p:sp>
      <p:pic>
        <p:nvPicPr>
          <p:cNvPr id="168" name="Image 1" descr="/home/user/philippe1/build/deco-salon-prive-2026/label-conversion.png">    </p:cNvPr>
          <p:cNvPicPr>
            <a:picLocks noChangeAspect="1"/>
          </p:cNvPicPr>
          <p:nvPr/>
        </p:nvPicPr>
        <p:blipFill>
          <a:blip r:embed="rId2"/>
          <a:stretch>
            <a:fillRect/>
          </a:stretch>
        </p:blipFill>
        <p:spPr>
          <a:xfrm>
            <a:off x="1527093" y="8559000"/>
            <a:ext cx="108000" cy="108000"/>
          </a:xfrm>
          <a:prstGeom prst="rect">
            <a:avLst/>
          </a:prstGeom>
        </p:spPr>
      </p:pic>
      <p:sp>
        <p:nvSpPr>
          <p:cNvPr id="169" name="Text 165"/>
          <p:cNvSpPr/>
          <p:nvPr/>
        </p:nvSpPr>
        <p:spPr>
          <a:xfrm>
            <a:off x="1674693" y="8532000"/>
            <a:ext cx="804900"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En conversion Bio</a:t>
            </a:r>
            <a:endParaRPr lang="en-US" sz="740" dirty="0"/>
          </a:p>
        </p:txBody>
      </p:sp>
      <p:pic>
        <p:nvPicPr>
          <p:cNvPr id="170" name="Image 2" descr="/home/user/philippe1/build/deco-salon-prive-2026/label-biobiodyn.png">    </p:cNvPr>
          <p:cNvPicPr>
            <a:picLocks noChangeAspect="1"/>
          </p:cNvPicPr>
          <p:nvPr/>
        </p:nvPicPr>
        <p:blipFill>
          <a:blip r:embed="rId3"/>
          <a:stretch>
            <a:fillRect/>
          </a:stretch>
        </p:blipFill>
        <p:spPr>
          <a:xfrm>
            <a:off x="2587593" y="8559000"/>
            <a:ext cx="108000" cy="108000"/>
          </a:xfrm>
          <a:prstGeom prst="rect">
            <a:avLst/>
          </a:prstGeom>
        </p:spPr>
      </p:pic>
      <p:sp>
        <p:nvSpPr>
          <p:cNvPr id="171" name="Text 166"/>
          <p:cNvSpPr/>
          <p:nvPr/>
        </p:nvSpPr>
        <p:spPr>
          <a:xfrm>
            <a:off x="2735193" y="8532000"/>
            <a:ext cx="553598"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Biodynamie</a:t>
            </a:r>
            <a:endParaRPr lang="en-US" sz="740" dirty="0"/>
          </a:p>
        </p:txBody>
      </p:sp>
      <p:pic>
        <p:nvPicPr>
          <p:cNvPr id="172" name="Image 3" descr="/home/user/philippe1/build/deco-salon-prive-2026/label-hve.png">    </p:cNvPr>
          <p:cNvPicPr>
            <a:picLocks noChangeAspect="1"/>
          </p:cNvPicPr>
          <p:nvPr/>
        </p:nvPicPr>
        <p:blipFill>
          <a:blip r:embed="rId4"/>
          <a:stretch>
            <a:fillRect/>
          </a:stretch>
        </p:blipFill>
        <p:spPr>
          <a:xfrm>
            <a:off x="3396791" y="8559000"/>
            <a:ext cx="108000" cy="108000"/>
          </a:xfrm>
          <a:prstGeom prst="rect">
            <a:avLst/>
          </a:prstGeom>
        </p:spPr>
      </p:pic>
      <p:sp>
        <p:nvSpPr>
          <p:cNvPr id="173" name="Text 167"/>
          <p:cNvSpPr/>
          <p:nvPr/>
        </p:nvSpPr>
        <p:spPr>
          <a:xfrm>
            <a:off x="3544391" y="8532000"/>
            <a:ext cx="232468"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HVE</a:t>
            </a:r>
            <a:endParaRPr lang="en-US" sz="740" dirty="0"/>
          </a:p>
        </p:txBody>
      </p:sp>
      <p:pic>
        <p:nvPicPr>
          <p:cNvPr id="174" name="Image 4" descr="/home/user/philippe1/build/deco-salon-prive-2026/label-hve.png">    </p:cNvPr>
          <p:cNvPicPr>
            <a:picLocks noChangeAspect="1"/>
          </p:cNvPicPr>
          <p:nvPr/>
        </p:nvPicPr>
        <p:blipFill>
          <a:blip r:embed="rId5"/>
          <a:stretch>
            <a:fillRect/>
          </a:stretch>
        </p:blipFill>
        <p:spPr>
          <a:xfrm>
            <a:off x="3884859" y="8559000"/>
            <a:ext cx="108000" cy="108000"/>
          </a:xfrm>
          <a:prstGeom prst="rect">
            <a:avLst/>
          </a:prstGeom>
        </p:spPr>
      </p:pic>
      <p:sp>
        <p:nvSpPr>
          <p:cNvPr id="175" name="Text 168"/>
          <p:cNvSpPr/>
          <p:nvPr/>
        </p:nvSpPr>
        <p:spPr>
          <a:xfrm>
            <a:off x="4032459" y="8532000"/>
            <a:ext cx="311035"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HVE 3</a:t>
            </a:r>
            <a:endParaRPr lang="en-US" sz="740" dirty="0"/>
          </a:p>
        </p:txBody>
      </p:sp>
      <p:pic>
        <p:nvPicPr>
          <p:cNvPr id="176" name="Image 5" descr="/home/user/philippe1/build/deco-salon-prive-2026/label-raisonnee.png">    </p:cNvPr>
          <p:cNvPicPr>
            <a:picLocks noChangeAspect="1"/>
          </p:cNvPicPr>
          <p:nvPr/>
        </p:nvPicPr>
        <p:blipFill>
          <a:blip r:embed="rId6"/>
          <a:stretch>
            <a:fillRect/>
          </a:stretch>
        </p:blipFill>
        <p:spPr>
          <a:xfrm>
            <a:off x="4451494" y="8559000"/>
            <a:ext cx="108000" cy="108000"/>
          </a:xfrm>
          <a:prstGeom prst="rect">
            <a:avLst/>
          </a:prstGeom>
        </p:spPr>
      </p:pic>
      <p:sp>
        <p:nvSpPr>
          <p:cNvPr id="177" name="Text 169"/>
          <p:cNvSpPr/>
          <p:nvPr/>
        </p:nvSpPr>
        <p:spPr>
          <a:xfrm>
            <a:off x="4599094" y="8532000"/>
            <a:ext cx="959215"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Agriculture raisonnée</a:t>
            </a:r>
            <a:endParaRPr lang="en-US" sz="740" dirty="0"/>
          </a:p>
        </p:txBody>
      </p:sp>
      <p:pic>
        <p:nvPicPr>
          <p:cNvPr id="178" name="Image 6" descr="/home/user/philippe1/build/deco-salon-prive-2026/label-iso.png">    </p:cNvPr>
          <p:cNvPicPr>
            <a:picLocks noChangeAspect="1"/>
          </p:cNvPicPr>
          <p:nvPr/>
        </p:nvPicPr>
        <p:blipFill>
          <a:blip r:embed="rId7"/>
          <a:stretch>
            <a:fillRect/>
          </a:stretch>
        </p:blipFill>
        <p:spPr>
          <a:xfrm>
            <a:off x="5666309" y="8559000"/>
            <a:ext cx="108000" cy="108000"/>
          </a:xfrm>
          <a:prstGeom prst="rect">
            <a:avLst/>
          </a:prstGeom>
        </p:spPr>
      </p:pic>
      <p:sp>
        <p:nvSpPr>
          <p:cNvPr id="179" name="Text 170"/>
          <p:cNvSpPr/>
          <p:nvPr/>
        </p:nvSpPr>
        <p:spPr>
          <a:xfrm>
            <a:off x="5813909" y="8532000"/>
            <a:ext cx="516852"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ISO 26000</a:t>
            </a:r>
            <a:endParaRPr lang="en-US" sz="740" dirty="0"/>
          </a:p>
        </p:txBody>
      </p:sp>
      <p:sp>
        <p:nvSpPr>
          <p:cNvPr id="180" name="Text 171"/>
          <p:cNvSpPr/>
          <p:nvPr/>
        </p:nvSpPr>
        <p:spPr>
          <a:xfrm>
            <a:off x="612000" y="8712000"/>
            <a:ext cx="6120000" cy="144000"/>
          </a:xfrm>
          <a:prstGeom prst="rect">
            <a:avLst/>
          </a:prstGeom>
          <a:noFill/>
          <a:ln/>
        </p:spPr>
        <p:txBody>
          <a:bodyPr wrap="square" lIns="0" tIns="0" rIns="0" bIns="0" rtlCol="0" anchor="ctr"/>
          <a:lstStyle/>
          <a:p>
            <a:pPr indent="0" marL="0">
              <a:buNone/>
            </a:pPr>
            <a:r>
              <a:rPr lang="en-US" sz="760" i="1" dirty="0">
                <a:solidFill>
                  <a:srgbClr val="46606E"/>
                </a:solidFill>
                <a:latin typeface="IBM Plex Sans" pitchFamily="34" charset="0"/>
                <a:ea typeface="IBM Plex Sans" pitchFamily="34" charset="-122"/>
                <a:cs typeface="IBM Plex Sans" pitchFamily="34" charset="-120"/>
              </a:rPr>
              <a:t>Ces pictos sont ceux de l'Agence SCIO, dessinés pour ce catalogue : ce ne sont pas les logos officiels des organismes certificateurs.</a:t>
            </a:r>
            <a:endParaRPr lang="en-US" sz="760" dirty="0"/>
          </a:p>
        </p:txBody>
      </p:sp>
      <p:sp>
        <p:nvSpPr>
          <p:cNvPr id="181" name="Text 17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a:t>
            </a:r>
            <a:endParaRPr lang="en-US" sz="750" dirty="0"/>
          </a:p>
        </p:txBody>
      </p:sp>
      <p:sp>
        <p:nvSpPr>
          <p:cNvPr id="182" name="Text 17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loir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loir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1 / 9</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Loire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schistes et tuffeau</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46</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10   </a:t>
            </a:r>
            <a:r>
              <a:rPr lang="en-US" sz="860" dirty="0">
                <a:solidFill>
                  <a:srgbClr val="FBF8F1"/>
                </a:solidFill>
                <a:latin typeface="IBM Plex Sans" pitchFamily="34" charset="0"/>
                <a:ea typeface="IBM Plex Sans" pitchFamily="34" charset="-122"/>
                <a:cs typeface="IBM Plex Sans" pitchFamily="34" charset="-120"/>
              </a:rPr>
              <a:t>François Reverdy</a:t>
            </a:r>
            <a:r>
              <a:rPr lang="en-US" sz="860" b="1" dirty="0">
                <a:solidFill>
                  <a:srgbClr val="FBF8F1"/>
                </a:solidFill>
                <a:latin typeface="IBM Plex Sans" pitchFamily="34" charset="0"/>
                <a:ea typeface="IBM Plex Sans" pitchFamily="34" charset="-122"/>
                <a:cs typeface="IBM Plex Sans" pitchFamily="34" charset="-120"/>
              </a:rPr>
              <a:t>   5</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22   </a:t>
            </a:r>
            <a:r>
              <a:rPr lang="en-US" sz="860" dirty="0">
                <a:solidFill>
                  <a:srgbClr val="FBF8F1"/>
                </a:solidFill>
                <a:latin typeface="IBM Plex Sans" pitchFamily="34" charset="0"/>
                <a:ea typeface="IBM Plex Sans" pitchFamily="34" charset="-122"/>
                <a:cs typeface="IBM Plex Sans" pitchFamily="34" charset="-120"/>
              </a:rPr>
              <a:t>Domaine de la Barbinière</a:t>
            </a:r>
            <a:r>
              <a:rPr lang="en-US" sz="860" b="1" dirty="0">
                <a:solidFill>
                  <a:srgbClr val="FBF8F1"/>
                </a:solidFill>
                <a:latin typeface="IBM Plex Sans" pitchFamily="34" charset="0"/>
                <a:ea typeface="IBM Plex Sans" pitchFamily="34" charset="-122"/>
                <a:cs typeface="IBM Plex Sans" pitchFamily="34" charset="-120"/>
              </a:rPr>
              <a:t>   6</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4   </a:t>
            </a:r>
            <a:r>
              <a:rPr lang="en-US" sz="860" dirty="0">
                <a:solidFill>
                  <a:srgbClr val="FBF8F1"/>
                </a:solidFill>
                <a:latin typeface="IBM Plex Sans" pitchFamily="34" charset="0"/>
                <a:ea typeface="IBM Plex Sans" pitchFamily="34" charset="-122"/>
                <a:cs typeface="IBM Plex Sans" pitchFamily="34" charset="-120"/>
              </a:rPr>
              <a:t>Domaine du Colombier / J.Y Bretaudeau</a:t>
            </a:r>
            <a:r>
              <a:rPr lang="en-US" sz="860" b="1" dirty="0">
                <a:solidFill>
                  <a:srgbClr val="FBF8F1"/>
                </a:solidFill>
                <a:latin typeface="IBM Plex Sans" pitchFamily="34" charset="0"/>
                <a:ea typeface="IBM Plex Sans" pitchFamily="34" charset="-122"/>
                <a:cs typeface="IBM Plex Sans" pitchFamily="34" charset="-120"/>
              </a:rPr>
              <a:t>   7</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14   </a:t>
            </a:r>
            <a:r>
              <a:rPr lang="en-US" sz="860" dirty="0">
                <a:solidFill>
                  <a:srgbClr val="FBF8F1"/>
                </a:solidFill>
                <a:latin typeface="IBM Plex Sans" pitchFamily="34" charset="0"/>
                <a:ea typeface="IBM Plex Sans" pitchFamily="34" charset="-122"/>
                <a:cs typeface="IBM Plex Sans" pitchFamily="34" charset="-120"/>
              </a:rPr>
              <a:t>Domaine des Noëls</a:t>
            </a:r>
            <a:r>
              <a:rPr lang="en-US" sz="860" b="1" dirty="0">
                <a:solidFill>
                  <a:srgbClr val="FBF8F1"/>
                </a:solidFill>
                <a:latin typeface="IBM Plex Sans" pitchFamily="34" charset="0"/>
                <a:ea typeface="IBM Plex Sans" pitchFamily="34" charset="-122"/>
                <a:cs typeface="IBM Plex Sans" pitchFamily="34" charset="-120"/>
              </a:rPr>
              <a:t>   8</a:t>
            </a:r>
            <a:endParaRPr lang="en-US" sz="860" dirty="0"/>
          </a:p>
        </p:txBody>
      </p:sp>
      <p:sp>
        <p:nvSpPr>
          <p:cNvPr id="16" name="Text 12"/>
          <p:cNvSpPr/>
          <p:nvPr/>
        </p:nvSpPr>
        <p:spPr>
          <a:xfrm>
            <a:off x="82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25   </a:t>
            </a:r>
            <a:r>
              <a:rPr lang="en-US" sz="860" dirty="0">
                <a:solidFill>
                  <a:srgbClr val="FBF8F1"/>
                </a:solidFill>
                <a:latin typeface="IBM Plex Sans" pitchFamily="34" charset="0"/>
                <a:ea typeface="IBM Plex Sans" pitchFamily="34" charset="-122"/>
                <a:cs typeface="IBM Plex Sans" pitchFamily="34" charset="-120"/>
              </a:rPr>
              <a:t>Chai Berteaud Manceau</a:t>
            </a:r>
            <a:r>
              <a:rPr lang="en-US" sz="860" b="1" dirty="0">
                <a:solidFill>
                  <a:srgbClr val="FBF8F1"/>
                </a:solidFill>
                <a:latin typeface="IBM Plex Sans" pitchFamily="34" charset="0"/>
                <a:ea typeface="IBM Plex Sans" pitchFamily="34" charset="-122"/>
                <a:cs typeface="IBM Plex Sans" pitchFamily="34" charset="-120"/>
              </a:rPr>
              <a:t>   9</a:t>
            </a:r>
            <a:endParaRPr lang="en-US" sz="860" dirty="0"/>
          </a:p>
        </p:txBody>
      </p:sp>
      <p:sp>
        <p:nvSpPr>
          <p:cNvPr id="17" name="Text 13"/>
          <p:cNvSpPr/>
          <p:nvPr/>
        </p:nvSpPr>
        <p:spPr>
          <a:xfrm>
            <a:off x="388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17   </a:t>
            </a:r>
            <a:r>
              <a:rPr lang="en-US" sz="860" dirty="0">
                <a:solidFill>
                  <a:srgbClr val="FBF8F1"/>
                </a:solidFill>
                <a:latin typeface="IBM Plex Sans" pitchFamily="34" charset="0"/>
                <a:ea typeface="IBM Plex Sans" pitchFamily="34" charset="-122"/>
                <a:cs typeface="IBM Plex Sans" pitchFamily="34" charset="-120"/>
              </a:rPr>
              <a:t>Domaine Jean de Villebois</a:t>
            </a:r>
            <a:r>
              <a:rPr lang="en-US" sz="860" b="1" dirty="0">
                <a:solidFill>
                  <a:srgbClr val="FBF8F1"/>
                </a:solidFill>
                <a:latin typeface="IBM Plex Sans" pitchFamily="34" charset="0"/>
                <a:ea typeface="IBM Plex Sans" pitchFamily="34" charset="-122"/>
                <a:cs typeface="IBM Plex Sans" pitchFamily="34" charset="-120"/>
              </a:rPr>
              <a:t>   10</a:t>
            </a:r>
            <a:endParaRPr lang="en-US" sz="860" dirty="0"/>
          </a:p>
        </p:txBody>
      </p:sp>
      <p:sp>
        <p:nvSpPr>
          <p:cNvPr id="18" name="Text 14"/>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4</a:t>
            </a:r>
            <a:endParaRPr lang="en-US" sz="750" dirty="0"/>
          </a:p>
        </p:txBody>
      </p:sp>
      <p:sp>
        <p:nvSpPr>
          <p:cNvPr id="19" name="Text 15"/>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10</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François Reverdy</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642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42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9 vins à la dégustation</a:t>
            </a:r>
            <a:endParaRPr lang="en-US" sz="720" dirty="0"/>
          </a:p>
        </p:txBody>
      </p:sp>
      <p:pic>
        <p:nvPicPr>
          <p:cNvPr id="16" name="Image 2" descr="portrait du vigneron, noir et blanc — François Reverdy">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François Reverdy">    </p:cNvPr>
          <p:cNvPicPr>
            <a:picLocks noChangeAspect="1"/>
          </p:cNvPicPr>
          <p:nvPr/>
        </p:nvPicPr>
        <p:blipFill>
          <a:blip r:embed="rId4"/>
          <a:stretch>
            <a:fillRect/>
          </a:stretch>
        </p:blipFill>
        <p:spPr>
          <a:xfrm>
            <a:off x="5992033" y="1605996"/>
            <a:ext cx="615934" cy="2232000"/>
          </a:xfrm>
          <a:prstGeom prst="rect">
            <a:avLst/>
          </a:prstGeom>
        </p:spPr>
      </p:pic>
      <p:sp>
        <p:nvSpPr>
          <p:cNvPr id="18" name="Text 12"/>
          <p:cNvSpPr/>
          <p:nvPr/>
        </p:nvSpPr>
        <p:spPr>
          <a:xfrm>
            <a:off x="2177967" y="1510537"/>
            <a:ext cx="278395" cy="479349"/>
          </a:xfrm>
          <a:prstGeom prst="rect">
            <a:avLst/>
          </a:prstGeom>
          <a:noFill/>
          <a:ln/>
        </p:spPr>
        <p:txBody>
          <a:bodyPr wrap="square" lIns="0" tIns="0" rIns="0" bIns="0" rtlCol="0" anchor="t"/>
          <a:lstStyle/>
          <a:p>
            <a:pPr algn="r" indent="0" marL="0">
              <a:lnSpc>
                <a:spcPct val="121500"/>
              </a:lnSpc>
              <a:buNone/>
            </a:pPr>
            <a:r>
              <a:rPr lang="en-US" sz="2359" dirty="0">
                <a:solidFill>
                  <a:srgbClr val="67067C"/>
                </a:solidFill>
                <a:latin typeface="Young Serif" pitchFamily="34" charset="0"/>
                <a:ea typeface="Young Serif" pitchFamily="34" charset="-122"/>
                <a:cs typeface="Young Serif" pitchFamily="34" charset="-120"/>
              </a:rPr>
              <a:t>C</a:t>
            </a:r>
            <a:endParaRPr lang="en-US" sz="2359" dirty="0"/>
          </a:p>
        </p:txBody>
      </p:sp>
      <p:sp>
        <p:nvSpPr>
          <p:cNvPr id="19" name="Text 13"/>
          <p:cNvSpPr/>
          <p:nvPr/>
        </p:nvSpPr>
        <p:spPr>
          <a:xfrm>
            <a:off x="2232000" y="1653302"/>
            <a:ext cx="3456000" cy="2184550"/>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réés ex nihilo en 2023, deux vignobles jardins conduits en agriculture biologique : l’un à Sancerre, où François Reverdy est le plus petit vigneron de l’appellation, l’autre à Roiffé entre Saumur et Chinon, en vieilles vignes de Grolleau noir, Cabernet Franc et Chenin blanc. Vendanges à la main et vins éco-conçus, en Anjou, Saumur, Chinon, Quincy et Sancerre.</a:t>
            </a:r>
            <a:endParaRPr lang="en-US" sz="1225"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42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Anjou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Grange Jaumain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Saumur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Quincy</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Sancerre Blanc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Villaudes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Grange Jaumain Rouge – Grolleau Noir</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Chinon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Franc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Chinon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Cravant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Grange Jaumain Les Soudannes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6708982"/>
            <a:ext cx="0" cy="259440"/>
          </a:xfrm>
          <a:prstGeom prst="line">
            <a:avLst/>
          </a:prstGeom>
          <a:noFill/>
          <a:ln w="17780">
            <a:solidFill>
              <a:srgbClr val="67067C"/>
            </a:solidFill>
            <a:prstDash val="solid"/>
          </a:ln>
        </p:spPr>
      </p:sp>
      <p:sp>
        <p:nvSpPr>
          <p:cNvPr id="22" name="Text 15"/>
          <p:cNvSpPr/>
          <p:nvPr/>
        </p:nvSpPr>
        <p:spPr>
          <a:xfrm>
            <a:off x="720000" y="6708982"/>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3" name="Text 16"/>
          <p:cNvSpPr/>
          <p:nvPr/>
        </p:nvSpPr>
        <p:spPr>
          <a:xfrm>
            <a:off x="612000" y="711242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4" name="Image 4" descr="/home/user/philippe1/build/deco-salon-prive-2026/sol-loire.png">    </p:cNvPr>
          <p:cNvPicPr>
            <a:picLocks noChangeAspect="1"/>
          </p:cNvPicPr>
          <p:nvPr/>
        </p:nvPicPr>
        <p:blipFill>
          <a:blip r:embed="rId5"/>
          <a:stretch>
            <a:fillRect/>
          </a:stretch>
        </p:blipFill>
        <p:spPr>
          <a:xfrm>
            <a:off x="612000" y="7260022"/>
            <a:ext cx="6120000" cy="861252"/>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22</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de la Barbinière</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1393651"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2103762" y="1317996"/>
            <a:ext cx="1385474"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2103762"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6" name="Shape 12"/>
          <p:cNvSpPr/>
          <p:nvPr/>
        </p:nvSpPr>
        <p:spPr>
          <a:xfrm>
            <a:off x="3568436"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3568436"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8" name="Image 2" descr="vendanges dans les vignes du domaine — Domaine de la Barbinière">    </p:cNvPr>
          <p:cNvPicPr>
            <a:picLocks noChangeAspect="1"/>
          </p:cNvPicPr>
          <p:nvPr/>
        </p:nvPicPr>
        <p:blipFill>
          <a:blip r:embed="rId3"/>
          <a:stretch>
            <a:fillRect/>
          </a:stretch>
        </p:blipFill>
        <p:spPr>
          <a:xfrm>
            <a:off x="828000" y="1605996"/>
            <a:ext cx="1440000" cy="1440000"/>
          </a:xfrm>
          <a:prstGeom prst="rect">
            <a:avLst/>
          </a:prstGeom>
        </p:spPr>
      </p:pic>
      <p:pic>
        <p:nvPicPr>
          <p:cNvPr id="19" name="Image 3" descr="Une bouteille du domaine Domaine de la Barbinière">    </p:cNvPr>
          <p:cNvPicPr>
            <a:picLocks noChangeAspect="1"/>
          </p:cNvPicPr>
          <p:nvPr/>
        </p:nvPicPr>
        <p:blipFill>
          <a:blip r:embed="rId4"/>
          <a:stretch>
            <a:fillRect/>
          </a:stretch>
        </p:blipFill>
        <p:spPr>
          <a:xfrm>
            <a:off x="6229377" y="1605996"/>
            <a:ext cx="573246" cy="2232000"/>
          </a:xfrm>
          <a:prstGeom prst="rect">
            <a:avLst/>
          </a:prstGeom>
        </p:spPr>
      </p:pic>
      <p:sp>
        <p:nvSpPr>
          <p:cNvPr id="20" name="Text 14"/>
          <p:cNvSpPr/>
          <p:nvPr/>
        </p:nvSpPr>
        <p:spPr>
          <a:xfrm>
            <a:off x="2393960" y="1601498"/>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21" name="Text 15"/>
          <p:cNvSpPr/>
          <p:nvPr/>
        </p:nvSpPr>
        <p:spPr>
          <a:xfrm>
            <a:off x="2448000" y="1711709"/>
            <a:ext cx="3456000" cy="2126143"/>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ur les reliefs bocagers du Chantonnais, Vincent et Alban Orion sculptent 30 hectares reflétant la diversité des terroirs chantonnaisiens. Une démarche paysanne faite de travail manuel minutieux et d’attention à la faune et à la flore, qui porte le domaine en agriculture biologique. Vins sous allocation.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Silex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Gorinières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7,84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Courbes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2018</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7,23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Amphibol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Gneiss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5,13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 Pinot Noir</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Bois Bouquet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Méthode traditionnelle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L’O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6,28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Shape 16"/>
          <p:cNvSpPr/>
          <p:nvPr/>
        </p:nvSpPr>
        <p:spPr>
          <a:xfrm>
            <a:off x="828000" y="6431566"/>
            <a:ext cx="0" cy="259440"/>
          </a:xfrm>
          <a:prstGeom prst="line">
            <a:avLst/>
          </a:prstGeom>
          <a:noFill/>
          <a:ln w="17780">
            <a:solidFill>
              <a:srgbClr val="67067C"/>
            </a:solidFill>
            <a:prstDash val="solid"/>
          </a:ln>
        </p:spPr>
      </p:sp>
      <p:sp>
        <p:nvSpPr>
          <p:cNvPr id="24" name="Text 17"/>
          <p:cNvSpPr/>
          <p:nvPr/>
        </p:nvSpPr>
        <p:spPr>
          <a:xfrm>
            <a:off x="936000" y="6431566"/>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5" name="Text 18"/>
          <p:cNvSpPr/>
          <p:nvPr/>
        </p:nvSpPr>
        <p:spPr>
          <a:xfrm>
            <a:off x="828000" y="683500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6" name="Image 4" descr="/home/user/philippe1/build/deco-salon-prive-2026/sol-loire.png">    </p:cNvPr>
          <p:cNvPicPr>
            <a:picLocks noChangeAspect="1"/>
          </p:cNvPicPr>
          <p:nvPr/>
        </p:nvPicPr>
        <p:blipFill>
          <a:blip r:embed="rId5"/>
          <a:stretch>
            <a:fillRect/>
          </a:stretch>
        </p:blipFill>
        <p:spPr>
          <a:xfrm>
            <a:off x="828000" y="6982607"/>
            <a:ext cx="6120000" cy="1138668"/>
          </a:xfrm>
          <a:prstGeom prst="rect">
            <a:avLst/>
          </a:prstGeom>
        </p:spPr>
      </p:pic>
      <p:sp>
        <p:nvSpPr>
          <p:cNvPr id="27" name="Shape 19"/>
          <p:cNvSpPr/>
          <p:nvPr/>
        </p:nvSpPr>
        <p:spPr>
          <a:xfrm>
            <a:off x="828000" y="8496000"/>
            <a:ext cx="6120000" cy="0"/>
          </a:xfrm>
          <a:prstGeom prst="line">
            <a:avLst/>
          </a:prstGeom>
          <a:noFill/>
          <a:ln w="8890">
            <a:solidFill>
              <a:srgbClr val="46606E"/>
            </a:solidFill>
            <a:prstDash val="solid"/>
          </a:ln>
        </p:spPr>
      </p:sp>
      <p:sp>
        <p:nvSpPr>
          <p:cNvPr id="28" name="Text 20"/>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16 · 35 · 44 · 49 · 53 · 56 · 85</a:t>
            </a:r>
            <a:endParaRPr lang="en-US" sz="720" dirty="0"/>
          </a:p>
        </p:txBody>
      </p:sp>
      <p:sp>
        <p:nvSpPr>
          <p:cNvPr id="29" name="Text 21"/>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30"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a:t>
            </a:r>
            <a:endParaRPr lang="en-US" sz="750" dirty="0"/>
          </a:p>
        </p:txBody>
      </p:sp>
      <p:sp>
        <p:nvSpPr>
          <p:cNvPr id="31"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4</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1550" dirty="0">
                <a:solidFill>
                  <a:srgbClr val="46606E"/>
                </a:solidFill>
                <a:latin typeface="Young Serif" pitchFamily="34" charset="0"/>
                <a:ea typeface="Young Serif" pitchFamily="34" charset="-122"/>
                <a:cs typeface="Young Serif" pitchFamily="34" charset="-120"/>
              </a:rPr>
              <a:t>Domaine du Colombier / J.Y Bretaudeau</a:t>
            </a:r>
            <a:endParaRPr lang="en-US" sz="155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528148"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2" name="Shape 8"/>
          <p:cNvSpPr/>
          <p:nvPr/>
        </p:nvSpPr>
        <p:spPr>
          <a:xfrm>
            <a:off x="1219348"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219348"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684022"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84022"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le vigneron au chai — Domaine du Colombier / J.Y Bretaudeau">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Domaine du Colombier / J.Y Bretaudeau">    </p:cNvPr>
          <p:cNvPicPr>
            <a:picLocks noChangeAspect="1"/>
          </p:cNvPicPr>
          <p:nvPr/>
        </p:nvPicPr>
        <p:blipFill>
          <a:blip r:embed="rId4"/>
          <a:stretch>
            <a:fillRect/>
          </a:stretch>
        </p:blipFill>
        <p:spPr>
          <a:xfrm>
            <a:off x="6001180" y="1605996"/>
            <a:ext cx="597639" cy="2232000"/>
          </a:xfrm>
          <a:prstGeom prst="rect">
            <a:avLst/>
          </a:prstGeom>
        </p:spPr>
      </p:pic>
      <p:sp>
        <p:nvSpPr>
          <p:cNvPr id="18" name="Text 12"/>
          <p:cNvSpPr/>
          <p:nvPr/>
        </p:nvSpPr>
        <p:spPr>
          <a:xfrm>
            <a:off x="2178005" y="1592085"/>
            <a:ext cx="292645" cy="464515"/>
          </a:xfrm>
          <a:prstGeom prst="rect">
            <a:avLst/>
          </a:prstGeom>
          <a:noFill/>
          <a:ln/>
        </p:spPr>
        <p:txBody>
          <a:bodyPr wrap="square" lIns="0" tIns="0" rIns="0" bIns="0" rtlCol="0" anchor="t"/>
          <a:lstStyle/>
          <a:p>
            <a:pPr algn="r" indent="0" marL="0">
              <a:lnSpc>
                <a:spcPct val="124100"/>
              </a:lnSpc>
              <a:buNone/>
            </a:pPr>
            <a:r>
              <a:rPr lang="en-US" sz="2286" dirty="0">
                <a:solidFill>
                  <a:srgbClr val="67067C"/>
                </a:solidFill>
                <a:latin typeface="Young Serif" pitchFamily="34" charset="0"/>
                <a:ea typeface="Young Serif" pitchFamily="34" charset="-122"/>
                <a:cs typeface="Young Serif" pitchFamily="34" charset="-120"/>
              </a:rPr>
              <a:t>Q</a:t>
            </a:r>
            <a:endParaRPr lang="en-US" sz="2286" dirty="0"/>
          </a:p>
        </p:txBody>
      </p:sp>
      <p:sp>
        <p:nvSpPr>
          <p:cNvPr id="19" name="Text 13"/>
          <p:cNvSpPr/>
          <p:nvPr/>
        </p:nvSpPr>
        <p:spPr>
          <a:xfrm>
            <a:off x="2232000" y="1718186"/>
            <a:ext cx="3456000" cy="2119666"/>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uatre générations de passionnés et adhérent historique des Vignerons Indépendants : Jean-Yves Bretaudeau allie bon sens paysan et précision œnologique. Certifié HVE, le domaine préserve ses paysages ligériens pour des vins frais et expressifs. Format BIB disponible.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Muscadet Sèvre et Maine sur lie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des deux Colombes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Muscadet Sèvre et Maine sur lie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L’Envol</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Muscadet Sèvre et Maine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Cru Mouzillon-Tillières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Chardonnay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Prestige de Beaulieu</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Sauvignon Gris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domaine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Rouge aux lèvres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Méthode traditionnelle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Perle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6431566"/>
            <a:ext cx="0" cy="497268"/>
          </a:xfrm>
          <a:prstGeom prst="line">
            <a:avLst/>
          </a:prstGeom>
          <a:noFill/>
          <a:ln w="17780">
            <a:solidFill>
              <a:srgbClr val="67067C"/>
            </a:solidFill>
            <a:prstDash val="solid"/>
          </a:ln>
        </p:spPr>
      </p:sp>
      <p:sp>
        <p:nvSpPr>
          <p:cNvPr id="22" name="Text 15"/>
          <p:cNvSpPr/>
          <p:nvPr/>
        </p:nvSpPr>
        <p:spPr>
          <a:xfrm>
            <a:off x="720000" y="6431566"/>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300 cols.</a:t>
            </a:r>
            <a:endParaRPr lang="en-US" sz="1050" dirty="0"/>
          </a:p>
        </p:txBody>
      </p:sp>
      <p:sp>
        <p:nvSpPr>
          <p:cNvPr id="23" name="Text 16"/>
          <p:cNvSpPr/>
          <p:nvPr/>
        </p:nvSpPr>
        <p:spPr>
          <a:xfrm>
            <a:off x="612000" y="707283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4" name="Image 4" descr="/home/user/philippe1/build/deco-salon-prive-2026/sol-loire.png">    </p:cNvPr>
          <p:cNvPicPr>
            <a:picLocks noChangeAspect="1"/>
          </p:cNvPicPr>
          <p:nvPr/>
        </p:nvPicPr>
        <p:blipFill>
          <a:blip r:embed="rId5"/>
          <a:stretch>
            <a:fillRect/>
          </a:stretch>
        </p:blipFill>
        <p:spPr>
          <a:xfrm>
            <a:off x="612000" y="7220434"/>
            <a:ext cx="6120000" cy="900840"/>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14</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des Noëls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528148"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2" name="Shape 8"/>
          <p:cNvSpPr/>
          <p:nvPr/>
        </p:nvSpPr>
        <p:spPr>
          <a:xfrm>
            <a:off x="1435348"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435348"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900022"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900022"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portrait — Domaine des Noëls">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des Noëls">    </p:cNvPr>
          <p:cNvPicPr>
            <a:picLocks noChangeAspect="1"/>
          </p:cNvPicPr>
          <p:nvPr/>
        </p:nvPicPr>
        <p:blipFill>
          <a:blip r:embed="rId4"/>
          <a:stretch>
            <a:fillRect/>
          </a:stretch>
        </p:blipFill>
        <p:spPr>
          <a:xfrm>
            <a:off x="6217180" y="1605996"/>
            <a:ext cx="597639" cy="2232000"/>
          </a:xfrm>
          <a:prstGeom prst="rect">
            <a:avLst/>
          </a:prstGeom>
        </p:spPr>
      </p:pic>
      <p:sp>
        <p:nvSpPr>
          <p:cNvPr id="18" name="Text 12"/>
          <p:cNvSpPr/>
          <p:nvPr/>
        </p:nvSpPr>
        <p:spPr>
          <a:xfrm>
            <a:off x="2393965" y="1726313"/>
            <a:ext cx="292685" cy="483413"/>
          </a:xfrm>
          <a:prstGeom prst="rect">
            <a:avLst/>
          </a:prstGeom>
          <a:noFill/>
          <a:ln/>
        </p:spPr>
        <p:txBody>
          <a:bodyPr wrap="square" lIns="0" tIns="0" rIns="0" bIns="0" rtlCol="0" anchor="t"/>
          <a:lstStyle/>
          <a:p>
            <a:pPr algn="r" indent="0" marL="0">
              <a:lnSpc>
                <a:spcPct val="122900"/>
              </a:lnSpc>
              <a:buNone/>
            </a:pPr>
            <a:r>
              <a:rPr lang="en-US" sz="2379" dirty="0">
                <a:solidFill>
                  <a:srgbClr val="67067C"/>
                </a:solidFill>
                <a:latin typeface="Young Serif" pitchFamily="34" charset="0"/>
                <a:ea typeface="Young Serif" pitchFamily="34" charset="-122"/>
                <a:cs typeface="Young Serif" pitchFamily="34" charset="-120"/>
              </a:rPr>
              <a:t>D</a:t>
            </a:r>
            <a:endParaRPr lang="en-US" sz="2379" dirty="0"/>
          </a:p>
        </p:txBody>
      </p:sp>
      <p:sp>
        <p:nvSpPr>
          <p:cNvPr id="19" name="Text 13"/>
          <p:cNvSpPr/>
          <p:nvPr/>
        </p:nvSpPr>
        <p:spPr>
          <a:xfrm>
            <a:off x="2448000" y="1863280"/>
            <a:ext cx="3456000" cy="197457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epuis 1921 à Faye-d’Anjou, cinq générations se transmettent 24 hectares de coteaux argilo-schisteux remarquablement exposés. Le Chenin donne aussi bien les liquoreux du Coteaux du Layon que des Anjou Blanc et Crémant de Loire d’une minéralité tactile.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936000"/>
                <a:gridCol w="936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Anjou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Anjou Blanc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Promenade de Noëls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Sauvignon</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du Layon</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du Layon Faye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Crémant de Loire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D98FA0"/>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Rosé de Loire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880307"/>
            <a:ext cx="0" cy="497268"/>
          </a:xfrm>
          <a:prstGeom prst="line">
            <a:avLst/>
          </a:prstGeom>
          <a:noFill/>
          <a:ln w="17780">
            <a:solidFill>
              <a:srgbClr val="67067C"/>
            </a:solidFill>
            <a:prstDash val="solid"/>
          </a:ln>
        </p:spPr>
      </p:sp>
      <p:sp>
        <p:nvSpPr>
          <p:cNvPr id="22" name="Text 15"/>
          <p:cNvSpPr/>
          <p:nvPr/>
        </p:nvSpPr>
        <p:spPr>
          <a:xfrm>
            <a:off x="936000" y="5880307"/>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a:t>
            </a:r>
            <a:endParaRPr lang="en-US" sz="1050" dirty="0"/>
          </a:p>
        </p:txBody>
      </p:sp>
      <p:sp>
        <p:nvSpPr>
          <p:cNvPr id="23" name="Text 16"/>
          <p:cNvSpPr/>
          <p:nvPr/>
        </p:nvSpPr>
        <p:spPr>
          <a:xfrm>
            <a:off x="828000" y="652157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4" name="Image 4" descr="/home/user/philippe1/build/deco-salon-prive-2026/sol-loire.png">    </p:cNvPr>
          <p:cNvPicPr>
            <a:picLocks noChangeAspect="1"/>
          </p:cNvPicPr>
          <p:nvPr/>
        </p:nvPicPr>
        <p:blipFill>
          <a:blip r:embed="rId5"/>
          <a:stretch>
            <a:fillRect/>
          </a:stretch>
        </p:blipFill>
        <p:spPr>
          <a:xfrm>
            <a:off x="828000" y="6669175"/>
            <a:ext cx="6120000" cy="1148400"/>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Doux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8</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25</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Chai Berteaud Manceau</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642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42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vins à la dégustation</a:t>
            </a:r>
            <a:endParaRPr lang="en-US" sz="720" dirty="0"/>
          </a:p>
        </p:txBody>
      </p:sp>
      <p:pic>
        <p:nvPicPr>
          <p:cNvPr id="16" name="Image 2" descr="les deux fondateurs du chai — Chai Berteaud Manceau">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Chai Berteaud Manceau">    </p:cNvPr>
          <p:cNvPicPr>
            <a:picLocks noChangeAspect="1"/>
          </p:cNvPicPr>
          <p:nvPr/>
        </p:nvPicPr>
        <p:blipFill>
          <a:blip r:embed="rId4"/>
          <a:stretch>
            <a:fillRect/>
          </a:stretch>
        </p:blipFill>
        <p:spPr>
          <a:xfrm>
            <a:off x="5998131" y="1605996"/>
            <a:ext cx="603738" cy="2232000"/>
          </a:xfrm>
          <a:prstGeom prst="rect">
            <a:avLst/>
          </a:prstGeom>
        </p:spPr>
      </p:pic>
      <p:sp>
        <p:nvSpPr>
          <p:cNvPr id="18" name="Text 12"/>
          <p:cNvSpPr/>
          <p:nvPr/>
        </p:nvSpPr>
        <p:spPr>
          <a:xfrm>
            <a:off x="2178017" y="1737318"/>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9" name="Text 13"/>
          <p:cNvSpPr/>
          <p:nvPr/>
        </p:nvSpPr>
        <p:spPr>
          <a:xfrm>
            <a:off x="2232000" y="1855708"/>
            <a:ext cx="3456000" cy="198214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remier chai urbain de La Roche-sur-Yon, à Mouilleron-le-Captif, fondé par deux amis d’enfance vendéens diplômés en ingénierie agricole à Angers. Les raisins proviennent de 8 domaines partenaires du Val de Loire. Levures indigènes : des jus digestes et éclatants.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322000"/>
                <a:gridCol w="612000"/>
                <a:gridCol w="576000"/>
                <a:gridCol w="594000"/>
                <a:gridCol w="594000"/>
                <a:gridCol w="594000"/>
                <a:gridCol w="59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Courant Chenin</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Source Melon B.</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Reflet Gamay</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446484">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L’Eberluant Chardonnay Méthode ancestrale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612000" y="5816757"/>
            <a:ext cx="0" cy="497268"/>
          </a:xfrm>
          <a:prstGeom prst="line">
            <a:avLst/>
          </a:prstGeom>
          <a:noFill/>
          <a:ln w="17780">
            <a:solidFill>
              <a:srgbClr val="67067C"/>
            </a:solidFill>
            <a:prstDash val="solid"/>
          </a:ln>
        </p:spPr>
      </p:sp>
      <p:sp>
        <p:nvSpPr>
          <p:cNvPr id="22" name="Text 15"/>
          <p:cNvSpPr/>
          <p:nvPr/>
        </p:nvSpPr>
        <p:spPr>
          <a:xfrm>
            <a:off x="720000" y="5816757"/>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120 cols.</a:t>
            </a:r>
            <a:endParaRPr lang="en-US" sz="1050" dirty="0"/>
          </a:p>
        </p:txBody>
      </p:sp>
      <p:sp>
        <p:nvSpPr>
          <p:cNvPr id="23" name="Text 16"/>
          <p:cNvSpPr/>
          <p:nvPr/>
        </p:nvSpPr>
        <p:spPr>
          <a:xfrm>
            <a:off x="612000" y="645802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4" name="Image 4" descr="/home/user/philippe1/build/deco-salon-prive-2026/sol-loire.png">    </p:cNvPr>
          <p:cNvPicPr>
            <a:picLocks noChangeAspect="1"/>
          </p:cNvPicPr>
          <p:nvPr/>
        </p:nvPicPr>
        <p:blipFill>
          <a:blip r:embed="rId5"/>
          <a:stretch>
            <a:fillRect/>
          </a:stretch>
        </p:blipFill>
        <p:spPr>
          <a:xfrm>
            <a:off x="612000" y="6605625"/>
            <a:ext cx="6120000" cy="1148400"/>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9</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17</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Jean de Villebois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80475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is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65715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ISO 26000</a:t>
            </a:r>
            <a:endParaRPr lang="en-US" sz="720" dirty="0"/>
          </a:p>
        </p:txBody>
      </p:sp>
      <p:sp>
        <p:nvSpPr>
          <p:cNvPr id="12" name="Shape 8"/>
          <p:cNvSpPr/>
          <p:nvPr/>
        </p:nvSpPr>
        <p:spPr>
          <a:xfrm>
            <a:off x="1711954"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711954"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3143344" y="1317996"/>
            <a:ext cx="864357" cy="180000"/>
          </a:xfrm>
          <a:prstGeom prst="roundRect">
            <a:avLst>
              <a:gd name="adj" fmla="val 10160"/>
            </a:avLst>
          </a:prstGeom>
          <a:solidFill>
            <a:srgbClr val="D08C3C"/>
          </a:solidFill>
          <a:ln w="8890">
            <a:solidFill>
              <a:srgbClr val="D08C3C"/>
            </a:solidFill>
            <a:prstDash val="solid"/>
          </a:ln>
        </p:spPr>
      </p:sp>
      <p:sp>
        <p:nvSpPr>
          <p:cNvPr id="15" name="Text 11"/>
          <p:cNvSpPr/>
          <p:nvPr/>
        </p:nvSpPr>
        <p:spPr>
          <a:xfrm>
            <a:off x="3143344" y="1317996"/>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6" name="Shape 12"/>
          <p:cNvSpPr/>
          <p:nvPr/>
        </p:nvSpPr>
        <p:spPr>
          <a:xfrm>
            <a:off x="4086901" y="1317996"/>
            <a:ext cx="1204240"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4086901" y="1317996"/>
            <a:ext cx="1204240"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12 vins à la dégustation</a:t>
            </a:r>
            <a:endParaRPr lang="en-US" sz="720" dirty="0"/>
          </a:p>
        </p:txBody>
      </p:sp>
      <p:pic>
        <p:nvPicPr>
          <p:cNvPr id="18" name="Image 2" descr="dans les vignes — Domaine Jean de Villebois">    </p:cNvPr>
          <p:cNvPicPr>
            <a:picLocks noChangeAspect="1"/>
          </p:cNvPicPr>
          <p:nvPr/>
        </p:nvPicPr>
        <p:blipFill>
          <a:blip r:embed="rId3"/>
          <a:stretch>
            <a:fillRect/>
          </a:stretch>
        </p:blipFill>
        <p:spPr>
          <a:xfrm>
            <a:off x="828000" y="1605996"/>
            <a:ext cx="1440000" cy="1440000"/>
          </a:xfrm>
          <a:prstGeom prst="rect">
            <a:avLst/>
          </a:prstGeom>
        </p:spPr>
      </p:pic>
      <p:pic>
        <p:nvPicPr>
          <p:cNvPr id="19" name="Image 3" descr="Une bouteille du domaine Domaine Jean de Villebois">    </p:cNvPr>
          <p:cNvPicPr>
            <a:picLocks noChangeAspect="1"/>
          </p:cNvPicPr>
          <p:nvPr/>
        </p:nvPicPr>
        <p:blipFill>
          <a:blip r:embed="rId4"/>
          <a:stretch>
            <a:fillRect/>
          </a:stretch>
        </p:blipFill>
        <p:spPr>
          <a:xfrm>
            <a:off x="6209557" y="1605996"/>
            <a:ext cx="612885" cy="2232000"/>
          </a:xfrm>
          <a:prstGeom prst="rect">
            <a:avLst/>
          </a:prstGeom>
        </p:spPr>
      </p:pic>
      <p:sp>
        <p:nvSpPr>
          <p:cNvPr id="20" name="Text 14"/>
          <p:cNvSpPr/>
          <p:nvPr/>
        </p:nvSpPr>
        <p:spPr>
          <a:xfrm>
            <a:off x="2393960" y="1742163"/>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21" name="Text 15"/>
          <p:cNvSpPr/>
          <p:nvPr/>
        </p:nvSpPr>
        <p:spPr>
          <a:xfrm>
            <a:off x="2448000" y="1852374"/>
            <a:ext cx="3456000" cy="198547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pécialiste du Sauvignon Blanc ligérien, le domaine explore les plus beaux terroirs de Loire (Sancerre, Pouilly-Fumé, Menetou-Salon, Touraine). Techniques modernes et respect de la typicité des sols calcaires et de silex pour des blancs d’une grande pureté.</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Menetou-Salon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Menetou-Salon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Quincy</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Sancerre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Beltins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Sancerre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Chêne à la Rouline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Pouilly-Fumé</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Vignes de Tréleau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Sancerre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Louisonne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Pouilly-Fumé</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Touraine Chenonceaux</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Sauvignon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D98FA0"/>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Pinot Noir Rosé</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Pinot Noir</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3" name="Shape 16"/>
          <p:cNvSpPr/>
          <p:nvPr/>
        </p:nvSpPr>
        <p:spPr>
          <a:xfrm>
            <a:off x="828000" y="7146983"/>
            <a:ext cx="0" cy="497268"/>
          </a:xfrm>
          <a:prstGeom prst="line">
            <a:avLst/>
          </a:prstGeom>
          <a:noFill/>
          <a:ln w="17780">
            <a:solidFill>
              <a:srgbClr val="67067C"/>
            </a:solidFill>
            <a:prstDash val="solid"/>
          </a:ln>
        </p:spPr>
      </p:sp>
      <p:sp>
        <p:nvSpPr>
          <p:cNvPr id="24" name="Text 17"/>
          <p:cNvSpPr/>
          <p:nvPr/>
        </p:nvSpPr>
        <p:spPr>
          <a:xfrm>
            <a:off x="936000" y="7146983"/>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à partir de 120 cols.</a:t>
            </a:r>
            <a:endParaRPr lang="en-US" sz="1050" dirty="0"/>
          </a:p>
        </p:txBody>
      </p:sp>
      <p:sp>
        <p:nvSpPr>
          <p:cNvPr id="25" name="Text 18"/>
          <p:cNvSpPr/>
          <p:nvPr/>
        </p:nvSpPr>
        <p:spPr>
          <a:xfrm>
            <a:off x="828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Domaine Jean de Villebois et Divin No Low</a:t>
            </a:r>
            <a:endParaRPr lang="en-US" sz="740" dirty="0"/>
          </a:p>
        </p:txBody>
      </p:sp>
      <p:sp>
        <p:nvSpPr>
          <p:cNvPr id="26" name="Shape 19"/>
          <p:cNvSpPr/>
          <p:nvPr/>
        </p:nvSpPr>
        <p:spPr>
          <a:xfrm>
            <a:off x="828000" y="8496000"/>
            <a:ext cx="6120000" cy="0"/>
          </a:xfrm>
          <a:prstGeom prst="line">
            <a:avLst/>
          </a:prstGeom>
          <a:noFill/>
          <a:ln w="8890">
            <a:solidFill>
              <a:srgbClr val="46606E"/>
            </a:solidFill>
            <a:prstDash val="solid"/>
          </a:ln>
        </p:spPr>
      </p:sp>
      <p:sp>
        <p:nvSpPr>
          <p:cNvPr id="27" name="Text 20"/>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8" name="Text 21"/>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9"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10</a:t>
            </a:r>
            <a:endParaRPr lang="en-US" sz="750" dirty="0"/>
          </a:p>
        </p:txBody>
      </p:sp>
      <p:sp>
        <p:nvSpPr>
          <p:cNvPr id="30"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alsa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alsac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2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Alsace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coteaux du Bruderthal</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9</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9   </a:t>
            </a:r>
            <a:r>
              <a:rPr lang="en-US" sz="860" dirty="0">
                <a:solidFill>
                  <a:srgbClr val="FBF8F1"/>
                </a:solidFill>
                <a:latin typeface="IBM Plex Sans" pitchFamily="34" charset="0"/>
                <a:ea typeface="IBM Plex Sans" pitchFamily="34" charset="-122"/>
                <a:cs typeface="IBM Plex Sans" pitchFamily="34" charset="-120"/>
              </a:rPr>
              <a:t>Domaine Boehler</a:t>
            </a:r>
            <a:r>
              <a:rPr lang="en-US" sz="860" b="1" dirty="0">
                <a:solidFill>
                  <a:srgbClr val="FBF8F1"/>
                </a:solidFill>
                <a:latin typeface="IBM Plex Sans" pitchFamily="34" charset="0"/>
                <a:ea typeface="IBM Plex Sans" pitchFamily="34" charset="-122"/>
                <a:cs typeface="IBM Plex Sans" pitchFamily="34" charset="-120"/>
              </a:rPr>
              <a:t>   12</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11</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alsa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9</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Boehler</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ALSACE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858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58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9 vins à la dégustation</a:t>
            </a:r>
            <a:endParaRPr lang="en-US" sz="720" dirty="0"/>
          </a:p>
        </p:txBody>
      </p:sp>
      <p:pic>
        <p:nvPicPr>
          <p:cNvPr id="16" name="Image 2" descr="logo du domaine — Domaine Boehler">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Boehler">    </p:cNvPr>
          <p:cNvPicPr>
            <a:picLocks noChangeAspect="1"/>
          </p:cNvPicPr>
          <p:nvPr/>
        </p:nvPicPr>
        <p:blipFill>
          <a:blip r:embed="rId4"/>
          <a:stretch>
            <a:fillRect/>
          </a:stretch>
        </p:blipFill>
        <p:spPr>
          <a:xfrm>
            <a:off x="6272066" y="1605996"/>
            <a:ext cx="487869" cy="2232000"/>
          </a:xfrm>
          <a:prstGeom prst="rect">
            <a:avLst/>
          </a:prstGeom>
        </p:spPr>
      </p:pic>
      <p:sp>
        <p:nvSpPr>
          <p:cNvPr id="18" name="Text 12"/>
          <p:cNvSpPr/>
          <p:nvPr/>
        </p:nvSpPr>
        <p:spPr>
          <a:xfrm>
            <a:off x="2393956" y="1600668"/>
            <a:ext cx="251419" cy="439318"/>
          </a:xfrm>
          <a:prstGeom prst="rect">
            <a:avLst/>
          </a:prstGeom>
          <a:noFill/>
          <a:ln/>
        </p:spPr>
        <p:txBody>
          <a:bodyPr wrap="square" lIns="0" tIns="0" rIns="0" bIns="0" rtlCol="0" anchor="t"/>
          <a:lstStyle/>
          <a:p>
            <a:pPr algn="r" indent="0" marL="0">
              <a:lnSpc>
                <a:spcPct val="125900"/>
              </a:lnSpc>
              <a:buNone/>
            </a:pPr>
            <a:r>
              <a:rPr lang="en-US" sz="2162" dirty="0">
                <a:solidFill>
                  <a:srgbClr val="67067C"/>
                </a:solidFill>
                <a:latin typeface="Young Serif" pitchFamily="34" charset="0"/>
                <a:ea typeface="Young Serif" pitchFamily="34" charset="-122"/>
                <a:cs typeface="Young Serif" pitchFamily="34" charset="-120"/>
              </a:rPr>
              <a:t>B</a:t>
            </a:r>
            <a:endParaRPr lang="en-US" sz="2162" dirty="0"/>
          </a:p>
        </p:txBody>
      </p:sp>
      <p:sp>
        <p:nvSpPr>
          <p:cNvPr id="19" name="Text 13"/>
          <p:cNvSpPr/>
          <p:nvPr/>
        </p:nvSpPr>
        <p:spPr>
          <a:xfrm>
            <a:off x="2448000" y="1712280"/>
            <a:ext cx="3456000" cy="212557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erceau de tradition vigneronne à Molsheim, le Domaine Boehler aborde une nouvelle ère sous l’impulsion de Julien et Aurélie. Converti à l’agriculture biologique, le tandem explore ses coteaux et le prestigieux Grand Cru Bruderthal pour des vins verticaux, précis et profonds.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Crémant d’Alsace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Molse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Molse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Leimen Sylvaner</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Riesling Holderhurst</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Riesling Hahnenberg</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Gewurztraminer Grand Cru Bruderthal</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Riesling Grand Cru Bruderthal</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Alsace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Seiler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6813311"/>
            <a:ext cx="0" cy="497268"/>
          </a:xfrm>
          <a:prstGeom prst="line">
            <a:avLst/>
          </a:prstGeom>
          <a:noFill/>
          <a:ln w="17780">
            <a:solidFill>
              <a:srgbClr val="67067C"/>
            </a:solidFill>
            <a:prstDash val="solid"/>
          </a:ln>
        </p:spPr>
      </p:sp>
      <p:sp>
        <p:nvSpPr>
          <p:cNvPr id="22" name="Text 15"/>
          <p:cNvSpPr/>
          <p:nvPr/>
        </p:nvSpPr>
        <p:spPr>
          <a:xfrm>
            <a:off x="936000" y="6813311"/>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a:t>
            </a:r>
            <a:endParaRPr lang="en-US" sz="1050" dirty="0"/>
          </a:p>
        </p:txBody>
      </p:sp>
      <p:sp>
        <p:nvSpPr>
          <p:cNvPr id="23" name="Shape 16"/>
          <p:cNvSpPr/>
          <p:nvPr/>
        </p:nvSpPr>
        <p:spPr>
          <a:xfrm>
            <a:off x="828000" y="8496000"/>
            <a:ext cx="6120000" cy="0"/>
          </a:xfrm>
          <a:prstGeom prst="line">
            <a:avLst/>
          </a:prstGeom>
          <a:noFill/>
          <a:ln w="8890">
            <a:solidFill>
              <a:srgbClr val="46606E"/>
            </a:solidFill>
            <a:prstDash val="solid"/>
          </a:ln>
        </p:spPr>
      </p:sp>
      <p:sp>
        <p:nvSpPr>
          <p:cNvPr id="24" name="Text 17"/>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non précisés par le domaine — nous consulter</a:t>
            </a:r>
            <a:endParaRPr lang="en-US" sz="720" dirty="0"/>
          </a:p>
        </p:txBody>
      </p:sp>
      <p:sp>
        <p:nvSpPr>
          <p:cNvPr id="25" name="Text 18"/>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26"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12</a:t>
            </a:r>
            <a:endParaRPr lang="en-US" sz="750" dirty="0"/>
          </a:p>
        </p:txBody>
      </p:sp>
      <p:sp>
        <p:nvSpPr>
          <p:cNvPr id="27"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bourgo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bourgog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3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Bourgogne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climats et terrasses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24</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18   </a:t>
            </a:r>
            <a:r>
              <a:rPr lang="en-US" sz="860" dirty="0">
                <a:solidFill>
                  <a:srgbClr val="FBF8F1"/>
                </a:solidFill>
                <a:latin typeface="IBM Plex Sans" pitchFamily="34" charset="0"/>
                <a:ea typeface="IBM Plex Sans" pitchFamily="34" charset="-122"/>
                <a:cs typeface="IBM Plex Sans" pitchFamily="34" charset="-120"/>
              </a:rPr>
              <a:t>Domaine Sébastien Magnien</a:t>
            </a:r>
            <a:r>
              <a:rPr lang="en-US" sz="860" b="1" dirty="0">
                <a:solidFill>
                  <a:srgbClr val="FBF8F1"/>
                </a:solidFill>
                <a:latin typeface="IBM Plex Sans" pitchFamily="34" charset="0"/>
                <a:ea typeface="IBM Plex Sans" pitchFamily="34" charset="-122"/>
                <a:cs typeface="IBM Plex Sans" pitchFamily="34" charset="-120"/>
              </a:rPr>
              <a:t>   14</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26   </a:t>
            </a:r>
            <a:r>
              <a:rPr lang="en-US" sz="860" dirty="0">
                <a:solidFill>
                  <a:srgbClr val="FBF8F1"/>
                </a:solidFill>
                <a:latin typeface="IBM Plex Sans" pitchFamily="34" charset="0"/>
                <a:ea typeface="IBM Plex Sans" pitchFamily="34" charset="-122"/>
                <a:cs typeface="IBM Plex Sans" pitchFamily="34" charset="-120"/>
              </a:rPr>
              <a:t>Maison et Domaine André Goichot</a:t>
            </a:r>
            <a:r>
              <a:rPr lang="en-US" sz="860" b="1" dirty="0">
                <a:solidFill>
                  <a:srgbClr val="FBF8F1"/>
                </a:solidFill>
                <a:latin typeface="IBM Plex Sans" pitchFamily="34" charset="0"/>
                <a:ea typeface="IBM Plex Sans" pitchFamily="34" charset="-122"/>
                <a:cs typeface="IBM Plex Sans" pitchFamily="34" charset="-120"/>
              </a:rPr>
              <a:t>   15</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26   </a:t>
            </a:r>
            <a:r>
              <a:rPr lang="en-US" sz="860" dirty="0">
                <a:solidFill>
                  <a:srgbClr val="FBF8F1"/>
                </a:solidFill>
                <a:latin typeface="IBM Plex Sans" pitchFamily="34" charset="0"/>
                <a:ea typeface="IBM Plex Sans" pitchFamily="34" charset="-122"/>
                <a:cs typeface="IBM Plex Sans" pitchFamily="34" charset="-120"/>
              </a:rPr>
              <a:t>Château du Cray</a:t>
            </a:r>
            <a:r>
              <a:rPr lang="en-US" sz="860" b="1" dirty="0">
                <a:solidFill>
                  <a:srgbClr val="FBF8F1"/>
                </a:solidFill>
                <a:latin typeface="IBM Plex Sans" pitchFamily="34" charset="0"/>
                <a:ea typeface="IBM Plex Sans" pitchFamily="34" charset="-122"/>
                <a:cs typeface="IBM Plex Sans" pitchFamily="34" charset="-120"/>
              </a:rPr>
              <a:t>   16</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26   </a:t>
            </a:r>
            <a:r>
              <a:rPr lang="en-US" sz="860" dirty="0">
                <a:solidFill>
                  <a:srgbClr val="FBF8F1"/>
                </a:solidFill>
                <a:latin typeface="IBM Plex Sans" pitchFamily="34" charset="0"/>
                <a:ea typeface="IBM Plex Sans" pitchFamily="34" charset="-122"/>
                <a:cs typeface="IBM Plex Sans" pitchFamily="34" charset="-120"/>
              </a:rPr>
              <a:t>Domaine Les Guignottes</a:t>
            </a:r>
            <a:r>
              <a:rPr lang="en-US" sz="860" b="1" dirty="0">
                <a:solidFill>
                  <a:srgbClr val="FBF8F1"/>
                </a:solidFill>
                <a:latin typeface="IBM Plex Sans" pitchFamily="34" charset="0"/>
                <a:ea typeface="IBM Plex Sans" pitchFamily="34" charset="-122"/>
                <a:cs typeface="IBM Plex Sans" pitchFamily="34" charset="-120"/>
              </a:rPr>
              <a:t>   17</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5   </a:t>
            </a:r>
            <a:r>
              <a:rPr lang="en-US" sz="860" dirty="0">
                <a:solidFill>
                  <a:srgbClr val="FBF8F1"/>
                </a:solidFill>
                <a:latin typeface="IBM Plex Sans" pitchFamily="34" charset="0"/>
                <a:ea typeface="IBM Plex Sans" pitchFamily="34" charset="-122"/>
                <a:cs typeface="IBM Plex Sans" pitchFamily="34" charset="-120"/>
              </a:rPr>
              <a:t>Domaine des Verchères</a:t>
            </a:r>
            <a:r>
              <a:rPr lang="en-US" sz="860" b="1" dirty="0">
                <a:solidFill>
                  <a:srgbClr val="FBF8F1"/>
                </a:solidFill>
                <a:latin typeface="IBM Plex Sans" pitchFamily="34" charset="0"/>
                <a:ea typeface="IBM Plex Sans" pitchFamily="34" charset="-122"/>
                <a:cs typeface="IBM Plex Sans" pitchFamily="34" charset="-120"/>
              </a:rPr>
              <a:t>   18</a:t>
            </a:r>
            <a:endParaRPr lang="en-US" sz="860" dirty="0"/>
          </a:p>
        </p:txBody>
      </p:sp>
      <p:sp>
        <p:nvSpPr>
          <p:cNvPr id="17" name="Text 1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13</a:t>
            </a:r>
            <a:endParaRPr lang="en-US" sz="750" dirty="0"/>
          </a:p>
        </p:txBody>
      </p:sp>
      <p:sp>
        <p:nvSpPr>
          <p:cNvPr id="18" name="Text 1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18</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Sébastien Magnien</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126451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raisonnee.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111691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Agriculture raisonnée</a:t>
            </a:r>
            <a:endParaRPr lang="en-US" sz="720" dirty="0"/>
          </a:p>
        </p:txBody>
      </p:sp>
      <p:sp>
        <p:nvSpPr>
          <p:cNvPr id="12" name="Shape 8"/>
          <p:cNvSpPr/>
          <p:nvPr/>
        </p:nvSpPr>
        <p:spPr>
          <a:xfrm>
            <a:off x="2171714"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2171714"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2881825" y="1317996"/>
            <a:ext cx="1385474"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2881825"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6" name="Shape 12"/>
          <p:cNvSpPr/>
          <p:nvPr/>
        </p:nvSpPr>
        <p:spPr>
          <a:xfrm>
            <a:off x="4346499"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4346499"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8" name="Image 2" descr="portrait au chai, recadré au-dessus du verre — Domaine Sébastien Magnien">    </p:cNvPr>
          <p:cNvPicPr>
            <a:picLocks noChangeAspect="1"/>
          </p:cNvPicPr>
          <p:nvPr/>
        </p:nvPicPr>
        <p:blipFill>
          <a:blip r:embed="rId3"/>
          <a:stretch>
            <a:fillRect/>
          </a:stretch>
        </p:blipFill>
        <p:spPr>
          <a:xfrm>
            <a:off x="828000" y="1605996"/>
            <a:ext cx="1440000" cy="1440000"/>
          </a:xfrm>
          <a:prstGeom prst="rect">
            <a:avLst/>
          </a:prstGeom>
        </p:spPr>
      </p:pic>
      <p:pic>
        <p:nvPicPr>
          <p:cNvPr id="19" name="Image 3" descr="Une bouteille du domaine Domaine Sébastien Magnien">    </p:cNvPr>
          <p:cNvPicPr>
            <a:picLocks noChangeAspect="1"/>
          </p:cNvPicPr>
          <p:nvPr/>
        </p:nvPicPr>
        <p:blipFill>
          <a:blip r:embed="rId4"/>
          <a:stretch>
            <a:fillRect/>
          </a:stretch>
        </p:blipFill>
        <p:spPr>
          <a:xfrm>
            <a:off x="6224803" y="1605996"/>
            <a:ext cx="582393" cy="2232000"/>
          </a:xfrm>
          <a:prstGeom prst="rect">
            <a:avLst/>
          </a:prstGeom>
        </p:spPr>
      </p:pic>
      <p:sp>
        <p:nvSpPr>
          <p:cNvPr id="20" name="Text 14"/>
          <p:cNvSpPr/>
          <p:nvPr/>
        </p:nvSpPr>
        <p:spPr>
          <a:xfrm>
            <a:off x="2394020" y="1618453"/>
            <a:ext cx="166424" cy="441960"/>
          </a:xfrm>
          <a:prstGeom prst="rect">
            <a:avLst/>
          </a:prstGeom>
          <a:noFill/>
          <a:ln/>
        </p:spPr>
        <p:txBody>
          <a:bodyPr wrap="square" lIns="0" tIns="0" rIns="0" bIns="0" rtlCol="0" anchor="t"/>
          <a:lstStyle/>
          <a:p>
            <a:pPr algn="r" indent="0" marL="0">
              <a:lnSpc>
                <a:spcPct val="125100"/>
              </a:lnSpc>
              <a:buNone/>
            </a:pPr>
            <a:r>
              <a:rPr lang="en-US" sz="2175" dirty="0">
                <a:solidFill>
                  <a:srgbClr val="67067C"/>
                </a:solidFill>
                <a:latin typeface="Young Serif" pitchFamily="34" charset="0"/>
                <a:ea typeface="Young Serif" pitchFamily="34" charset="-122"/>
                <a:cs typeface="Young Serif" pitchFamily="34" charset="-120"/>
              </a:rPr>
              <a:t>I</a:t>
            </a:r>
            <a:endParaRPr lang="en-US" sz="2175" dirty="0"/>
          </a:p>
        </p:txBody>
      </p:sp>
      <p:sp>
        <p:nvSpPr>
          <p:cNvPr id="21" name="Text 15"/>
          <p:cNvSpPr/>
          <p:nvPr/>
        </p:nvSpPr>
        <p:spPr>
          <a:xfrm>
            <a:off x="2448000" y="1734296"/>
            <a:ext cx="3456000" cy="2103556"/>
          </a:xfrm>
          <a:prstGeom prst="rect">
            <a:avLst/>
          </a:prstGeom>
          <a:noFill/>
          <a:ln/>
        </p:spPr>
        <p:txBody>
          <a:bodyPr wrap="square" lIns="0" tIns="0" rIns="0" bIns="0" rtlCol="0" anchor="t"/>
          <a:lstStyle/>
          <a:p>
            <a:pPr indent="0" marL="0">
              <a:lnSpc>
                <a:spcPct val="142000"/>
              </a:lnSpc>
              <a:buNone/>
            </a:pPr>
            <a:r>
              <a:rPr lang="en-US" sz="1275" dirty="0">
                <a:solidFill>
                  <a:srgbClr val="46606E"/>
                </a:solidFill>
                <a:latin typeface="Spectral" pitchFamily="34" charset="0"/>
                <a:ea typeface="Spectral" pitchFamily="34" charset="-122"/>
                <a:cs typeface="Spectral" pitchFamily="34" charset="-120"/>
              </a:rPr>
              <a:t>   nstallé à Meursault depuis 2004, Sébastien Magnien conduit 12 hectares sur les terroirs d’élite de la Côte de Beaune et des Hautes-Côtes (Pommard, Volnay, Puligny, Saint-Romain). Vendanges manuelles et élevages en fûts de chêne signent des Pinots et Chardonnays d’élégance et de tension. Vins sous allocation.</a:t>
            </a:r>
            <a:endParaRPr lang="en-US" sz="1275"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Hautes-Côtes de Beaune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Meursault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Beaune 1er Cru</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Aigrots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Hautes-Côtes de Beaune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Clos de la Perrière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Beaune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Bons Feuvres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Beaune 1er Cru</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Aigrots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Pommard</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Perrières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Shape 16"/>
          <p:cNvSpPr/>
          <p:nvPr/>
        </p:nvSpPr>
        <p:spPr>
          <a:xfrm>
            <a:off x="828000" y="6222909"/>
            <a:ext cx="0" cy="497268"/>
          </a:xfrm>
          <a:prstGeom prst="line">
            <a:avLst/>
          </a:prstGeom>
          <a:noFill/>
          <a:ln w="17780">
            <a:solidFill>
              <a:srgbClr val="67067C"/>
            </a:solidFill>
            <a:prstDash val="solid"/>
          </a:ln>
        </p:spPr>
      </p:sp>
      <p:sp>
        <p:nvSpPr>
          <p:cNvPr id="24" name="Text 17"/>
          <p:cNvSpPr/>
          <p:nvPr/>
        </p:nvSpPr>
        <p:spPr>
          <a:xfrm>
            <a:off x="936000" y="6222909"/>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120 cols.</a:t>
            </a:r>
            <a:endParaRPr lang="en-US" sz="1050" dirty="0"/>
          </a:p>
        </p:txBody>
      </p:sp>
      <p:sp>
        <p:nvSpPr>
          <p:cNvPr id="25" name="Text 18"/>
          <p:cNvSpPr/>
          <p:nvPr/>
        </p:nvSpPr>
        <p:spPr>
          <a:xfrm>
            <a:off x="828000" y="686417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6" name="Image 4" descr="/home/user/philippe1/build/deco-salon-prive-2026/sol-bourgogne.png">    </p:cNvPr>
          <p:cNvPicPr>
            <a:picLocks noChangeAspect="1"/>
          </p:cNvPicPr>
          <p:nvPr/>
        </p:nvPicPr>
        <p:blipFill>
          <a:blip r:embed="rId5"/>
          <a:stretch>
            <a:fillRect/>
          </a:stretch>
        </p:blipFill>
        <p:spPr>
          <a:xfrm>
            <a:off x="828000" y="7011777"/>
            <a:ext cx="6120000" cy="1109497"/>
          </a:xfrm>
          <a:prstGeom prst="rect">
            <a:avLst/>
          </a:prstGeom>
        </p:spPr>
      </p:pic>
      <p:sp>
        <p:nvSpPr>
          <p:cNvPr id="27" name="Shape 19"/>
          <p:cNvSpPr/>
          <p:nvPr/>
        </p:nvSpPr>
        <p:spPr>
          <a:xfrm>
            <a:off x="828000" y="8496000"/>
            <a:ext cx="6120000" cy="0"/>
          </a:xfrm>
          <a:prstGeom prst="line">
            <a:avLst/>
          </a:prstGeom>
          <a:noFill/>
          <a:ln w="8890">
            <a:solidFill>
              <a:srgbClr val="46606E"/>
            </a:solidFill>
            <a:prstDash val="solid"/>
          </a:ln>
        </p:spPr>
      </p:sp>
      <p:sp>
        <p:nvSpPr>
          <p:cNvPr id="28" name="Text 20"/>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9" name="Text 21"/>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30"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14</a:t>
            </a:r>
            <a:endParaRPr lang="en-US" sz="750" dirty="0"/>
          </a:p>
        </p:txBody>
      </p:sp>
      <p:sp>
        <p:nvSpPr>
          <p:cNvPr id="31"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26</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1850" dirty="0">
                <a:solidFill>
                  <a:srgbClr val="46606E"/>
                </a:solidFill>
                <a:latin typeface="Young Serif" pitchFamily="34" charset="0"/>
                <a:ea typeface="Young Serif" pitchFamily="34" charset="-122"/>
                <a:cs typeface="Young Serif" pitchFamily="34" charset="-120"/>
              </a:rPr>
              <a:t>Maison et Domaine André Goichot</a:t>
            </a:r>
            <a:endParaRPr lang="en-US" sz="185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528148"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2" name="Shape 8"/>
          <p:cNvSpPr/>
          <p:nvPr/>
        </p:nvSpPr>
        <p:spPr>
          <a:xfrm>
            <a:off x="1219348"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1219348"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1929459" y="1317996"/>
            <a:ext cx="1352190"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1929459"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6" name="Shape 12"/>
          <p:cNvSpPr/>
          <p:nvPr/>
        </p:nvSpPr>
        <p:spPr>
          <a:xfrm>
            <a:off x="3360848"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3360848"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9 vins à la dégustation</a:t>
            </a:r>
            <a:endParaRPr lang="en-US" sz="720" dirty="0"/>
          </a:p>
        </p:txBody>
      </p:sp>
      <p:pic>
        <p:nvPicPr>
          <p:cNvPr id="18" name="Image 2" descr="deux portraits de la maison, côte à côte — Maison et Domaine André Goichot">    </p:cNvPr>
          <p:cNvPicPr>
            <a:picLocks noChangeAspect="1"/>
          </p:cNvPicPr>
          <p:nvPr/>
        </p:nvPicPr>
        <p:blipFill>
          <a:blip r:embed="rId3"/>
          <a:stretch>
            <a:fillRect/>
          </a:stretch>
        </p:blipFill>
        <p:spPr>
          <a:xfrm>
            <a:off x="612000" y="1605996"/>
            <a:ext cx="1440000" cy="1440000"/>
          </a:xfrm>
          <a:prstGeom prst="rect">
            <a:avLst/>
          </a:prstGeom>
        </p:spPr>
      </p:pic>
      <p:pic>
        <p:nvPicPr>
          <p:cNvPr id="19" name="Image 3" descr="Une bouteille du domaine Maison et Domaine André Goichot">    </p:cNvPr>
          <p:cNvPicPr>
            <a:picLocks noChangeAspect="1"/>
          </p:cNvPicPr>
          <p:nvPr/>
        </p:nvPicPr>
        <p:blipFill>
          <a:blip r:embed="rId4"/>
          <a:stretch>
            <a:fillRect/>
          </a:stretch>
        </p:blipFill>
        <p:spPr>
          <a:xfrm>
            <a:off x="6019475" y="1605996"/>
            <a:ext cx="561049" cy="2232000"/>
          </a:xfrm>
          <a:prstGeom prst="rect">
            <a:avLst/>
          </a:prstGeom>
        </p:spPr>
      </p:pic>
      <p:sp>
        <p:nvSpPr>
          <p:cNvPr id="20" name="Text 14"/>
          <p:cNvSpPr/>
          <p:nvPr/>
        </p:nvSpPr>
        <p:spPr>
          <a:xfrm>
            <a:off x="2178034" y="1595338"/>
            <a:ext cx="251341" cy="454965"/>
          </a:xfrm>
          <a:prstGeom prst="rect">
            <a:avLst/>
          </a:prstGeom>
          <a:noFill/>
          <a:ln/>
        </p:spPr>
        <p:txBody>
          <a:bodyPr wrap="square" lIns="0" tIns="0" rIns="0" bIns="0" rtlCol="0" anchor="t"/>
          <a:lstStyle/>
          <a:p>
            <a:pPr algn="r" indent="0" marL="0">
              <a:lnSpc>
                <a:spcPct val="124800"/>
              </a:lnSpc>
              <a:buNone/>
            </a:pPr>
            <a:r>
              <a:rPr lang="en-US" sz="2239" dirty="0">
                <a:solidFill>
                  <a:srgbClr val="67067C"/>
                </a:solidFill>
                <a:latin typeface="Young Serif" pitchFamily="34" charset="0"/>
                <a:ea typeface="Young Serif" pitchFamily="34" charset="-122"/>
                <a:cs typeface="Young Serif" pitchFamily="34" charset="-120"/>
              </a:rPr>
              <a:t>F</a:t>
            </a:r>
            <a:endParaRPr lang="en-US" sz="2239" dirty="0"/>
          </a:p>
        </p:txBody>
      </p:sp>
      <p:sp>
        <p:nvSpPr>
          <p:cNvPr id="21" name="Text 15"/>
          <p:cNvSpPr/>
          <p:nvPr/>
        </p:nvSpPr>
        <p:spPr>
          <a:xfrm>
            <a:off x="2232000" y="1715947"/>
            <a:ext cx="3456000" cy="212190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leuron familial et indépendant fondé en 1947, la Maison André Goichot porte l’exigence des grands climats de Bourgogne. Sélections parcellaires méticuleuses et cuverie d’élevage de pointe inaugurée en 2020. Panachage possible avec le Château du Cray et le Domaine Les Guignottes. Vins sous allocation.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Pouilly-Vinzelles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Auxey-Duresses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21,20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Crémant de Bourgogne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Baron Auguste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Crémant de Bourgogne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Baron Auguste Rosé</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Chassagne-Montrachet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Nuits-Saint-Georges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Aux Allots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33,90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33,60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32,30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Mercurey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Givry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Gevrey-Chambertin</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43,50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43,20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41,60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Shape 16"/>
          <p:cNvSpPr/>
          <p:nvPr/>
        </p:nvSpPr>
        <p:spPr>
          <a:xfrm>
            <a:off x="612000" y="6500325"/>
            <a:ext cx="0" cy="497268"/>
          </a:xfrm>
          <a:prstGeom prst="line">
            <a:avLst/>
          </a:prstGeom>
          <a:noFill/>
          <a:ln w="17780">
            <a:solidFill>
              <a:srgbClr val="67067C"/>
            </a:solidFill>
            <a:prstDash val="solid"/>
          </a:ln>
        </p:spPr>
      </p:sp>
      <p:sp>
        <p:nvSpPr>
          <p:cNvPr id="24" name="Text 17"/>
          <p:cNvSpPr/>
          <p:nvPr/>
        </p:nvSpPr>
        <p:spPr>
          <a:xfrm>
            <a:off x="720000" y="6500325"/>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126 cols.</a:t>
            </a:r>
            <a:endParaRPr lang="en-US" sz="1050" dirty="0"/>
          </a:p>
        </p:txBody>
      </p:sp>
      <p:sp>
        <p:nvSpPr>
          <p:cNvPr id="25" name="Text 18"/>
          <p:cNvSpPr/>
          <p:nvPr/>
        </p:nvSpPr>
        <p:spPr>
          <a:xfrm>
            <a:off x="612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Château du Cray, stand 26 p. 16 · Domaine Les Guignottes, stand 26 p. 17</a:t>
            </a:r>
            <a:endParaRPr lang="en-US" sz="740" dirty="0"/>
          </a:p>
        </p:txBody>
      </p:sp>
      <p:sp>
        <p:nvSpPr>
          <p:cNvPr id="26" name="Shape 19"/>
          <p:cNvSpPr/>
          <p:nvPr/>
        </p:nvSpPr>
        <p:spPr>
          <a:xfrm>
            <a:off x="612000" y="8496000"/>
            <a:ext cx="6120000" cy="0"/>
          </a:xfrm>
          <a:prstGeom prst="line">
            <a:avLst/>
          </a:prstGeom>
          <a:noFill/>
          <a:ln w="8890">
            <a:solidFill>
              <a:srgbClr val="46606E"/>
            </a:solidFill>
            <a:prstDash val="solid"/>
          </a:ln>
        </p:spPr>
      </p:sp>
      <p:sp>
        <p:nvSpPr>
          <p:cNvPr id="27" name="Text 20"/>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21"/>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29" name="Text 2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15</a:t>
            </a:r>
            <a:endParaRPr lang="en-US" sz="750" dirty="0"/>
          </a:p>
        </p:txBody>
      </p:sp>
      <p:sp>
        <p:nvSpPr>
          <p:cNvPr id="30" name="Text 2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26</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du Cray</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828000"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259390" y="1317996"/>
            <a:ext cx="1103747"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259390" y="1317996"/>
            <a:ext cx="1103747"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 vin à la dégustation</a:t>
            </a:r>
            <a:endParaRPr lang="en-US" sz="720" dirty="0"/>
          </a:p>
        </p:txBody>
      </p:sp>
      <p:pic>
        <p:nvPicPr>
          <p:cNvPr id="13" name="Image 1" descr="le vignoble du Château du Cray (bannière de sa page) — Château du Cray">    </p:cNvPr>
          <p:cNvPicPr>
            <a:picLocks noChangeAspect="1"/>
          </p:cNvPicPr>
          <p:nvPr/>
        </p:nvPicPr>
        <p:blipFill>
          <a:blip r:embed="rId2"/>
          <a:stretch>
            <a:fillRect/>
          </a:stretch>
        </p:blipFill>
        <p:spPr>
          <a:xfrm>
            <a:off x="828000" y="1605996"/>
            <a:ext cx="1440000" cy="1440000"/>
          </a:xfrm>
          <a:prstGeom prst="rect">
            <a:avLst/>
          </a:prstGeom>
        </p:spPr>
      </p:pic>
      <p:pic>
        <p:nvPicPr>
          <p:cNvPr id="14" name="Image 2" descr="Une bouteille du domaine Château du Cray">    </p:cNvPr>
          <p:cNvPicPr>
            <a:picLocks noChangeAspect="1"/>
          </p:cNvPicPr>
          <p:nvPr/>
        </p:nvPicPr>
        <p:blipFill>
          <a:blip r:embed="rId3"/>
          <a:stretch>
            <a:fillRect/>
          </a:stretch>
        </p:blipFill>
        <p:spPr>
          <a:xfrm>
            <a:off x="6216831" y="1605996"/>
            <a:ext cx="598337" cy="2232000"/>
          </a:xfrm>
          <a:prstGeom prst="rect">
            <a:avLst/>
          </a:prstGeom>
        </p:spPr>
      </p:pic>
      <p:sp>
        <p:nvSpPr>
          <p:cNvPr id="15" name="Text 10"/>
          <p:cNvSpPr/>
          <p:nvPr/>
        </p:nvSpPr>
        <p:spPr>
          <a:xfrm>
            <a:off x="2393990" y="1642404"/>
            <a:ext cx="254560" cy="406197"/>
          </a:xfrm>
          <a:prstGeom prst="rect">
            <a:avLst/>
          </a:prstGeom>
          <a:noFill/>
          <a:ln/>
        </p:spPr>
        <p:txBody>
          <a:bodyPr wrap="square" lIns="0" tIns="0" rIns="0" bIns="0" rtlCol="0" anchor="t"/>
          <a:lstStyle/>
          <a:p>
            <a:pPr algn="r" indent="0" marL="0">
              <a:lnSpc>
                <a:spcPct val="123100"/>
              </a:lnSpc>
              <a:buNone/>
            </a:pPr>
            <a:r>
              <a:rPr lang="en-US" sz="1999" dirty="0">
                <a:solidFill>
                  <a:srgbClr val="67067C"/>
                </a:solidFill>
                <a:latin typeface="Young Serif" pitchFamily="34" charset="0"/>
                <a:ea typeface="Young Serif" pitchFamily="34" charset="-122"/>
                <a:cs typeface="Young Serif" pitchFamily="34" charset="-120"/>
              </a:rPr>
              <a:t>D</a:t>
            </a:r>
            <a:endParaRPr lang="en-US" sz="1999" dirty="0"/>
          </a:p>
        </p:txBody>
      </p:sp>
      <p:sp>
        <p:nvSpPr>
          <p:cNvPr id="16" name="Text 11"/>
          <p:cNvSpPr/>
          <p:nvPr/>
        </p:nvSpPr>
        <p:spPr>
          <a:xfrm>
            <a:off x="2448000" y="1756664"/>
            <a:ext cx="3456000" cy="2081188"/>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epuis 2016, la famille Goichot est aux commandes de ce charmant domaine, précieuse propriété de la famille Perret du Cray depuis 1798. Situé au nord de Buxy, en Saône-et-Loire, le Château du Cray s’étend sur un domaine viticole de 22 hectares. Les vignes s’étendent autour du château, au milieu du coteau et bénéficient d’une exposition privilégiée Est-Sud-Est. Le domaine bénéficie d’un MONOPOLE : Le Cornevent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Mercurey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8" name="Shape 12"/>
          <p:cNvSpPr/>
          <p:nvPr/>
        </p:nvSpPr>
        <p:spPr>
          <a:xfrm>
            <a:off x="828000" y="4541896"/>
            <a:ext cx="0" cy="497268"/>
          </a:xfrm>
          <a:prstGeom prst="line">
            <a:avLst/>
          </a:prstGeom>
          <a:noFill/>
          <a:ln w="17780">
            <a:solidFill>
              <a:srgbClr val="67067C"/>
            </a:solidFill>
            <a:prstDash val="solid"/>
          </a:ln>
        </p:spPr>
      </p:sp>
      <p:sp>
        <p:nvSpPr>
          <p:cNvPr id="19" name="Text 13"/>
          <p:cNvSpPr/>
          <p:nvPr/>
        </p:nvSpPr>
        <p:spPr>
          <a:xfrm>
            <a:off x="936000" y="4541896"/>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126 cols.</a:t>
            </a:r>
            <a:endParaRPr lang="en-US" sz="1050" dirty="0"/>
          </a:p>
        </p:txBody>
      </p:sp>
      <p:sp>
        <p:nvSpPr>
          <p:cNvPr id="20" name="Text 14"/>
          <p:cNvSpPr/>
          <p:nvPr/>
        </p:nvSpPr>
        <p:spPr>
          <a:xfrm>
            <a:off x="828000" y="518316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1" name="Image 3" descr="/home/user/philippe1/build/deco-salon-prive-2026/sol-bourgogne.png">    </p:cNvPr>
          <p:cNvPicPr>
            <a:picLocks noChangeAspect="1"/>
          </p:cNvPicPr>
          <p:nvPr/>
        </p:nvPicPr>
        <p:blipFill>
          <a:blip r:embed="rId4"/>
          <a:stretch>
            <a:fillRect/>
          </a:stretch>
        </p:blipFill>
        <p:spPr>
          <a:xfrm>
            <a:off x="828000" y="5330763"/>
            <a:ext cx="6120000" cy="1383310"/>
          </a:xfrm>
          <a:prstGeom prst="rect">
            <a:avLst/>
          </a:prstGeom>
        </p:spPr>
      </p:pic>
      <p:sp>
        <p:nvSpPr>
          <p:cNvPr id="22" name="Text 15"/>
          <p:cNvSpPr/>
          <p:nvPr/>
        </p:nvSpPr>
        <p:spPr>
          <a:xfrm>
            <a:off x="828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Maison et Domaine André Goichot, stand 26 p. 15 · Domaine Les Guignottes, stand 26 p. 17</a:t>
            </a:r>
            <a:endParaRPr lang="en-US" sz="740" dirty="0"/>
          </a:p>
        </p:txBody>
      </p:sp>
      <p:sp>
        <p:nvSpPr>
          <p:cNvPr id="23" name="Shape 16"/>
          <p:cNvSpPr/>
          <p:nvPr/>
        </p:nvSpPr>
        <p:spPr>
          <a:xfrm>
            <a:off x="828000" y="8496000"/>
            <a:ext cx="6120000" cy="0"/>
          </a:xfrm>
          <a:prstGeom prst="line">
            <a:avLst/>
          </a:prstGeom>
          <a:noFill/>
          <a:ln w="8890">
            <a:solidFill>
              <a:srgbClr val="46606E"/>
            </a:solidFill>
            <a:prstDash val="solid"/>
          </a:ln>
        </p:spPr>
      </p:sp>
      <p:sp>
        <p:nvSpPr>
          <p:cNvPr id="24" name="Text 17"/>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8"/>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pictos de l’Agence SCIO, pas les logos officiels</a:t>
            </a:r>
            <a:endParaRPr lang="en-US" sz="650" dirty="0"/>
          </a:p>
        </p:txBody>
      </p:sp>
      <p:sp>
        <p:nvSpPr>
          <p:cNvPr id="26"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16</a:t>
            </a:r>
            <a:endParaRPr lang="en-US" sz="750" dirty="0"/>
          </a:p>
        </p:txBody>
      </p:sp>
      <p:sp>
        <p:nvSpPr>
          <p:cNvPr id="27"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26</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Les Guignottes</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1352190" cy="180000"/>
          </a:xfrm>
          <a:prstGeom prst="roundRect">
            <a:avLst>
              <a:gd name="adj" fmla="val 10160"/>
            </a:avLst>
          </a:prstGeom>
          <a:solidFill>
            <a:srgbClr val="F2EADA"/>
          </a:solidFill>
          <a:ln w="8890">
            <a:solidFill>
              <a:srgbClr val="A8515F"/>
            </a:solidFill>
            <a:prstDash val="solid"/>
          </a:ln>
        </p:spPr>
      </p:sp>
      <p:sp>
        <p:nvSpPr>
          <p:cNvPr id="10" name="Text 7"/>
          <p:cNvSpPr/>
          <p:nvPr/>
        </p:nvSpPr>
        <p:spPr>
          <a:xfrm>
            <a:off x="612000"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1" name="Shape 8"/>
          <p:cNvSpPr/>
          <p:nvPr/>
        </p:nvSpPr>
        <p:spPr>
          <a:xfrm>
            <a:off x="2043390" y="1317996"/>
            <a:ext cx="1149376" cy="180000"/>
          </a:xfrm>
          <a:prstGeom prst="roundRect">
            <a:avLst>
              <a:gd name="adj" fmla="val 10160"/>
            </a:avLst>
          </a:prstGeom>
          <a:solidFill>
            <a:srgbClr val="F2EADA"/>
          </a:solidFill>
          <a:ln w="8890">
            <a:solidFill>
              <a:srgbClr val="46606E"/>
            </a:solidFill>
            <a:prstDash val="solid"/>
          </a:ln>
        </p:spPr>
      </p:sp>
      <p:sp>
        <p:nvSpPr>
          <p:cNvPr id="12" name="Text 9"/>
          <p:cNvSpPr/>
          <p:nvPr/>
        </p:nvSpPr>
        <p:spPr>
          <a:xfrm>
            <a:off x="2043390"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 vins à la dégustation</a:t>
            </a:r>
            <a:endParaRPr lang="en-US" sz="720" dirty="0"/>
          </a:p>
        </p:txBody>
      </p:sp>
      <p:pic>
        <p:nvPicPr>
          <p:cNvPr id="13" name="Image 1" descr="nom du domaine sur ses vignes — Domaine Les Guignottes">    </p:cNvPr>
          <p:cNvPicPr>
            <a:picLocks noChangeAspect="1"/>
          </p:cNvPicPr>
          <p:nvPr/>
        </p:nvPicPr>
        <p:blipFill>
          <a:blip r:embed="rId2"/>
          <a:stretch>
            <a:fillRect/>
          </a:stretch>
        </p:blipFill>
        <p:spPr>
          <a:xfrm>
            <a:off x="612000" y="1605996"/>
            <a:ext cx="1440000" cy="1440000"/>
          </a:xfrm>
          <a:prstGeom prst="rect">
            <a:avLst/>
          </a:prstGeom>
        </p:spPr>
      </p:pic>
      <p:pic>
        <p:nvPicPr>
          <p:cNvPr id="14" name="Image 2" descr="Une bouteille du domaine Domaine Les Guignottes">    </p:cNvPr>
          <p:cNvPicPr>
            <a:picLocks noChangeAspect="1"/>
          </p:cNvPicPr>
          <p:nvPr/>
        </p:nvPicPr>
        <p:blipFill>
          <a:blip r:embed="rId3"/>
          <a:stretch>
            <a:fillRect/>
          </a:stretch>
        </p:blipFill>
        <p:spPr>
          <a:xfrm>
            <a:off x="6014902" y="1605996"/>
            <a:ext cx="570197" cy="2232000"/>
          </a:xfrm>
          <a:prstGeom prst="rect">
            <a:avLst/>
          </a:prstGeom>
        </p:spPr>
      </p:pic>
      <p:sp>
        <p:nvSpPr>
          <p:cNvPr id="15" name="Text 10"/>
          <p:cNvSpPr/>
          <p:nvPr/>
        </p:nvSpPr>
        <p:spPr>
          <a:xfrm>
            <a:off x="2177990" y="1523380"/>
            <a:ext cx="254560" cy="406197"/>
          </a:xfrm>
          <a:prstGeom prst="rect">
            <a:avLst/>
          </a:prstGeom>
          <a:noFill/>
          <a:ln/>
        </p:spPr>
        <p:txBody>
          <a:bodyPr wrap="square" lIns="0" tIns="0" rIns="0" bIns="0" rtlCol="0" anchor="t"/>
          <a:lstStyle/>
          <a:p>
            <a:pPr algn="r" indent="0" marL="0">
              <a:lnSpc>
                <a:spcPct val="123100"/>
              </a:lnSpc>
              <a:buNone/>
            </a:pPr>
            <a:r>
              <a:rPr lang="en-US" sz="1999" dirty="0">
                <a:solidFill>
                  <a:srgbClr val="67067C"/>
                </a:solidFill>
                <a:latin typeface="Young Serif" pitchFamily="34" charset="0"/>
                <a:ea typeface="Young Serif" pitchFamily="34" charset="-122"/>
                <a:cs typeface="Young Serif" pitchFamily="34" charset="-120"/>
              </a:rPr>
              <a:t>D</a:t>
            </a:r>
            <a:endParaRPr lang="en-US" sz="1999" dirty="0"/>
          </a:p>
        </p:txBody>
      </p:sp>
      <p:sp>
        <p:nvSpPr>
          <p:cNvPr id="16" name="Text 11"/>
          <p:cNvSpPr/>
          <p:nvPr/>
        </p:nvSpPr>
        <p:spPr>
          <a:xfrm>
            <a:off x="2232000" y="1637639"/>
            <a:ext cx="3456000" cy="2200213"/>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epuis 2015, la famille Goichot est fière de diriger la distribution exclusive du Domaine Les Guignottes, une propriété de 10 hectares à Saint-Valérien en Côte Châlonnaise. Avec une palette de cépage incluant l’Aligoté, Le Pinot Noir et le Chardonnay, les vins du domaine reflètent avec élégance leur terroir d’origine. En harmonie avec les tendances actuelles, ils mettent en valeur la minéralité et la légèreté, une expérience qui célèbre la tradition et la qualité de la Côte Châlonnaise.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AOP Bourgogne Chardonnay</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Bourgogne Pinot Noir</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Domaine les Guignottes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8" name="Shape 12"/>
          <p:cNvSpPr/>
          <p:nvPr/>
        </p:nvSpPr>
        <p:spPr>
          <a:xfrm>
            <a:off x="612000" y="4851905"/>
            <a:ext cx="0" cy="497268"/>
          </a:xfrm>
          <a:prstGeom prst="line">
            <a:avLst/>
          </a:prstGeom>
          <a:noFill/>
          <a:ln w="17780">
            <a:solidFill>
              <a:srgbClr val="67067C"/>
            </a:solidFill>
            <a:prstDash val="solid"/>
          </a:ln>
        </p:spPr>
      </p:sp>
      <p:sp>
        <p:nvSpPr>
          <p:cNvPr id="19" name="Text 13"/>
          <p:cNvSpPr/>
          <p:nvPr/>
        </p:nvSpPr>
        <p:spPr>
          <a:xfrm>
            <a:off x="720000" y="4851905"/>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126 cols.</a:t>
            </a:r>
            <a:endParaRPr lang="en-US" sz="1050" dirty="0"/>
          </a:p>
        </p:txBody>
      </p:sp>
      <p:sp>
        <p:nvSpPr>
          <p:cNvPr id="20" name="Text 14"/>
          <p:cNvSpPr/>
          <p:nvPr/>
        </p:nvSpPr>
        <p:spPr>
          <a:xfrm>
            <a:off x="612000" y="549317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1" name="Image 3" descr="/home/user/philippe1/build/deco-salon-prive-2026/sol-bourgogne.png">    </p:cNvPr>
          <p:cNvPicPr>
            <a:picLocks noChangeAspect="1"/>
          </p:cNvPicPr>
          <p:nvPr/>
        </p:nvPicPr>
        <p:blipFill>
          <a:blip r:embed="rId4"/>
          <a:stretch>
            <a:fillRect/>
          </a:stretch>
        </p:blipFill>
        <p:spPr>
          <a:xfrm>
            <a:off x="612000" y="5640772"/>
            <a:ext cx="6120000" cy="1197304"/>
          </a:xfrm>
          <a:prstGeom prst="rect">
            <a:avLst/>
          </a:prstGeom>
        </p:spPr>
      </p:pic>
      <p:sp>
        <p:nvSpPr>
          <p:cNvPr id="22" name="Text 15"/>
          <p:cNvSpPr/>
          <p:nvPr/>
        </p:nvSpPr>
        <p:spPr>
          <a:xfrm>
            <a:off x="612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Maison et Domaine André Goichot, stand 26 p. 15 · Château du Cray, stand 26 p. 16</a:t>
            </a:r>
            <a:endParaRPr lang="en-US" sz="740" dirty="0"/>
          </a:p>
        </p:txBody>
      </p:sp>
      <p:sp>
        <p:nvSpPr>
          <p:cNvPr id="23" name="Shape 16"/>
          <p:cNvSpPr/>
          <p:nvPr/>
        </p:nvSpPr>
        <p:spPr>
          <a:xfrm>
            <a:off x="612000" y="8496000"/>
            <a:ext cx="6120000" cy="0"/>
          </a:xfrm>
          <a:prstGeom prst="line">
            <a:avLst/>
          </a:prstGeom>
          <a:noFill/>
          <a:ln w="8890">
            <a:solidFill>
              <a:srgbClr val="46606E"/>
            </a:solidFill>
            <a:prstDash val="solid"/>
          </a:ln>
        </p:spPr>
      </p:sp>
      <p:sp>
        <p:nvSpPr>
          <p:cNvPr id="24" name="Text 17"/>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5" name="Text 18"/>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17</a:t>
            </a:r>
            <a:endParaRPr lang="en-US" sz="750" dirty="0"/>
          </a:p>
        </p:txBody>
      </p:sp>
      <p:sp>
        <p:nvSpPr>
          <p:cNvPr id="27"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5</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des Verchères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528148"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2" name="Shape 8"/>
          <p:cNvSpPr/>
          <p:nvPr/>
        </p:nvSpPr>
        <p:spPr>
          <a:xfrm>
            <a:off x="1435348"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435348"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900022"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900022"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vins à la dégustation</a:t>
            </a:r>
            <a:endParaRPr lang="en-US" sz="720" dirty="0"/>
          </a:p>
        </p:txBody>
      </p:sp>
      <p:pic>
        <p:nvPicPr>
          <p:cNvPr id="16" name="Image 2" descr="portrait du vigneron — Domaine des Verchères">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des Verchères">    </p:cNvPr>
          <p:cNvPicPr>
            <a:picLocks noChangeAspect="1"/>
          </p:cNvPicPr>
          <p:nvPr/>
        </p:nvPicPr>
        <p:blipFill>
          <a:blip r:embed="rId4"/>
          <a:stretch>
            <a:fillRect/>
          </a:stretch>
        </p:blipFill>
        <p:spPr>
          <a:xfrm>
            <a:off x="6238525" y="1605996"/>
            <a:ext cx="554951" cy="2232000"/>
          </a:xfrm>
          <a:prstGeom prst="rect">
            <a:avLst/>
          </a:prstGeom>
        </p:spPr>
      </p:pic>
      <p:sp>
        <p:nvSpPr>
          <p:cNvPr id="18" name="Text 12"/>
          <p:cNvSpPr/>
          <p:nvPr/>
        </p:nvSpPr>
        <p:spPr>
          <a:xfrm>
            <a:off x="2394017" y="1596653"/>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9" name="Text 13"/>
          <p:cNvSpPr/>
          <p:nvPr/>
        </p:nvSpPr>
        <p:spPr>
          <a:xfrm>
            <a:off x="2448000" y="1715043"/>
            <a:ext cx="3456000" cy="2122809"/>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ropriété familiale transmise depuis sept générations, établie à Mancey au cœur du Mâconnais. Certifié HVE, le domaine limite rigoureusement ses intrants pour préserver la vie des sols et alimente sa cave en énergie solaire, pour des vins purs, gourmands et équilibrés.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180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Mâcon Chardonnay</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Mâcon Mancey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Mâcon Mancey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Bourgogne Passe-Tout-Grains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Bulles du Puits Rosé Gamay Demi-Sec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364618"/>
            <a:ext cx="0" cy="259440"/>
          </a:xfrm>
          <a:prstGeom prst="line">
            <a:avLst/>
          </a:prstGeom>
          <a:noFill/>
          <a:ln w="17780">
            <a:solidFill>
              <a:srgbClr val="67067C"/>
            </a:solidFill>
            <a:prstDash val="solid"/>
          </a:ln>
        </p:spPr>
      </p:sp>
      <p:sp>
        <p:nvSpPr>
          <p:cNvPr id="22" name="Text 15"/>
          <p:cNvSpPr/>
          <p:nvPr/>
        </p:nvSpPr>
        <p:spPr>
          <a:xfrm>
            <a:off x="936000" y="5364618"/>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chai.</a:t>
            </a:r>
            <a:endParaRPr lang="en-US" sz="1050" dirty="0"/>
          </a:p>
        </p:txBody>
      </p:sp>
      <p:sp>
        <p:nvSpPr>
          <p:cNvPr id="23" name="Text 16"/>
          <p:cNvSpPr/>
          <p:nvPr/>
        </p:nvSpPr>
        <p:spPr>
          <a:xfrm>
            <a:off x="828000" y="576805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4" name="Image 4" descr="/home/user/philippe1/build/deco-salon-prive-2026/sol-bourgogne.png">    </p:cNvPr>
          <p:cNvPicPr>
            <a:picLocks noChangeAspect="1"/>
          </p:cNvPicPr>
          <p:nvPr/>
        </p:nvPicPr>
        <p:blipFill>
          <a:blip r:embed="rId5"/>
          <a:stretch>
            <a:fillRect/>
          </a:stretch>
        </p:blipFill>
        <p:spPr>
          <a:xfrm>
            <a:off x="828000" y="5915658"/>
            <a:ext cx="6120000" cy="1314730"/>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18</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rho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rho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4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Rhône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grès et Trias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24</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r>
              <a:rPr lang="en-US" sz="860" dirty="0">
                <a:solidFill>
                  <a:srgbClr val="FBF8F1"/>
                </a:solidFill>
                <a:latin typeface="IBM Plex Sans" pitchFamily="34" charset="0"/>
                <a:ea typeface="IBM Plex Sans" pitchFamily="34" charset="-122"/>
                <a:cs typeface="IBM Plex Sans" pitchFamily="34" charset="-120"/>
              </a:rPr>
              <a:t>Domaine Le Prieuré des Papes</a:t>
            </a:r>
            <a:r>
              <a:rPr lang="en-US" sz="860" b="1" dirty="0">
                <a:solidFill>
                  <a:srgbClr val="FBF8F1"/>
                </a:solidFill>
                <a:latin typeface="IBM Plex Sans" pitchFamily="34" charset="0"/>
                <a:ea typeface="IBM Plex Sans" pitchFamily="34" charset="-122"/>
                <a:cs typeface="IBM Plex Sans" pitchFamily="34" charset="-120"/>
              </a:rPr>
              <a:t>   20</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r>
              <a:rPr lang="en-US" sz="860" dirty="0">
                <a:solidFill>
                  <a:srgbClr val="FBF8F1"/>
                </a:solidFill>
                <a:latin typeface="IBM Plex Sans" pitchFamily="34" charset="0"/>
                <a:ea typeface="IBM Plex Sans" pitchFamily="34" charset="-122"/>
                <a:cs typeface="IBM Plex Sans" pitchFamily="34" charset="-120"/>
              </a:rPr>
              <a:t>Domaine de Coyeux</a:t>
            </a:r>
            <a:r>
              <a:rPr lang="en-US" sz="860" b="1" dirty="0">
                <a:solidFill>
                  <a:srgbClr val="FBF8F1"/>
                </a:solidFill>
                <a:latin typeface="IBM Plex Sans" pitchFamily="34" charset="0"/>
                <a:ea typeface="IBM Plex Sans" pitchFamily="34" charset="-122"/>
                <a:cs typeface="IBM Plex Sans" pitchFamily="34" charset="-120"/>
              </a:rPr>
              <a:t>   21</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r>
              <a:rPr lang="en-US" sz="860" dirty="0">
                <a:solidFill>
                  <a:srgbClr val="FBF8F1"/>
                </a:solidFill>
                <a:latin typeface="IBM Plex Sans" pitchFamily="34" charset="0"/>
                <a:ea typeface="IBM Plex Sans" pitchFamily="34" charset="-122"/>
                <a:cs typeface="IBM Plex Sans" pitchFamily="34" charset="-120"/>
              </a:rPr>
              <a:t>Domaine du Moulin Blanc</a:t>
            </a:r>
            <a:r>
              <a:rPr lang="en-US" sz="860" b="1" dirty="0">
                <a:solidFill>
                  <a:srgbClr val="FBF8F1"/>
                </a:solidFill>
                <a:latin typeface="IBM Plex Sans" pitchFamily="34" charset="0"/>
                <a:ea typeface="IBM Plex Sans" pitchFamily="34" charset="-122"/>
                <a:cs typeface="IBM Plex Sans" pitchFamily="34" charset="-120"/>
              </a:rPr>
              <a:t>   22</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r>
              <a:rPr lang="en-US" sz="860" dirty="0">
                <a:solidFill>
                  <a:srgbClr val="FBF8F1"/>
                </a:solidFill>
                <a:latin typeface="IBM Plex Sans" pitchFamily="34" charset="0"/>
                <a:ea typeface="IBM Plex Sans" pitchFamily="34" charset="-122"/>
                <a:cs typeface="IBM Plex Sans" pitchFamily="34" charset="-120"/>
              </a:rPr>
              <a:t>Domaine de la Pousterle</a:t>
            </a:r>
            <a:r>
              <a:rPr lang="en-US" sz="860" b="1" dirty="0">
                <a:solidFill>
                  <a:srgbClr val="FBF8F1"/>
                </a:solidFill>
                <a:latin typeface="IBM Plex Sans" pitchFamily="34" charset="0"/>
                <a:ea typeface="IBM Plex Sans" pitchFamily="34" charset="-122"/>
                <a:cs typeface="IBM Plex Sans" pitchFamily="34" charset="-120"/>
              </a:rPr>
              <a:t>   23</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12   </a:t>
            </a:r>
            <a:r>
              <a:rPr lang="en-US" sz="860" dirty="0">
                <a:solidFill>
                  <a:srgbClr val="FBF8F1"/>
                </a:solidFill>
                <a:latin typeface="IBM Plex Sans" pitchFamily="34" charset="0"/>
                <a:ea typeface="IBM Plex Sans" pitchFamily="34" charset="-122"/>
                <a:cs typeface="IBM Plex Sans" pitchFamily="34" charset="-120"/>
              </a:rPr>
              <a:t>Domaine Trichon</a:t>
            </a:r>
            <a:r>
              <a:rPr lang="en-US" sz="860" b="1" dirty="0">
                <a:solidFill>
                  <a:srgbClr val="FBF8F1"/>
                </a:solidFill>
                <a:latin typeface="IBM Plex Sans" pitchFamily="34" charset="0"/>
                <a:ea typeface="IBM Plex Sans" pitchFamily="34" charset="-122"/>
                <a:cs typeface="IBM Plex Sans" pitchFamily="34" charset="-120"/>
              </a:rPr>
              <a:t>   24</a:t>
            </a:r>
            <a:endParaRPr lang="en-US" sz="860" dirty="0"/>
          </a:p>
        </p:txBody>
      </p:sp>
      <p:sp>
        <p:nvSpPr>
          <p:cNvPr id="17" name="Text 1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19</a:t>
            </a:r>
            <a:endParaRPr lang="en-US" sz="750" dirty="0"/>
          </a:p>
        </p:txBody>
      </p:sp>
      <p:sp>
        <p:nvSpPr>
          <p:cNvPr id="18" name="Text 1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7</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Le Prieuré des Papes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825041"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25041"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vins à la dégustation</a:t>
            </a:r>
            <a:endParaRPr lang="en-US" sz="720" dirty="0"/>
          </a:p>
        </p:txBody>
      </p:sp>
      <p:pic>
        <p:nvPicPr>
          <p:cNvPr id="16" name="Image 2" descr="logo du domaine — Domaine Le Prieuré des Papes">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Le Prieuré des Papes">    </p:cNvPr>
          <p:cNvPicPr>
            <a:picLocks noChangeAspect="1"/>
          </p:cNvPicPr>
          <p:nvPr/>
        </p:nvPicPr>
        <p:blipFill>
          <a:blip r:embed="rId4"/>
          <a:stretch>
            <a:fillRect/>
          </a:stretch>
        </p:blipFill>
        <p:spPr>
          <a:xfrm>
            <a:off x="6227852" y="1605996"/>
            <a:ext cx="576295" cy="2232000"/>
          </a:xfrm>
          <a:prstGeom prst="rect">
            <a:avLst/>
          </a:prstGeom>
        </p:spPr>
      </p:pic>
      <p:sp>
        <p:nvSpPr>
          <p:cNvPr id="18" name="Text 12"/>
          <p:cNvSpPr/>
          <p:nvPr/>
        </p:nvSpPr>
        <p:spPr>
          <a:xfrm>
            <a:off x="2394049" y="1438911"/>
            <a:ext cx="165601" cy="227178"/>
          </a:xfrm>
          <a:prstGeom prst="rect">
            <a:avLst/>
          </a:prstGeom>
          <a:noFill/>
          <a:ln/>
        </p:spPr>
        <p:txBody>
          <a:bodyPr wrap="square" lIns="0" tIns="0" rIns="0" bIns="0" rtlCol="0" anchor="t"/>
          <a:lstStyle/>
          <a:p>
            <a:pPr algn="r" indent="0" marL="0">
              <a:lnSpc>
                <a:spcPct val="134200"/>
              </a:lnSpc>
              <a:buNone/>
            </a:pPr>
            <a:r>
              <a:rPr lang="en-US" sz="1118" dirty="0">
                <a:solidFill>
                  <a:srgbClr val="67067C"/>
                </a:solidFill>
                <a:latin typeface="Young Serif" pitchFamily="34" charset="0"/>
                <a:ea typeface="Young Serif" pitchFamily="34" charset="-122"/>
                <a:cs typeface="Young Serif" pitchFamily="34" charset="-120"/>
              </a:rPr>
              <a:t>A</a:t>
            </a:r>
            <a:endParaRPr lang="en-US" sz="1118" dirty="0"/>
          </a:p>
        </p:txBody>
      </p:sp>
      <p:sp>
        <p:nvSpPr>
          <p:cNvPr id="19" name="Text 13"/>
          <p:cNvSpPr/>
          <p:nvPr/>
        </p:nvSpPr>
        <p:spPr>
          <a:xfrm>
            <a:off x="2448000" y="1466503"/>
            <a:ext cx="3456000" cy="2492049"/>
          </a:xfrm>
          <a:prstGeom prst="rect">
            <a:avLst/>
          </a:prstGeom>
          <a:noFill/>
          <a:ln/>
        </p:spPr>
        <p:txBody>
          <a:bodyPr wrap="square" lIns="0" tIns="0" rIns="0" bIns="0" rtlCol="0" anchor="t"/>
          <a:lstStyle/>
          <a:p>
            <a:pPr indent="0" marL="0">
              <a:lnSpc>
                <a:spcPct val="136000"/>
              </a:lnSpc>
              <a:buNone/>
            </a:pPr>
            <a:r>
              <a:rPr lang="en-US" sz="950" dirty="0">
                <a:solidFill>
                  <a:srgbClr val="46606E"/>
                </a:solidFill>
                <a:latin typeface="Spectral" pitchFamily="34" charset="0"/>
                <a:ea typeface="Spectral" pitchFamily="34" charset="-122"/>
                <a:cs typeface="Spectral" pitchFamily="34" charset="-120"/>
              </a:rPr>
              <a:t>    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8000" y="40881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540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du Rhône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Prieuré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Châteauneuf-du-Pape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Vieilles Vignes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Châteauneuf-du-Pape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Vieilles Vignes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Châteauneuf-du-Pape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Couchant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2020</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27,00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5800982"/>
            <a:ext cx="0" cy="497268"/>
          </a:xfrm>
          <a:prstGeom prst="line">
            <a:avLst/>
          </a:prstGeom>
          <a:noFill/>
          <a:ln w="17780">
            <a:solidFill>
              <a:srgbClr val="67067C"/>
            </a:solidFill>
            <a:prstDash val="solid"/>
          </a:ln>
        </p:spPr>
      </p:sp>
      <p:sp>
        <p:nvSpPr>
          <p:cNvPr id="22" name="Text 15"/>
          <p:cNvSpPr/>
          <p:nvPr/>
        </p:nvSpPr>
        <p:spPr>
          <a:xfrm>
            <a:off x="936000" y="5800982"/>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 ; offre 5+1 à partir de 540 cols.</a:t>
            </a:r>
            <a:endParaRPr lang="en-US" sz="1050" dirty="0"/>
          </a:p>
        </p:txBody>
      </p:sp>
      <p:sp>
        <p:nvSpPr>
          <p:cNvPr id="23" name="Text 16"/>
          <p:cNvSpPr/>
          <p:nvPr/>
        </p:nvSpPr>
        <p:spPr>
          <a:xfrm>
            <a:off x="828000" y="6442249"/>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4" name="Image 4" descr="/home/user/philippe1/build/deco-salon-prive-2026/sol-rhone.png">    </p:cNvPr>
          <p:cNvPicPr>
            <a:picLocks noChangeAspect="1"/>
          </p:cNvPicPr>
          <p:nvPr/>
        </p:nvPicPr>
        <p:blipFill>
          <a:blip r:embed="rId5"/>
          <a:stretch>
            <a:fillRect/>
          </a:stretch>
        </p:blipFill>
        <p:spPr>
          <a:xfrm>
            <a:off x="828000" y="6589849"/>
            <a:ext cx="6120000" cy="1060830"/>
          </a:xfrm>
          <a:prstGeom prst="rect">
            <a:avLst/>
          </a:prstGeom>
        </p:spPr>
      </p:pic>
      <p:sp>
        <p:nvSpPr>
          <p:cNvPr id="25" name="Text 17"/>
          <p:cNvSpPr/>
          <p:nvPr/>
        </p:nvSpPr>
        <p:spPr>
          <a:xfrm>
            <a:off x="828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Domaine de Coyeux, stand 7 p. 21 · Domaine du Moulin Blanc, stand 7 p. 22 · Domaine de la Pousterle, stand 7 p. 23</a:t>
            </a:r>
            <a:endParaRPr lang="en-US" sz="740" dirty="0"/>
          </a:p>
        </p:txBody>
      </p:sp>
      <p:sp>
        <p:nvSpPr>
          <p:cNvPr id="26" name="Shape 18"/>
          <p:cNvSpPr/>
          <p:nvPr/>
        </p:nvSpPr>
        <p:spPr>
          <a:xfrm>
            <a:off x="828000" y="8496000"/>
            <a:ext cx="6120000" cy="0"/>
          </a:xfrm>
          <a:prstGeom prst="line">
            <a:avLst/>
          </a:prstGeom>
          <a:noFill/>
          <a:ln w="8890">
            <a:solidFill>
              <a:srgbClr val="46606E"/>
            </a:solidFill>
            <a:prstDash val="solid"/>
          </a:ln>
        </p:spPr>
      </p:sp>
      <p:sp>
        <p:nvSpPr>
          <p:cNvPr id="27" name="Text 19"/>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20"/>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9" name="Text 21"/>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20</a:t>
            </a:r>
            <a:endParaRPr lang="en-US" sz="750" dirty="0"/>
          </a:p>
        </p:txBody>
      </p:sp>
      <p:sp>
        <p:nvSpPr>
          <p:cNvPr id="30" name="Text 22"/>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7</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de Coyeux</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609041"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09041"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vins à la dégustation</a:t>
            </a:r>
            <a:endParaRPr lang="en-US" sz="720" dirty="0"/>
          </a:p>
        </p:txBody>
      </p:sp>
      <p:pic>
        <p:nvPicPr>
          <p:cNvPr id="16" name="Image 2" descr="le domaine — Domaine de Coyeux">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Domaine de Coyeux">    </p:cNvPr>
          <p:cNvPicPr>
            <a:picLocks noChangeAspect="1"/>
          </p:cNvPicPr>
          <p:nvPr/>
        </p:nvPicPr>
        <p:blipFill>
          <a:blip r:embed="rId4"/>
          <a:stretch>
            <a:fillRect/>
          </a:stretch>
        </p:blipFill>
        <p:spPr>
          <a:xfrm>
            <a:off x="6001180" y="1605996"/>
            <a:ext cx="597639" cy="2232000"/>
          </a:xfrm>
          <a:prstGeom prst="rect">
            <a:avLst/>
          </a:prstGeom>
        </p:spPr>
      </p:pic>
      <p:sp>
        <p:nvSpPr>
          <p:cNvPr id="18" name="Text 12"/>
          <p:cNvSpPr/>
          <p:nvPr/>
        </p:nvSpPr>
        <p:spPr>
          <a:xfrm>
            <a:off x="2178017" y="1423269"/>
            <a:ext cx="195795" cy="324104"/>
          </a:xfrm>
          <a:prstGeom prst="rect">
            <a:avLst/>
          </a:prstGeom>
          <a:noFill/>
          <a:ln/>
        </p:spPr>
        <p:txBody>
          <a:bodyPr wrap="square" lIns="0" tIns="0" rIns="0" bIns="0" rtlCol="0" anchor="t"/>
          <a:lstStyle/>
          <a:p>
            <a:pPr algn="r" indent="0" marL="0">
              <a:lnSpc>
                <a:spcPct val="125600"/>
              </a:lnSpc>
              <a:buNone/>
            </a:pPr>
            <a:r>
              <a:rPr lang="en-US" sz="1595" dirty="0">
                <a:solidFill>
                  <a:srgbClr val="67067C"/>
                </a:solidFill>
                <a:latin typeface="Young Serif" pitchFamily="34" charset="0"/>
                <a:ea typeface="Young Serif" pitchFamily="34" charset="-122"/>
                <a:cs typeface="Young Serif" pitchFamily="34" charset="-120"/>
              </a:rPr>
              <a:t>P</a:t>
            </a:r>
            <a:endParaRPr lang="en-US" sz="1595" dirty="0"/>
          </a:p>
        </p:txBody>
      </p:sp>
      <p:sp>
        <p:nvSpPr>
          <p:cNvPr id="19" name="Text 13"/>
          <p:cNvSpPr/>
          <p:nvPr/>
        </p:nvSpPr>
        <p:spPr>
          <a:xfrm>
            <a:off x="2232000" y="1506594"/>
            <a:ext cx="3456000" cy="2813908"/>
          </a:xfrm>
          <a:prstGeom prst="rect">
            <a:avLst/>
          </a:prstGeom>
          <a:noFill/>
          <a:ln/>
        </p:spPr>
        <p:txBody>
          <a:bodyPr wrap="square" lIns="0" tIns="0" rIns="0" bIns="0" rtlCol="0" anchor="t"/>
          <a:lstStyle/>
          <a:p>
            <a:pPr indent="0" marL="0">
              <a:lnSpc>
                <a:spcPct val="142000"/>
              </a:lnSpc>
              <a:buNone/>
            </a:pPr>
            <a:r>
              <a:rPr lang="en-US" sz="950" dirty="0">
                <a:solidFill>
                  <a:srgbClr val="46606E"/>
                </a:solidFill>
                <a:latin typeface="Spectral" pitchFamily="34" charset="0"/>
                <a:ea typeface="Spectral" pitchFamily="34" charset="-122"/>
                <a:cs typeface="Spectral" pitchFamily="34" charset="-120"/>
              </a:rPr>
              <a:t>     ropriété du groupe Maisons &amp; Vignobles Strasser-Radziwill depuis 2022, le Domaine de Coyeux niché au pied des Dentelles de Montmirail s’étend sur 120 hectares d’un seul tenant, au sein de l’aire de l’appellation viticole Beaumes-de-Venise. Dans ce superbe environnement naturel, le domaine est constitué de bois, de garrigue et de vignes. Le vignoble du Domaine de Coyeux s’étend sur la formation géologique du Trias, un sol très ancien qui confère aux vins une qualité exceptionnelle. Les premières vignes du domaine de Coyeux datent des années 1950. Aujourd’hui, les vins sont issus d’un vignoble âgé de 40 à 70 ans et de parcelles plus récentes. Le domaine bénéficie de l’abri naturel de la colline. Son exposition au sud favorise un ensoleillement idéal. À 300 mètres d’altitude, la température est plus fraîche et participe à l’élégance des vins de Coyeux.</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2000" y="445010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540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Premières Fleurs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Premières Fleurs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Muscat BDV</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Or des Dentelles Blanc Moelleux</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Muscat BDV</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Or des Dentelles Blanc Moelleux</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37,5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Beaumes de Venise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Jumelles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6472941"/>
            <a:ext cx="0" cy="497268"/>
          </a:xfrm>
          <a:prstGeom prst="line">
            <a:avLst/>
          </a:prstGeom>
          <a:noFill/>
          <a:ln w="17780">
            <a:solidFill>
              <a:srgbClr val="67067C"/>
            </a:solidFill>
            <a:prstDash val="solid"/>
          </a:ln>
        </p:spPr>
      </p:sp>
      <p:sp>
        <p:nvSpPr>
          <p:cNvPr id="22" name="Text 15"/>
          <p:cNvSpPr/>
          <p:nvPr/>
        </p:nvSpPr>
        <p:spPr>
          <a:xfrm>
            <a:off x="720000" y="6472941"/>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 ; offre 5+1 à partir de 540 cols.</a:t>
            </a:r>
            <a:endParaRPr lang="en-US" sz="1050" dirty="0"/>
          </a:p>
        </p:txBody>
      </p:sp>
      <p:sp>
        <p:nvSpPr>
          <p:cNvPr id="23" name="Text 16"/>
          <p:cNvSpPr/>
          <p:nvPr/>
        </p:nvSpPr>
        <p:spPr>
          <a:xfrm>
            <a:off x="612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Domaine Le Prieuré des Papes, stand 7 p. 20 · Domaine du Moulin Blanc, stand 7 p. 22 · Domaine de la Pousterle, stand 7 p. 23</a:t>
            </a:r>
            <a:endParaRPr lang="en-US" sz="740" dirty="0"/>
          </a:p>
        </p:txBody>
      </p:sp>
      <p:sp>
        <p:nvSpPr>
          <p:cNvPr id="24" name="Shape 17"/>
          <p:cNvSpPr/>
          <p:nvPr/>
        </p:nvSpPr>
        <p:spPr>
          <a:xfrm>
            <a:off x="612000" y="8496000"/>
            <a:ext cx="6120000" cy="0"/>
          </a:xfrm>
          <a:prstGeom prst="line">
            <a:avLst/>
          </a:prstGeom>
          <a:noFill/>
          <a:ln w="8890">
            <a:solidFill>
              <a:srgbClr val="46606E"/>
            </a:solidFill>
            <a:prstDash val="solid"/>
          </a:ln>
        </p:spPr>
      </p:sp>
      <p:sp>
        <p:nvSpPr>
          <p:cNvPr id="25"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7"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21</a:t>
            </a:r>
            <a:endParaRPr lang="en-US" sz="750" dirty="0"/>
          </a:p>
        </p:txBody>
      </p:sp>
      <p:sp>
        <p:nvSpPr>
          <p:cNvPr id="28"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7</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du Moulin Blanc</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825041" y="1317996"/>
            <a:ext cx="1103747"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25041" y="1317996"/>
            <a:ext cx="1103747"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 vin à la dégustation</a:t>
            </a:r>
            <a:endParaRPr lang="en-US" sz="720" dirty="0"/>
          </a:p>
        </p:txBody>
      </p:sp>
      <p:pic>
        <p:nvPicPr>
          <p:cNvPr id="16" name="Image 2" descr="le couple, cadrage élargi (les deux visages entiers), toujours au-dessus du verre — Domaine du Moulin Blanc">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du Moulin Blanc">    </p:cNvPr>
          <p:cNvPicPr>
            <a:picLocks noChangeAspect="1"/>
          </p:cNvPicPr>
          <p:nvPr/>
        </p:nvPicPr>
        <p:blipFill>
          <a:blip r:embed="rId4"/>
          <a:stretch>
            <a:fillRect/>
          </a:stretch>
        </p:blipFill>
        <p:spPr>
          <a:xfrm>
            <a:off x="6220230" y="1605996"/>
            <a:ext cx="591541" cy="2232000"/>
          </a:xfrm>
          <a:prstGeom prst="rect">
            <a:avLst/>
          </a:prstGeom>
        </p:spPr>
      </p:pic>
      <p:sp>
        <p:nvSpPr>
          <p:cNvPr id="18" name="Text 12"/>
          <p:cNvSpPr/>
          <p:nvPr/>
        </p:nvSpPr>
        <p:spPr>
          <a:xfrm>
            <a:off x="2393970" y="1566804"/>
            <a:ext cx="199812" cy="322682"/>
          </a:xfrm>
          <a:prstGeom prst="rect">
            <a:avLst/>
          </a:prstGeom>
          <a:noFill/>
          <a:ln/>
        </p:spPr>
        <p:txBody>
          <a:bodyPr wrap="square" lIns="0" tIns="0" rIns="0" bIns="0" rtlCol="0" anchor="t"/>
          <a:lstStyle/>
          <a:p>
            <a:pPr algn="r" indent="0" marL="0">
              <a:lnSpc>
                <a:spcPct val="126600"/>
              </a:lnSpc>
              <a:buNone/>
            </a:pPr>
            <a:r>
              <a:rPr lang="en-US" sz="1588" dirty="0">
                <a:solidFill>
                  <a:srgbClr val="67067C"/>
                </a:solidFill>
                <a:latin typeface="Young Serif" pitchFamily="34" charset="0"/>
                <a:ea typeface="Young Serif" pitchFamily="34" charset="-122"/>
                <a:cs typeface="Young Serif" pitchFamily="34" charset="-120"/>
              </a:rPr>
              <a:t>S</a:t>
            </a:r>
            <a:endParaRPr lang="en-US" sz="1588" dirty="0"/>
          </a:p>
        </p:txBody>
      </p:sp>
      <p:sp>
        <p:nvSpPr>
          <p:cNvPr id="19" name="Text 13"/>
          <p:cNvSpPr/>
          <p:nvPr/>
        </p:nvSpPr>
        <p:spPr>
          <a:xfrm>
            <a:off x="2448000" y="1646599"/>
            <a:ext cx="3456000" cy="2191253"/>
          </a:xfrm>
          <a:prstGeom prst="rect">
            <a:avLst/>
          </a:prstGeom>
          <a:noFill/>
          <a:ln/>
        </p:spPr>
        <p:txBody>
          <a:bodyPr wrap="square" lIns="0" tIns="0" rIns="0" bIns="0" rtlCol="0" anchor="t"/>
          <a:lstStyle/>
          <a:p>
            <a:pPr indent="0" marL="0">
              <a:lnSpc>
                <a:spcPct val="142000"/>
              </a:lnSpc>
              <a:buNone/>
            </a:pPr>
            <a:r>
              <a:rPr lang="en-US" sz="975" dirty="0">
                <a:solidFill>
                  <a:srgbClr val="46606E"/>
                </a:solidFill>
                <a:latin typeface="Spectral" pitchFamily="34" charset="0"/>
                <a:ea typeface="Spectral" pitchFamily="34" charset="-122"/>
                <a:cs typeface="Spectral" pitchFamily="34" charset="-120"/>
              </a:rPr>
              <a:t>     itué au cœur d’un terroir d’exception, le Domaine du Moulin Blanc incarne l’authenticité et le savoir-faire viticole transmis de génération en génération. Alliant tradition et modernité, le domaine cultive ses vignes avec passion et rigueur pour produire des vins reflétant toute la richesse de leurs origines. Le vignoble s’étend sur un sol généreux, bénéficiant d’un climat idéal, propice à l’expression de cépages nobles et typiques. Chaque cuvée est élaborée avec soin, dans le respect de l’environnement et du cycle naturel de la vigne, pour offrir des vins équilibrés, élégants et sincères.</a:t>
            </a:r>
            <a:endParaRPr lang="en-US" sz="975"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540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du Rhône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Côtes du Rhône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4750255"/>
            <a:ext cx="0" cy="497268"/>
          </a:xfrm>
          <a:prstGeom prst="line">
            <a:avLst/>
          </a:prstGeom>
          <a:noFill/>
          <a:ln w="17780">
            <a:solidFill>
              <a:srgbClr val="67067C"/>
            </a:solidFill>
            <a:prstDash val="solid"/>
          </a:ln>
        </p:spPr>
      </p:sp>
      <p:sp>
        <p:nvSpPr>
          <p:cNvPr id="22" name="Text 15"/>
          <p:cNvSpPr/>
          <p:nvPr/>
        </p:nvSpPr>
        <p:spPr>
          <a:xfrm>
            <a:off x="936000" y="4750255"/>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 ; offre 5+1 à partir de 540 cols.</a:t>
            </a:r>
            <a:endParaRPr lang="en-US" sz="1050" dirty="0"/>
          </a:p>
        </p:txBody>
      </p:sp>
      <p:sp>
        <p:nvSpPr>
          <p:cNvPr id="23" name="Text 16"/>
          <p:cNvSpPr/>
          <p:nvPr/>
        </p:nvSpPr>
        <p:spPr>
          <a:xfrm>
            <a:off x="828000" y="539152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4" name="Image 4" descr="/home/user/philippe1/build/deco-salon-prive-2026/sol-rhone.png">    </p:cNvPr>
          <p:cNvPicPr>
            <a:picLocks noChangeAspect="1"/>
          </p:cNvPicPr>
          <p:nvPr/>
        </p:nvPicPr>
        <p:blipFill>
          <a:blip r:embed="rId5"/>
          <a:stretch>
            <a:fillRect/>
          </a:stretch>
        </p:blipFill>
        <p:spPr>
          <a:xfrm>
            <a:off x="828000" y="5539123"/>
            <a:ext cx="6120000" cy="1258294"/>
          </a:xfrm>
          <a:prstGeom prst="rect">
            <a:avLst/>
          </a:prstGeom>
        </p:spPr>
      </p:pic>
      <p:sp>
        <p:nvSpPr>
          <p:cNvPr id="25" name="Text 17"/>
          <p:cNvSpPr/>
          <p:nvPr/>
        </p:nvSpPr>
        <p:spPr>
          <a:xfrm>
            <a:off x="828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Domaine Le Prieuré des Papes, stand 7 p. 20 · Domaine de Coyeux, stand 7 p. 21 · Domaine de la Pousterle, stand 7 p. 23</a:t>
            </a:r>
            <a:endParaRPr lang="en-US" sz="740" dirty="0"/>
          </a:p>
        </p:txBody>
      </p:sp>
      <p:sp>
        <p:nvSpPr>
          <p:cNvPr id="26" name="Shape 18"/>
          <p:cNvSpPr/>
          <p:nvPr/>
        </p:nvSpPr>
        <p:spPr>
          <a:xfrm>
            <a:off x="828000" y="8496000"/>
            <a:ext cx="6120000" cy="0"/>
          </a:xfrm>
          <a:prstGeom prst="line">
            <a:avLst/>
          </a:prstGeom>
          <a:noFill/>
          <a:ln w="8890">
            <a:solidFill>
              <a:srgbClr val="46606E"/>
            </a:solidFill>
            <a:prstDash val="solid"/>
          </a:ln>
        </p:spPr>
      </p:sp>
      <p:sp>
        <p:nvSpPr>
          <p:cNvPr id="27" name="Text 19"/>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20"/>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9" name="Text 21"/>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22</a:t>
            </a:r>
            <a:endParaRPr lang="en-US" sz="750" dirty="0"/>
          </a:p>
        </p:txBody>
      </p:sp>
      <p:sp>
        <p:nvSpPr>
          <p:cNvPr id="30" name="Text 22"/>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7</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de la Pousterle</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609041"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09041"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vins à la dégustation</a:t>
            </a:r>
            <a:endParaRPr lang="en-US" sz="720" dirty="0"/>
          </a:p>
        </p:txBody>
      </p:sp>
      <p:pic>
        <p:nvPicPr>
          <p:cNvPr id="16" name="Image 2" descr="vendanges dans les vignes — Domaine de la Pousterle">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Domaine de la Pousterle">    </p:cNvPr>
          <p:cNvPicPr>
            <a:picLocks noChangeAspect="1"/>
          </p:cNvPicPr>
          <p:nvPr/>
        </p:nvPicPr>
        <p:blipFill>
          <a:blip r:embed="rId4"/>
          <a:stretch>
            <a:fillRect/>
          </a:stretch>
        </p:blipFill>
        <p:spPr>
          <a:xfrm>
            <a:off x="6007279" y="1605996"/>
            <a:ext cx="585443" cy="2232000"/>
          </a:xfrm>
          <a:prstGeom prst="rect">
            <a:avLst/>
          </a:prstGeom>
        </p:spPr>
      </p:pic>
      <p:sp>
        <p:nvSpPr>
          <p:cNvPr id="18" name="Text 12"/>
          <p:cNvSpPr/>
          <p:nvPr/>
        </p:nvSpPr>
        <p:spPr>
          <a:xfrm>
            <a:off x="2177990" y="1537027"/>
            <a:ext cx="203760" cy="331419"/>
          </a:xfrm>
          <a:prstGeom prst="rect">
            <a:avLst/>
          </a:prstGeom>
          <a:noFill/>
          <a:ln/>
        </p:spPr>
        <p:txBody>
          <a:bodyPr wrap="square" lIns="0" tIns="0" rIns="0" bIns="0" rtlCol="0" anchor="t"/>
          <a:lstStyle/>
          <a:p>
            <a:pPr algn="r" indent="0" marL="0">
              <a:lnSpc>
                <a:spcPct val="126500"/>
              </a:lnSpc>
              <a:buNone/>
            </a:pPr>
            <a:r>
              <a:rPr lang="en-US" sz="1631" dirty="0">
                <a:solidFill>
                  <a:srgbClr val="67067C"/>
                </a:solidFill>
                <a:latin typeface="Young Serif" pitchFamily="34" charset="0"/>
                <a:ea typeface="Young Serif" pitchFamily="34" charset="-122"/>
                <a:cs typeface="Young Serif" pitchFamily="34" charset="-120"/>
              </a:rPr>
              <a:t>S</a:t>
            </a:r>
            <a:endParaRPr lang="en-US" sz="1631" dirty="0"/>
          </a:p>
        </p:txBody>
      </p:sp>
      <p:sp>
        <p:nvSpPr>
          <p:cNvPr id="19" name="Text 13"/>
          <p:cNvSpPr/>
          <p:nvPr/>
        </p:nvSpPr>
        <p:spPr>
          <a:xfrm>
            <a:off x="2232000" y="1619135"/>
            <a:ext cx="3456000" cy="2218717"/>
          </a:xfrm>
          <a:prstGeom prst="rect">
            <a:avLst/>
          </a:prstGeom>
          <a:noFill/>
          <a:ln/>
        </p:spPr>
        <p:txBody>
          <a:bodyPr wrap="square" lIns="0" tIns="0" rIns="0" bIns="0" rtlCol="0" anchor="t"/>
          <a:lstStyle/>
          <a:p>
            <a:pPr indent="0" marL="0">
              <a:lnSpc>
                <a:spcPct val="142000"/>
              </a:lnSpc>
              <a:buNone/>
            </a:pPr>
            <a:r>
              <a:rPr lang="en-US" sz="1000" dirty="0">
                <a:solidFill>
                  <a:srgbClr val="46606E"/>
                </a:solidFill>
                <a:latin typeface="Spectral" pitchFamily="34" charset="0"/>
                <a:ea typeface="Spectral" pitchFamily="34" charset="-122"/>
                <a:cs typeface="Spectral" pitchFamily="34" charset="-120"/>
              </a:rPr>
              <a:t>     itué au cœur de la vallée du Rhône le Domaine de la Pousterle est un domaine viticole familial qui incarne l’authenticité et la diversité de cette région emblématique. Entouré de collines baignées de soleil et bercé par le mistral, le vignoble bénéficie de conditions idéales pour l’élaboration de vins généreux, expressifs et empreints de caractère. Le domaine cultive avec soins des cépages typiques de la région en alliant traditions viticoles et pratiques respectueuses de l’environnement. Chaque cuvée reflète l’identité du terroir et le savoir faire transmis au fil des générations.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246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540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Chardonnay-Viognier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Syrah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Luberon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Terroir d’Ansouis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Luberon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Terroir d’Ansouis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612000" y="5680282"/>
            <a:ext cx="0" cy="497268"/>
          </a:xfrm>
          <a:prstGeom prst="line">
            <a:avLst/>
          </a:prstGeom>
          <a:noFill/>
          <a:ln w="17780">
            <a:solidFill>
              <a:srgbClr val="67067C"/>
            </a:solidFill>
            <a:prstDash val="solid"/>
          </a:ln>
        </p:spPr>
      </p:sp>
      <p:sp>
        <p:nvSpPr>
          <p:cNvPr id="22" name="Text 15"/>
          <p:cNvSpPr/>
          <p:nvPr/>
        </p:nvSpPr>
        <p:spPr>
          <a:xfrm>
            <a:off x="720000" y="5680282"/>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240 cols ; offre 5+1 à partir de 540 cols.</a:t>
            </a:r>
            <a:endParaRPr lang="en-US" sz="1050" dirty="0"/>
          </a:p>
        </p:txBody>
      </p:sp>
      <p:sp>
        <p:nvSpPr>
          <p:cNvPr id="23" name="Text 16"/>
          <p:cNvSpPr/>
          <p:nvPr/>
        </p:nvSpPr>
        <p:spPr>
          <a:xfrm>
            <a:off x="612000" y="632155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4" name="Image 4" descr="/home/user/philippe1/build/deco-salon-prive-2026/sol-rhone.png">    </p:cNvPr>
          <p:cNvPicPr>
            <a:picLocks noChangeAspect="1"/>
          </p:cNvPicPr>
          <p:nvPr/>
        </p:nvPicPr>
        <p:blipFill>
          <a:blip r:embed="rId5"/>
          <a:stretch>
            <a:fillRect/>
          </a:stretch>
        </p:blipFill>
        <p:spPr>
          <a:xfrm>
            <a:off x="612000" y="6469150"/>
            <a:ext cx="6120000" cy="1148400"/>
          </a:xfrm>
          <a:prstGeom prst="rect">
            <a:avLst/>
          </a:prstGeom>
        </p:spPr>
      </p:pic>
      <p:sp>
        <p:nvSpPr>
          <p:cNvPr id="25" name="Text 17"/>
          <p:cNvSpPr/>
          <p:nvPr/>
        </p:nvSpPr>
        <p:spPr>
          <a:xfrm>
            <a:off x="612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Domaine Le Prieuré des Papes, stand 7 p. 20 · Domaine de Coyeux, stand 7 p. 21 · Domaine du Moulin Blanc, stand 7 p. 22</a:t>
            </a:r>
            <a:endParaRPr lang="en-US" sz="740" dirty="0"/>
          </a:p>
        </p:txBody>
      </p:sp>
      <p:sp>
        <p:nvSpPr>
          <p:cNvPr id="26" name="Shape 18"/>
          <p:cNvSpPr/>
          <p:nvPr/>
        </p:nvSpPr>
        <p:spPr>
          <a:xfrm>
            <a:off x="612000" y="8496000"/>
            <a:ext cx="6120000" cy="0"/>
          </a:xfrm>
          <a:prstGeom prst="line">
            <a:avLst/>
          </a:prstGeom>
          <a:noFill/>
          <a:ln w="8890">
            <a:solidFill>
              <a:srgbClr val="46606E"/>
            </a:solidFill>
            <a:prstDash val="solid"/>
          </a:ln>
        </p:spPr>
      </p:sp>
      <p:sp>
        <p:nvSpPr>
          <p:cNvPr id="27" name="Text 19"/>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20"/>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9"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23</a:t>
            </a:r>
            <a:endParaRPr lang="en-US" sz="750" dirty="0"/>
          </a:p>
        </p:txBody>
      </p:sp>
      <p:sp>
        <p:nvSpPr>
          <p:cNvPr id="30"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12</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Trichon</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858325" y="1317996"/>
            <a:ext cx="1204240"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58325" y="1317996"/>
            <a:ext cx="1204240"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vins à la dégustation</a:t>
            </a:r>
            <a:endParaRPr lang="en-US" sz="720" dirty="0"/>
          </a:p>
        </p:txBody>
      </p:sp>
      <p:pic>
        <p:nvPicPr>
          <p:cNvPr id="16" name="Image 2" descr="les deux vignerons, recadrés sur leurs visages — Domaine Trichon">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Domaine Trichon">    </p:cNvPr>
          <p:cNvPicPr>
            <a:picLocks noChangeAspect="1"/>
          </p:cNvPicPr>
          <p:nvPr/>
        </p:nvPicPr>
        <p:blipFill>
          <a:blip r:embed="rId4"/>
          <a:stretch>
            <a:fillRect/>
          </a:stretch>
        </p:blipFill>
        <p:spPr>
          <a:xfrm>
            <a:off x="6209557" y="1605996"/>
            <a:ext cx="612885" cy="2232000"/>
          </a:xfrm>
          <a:prstGeom prst="rect">
            <a:avLst/>
          </a:prstGeom>
        </p:spPr>
      </p:pic>
      <p:sp>
        <p:nvSpPr>
          <p:cNvPr id="18" name="Text 12"/>
          <p:cNvSpPr/>
          <p:nvPr/>
        </p:nvSpPr>
        <p:spPr>
          <a:xfrm>
            <a:off x="2393985" y="1578165"/>
            <a:ext cx="231546" cy="406400"/>
          </a:xfrm>
          <a:prstGeom prst="rect">
            <a:avLst/>
          </a:prstGeom>
          <a:noFill/>
          <a:ln/>
        </p:spPr>
        <p:txBody>
          <a:bodyPr wrap="square" lIns="0" tIns="0" rIns="0" bIns="0" rtlCol="0" anchor="t"/>
          <a:lstStyle/>
          <a:p>
            <a:pPr algn="r" indent="0" marL="0">
              <a:lnSpc>
                <a:spcPct val="125100"/>
              </a:lnSpc>
              <a:buNone/>
            </a:pPr>
            <a:r>
              <a:rPr lang="en-US" sz="2000" dirty="0">
                <a:solidFill>
                  <a:srgbClr val="67067C"/>
                </a:solidFill>
                <a:latin typeface="Young Serif" pitchFamily="34" charset="0"/>
                <a:ea typeface="Young Serif" pitchFamily="34" charset="-122"/>
                <a:cs typeface="Young Serif" pitchFamily="34" charset="-120"/>
              </a:rPr>
              <a:t>L</a:t>
            </a:r>
            <a:endParaRPr lang="en-US" sz="2000" dirty="0"/>
          </a:p>
        </p:txBody>
      </p:sp>
      <p:sp>
        <p:nvSpPr>
          <p:cNvPr id="19" name="Text 13"/>
          <p:cNvSpPr/>
          <p:nvPr/>
        </p:nvSpPr>
        <p:spPr>
          <a:xfrm>
            <a:off x="2448000" y="1684407"/>
            <a:ext cx="3456000" cy="2153445"/>
          </a:xfrm>
          <a:prstGeom prst="rect">
            <a:avLst/>
          </a:prstGeom>
          <a:noFill/>
          <a:ln/>
        </p:spPr>
        <p:txBody>
          <a:bodyPr wrap="square" lIns="0" tIns="0" rIns="0" bIns="0" rtlCol="0" anchor="t"/>
          <a:lstStyle/>
          <a:p>
            <a:pPr indent="0" marL="0">
              <a:lnSpc>
                <a:spcPct val="142000"/>
              </a:lnSpc>
              <a:buNone/>
            </a:pPr>
            <a:r>
              <a:rPr lang="en-US" sz="1175" dirty="0">
                <a:solidFill>
                  <a:srgbClr val="46606E"/>
                </a:solidFill>
                <a:latin typeface="Spectral" pitchFamily="34" charset="0"/>
                <a:ea typeface="Spectral" pitchFamily="34" charset="-122"/>
                <a:cs typeface="Spectral" pitchFamily="34" charset="-120"/>
              </a:rPr>
              <a:t>     es Vignobles Trichon-Bernard réunissent deux terroirs certifiés en agriculture biologique. Les Côtes du Rhône méridionales donnent le Grenache, la Syrah, le Mourvèdre, la Clairette, le Muscat et le Viognier ; le Bugey donne le Chardonnay, l’Altesse, le Gamay, le Pinot Noir et la Mondeuse. Claire et Stéphane, associés dans le projet, allient leurs savoir-faire à la vigne et dans la création des cuvées.</a:t>
            </a:r>
            <a:endParaRPr lang="en-US" sz="1175"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Brut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7,43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Extra-Brut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7,43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Mondeuse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7,38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6,58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Pinot Noir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6,67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du Rhône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4,67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4,54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Gamay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5,32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Bugey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Chardonnay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2020</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Vacqueyras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Vacqueyras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9,55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9,12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8,68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Vacqueyras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Vacqueyras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8,93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Mas de Lusanne Pétillant de Jus de Raisin 0 %</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5,08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7436007"/>
            <a:ext cx="0" cy="259440"/>
          </a:xfrm>
          <a:prstGeom prst="line">
            <a:avLst/>
          </a:prstGeom>
          <a:noFill/>
          <a:ln w="17780">
            <a:solidFill>
              <a:srgbClr val="67067C"/>
            </a:solidFill>
            <a:prstDash val="solid"/>
          </a:ln>
        </p:spPr>
      </p:sp>
      <p:sp>
        <p:nvSpPr>
          <p:cNvPr id="22" name="Text 15"/>
          <p:cNvSpPr/>
          <p:nvPr/>
        </p:nvSpPr>
        <p:spPr>
          <a:xfrm>
            <a:off x="936000" y="7436007"/>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cave.</a:t>
            </a:r>
            <a:endParaRPr lang="en-US" sz="1050" dirty="0"/>
          </a:p>
        </p:txBody>
      </p:sp>
      <p:sp>
        <p:nvSpPr>
          <p:cNvPr id="23" name="Shape 16"/>
          <p:cNvSpPr/>
          <p:nvPr/>
        </p:nvSpPr>
        <p:spPr>
          <a:xfrm>
            <a:off x="828000" y="8496000"/>
            <a:ext cx="6120000" cy="0"/>
          </a:xfrm>
          <a:prstGeom prst="line">
            <a:avLst/>
          </a:prstGeom>
          <a:noFill/>
          <a:ln w="8890">
            <a:solidFill>
              <a:srgbClr val="46606E"/>
            </a:solidFill>
            <a:prstDash val="solid"/>
          </a:ln>
        </p:spPr>
      </p:sp>
      <p:sp>
        <p:nvSpPr>
          <p:cNvPr id="24" name="Text 17"/>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8"/>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 Jus de cépages     pictos de l’Agence SCIO, pas les logos officiels</a:t>
            </a:r>
            <a:endParaRPr lang="en-US" sz="650" dirty="0"/>
          </a:p>
        </p:txBody>
      </p:sp>
      <p:sp>
        <p:nvSpPr>
          <p:cNvPr id="26"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24</a:t>
            </a:r>
            <a:endParaRPr lang="en-US" sz="750" dirty="0"/>
          </a:p>
        </p:txBody>
      </p:sp>
      <p:sp>
        <p:nvSpPr>
          <p:cNvPr id="27"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sud-ouest.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sud-ouest.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5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Sud-Ouest</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fauves et fossiles marins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13</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20   </a:t>
            </a:r>
            <a:r>
              <a:rPr lang="en-US" sz="860" dirty="0">
                <a:solidFill>
                  <a:srgbClr val="FBF8F1"/>
                </a:solidFill>
                <a:latin typeface="IBM Plex Sans" pitchFamily="34" charset="0"/>
                <a:ea typeface="IBM Plex Sans" pitchFamily="34" charset="-122"/>
                <a:cs typeface="IBM Plex Sans" pitchFamily="34" charset="-120"/>
              </a:rPr>
              <a:t>Domaine Stratéus</a:t>
            </a:r>
            <a:r>
              <a:rPr lang="en-US" sz="860" b="1" dirty="0">
                <a:solidFill>
                  <a:srgbClr val="FBF8F1"/>
                </a:solidFill>
                <a:latin typeface="IBM Plex Sans" pitchFamily="34" charset="0"/>
                <a:ea typeface="IBM Plex Sans" pitchFamily="34" charset="-122"/>
                <a:cs typeface="IBM Plex Sans" pitchFamily="34" charset="-120"/>
              </a:rPr>
              <a:t>   26</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6   </a:t>
            </a:r>
            <a:r>
              <a:rPr lang="en-US" sz="860" dirty="0">
                <a:solidFill>
                  <a:srgbClr val="FBF8F1"/>
                </a:solidFill>
                <a:latin typeface="IBM Plex Sans" pitchFamily="34" charset="0"/>
                <a:ea typeface="IBM Plex Sans" pitchFamily="34" charset="-122"/>
                <a:cs typeface="IBM Plex Sans" pitchFamily="34" charset="-120"/>
              </a:rPr>
              <a:t>Domaine Haut Marin</a:t>
            </a:r>
            <a:r>
              <a:rPr lang="en-US" sz="860" b="1" dirty="0">
                <a:solidFill>
                  <a:srgbClr val="FBF8F1"/>
                </a:solidFill>
                <a:latin typeface="IBM Plex Sans" pitchFamily="34" charset="0"/>
                <a:ea typeface="IBM Plex Sans" pitchFamily="34" charset="-122"/>
                <a:cs typeface="IBM Plex Sans" pitchFamily="34" charset="-120"/>
              </a:rPr>
              <a:t>   27</a:t>
            </a:r>
            <a:endParaRPr lang="en-US" sz="860" dirty="0"/>
          </a:p>
        </p:txBody>
      </p:sp>
      <p:sp>
        <p:nvSpPr>
          <p:cNvPr id="14" name="Text 1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25</a:t>
            </a:r>
            <a:endParaRPr lang="en-US" sz="750" dirty="0"/>
          </a:p>
        </p:txBody>
      </p:sp>
      <p:sp>
        <p:nvSpPr>
          <p:cNvPr id="15" name="Text 1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20</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Stratéus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110129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conversion.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2" name="Shape 8"/>
          <p:cNvSpPr/>
          <p:nvPr/>
        </p:nvSpPr>
        <p:spPr>
          <a:xfrm>
            <a:off x="2008494"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2008494"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2718605" y="1317996"/>
            <a:ext cx="1385474"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2718605"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6" name="Shape 12"/>
          <p:cNvSpPr/>
          <p:nvPr/>
        </p:nvSpPr>
        <p:spPr>
          <a:xfrm>
            <a:off x="4183278"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4183278"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vins à la dégustation</a:t>
            </a:r>
            <a:endParaRPr lang="en-US" sz="720" dirty="0"/>
          </a:p>
        </p:txBody>
      </p:sp>
      <p:pic>
        <p:nvPicPr>
          <p:cNvPr id="18" name="Image 2" descr="logo du domaine — Domaine Stratéus">    </p:cNvPr>
          <p:cNvPicPr>
            <a:picLocks noChangeAspect="1"/>
          </p:cNvPicPr>
          <p:nvPr/>
        </p:nvPicPr>
        <p:blipFill>
          <a:blip r:embed="rId3"/>
          <a:stretch>
            <a:fillRect/>
          </a:stretch>
        </p:blipFill>
        <p:spPr>
          <a:xfrm>
            <a:off x="828000" y="1605996"/>
            <a:ext cx="1440000" cy="1440000"/>
          </a:xfrm>
          <a:prstGeom prst="rect">
            <a:avLst/>
          </a:prstGeom>
        </p:spPr>
      </p:pic>
      <p:pic>
        <p:nvPicPr>
          <p:cNvPr id="19" name="Image 3" descr="Une bouteille du domaine Domaine Stratéus">    </p:cNvPr>
          <p:cNvPicPr>
            <a:picLocks noChangeAspect="1"/>
          </p:cNvPicPr>
          <p:nvPr/>
        </p:nvPicPr>
        <p:blipFill>
          <a:blip r:embed="rId4"/>
          <a:stretch>
            <a:fillRect/>
          </a:stretch>
        </p:blipFill>
        <p:spPr>
          <a:xfrm>
            <a:off x="6270541" y="1605996"/>
            <a:ext cx="490918" cy="2232000"/>
          </a:xfrm>
          <a:prstGeom prst="rect">
            <a:avLst/>
          </a:prstGeom>
        </p:spPr>
      </p:pic>
      <p:sp>
        <p:nvSpPr>
          <p:cNvPr id="20" name="Text 14"/>
          <p:cNvSpPr/>
          <p:nvPr/>
        </p:nvSpPr>
        <p:spPr>
          <a:xfrm>
            <a:off x="2393975" y="1579073"/>
            <a:ext cx="333950" cy="502717"/>
          </a:xfrm>
          <a:prstGeom prst="rect">
            <a:avLst/>
          </a:prstGeom>
          <a:noFill/>
          <a:ln/>
        </p:spPr>
        <p:txBody>
          <a:bodyPr wrap="square" lIns="0" tIns="0" rIns="0" bIns="0" rtlCol="0" anchor="t"/>
          <a:lstStyle/>
          <a:p>
            <a:pPr algn="r" indent="0" marL="0">
              <a:lnSpc>
                <a:spcPct val="121800"/>
              </a:lnSpc>
              <a:buNone/>
            </a:pPr>
            <a:r>
              <a:rPr lang="en-US" sz="2474" dirty="0">
                <a:solidFill>
                  <a:srgbClr val="67067C"/>
                </a:solidFill>
                <a:latin typeface="Young Serif" pitchFamily="34" charset="0"/>
                <a:ea typeface="Young Serif" pitchFamily="34" charset="-122"/>
                <a:cs typeface="Young Serif" pitchFamily="34" charset="-120"/>
              </a:rPr>
              <a:t>N</a:t>
            </a:r>
            <a:endParaRPr lang="en-US" sz="2474" dirty="0"/>
          </a:p>
        </p:txBody>
      </p:sp>
      <p:sp>
        <p:nvSpPr>
          <p:cNvPr id="21" name="Text 15"/>
          <p:cNvSpPr/>
          <p:nvPr/>
        </p:nvSpPr>
        <p:spPr>
          <a:xfrm>
            <a:off x="2448000" y="1727139"/>
            <a:ext cx="3456000" cy="2110713"/>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é de la transmission d’une vigne de 80 ans en Madiran par son grand-père, le projet de Simon cultive la rareté : produire peu pour produire sain. Environ six hectares en Madiran et Pacherenc-du-Vic-Bilh, en symbiose avec un élevage de bœufs Angus sur la ferme. Vins sous allocation.</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Madiran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Stratéus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Madiran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Néolitik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Madiran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Koloss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Koloss Doux</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Pacherenc du Vic-Bilh sec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Stratéus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11,00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Pacherenc du Vic-Bilh sec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Néolitik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3" name="Shape 16"/>
          <p:cNvSpPr/>
          <p:nvPr/>
        </p:nvSpPr>
        <p:spPr>
          <a:xfrm>
            <a:off x="828000" y="6196269"/>
            <a:ext cx="0" cy="497268"/>
          </a:xfrm>
          <a:prstGeom prst="line">
            <a:avLst/>
          </a:prstGeom>
          <a:noFill/>
          <a:ln w="17780">
            <a:solidFill>
              <a:srgbClr val="67067C"/>
            </a:solidFill>
            <a:prstDash val="solid"/>
          </a:ln>
        </p:spPr>
      </p:sp>
      <p:sp>
        <p:nvSpPr>
          <p:cNvPr id="24" name="Text 17"/>
          <p:cNvSpPr/>
          <p:nvPr/>
        </p:nvSpPr>
        <p:spPr>
          <a:xfrm>
            <a:off x="936000" y="6196269"/>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120 cols.</a:t>
            </a:r>
            <a:endParaRPr lang="en-US" sz="1050" dirty="0"/>
          </a:p>
        </p:txBody>
      </p:sp>
      <p:sp>
        <p:nvSpPr>
          <p:cNvPr id="25" name="Text 18"/>
          <p:cNvSpPr/>
          <p:nvPr/>
        </p:nvSpPr>
        <p:spPr>
          <a:xfrm>
            <a:off x="828000" y="683753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6" name="Image 4" descr="/home/user/philippe1/build/deco-salon-prive-2026/sol-sud-ouest.png">    </p:cNvPr>
          <p:cNvPicPr>
            <a:picLocks noChangeAspect="1"/>
          </p:cNvPicPr>
          <p:nvPr/>
        </p:nvPicPr>
        <p:blipFill>
          <a:blip r:embed="rId5"/>
          <a:stretch>
            <a:fillRect/>
          </a:stretch>
        </p:blipFill>
        <p:spPr>
          <a:xfrm>
            <a:off x="828000" y="6985137"/>
            <a:ext cx="6120000" cy="1136138"/>
          </a:xfrm>
          <a:prstGeom prst="rect">
            <a:avLst/>
          </a:prstGeom>
        </p:spPr>
      </p:pic>
      <p:sp>
        <p:nvSpPr>
          <p:cNvPr id="27" name="Shape 19"/>
          <p:cNvSpPr/>
          <p:nvPr/>
        </p:nvSpPr>
        <p:spPr>
          <a:xfrm>
            <a:off x="828000" y="8496000"/>
            <a:ext cx="6120000" cy="0"/>
          </a:xfrm>
          <a:prstGeom prst="line">
            <a:avLst/>
          </a:prstGeom>
          <a:noFill/>
          <a:ln w="8890">
            <a:solidFill>
              <a:srgbClr val="46606E"/>
            </a:solidFill>
            <a:prstDash val="solid"/>
          </a:ln>
        </p:spPr>
      </p:sp>
      <p:sp>
        <p:nvSpPr>
          <p:cNvPr id="28" name="Text 20"/>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9" name="Text 21"/>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30"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26</a:t>
            </a:r>
            <a:endParaRPr lang="en-US" sz="750" dirty="0"/>
          </a:p>
        </p:txBody>
      </p:sp>
      <p:sp>
        <p:nvSpPr>
          <p:cNvPr id="31"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sud-ouest.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6</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Domaine Haut Marin</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604592"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456992"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 3</a:t>
            </a:r>
            <a:endParaRPr lang="en-US" sz="720" dirty="0"/>
          </a:p>
        </p:txBody>
      </p:sp>
      <p:sp>
        <p:nvSpPr>
          <p:cNvPr id="12" name="Shape 8"/>
          <p:cNvSpPr/>
          <p:nvPr/>
        </p:nvSpPr>
        <p:spPr>
          <a:xfrm>
            <a:off x="1295792"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295792"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760466" y="1317996"/>
            <a:ext cx="864357" cy="180000"/>
          </a:xfrm>
          <a:prstGeom prst="roundRect">
            <a:avLst>
              <a:gd name="adj" fmla="val 10160"/>
            </a:avLst>
          </a:prstGeom>
          <a:solidFill>
            <a:srgbClr val="D08C3C"/>
          </a:solidFill>
          <a:ln w="8890">
            <a:solidFill>
              <a:srgbClr val="D08C3C"/>
            </a:solidFill>
            <a:prstDash val="solid"/>
          </a:ln>
        </p:spPr>
      </p:sp>
      <p:sp>
        <p:nvSpPr>
          <p:cNvPr id="15" name="Text 11"/>
          <p:cNvSpPr/>
          <p:nvPr/>
        </p:nvSpPr>
        <p:spPr>
          <a:xfrm>
            <a:off x="2760466" y="1317996"/>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6" name="Shape 12"/>
          <p:cNvSpPr/>
          <p:nvPr/>
        </p:nvSpPr>
        <p:spPr>
          <a:xfrm>
            <a:off x="3704023"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3704023"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8" name="Image 2" descr="logo du domaine — Domaine Haut Marin">    </p:cNvPr>
          <p:cNvPicPr>
            <a:picLocks noChangeAspect="1"/>
          </p:cNvPicPr>
          <p:nvPr/>
        </p:nvPicPr>
        <p:blipFill>
          <a:blip r:embed="rId3"/>
          <a:stretch>
            <a:fillRect/>
          </a:stretch>
        </p:blipFill>
        <p:spPr>
          <a:xfrm>
            <a:off x="612000" y="1605996"/>
            <a:ext cx="1440000" cy="1440000"/>
          </a:xfrm>
          <a:prstGeom prst="rect">
            <a:avLst/>
          </a:prstGeom>
        </p:spPr>
      </p:pic>
      <p:pic>
        <p:nvPicPr>
          <p:cNvPr id="19" name="Image 3" descr="Une bouteille du domaine Domaine Haut Marin">    </p:cNvPr>
          <p:cNvPicPr>
            <a:picLocks noChangeAspect="1"/>
          </p:cNvPicPr>
          <p:nvPr/>
        </p:nvPicPr>
        <p:blipFill>
          <a:blip r:embed="rId4"/>
          <a:stretch>
            <a:fillRect/>
          </a:stretch>
        </p:blipFill>
        <p:spPr>
          <a:xfrm>
            <a:off x="6028623" y="1605996"/>
            <a:ext cx="542754" cy="2232000"/>
          </a:xfrm>
          <a:prstGeom prst="rect">
            <a:avLst/>
          </a:prstGeom>
        </p:spPr>
      </p:pic>
      <p:sp>
        <p:nvSpPr>
          <p:cNvPr id="20" name="Text 14"/>
          <p:cNvSpPr/>
          <p:nvPr/>
        </p:nvSpPr>
        <p:spPr>
          <a:xfrm>
            <a:off x="2177992" y="1578034"/>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E</a:t>
            </a:r>
            <a:endParaRPr lang="en-US" sz="2489" dirty="0"/>
          </a:p>
        </p:txBody>
      </p:sp>
      <p:sp>
        <p:nvSpPr>
          <p:cNvPr id="21" name="Text 15"/>
          <p:cNvSpPr/>
          <p:nvPr/>
        </p:nvSpPr>
        <p:spPr>
          <a:xfrm>
            <a:off x="2232000" y="1727854"/>
            <a:ext cx="3456000" cy="210999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 plein cœur de la Gascogne à Gondrin, les familles Jegerlehner et Prataviera subliment sables fauves et sous-sols argilo-calcaires riches en fossiles marins. Cette fraîcheur insuffle aux cépages gascons éclat aromatique et vivacité saline. IGP Côtes de Gascogne et Bas-Armagnac. Format BIB disponible.</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72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N°1 Littorine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2,68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N°6 Fossiles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D98FA0"/>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N°3 Gulf Stream Rosé</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N°4 Triton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 dès 250 cols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2,91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N°8 Grand Pavois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3,98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3,87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E1C853"/>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N°7 Vénus Blanc Moelleux</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3,08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Côtes de Gascogne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N°10 Pétillant</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5+1 dès 250 cols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3" name="Shape 16"/>
          <p:cNvSpPr/>
          <p:nvPr/>
        </p:nvSpPr>
        <p:spPr>
          <a:xfrm>
            <a:off x="612000" y="6610309"/>
            <a:ext cx="0" cy="497268"/>
          </a:xfrm>
          <a:prstGeom prst="line">
            <a:avLst/>
          </a:prstGeom>
          <a:noFill/>
          <a:ln w="17780">
            <a:solidFill>
              <a:srgbClr val="67067C"/>
            </a:solidFill>
            <a:prstDash val="solid"/>
          </a:ln>
        </p:spPr>
      </p:sp>
      <p:sp>
        <p:nvSpPr>
          <p:cNvPr id="24" name="Text 17"/>
          <p:cNvSpPr/>
          <p:nvPr/>
        </p:nvSpPr>
        <p:spPr>
          <a:xfrm>
            <a:off x="720000" y="6610309"/>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à partir de 300 cols.</a:t>
            </a:r>
            <a:endParaRPr lang="en-US" sz="1050" dirty="0"/>
          </a:p>
        </p:txBody>
      </p:sp>
      <p:sp>
        <p:nvSpPr>
          <p:cNvPr id="25" name="Text 18"/>
          <p:cNvSpPr/>
          <p:nvPr/>
        </p:nvSpPr>
        <p:spPr>
          <a:xfrm>
            <a:off x="612000" y="725157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6" name="Image 4" descr="/home/user/philippe1/build/deco-salon-prive-2026/sol-sud-ouest.png">    </p:cNvPr>
          <p:cNvPicPr>
            <a:picLocks noChangeAspect="1"/>
          </p:cNvPicPr>
          <p:nvPr/>
        </p:nvPicPr>
        <p:blipFill>
          <a:blip r:embed="rId5"/>
          <a:stretch>
            <a:fillRect/>
          </a:stretch>
        </p:blipFill>
        <p:spPr>
          <a:xfrm>
            <a:off x="612000" y="7399177"/>
            <a:ext cx="6120000" cy="722098"/>
          </a:xfrm>
          <a:prstGeom prst="rect">
            <a:avLst/>
          </a:prstGeom>
        </p:spPr>
      </p:pic>
      <p:sp>
        <p:nvSpPr>
          <p:cNvPr id="27" name="Shape 19"/>
          <p:cNvSpPr/>
          <p:nvPr/>
        </p:nvSpPr>
        <p:spPr>
          <a:xfrm>
            <a:off x="612000" y="8496000"/>
            <a:ext cx="6120000" cy="0"/>
          </a:xfrm>
          <a:prstGeom prst="line">
            <a:avLst/>
          </a:prstGeom>
          <a:noFill/>
          <a:ln w="8890">
            <a:solidFill>
              <a:srgbClr val="46606E"/>
            </a:solidFill>
            <a:prstDash val="solid"/>
          </a:ln>
        </p:spPr>
      </p:sp>
      <p:sp>
        <p:nvSpPr>
          <p:cNvPr id="28" name="Text 20"/>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16 · 17 · 44 · 79 · 85</a:t>
            </a:r>
            <a:endParaRPr lang="en-US" sz="720" dirty="0"/>
          </a:p>
        </p:txBody>
      </p:sp>
      <p:sp>
        <p:nvSpPr>
          <p:cNvPr id="29" name="Text 21"/>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 Doux     pictos de l’Agence SCIO, pas les logos officiels</a:t>
            </a:r>
            <a:endParaRPr lang="en-US" sz="650" dirty="0"/>
          </a:p>
        </p:txBody>
      </p:sp>
      <p:sp>
        <p:nvSpPr>
          <p:cNvPr id="30" name="Text 2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27</a:t>
            </a:r>
            <a:endParaRPr lang="en-US" sz="750" dirty="0"/>
          </a:p>
        </p:txBody>
      </p:sp>
      <p:sp>
        <p:nvSpPr>
          <p:cNvPr id="31" name="Text 2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bordeaux.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bordeaux.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6 / 9</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Bordeaux</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graves et argilo-calcaire</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4</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18</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8   </a:t>
            </a:r>
            <a:r>
              <a:rPr lang="en-US" sz="860" dirty="0">
                <a:solidFill>
                  <a:srgbClr val="FBF8F1"/>
                </a:solidFill>
                <a:latin typeface="IBM Plex Sans" pitchFamily="34" charset="0"/>
                <a:ea typeface="IBM Plex Sans" pitchFamily="34" charset="-122"/>
                <a:cs typeface="IBM Plex Sans" pitchFamily="34" charset="-120"/>
              </a:rPr>
              <a:t>Château Falfas</a:t>
            </a:r>
            <a:r>
              <a:rPr lang="en-US" sz="860" b="1" dirty="0">
                <a:solidFill>
                  <a:srgbClr val="FBF8F1"/>
                </a:solidFill>
                <a:latin typeface="IBM Plex Sans" pitchFamily="34" charset="0"/>
                <a:ea typeface="IBM Plex Sans" pitchFamily="34" charset="-122"/>
                <a:cs typeface="IBM Plex Sans" pitchFamily="34" charset="-120"/>
              </a:rPr>
              <a:t>   29</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16   </a:t>
            </a:r>
            <a:r>
              <a:rPr lang="en-US" sz="860" dirty="0">
                <a:solidFill>
                  <a:srgbClr val="FBF8F1"/>
                </a:solidFill>
                <a:latin typeface="IBM Plex Sans" pitchFamily="34" charset="0"/>
                <a:ea typeface="IBM Plex Sans" pitchFamily="34" charset="-122"/>
                <a:cs typeface="IBM Plex Sans" pitchFamily="34" charset="-120"/>
              </a:rPr>
              <a:t>Château Pré la Lande</a:t>
            </a:r>
            <a:r>
              <a:rPr lang="en-US" sz="860" b="1" dirty="0">
                <a:solidFill>
                  <a:srgbClr val="FBF8F1"/>
                </a:solidFill>
                <a:latin typeface="IBM Plex Sans" pitchFamily="34" charset="0"/>
                <a:ea typeface="IBM Plex Sans" pitchFamily="34" charset="-122"/>
                <a:cs typeface="IBM Plex Sans" pitchFamily="34" charset="-120"/>
              </a:rPr>
              <a:t>   30</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   </a:t>
            </a:r>
            <a:r>
              <a:rPr lang="en-US" sz="860" dirty="0">
                <a:solidFill>
                  <a:srgbClr val="FBF8F1"/>
                </a:solidFill>
                <a:latin typeface="IBM Plex Sans" pitchFamily="34" charset="0"/>
                <a:ea typeface="IBM Plex Sans" pitchFamily="34" charset="-122"/>
                <a:cs typeface="IBM Plex Sans" pitchFamily="34" charset="-120"/>
              </a:rPr>
              <a:t>Château Balac</a:t>
            </a:r>
            <a:r>
              <a:rPr lang="en-US" sz="860" b="1" dirty="0">
                <a:solidFill>
                  <a:srgbClr val="FBF8F1"/>
                </a:solidFill>
                <a:latin typeface="IBM Plex Sans" pitchFamily="34" charset="0"/>
                <a:ea typeface="IBM Plex Sans" pitchFamily="34" charset="-122"/>
                <a:cs typeface="IBM Plex Sans" pitchFamily="34" charset="-120"/>
              </a:rPr>
              <a:t>   31</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24   </a:t>
            </a:r>
            <a:r>
              <a:rPr lang="en-US" sz="860" dirty="0">
                <a:solidFill>
                  <a:srgbClr val="FBF8F1"/>
                </a:solidFill>
                <a:latin typeface="IBM Plex Sans" pitchFamily="34" charset="0"/>
                <a:ea typeface="IBM Plex Sans" pitchFamily="34" charset="-122"/>
                <a:cs typeface="IBM Plex Sans" pitchFamily="34" charset="-120"/>
              </a:rPr>
              <a:t>Château l’Escarderie</a:t>
            </a:r>
            <a:r>
              <a:rPr lang="en-US" sz="860" b="1" dirty="0">
                <a:solidFill>
                  <a:srgbClr val="FBF8F1"/>
                </a:solidFill>
                <a:latin typeface="IBM Plex Sans" pitchFamily="34" charset="0"/>
                <a:ea typeface="IBM Plex Sans" pitchFamily="34" charset="-122"/>
                <a:cs typeface="IBM Plex Sans" pitchFamily="34" charset="-120"/>
              </a:rPr>
              <a:t>   32</a:t>
            </a:r>
            <a:endParaRPr lang="en-US" sz="860" dirty="0"/>
          </a:p>
        </p:txBody>
      </p:sp>
      <p:sp>
        <p:nvSpPr>
          <p:cNvPr id="16" name="Text 1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28</a:t>
            </a:r>
            <a:endParaRPr lang="en-US" sz="750" dirty="0"/>
          </a:p>
        </p:txBody>
      </p:sp>
      <p:sp>
        <p:nvSpPr>
          <p:cNvPr id="17" name="Text 1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8</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Falfas</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851480"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biodyn.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703880"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Biodynamie</a:t>
            </a:r>
            <a:endParaRPr lang="en-US" sz="720" dirty="0"/>
          </a:p>
        </p:txBody>
      </p:sp>
      <p:sp>
        <p:nvSpPr>
          <p:cNvPr id="12" name="Shape 8"/>
          <p:cNvSpPr/>
          <p:nvPr/>
        </p:nvSpPr>
        <p:spPr>
          <a:xfrm>
            <a:off x="1542680"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542680"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007354"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007354"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logo du château — Château Falfas">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Château Falfas">    </p:cNvPr>
          <p:cNvPicPr>
            <a:picLocks noChangeAspect="1"/>
          </p:cNvPicPr>
          <p:nvPr/>
        </p:nvPicPr>
        <p:blipFill>
          <a:blip r:embed="rId4"/>
          <a:stretch>
            <a:fillRect/>
          </a:stretch>
        </p:blipFill>
        <p:spPr>
          <a:xfrm>
            <a:off x="6028623" y="1605996"/>
            <a:ext cx="542754" cy="2232000"/>
          </a:xfrm>
          <a:prstGeom prst="rect">
            <a:avLst/>
          </a:prstGeom>
        </p:spPr>
      </p:pic>
      <p:sp>
        <p:nvSpPr>
          <p:cNvPr id="18" name="Text 12"/>
          <p:cNvSpPr/>
          <p:nvPr/>
        </p:nvSpPr>
        <p:spPr>
          <a:xfrm>
            <a:off x="2177960" y="1601498"/>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19" name="Text 13"/>
          <p:cNvSpPr/>
          <p:nvPr/>
        </p:nvSpPr>
        <p:spPr>
          <a:xfrm>
            <a:off x="2232000" y="1711709"/>
            <a:ext cx="3456000" cy="2126143"/>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entinelle édifiée en 1612 sur les coteaux argilo-calcaires de Bayon, Falfas est une référence pionnière de la biodynamie bordelaise, membre fondateur de Biodyvin sous la houlette de John et Véronique Cochran. Vingt hectares vendangés à la main pour des Côtes de Bourg racés et de longue garde.</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Les Demoiselles de Falfas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2020</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 Chevalier</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2017</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 Chevalier</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2019</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Côtes de Bourg</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Falfas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6431566"/>
            <a:ext cx="0" cy="497268"/>
          </a:xfrm>
          <a:prstGeom prst="line">
            <a:avLst/>
          </a:prstGeom>
          <a:noFill/>
          <a:ln w="17780">
            <a:solidFill>
              <a:srgbClr val="67067C"/>
            </a:solidFill>
            <a:prstDash val="solid"/>
          </a:ln>
        </p:spPr>
      </p:sp>
      <p:sp>
        <p:nvSpPr>
          <p:cNvPr id="22" name="Text 15"/>
          <p:cNvSpPr/>
          <p:nvPr/>
        </p:nvSpPr>
        <p:spPr>
          <a:xfrm>
            <a:off x="720000" y="6431566"/>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42 cols.</a:t>
            </a:r>
            <a:endParaRPr lang="en-US" sz="1050" dirty="0"/>
          </a:p>
        </p:txBody>
      </p:sp>
      <p:sp>
        <p:nvSpPr>
          <p:cNvPr id="23" name="Text 16"/>
          <p:cNvSpPr/>
          <p:nvPr/>
        </p:nvSpPr>
        <p:spPr>
          <a:xfrm>
            <a:off x="612000" y="707283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4" name="Image 4" descr="/home/user/philippe1/build/deco-salon-prive-2026/sol-bordeaux.png">    </p:cNvPr>
          <p:cNvPicPr>
            <a:picLocks noChangeAspect="1"/>
          </p:cNvPicPr>
          <p:nvPr/>
        </p:nvPicPr>
        <p:blipFill>
          <a:blip r:embed="rId5"/>
          <a:stretch>
            <a:fillRect/>
          </a:stretch>
        </p:blipFill>
        <p:spPr>
          <a:xfrm>
            <a:off x="612000" y="7220434"/>
            <a:ext cx="6120000" cy="900840"/>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29</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16</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Pré la Lande</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851480"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biodyn.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703880"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Biodynamie</a:t>
            </a:r>
            <a:endParaRPr lang="en-US" sz="720" dirty="0"/>
          </a:p>
        </p:txBody>
      </p:sp>
      <p:sp>
        <p:nvSpPr>
          <p:cNvPr id="12" name="Shape 8"/>
          <p:cNvSpPr/>
          <p:nvPr/>
        </p:nvSpPr>
        <p:spPr>
          <a:xfrm>
            <a:off x="1758680"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758680"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223354"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223354"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vins à la dégustation</a:t>
            </a:r>
            <a:endParaRPr lang="en-US" sz="720" dirty="0"/>
          </a:p>
        </p:txBody>
      </p:sp>
      <p:pic>
        <p:nvPicPr>
          <p:cNvPr id="16" name="Image 2" descr="vendanges au domaine — Château Pré la Lande">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Château Pré la Lande">    </p:cNvPr>
          <p:cNvPicPr>
            <a:picLocks noChangeAspect="1"/>
          </p:cNvPicPr>
          <p:nvPr/>
        </p:nvPicPr>
        <p:blipFill>
          <a:blip r:embed="rId4"/>
          <a:stretch>
            <a:fillRect/>
          </a:stretch>
        </p:blipFill>
        <p:spPr>
          <a:xfrm>
            <a:off x="6238525" y="1605996"/>
            <a:ext cx="554951" cy="2232000"/>
          </a:xfrm>
          <a:prstGeom prst="rect">
            <a:avLst/>
          </a:prstGeom>
        </p:spPr>
      </p:pic>
      <p:sp>
        <p:nvSpPr>
          <p:cNvPr id="18" name="Text 12"/>
          <p:cNvSpPr/>
          <p:nvPr/>
        </p:nvSpPr>
        <p:spPr>
          <a:xfrm>
            <a:off x="2394017" y="1596653"/>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9" name="Text 13"/>
          <p:cNvSpPr/>
          <p:nvPr/>
        </p:nvSpPr>
        <p:spPr>
          <a:xfrm>
            <a:off x="2448000" y="1715043"/>
            <a:ext cx="3456000" cy="2122809"/>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erchée à 120 mètres au-dessus de la vallée de la Dordogne, cette propriété de 1860 conduit une biodynamie certifiée Demeter d’une remarquable précision. Vinifications douces, sulfites au strict minimum, élevages en barriques et amphores : des vins vivants, d’une grande vibration minérale.</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Sainte-Foy Côtes de Bordeaux</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Diane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2016</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Sainte-Foy Côtes de Bordeaux</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TerraCotta</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Sainte-Foy Côtes de Bordeaux</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des Fontenelles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191530"/>
            <a:ext cx="0" cy="497268"/>
          </a:xfrm>
          <a:prstGeom prst="line">
            <a:avLst/>
          </a:prstGeom>
          <a:noFill/>
          <a:ln w="17780">
            <a:solidFill>
              <a:srgbClr val="67067C"/>
            </a:solidFill>
            <a:prstDash val="solid"/>
          </a:ln>
        </p:spPr>
      </p:sp>
      <p:sp>
        <p:nvSpPr>
          <p:cNvPr id="22" name="Text 15"/>
          <p:cNvSpPr/>
          <p:nvPr/>
        </p:nvSpPr>
        <p:spPr>
          <a:xfrm>
            <a:off x="936000" y="5191530"/>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chai.</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à partir de 120 cols, en général 11+1, selon le volume.</a:t>
            </a:r>
            <a:endParaRPr lang="en-US" sz="1050" dirty="0"/>
          </a:p>
        </p:txBody>
      </p:sp>
      <p:sp>
        <p:nvSpPr>
          <p:cNvPr id="23" name="Text 16"/>
          <p:cNvSpPr/>
          <p:nvPr/>
        </p:nvSpPr>
        <p:spPr>
          <a:xfrm>
            <a:off x="828000" y="583279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4" name="Image 4" descr="/home/user/philippe1/build/deco-salon-prive-2026/sol-bordeaux.png">    </p:cNvPr>
          <p:cNvPicPr>
            <a:picLocks noChangeAspect="1"/>
          </p:cNvPicPr>
          <p:nvPr/>
        </p:nvPicPr>
        <p:blipFill>
          <a:blip r:embed="rId5"/>
          <a:stretch>
            <a:fillRect/>
          </a:stretch>
        </p:blipFill>
        <p:spPr>
          <a:xfrm>
            <a:off x="828000" y="5980398"/>
            <a:ext cx="6120000" cy="1275886"/>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30</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Balac</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642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42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vins à la dégustation</a:t>
            </a:r>
            <a:endParaRPr lang="en-US" sz="720" dirty="0"/>
          </a:p>
        </p:txBody>
      </p:sp>
      <p:pic>
        <p:nvPicPr>
          <p:cNvPr id="16" name="Image 2" descr="portrait des vignerons — Château Balac">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Château Balac">    </p:cNvPr>
          <p:cNvPicPr>
            <a:picLocks noChangeAspect="1"/>
          </p:cNvPicPr>
          <p:nvPr/>
        </p:nvPicPr>
        <p:blipFill>
          <a:blip r:embed="rId4"/>
          <a:stretch>
            <a:fillRect/>
          </a:stretch>
        </p:blipFill>
        <p:spPr>
          <a:xfrm>
            <a:off x="6030148" y="1605996"/>
            <a:ext cx="539705" cy="2232000"/>
          </a:xfrm>
          <a:prstGeom prst="rect">
            <a:avLst/>
          </a:prstGeom>
        </p:spPr>
      </p:pic>
      <p:sp>
        <p:nvSpPr>
          <p:cNvPr id="18" name="Text 12"/>
          <p:cNvSpPr/>
          <p:nvPr/>
        </p:nvSpPr>
        <p:spPr>
          <a:xfrm>
            <a:off x="2177976" y="1725483"/>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A</a:t>
            </a:r>
            <a:endParaRPr lang="en-US" sz="2391" dirty="0"/>
          </a:p>
        </p:txBody>
      </p:sp>
      <p:sp>
        <p:nvSpPr>
          <p:cNvPr id="19" name="Text 13"/>
          <p:cNvSpPr/>
          <p:nvPr/>
        </p:nvSpPr>
        <p:spPr>
          <a:xfrm>
            <a:off x="2232000" y="1863852"/>
            <a:ext cx="3456000" cy="197400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 cœur d’une forêt de deux cents hectares, la famille Touchais veille depuis 1964 sur dix hectares de vignes à Saint-Laurent-Médoc. Classé Cru Bourgeois Supérieur et certifié bio, Balac cultive autour de sa chartreuse du XVIIIe siècle des vins de caractère et d’élégance.</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180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Haut-Médoc Cru Bourgeois Supérieur</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Balac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7,71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7,59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Haut-Médoc Cru Bourgeois Supérieur</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Balac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2018</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7,13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Balac sans sulfites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L’inopiné de Balac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Syrah de Balac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5886260"/>
            <a:ext cx="0" cy="497268"/>
          </a:xfrm>
          <a:prstGeom prst="line">
            <a:avLst/>
          </a:prstGeom>
          <a:noFill/>
          <a:ln w="17780">
            <a:solidFill>
              <a:srgbClr val="67067C"/>
            </a:solidFill>
            <a:prstDash val="solid"/>
          </a:ln>
        </p:spPr>
      </p:sp>
      <p:sp>
        <p:nvSpPr>
          <p:cNvPr id="22" name="Text 15"/>
          <p:cNvSpPr/>
          <p:nvPr/>
        </p:nvSpPr>
        <p:spPr>
          <a:xfrm>
            <a:off x="720000" y="5886260"/>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possible en fonction du volume.</a:t>
            </a:r>
            <a:endParaRPr lang="en-US" sz="1050" dirty="0"/>
          </a:p>
        </p:txBody>
      </p:sp>
      <p:sp>
        <p:nvSpPr>
          <p:cNvPr id="23" name="Text 16"/>
          <p:cNvSpPr/>
          <p:nvPr/>
        </p:nvSpPr>
        <p:spPr>
          <a:xfrm>
            <a:off x="612000" y="652752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4" name="Image 4" descr="/home/user/philippe1/build/deco-salon-prive-2026/sol-bordeaux.png">    </p:cNvPr>
          <p:cNvPicPr>
            <a:picLocks noChangeAspect="1"/>
          </p:cNvPicPr>
          <p:nvPr/>
        </p:nvPicPr>
        <p:blipFill>
          <a:blip r:embed="rId5"/>
          <a:stretch>
            <a:fillRect/>
          </a:stretch>
        </p:blipFill>
        <p:spPr>
          <a:xfrm>
            <a:off x="612000" y="6675128"/>
            <a:ext cx="6120000" cy="1148400"/>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31</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24</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l’Escarderie</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858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58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vins à la dégustation</a:t>
            </a:r>
            <a:endParaRPr lang="en-US" sz="720" dirty="0"/>
          </a:p>
        </p:txBody>
      </p:sp>
      <p:pic>
        <p:nvPicPr>
          <p:cNvPr id="16" name="Image 2" descr="les deux vignerons, deux portraits côte à côte — Château l’Escarderie">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Château l’Escarderie">    </p:cNvPr>
          <p:cNvPicPr>
            <a:picLocks noChangeAspect="1"/>
          </p:cNvPicPr>
          <p:nvPr/>
        </p:nvPicPr>
        <p:blipFill>
          <a:blip r:embed="rId4"/>
          <a:stretch>
            <a:fillRect/>
          </a:stretch>
        </p:blipFill>
        <p:spPr>
          <a:xfrm>
            <a:off x="6243098" y="1605996"/>
            <a:ext cx="545803" cy="2232000"/>
          </a:xfrm>
          <a:prstGeom prst="rect">
            <a:avLst/>
          </a:prstGeom>
        </p:spPr>
      </p:pic>
      <p:sp>
        <p:nvSpPr>
          <p:cNvPr id="18" name="Text 12"/>
          <p:cNvSpPr/>
          <p:nvPr/>
        </p:nvSpPr>
        <p:spPr>
          <a:xfrm>
            <a:off x="2394014" y="1588278"/>
            <a:ext cx="210086" cy="475691"/>
          </a:xfrm>
          <a:prstGeom prst="rect">
            <a:avLst/>
          </a:prstGeom>
          <a:noFill/>
          <a:ln/>
        </p:spPr>
        <p:txBody>
          <a:bodyPr wrap="square" lIns="0" tIns="0" rIns="0" bIns="0" rtlCol="0" anchor="t"/>
          <a:lstStyle/>
          <a:p>
            <a:pPr algn="r" indent="0" marL="0">
              <a:lnSpc>
                <a:spcPct val="123400"/>
              </a:lnSpc>
              <a:buNone/>
            </a:pPr>
            <a:r>
              <a:rPr lang="en-US" sz="2341" dirty="0">
                <a:solidFill>
                  <a:srgbClr val="67067C"/>
                </a:solidFill>
                <a:latin typeface="Young Serif" pitchFamily="34" charset="0"/>
                <a:ea typeface="Young Serif" pitchFamily="34" charset="-122"/>
                <a:cs typeface="Young Serif" pitchFamily="34" charset="-120"/>
              </a:rPr>
              <a:t>J</a:t>
            </a:r>
            <a:endParaRPr lang="en-US" sz="2341" dirty="0"/>
          </a:p>
        </p:txBody>
      </p:sp>
      <p:sp>
        <p:nvSpPr>
          <p:cNvPr id="19" name="Text 13"/>
          <p:cNvSpPr/>
          <p:nvPr/>
        </p:nvSpPr>
        <p:spPr>
          <a:xfrm>
            <a:off x="2448000" y="1720805"/>
            <a:ext cx="3456000" cy="2117047"/>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oyau intimiste à Saint-Germain-de-la-Rivière, en AOP Fronsac, qui renaît sous la conduite de Mélanie et Thomas. Vendanges manuelles, fermentations spontanées, sulfites mesurés et élevage sur-mesure (barriques, béton, amphores) pour des Merlots et Cabernets Francs veloutés et floraux.</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Fronsac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Château Lafargue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2020</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Fronsac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Amphora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2021</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10,10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Confiance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191530"/>
            <a:ext cx="0" cy="497268"/>
          </a:xfrm>
          <a:prstGeom prst="line">
            <a:avLst/>
          </a:prstGeom>
          <a:noFill/>
          <a:ln w="17780">
            <a:solidFill>
              <a:srgbClr val="67067C"/>
            </a:solidFill>
            <a:prstDash val="solid"/>
          </a:ln>
        </p:spPr>
      </p:sp>
      <p:sp>
        <p:nvSpPr>
          <p:cNvPr id="22" name="Text 15"/>
          <p:cNvSpPr/>
          <p:nvPr/>
        </p:nvSpPr>
        <p:spPr>
          <a:xfrm>
            <a:off x="936000" y="5191530"/>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franco à partir de 180 bouteilles.</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possible à étudier en fonction du volume et de la référence.</a:t>
            </a:r>
            <a:endParaRPr lang="en-US" sz="1050" dirty="0"/>
          </a:p>
        </p:txBody>
      </p:sp>
      <p:sp>
        <p:nvSpPr>
          <p:cNvPr id="23" name="Text 16"/>
          <p:cNvSpPr/>
          <p:nvPr/>
        </p:nvSpPr>
        <p:spPr>
          <a:xfrm>
            <a:off x="828000" y="583279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4" name="Image 4" descr="/home/user/philippe1/build/deco-salon-prive-2026/sol-bordeaux.png">    </p:cNvPr>
          <p:cNvPicPr>
            <a:picLocks noChangeAspect="1"/>
          </p:cNvPicPr>
          <p:nvPr/>
        </p:nvPicPr>
        <p:blipFill>
          <a:blip r:embed="rId5"/>
          <a:stretch>
            <a:fillRect/>
          </a:stretch>
        </p:blipFill>
        <p:spPr>
          <a:xfrm>
            <a:off x="828000" y="5980398"/>
            <a:ext cx="6120000" cy="1275886"/>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32</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proven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provenc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7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Provence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la Provence Verte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10</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19   </a:t>
            </a:r>
            <a:r>
              <a:rPr lang="en-US" sz="860" dirty="0">
                <a:solidFill>
                  <a:srgbClr val="FBF8F1"/>
                </a:solidFill>
                <a:latin typeface="IBM Plex Sans" pitchFamily="34" charset="0"/>
                <a:ea typeface="IBM Plex Sans" pitchFamily="34" charset="-122"/>
                <a:cs typeface="IBM Plex Sans" pitchFamily="34" charset="-120"/>
              </a:rPr>
              <a:t>Bastide de Blacailloux</a:t>
            </a:r>
            <a:r>
              <a:rPr lang="en-US" sz="860" b="1" dirty="0">
                <a:solidFill>
                  <a:srgbClr val="FBF8F1"/>
                </a:solidFill>
                <a:latin typeface="IBM Plex Sans" pitchFamily="34" charset="0"/>
                <a:ea typeface="IBM Plex Sans" pitchFamily="34" charset="-122"/>
                <a:cs typeface="IBM Plex Sans" pitchFamily="34" charset="-120"/>
              </a:rPr>
              <a:t>   34</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33</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proven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19</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Bastide de Blacailloux</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PROVENCE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858325" y="1317996"/>
            <a:ext cx="1204240"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58325" y="1317996"/>
            <a:ext cx="1204240"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vins à la dégustation</a:t>
            </a:r>
            <a:endParaRPr lang="en-US" sz="720" dirty="0"/>
          </a:p>
        </p:txBody>
      </p:sp>
      <p:pic>
        <p:nvPicPr>
          <p:cNvPr id="16" name="Image 2" descr="borie en pierre sèche du domaine — Bastide de Blacailloux">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Bastide de Blacailloux">    </p:cNvPr>
          <p:cNvPicPr>
            <a:picLocks noChangeAspect="1"/>
          </p:cNvPicPr>
          <p:nvPr/>
        </p:nvPicPr>
        <p:blipFill>
          <a:blip r:embed="rId4"/>
          <a:stretch>
            <a:fillRect/>
          </a:stretch>
        </p:blipFill>
        <p:spPr>
          <a:xfrm>
            <a:off x="6267492" y="1605996"/>
            <a:ext cx="497016" cy="2232000"/>
          </a:xfrm>
          <a:prstGeom prst="rect">
            <a:avLst/>
          </a:prstGeom>
        </p:spPr>
      </p:pic>
      <p:sp>
        <p:nvSpPr>
          <p:cNvPr id="18" name="Text 12"/>
          <p:cNvSpPr/>
          <p:nvPr/>
        </p:nvSpPr>
        <p:spPr>
          <a:xfrm>
            <a:off x="2393992" y="1578034"/>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É</a:t>
            </a:r>
            <a:endParaRPr lang="en-US" sz="2489" dirty="0"/>
          </a:p>
        </p:txBody>
      </p:sp>
      <p:sp>
        <p:nvSpPr>
          <p:cNvPr id="19" name="Text 13"/>
          <p:cNvSpPr/>
          <p:nvPr/>
        </p:nvSpPr>
        <p:spPr>
          <a:xfrm>
            <a:off x="2448000" y="1727854"/>
            <a:ext cx="3456000" cy="210999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crin préservé à Tourves, Blacailloux incarne la Provence Verte depuis plus d’un siècle, conduit par la quatrième génération de la famille Chamoin. Chai bioclimatique à toit végétalisé et énergie photovoltaïque. Cuvées AOP Coteaux Varois et IGP Var, fraîches et aériennes. Format BIB disponible.</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180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D98FA0"/>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Sainte-Probace Rosé</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5,15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Sainte-Probace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Sainte-Probace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5,35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D98FA0"/>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Joio Rosé</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Joio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5,95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Joio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6,25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Miraia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9,05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Miraia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8,55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Aquino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Coteaux Varois en Provence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Aquino Blanc</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7436305"/>
            <a:ext cx="0" cy="497268"/>
          </a:xfrm>
          <a:prstGeom prst="line">
            <a:avLst/>
          </a:prstGeom>
          <a:noFill/>
          <a:ln w="17780">
            <a:solidFill>
              <a:srgbClr val="67067C"/>
            </a:solidFill>
            <a:prstDash val="solid"/>
          </a:ln>
        </p:spPr>
      </p:sp>
      <p:sp>
        <p:nvSpPr>
          <p:cNvPr id="22" name="Text 15"/>
          <p:cNvSpPr/>
          <p:nvPr/>
        </p:nvSpPr>
        <p:spPr>
          <a:xfrm>
            <a:off x="936000" y="7436305"/>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en fonction du volume.</a:t>
            </a:r>
            <a:endParaRPr lang="en-US" sz="1050" dirty="0"/>
          </a:p>
        </p:txBody>
      </p:sp>
      <p:sp>
        <p:nvSpPr>
          <p:cNvPr id="23" name="Shape 16"/>
          <p:cNvSpPr/>
          <p:nvPr/>
        </p:nvSpPr>
        <p:spPr>
          <a:xfrm>
            <a:off x="828000" y="8496000"/>
            <a:ext cx="6120000" cy="0"/>
          </a:xfrm>
          <a:prstGeom prst="line">
            <a:avLst/>
          </a:prstGeom>
          <a:noFill/>
          <a:ln w="8890">
            <a:solidFill>
              <a:srgbClr val="46606E"/>
            </a:solidFill>
            <a:prstDash val="solid"/>
          </a:ln>
        </p:spPr>
      </p:sp>
      <p:sp>
        <p:nvSpPr>
          <p:cNvPr id="24" name="Text 17"/>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5" name="Text 18"/>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6"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34</a:t>
            </a:r>
            <a:endParaRPr lang="en-US" sz="750" dirty="0"/>
          </a:p>
        </p:txBody>
      </p:sp>
      <p:sp>
        <p:nvSpPr>
          <p:cNvPr id="27"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languedoc.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languedoc.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8 / 9</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Languedoc</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terrasses et garrigue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4</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26</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21   </a:t>
            </a:r>
            <a:r>
              <a:rPr lang="en-US" sz="860" dirty="0">
                <a:solidFill>
                  <a:srgbClr val="FBF8F1"/>
                </a:solidFill>
                <a:latin typeface="IBM Plex Sans" pitchFamily="34" charset="0"/>
                <a:ea typeface="IBM Plex Sans" pitchFamily="34" charset="-122"/>
                <a:cs typeface="IBM Plex Sans" pitchFamily="34" charset="-120"/>
              </a:rPr>
              <a:t>Famille d’Exea</a:t>
            </a:r>
            <a:r>
              <a:rPr lang="en-US" sz="860" b="1" dirty="0">
                <a:solidFill>
                  <a:srgbClr val="FBF8F1"/>
                </a:solidFill>
                <a:latin typeface="IBM Plex Sans" pitchFamily="34" charset="0"/>
                <a:ea typeface="IBM Plex Sans" pitchFamily="34" charset="-122"/>
                <a:cs typeface="IBM Plex Sans" pitchFamily="34" charset="-120"/>
              </a:rPr>
              <a:t>   36</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21   </a:t>
            </a:r>
            <a:r>
              <a:rPr lang="en-US" sz="860" dirty="0">
                <a:solidFill>
                  <a:srgbClr val="FBF8F1"/>
                </a:solidFill>
                <a:latin typeface="IBM Plex Sans" pitchFamily="34" charset="0"/>
                <a:ea typeface="IBM Plex Sans" pitchFamily="34" charset="-122"/>
                <a:cs typeface="IBM Plex Sans" pitchFamily="34" charset="-120"/>
              </a:rPr>
              <a:t>Famille d’Exea — Jus de Cépages</a:t>
            </a:r>
            <a:r>
              <a:rPr lang="en-US" sz="860" b="1" dirty="0">
                <a:solidFill>
                  <a:srgbClr val="FBF8F1"/>
                </a:solidFill>
                <a:latin typeface="IBM Plex Sans" pitchFamily="34" charset="0"/>
                <a:ea typeface="IBM Plex Sans" pitchFamily="34" charset="-122"/>
                <a:cs typeface="IBM Plex Sans" pitchFamily="34" charset="-120"/>
              </a:rPr>
              <a:t>   37</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13   </a:t>
            </a:r>
            <a:r>
              <a:rPr lang="en-US" sz="860" dirty="0">
                <a:solidFill>
                  <a:srgbClr val="FBF8F1"/>
                </a:solidFill>
                <a:latin typeface="IBM Plex Sans" pitchFamily="34" charset="0"/>
                <a:ea typeface="IBM Plex Sans" pitchFamily="34" charset="-122"/>
                <a:cs typeface="IBM Plex Sans" pitchFamily="34" charset="-120"/>
              </a:rPr>
              <a:t>Château de Gragnos</a:t>
            </a:r>
            <a:r>
              <a:rPr lang="en-US" sz="860" b="1" dirty="0">
                <a:solidFill>
                  <a:srgbClr val="FBF8F1"/>
                </a:solidFill>
                <a:latin typeface="IBM Plex Sans" pitchFamily="34" charset="0"/>
                <a:ea typeface="IBM Plex Sans" pitchFamily="34" charset="-122"/>
                <a:cs typeface="IBM Plex Sans" pitchFamily="34" charset="-120"/>
              </a:rPr>
              <a:t>   38</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   </a:t>
            </a:r>
            <a:r>
              <a:rPr lang="en-US" sz="860" dirty="0">
                <a:solidFill>
                  <a:srgbClr val="FBF8F1"/>
                </a:solidFill>
                <a:latin typeface="IBM Plex Sans" pitchFamily="34" charset="0"/>
                <a:ea typeface="IBM Plex Sans" pitchFamily="34" charset="-122"/>
                <a:cs typeface="IBM Plex Sans" pitchFamily="34" charset="-120"/>
              </a:rPr>
              <a:t>Prieuré Sainte-Marie d’Albas</a:t>
            </a:r>
            <a:r>
              <a:rPr lang="en-US" sz="860" b="1" dirty="0">
                <a:solidFill>
                  <a:srgbClr val="FBF8F1"/>
                </a:solidFill>
                <a:latin typeface="IBM Plex Sans" pitchFamily="34" charset="0"/>
                <a:ea typeface="IBM Plex Sans" pitchFamily="34" charset="-122"/>
                <a:cs typeface="IBM Plex Sans" pitchFamily="34" charset="-120"/>
              </a:rPr>
              <a:t>   39</a:t>
            </a:r>
            <a:endParaRPr lang="en-US" sz="860" dirty="0"/>
          </a:p>
        </p:txBody>
      </p:sp>
      <p:sp>
        <p:nvSpPr>
          <p:cNvPr id="16" name="Text 1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35</a:t>
            </a:r>
            <a:endParaRPr lang="en-US" sz="750" dirty="0"/>
          </a:p>
        </p:txBody>
      </p:sp>
      <p:sp>
        <p:nvSpPr>
          <p:cNvPr id="17" name="Text 1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21</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Famille d’Exea</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825041"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25041"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logo de la maison — Famille d’Exea">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Famille d’Exea">    </p:cNvPr>
          <p:cNvPicPr>
            <a:picLocks noChangeAspect="1"/>
          </p:cNvPicPr>
          <p:nvPr/>
        </p:nvPicPr>
        <p:blipFill>
          <a:blip r:embed="rId4"/>
          <a:stretch>
            <a:fillRect/>
          </a:stretch>
        </p:blipFill>
        <p:spPr>
          <a:xfrm>
            <a:off x="6223279" y="1605996"/>
            <a:ext cx="585443" cy="2232000"/>
          </a:xfrm>
          <a:prstGeom prst="rect">
            <a:avLst/>
          </a:prstGeom>
        </p:spPr>
      </p:pic>
      <p:sp>
        <p:nvSpPr>
          <p:cNvPr id="18" name="Text 12"/>
          <p:cNvSpPr/>
          <p:nvPr/>
        </p:nvSpPr>
        <p:spPr>
          <a:xfrm>
            <a:off x="2393965" y="1726313"/>
            <a:ext cx="292685" cy="483413"/>
          </a:xfrm>
          <a:prstGeom prst="rect">
            <a:avLst/>
          </a:prstGeom>
          <a:noFill/>
          <a:ln/>
        </p:spPr>
        <p:txBody>
          <a:bodyPr wrap="square" lIns="0" tIns="0" rIns="0" bIns="0" rtlCol="0" anchor="t"/>
          <a:lstStyle/>
          <a:p>
            <a:pPr algn="r" indent="0" marL="0">
              <a:lnSpc>
                <a:spcPct val="122900"/>
              </a:lnSpc>
              <a:buNone/>
            </a:pPr>
            <a:r>
              <a:rPr lang="en-US" sz="2379" dirty="0">
                <a:solidFill>
                  <a:srgbClr val="67067C"/>
                </a:solidFill>
                <a:latin typeface="Young Serif" pitchFamily="34" charset="0"/>
                <a:ea typeface="Young Serif" pitchFamily="34" charset="-122"/>
                <a:cs typeface="Young Serif" pitchFamily="34" charset="-120"/>
              </a:rPr>
              <a:t>D</a:t>
            </a:r>
            <a:endParaRPr lang="en-US" sz="2379" dirty="0"/>
          </a:p>
        </p:txBody>
      </p:sp>
      <p:sp>
        <p:nvSpPr>
          <p:cNvPr id="19" name="Text 13"/>
          <p:cNvSpPr/>
          <p:nvPr/>
        </p:nvSpPr>
        <p:spPr>
          <a:xfrm>
            <a:off x="2448000" y="1863280"/>
            <a:ext cx="3456000" cy="197457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epuis plusieurs générations, la famille d’Exea façonne sur les terroirs solaires du Languedoc des vins biologiques vibrants et sincères, alliant pureté du fruit et convivialité. Panachage possible avec la gamme de purs jus de cépages. Format BIB disponible.</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405557">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144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cols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1 palette</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Minervois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Chant de Lune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7,78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7,16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446484">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Minervois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Chant de Lune Rouge, disponible en décembre 2026</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14,72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12,60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Rouge Sérame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7,78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7,16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Blanc Sérame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7,78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7,16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6,13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 *</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Oena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14,00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Jardins de Corbières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4,36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4,08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446484">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Jardins de Corbières Rouge, disponible en décembre 2026</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9,91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9,12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7,81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6883260"/>
            <a:ext cx="0" cy="259440"/>
          </a:xfrm>
          <a:prstGeom prst="line">
            <a:avLst/>
          </a:prstGeom>
          <a:noFill/>
          <a:ln w="17780">
            <a:solidFill>
              <a:srgbClr val="67067C"/>
            </a:solidFill>
            <a:prstDash val="solid"/>
          </a:ln>
        </p:spPr>
      </p:sp>
      <p:sp>
        <p:nvSpPr>
          <p:cNvPr id="22" name="Text 15"/>
          <p:cNvSpPr/>
          <p:nvPr/>
        </p:nvSpPr>
        <p:spPr>
          <a:xfrm>
            <a:off x="936000" y="6883260"/>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Franco de port à partir de 72 bouteilles</a:t>
            </a:r>
            <a:endParaRPr lang="en-US" sz="1050" dirty="0"/>
          </a:p>
        </p:txBody>
      </p:sp>
      <p:sp>
        <p:nvSpPr>
          <p:cNvPr id="23" name="Text 16"/>
          <p:cNvSpPr/>
          <p:nvPr/>
        </p:nvSpPr>
        <p:spPr>
          <a:xfrm>
            <a:off x="828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Famille d’Exea — Jus de Cépages, stand 21 p. 37</a:t>
            </a:r>
            <a:endParaRPr lang="en-US" sz="740" dirty="0"/>
          </a:p>
        </p:txBody>
      </p:sp>
      <p:sp>
        <p:nvSpPr>
          <p:cNvPr id="24" name="Shape 17"/>
          <p:cNvSpPr/>
          <p:nvPr/>
        </p:nvSpPr>
        <p:spPr>
          <a:xfrm>
            <a:off x="828000" y="8496000"/>
            <a:ext cx="6120000" cy="0"/>
          </a:xfrm>
          <a:prstGeom prst="line">
            <a:avLst/>
          </a:prstGeom>
          <a:noFill/>
          <a:ln w="8890">
            <a:solidFill>
              <a:srgbClr val="46606E"/>
            </a:solidFill>
            <a:prstDash val="solid"/>
          </a:ln>
        </p:spPr>
      </p:sp>
      <p:sp>
        <p:nvSpPr>
          <p:cNvPr id="25"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6"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7"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36</a:t>
            </a:r>
            <a:endParaRPr lang="en-US" sz="750" dirty="0"/>
          </a:p>
        </p:txBody>
      </p:sp>
      <p:sp>
        <p:nvSpPr>
          <p:cNvPr id="28"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21</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1950" dirty="0">
                <a:solidFill>
                  <a:srgbClr val="46606E"/>
                </a:solidFill>
                <a:latin typeface="Young Serif" pitchFamily="34" charset="0"/>
                <a:ea typeface="Young Serif" pitchFamily="34" charset="-122"/>
                <a:cs typeface="Young Serif" pitchFamily="34" charset="-120"/>
              </a:rPr>
              <a:t>Famille d’Exea — Jus de Cépages</a:t>
            </a:r>
            <a:endParaRPr lang="en-US" sz="195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177651" y="1317996"/>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177651" y="1317996"/>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2609041"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09041"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vins à la dégustation</a:t>
            </a:r>
            <a:endParaRPr lang="en-US" sz="720" dirty="0"/>
          </a:p>
        </p:txBody>
      </p:sp>
      <p:pic>
        <p:nvPicPr>
          <p:cNvPr id="16" name="Image 2" descr="brebis dans les vignes — Famille d’Exea — Jus de Cépages">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Famille d’Exea — Jus de Cépages">    </p:cNvPr>
          <p:cNvPicPr>
            <a:picLocks noChangeAspect="1"/>
          </p:cNvPicPr>
          <p:nvPr/>
        </p:nvPicPr>
        <p:blipFill>
          <a:blip r:embed="rId4"/>
          <a:stretch>
            <a:fillRect/>
          </a:stretch>
        </p:blipFill>
        <p:spPr>
          <a:xfrm>
            <a:off x="5897508" y="1605996"/>
            <a:ext cx="804984" cy="2232000"/>
          </a:xfrm>
          <a:prstGeom prst="rect">
            <a:avLst/>
          </a:prstGeom>
        </p:spPr>
      </p:pic>
      <p:sp>
        <p:nvSpPr>
          <p:cNvPr id="18" name="Text 12"/>
          <p:cNvSpPr/>
          <p:nvPr/>
        </p:nvSpPr>
        <p:spPr>
          <a:xfrm>
            <a:off x="2178013" y="1529640"/>
            <a:ext cx="161668" cy="423266"/>
          </a:xfrm>
          <a:prstGeom prst="rect">
            <a:avLst/>
          </a:prstGeom>
          <a:noFill/>
          <a:ln/>
        </p:spPr>
        <p:txBody>
          <a:bodyPr wrap="square" lIns="0" tIns="0" rIns="0" bIns="0" rtlCol="0" anchor="t"/>
          <a:lstStyle/>
          <a:p>
            <a:pPr algn="r" indent="0" marL="0">
              <a:lnSpc>
                <a:spcPct val="125200"/>
              </a:lnSpc>
              <a:buNone/>
            </a:pPr>
            <a:r>
              <a:rPr lang="en-US" sz="2083" dirty="0">
                <a:solidFill>
                  <a:srgbClr val="67067C"/>
                </a:solidFill>
                <a:latin typeface="Young Serif" pitchFamily="34" charset="0"/>
                <a:ea typeface="Young Serif" pitchFamily="34" charset="-122"/>
                <a:cs typeface="Young Serif" pitchFamily="34" charset="-120"/>
              </a:rPr>
              <a:t>I</a:t>
            </a:r>
            <a:endParaRPr lang="en-US" sz="2083" dirty="0"/>
          </a:p>
        </p:txBody>
      </p:sp>
      <p:sp>
        <p:nvSpPr>
          <p:cNvPr id="19" name="Text 13"/>
          <p:cNvSpPr/>
          <p:nvPr/>
        </p:nvSpPr>
        <p:spPr>
          <a:xfrm>
            <a:off x="2232000" y="1640157"/>
            <a:ext cx="3456000" cy="2197695"/>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ssu des plus belles vignes du domaine, ces pur jus sont une expression authentique du terroir. Élaborés sans filtration ni additif, ils préservent la pureté des arômes du cépage, offrant une expérience de dégustation fruitée, fraîche et élégante. Parfait pour les amateurs de boissons saines et raffinées, ils se dégustent à tout moment de la journée.</a:t>
            </a:r>
            <a:endParaRPr lang="en-US" sz="1225"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936000"/>
                <a:gridCol w="936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72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144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Syrah</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50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Chardonnay</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50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Grenache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50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2,75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2,39</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12000" y="5010857"/>
          <a:ext cx="6120000" cy="914400"/>
        </p:xfrm>
        <a:graphic>
          <a:graphicData uri="http://schemas.openxmlformats.org/drawingml/2006/table">
            <a:tbl>
              <a:tblPr/>
              <a:tblGrid>
                <a:gridCol w="234000"/>
                <a:gridCol w="2826000"/>
                <a:gridCol w="612000"/>
                <a:gridCol w="576000"/>
                <a:gridCol w="936000"/>
                <a:gridCol w="936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144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300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00918">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Syrah</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05680">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Chardonnay</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05680">
                <a:tc>
                  <a:txBody>
                    <a:bodyPr/>
                    <a:lstStyle/>
                    <a:p>
                      <a:pPr algn="ctr" indent="0" marL="0">
                        <a:buNone/>
                      </a:pPr>
                      <a:r>
                        <a:rPr lang="en-US" sz="1000" dirty="0">
                          <a:solidFill>
                            <a:srgbClr val="3C5B47"/>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Jus de cépages – Grenache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2" name="Shape 14"/>
          <p:cNvSpPr/>
          <p:nvPr/>
        </p:nvSpPr>
        <p:spPr>
          <a:xfrm>
            <a:off x="612000" y="5996661"/>
            <a:ext cx="0" cy="259440"/>
          </a:xfrm>
          <a:prstGeom prst="line">
            <a:avLst/>
          </a:prstGeom>
          <a:noFill/>
          <a:ln w="17780">
            <a:solidFill>
              <a:srgbClr val="67067C"/>
            </a:solidFill>
            <a:prstDash val="solid"/>
          </a:ln>
        </p:spPr>
      </p:sp>
      <p:sp>
        <p:nvSpPr>
          <p:cNvPr id="23" name="Text 15"/>
          <p:cNvSpPr/>
          <p:nvPr/>
        </p:nvSpPr>
        <p:spPr>
          <a:xfrm>
            <a:off x="720000" y="5996661"/>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Franco de port à partir de 72 bouteilles</a:t>
            </a:r>
            <a:endParaRPr lang="en-US" sz="1050" dirty="0"/>
          </a:p>
        </p:txBody>
      </p:sp>
      <p:sp>
        <p:nvSpPr>
          <p:cNvPr id="24" name="Text 16"/>
          <p:cNvSpPr/>
          <p:nvPr/>
        </p:nvSpPr>
        <p:spPr>
          <a:xfrm>
            <a:off x="612000" y="640010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5" name="Image 4" descr="/home/user/philippe1/build/deco-salon-prive-2026/sol-languedoc.png">    </p:cNvPr>
          <p:cNvPicPr>
            <a:picLocks noChangeAspect="1"/>
          </p:cNvPicPr>
          <p:nvPr/>
        </p:nvPicPr>
        <p:blipFill>
          <a:blip r:embed="rId5"/>
          <a:stretch>
            <a:fillRect/>
          </a:stretch>
        </p:blipFill>
        <p:spPr>
          <a:xfrm>
            <a:off x="612000" y="6547702"/>
            <a:ext cx="6120000" cy="1148400"/>
          </a:xfrm>
          <a:prstGeom prst="rect">
            <a:avLst/>
          </a:prstGeom>
        </p:spPr>
      </p:pic>
      <p:sp>
        <p:nvSpPr>
          <p:cNvPr id="26" name="Text 17"/>
          <p:cNvSpPr/>
          <p:nvPr/>
        </p:nvSpPr>
        <p:spPr>
          <a:xfrm>
            <a:off x="612000" y="8193600"/>
            <a:ext cx="6120000" cy="2376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Famille d’Exea, stand 21 p. 36</a:t>
            </a:r>
            <a:endParaRPr lang="en-US" sz="740" dirty="0"/>
          </a:p>
        </p:txBody>
      </p:sp>
      <p:sp>
        <p:nvSpPr>
          <p:cNvPr id="27" name="Shape 18"/>
          <p:cNvSpPr/>
          <p:nvPr/>
        </p:nvSpPr>
        <p:spPr>
          <a:xfrm>
            <a:off x="612000" y="8496000"/>
            <a:ext cx="6120000" cy="0"/>
          </a:xfrm>
          <a:prstGeom prst="line">
            <a:avLst/>
          </a:prstGeom>
          <a:noFill/>
          <a:ln w="8890">
            <a:solidFill>
              <a:srgbClr val="46606E"/>
            </a:solidFill>
            <a:prstDash val="solid"/>
          </a:ln>
        </p:spPr>
      </p:sp>
      <p:sp>
        <p:nvSpPr>
          <p:cNvPr id="28" name="Text 19"/>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9" name="Text 20"/>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Jus de cépages     pictos de l’Agence SCIO, pas les logos officiels</a:t>
            </a:r>
            <a:endParaRPr lang="en-US" sz="650" dirty="0"/>
          </a:p>
        </p:txBody>
      </p:sp>
      <p:sp>
        <p:nvSpPr>
          <p:cNvPr id="30"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37</a:t>
            </a:r>
            <a:endParaRPr lang="en-US" sz="750" dirty="0"/>
          </a:p>
        </p:txBody>
      </p:sp>
      <p:sp>
        <p:nvSpPr>
          <p:cNvPr id="31"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13</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Château de Gragnos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486451"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2" name="Shape 8"/>
          <p:cNvSpPr/>
          <p:nvPr/>
        </p:nvSpPr>
        <p:spPr>
          <a:xfrm>
            <a:off x="1393651"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393651"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858325"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858325"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vins à la dégustation</a:t>
            </a:r>
            <a:endParaRPr lang="en-US" sz="720" dirty="0"/>
          </a:p>
        </p:txBody>
      </p:sp>
      <p:pic>
        <p:nvPicPr>
          <p:cNvPr id="16" name="Image 2" descr="grappes à la vigne — Château de Gragnos">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Château de Gragnos">    </p:cNvPr>
          <p:cNvPicPr>
            <a:picLocks noChangeAspect="1"/>
          </p:cNvPicPr>
          <p:nvPr/>
        </p:nvPicPr>
        <p:blipFill>
          <a:blip r:embed="rId4"/>
          <a:stretch>
            <a:fillRect/>
          </a:stretch>
        </p:blipFill>
        <p:spPr>
          <a:xfrm>
            <a:off x="6227852" y="1605996"/>
            <a:ext cx="576295" cy="2232000"/>
          </a:xfrm>
          <a:prstGeom prst="rect">
            <a:avLst/>
          </a:prstGeom>
        </p:spPr>
      </p:pic>
      <p:sp>
        <p:nvSpPr>
          <p:cNvPr id="18" name="Text 12"/>
          <p:cNvSpPr/>
          <p:nvPr/>
        </p:nvSpPr>
        <p:spPr>
          <a:xfrm>
            <a:off x="2393976" y="1584817"/>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A</a:t>
            </a:r>
            <a:endParaRPr lang="en-US" sz="2391" dirty="0"/>
          </a:p>
        </p:txBody>
      </p:sp>
      <p:sp>
        <p:nvSpPr>
          <p:cNvPr id="19" name="Text 13"/>
          <p:cNvSpPr/>
          <p:nvPr/>
        </p:nvSpPr>
        <p:spPr>
          <a:xfrm>
            <a:off x="2448000" y="1723186"/>
            <a:ext cx="3456000" cy="211466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lain, Patricia et leurs fils révèlent l’âme de Gragnos par un soin méticuleux apporté à chaque pied de vigne. Engagé dans une conversion biologique, le domaine privilégie un accompagnement doux du végétal pour laisser rayonner l’identité du terroir sans le contraindre.</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Léon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Saint-Chinian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Lou Daro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Saint-Chinian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Henri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Saint-Chinian</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Juliette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Pays d’Hérault Monts de la Grage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Grain de Blanc</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6,70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811548"/>
            <a:ext cx="0" cy="497268"/>
          </a:xfrm>
          <a:prstGeom prst="line">
            <a:avLst/>
          </a:prstGeom>
          <a:noFill/>
          <a:ln w="17780">
            <a:solidFill>
              <a:srgbClr val="67067C"/>
            </a:solidFill>
            <a:prstDash val="solid"/>
          </a:ln>
        </p:spPr>
      </p:sp>
      <p:sp>
        <p:nvSpPr>
          <p:cNvPr id="22" name="Text 15"/>
          <p:cNvSpPr/>
          <p:nvPr/>
        </p:nvSpPr>
        <p:spPr>
          <a:xfrm>
            <a:off x="936000" y="5811548"/>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 à partir de 180 bouteilles.</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180 cols.</a:t>
            </a:r>
            <a:endParaRPr lang="en-US" sz="1050" dirty="0"/>
          </a:p>
        </p:txBody>
      </p:sp>
      <p:sp>
        <p:nvSpPr>
          <p:cNvPr id="23" name="Text 16"/>
          <p:cNvSpPr/>
          <p:nvPr/>
        </p:nvSpPr>
        <p:spPr>
          <a:xfrm>
            <a:off x="828000" y="645281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4" name="Image 4" descr="/home/user/philippe1/build/deco-salon-prive-2026/sol-languedoc.png">    </p:cNvPr>
          <p:cNvPicPr>
            <a:picLocks noChangeAspect="1"/>
          </p:cNvPicPr>
          <p:nvPr/>
        </p:nvPicPr>
        <p:blipFill>
          <a:blip r:embed="rId5"/>
          <a:stretch>
            <a:fillRect/>
          </a:stretch>
        </p:blipFill>
        <p:spPr>
          <a:xfrm>
            <a:off x="828000" y="6600416"/>
            <a:ext cx="6120000" cy="1148400"/>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38</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3</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Prieuré Sainte-Marie d’Albas</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528148"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hve.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2" name="Shape 8"/>
          <p:cNvSpPr/>
          <p:nvPr/>
        </p:nvSpPr>
        <p:spPr>
          <a:xfrm>
            <a:off x="1219348"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219348"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2684022"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2684022"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vins à la dégustation</a:t>
            </a:r>
            <a:endParaRPr lang="en-US" sz="720" dirty="0"/>
          </a:p>
        </p:txBody>
      </p:sp>
      <p:pic>
        <p:nvPicPr>
          <p:cNvPr id="16" name="Image 2" descr="les deux vignerons et leur rosé, noir et blanc — Prieuré Sainte-Marie d’Albas">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Prieuré Sainte-Marie d’Albas">    </p:cNvPr>
          <p:cNvPicPr>
            <a:picLocks noChangeAspect="1"/>
          </p:cNvPicPr>
          <p:nvPr/>
        </p:nvPicPr>
        <p:blipFill>
          <a:blip r:embed="rId4"/>
          <a:stretch>
            <a:fillRect/>
          </a:stretch>
        </p:blipFill>
        <p:spPr>
          <a:xfrm>
            <a:off x="6056066" y="1605996"/>
            <a:ext cx="487869" cy="2232000"/>
          </a:xfrm>
          <a:prstGeom prst="rect">
            <a:avLst/>
          </a:prstGeom>
        </p:spPr>
      </p:pic>
      <p:sp>
        <p:nvSpPr>
          <p:cNvPr id="18" name="Text 12"/>
          <p:cNvSpPr/>
          <p:nvPr/>
        </p:nvSpPr>
        <p:spPr>
          <a:xfrm>
            <a:off x="2177976" y="1584817"/>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A</a:t>
            </a:r>
            <a:endParaRPr lang="en-US" sz="2391" dirty="0"/>
          </a:p>
        </p:txBody>
      </p:sp>
      <p:sp>
        <p:nvSpPr>
          <p:cNvPr id="19" name="Text 13"/>
          <p:cNvSpPr/>
          <p:nvPr/>
        </p:nvSpPr>
        <p:spPr>
          <a:xfrm>
            <a:off x="2232000" y="1723186"/>
            <a:ext cx="3456000" cy="211466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 pied de la Montagne d’Alaric, au cœur des Corbières, Laurence et Vincent Licciardi-Pirot cultivent des vignes plantées en terrasses et balayées par le vent du Cers. Les vins sont élevés dans une ancienne cave de village à demi enterrée : des rouges chaleureux du Midi, des blancs et des rosés tout en fraîcheur.</a:t>
            </a:r>
            <a:endParaRPr lang="en-US" sz="13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Terre Rouge</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7,20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Terre Rouge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13,40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La Potion</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2024</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Clos de Cassis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8,30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A8515F"/>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Corbières</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Clos de Cassis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2022/2023</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Albas</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2025</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612000" y="6741575"/>
            <a:ext cx="0" cy="497268"/>
          </a:xfrm>
          <a:prstGeom prst="line">
            <a:avLst/>
          </a:prstGeom>
          <a:noFill/>
          <a:ln w="17780">
            <a:solidFill>
              <a:srgbClr val="67067C"/>
            </a:solidFill>
            <a:prstDash val="solid"/>
          </a:ln>
        </p:spPr>
      </p:sp>
      <p:sp>
        <p:nvSpPr>
          <p:cNvPr id="22" name="Text 15"/>
          <p:cNvSpPr/>
          <p:nvPr/>
        </p:nvSpPr>
        <p:spPr>
          <a:xfrm>
            <a:off x="720000" y="6741575"/>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cave.</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180 cols.</a:t>
            </a:r>
            <a:endParaRPr lang="en-US" sz="1050" dirty="0"/>
          </a:p>
        </p:txBody>
      </p:sp>
      <p:sp>
        <p:nvSpPr>
          <p:cNvPr id="23" name="Shape 16"/>
          <p:cNvSpPr/>
          <p:nvPr/>
        </p:nvSpPr>
        <p:spPr>
          <a:xfrm>
            <a:off x="612000" y="8496000"/>
            <a:ext cx="6120000" cy="0"/>
          </a:xfrm>
          <a:prstGeom prst="line">
            <a:avLst/>
          </a:prstGeom>
          <a:noFill/>
          <a:ln w="8890">
            <a:solidFill>
              <a:srgbClr val="46606E"/>
            </a:solidFill>
            <a:prstDash val="solid"/>
          </a:ln>
        </p:spPr>
      </p:sp>
      <p:sp>
        <p:nvSpPr>
          <p:cNvPr id="24" name="Text 17"/>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8"/>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39</a:t>
            </a:r>
            <a:endParaRPr lang="en-US" sz="750" dirty="0"/>
          </a:p>
        </p:txBody>
      </p:sp>
      <p:sp>
        <p:nvSpPr>
          <p:cNvPr id="27"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46606E"/>
        </a:solidFill>
      </p:bgPr>
    </p:bg>
    <p:spTree>
      <p:nvGrpSpPr>
        <p:cNvPr id="1" name=""/>
        <p:cNvGrpSpPr/>
        <p:nvPr/>
      </p:nvGrpSpPr>
      <p:grpSpPr>
        <a:xfrm>
          <a:off x="0" y="0"/>
          <a:ext cx="0" cy="0"/>
          <a:chOff x="0" y="0"/>
          <a:chExt cx="0" cy="0"/>
        </a:xfrm>
      </p:grpSpPr>
      <p:pic>
        <p:nvPicPr>
          <p:cNvPr id="2" name="Image 0" descr="/home/user/philippe1/build/deco-salon-prive-2026/ouverture-champa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salon-prive-2026/carotte-champagn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46606E"/>
                </a:solidFill>
                <a:latin typeface="IBM Plex Sans" pitchFamily="34" charset="0"/>
                <a:ea typeface="IBM Plex Sans" pitchFamily="34" charset="-122"/>
                <a:cs typeface="IBM Plex Sans" pitchFamily="34" charset="-120"/>
              </a:rPr>
              <a:t>9 / 9</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46606E"/>
                </a:solidFill>
                <a:latin typeface="Young Serif" pitchFamily="34" charset="0"/>
                <a:ea typeface="Young Serif" pitchFamily="34" charset="-122"/>
                <a:cs typeface="Young Serif" pitchFamily="34" charset="-120"/>
              </a:rPr>
              <a:t>Champagne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46606E"/>
                </a:solidFill>
                <a:latin typeface="Spectral" pitchFamily="34" charset="0"/>
                <a:ea typeface="Spectral" pitchFamily="34" charset="-122"/>
                <a:cs typeface="Spectral" pitchFamily="34" charset="-120"/>
              </a:rPr>
              <a:t>la craie</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4</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22</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vins à la dégustation</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11   </a:t>
            </a:r>
            <a:r>
              <a:rPr lang="en-US" sz="860" dirty="0">
                <a:solidFill>
                  <a:srgbClr val="46606E"/>
                </a:solidFill>
                <a:latin typeface="IBM Plex Sans" pitchFamily="34" charset="0"/>
                <a:ea typeface="IBM Plex Sans" pitchFamily="34" charset="-122"/>
                <a:cs typeface="IBM Plex Sans" pitchFamily="34" charset="-120"/>
              </a:rPr>
              <a:t>Champagne Dekeyne</a:t>
            </a:r>
            <a:r>
              <a:rPr lang="en-US" sz="860" b="1" dirty="0">
                <a:solidFill>
                  <a:srgbClr val="46606E"/>
                </a:solidFill>
                <a:latin typeface="IBM Plex Sans" pitchFamily="34" charset="0"/>
                <a:ea typeface="IBM Plex Sans" pitchFamily="34" charset="-122"/>
                <a:cs typeface="IBM Plex Sans" pitchFamily="34" charset="-120"/>
              </a:rPr>
              <a:t>   41</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2   </a:t>
            </a:r>
            <a:r>
              <a:rPr lang="en-US" sz="860" dirty="0">
                <a:solidFill>
                  <a:srgbClr val="46606E"/>
                </a:solidFill>
                <a:latin typeface="IBM Plex Sans" pitchFamily="34" charset="0"/>
                <a:ea typeface="IBM Plex Sans" pitchFamily="34" charset="-122"/>
                <a:cs typeface="IBM Plex Sans" pitchFamily="34" charset="-120"/>
              </a:rPr>
              <a:t>Champagne Denis Frézier</a:t>
            </a:r>
            <a:r>
              <a:rPr lang="en-US" sz="860" b="1" dirty="0">
                <a:solidFill>
                  <a:srgbClr val="46606E"/>
                </a:solidFill>
                <a:latin typeface="IBM Plex Sans" pitchFamily="34" charset="0"/>
                <a:ea typeface="IBM Plex Sans" pitchFamily="34" charset="-122"/>
                <a:cs typeface="IBM Plex Sans" pitchFamily="34" charset="-120"/>
              </a:rPr>
              <a:t>   42</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23   </a:t>
            </a:r>
            <a:r>
              <a:rPr lang="en-US" sz="860" dirty="0">
                <a:solidFill>
                  <a:srgbClr val="46606E"/>
                </a:solidFill>
                <a:latin typeface="IBM Plex Sans" pitchFamily="34" charset="0"/>
                <a:ea typeface="IBM Plex Sans" pitchFamily="34" charset="-122"/>
                <a:cs typeface="IBM Plex Sans" pitchFamily="34" charset="-120"/>
              </a:rPr>
              <a:t>Champagne Solemme</a:t>
            </a:r>
            <a:r>
              <a:rPr lang="en-US" sz="860" b="1" dirty="0">
                <a:solidFill>
                  <a:srgbClr val="46606E"/>
                </a:solidFill>
                <a:latin typeface="IBM Plex Sans" pitchFamily="34" charset="0"/>
                <a:ea typeface="IBM Plex Sans" pitchFamily="34" charset="-122"/>
                <a:cs typeface="IBM Plex Sans" pitchFamily="34" charset="-120"/>
              </a:rPr>
              <a:t>   43</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15   </a:t>
            </a:r>
            <a:r>
              <a:rPr lang="en-US" sz="860" dirty="0">
                <a:solidFill>
                  <a:srgbClr val="46606E"/>
                </a:solidFill>
                <a:latin typeface="IBM Plex Sans" pitchFamily="34" charset="0"/>
                <a:ea typeface="IBM Plex Sans" pitchFamily="34" charset="-122"/>
                <a:cs typeface="IBM Plex Sans" pitchFamily="34" charset="-120"/>
              </a:rPr>
              <a:t>Vazart-Coquart &amp; Fils</a:t>
            </a:r>
            <a:r>
              <a:rPr lang="en-US" sz="860" b="1" dirty="0">
                <a:solidFill>
                  <a:srgbClr val="46606E"/>
                </a:solidFill>
                <a:latin typeface="IBM Plex Sans" pitchFamily="34" charset="0"/>
                <a:ea typeface="IBM Plex Sans" pitchFamily="34" charset="-122"/>
                <a:cs typeface="IBM Plex Sans" pitchFamily="34" charset="-120"/>
              </a:rPr>
              <a:t>   44</a:t>
            </a:r>
            <a:endParaRPr lang="en-US" sz="860" dirty="0"/>
          </a:p>
        </p:txBody>
      </p:sp>
      <p:sp>
        <p:nvSpPr>
          <p:cNvPr id="16" name="Text 1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40</a:t>
            </a:r>
            <a:endParaRPr lang="en-US" sz="750" dirty="0"/>
          </a:p>
        </p:txBody>
      </p:sp>
      <p:sp>
        <p:nvSpPr>
          <p:cNvPr id="17" name="Text 1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11</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Champagne Dekeyne</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110129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conversion.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2" name="Shape 8"/>
          <p:cNvSpPr/>
          <p:nvPr/>
        </p:nvSpPr>
        <p:spPr>
          <a:xfrm>
            <a:off x="1792494"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1792494"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2502605" y="1317996"/>
            <a:ext cx="1385474"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2502605"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6" name="Shape 12"/>
          <p:cNvSpPr/>
          <p:nvPr/>
        </p:nvSpPr>
        <p:spPr>
          <a:xfrm>
            <a:off x="3967278"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3967278"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vins à la dégustation</a:t>
            </a:r>
            <a:endParaRPr lang="en-US" sz="720" dirty="0"/>
          </a:p>
        </p:txBody>
      </p:sp>
      <p:pic>
        <p:nvPicPr>
          <p:cNvPr id="18" name="Image 2" descr="les deux frères dans les vignes — Champagne Dekeyne">    </p:cNvPr>
          <p:cNvPicPr>
            <a:picLocks noChangeAspect="1"/>
          </p:cNvPicPr>
          <p:nvPr/>
        </p:nvPicPr>
        <p:blipFill>
          <a:blip r:embed="rId3"/>
          <a:stretch>
            <a:fillRect/>
          </a:stretch>
        </p:blipFill>
        <p:spPr>
          <a:xfrm>
            <a:off x="612000" y="1605996"/>
            <a:ext cx="1440000" cy="1440000"/>
          </a:xfrm>
          <a:prstGeom prst="rect">
            <a:avLst/>
          </a:prstGeom>
        </p:spPr>
      </p:pic>
      <p:pic>
        <p:nvPicPr>
          <p:cNvPr id="19" name="Image 3" descr="Une bouteille du domaine Champagne Dekeyne">    </p:cNvPr>
          <p:cNvPicPr>
            <a:picLocks noChangeAspect="1"/>
          </p:cNvPicPr>
          <p:nvPr/>
        </p:nvPicPr>
        <p:blipFill>
          <a:blip r:embed="rId4"/>
          <a:stretch>
            <a:fillRect/>
          </a:stretch>
        </p:blipFill>
        <p:spPr>
          <a:xfrm>
            <a:off x="6005754" y="1605996"/>
            <a:ext cx="588492" cy="2232000"/>
          </a:xfrm>
          <a:prstGeom prst="rect">
            <a:avLst/>
          </a:prstGeom>
        </p:spPr>
      </p:pic>
      <p:sp>
        <p:nvSpPr>
          <p:cNvPr id="20" name="Text 14"/>
          <p:cNvSpPr/>
          <p:nvPr/>
        </p:nvSpPr>
        <p:spPr>
          <a:xfrm>
            <a:off x="2178034" y="1595338"/>
            <a:ext cx="251341" cy="454965"/>
          </a:xfrm>
          <a:prstGeom prst="rect">
            <a:avLst/>
          </a:prstGeom>
          <a:noFill/>
          <a:ln/>
        </p:spPr>
        <p:txBody>
          <a:bodyPr wrap="square" lIns="0" tIns="0" rIns="0" bIns="0" rtlCol="0" anchor="t"/>
          <a:lstStyle/>
          <a:p>
            <a:pPr algn="r" indent="0" marL="0">
              <a:lnSpc>
                <a:spcPct val="124800"/>
              </a:lnSpc>
              <a:buNone/>
            </a:pPr>
            <a:r>
              <a:rPr lang="en-US" sz="2239" dirty="0">
                <a:solidFill>
                  <a:srgbClr val="67067C"/>
                </a:solidFill>
                <a:latin typeface="Young Serif" pitchFamily="34" charset="0"/>
                <a:ea typeface="Young Serif" pitchFamily="34" charset="-122"/>
                <a:cs typeface="Young Serif" pitchFamily="34" charset="-120"/>
              </a:rPr>
              <a:t>F</a:t>
            </a:r>
            <a:endParaRPr lang="en-US" sz="2239" dirty="0"/>
          </a:p>
        </p:txBody>
      </p:sp>
      <p:sp>
        <p:nvSpPr>
          <p:cNvPr id="21" name="Text 15"/>
          <p:cNvSpPr/>
          <p:nvPr/>
        </p:nvSpPr>
        <p:spPr>
          <a:xfrm>
            <a:off x="2232000" y="1715947"/>
            <a:ext cx="3456000" cy="212190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idèle à la ferme de La Voglonière depuis 1919, la famille Dekeyne cultive une relation intime avec la terre champenoise. Engagé en conversion biologique, ce domaine de quatre générations élabore des champagnes d’artisan à la vibrante énergie de sol. Ratafia disponible. Vins sous allocation.</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1872000"/>
              </a:tblGrid>
              <a:tr h="226814">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Prix salon</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Voglonniers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19,96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Nature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25,41</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Chardonnay Extra-Brut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26,48</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Supernova Extra-Brut Zéro Dosage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36,83</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3" name="Shape 16"/>
          <p:cNvSpPr/>
          <p:nvPr/>
        </p:nvSpPr>
        <p:spPr>
          <a:xfrm>
            <a:off x="612000" y="5501539"/>
            <a:ext cx="0" cy="259440"/>
          </a:xfrm>
          <a:prstGeom prst="line">
            <a:avLst/>
          </a:prstGeom>
          <a:noFill/>
          <a:ln w="17780">
            <a:solidFill>
              <a:srgbClr val="67067C"/>
            </a:solidFill>
            <a:prstDash val="solid"/>
          </a:ln>
        </p:spPr>
      </p:sp>
      <p:sp>
        <p:nvSpPr>
          <p:cNvPr id="24" name="Text 17"/>
          <p:cNvSpPr/>
          <p:nvPr/>
        </p:nvSpPr>
        <p:spPr>
          <a:xfrm>
            <a:off x="720000" y="5501539"/>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 à partir de 48 bouteilles.</a:t>
            </a:r>
            <a:endParaRPr lang="en-US" sz="1050" dirty="0"/>
          </a:p>
        </p:txBody>
      </p:sp>
      <p:sp>
        <p:nvSpPr>
          <p:cNvPr id="25" name="Text 18"/>
          <p:cNvSpPr/>
          <p:nvPr/>
        </p:nvSpPr>
        <p:spPr>
          <a:xfrm>
            <a:off x="612000" y="590498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6" name="Image 4" descr="/home/user/philippe1/build/deco-salon-prive-2026/sol-champagne.png">    </p:cNvPr>
          <p:cNvPicPr>
            <a:picLocks noChangeAspect="1"/>
          </p:cNvPicPr>
          <p:nvPr/>
        </p:nvPicPr>
        <p:blipFill>
          <a:blip r:embed="rId5"/>
          <a:stretch>
            <a:fillRect/>
          </a:stretch>
        </p:blipFill>
        <p:spPr>
          <a:xfrm>
            <a:off x="612000" y="6052580"/>
            <a:ext cx="6120000" cy="1232577"/>
          </a:xfrm>
          <a:prstGeom prst="rect">
            <a:avLst/>
          </a:prstGeom>
        </p:spPr>
      </p:pic>
      <p:sp>
        <p:nvSpPr>
          <p:cNvPr id="27" name="Shape 19"/>
          <p:cNvSpPr/>
          <p:nvPr/>
        </p:nvSpPr>
        <p:spPr>
          <a:xfrm>
            <a:off x="612000" y="8496000"/>
            <a:ext cx="6120000" cy="0"/>
          </a:xfrm>
          <a:prstGeom prst="line">
            <a:avLst/>
          </a:prstGeom>
          <a:noFill/>
          <a:ln w="8890">
            <a:solidFill>
              <a:srgbClr val="46606E"/>
            </a:solidFill>
            <a:prstDash val="solid"/>
          </a:ln>
        </p:spPr>
      </p:sp>
      <p:sp>
        <p:nvSpPr>
          <p:cNvPr id="28" name="Text 20"/>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44 · 85</a:t>
            </a:r>
            <a:endParaRPr lang="en-US" sz="720" dirty="0"/>
          </a:p>
        </p:txBody>
      </p:sp>
      <p:sp>
        <p:nvSpPr>
          <p:cNvPr id="29" name="Text 21"/>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30" name="Text 2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41</a:t>
            </a:r>
            <a:endParaRPr lang="en-US" sz="750" dirty="0"/>
          </a:p>
        </p:txBody>
      </p:sp>
      <p:sp>
        <p:nvSpPr>
          <p:cNvPr id="31" name="Text 2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Blanche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Champagne Denis Frézier</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110129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conversion.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2" name="Shape 8"/>
          <p:cNvSpPr/>
          <p:nvPr/>
        </p:nvSpPr>
        <p:spPr>
          <a:xfrm>
            <a:off x="2008494" y="1317996"/>
            <a:ext cx="630911" cy="180000"/>
          </a:xfrm>
          <a:prstGeom prst="roundRect">
            <a:avLst>
              <a:gd name="adj" fmla="val 10160"/>
            </a:avLst>
          </a:prstGeom>
          <a:solidFill>
            <a:srgbClr val="67067C"/>
          </a:solidFill>
          <a:ln w="8890">
            <a:solidFill>
              <a:srgbClr val="67067C"/>
            </a:solidFill>
            <a:prstDash val="solid"/>
          </a:ln>
        </p:spPr>
      </p:sp>
      <p:sp>
        <p:nvSpPr>
          <p:cNvPr id="13" name="Text 9"/>
          <p:cNvSpPr/>
          <p:nvPr/>
        </p:nvSpPr>
        <p:spPr>
          <a:xfrm>
            <a:off x="2008494" y="1317996"/>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4" name="Shape 10"/>
          <p:cNvSpPr/>
          <p:nvPr/>
        </p:nvSpPr>
        <p:spPr>
          <a:xfrm>
            <a:off x="2718605" y="1317996"/>
            <a:ext cx="1385474" cy="180000"/>
          </a:xfrm>
          <a:prstGeom prst="roundRect">
            <a:avLst>
              <a:gd name="adj" fmla="val 10160"/>
            </a:avLst>
          </a:prstGeom>
          <a:solidFill>
            <a:srgbClr val="F2EADA"/>
          </a:solidFill>
          <a:ln w="8890">
            <a:solidFill>
              <a:srgbClr val="A8515F"/>
            </a:solidFill>
            <a:prstDash val="solid"/>
          </a:ln>
        </p:spPr>
      </p:sp>
      <p:sp>
        <p:nvSpPr>
          <p:cNvPr id="15" name="Text 11"/>
          <p:cNvSpPr/>
          <p:nvPr/>
        </p:nvSpPr>
        <p:spPr>
          <a:xfrm>
            <a:off x="2718605"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6" name="Shape 12"/>
          <p:cNvSpPr/>
          <p:nvPr/>
        </p:nvSpPr>
        <p:spPr>
          <a:xfrm>
            <a:off x="4183278" y="1317996"/>
            <a:ext cx="1149376" cy="180000"/>
          </a:xfrm>
          <a:prstGeom prst="roundRect">
            <a:avLst>
              <a:gd name="adj" fmla="val 10160"/>
            </a:avLst>
          </a:prstGeom>
          <a:solidFill>
            <a:srgbClr val="F2EADA"/>
          </a:solidFill>
          <a:ln w="8890">
            <a:solidFill>
              <a:srgbClr val="46606E"/>
            </a:solidFill>
            <a:prstDash val="solid"/>
          </a:ln>
        </p:spPr>
      </p:sp>
      <p:sp>
        <p:nvSpPr>
          <p:cNvPr id="17" name="Text 13"/>
          <p:cNvSpPr/>
          <p:nvPr/>
        </p:nvSpPr>
        <p:spPr>
          <a:xfrm>
            <a:off x="4183278"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vins à la dégustation</a:t>
            </a:r>
            <a:endParaRPr lang="en-US" sz="720" dirty="0"/>
          </a:p>
        </p:txBody>
      </p:sp>
      <p:pic>
        <p:nvPicPr>
          <p:cNvPr id="18" name="Image 2" descr="le village dans ses vignes — Champagne Denis Frézier">    </p:cNvPr>
          <p:cNvPicPr>
            <a:picLocks noChangeAspect="1"/>
          </p:cNvPicPr>
          <p:nvPr/>
        </p:nvPicPr>
        <p:blipFill>
          <a:blip r:embed="rId3"/>
          <a:stretch>
            <a:fillRect/>
          </a:stretch>
        </p:blipFill>
        <p:spPr>
          <a:xfrm>
            <a:off x="828000" y="1605996"/>
            <a:ext cx="1440000" cy="1440000"/>
          </a:xfrm>
          <a:prstGeom prst="rect">
            <a:avLst/>
          </a:prstGeom>
        </p:spPr>
      </p:pic>
      <p:pic>
        <p:nvPicPr>
          <p:cNvPr id="19" name="Image 3" descr="Une bouteille du domaine Champagne Denis Frézier">    </p:cNvPr>
          <p:cNvPicPr>
            <a:picLocks noChangeAspect="1"/>
          </p:cNvPicPr>
          <p:nvPr/>
        </p:nvPicPr>
        <p:blipFill>
          <a:blip r:embed="rId4"/>
          <a:stretch>
            <a:fillRect/>
          </a:stretch>
        </p:blipFill>
        <p:spPr>
          <a:xfrm>
            <a:off x="6218705" y="1605996"/>
            <a:ext cx="594590" cy="2232000"/>
          </a:xfrm>
          <a:prstGeom prst="rect">
            <a:avLst/>
          </a:prstGeom>
        </p:spPr>
      </p:pic>
      <p:sp>
        <p:nvSpPr>
          <p:cNvPr id="20" name="Text 14"/>
          <p:cNvSpPr/>
          <p:nvPr/>
        </p:nvSpPr>
        <p:spPr>
          <a:xfrm>
            <a:off x="2393992" y="1578034"/>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E</a:t>
            </a:r>
            <a:endParaRPr lang="en-US" sz="2489" dirty="0"/>
          </a:p>
        </p:txBody>
      </p:sp>
      <p:sp>
        <p:nvSpPr>
          <p:cNvPr id="21" name="Text 15"/>
          <p:cNvSpPr/>
          <p:nvPr/>
        </p:nvSpPr>
        <p:spPr>
          <a:xfrm>
            <a:off x="2448000" y="1727854"/>
            <a:ext cx="3456000" cy="210999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nracinée depuis 7 générations à Monthelon, entre Côte des Blancs et Vallée de la Marne, la Maison Denis Frézier conjugue mémoire et durabilité. Certifiée HVE et VDC, engagée en conversion biologique, elle sculpte les cuvées : Trois Crus, Terroir Noir et Terroir Blanc. Ratafia disponible. Vins sous allocation.</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66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126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186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Trois Crus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15,76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15,45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15,16</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Terroir Blanc Blanc de Blancs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17,54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16,87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446484">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Le Terroir Meunier Blanc de Meuniers Extra-Brut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17,54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17,20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16,87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AOC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Millésime Expression</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2018</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19,14</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18,77</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18,42</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3" name="Shape 16"/>
          <p:cNvSpPr/>
          <p:nvPr/>
        </p:nvSpPr>
        <p:spPr>
          <a:xfrm>
            <a:off x="828000" y="5712727"/>
            <a:ext cx="0" cy="259440"/>
          </a:xfrm>
          <a:prstGeom prst="line">
            <a:avLst/>
          </a:prstGeom>
          <a:noFill/>
          <a:ln w="17780">
            <a:solidFill>
              <a:srgbClr val="67067C"/>
            </a:solidFill>
            <a:prstDash val="solid"/>
          </a:ln>
        </p:spPr>
      </p:sp>
      <p:sp>
        <p:nvSpPr>
          <p:cNvPr id="24" name="Text 17"/>
          <p:cNvSpPr/>
          <p:nvPr/>
        </p:nvSpPr>
        <p:spPr>
          <a:xfrm>
            <a:off x="936000" y="5712727"/>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5" name="Text 18"/>
          <p:cNvSpPr/>
          <p:nvPr/>
        </p:nvSpPr>
        <p:spPr>
          <a:xfrm>
            <a:off x="828000" y="611616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6" name="Image 4" descr="/home/user/philippe1/build/deco-salon-prive-2026/sol-champagne.png">    </p:cNvPr>
          <p:cNvPicPr>
            <a:picLocks noChangeAspect="1"/>
          </p:cNvPicPr>
          <p:nvPr/>
        </p:nvPicPr>
        <p:blipFill>
          <a:blip r:embed="rId5"/>
          <a:stretch>
            <a:fillRect/>
          </a:stretch>
        </p:blipFill>
        <p:spPr>
          <a:xfrm>
            <a:off x="828000" y="6263767"/>
            <a:ext cx="6120000" cy="1148400"/>
          </a:xfrm>
          <a:prstGeom prst="rect">
            <a:avLst/>
          </a:prstGeom>
        </p:spPr>
      </p:pic>
      <p:sp>
        <p:nvSpPr>
          <p:cNvPr id="27" name="Shape 19"/>
          <p:cNvSpPr/>
          <p:nvPr/>
        </p:nvSpPr>
        <p:spPr>
          <a:xfrm>
            <a:off x="828000" y="8496000"/>
            <a:ext cx="6120000" cy="0"/>
          </a:xfrm>
          <a:prstGeom prst="line">
            <a:avLst/>
          </a:prstGeom>
          <a:noFill/>
          <a:ln w="8890">
            <a:solidFill>
              <a:srgbClr val="46606E"/>
            </a:solidFill>
            <a:prstDash val="solid"/>
          </a:ln>
        </p:spPr>
      </p:sp>
      <p:sp>
        <p:nvSpPr>
          <p:cNvPr id="28" name="Text 20"/>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9" name="Text 21"/>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30" name="Text 22"/>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42</a:t>
            </a:r>
            <a:endParaRPr lang="en-US" sz="750" dirty="0"/>
          </a:p>
        </p:txBody>
      </p:sp>
      <p:sp>
        <p:nvSpPr>
          <p:cNvPr id="31" name="Text 23"/>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Shape 1"/>
          <p:cNvSpPr/>
          <p:nvPr/>
        </p:nvSpPr>
        <p:spPr>
          <a:xfrm>
            <a:off x="612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612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23</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440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Champagne Solemme</a:t>
            </a:r>
            <a:endParaRPr lang="en-US" sz="2000" dirty="0"/>
          </a:p>
        </p:txBody>
      </p:sp>
      <p:sp>
        <p:nvSpPr>
          <p:cNvPr id="7" name="Text 4"/>
          <p:cNvSpPr/>
          <p:nvPr/>
        </p:nvSpPr>
        <p:spPr>
          <a:xfrm>
            <a:off x="5292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8" name="Shape 5"/>
          <p:cNvSpPr/>
          <p:nvPr/>
        </p:nvSpPr>
        <p:spPr>
          <a:xfrm>
            <a:off x="612000" y="1253196"/>
            <a:ext cx="6120000" cy="0"/>
          </a:xfrm>
          <a:prstGeom prst="line">
            <a:avLst/>
          </a:prstGeom>
          <a:noFill/>
          <a:ln w="17780">
            <a:solidFill>
              <a:srgbClr val="67067C"/>
            </a:solidFill>
            <a:prstDash val="solid"/>
          </a:ln>
        </p:spPr>
      </p:sp>
      <p:sp>
        <p:nvSpPr>
          <p:cNvPr id="9" name="Shape 6"/>
          <p:cNvSpPr/>
          <p:nvPr/>
        </p:nvSpPr>
        <p:spPr>
          <a:xfrm>
            <a:off x="612000" y="1317996"/>
            <a:ext cx="851480"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biobiodyn.png">    </p:cNvPr>
          <p:cNvPicPr>
            <a:picLocks noChangeAspect="1"/>
          </p:cNvPicPr>
          <p:nvPr/>
        </p:nvPicPr>
        <p:blipFill>
          <a:blip r:embed="rId2"/>
          <a:stretch>
            <a:fillRect/>
          </a:stretch>
        </p:blipFill>
        <p:spPr>
          <a:xfrm>
            <a:off x="684000" y="1353996"/>
            <a:ext cx="108000" cy="108000"/>
          </a:xfrm>
          <a:prstGeom prst="rect">
            <a:avLst/>
          </a:prstGeom>
        </p:spPr>
      </p:pic>
      <p:sp>
        <p:nvSpPr>
          <p:cNvPr id="11" name="Text 7"/>
          <p:cNvSpPr/>
          <p:nvPr/>
        </p:nvSpPr>
        <p:spPr>
          <a:xfrm>
            <a:off x="759600" y="1317996"/>
            <a:ext cx="703880"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Biodynamie</a:t>
            </a:r>
            <a:endParaRPr lang="en-US" sz="720" dirty="0"/>
          </a:p>
        </p:txBody>
      </p:sp>
      <p:sp>
        <p:nvSpPr>
          <p:cNvPr id="12" name="Shape 8"/>
          <p:cNvSpPr/>
          <p:nvPr/>
        </p:nvSpPr>
        <p:spPr>
          <a:xfrm>
            <a:off x="1542680"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542680"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007354"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007354"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logo de la maison — Champagne Solemme">    </p:cNvPr>
          <p:cNvPicPr>
            <a:picLocks noChangeAspect="1"/>
          </p:cNvPicPr>
          <p:nvPr/>
        </p:nvPicPr>
        <p:blipFill>
          <a:blip r:embed="rId3"/>
          <a:stretch>
            <a:fillRect/>
          </a:stretch>
        </p:blipFill>
        <p:spPr>
          <a:xfrm>
            <a:off x="612000" y="1605996"/>
            <a:ext cx="1440000" cy="1440000"/>
          </a:xfrm>
          <a:prstGeom prst="rect">
            <a:avLst/>
          </a:prstGeom>
        </p:spPr>
      </p:pic>
      <p:pic>
        <p:nvPicPr>
          <p:cNvPr id="17" name="Image 3" descr="Une bouteille du domaine Champagne Solemme">    </p:cNvPr>
          <p:cNvPicPr>
            <a:picLocks noChangeAspect="1"/>
          </p:cNvPicPr>
          <p:nvPr/>
        </p:nvPicPr>
        <p:blipFill>
          <a:blip r:embed="rId4"/>
          <a:stretch>
            <a:fillRect/>
          </a:stretch>
        </p:blipFill>
        <p:spPr>
          <a:xfrm>
            <a:off x="6002705" y="1605996"/>
            <a:ext cx="594590" cy="2232000"/>
          </a:xfrm>
          <a:prstGeom prst="rect">
            <a:avLst/>
          </a:prstGeom>
        </p:spPr>
      </p:pic>
      <p:sp>
        <p:nvSpPr>
          <p:cNvPr id="18" name="Text 12"/>
          <p:cNvSpPr/>
          <p:nvPr/>
        </p:nvSpPr>
        <p:spPr>
          <a:xfrm>
            <a:off x="2177976" y="1584817"/>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À</a:t>
            </a:r>
            <a:endParaRPr lang="en-US" sz="2391" dirty="0"/>
          </a:p>
        </p:txBody>
      </p:sp>
      <p:sp>
        <p:nvSpPr>
          <p:cNvPr id="19" name="Text 13"/>
          <p:cNvSpPr/>
          <p:nvPr/>
        </p:nvSpPr>
        <p:spPr>
          <a:xfrm>
            <a:off x="2232000" y="1723186"/>
            <a:ext cx="3456000" cy="211466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Villers-aux-Nœuds, sur les terroirs Premier Cru de la Montagne de Reims, Olivier Langlais conduit 6 hectares en biodynamie. En cave, vinifications douces, sans chaptalisation, sans filtration et sans dosage : une Champagne d’émotion, minérale et d’une lumineuse franchise de terroir.</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12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60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120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240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Terre de Solemme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21,20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Plénitude de Solemme Extra-Brut</a:t>
                      </a:r>
                      <a:r>
                        <a:rPr lang="en-US" sz="740" b="1" dirty="0">
                          <a:solidFill>
                            <a:srgbClr val="67067C"/>
                          </a:solidFill>
                          <a:highlight>
                            <a:srgbClr val="F0E3A6"/>
                          </a:highlight>
                          <a:latin typeface="IBM Plex Sans" pitchFamily="34" charset="0"/>
                          <a:ea typeface="IBM Plex Sans" pitchFamily="34" charset="-122"/>
                          <a:cs typeface="IBM Plex Sans" pitchFamily="34" charset="-120"/>
                        </a:rPr>
                        <a:t>  offre 11+1</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21,60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21,10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Plénitude de Solemme Extra-Brut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2022</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gridSpan="3">
                  <a:txBody>
                    <a:bodyPr/>
                    <a:lstStyle/>
                    <a:p>
                      <a:pPr algn="ctr" indent="0" marL="0">
                        <a:buNone/>
                      </a:pPr>
                      <a:r>
                        <a:rPr lang="en-US" sz="1000" b="1" dirty="0">
                          <a:solidFill>
                            <a:srgbClr val="2A3942"/>
                          </a:solidFill>
                          <a:latin typeface="IBM Plex Sans" pitchFamily="34" charset="0"/>
                          <a:ea typeface="IBM Plex Sans" pitchFamily="34" charset="-122"/>
                          <a:cs typeface="IBM Plex Sans" pitchFamily="34" charset="-120"/>
                        </a:rPr>
                        <a:t>58,00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hMerge="1">
                  <a:tcPr/>
                </a:tc>
                <a:tc hMerge="1">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Esprit de Solemme Brut Nature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446484">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Nature de Solemme Blanc de Blancs Brut Nature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32,00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31,20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30,50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Ambre de Solemme Blanc de Noirs Brut Nature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33,50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32,60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31,85</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Premier Cru Champagne</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Rose de Solemme Brut Nature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36,00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35,10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34,20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6642754"/>
            <a:ext cx="0" cy="497268"/>
          </a:xfrm>
          <a:prstGeom prst="line">
            <a:avLst/>
          </a:prstGeom>
          <a:noFill/>
          <a:ln w="17780">
            <a:solidFill>
              <a:srgbClr val="67067C"/>
            </a:solidFill>
            <a:prstDash val="solid"/>
          </a:ln>
        </p:spPr>
      </p:sp>
      <p:sp>
        <p:nvSpPr>
          <p:cNvPr id="22" name="Text 15"/>
          <p:cNvSpPr/>
          <p:nvPr/>
        </p:nvSpPr>
        <p:spPr>
          <a:xfrm>
            <a:off x="720000" y="6642754"/>
            <a:ext cx="6012000" cy="497268"/>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a:p>
            <a:pPr indent="0" marL="0">
              <a:lnSpc>
                <a:spcPct val="110000"/>
              </a:lnSpc>
              <a:buNone/>
            </a:pPr>
            <a:r>
              <a:rPr lang="en-US" sz="1050" b="1" dirty="0">
                <a:solidFill>
                  <a:srgbClr val="67067C"/>
                </a:solidFill>
                <a:latin typeface="IBM Plex Sans" pitchFamily="34" charset="0"/>
                <a:ea typeface="IBM Plex Sans" pitchFamily="34" charset="-122"/>
                <a:cs typeface="IBM Plex Sans" pitchFamily="34" charset="-120"/>
              </a:rPr>
              <a:t>Offre 11+1 à partir de 120 cols.</a:t>
            </a:r>
            <a:endParaRPr lang="en-US" sz="1050" dirty="0"/>
          </a:p>
        </p:txBody>
      </p:sp>
      <p:sp>
        <p:nvSpPr>
          <p:cNvPr id="23" name="Text 16"/>
          <p:cNvSpPr/>
          <p:nvPr/>
        </p:nvSpPr>
        <p:spPr>
          <a:xfrm>
            <a:off x="612000" y="7284021"/>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4" name="Image 4" descr="/home/user/philippe1/build/deco-salon-prive-2026/sol-champagne.png">    </p:cNvPr>
          <p:cNvPicPr>
            <a:picLocks noChangeAspect="1"/>
          </p:cNvPicPr>
          <p:nvPr/>
        </p:nvPicPr>
        <p:blipFill>
          <a:blip r:embed="rId5"/>
          <a:stretch>
            <a:fillRect/>
          </a:stretch>
        </p:blipFill>
        <p:spPr>
          <a:xfrm>
            <a:off x="612000" y="7431621"/>
            <a:ext cx="6120000" cy="689653"/>
          </a:xfrm>
          <a:prstGeom prst="rect">
            <a:avLst/>
          </a:prstGeom>
        </p:spPr>
      </p:pic>
      <p:sp>
        <p:nvSpPr>
          <p:cNvPr id="25" name="Shape 17"/>
          <p:cNvSpPr/>
          <p:nvPr/>
        </p:nvSpPr>
        <p:spPr>
          <a:xfrm>
            <a:off x="612000" y="8496000"/>
            <a:ext cx="6120000" cy="0"/>
          </a:xfrm>
          <a:prstGeom prst="line">
            <a:avLst/>
          </a:prstGeom>
          <a:noFill/>
          <a:ln w="8890">
            <a:solidFill>
              <a:srgbClr val="46606E"/>
            </a:solidFill>
            <a:prstDash val="solid"/>
          </a:ln>
        </p:spPr>
      </p:sp>
      <p:sp>
        <p:nvSpPr>
          <p:cNvPr id="26" name="Text 18"/>
          <p:cNvSpPr/>
          <p:nvPr/>
        </p:nvSpPr>
        <p:spPr>
          <a:xfrm>
            <a:off x="612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612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28"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43</a:t>
            </a:r>
            <a:endParaRPr lang="en-US" sz="750" dirty="0"/>
          </a:p>
        </p:txBody>
      </p:sp>
      <p:sp>
        <p:nvSpPr>
          <p:cNvPr id="29"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EADA"/>
        </a:solidFill>
      </p:bgPr>
    </p:bg>
    <p:spTree>
      <p:nvGrpSpPr>
        <p:cNvPr id="1" name=""/>
        <p:cNvGrpSpPr/>
        <p:nvPr/>
      </p:nvGrpSpPr>
      <p:grpSpPr>
        <a:xfrm>
          <a:off x="0" y="0"/>
          <a:ext cx="0" cy="0"/>
          <a:chOff x="0" y="0"/>
          <a:chExt cx="0" cy="0"/>
        </a:xfrm>
      </p:grpSpPr>
      <p:pic>
        <p:nvPicPr>
          <p:cNvPr id="2" name="Image 0" descr="/home/user/philippe1/build/deco-salon-prive-2026/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Shape 1"/>
          <p:cNvSpPr/>
          <p:nvPr/>
        </p:nvSpPr>
        <p:spPr>
          <a:xfrm>
            <a:off x="828000" y="635598"/>
            <a:ext cx="684000" cy="518400"/>
          </a:xfrm>
          <a:prstGeom prst="roundRect">
            <a:avLst>
              <a:gd name="adj" fmla="val 10583"/>
            </a:avLst>
          </a:prstGeom>
          <a:solidFill>
            <a:srgbClr val="E1C853"/>
          </a:solidFill>
          <a:ln w="12700">
            <a:solidFill>
              <a:srgbClr val="E1C853"/>
            </a:solidFill>
            <a:prstDash val="solid"/>
          </a:ln>
        </p:spPr>
      </p:sp>
      <p:sp>
        <p:nvSpPr>
          <p:cNvPr id="5" name="Text 2"/>
          <p:cNvSpPr/>
          <p:nvPr/>
        </p:nvSpPr>
        <p:spPr>
          <a:xfrm>
            <a:off x="828000" y="635598"/>
            <a:ext cx="684000" cy="518400"/>
          </a:xfrm>
          <a:prstGeom prst="rect">
            <a:avLst/>
          </a:prstGeom>
          <a:noFill/>
          <a:ln/>
        </p:spPr>
        <p:txBody>
          <a:bodyPr wrap="square" lIns="0" tIns="0" rIns="0" bIns="0" rtlCol="0" anchor="ctr"/>
          <a:lstStyle/>
          <a:p>
            <a:pPr algn="ctr" indent="0" marL="0">
              <a:lnSpc>
                <a:spcPct val="95000"/>
              </a:lnSpc>
              <a:buNone/>
            </a:pPr>
            <a:r>
              <a:rPr lang="en-US" sz="700" b="1" spc="30" kern="0" dirty="0">
                <a:solidFill>
                  <a:srgbClr val="67067C"/>
                </a:solidFill>
                <a:latin typeface="IBM Plex Sans" pitchFamily="34" charset="0"/>
                <a:ea typeface="IBM Plex Sans" pitchFamily="34" charset="-122"/>
                <a:cs typeface="IBM Plex Sans" pitchFamily="34" charset="-120"/>
              </a:rPr>
              <a:t>STAND</a:t>
            </a:r>
            <a:endParaRPr lang="en-US" sz="700" dirty="0"/>
          </a:p>
          <a:p>
            <a:pPr algn="ctr" indent="0" marL="0">
              <a:lnSpc>
                <a:spcPct val="95000"/>
              </a:lnSpc>
              <a:buNone/>
            </a:pPr>
            <a:r>
              <a:rPr lang="en-US" sz="2200" dirty="0">
                <a:solidFill>
                  <a:srgbClr val="67067C"/>
                </a:solidFill>
                <a:latin typeface="Young Serif" pitchFamily="34" charset="0"/>
                <a:ea typeface="Young Serif" pitchFamily="34" charset="-122"/>
                <a:cs typeface="Young Serif" pitchFamily="34" charset="-120"/>
              </a:rPr>
              <a:t>15</a:t>
            </a:r>
            <a:endParaRPr lang="en-US" sz="700" dirty="0"/>
          </a:p>
          <a:p>
            <a:pPr algn="ctr" indent="0" marL="0">
              <a:lnSpc>
                <a:spcPct val="95000"/>
              </a:lnSpc>
              <a:buNone/>
            </a:pPr>
            <a:r>
              <a:rPr lang="en-US" sz="700" dirty="0">
                <a:solidFill>
                  <a:srgbClr val="67067C"/>
                </a:solidFill>
                <a:latin typeface="IBM Plex Sans" pitchFamily="34" charset="0"/>
                <a:ea typeface="IBM Plex Sans" pitchFamily="34" charset="-122"/>
                <a:cs typeface="IBM Plex Sans" pitchFamily="34" charset="-120"/>
              </a:rPr>
              <a:t>Salle Noire</a:t>
            </a:r>
            <a:endParaRPr lang="en-US" sz="700" dirty="0"/>
          </a:p>
        </p:txBody>
      </p:sp>
      <p:sp>
        <p:nvSpPr>
          <p:cNvPr id="6" name="Text 3"/>
          <p:cNvSpPr/>
          <p:nvPr/>
        </p:nvSpPr>
        <p:spPr>
          <a:xfrm>
            <a:off x="1656000" y="540000"/>
            <a:ext cx="4068000" cy="709596"/>
          </a:xfrm>
          <a:prstGeom prst="rect">
            <a:avLst/>
          </a:prstGeom>
          <a:noFill/>
          <a:ln/>
        </p:spPr>
        <p:txBody>
          <a:bodyPr wrap="square" lIns="0" tIns="0" rIns="0" bIns="0" rtlCol="0" anchor="ctr"/>
          <a:lstStyle/>
          <a:p>
            <a:pPr indent="0" marL="0">
              <a:lnSpc>
                <a:spcPct val="104000"/>
              </a:lnSpc>
              <a:buNone/>
            </a:pPr>
            <a:r>
              <a:rPr lang="en-US" sz="2000" dirty="0">
                <a:solidFill>
                  <a:srgbClr val="46606E"/>
                </a:solidFill>
                <a:latin typeface="Young Serif" pitchFamily="34" charset="0"/>
                <a:ea typeface="Young Serif" pitchFamily="34" charset="-122"/>
                <a:cs typeface="Young Serif" pitchFamily="34" charset="-120"/>
              </a:rPr>
              <a:t>Vazart-Coquart &amp; Fils</a:t>
            </a:r>
            <a:endParaRPr lang="en-US" sz="2000" dirty="0"/>
          </a:p>
        </p:txBody>
      </p:sp>
      <p:sp>
        <p:nvSpPr>
          <p:cNvPr id="7" name="Text 4"/>
          <p:cNvSpPr/>
          <p:nvPr/>
        </p:nvSpPr>
        <p:spPr>
          <a:xfrm>
            <a:off x="5508000" y="540000"/>
            <a:ext cx="1440000" cy="709596"/>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8" name="Shape 5"/>
          <p:cNvSpPr/>
          <p:nvPr/>
        </p:nvSpPr>
        <p:spPr>
          <a:xfrm>
            <a:off x="828000" y="1253196"/>
            <a:ext cx="6120000" cy="0"/>
          </a:xfrm>
          <a:prstGeom prst="line">
            <a:avLst/>
          </a:prstGeom>
          <a:noFill/>
          <a:ln w="17780">
            <a:solidFill>
              <a:srgbClr val="67067C"/>
            </a:solidFill>
            <a:prstDash val="solid"/>
          </a:ln>
        </p:spPr>
      </p:sp>
      <p:sp>
        <p:nvSpPr>
          <p:cNvPr id="9" name="Shape 6"/>
          <p:cNvSpPr/>
          <p:nvPr/>
        </p:nvSpPr>
        <p:spPr>
          <a:xfrm>
            <a:off x="828000" y="1317996"/>
            <a:ext cx="1101294" cy="180000"/>
          </a:xfrm>
          <a:prstGeom prst="roundRect">
            <a:avLst>
              <a:gd name="adj" fmla="val 10160"/>
            </a:avLst>
          </a:prstGeom>
          <a:solidFill>
            <a:srgbClr val="F2EADA"/>
          </a:solidFill>
          <a:ln w="8890">
            <a:solidFill>
              <a:srgbClr val="3C5B47"/>
            </a:solidFill>
            <a:prstDash val="solid"/>
          </a:ln>
        </p:spPr>
      </p:sp>
      <p:pic>
        <p:nvPicPr>
          <p:cNvPr id="10" name="Image 1" descr="/home/user/philippe1/build/deco-salon-prive-2026/label-conversion.png">    </p:cNvPr>
          <p:cNvPicPr>
            <a:picLocks noChangeAspect="1"/>
          </p:cNvPicPr>
          <p:nvPr/>
        </p:nvPicPr>
        <p:blipFill>
          <a:blip r:embed="rId2"/>
          <a:stretch>
            <a:fillRect/>
          </a:stretch>
        </p:blipFill>
        <p:spPr>
          <a:xfrm>
            <a:off x="900000" y="1353996"/>
            <a:ext cx="108000" cy="108000"/>
          </a:xfrm>
          <a:prstGeom prst="rect">
            <a:avLst/>
          </a:prstGeom>
        </p:spPr>
      </p:pic>
      <p:sp>
        <p:nvSpPr>
          <p:cNvPr id="11" name="Text 7"/>
          <p:cNvSpPr/>
          <p:nvPr/>
        </p:nvSpPr>
        <p:spPr>
          <a:xfrm>
            <a:off x="975600" y="1317996"/>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2" name="Shape 8"/>
          <p:cNvSpPr/>
          <p:nvPr/>
        </p:nvSpPr>
        <p:spPr>
          <a:xfrm>
            <a:off x="2008494" y="1317996"/>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008494" y="1317996"/>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473168" y="1317996"/>
            <a:ext cx="1149376"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473168" y="1317996"/>
            <a:ext cx="1149376"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vins à la dégustation</a:t>
            </a:r>
            <a:endParaRPr lang="en-US" sz="720" dirty="0"/>
          </a:p>
        </p:txBody>
      </p:sp>
      <p:pic>
        <p:nvPicPr>
          <p:cNvPr id="16" name="Image 2" descr="la maison de champagne — Vazart-Coquart &amp; Fils">    </p:cNvPr>
          <p:cNvPicPr>
            <a:picLocks noChangeAspect="1"/>
          </p:cNvPicPr>
          <p:nvPr/>
        </p:nvPicPr>
        <p:blipFill>
          <a:blip r:embed="rId3"/>
          <a:stretch>
            <a:fillRect/>
          </a:stretch>
        </p:blipFill>
        <p:spPr>
          <a:xfrm>
            <a:off x="828000" y="1605996"/>
            <a:ext cx="1440000" cy="1440000"/>
          </a:xfrm>
          <a:prstGeom prst="rect">
            <a:avLst/>
          </a:prstGeom>
        </p:spPr>
      </p:pic>
      <p:pic>
        <p:nvPicPr>
          <p:cNvPr id="17" name="Image 3" descr="Une bouteille du domaine Vazart-Coquart &amp; Fils">    </p:cNvPr>
          <p:cNvPicPr>
            <a:picLocks noChangeAspect="1"/>
          </p:cNvPicPr>
          <p:nvPr/>
        </p:nvPicPr>
        <p:blipFill>
          <a:blip r:embed="rId4"/>
          <a:stretch>
            <a:fillRect/>
          </a:stretch>
        </p:blipFill>
        <p:spPr>
          <a:xfrm>
            <a:off x="6129248" y="1605996"/>
            <a:ext cx="773503" cy="2232000"/>
          </a:xfrm>
          <a:prstGeom prst="rect">
            <a:avLst/>
          </a:prstGeom>
        </p:spPr>
      </p:pic>
      <p:sp>
        <p:nvSpPr>
          <p:cNvPr id="18" name="Text 12"/>
          <p:cNvSpPr/>
          <p:nvPr/>
        </p:nvSpPr>
        <p:spPr>
          <a:xfrm>
            <a:off x="2394033" y="1862687"/>
            <a:ext cx="375167" cy="496011"/>
          </a:xfrm>
          <a:prstGeom prst="rect">
            <a:avLst/>
          </a:prstGeom>
          <a:noFill/>
          <a:ln/>
        </p:spPr>
        <p:txBody>
          <a:bodyPr wrap="square" lIns="0" tIns="0" rIns="0" bIns="0" rtlCol="0" anchor="t"/>
          <a:lstStyle/>
          <a:p>
            <a:pPr algn="r" indent="0" marL="0">
              <a:lnSpc>
                <a:spcPct val="122200"/>
              </a:lnSpc>
              <a:buNone/>
            </a:pPr>
            <a:r>
              <a:rPr lang="en-US" sz="2441" dirty="0">
                <a:solidFill>
                  <a:srgbClr val="67067C"/>
                </a:solidFill>
                <a:latin typeface="Young Serif" pitchFamily="34" charset="0"/>
                <a:ea typeface="Young Serif" pitchFamily="34" charset="-122"/>
                <a:cs typeface="Young Serif" pitchFamily="34" charset="-120"/>
              </a:rPr>
              <a:t>M</a:t>
            </a:r>
            <a:endParaRPr lang="en-US" sz="2441" dirty="0"/>
          </a:p>
        </p:txBody>
      </p:sp>
      <p:sp>
        <p:nvSpPr>
          <p:cNvPr id="19" name="Text 13"/>
          <p:cNvSpPr/>
          <p:nvPr/>
        </p:nvSpPr>
        <p:spPr>
          <a:xfrm>
            <a:off x="2448000" y="2006898"/>
            <a:ext cx="3456000" cy="183095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aison de référence à Chouilly, Grand Cru de la Côte des Blancs, Vazart-Coquart célèbre le Chardonnay depuis 1954. Jean-Pierre et Caroline veillent sur trente parcelles (11 ha) où la craie révèle toute la finesse du cépage.</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828000" y="3967452"/>
          <a:ext cx="6120000" cy="914400"/>
        </p:xfrm>
        <a:graphic>
          <a:graphicData uri="http://schemas.openxmlformats.org/drawingml/2006/table">
            <a:tbl>
              <a:tblPr/>
              <a:tblGrid>
                <a:gridCol w="234000"/>
                <a:gridCol w="2826000"/>
                <a:gridCol w="612000"/>
                <a:gridCol w="576000"/>
                <a:gridCol w="624000"/>
                <a:gridCol w="624000"/>
                <a:gridCol w="624000"/>
              </a:tblGrid>
              <a:tr h="301526">
                <a:tc gridSpan="4">
                  <a:txBody>
                    <a:bodyPr/>
                    <a:lstStyle/>
                    <a:p>
                      <a:pPr indent="0" marL="0">
                        <a:buNone/>
                      </a:pPr>
                      <a:r>
                        <a:rPr lang="en-US" sz="800" b="1" spc="30" kern="0" dirty="0">
                          <a:solidFill>
                            <a:srgbClr val="E1C853"/>
                          </a:solidFill>
                          <a:latin typeface="IBM Plex Sans" pitchFamily="34" charset="0"/>
                          <a:ea typeface="IBM Plex Sans" pitchFamily="34" charset="-122"/>
                          <a:cs typeface="IBM Plex Sans" pitchFamily="34" charset="-120"/>
                        </a:rPr>
                        <a:t>POSSIBILITÉ DE PANACHER</a:t>
                      </a:r>
                      <a:endParaRPr lang="en-US" sz="800" dirty="0">
                        <a:latin typeface="IBM Plex Sans" charset="0"/>
                        <a:ea typeface="IBM Plex Sans" charset="0"/>
                        <a:cs typeface="IBM Plex Sans" charset="0"/>
                      </a:endParaRPr>
                    </a:p>
                  </a:txBody>
                  <a:tcPr marL="76200" marR="508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48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78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720" b="1" dirty="0">
                          <a:solidFill>
                            <a:srgbClr val="FBF8F1"/>
                          </a:solidFill>
                          <a:latin typeface="IBM Plex Sans" pitchFamily="34" charset="0"/>
                          <a:ea typeface="IBM Plex Sans" pitchFamily="34" charset="-122"/>
                          <a:cs typeface="IBM Plex Sans" pitchFamily="34" charset="-120"/>
                        </a:rPr>
                        <a:t>À partir de 96 bts</a:t>
                      </a:r>
                      <a:endParaRPr lang="en-US" sz="720" dirty="0">
                        <a:latin typeface="IBM Plex Sans" charset="0"/>
                        <a:ea typeface="IBM Plex Sans" charset="0"/>
                        <a:cs typeface="IBM Plex Sans" charset="0"/>
                      </a:endParaRPr>
                    </a:p>
                  </a:txBody>
                  <a:tcPr marL="38100" marR="63500" marT="38100" marB="381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05246">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Cuvée Camille Extra-Brut Blanc de Blancs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19,90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19,60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Brut Réserve Blanc de Blancs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20,30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Brut Réserve Blanc de Blancs</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1,5 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47,50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46,90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Rosé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22,70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22,40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Spécial Club Blanc de Blancs Extra-Brut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2017</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41,10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40,90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40,60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10009">
                <a:tc>
                  <a:txBody>
                    <a:bodyPr/>
                    <a:lstStyle/>
                    <a:p>
                      <a:pPr algn="ctr" indent="0" marL="0">
                        <a:buNone/>
                      </a:pPr>
                      <a:r>
                        <a:rPr lang="en-US" sz="1000" dirty="0">
                          <a:solidFill>
                            <a:srgbClr val="FBF8F1"/>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Extra Brut</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25,00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24,50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10009">
                <a:tc>
                  <a:txBody>
                    <a:bodyPr/>
                    <a:lstStyle/>
                    <a:p>
                      <a:pPr algn="ctr" indent="0" marL="0">
                        <a:buNone/>
                      </a:pPr>
                      <a:r>
                        <a:rPr lang="en-US" sz="1000" dirty="0">
                          <a:solidFill>
                            <a:srgbClr val="46606E"/>
                          </a:solidFill>
                          <a:latin typeface="IBM Plex Sans" pitchFamily="34" charset="0"/>
                          <a:ea typeface="IBM Plex Sans" pitchFamily="34" charset="-122"/>
                          <a:cs typeface="IBM Plex Sans" pitchFamily="34" charset="-120"/>
                        </a:rPr>
                        <a:t>●</a:t>
                      </a:r>
                      <a:endParaRPr lang="en-US" sz="10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lnSpc>
                          <a:spcPct val="90000"/>
                        </a:lnSpc>
                        <a:buNone/>
                      </a:pPr>
                      <a:r>
                        <a:rPr lang="en-US" sz="800" dirty="0">
                          <a:solidFill>
                            <a:srgbClr val="A8515F"/>
                          </a:solidFill>
                          <a:latin typeface="IBM Plex Sans" pitchFamily="34" charset="0"/>
                          <a:ea typeface="IBM Plex Sans" pitchFamily="34" charset="-122"/>
                          <a:cs typeface="IBM Plex Sans" pitchFamily="34" charset="-120"/>
                        </a:rPr>
                        <a:t>Grand Cru Chouilly</a:t>
                      </a:r>
                      <a:endParaRPr lang="en-US" sz="1200" dirty="0">
                        <a:latin typeface="IBM Plex Sans" charset="0"/>
                        <a:ea typeface="IBM Plex Sans" charset="0"/>
                        <a:cs typeface="IBM Plex Sans" charset="0"/>
                      </a:endParaRPr>
                    </a:p>
                    <a:p>
                      <a:pPr indent="0" marL="0">
                        <a:lnSpc>
                          <a:spcPct val="90000"/>
                        </a:lnSpc>
                        <a:buNone/>
                      </a:pPr>
                      <a:r>
                        <a:rPr lang="en-US" sz="960" b="1" dirty="0">
                          <a:solidFill>
                            <a:srgbClr val="2A3942"/>
                          </a:solidFill>
                          <a:latin typeface="IBM Plex Sans" pitchFamily="34" charset="0"/>
                          <a:ea typeface="IBM Plex Sans" pitchFamily="34" charset="-122"/>
                          <a:cs typeface="IBM Plex Sans" pitchFamily="34" charset="-120"/>
                        </a:rPr>
                        <a:t>82/18 Blanc de Blancs Zéro Dosage</a:t>
                      </a:r>
                      <a:endParaRPr lang="en-US" sz="1200" dirty="0">
                        <a:latin typeface="IBM Plex Sans" charset="0"/>
                        <a:ea typeface="IBM Plex Sans" charset="0"/>
                        <a:cs typeface="IBM Plex Sans" charset="0"/>
                      </a:endParaRPr>
                    </a:p>
                  </a:txBody>
                  <a:tcPr marL="508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00" dirty="0">
                          <a:solidFill>
                            <a:srgbClr val="46606E"/>
                          </a:solidFill>
                          <a:latin typeface="IBM Plex Sans" pitchFamily="34" charset="0"/>
                          <a:ea typeface="IBM Plex Sans" pitchFamily="34" charset="-122"/>
                          <a:cs typeface="IBM Plex Sans" pitchFamily="34" charset="-120"/>
                        </a:rPr>
                        <a:t>75 cl</a:t>
                      </a:r>
                      <a:endParaRPr lang="en-US" sz="8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51,80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51,60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1000" b="1" dirty="0">
                          <a:solidFill>
                            <a:srgbClr val="2A3942"/>
                          </a:solidFill>
                          <a:latin typeface="IBM Plex Sans" pitchFamily="34" charset="0"/>
                          <a:ea typeface="IBM Plex Sans" pitchFamily="34" charset="-122"/>
                          <a:cs typeface="IBM Plex Sans" pitchFamily="34" charset="-120"/>
                        </a:rPr>
                        <a:t>51,30</a:t>
                      </a:r>
                      <a:r>
                        <a:rPr lang="en-US" sz="720" dirty="0">
                          <a:solidFill>
                            <a:srgbClr val="2A3942"/>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20320" marB="2032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6506278"/>
            <a:ext cx="0" cy="259440"/>
          </a:xfrm>
          <a:prstGeom prst="line">
            <a:avLst/>
          </a:prstGeom>
          <a:noFill/>
          <a:ln w="17780">
            <a:solidFill>
              <a:srgbClr val="67067C"/>
            </a:solidFill>
            <a:prstDash val="solid"/>
          </a:ln>
        </p:spPr>
      </p:sp>
      <p:sp>
        <p:nvSpPr>
          <p:cNvPr id="22" name="Text 15"/>
          <p:cNvSpPr/>
          <p:nvPr/>
        </p:nvSpPr>
        <p:spPr>
          <a:xfrm>
            <a:off x="936000" y="6506278"/>
            <a:ext cx="6012000" cy="259440"/>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3" name="Text 16"/>
          <p:cNvSpPr/>
          <p:nvPr/>
        </p:nvSpPr>
        <p:spPr>
          <a:xfrm>
            <a:off x="828000" y="690971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4" name="Image 4" descr="/home/user/philippe1/build/deco-salon-prive-2026/sol-champagne.png">    </p:cNvPr>
          <p:cNvPicPr>
            <a:picLocks noChangeAspect="1"/>
          </p:cNvPicPr>
          <p:nvPr/>
        </p:nvPicPr>
        <p:blipFill>
          <a:blip r:embed="rId5"/>
          <a:stretch>
            <a:fillRect/>
          </a:stretch>
        </p:blipFill>
        <p:spPr>
          <a:xfrm>
            <a:off x="828000" y="7057318"/>
            <a:ext cx="6120000" cy="1063956"/>
          </a:xfrm>
          <a:prstGeom prst="rect">
            <a:avLst/>
          </a:prstGeom>
        </p:spPr>
      </p:pic>
      <p:sp>
        <p:nvSpPr>
          <p:cNvPr id="25" name="Shape 17"/>
          <p:cNvSpPr/>
          <p:nvPr/>
        </p:nvSpPr>
        <p:spPr>
          <a:xfrm>
            <a:off x="828000" y="8496000"/>
            <a:ext cx="6120000" cy="0"/>
          </a:xfrm>
          <a:prstGeom prst="line">
            <a:avLst/>
          </a:prstGeom>
          <a:noFill/>
          <a:ln w="8890">
            <a:solidFill>
              <a:srgbClr val="46606E"/>
            </a:solidFill>
            <a:prstDash val="solid"/>
          </a:ln>
        </p:spPr>
      </p:sp>
      <p:sp>
        <p:nvSpPr>
          <p:cNvPr id="26" name="Text 18"/>
          <p:cNvSpPr/>
          <p:nvPr/>
        </p:nvSpPr>
        <p:spPr>
          <a:xfrm>
            <a:off x="828000" y="8539200"/>
            <a:ext cx="6120000" cy="162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7048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44</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Index des vins</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PAR TYPE, DE A À Z</a:t>
            </a:r>
            <a:endParaRPr lang="en-US" sz="800" dirty="0"/>
          </a:p>
        </p:txBody>
      </p:sp>
      <p:sp>
        <p:nvSpPr>
          <p:cNvPr id="4" name="Text 2"/>
          <p:cNvSpPr/>
          <p:nvPr/>
        </p:nvSpPr>
        <p:spPr>
          <a:xfrm>
            <a:off x="612000" y="1368000"/>
            <a:ext cx="6120000" cy="180000"/>
          </a:xfrm>
          <a:prstGeom prst="rect">
            <a:avLst/>
          </a:prstGeom>
          <a:noFill/>
          <a:ln/>
        </p:spPr>
        <p:txBody>
          <a:bodyPr wrap="square" lIns="0" tIns="0" rIns="0" bIns="0" rtlCol="0" anchor="ctr"/>
          <a:lstStyle/>
          <a:p>
            <a:pPr indent="0" marL="0">
              <a:buNone/>
            </a:pPr>
            <a:r>
              <a:rPr lang="en-US" sz="860" dirty="0">
                <a:solidFill>
                  <a:srgbClr val="46606E"/>
                </a:solidFill>
                <a:latin typeface="Spectral" pitchFamily="34" charset="0"/>
                <a:ea typeface="Spectral" pitchFamily="34" charset="-122"/>
                <a:cs typeface="Spectral" pitchFamily="34" charset="-120"/>
              </a:rPr>
              <a:t>Le numéro en violet est celui du stand, le dernier chiffre est la page.</a:t>
            </a:r>
            <a:endParaRPr lang="en-US" sz="860" dirty="0"/>
          </a:p>
        </p:txBody>
      </p:sp>
      <p:sp>
        <p:nvSpPr>
          <p:cNvPr id="5" name="Text 3"/>
          <p:cNvSpPr/>
          <p:nvPr/>
        </p:nvSpPr>
        <p:spPr>
          <a:xfrm>
            <a:off x="612000" y="162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BULLES</a:t>
            </a:r>
            <a:endParaRPr lang="en-US" sz="800" dirty="0"/>
          </a:p>
        </p:txBody>
      </p:sp>
      <p:sp>
        <p:nvSpPr>
          <p:cNvPr id="6" name="Text 4"/>
          <p:cNvSpPr/>
          <p:nvPr/>
        </p:nvSpPr>
        <p:spPr>
          <a:xfrm>
            <a:off x="61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82/18 Blanc de Blancs Zéro Dosage</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7" name="Text 5"/>
          <p:cNvSpPr/>
          <p:nvPr/>
        </p:nvSpPr>
        <p:spPr>
          <a:xfrm>
            <a:off x="61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Ambre de Solemme Blanc de Noirs Brut Nature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8" name="Text 6"/>
          <p:cNvSpPr/>
          <p:nvPr/>
        </p:nvSpPr>
        <p:spPr>
          <a:xfrm>
            <a:off x="61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Crémant d’Alsace</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9" name="Text 7"/>
          <p:cNvSpPr/>
          <p:nvPr/>
        </p:nvSpPr>
        <p:spPr>
          <a:xfrm>
            <a:off x="61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Crémant de Loire</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0" name="Text 8"/>
          <p:cNvSpPr/>
          <p:nvPr/>
        </p:nvSpPr>
        <p:spPr>
          <a:xfrm>
            <a:off x="61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Baron Auguste Blanc</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 name="Text 9"/>
          <p:cNvSpPr/>
          <p:nvPr/>
        </p:nvSpPr>
        <p:spPr>
          <a:xfrm>
            <a:off x="61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Baron Auguste Rosé</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2" name="Text 10"/>
          <p:cNvSpPr/>
          <p:nvPr/>
        </p:nvSpPr>
        <p:spPr>
          <a:xfrm>
            <a:off x="61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 Extra-Brut</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13" name="Text 11"/>
          <p:cNvSpPr/>
          <p:nvPr/>
        </p:nvSpPr>
        <p:spPr>
          <a:xfrm>
            <a:off x="61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Camille Extra-Brut Blanc de Blancs</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14" name="Text 12"/>
          <p:cNvSpPr/>
          <p:nvPr/>
        </p:nvSpPr>
        <p:spPr>
          <a:xfrm>
            <a:off x="61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de Solemme Brut Nature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15" name="Text 13"/>
          <p:cNvSpPr/>
          <p:nvPr/>
        </p:nvSpPr>
        <p:spPr>
          <a:xfrm>
            <a:off x="61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L’Eberluant Chardonnay Méthode ancestrale</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6" name="Text 14"/>
          <p:cNvSpPr/>
          <p:nvPr/>
        </p:nvSpPr>
        <p:spPr>
          <a:xfrm>
            <a:off x="61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 Brut</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17" name="Text 15"/>
          <p:cNvSpPr/>
          <p:nvPr/>
        </p:nvSpPr>
        <p:spPr>
          <a:xfrm>
            <a:off x="61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Perle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8" name="Text 16"/>
          <p:cNvSpPr/>
          <p:nvPr/>
        </p:nvSpPr>
        <p:spPr>
          <a:xfrm>
            <a:off x="61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Terroir Blanc Blanc de Blancs Brut</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9" name="Text 17"/>
          <p:cNvSpPr/>
          <p:nvPr/>
        </p:nvSpPr>
        <p:spPr>
          <a:xfrm>
            <a:off x="61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Terroir Meunier Blanc de Meuniers Extra-Brut</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20" name="Text 18"/>
          <p:cNvSpPr/>
          <p:nvPr/>
        </p:nvSpPr>
        <p:spPr>
          <a:xfrm>
            <a:off x="61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Bulles du Puits Rosé Gamay Demi-Sec</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21" name="Text 19"/>
          <p:cNvSpPr/>
          <p:nvPr/>
        </p:nvSpPr>
        <p:spPr>
          <a:xfrm>
            <a:off x="61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Brut Blanc</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22" name="Text 20"/>
          <p:cNvSpPr/>
          <p:nvPr/>
        </p:nvSpPr>
        <p:spPr>
          <a:xfrm>
            <a:off x="612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Extra-Brut Blanc</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23" name="Text 21"/>
          <p:cNvSpPr/>
          <p:nvPr/>
        </p:nvSpPr>
        <p:spPr>
          <a:xfrm>
            <a:off x="61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Millésime Expression</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24" name="Text 22"/>
          <p:cNvSpPr/>
          <p:nvPr/>
        </p:nvSpPr>
        <p:spPr>
          <a:xfrm>
            <a:off x="61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N°10 Pétillant</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25" name="Text 23"/>
          <p:cNvSpPr/>
          <p:nvPr/>
        </p:nvSpPr>
        <p:spPr>
          <a:xfrm>
            <a:off x="61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 Brut</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26" name="Text 24"/>
          <p:cNvSpPr/>
          <p:nvPr/>
        </p:nvSpPr>
        <p:spPr>
          <a:xfrm>
            <a:off x="61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 de Solemme Blanc de Blancs Brut Nature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27" name="Text 25"/>
          <p:cNvSpPr/>
          <p:nvPr/>
        </p:nvSpPr>
        <p:spPr>
          <a:xfrm>
            <a:off x="61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Plénitude de Solemme Extra-Brut  75 cl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28" name="Text 26"/>
          <p:cNvSpPr/>
          <p:nvPr/>
        </p:nvSpPr>
        <p:spPr>
          <a:xfrm>
            <a:off x="612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Plénitude de Solemme Extra-Brut  1,5 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29" name="Text 27"/>
          <p:cNvSpPr/>
          <p:nvPr/>
        </p:nvSpPr>
        <p:spPr>
          <a:xfrm>
            <a:off x="61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Brut</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30" name="Text 28"/>
          <p:cNvSpPr/>
          <p:nvPr/>
        </p:nvSpPr>
        <p:spPr>
          <a:xfrm>
            <a:off x="61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Rose de Solemme Brut Nature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31" name="Text 29"/>
          <p:cNvSpPr/>
          <p:nvPr/>
        </p:nvSpPr>
        <p:spPr>
          <a:xfrm>
            <a:off x="61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Supernova Extra-Brut Zéro Dosage</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32" name="Text 30"/>
          <p:cNvSpPr/>
          <p:nvPr/>
        </p:nvSpPr>
        <p:spPr>
          <a:xfrm>
            <a:off x="61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de Solemme Brut</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43</a:t>
            </a:r>
            <a:endParaRPr lang="en-US" sz="690" dirty="0"/>
          </a:p>
        </p:txBody>
      </p:sp>
      <p:sp>
        <p:nvSpPr>
          <p:cNvPr id="33" name="Text 31"/>
          <p:cNvSpPr/>
          <p:nvPr/>
        </p:nvSpPr>
        <p:spPr>
          <a:xfrm>
            <a:off x="61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Brut</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34" name="Text 32"/>
          <p:cNvSpPr/>
          <p:nvPr/>
        </p:nvSpPr>
        <p:spPr>
          <a:xfrm>
            <a:off x="61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Voglonniers Brut</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41</a:t>
            </a:r>
            <a:endParaRPr lang="en-US" sz="690" dirty="0"/>
          </a:p>
        </p:txBody>
      </p:sp>
      <p:sp>
        <p:nvSpPr>
          <p:cNvPr id="35" name="Text 33"/>
          <p:cNvSpPr/>
          <p:nvPr/>
        </p:nvSpPr>
        <p:spPr>
          <a:xfrm>
            <a:off x="612000" y="540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BLANC</a:t>
            </a:r>
            <a:endParaRPr lang="en-US" sz="800" dirty="0"/>
          </a:p>
        </p:txBody>
      </p:sp>
      <p:sp>
        <p:nvSpPr>
          <p:cNvPr id="36" name="Text 34"/>
          <p:cNvSpPr/>
          <p:nvPr/>
        </p:nvSpPr>
        <p:spPr>
          <a:xfrm>
            <a:off x="61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Albas</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37" name="Text 35"/>
          <p:cNvSpPr/>
          <p:nvPr/>
        </p:nvSpPr>
        <p:spPr>
          <a:xfrm>
            <a:off x="61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Anjou Blanc</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38" name="Text 36"/>
          <p:cNvSpPr/>
          <p:nvPr/>
        </p:nvSpPr>
        <p:spPr>
          <a:xfrm>
            <a:off x="612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Anjou Blanc</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39" name="Text 37"/>
          <p:cNvSpPr/>
          <p:nvPr/>
        </p:nvSpPr>
        <p:spPr>
          <a:xfrm>
            <a:off x="61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Auxey-Duresses</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40" name="Text 38"/>
          <p:cNvSpPr/>
          <p:nvPr/>
        </p:nvSpPr>
        <p:spPr>
          <a:xfrm>
            <a:off x="61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Hautes-Côtes de Beaune</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41" name="Text 39"/>
          <p:cNvSpPr/>
          <p:nvPr/>
        </p:nvSpPr>
        <p:spPr>
          <a:xfrm>
            <a:off x="61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Mâcon Chardonnay</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42" name="Text 40"/>
          <p:cNvSpPr/>
          <p:nvPr/>
        </p:nvSpPr>
        <p:spPr>
          <a:xfrm>
            <a:off x="612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Mâcon Mancey Blanc</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43" name="Text 41"/>
          <p:cNvSpPr/>
          <p:nvPr/>
        </p:nvSpPr>
        <p:spPr>
          <a:xfrm>
            <a:off x="2652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Menetou-Salon Blanc</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44" name="Text 42"/>
          <p:cNvSpPr/>
          <p:nvPr/>
        </p:nvSpPr>
        <p:spPr>
          <a:xfrm>
            <a:off x="265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Mercurey Blanc</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16</a:t>
            </a:r>
            <a:endParaRPr lang="en-US" sz="690" dirty="0"/>
          </a:p>
        </p:txBody>
      </p:sp>
      <p:sp>
        <p:nvSpPr>
          <p:cNvPr id="45" name="Text 43"/>
          <p:cNvSpPr/>
          <p:nvPr/>
        </p:nvSpPr>
        <p:spPr>
          <a:xfrm>
            <a:off x="265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Meursault</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46" name="Text 44"/>
          <p:cNvSpPr/>
          <p:nvPr/>
        </p:nvSpPr>
        <p:spPr>
          <a:xfrm>
            <a:off x="265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Pouilly-Fumé</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47" name="Text 45"/>
          <p:cNvSpPr/>
          <p:nvPr/>
        </p:nvSpPr>
        <p:spPr>
          <a:xfrm>
            <a:off x="265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Pouilly-Vinzelles Blanc</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48" name="Text 46"/>
          <p:cNvSpPr/>
          <p:nvPr/>
        </p:nvSpPr>
        <p:spPr>
          <a:xfrm>
            <a:off x="265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Quincy</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49" name="Text 47"/>
          <p:cNvSpPr/>
          <p:nvPr/>
        </p:nvSpPr>
        <p:spPr>
          <a:xfrm>
            <a:off x="265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Quincy</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50" name="Text 48"/>
          <p:cNvSpPr/>
          <p:nvPr/>
        </p:nvSpPr>
        <p:spPr>
          <a:xfrm>
            <a:off x="265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Saumur Blanc</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51" name="Text 49"/>
          <p:cNvSpPr/>
          <p:nvPr/>
        </p:nvSpPr>
        <p:spPr>
          <a:xfrm>
            <a:off x="265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Sauvignon</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52" name="Text 50"/>
          <p:cNvSpPr/>
          <p:nvPr/>
        </p:nvSpPr>
        <p:spPr>
          <a:xfrm>
            <a:off x="265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Sauvignon Blanc</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53" name="Text 51"/>
          <p:cNvSpPr/>
          <p:nvPr/>
        </p:nvSpPr>
        <p:spPr>
          <a:xfrm>
            <a:off x="265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Touraine Chenonceaux</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54" name="Text 52"/>
          <p:cNvSpPr/>
          <p:nvPr/>
        </p:nvSpPr>
        <p:spPr>
          <a:xfrm>
            <a:off x="265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Bourgogne Chardonnay</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55" name="Text 53"/>
          <p:cNvSpPr/>
          <p:nvPr/>
        </p:nvSpPr>
        <p:spPr>
          <a:xfrm>
            <a:off x="265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Aquino Blanc</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56" name="Text 54"/>
          <p:cNvSpPr/>
          <p:nvPr/>
        </p:nvSpPr>
        <p:spPr>
          <a:xfrm>
            <a:off x="265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 Sérame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7" name="Text 55"/>
          <p:cNvSpPr/>
          <p:nvPr/>
        </p:nvSpPr>
        <p:spPr>
          <a:xfrm>
            <a:off x="265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Réserve Blanc de Blancs  75 cl</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58" name="Text 56"/>
          <p:cNvSpPr/>
          <p:nvPr/>
        </p:nvSpPr>
        <p:spPr>
          <a:xfrm>
            <a:off x="265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Réserve Blanc de Blancs  1,5 L</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59" name="Text 57"/>
          <p:cNvSpPr/>
          <p:nvPr/>
        </p:nvSpPr>
        <p:spPr>
          <a:xfrm>
            <a:off x="265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Chardonnay-Viognier Blanc</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0" name="Text 58"/>
          <p:cNvSpPr/>
          <p:nvPr/>
        </p:nvSpPr>
        <p:spPr>
          <a:xfrm>
            <a:off x="2652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Chêne à la Rouline Blanc</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61" name="Text 59"/>
          <p:cNvSpPr/>
          <p:nvPr/>
        </p:nvSpPr>
        <p:spPr>
          <a:xfrm>
            <a:off x="265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Courant Chenin</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62" name="Text 60"/>
          <p:cNvSpPr/>
          <p:nvPr/>
        </p:nvSpPr>
        <p:spPr>
          <a:xfrm>
            <a:off x="265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Cru Mouzillon-Tillières</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63" name="Text 61"/>
          <p:cNvSpPr/>
          <p:nvPr/>
        </p:nvSpPr>
        <p:spPr>
          <a:xfrm>
            <a:off x="265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deux Colombes</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64" name="Text 62"/>
          <p:cNvSpPr/>
          <p:nvPr/>
        </p:nvSpPr>
        <p:spPr>
          <a:xfrm>
            <a:off x="265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domaine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65" name="Text 63"/>
          <p:cNvSpPr/>
          <p:nvPr/>
        </p:nvSpPr>
        <p:spPr>
          <a:xfrm>
            <a:off x="265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Extra Brut</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66" name="Text 64"/>
          <p:cNvSpPr/>
          <p:nvPr/>
        </p:nvSpPr>
        <p:spPr>
          <a:xfrm>
            <a:off x="2652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Gewurztraminer Grand Cru Bruderthal</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67" name="Text 65"/>
          <p:cNvSpPr/>
          <p:nvPr/>
        </p:nvSpPr>
        <p:spPr>
          <a:xfrm>
            <a:off x="265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Grain de Blanc</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68" name="Text 66"/>
          <p:cNvSpPr/>
          <p:nvPr/>
        </p:nvSpPr>
        <p:spPr>
          <a:xfrm>
            <a:off x="265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Blanc</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69" name="Text 67"/>
          <p:cNvSpPr/>
          <p:nvPr/>
        </p:nvSpPr>
        <p:spPr>
          <a:xfrm>
            <a:off x="265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Juliette Blanc</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70" name="Text 68"/>
          <p:cNvSpPr/>
          <p:nvPr/>
        </p:nvSpPr>
        <p:spPr>
          <a:xfrm>
            <a:off x="265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L’Envol</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71" name="Text 69"/>
          <p:cNvSpPr/>
          <p:nvPr/>
        </p:nvSpPr>
        <p:spPr>
          <a:xfrm>
            <a:off x="265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Blanc</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72" name="Text 70"/>
          <p:cNvSpPr/>
          <p:nvPr/>
        </p:nvSpPr>
        <p:spPr>
          <a:xfrm>
            <a:off x="265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Prestige de Beaulieu</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73" name="Text 71"/>
          <p:cNvSpPr/>
          <p:nvPr/>
        </p:nvSpPr>
        <p:spPr>
          <a:xfrm>
            <a:off x="2652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Leimen Sylvaner</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74" name="Text 72"/>
          <p:cNvSpPr/>
          <p:nvPr/>
        </p:nvSpPr>
        <p:spPr>
          <a:xfrm>
            <a:off x="265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Aigrots  75 cl</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75" name="Text 73"/>
          <p:cNvSpPr/>
          <p:nvPr/>
        </p:nvSpPr>
        <p:spPr>
          <a:xfrm>
            <a:off x="265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Amphibol Blanc</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76" name="Text 74"/>
          <p:cNvSpPr/>
          <p:nvPr/>
        </p:nvSpPr>
        <p:spPr>
          <a:xfrm>
            <a:off x="2652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Beltins Blanc</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77" name="Text 75"/>
          <p:cNvSpPr/>
          <p:nvPr/>
        </p:nvSpPr>
        <p:spPr>
          <a:xfrm>
            <a:off x="265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Courbes Blanc</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78" name="Text 76"/>
          <p:cNvSpPr/>
          <p:nvPr/>
        </p:nvSpPr>
        <p:spPr>
          <a:xfrm>
            <a:off x="265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Gorinières Blanc</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79" name="Text 77"/>
          <p:cNvSpPr/>
          <p:nvPr/>
        </p:nvSpPr>
        <p:spPr>
          <a:xfrm>
            <a:off x="265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Villaudes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80" name="Text 78"/>
          <p:cNvSpPr/>
          <p:nvPr/>
        </p:nvSpPr>
        <p:spPr>
          <a:xfrm>
            <a:off x="2652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Chardonnay Blanc</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81" name="Text 79"/>
          <p:cNvSpPr/>
          <p:nvPr/>
        </p:nvSpPr>
        <p:spPr>
          <a:xfrm>
            <a:off x="4692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Vacqueyras Blanc</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82" name="Text 80"/>
          <p:cNvSpPr/>
          <p:nvPr/>
        </p:nvSpPr>
        <p:spPr>
          <a:xfrm>
            <a:off x="469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Miraia Blanc</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83" name="Text 81"/>
          <p:cNvSpPr/>
          <p:nvPr/>
        </p:nvSpPr>
        <p:spPr>
          <a:xfrm>
            <a:off x="469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Blanc</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84" name="Text 82"/>
          <p:cNvSpPr/>
          <p:nvPr/>
        </p:nvSpPr>
        <p:spPr>
          <a:xfrm>
            <a:off x="469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 Littorine Blanc</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85" name="Text 83"/>
          <p:cNvSpPr/>
          <p:nvPr/>
        </p:nvSpPr>
        <p:spPr>
          <a:xfrm>
            <a:off x="469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N°6 Fossiles Blanc</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86" name="Text 84"/>
          <p:cNvSpPr/>
          <p:nvPr/>
        </p:nvSpPr>
        <p:spPr>
          <a:xfrm>
            <a:off x="469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Néolitik Blanc</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87" name="Text 85"/>
          <p:cNvSpPr/>
          <p:nvPr/>
        </p:nvSpPr>
        <p:spPr>
          <a:xfrm>
            <a:off x="469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Premières Fleurs Blanc</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21</a:t>
            </a:r>
            <a:endParaRPr lang="en-US" sz="690" dirty="0"/>
          </a:p>
        </p:txBody>
      </p:sp>
      <p:sp>
        <p:nvSpPr>
          <p:cNvPr id="88" name="Text 86"/>
          <p:cNvSpPr/>
          <p:nvPr/>
        </p:nvSpPr>
        <p:spPr>
          <a:xfrm>
            <a:off x="469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Promenade de Noëls</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89" name="Text 87"/>
          <p:cNvSpPr/>
          <p:nvPr/>
        </p:nvSpPr>
        <p:spPr>
          <a:xfrm>
            <a:off x="469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Riesling Grand Cru Bruderthal</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90" name="Text 88"/>
          <p:cNvSpPr/>
          <p:nvPr/>
        </p:nvSpPr>
        <p:spPr>
          <a:xfrm>
            <a:off x="469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Riesling Hahnenberg</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91" name="Text 89"/>
          <p:cNvSpPr/>
          <p:nvPr/>
        </p:nvSpPr>
        <p:spPr>
          <a:xfrm>
            <a:off x="469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Riesling Holderhurst</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92" name="Text 90"/>
          <p:cNvSpPr/>
          <p:nvPr/>
        </p:nvSpPr>
        <p:spPr>
          <a:xfrm>
            <a:off x="469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Sainte-Probace Blanc</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93" name="Text 91"/>
          <p:cNvSpPr/>
          <p:nvPr/>
        </p:nvSpPr>
        <p:spPr>
          <a:xfrm>
            <a:off x="469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Source Melon B.</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94" name="Text 92"/>
          <p:cNvSpPr/>
          <p:nvPr/>
        </p:nvSpPr>
        <p:spPr>
          <a:xfrm>
            <a:off x="469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Spécial Club Blanc de Blancs Extra-Brut</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44</a:t>
            </a:r>
            <a:endParaRPr lang="en-US" sz="690" dirty="0"/>
          </a:p>
        </p:txBody>
      </p:sp>
      <p:sp>
        <p:nvSpPr>
          <p:cNvPr id="95" name="Text 93"/>
          <p:cNvSpPr/>
          <p:nvPr/>
        </p:nvSpPr>
        <p:spPr>
          <a:xfrm>
            <a:off x="469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Stratéus Blanc</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96" name="Text 94"/>
          <p:cNvSpPr/>
          <p:nvPr/>
        </p:nvSpPr>
        <p:spPr>
          <a:xfrm>
            <a:off x="469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Blanc</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97" name="Text 95"/>
          <p:cNvSpPr/>
          <p:nvPr/>
        </p:nvSpPr>
        <p:spPr>
          <a:xfrm>
            <a:off x="469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Vignes de Tréleau Blanc</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98" name="Text 96"/>
          <p:cNvSpPr/>
          <p:nvPr/>
        </p:nvSpPr>
        <p:spPr>
          <a:xfrm>
            <a:off x="4692000" y="376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ROSÉ</a:t>
            </a:r>
            <a:endParaRPr lang="en-US" sz="800" dirty="0"/>
          </a:p>
        </p:txBody>
      </p:sp>
      <p:sp>
        <p:nvSpPr>
          <p:cNvPr id="99" name="Text 97"/>
          <p:cNvSpPr/>
          <p:nvPr/>
        </p:nvSpPr>
        <p:spPr>
          <a:xfrm>
            <a:off x="469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Pinot Noir Rosé</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100" name="Text 98"/>
          <p:cNvSpPr/>
          <p:nvPr/>
        </p:nvSpPr>
        <p:spPr>
          <a:xfrm>
            <a:off x="469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Rosé de Loire</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101" name="Text 99"/>
          <p:cNvSpPr/>
          <p:nvPr/>
        </p:nvSpPr>
        <p:spPr>
          <a:xfrm>
            <a:off x="469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Rosé</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102" name="Text 100"/>
          <p:cNvSpPr/>
          <p:nvPr/>
        </p:nvSpPr>
        <p:spPr>
          <a:xfrm>
            <a:off x="469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N°3 Gulf Stream Rosé</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103" name="Text 101"/>
          <p:cNvSpPr/>
          <p:nvPr/>
        </p:nvSpPr>
        <p:spPr>
          <a:xfrm>
            <a:off x="469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Sainte-Probace Rosé</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104" name="Text 102"/>
          <p:cNvSpPr/>
          <p:nvPr/>
        </p:nvSpPr>
        <p:spPr>
          <a:xfrm>
            <a:off x="4692000" y="4518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ROUGE</a:t>
            </a:r>
            <a:endParaRPr lang="en-US" sz="800" dirty="0"/>
          </a:p>
        </p:txBody>
      </p:sp>
      <p:sp>
        <p:nvSpPr>
          <p:cNvPr id="105" name="Text 103"/>
          <p:cNvSpPr/>
          <p:nvPr/>
        </p:nvSpPr>
        <p:spPr>
          <a:xfrm>
            <a:off x="469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75 cl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06" name="Text 104"/>
          <p:cNvSpPr/>
          <p:nvPr/>
        </p:nvSpPr>
        <p:spPr>
          <a:xfrm>
            <a:off x="469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1,5 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07" name="Text 105"/>
          <p:cNvSpPr/>
          <p:nvPr/>
        </p:nvSpPr>
        <p:spPr>
          <a:xfrm>
            <a:off x="469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Amphora Rouge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08" name="Text 106"/>
          <p:cNvSpPr/>
          <p:nvPr/>
        </p:nvSpPr>
        <p:spPr>
          <a:xfrm>
            <a:off x="469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Bourgogne Passe-Tout-Grains Rouge</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109" name="Text 107"/>
          <p:cNvSpPr/>
          <p:nvPr/>
        </p:nvSpPr>
        <p:spPr>
          <a:xfrm>
            <a:off x="469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Chassagne-Montrachet Rouge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0" name="Text 108"/>
          <p:cNvSpPr/>
          <p:nvPr/>
        </p:nvSpPr>
        <p:spPr>
          <a:xfrm>
            <a:off x="469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Gevrey-Chambertin</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1" name="Text 109"/>
          <p:cNvSpPr/>
          <p:nvPr/>
        </p:nvSpPr>
        <p:spPr>
          <a:xfrm>
            <a:off x="4692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Givry Rouge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2" name="Text 110"/>
          <p:cNvSpPr/>
          <p:nvPr/>
        </p:nvSpPr>
        <p:spPr>
          <a:xfrm>
            <a:off x="469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Mâcon Mancey Rouge</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113" name="Text 111"/>
          <p:cNvSpPr/>
          <p:nvPr/>
        </p:nvSpPr>
        <p:spPr>
          <a:xfrm>
            <a:off x="469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Menetou-Salon Rouge</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114" name="Text 112"/>
          <p:cNvSpPr/>
          <p:nvPr/>
        </p:nvSpPr>
        <p:spPr>
          <a:xfrm>
            <a:off x="4692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Mercurey Rouge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5" name="Text 113"/>
          <p:cNvSpPr/>
          <p:nvPr/>
        </p:nvSpPr>
        <p:spPr>
          <a:xfrm>
            <a:off x="469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Pinot Noir</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116" name="Text 114"/>
          <p:cNvSpPr/>
          <p:nvPr/>
        </p:nvSpPr>
        <p:spPr>
          <a:xfrm>
            <a:off x="469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Aquino Rouge</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117" name="Text 115"/>
          <p:cNvSpPr/>
          <p:nvPr/>
        </p:nvSpPr>
        <p:spPr>
          <a:xfrm>
            <a:off x="469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Aux Allots Rouge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8" name="Text 1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45</a:t>
            </a:r>
            <a:endParaRPr lang="en-US" sz="750" dirty="0"/>
          </a:p>
        </p:txBody>
      </p:sp>
      <p:sp>
        <p:nvSpPr>
          <p:cNvPr id="119" name="Text 1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Balac sans sulfites</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3" name="Text 1"/>
          <p:cNvSpPr/>
          <p:nvPr/>
        </p:nvSpPr>
        <p:spPr>
          <a:xfrm>
            <a:off x="82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Lune Rouge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4" name="Text 2"/>
          <p:cNvSpPr/>
          <p:nvPr/>
        </p:nvSpPr>
        <p:spPr>
          <a:xfrm>
            <a:off x="82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Lune Rouge, disponible en décembre 2026</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 name="Text 3"/>
          <p:cNvSpPr/>
          <p:nvPr/>
        </p:nvSpPr>
        <p:spPr>
          <a:xfrm>
            <a:off x="82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Balac Rouge  75 cl</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6" name="Text 4"/>
          <p:cNvSpPr/>
          <p:nvPr/>
        </p:nvSpPr>
        <p:spPr>
          <a:xfrm>
            <a:off x="82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Balac Rouge  75 cl</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7" name="Text 5"/>
          <p:cNvSpPr/>
          <p:nvPr/>
        </p:nvSpPr>
        <p:spPr>
          <a:xfrm>
            <a:off x="82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8" name="Text 6"/>
          <p:cNvSpPr/>
          <p:nvPr/>
        </p:nvSpPr>
        <p:spPr>
          <a:xfrm>
            <a:off x="82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9" name="Text 7"/>
          <p:cNvSpPr/>
          <p:nvPr/>
        </p:nvSpPr>
        <p:spPr>
          <a:xfrm>
            <a:off x="82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0" name="Text 8"/>
          <p:cNvSpPr/>
          <p:nvPr/>
        </p:nvSpPr>
        <p:spPr>
          <a:xfrm>
            <a:off x="82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1" name="Text 9"/>
          <p:cNvSpPr/>
          <p:nvPr/>
        </p:nvSpPr>
        <p:spPr>
          <a:xfrm>
            <a:off x="82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Chevalier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2" name="Text 10"/>
          <p:cNvSpPr/>
          <p:nvPr/>
        </p:nvSpPr>
        <p:spPr>
          <a:xfrm>
            <a:off x="82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Chevalier  75 cl</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13" name="Text 11"/>
          <p:cNvSpPr/>
          <p:nvPr/>
        </p:nvSpPr>
        <p:spPr>
          <a:xfrm>
            <a:off x="82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Lafargue Rouge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4" name="Text 12"/>
          <p:cNvSpPr/>
          <p:nvPr/>
        </p:nvSpPr>
        <p:spPr>
          <a:xfrm>
            <a:off x="82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75 cl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5" name="Text 13"/>
          <p:cNvSpPr/>
          <p:nvPr/>
        </p:nvSpPr>
        <p:spPr>
          <a:xfrm>
            <a:off x="82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1,5 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6" name="Text 14"/>
          <p:cNvSpPr/>
          <p:nvPr/>
        </p:nvSpPr>
        <p:spPr>
          <a:xfrm>
            <a:off x="82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la Perrière</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17" name="Text 15"/>
          <p:cNvSpPr/>
          <p:nvPr/>
        </p:nvSpPr>
        <p:spPr>
          <a:xfrm>
            <a:off x="82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8" name="Text 16"/>
          <p:cNvSpPr/>
          <p:nvPr/>
        </p:nvSpPr>
        <p:spPr>
          <a:xfrm>
            <a:off x="82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Cravant Rouge</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19" name="Text 17"/>
          <p:cNvSpPr/>
          <p:nvPr/>
        </p:nvSpPr>
        <p:spPr>
          <a:xfrm>
            <a:off x="82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Fontenelles</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20" name="Text 18"/>
          <p:cNvSpPr/>
          <p:nvPr/>
        </p:nvSpPr>
        <p:spPr>
          <a:xfrm>
            <a:off x="82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Diane Rouge</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21" name="Text 19"/>
          <p:cNvSpPr/>
          <p:nvPr/>
        </p:nvSpPr>
        <p:spPr>
          <a:xfrm>
            <a:off x="82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TerraCotta</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22" name="Text 20"/>
          <p:cNvSpPr/>
          <p:nvPr/>
        </p:nvSpPr>
        <p:spPr>
          <a:xfrm>
            <a:off x="82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Domaine les Guignottes Rouge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17</a:t>
            </a:r>
            <a:endParaRPr lang="en-US" sz="690" dirty="0"/>
          </a:p>
        </p:txBody>
      </p:sp>
      <p:sp>
        <p:nvSpPr>
          <p:cNvPr id="23" name="Text 21"/>
          <p:cNvSpPr/>
          <p:nvPr/>
        </p:nvSpPr>
        <p:spPr>
          <a:xfrm>
            <a:off x="82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Franc Rouge</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24" name="Text 22"/>
          <p:cNvSpPr/>
          <p:nvPr/>
        </p:nvSpPr>
        <p:spPr>
          <a:xfrm>
            <a:off x="82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Henri Rouge</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25" name="Text 23"/>
          <p:cNvSpPr/>
          <p:nvPr/>
        </p:nvSpPr>
        <p:spPr>
          <a:xfrm>
            <a:off x="82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Rouge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26" name="Text 24"/>
          <p:cNvSpPr/>
          <p:nvPr/>
        </p:nvSpPr>
        <p:spPr>
          <a:xfrm>
            <a:off x="82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Rouge, disponible en décembre 2026</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27" name="Text 25"/>
          <p:cNvSpPr/>
          <p:nvPr/>
        </p:nvSpPr>
        <p:spPr>
          <a:xfrm>
            <a:off x="82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Rouge</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28" name="Text 26"/>
          <p:cNvSpPr/>
          <p:nvPr/>
        </p:nvSpPr>
        <p:spPr>
          <a:xfrm>
            <a:off x="82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Koloss Rouge</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29" name="Text 27"/>
          <p:cNvSpPr/>
          <p:nvPr/>
        </p:nvSpPr>
        <p:spPr>
          <a:xfrm>
            <a:off x="82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L’inopiné de Balac</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30" name="Text 28"/>
          <p:cNvSpPr/>
          <p:nvPr/>
        </p:nvSpPr>
        <p:spPr>
          <a:xfrm>
            <a:off x="82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Confiance Rouge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31" name="Text 29"/>
          <p:cNvSpPr/>
          <p:nvPr/>
        </p:nvSpPr>
        <p:spPr>
          <a:xfrm>
            <a:off x="286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Les Soudannes Rouge</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32" name="Text 30"/>
          <p:cNvSpPr/>
          <p:nvPr/>
        </p:nvSpPr>
        <p:spPr>
          <a:xfrm>
            <a:off x="286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Rouge – Grolleau Noir</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33" name="Text 31"/>
          <p:cNvSpPr/>
          <p:nvPr/>
        </p:nvSpPr>
        <p:spPr>
          <a:xfrm>
            <a:off x="286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Louisonne Rouge</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34" name="Text 32"/>
          <p:cNvSpPr/>
          <p:nvPr/>
        </p:nvSpPr>
        <p:spPr>
          <a:xfrm>
            <a:off x="286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Potion</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35" name="Text 33"/>
          <p:cNvSpPr/>
          <p:nvPr/>
        </p:nvSpPr>
        <p:spPr>
          <a:xfrm>
            <a:off x="286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Bois Bouquet</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36" name="Text 34"/>
          <p:cNvSpPr/>
          <p:nvPr/>
        </p:nvSpPr>
        <p:spPr>
          <a:xfrm>
            <a:off x="286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Couchant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37" name="Text 35"/>
          <p:cNvSpPr/>
          <p:nvPr/>
        </p:nvSpPr>
        <p:spPr>
          <a:xfrm>
            <a:off x="286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Prieuré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38" name="Text 36"/>
          <p:cNvSpPr/>
          <p:nvPr/>
        </p:nvSpPr>
        <p:spPr>
          <a:xfrm>
            <a:off x="286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Léon Rouge</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39" name="Text 37"/>
          <p:cNvSpPr/>
          <p:nvPr/>
        </p:nvSpPr>
        <p:spPr>
          <a:xfrm>
            <a:off x="286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Aigrots  75 cl</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40" name="Text 38"/>
          <p:cNvSpPr/>
          <p:nvPr/>
        </p:nvSpPr>
        <p:spPr>
          <a:xfrm>
            <a:off x="286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Bons Feuvres</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41" name="Text 39"/>
          <p:cNvSpPr/>
          <p:nvPr/>
        </p:nvSpPr>
        <p:spPr>
          <a:xfrm>
            <a:off x="286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Demoiselles de Falfas</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42" name="Text 40"/>
          <p:cNvSpPr/>
          <p:nvPr/>
        </p:nvSpPr>
        <p:spPr>
          <a:xfrm>
            <a:off x="286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Gneiss Rouge</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43" name="Text 41"/>
          <p:cNvSpPr/>
          <p:nvPr/>
        </p:nvSpPr>
        <p:spPr>
          <a:xfrm>
            <a:off x="286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Jumelles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21</a:t>
            </a:r>
            <a:endParaRPr lang="en-US" sz="690" dirty="0"/>
          </a:p>
        </p:txBody>
      </p:sp>
      <p:sp>
        <p:nvSpPr>
          <p:cNvPr id="44" name="Text 42"/>
          <p:cNvSpPr/>
          <p:nvPr/>
        </p:nvSpPr>
        <p:spPr>
          <a:xfrm>
            <a:off x="286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Perrières</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14</a:t>
            </a:r>
            <a:endParaRPr lang="en-US" sz="690" dirty="0"/>
          </a:p>
        </p:txBody>
      </p:sp>
      <p:sp>
        <p:nvSpPr>
          <p:cNvPr id="45" name="Text 43"/>
          <p:cNvSpPr/>
          <p:nvPr/>
        </p:nvSpPr>
        <p:spPr>
          <a:xfrm>
            <a:off x="286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Rouge</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46" name="Text 44"/>
          <p:cNvSpPr/>
          <p:nvPr/>
        </p:nvSpPr>
        <p:spPr>
          <a:xfrm>
            <a:off x="286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Lou Daro Rouge</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38</a:t>
            </a:r>
            <a:endParaRPr lang="en-US" sz="690" dirty="0"/>
          </a:p>
        </p:txBody>
      </p:sp>
      <p:sp>
        <p:nvSpPr>
          <p:cNvPr id="47" name="Text 45"/>
          <p:cNvSpPr/>
          <p:nvPr/>
        </p:nvSpPr>
        <p:spPr>
          <a:xfrm>
            <a:off x="286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Gamay Rouge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48" name="Text 46"/>
          <p:cNvSpPr/>
          <p:nvPr/>
        </p:nvSpPr>
        <p:spPr>
          <a:xfrm>
            <a:off x="286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Mondeuse Rouge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49" name="Text 47"/>
          <p:cNvSpPr/>
          <p:nvPr/>
        </p:nvSpPr>
        <p:spPr>
          <a:xfrm>
            <a:off x="286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Pinot Noir Rouge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50" name="Text 48"/>
          <p:cNvSpPr/>
          <p:nvPr/>
        </p:nvSpPr>
        <p:spPr>
          <a:xfrm>
            <a:off x="286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Rouge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51" name="Text 49"/>
          <p:cNvSpPr/>
          <p:nvPr/>
        </p:nvSpPr>
        <p:spPr>
          <a:xfrm>
            <a:off x="286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Vacqueyras Rouge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52" name="Text 50"/>
          <p:cNvSpPr/>
          <p:nvPr/>
        </p:nvSpPr>
        <p:spPr>
          <a:xfrm>
            <a:off x="286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Miraia Rouge</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53" name="Text 51"/>
          <p:cNvSpPr/>
          <p:nvPr/>
        </p:nvSpPr>
        <p:spPr>
          <a:xfrm>
            <a:off x="286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Rouge</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54" name="Text 52"/>
          <p:cNvSpPr/>
          <p:nvPr/>
        </p:nvSpPr>
        <p:spPr>
          <a:xfrm>
            <a:off x="286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N°4 Triton Rouge</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55" name="Text 53"/>
          <p:cNvSpPr/>
          <p:nvPr/>
        </p:nvSpPr>
        <p:spPr>
          <a:xfrm>
            <a:off x="286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N°8 Grand Pavois Rouge</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56" name="Text 54"/>
          <p:cNvSpPr/>
          <p:nvPr/>
        </p:nvSpPr>
        <p:spPr>
          <a:xfrm>
            <a:off x="286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Néolitik Rouge</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57" name="Text 55"/>
          <p:cNvSpPr/>
          <p:nvPr/>
        </p:nvSpPr>
        <p:spPr>
          <a:xfrm>
            <a:off x="286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Oena Rouge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8" name="Text 56"/>
          <p:cNvSpPr/>
          <p:nvPr/>
        </p:nvSpPr>
        <p:spPr>
          <a:xfrm>
            <a:off x="286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Premières Fleurs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21</a:t>
            </a:r>
            <a:endParaRPr lang="en-US" sz="690" dirty="0"/>
          </a:p>
        </p:txBody>
      </p:sp>
      <p:sp>
        <p:nvSpPr>
          <p:cNvPr id="59" name="Text 57"/>
          <p:cNvSpPr/>
          <p:nvPr/>
        </p:nvSpPr>
        <p:spPr>
          <a:xfrm>
            <a:off x="286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Reflet Gamay</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60" name="Text 58"/>
          <p:cNvSpPr/>
          <p:nvPr/>
        </p:nvSpPr>
        <p:spPr>
          <a:xfrm>
            <a:off x="490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aux lèvres</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61" name="Text 59"/>
          <p:cNvSpPr/>
          <p:nvPr/>
        </p:nvSpPr>
        <p:spPr>
          <a:xfrm>
            <a:off x="490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Sérame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62" name="Text 60"/>
          <p:cNvSpPr/>
          <p:nvPr/>
        </p:nvSpPr>
        <p:spPr>
          <a:xfrm>
            <a:off x="490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Sainte-Probace Rouge</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63" name="Text 61"/>
          <p:cNvSpPr/>
          <p:nvPr/>
        </p:nvSpPr>
        <p:spPr>
          <a:xfrm>
            <a:off x="490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Seiler Rouge</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12</a:t>
            </a:r>
            <a:endParaRPr lang="en-US" sz="690" dirty="0"/>
          </a:p>
        </p:txBody>
      </p:sp>
      <p:sp>
        <p:nvSpPr>
          <p:cNvPr id="64" name="Text 62"/>
          <p:cNvSpPr/>
          <p:nvPr/>
        </p:nvSpPr>
        <p:spPr>
          <a:xfrm>
            <a:off x="490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Stratéus Rouge</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65" name="Text 63"/>
          <p:cNvSpPr/>
          <p:nvPr/>
        </p:nvSpPr>
        <p:spPr>
          <a:xfrm>
            <a:off x="490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de Balac</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66" name="Text 64"/>
          <p:cNvSpPr/>
          <p:nvPr/>
        </p:nvSpPr>
        <p:spPr>
          <a:xfrm>
            <a:off x="490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7" name="Text 65"/>
          <p:cNvSpPr/>
          <p:nvPr/>
        </p:nvSpPr>
        <p:spPr>
          <a:xfrm>
            <a:off x="490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75 cl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68" name="Text 66"/>
          <p:cNvSpPr/>
          <p:nvPr/>
        </p:nvSpPr>
        <p:spPr>
          <a:xfrm>
            <a:off x="490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1,5 L</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69" name="Text 67"/>
          <p:cNvSpPr/>
          <p:nvPr/>
        </p:nvSpPr>
        <p:spPr>
          <a:xfrm>
            <a:off x="490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Rouge</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70" name="Text 68"/>
          <p:cNvSpPr/>
          <p:nvPr/>
        </p:nvSpPr>
        <p:spPr>
          <a:xfrm>
            <a:off x="490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Rouge  75 cl</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71" name="Text 69"/>
          <p:cNvSpPr/>
          <p:nvPr/>
        </p:nvSpPr>
        <p:spPr>
          <a:xfrm>
            <a:off x="490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Rouge  75 cl</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72" name="Text 70"/>
          <p:cNvSpPr/>
          <p:nvPr/>
        </p:nvSpPr>
        <p:spPr>
          <a:xfrm>
            <a:off x="4908000" y="205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DOUX</a:t>
            </a:r>
            <a:endParaRPr lang="en-US" sz="800" dirty="0"/>
          </a:p>
        </p:txBody>
      </p:sp>
      <p:sp>
        <p:nvSpPr>
          <p:cNvPr id="73" name="Text 71"/>
          <p:cNvSpPr/>
          <p:nvPr/>
        </p:nvSpPr>
        <p:spPr>
          <a:xfrm>
            <a:off x="490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Coteaux du Layon</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74" name="Text 72"/>
          <p:cNvSpPr/>
          <p:nvPr/>
        </p:nvSpPr>
        <p:spPr>
          <a:xfrm>
            <a:off x="490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AOC Coteaux du Layon Faye</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8</a:t>
            </a:r>
            <a:endParaRPr lang="en-US" sz="690" dirty="0"/>
          </a:p>
        </p:txBody>
      </p:sp>
      <p:sp>
        <p:nvSpPr>
          <p:cNvPr id="75" name="Text 73"/>
          <p:cNvSpPr/>
          <p:nvPr/>
        </p:nvSpPr>
        <p:spPr>
          <a:xfrm>
            <a:off x="490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Koloss Doux</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76" name="Text 74"/>
          <p:cNvSpPr/>
          <p:nvPr/>
        </p:nvSpPr>
        <p:spPr>
          <a:xfrm>
            <a:off x="490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N°7 Vénus Blanc Moelleux</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77" name="Text 75"/>
          <p:cNvSpPr/>
          <p:nvPr/>
        </p:nvSpPr>
        <p:spPr>
          <a:xfrm>
            <a:off x="490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Or des Dentelles Blanc Moelleux  75 cl</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21</a:t>
            </a:r>
            <a:endParaRPr lang="en-US" sz="690" dirty="0"/>
          </a:p>
        </p:txBody>
      </p:sp>
      <p:sp>
        <p:nvSpPr>
          <p:cNvPr id="78" name="Text 76"/>
          <p:cNvSpPr/>
          <p:nvPr/>
        </p:nvSpPr>
        <p:spPr>
          <a:xfrm>
            <a:off x="490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Or des Dentelles Blanc Moelleux  37,5 cl</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21</a:t>
            </a:r>
            <a:endParaRPr lang="en-US" sz="690" dirty="0"/>
          </a:p>
        </p:txBody>
      </p:sp>
      <p:sp>
        <p:nvSpPr>
          <p:cNvPr id="79" name="Text 77"/>
          <p:cNvSpPr/>
          <p:nvPr/>
        </p:nvSpPr>
        <p:spPr>
          <a:xfrm>
            <a:off x="4908000" y="293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JUS DE CÉPAGES</a:t>
            </a:r>
            <a:endParaRPr lang="en-US" sz="800" dirty="0"/>
          </a:p>
        </p:txBody>
      </p:sp>
      <p:sp>
        <p:nvSpPr>
          <p:cNvPr id="80" name="Text 78"/>
          <p:cNvSpPr/>
          <p:nvPr/>
        </p:nvSpPr>
        <p:spPr>
          <a:xfrm>
            <a:off x="490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Chardonnay  50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1" name="Text 79"/>
          <p:cNvSpPr/>
          <p:nvPr/>
        </p:nvSpPr>
        <p:spPr>
          <a:xfrm>
            <a:off x="490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Chardonnay  25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2" name="Text 80"/>
          <p:cNvSpPr/>
          <p:nvPr/>
        </p:nvSpPr>
        <p:spPr>
          <a:xfrm>
            <a:off x="490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Grenache  50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3" name="Text 81"/>
          <p:cNvSpPr/>
          <p:nvPr/>
        </p:nvSpPr>
        <p:spPr>
          <a:xfrm>
            <a:off x="490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Grenache  25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4" name="Text 82"/>
          <p:cNvSpPr/>
          <p:nvPr/>
        </p:nvSpPr>
        <p:spPr>
          <a:xfrm>
            <a:off x="490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Syrah  50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5" name="Text 83"/>
          <p:cNvSpPr/>
          <p:nvPr/>
        </p:nvSpPr>
        <p:spPr>
          <a:xfrm>
            <a:off x="490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Jus de cépages – Syrah  25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6" name="Text 84"/>
          <p:cNvSpPr/>
          <p:nvPr/>
        </p:nvSpPr>
        <p:spPr>
          <a:xfrm>
            <a:off x="490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Mas de Lusanne Pétillant de Jus de Raisin 0 %</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24</a:t>
            </a:r>
            <a:endParaRPr lang="en-US" sz="690" dirty="0"/>
          </a:p>
        </p:txBody>
      </p:sp>
      <p:sp>
        <p:nvSpPr>
          <p:cNvPr id="87" name="Text 8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46</a:t>
            </a:r>
            <a:endParaRPr lang="en-US" sz="750" dirty="0"/>
          </a:p>
        </p:txBody>
      </p:sp>
      <p:sp>
        <p:nvSpPr>
          <p:cNvPr id="88" name="Text 8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vingt-six exposants</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DE A À Z</a:t>
            </a:r>
            <a:endParaRPr lang="en-US" sz="800" dirty="0"/>
          </a:p>
        </p:txBody>
      </p:sp>
      <p:sp>
        <p:nvSpPr>
          <p:cNvPr id="4" name="Text 2"/>
          <p:cNvSpPr/>
          <p:nvPr/>
        </p:nvSpPr>
        <p:spPr>
          <a:xfrm>
            <a:off x="612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19   </a:t>
            </a:r>
            <a:r>
              <a:rPr lang="en-US" sz="840" b="1" dirty="0">
                <a:solidFill>
                  <a:srgbClr val="46606E"/>
                </a:solidFill>
                <a:latin typeface="IBM Plex Sans" pitchFamily="34" charset="0"/>
                <a:ea typeface="IBM Plex Sans" pitchFamily="34" charset="-122"/>
                <a:cs typeface="IBM Plex Sans" pitchFamily="34" charset="-120"/>
              </a:rPr>
              <a:t>Bastide de Blacailloux   </a:t>
            </a:r>
            <a:r>
              <a:rPr lang="en-US" sz="700" dirty="0">
                <a:solidFill>
                  <a:srgbClr val="A8515F"/>
                </a:solidFill>
                <a:latin typeface="IBM Plex Sans" pitchFamily="34" charset="0"/>
                <a:ea typeface="IBM Plex Sans" pitchFamily="34" charset="-122"/>
                <a:cs typeface="IBM Plex Sans" pitchFamily="34" charset="-120"/>
              </a:rPr>
              <a:t>Provence   </a:t>
            </a:r>
            <a:r>
              <a:rPr lang="en-US" sz="700" dirty="0">
                <a:solidFill>
                  <a:srgbClr val="46606E"/>
                </a:solidFill>
                <a:latin typeface="IBM Plex Sans" pitchFamily="34" charset="0"/>
                <a:ea typeface="IBM Plex Sans" pitchFamily="34" charset="-122"/>
                <a:cs typeface="IBM Plex Sans" pitchFamily="34" charset="-120"/>
              </a:rPr>
              <a:t>10   </a:t>
            </a:r>
            <a:r>
              <a:rPr lang="en-US" sz="840" b="1" dirty="0">
                <a:solidFill>
                  <a:srgbClr val="46606E"/>
                </a:solidFill>
                <a:latin typeface="IBM Plex Sans" pitchFamily="34" charset="0"/>
                <a:ea typeface="IBM Plex Sans" pitchFamily="34" charset="-122"/>
                <a:cs typeface="IBM Plex Sans" pitchFamily="34" charset="-120"/>
              </a:rPr>
              <a:t>34</a:t>
            </a:r>
            <a:endParaRPr lang="en-US" sz="840" dirty="0"/>
          </a:p>
        </p:txBody>
      </p:sp>
      <p:sp>
        <p:nvSpPr>
          <p:cNvPr id="5" name="Text 3"/>
          <p:cNvSpPr/>
          <p:nvPr/>
        </p:nvSpPr>
        <p:spPr>
          <a:xfrm>
            <a:off x="612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25   </a:t>
            </a:r>
            <a:r>
              <a:rPr lang="en-US" sz="840" b="1" dirty="0">
                <a:solidFill>
                  <a:srgbClr val="46606E"/>
                </a:solidFill>
                <a:latin typeface="IBM Plex Sans" pitchFamily="34" charset="0"/>
                <a:ea typeface="IBM Plex Sans" pitchFamily="34" charset="-122"/>
                <a:cs typeface="IBM Plex Sans" pitchFamily="34" charset="-120"/>
              </a:rPr>
              <a:t>Chai Berteaud Manceau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9</a:t>
            </a:r>
            <a:endParaRPr lang="en-US" sz="840" dirty="0"/>
          </a:p>
        </p:txBody>
      </p:sp>
      <p:sp>
        <p:nvSpPr>
          <p:cNvPr id="6" name="Text 4"/>
          <p:cNvSpPr/>
          <p:nvPr/>
        </p:nvSpPr>
        <p:spPr>
          <a:xfrm>
            <a:off x="612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11   </a:t>
            </a:r>
            <a:r>
              <a:rPr lang="en-US" sz="840" b="1" dirty="0">
                <a:solidFill>
                  <a:srgbClr val="46606E"/>
                </a:solidFill>
                <a:latin typeface="IBM Plex Sans" pitchFamily="34" charset="0"/>
                <a:ea typeface="IBM Plex Sans" pitchFamily="34" charset="-122"/>
                <a:cs typeface="IBM Plex Sans" pitchFamily="34" charset="-120"/>
              </a:rPr>
              <a:t>Champagne Dekeyne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41</a:t>
            </a:r>
            <a:endParaRPr lang="en-US" sz="840" dirty="0"/>
          </a:p>
        </p:txBody>
      </p:sp>
      <p:sp>
        <p:nvSpPr>
          <p:cNvPr id="7" name="Text 5"/>
          <p:cNvSpPr/>
          <p:nvPr/>
        </p:nvSpPr>
        <p:spPr>
          <a:xfrm>
            <a:off x="612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   </a:t>
            </a:r>
            <a:r>
              <a:rPr lang="en-US" sz="840" b="1" dirty="0">
                <a:solidFill>
                  <a:srgbClr val="46606E"/>
                </a:solidFill>
                <a:latin typeface="IBM Plex Sans" pitchFamily="34" charset="0"/>
                <a:ea typeface="IBM Plex Sans" pitchFamily="34" charset="-122"/>
                <a:cs typeface="IBM Plex Sans" pitchFamily="34" charset="-120"/>
              </a:rPr>
              <a:t>Champagne Denis Frézier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42</a:t>
            </a:r>
            <a:endParaRPr lang="en-US" sz="840" dirty="0"/>
          </a:p>
        </p:txBody>
      </p:sp>
      <p:sp>
        <p:nvSpPr>
          <p:cNvPr id="8" name="Text 6"/>
          <p:cNvSpPr/>
          <p:nvPr/>
        </p:nvSpPr>
        <p:spPr>
          <a:xfrm>
            <a:off x="612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23   </a:t>
            </a:r>
            <a:r>
              <a:rPr lang="en-US" sz="840" b="1" dirty="0">
                <a:solidFill>
                  <a:srgbClr val="46606E"/>
                </a:solidFill>
                <a:latin typeface="IBM Plex Sans" pitchFamily="34" charset="0"/>
                <a:ea typeface="IBM Plex Sans" pitchFamily="34" charset="-122"/>
                <a:cs typeface="IBM Plex Sans" pitchFamily="34" charset="-120"/>
              </a:rPr>
              <a:t>Champagne Solemme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43</a:t>
            </a:r>
            <a:endParaRPr lang="en-US" sz="840" dirty="0"/>
          </a:p>
        </p:txBody>
      </p:sp>
      <p:sp>
        <p:nvSpPr>
          <p:cNvPr id="9" name="Text 7"/>
          <p:cNvSpPr/>
          <p:nvPr/>
        </p:nvSpPr>
        <p:spPr>
          <a:xfrm>
            <a:off x="612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   </a:t>
            </a:r>
            <a:r>
              <a:rPr lang="en-US" sz="840" b="1" dirty="0">
                <a:solidFill>
                  <a:srgbClr val="46606E"/>
                </a:solidFill>
                <a:latin typeface="IBM Plex Sans" pitchFamily="34" charset="0"/>
                <a:ea typeface="IBM Plex Sans" pitchFamily="34" charset="-122"/>
                <a:cs typeface="IBM Plex Sans" pitchFamily="34" charset="-120"/>
              </a:rPr>
              <a:t>Château Balac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31</a:t>
            </a:r>
            <a:endParaRPr lang="en-US" sz="840" dirty="0"/>
          </a:p>
        </p:txBody>
      </p:sp>
      <p:sp>
        <p:nvSpPr>
          <p:cNvPr id="10" name="Text 8"/>
          <p:cNvSpPr/>
          <p:nvPr/>
        </p:nvSpPr>
        <p:spPr>
          <a:xfrm>
            <a:off x="612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13   </a:t>
            </a:r>
            <a:r>
              <a:rPr lang="en-US" sz="840" b="1" dirty="0">
                <a:solidFill>
                  <a:srgbClr val="46606E"/>
                </a:solidFill>
                <a:latin typeface="IBM Plex Sans" pitchFamily="34" charset="0"/>
                <a:ea typeface="IBM Plex Sans" pitchFamily="34" charset="-122"/>
                <a:cs typeface="IBM Plex Sans" pitchFamily="34" charset="-120"/>
              </a:rPr>
              <a:t>Château de Gragnos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38</a:t>
            </a:r>
            <a:endParaRPr lang="en-US" sz="840" dirty="0"/>
          </a:p>
        </p:txBody>
      </p:sp>
      <p:sp>
        <p:nvSpPr>
          <p:cNvPr id="11" name="Text 9"/>
          <p:cNvSpPr/>
          <p:nvPr/>
        </p:nvSpPr>
        <p:spPr>
          <a:xfrm>
            <a:off x="612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26   </a:t>
            </a:r>
            <a:r>
              <a:rPr lang="en-US" sz="840" b="1" dirty="0">
                <a:solidFill>
                  <a:srgbClr val="46606E"/>
                </a:solidFill>
                <a:latin typeface="IBM Plex Sans" pitchFamily="34" charset="0"/>
                <a:ea typeface="IBM Plex Sans" pitchFamily="34" charset="-122"/>
                <a:cs typeface="IBM Plex Sans" pitchFamily="34" charset="-120"/>
              </a:rPr>
              <a:t>Château du Cray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1   </a:t>
            </a:r>
            <a:r>
              <a:rPr lang="en-US" sz="840" b="1" dirty="0">
                <a:solidFill>
                  <a:srgbClr val="46606E"/>
                </a:solidFill>
                <a:latin typeface="IBM Plex Sans" pitchFamily="34" charset="0"/>
                <a:ea typeface="IBM Plex Sans" pitchFamily="34" charset="-122"/>
                <a:cs typeface="IBM Plex Sans" pitchFamily="34" charset="-120"/>
              </a:rPr>
              <a:t>16</a:t>
            </a:r>
            <a:endParaRPr lang="en-US" sz="840" dirty="0"/>
          </a:p>
        </p:txBody>
      </p:sp>
      <p:sp>
        <p:nvSpPr>
          <p:cNvPr id="12" name="Text 10"/>
          <p:cNvSpPr/>
          <p:nvPr/>
        </p:nvSpPr>
        <p:spPr>
          <a:xfrm>
            <a:off x="612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8   </a:t>
            </a:r>
            <a:r>
              <a:rPr lang="en-US" sz="840" b="1" dirty="0">
                <a:solidFill>
                  <a:srgbClr val="46606E"/>
                </a:solidFill>
                <a:latin typeface="IBM Plex Sans" pitchFamily="34" charset="0"/>
                <a:ea typeface="IBM Plex Sans" pitchFamily="34" charset="-122"/>
                <a:cs typeface="IBM Plex Sans" pitchFamily="34" charset="-120"/>
              </a:rPr>
              <a:t>Château Falfas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29</a:t>
            </a:r>
            <a:endParaRPr lang="en-US" sz="840" dirty="0"/>
          </a:p>
        </p:txBody>
      </p:sp>
      <p:sp>
        <p:nvSpPr>
          <p:cNvPr id="13" name="Text 11"/>
          <p:cNvSpPr/>
          <p:nvPr/>
        </p:nvSpPr>
        <p:spPr>
          <a:xfrm>
            <a:off x="612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24   </a:t>
            </a:r>
            <a:r>
              <a:rPr lang="en-US" sz="840" b="1" dirty="0">
                <a:solidFill>
                  <a:srgbClr val="46606E"/>
                </a:solidFill>
                <a:latin typeface="IBM Plex Sans" pitchFamily="34" charset="0"/>
                <a:ea typeface="IBM Plex Sans" pitchFamily="34" charset="-122"/>
                <a:cs typeface="IBM Plex Sans" pitchFamily="34" charset="-120"/>
              </a:rPr>
              <a:t>Château l’Escarderie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32</a:t>
            </a:r>
            <a:endParaRPr lang="en-US" sz="840" dirty="0"/>
          </a:p>
        </p:txBody>
      </p:sp>
      <p:sp>
        <p:nvSpPr>
          <p:cNvPr id="14" name="Text 12"/>
          <p:cNvSpPr/>
          <p:nvPr/>
        </p:nvSpPr>
        <p:spPr>
          <a:xfrm>
            <a:off x="612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16   </a:t>
            </a:r>
            <a:r>
              <a:rPr lang="en-US" sz="840" b="1" dirty="0">
                <a:solidFill>
                  <a:srgbClr val="46606E"/>
                </a:solidFill>
                <a:latin typeface="IBM Plex Sans" pitchFamily="34" charset="0"/>
                <a:ea typeface="IBM Plex Sans" pitchFamily="34" charset="-122"/>
                <a:cs typeface="IBM Plex Sans" pitchFamily="34" charset="-120"/>
              </a:rPr>
              <a:t>Château Pré la Lande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30</a:t>
            </a:r>
            <a:endParaRPr lang="en-US" sz="840" dirty="0"/>
          </a:p>
        </p:txBody>
      </p:sp>
      <p:sp>
        <p:nvSpPr>
          <p:cNvPr id="15" name="Text 13"/>
          <p:cNvSpPr/>
          <p:nvPr/>
        </p:nvSpPr>
        <p:spPr>
          <a:xfrm>
            <a:off x="612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9   </a:t>
            </a:r>
            <a:r>
              <a:rPr lang="en-US" sz="840" b="1" dirty="0">
                <a:solidFill>
                  <a:srgbClr val="46606E"/>
                </a:solidFill>
                <a:latin typeface="IBM Plex Sans" pitchFamily="34" charset="0"/>
                <a:ea typeface="IBM Plex Sans" pitchFamily="34" charset="-122"/>
                <a:cs typeface="IBM Plex Sans" pitchFamily="34" charset="-120"/>
              </a:rPr>
              <a:t>Domaine Boehler   </a:t>
            </a:r>
            <a:r>
              <a:rPr lang="en-US" sz="700" dirty="0">
                <a:solidFill>
                  <a:srgbClr val="A8515F"/>
                </a:solidFill>
                <a:latin typeface="IBM Plex Sans" pitchFamily="34" charset="0"/>
                <a:ea typeface="IBM Plex Sans" pitchFamily="34" charset="-122"/>
                <a:cs typeface="IBM Plex Sans" pitchFamily="34" charset="-120"/>
              </a:rPr>
              <a:t>Alsace   </a:t>
            </a:r>
            <a:r>
              <a:rPr lang="en-US" sz="700" dirty="0">
                <a:solidFill>
                  <a:srgbClr val="46606E"/>
                </a:solidFill>
                <a:latin typeface="IBM Plex Sans" pitchFamily="34" charset="0"/>
                <a:ea typeface="IBM Plex Sans" pitchFamily="34" charset="-122"/>
                <a:cs typeface="IBM Plex Sans" pitchFamily="34" charset="-120"/>
              </a:rPr>
              <a:t>9   </a:t>
            </a:r>
            <a:r>
              <a:rPr lang="en-US" sz="840" b="1" dirty="0">
                <a:solidFill>
                  <a:srgbClr val="46606E"/>
                </a:solidFill>
                <a:latin typeface="IBM Plex Sans" pitchFamily="34" charset="0"/>
                <a:ea typeface="IBM Plex Sans" pitchFamily="34" charset="-122"/>
                <a:cs typeface="IBM Plex Sans" pitchFamily="34" charset="-120"/>
              </a:rPr>
              <a:t>12</a:t>
            </a:r>
            <a:endParaRPr lang="en-US" sz="840" dirty="0"/>
          </a:p>
        </p:txBody>
      </p:sp>
      <p:sp>
        <p:nvSpPr>
          <p:cNvPr id="16" name="Text 14"/>
          <p:cNvSpPr/>
          <p:nvPr/>
        </p:nvSpPr>
        <p:spPr>
          <a:xfrm>
            <a:off x="612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r>
              <a:rPr lang="en-US" sz="840" b="1" dirty="0">
                <a:solidFill>
                  <a:srgbClr val="46606E"/>
                </a:solidFill>
                <a:latin typeface="IBM Plex Sans" pitchFamily="34" charset="0"/>
                <a:ea typeface="IBM Plex Sans" pitchFamily="34" charset="-122"/>
                <a:cs typeface="IBM Plex Sans" pitchFamily="34" charset="-120"/>
              </a:rPr>
              <a:t>Domaine de Coyeux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21</a:t>
            </a:r>
            <a:endParaRPr lang="en-US" sz="840" dirty="0"/>
          </a:p>
        </p:txBody>
      </p:sp>
      <p:sp>
        <p:nvSpPr>
          <p:cNvPr id="17" name="Text 15"/>
          <p:cNvSpPr/>
          <p:nvPr/>
        </p:nvSpPr>
        <p:spPr>
          <a:xfrm>
            <a:off x="612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22   </a:t>
            </a:r>
            <a:r>
              <a:rPr lang="en-US" sz="840" b="1" dirty="0">
                <a:solidFill>
                  <a:srgbClr val="46606E"/>
                </a:solidFill>
                <a:latin typeface="IBM Plex Sans" pitchFamily="34" charset="0"/>
                <a:ea typeface="IBM Plex Sans" pitchFamily="34" charset="-122"/>
                <a:cs typeface="IBM Plex Sans" pitchFamily="34" charset="-120"/>
              </a:rPr>
              <a:t>Domaine de la Barbinière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6</a:t>
            </a:r>
            <a:endParaRPr lang="en-US" sz="840" dirty="0"/>
          </a:p>
        </p:txBody>
      </p:sp>
      <p:sp>
        <p:nvSpPr>
          <p:cNvPr id="18" name="Text 16"/>
          <p:cNvSpPr/>
          <p:nvPr/>
        </p:nvSpPr>
        <p:spPr>
          <a:xfrm>
            <a:off x="612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r>
              <a:rPr lang="en-US" sz="840" b="1" dirty="0">
                <a:solidFill>
                  <a:srgbClr val="46606E"/>
                </a:solidFill>
                <a:latin typeface="IBM Plex Sans" pitchFamily="34" charset="0"/>
                <a:ea typeface="IBM Plex Sans" pitchFamily="34" charset="-122"/>
                <a:cs typeface="IBM Plex Sans" pitchFamily="34" charset="-120"/>
              </a:rPr>
              <a:t>Domaine de la Pousterle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23</a:t>
            </a:r>
            <a:endParaRPr lang="en-US" sz="840" dirty="0"/>
          </a:p>
        </p:txBody>
      </p:sp>
      <p:sp>
        <p:nvSpPr>
          <p:cNvPr id="19" name="Text 17"/>
          <p:cNvSpPr/>
          <p:nvPr/>
        </p:nvSpPr>
        <p:spPr>
          <a:xfrm>
            <a:off x="612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14   </a:t>
            </a:r>
            <a:r>
              <a:rPr lang="en-US" sz="840" b="1" dirty="0">
                <a:solidFill>
                  <a:srgbClr val="46606E"/>
                </a:solidFill>
                <a:latin typeface="IBM Plex Sans" pitchFamily="34" charset="0"/>
                <a:ea typeface="IBM Plex Sans" pitchFamily="34" charset="-122"/>
                <a:cs typeface="IBM Plex Sans" pitchFamily="34" charset="-120"/>
              </a:rPr>
              <a:t>Domaine des Noëls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8</a:t>
            </a:r>
            <a:endParaRPr lang="en-US" sz="840" dirty="0"/>
          </a:p>
        </p:txBody>
      </p:sp>
      <p:sp>
        <p:nvSpPr>
          <p:cNvPr id="20" name="Text 18"/>
          <p:cNvSpPr/>
          <p:nvPr/>
        </p:nvSpPr>
        <p:spPr>
          <a:xfrm>
            <a:off x="3672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5   </a:t>
            </a:r>
            <a:r>
              <a:rPr lang="en-US" sz="840" b="1" dirty="0">
                <a:solidFill>
                  <a:srgbClr val="46606E"/>
                </a:solidFill>
                <a:latin typeface="IBM Plex Sans" pitchFamily="34" charset="0"/>
                <a:ea typeface="IBM Plex Sans" pitchFamily="34" charset="-122"/>
                <a:cs typeface="IBM Plex Sans" pitchFamily="34" charset="-120"/>
              </a:rPr>
              <a:t>Domaine des Verchères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18</a:t>
            </a:r>
            <a:endParaRPr lang="en-US" sz="840" dirty="0"/>
          </a:p>
        </p:txBody>
      </p:sp>
      <p:sp>
        <p:nvSpPr>
          <p:cNvPr id="21" name="Text 19"/>
          <p:cNvSpPr/>
          <p:nvPr/>
        </p:nvSpPr>
        <p:spPr>
          <a:xfrm>
            <a:off x="3672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4   </a:t>
            </a:r>
            <a:r>
              <a:rPr lang="en-US" sz="840" b="1" dirty="0">
                <a:solidFill>
                  <a:srgbClr val="46606E"/>
                </a:solidFill>
                <a:latin typeface="IBM Plex Sans" pitchFamily="34" charset="0"/>
                <a:ea typeface="IBM Plex Sans" pitchFamily="34" charset="-122"/>
                <a:cs typeface="IBM Plex Sans" pitchFamily="34" charset="-120"/>
              </a:rPr>
              <a:t>Domaine du Colombier / J.Y Bretaudeau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7</a:t>
            </a:r>
            <a:endParaRPr lang="en-US" sz="840" dirty="0"/>
          </a:p>
        </p:txBody>
      </p:sp>
      <p:sp>
        <p:nvSpPr>
          <p:cNvPr id="22" name="Text 20"/>
          <p:cNvSpPr/>
          <p:nvPr/>
        </p:nvSpPr>
        <p:spPr>
          <a:xfrm>
            <a:off x="3672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r>
              <a:rPr lang="en-US" sz="840" b="1" dirty="0">
                <a:solidFill>
                  <a:srgbClr val="46606E"/>
                </a:solidFill>
                <a:latin typeface="IBM Plex Sans" pitchFamily="34" charset="0"/>
                <a:ea typeface="IBM Plex Sans" pitchFamily="34" charset="-122"/>
                <a:cs typeface="IBM Plex Sans" pitchFamily="34" charset="-120"/>
              </a:rPr>
              <a:t>Domaine du Moulin Blanc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1   </a:t>
            </a:r>
            <a:r>
              <a:rPr lang="en-US" sz="840" b="1" dirty="0">
                <a:solidFill>
                  <a:srgbClr val="46606E"/>
                </a:solidFill>
                <a:latin typeface="IBM Plex Sans" pitchFamily="34" charset="0"/>
                <a:ea typeface="IBM Plex Sans" pitchFamily="34" charset="-122"/>
                <a:cs typeface="IBM Plex Sans" pitchFamily="34" charset="-120"/>
              </a:rPr>
              <a:t>22</a:t>
            </a:r>
            <a:endParaRPr lang="en-US" sz="840" dirty="0"/>
          </a:p>
        </p:txBody>
      </p:sp>
      <p:sp>
        <p:nvSpPr>
          <p:cNvPr id="23" name="Text 21"/>
          <p:cNvSpPr/>
          <p:nvPr/>
        </p:nvSpPr>
        <p:spPr>
          <a:xfrm>
            <a:off x="3672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6   </a:t>
            </a:r>
            <a:r>
              <a:rPr lang="en-US" sz="840" b="1" dirty="0">
                <a:solidFill>
                  <a:srgbClr val="46606E"/>
                </a:solidFill>
                <a:latin typeface="IBM Plex Sans" pitchFamily="34" charset="0"/>
                <a:ea typeface="IBM Plex Sans" pitchFamily="34" charset="-122"/>
                <a:cs typeface="IBM Plex Sans" pitchFamily="34" charset="-120"/>
              </a:rPr>
              <a:t>Domaine Haut Marin   </a:t>
            </a:r>
            <a:r>
              <a:rPr lang="en-US" sz="700" dirty="0">
                <a:solidFill>
                  <a:srgbClr val="A8515F"/>
                </a:solidFill>
                <a:latin typeface="IBM Plex Sans" pitchFamily="34" charset="0"/>
                <a:ea typeface="IBM Plex Sans" pitchFamily="34" charset="-122"/>
                <a:cs typeface="IBM Plex Sans" pitchFamily="34" charset="-120"/>
              </a:rPr>
              <a:t>Sud-Ouest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27</a:t>
            </a:r>
            <a:endParaRPr lang="en-US" sz="840" dirty="0"/>
          </a:p>
        </p:txBody>
      </p:sp>
      <p:sp>
        <p:nvSpPr>
          <p:cNvPr id="24" name="Text 22"/>
          <p:cNvSpPr/>
          <p:nvPr/>
        </p:nvSpPr>
        <p:spPr>
          <a:xfrm>
            <a:off x="3672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17   </a:t>
            </a:r>
            <a:r>
              <a:rPr lang="en-US" sz="840" b="1" dirty="0">
                <a:solidFill>
                  <a:srgbClr val="46606E"/>
                </a:solidFill>
                <a:latin typeface="IBM Plex Sans" pitchFamily="34" charset="0"/>
                <a:ea typeface="IBM Plex Sans" pitchFamily="34" charset="-122"/>
                <a:cs typeface="IBM Plex Sans" pitchFamily="34" charset="-120"/>
              </a:rPr>
              <a:t>Domaine Jean de Villebois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12   </a:t>
            </a:r>
            <a:r>
              <a:rPr lang="en-US" sz="840" b="1" dirty="0">
                <a:solidFill>
                  <a:srgbClr val="46606E"/>
                </a:solidFill>
                <a:latin typeface="IBM Plex Sans" pitchFamily="34" charset="0"/>
                <a:ea typeface="IBM Plex Sans" pitchFamily="34" charset="-122"/>
                <a:cs typeface="IBM Plex Sans" pitchFamily="34" charset="-120"/>
              </a:rPr>
              <a:t>10</a:t>
            </a:r>
            <a:endParaRPr lang="en-US" sz="840" dirty="0"/>
          </a:p>
        </p:txBody>
      </p:sp>
      <p:sp>
        <p:nvSpPr>
          <p:cNvPr id="25" name="Text 23"/>
          <p:cNvSpPr/>
          <p:nvPr/>
        </p:nvSpPr>
        <p:spPr>
          <a:xfrm>
            <a:off x="3672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r>
              <a:rPr lang="en-US" sz="840" b="1" dirty="0">
                <a:solidFill>
                  <a:srgbClr val="46606E"/>
                </a:solidFill>
                <a:latin typeface="IBM Plex Sans" pitchFamily="34" charset="0"/>
                <a:ea typeface="IBM Plex Sans" pitchFamily="34" charset="-122"/>
                <a:cs typeface="IBM Plex Sans" pitchFamily="34" charset="-120"/>
              </a:rPr>
              <a:t>Domaine Le Prieuré des Papes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20</a:t>
            </a:r>
            <a:endParaRPr lang="en-US" sz="840" dirty="0"/>
          </a:p>
        </p:txBody>
      </p:sp>
      <p:sp>
        <p:nvSpPr>
          <p:cNvPr id="26" name="Text 24"/>
          <p:cNvSpPr/>
          <p:nvPr/>
        </p:nvSpPr>
        <p:spPr>
          <a:xfrm>
            <a:off x="3672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26   </a:t>
            </a:r>
            <a:r>
              <a:rPr lang="en-US" sz="840" b="1" dirty="0">
                <a:solidFill>
                  <a:srgbClr val="46606E"/>
                </a:solidFill>
                <a:latin typeface="IBM Plex Sans" pitchFamily="34" charset="0"/>
                <a:ea typeface="IBM Plex Sans" pitchFamily="34" charset="-122"/>
                <a:cs typeface="IBM Plex Sans" pitchFamily="34" charset="-120"/>
              </a:rPr>
              <a:t>Domaine Les Guignottes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2   </a:t>
            </a:r>
            <a:r>
              <a:rPr lang="en-US" sz="840" b="1" dirty="0">
                <a:solidFill>
                  <a:srgbClr val="46606E"/>
                </a:solidFill>
                <a:latin typeface="IBM Plex Sans" pitchFamily="34" charset="0"/>
                <a:ea typeface="IBM Plex Sans" pitchFamily="34" charset="-122"/>
                <a:cs typeface="IBM Plex Sans" pitchFamily="34" charset="-120"/>
              </a:rPr>
              <a:t>17</a:t>
            </a:r>
            <a:endParaRPr lang="en-US" sz="840" dirty="0"/>
          </a:p>
        </p:txBody>
      </p:sp>
      <p:sp>
        <p:nvSpPr>
          <p:cNvPr id="27" name="Text 25"/>
          <p:cNvSpPr/>
          <p:nvPr/>
        </p:nvSpPr>
        <p:spPr>
          <a:xfrm>
            <a:off x="3672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18   </a:t>
            </a:r>
            <a:r>
              <a:rPr lang="en-US" sz="840" b="1" dirty="0">
                <a:solidFill>
                  <a:srgbClr val="46606E"/>
                </a:solidFill>
                <a:latin typeface="IBM Plex Sans" pitchFamily="34" charset="0"/>
                <a:ea typeface="IBM Plex Sans" pitchFamily="34" charset="-122"/>
                <a:cs typeface="IBM Plex Sans" pitchFamily="34" charset="-120"/>
              </a:rPr>
              <a:t>Domaine Sébastien Magnien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14</a:t>
            </a:r>
            <a:endParaRPr lang="en-US" sz="840" dirty="0"/>
          </a:p>
        </p:txBody>
      </p:sp>
      <p:sp>
        <p:nvSpPr>
          <p:cNvPr id="28" name="Text 26"/>
          <p:cNvSpPr/>
          <p:nvPr/>
        </p:nvSpPr>
        <p:spPr>
          <a:xfrm>
            <a:off x="3672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20   </a:t>
            </a:r>
            <a:r>
              <a:rPr lang="en-US" sz="840" b="1" dirty="0">
                <a:solidFill>
                  <a:srgbClr val="46606E"/>
                </a:solidFill>
                <a:latin typeface="IBM Plex Sans" pitchFamily="34" charset="0"/>
                <a:ea typeface="IBM Plex Sans" pitchFamily="34" charset="-122"/>
                <a:cs typeface="IBM Plex Sans" pitchFamily="34" charset="-120"/>
              </a:rPr>
              <a:t>Domaine Stratéus   </a:t>
            </a:r>
            <a:r>
              <a:rPr lang="en-US" sz="700" dirty="0">
                <a:solidFill>
                  <a:srgbClr val="A8515F"/>
                </a:solidFill>
                <a:latin typeface="IBM Plex Sans" pitchFamily="34" charset="0"/>
                <a:ea typeface="IBM Plex Sans" pitchFamily="34" charset="-122"/>
                <a:cs typeface="IBM Plex Sans" pitchFamily="34" charset="-120"/>
              </a:rPr>
              <a:t>Sud-Ouest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26</a:t>
            </a:r>
            <a:endParaRPr lang="en-US" sz="840" dirty="0"/>
          </a:p>
        </p:txBody>
      </p:sp>
      <p:sp>
        <p:nvSpPr>
          <p:cNvPr id="29" name="Text 27"/>
          <p:cNvSpPr/>
          <p:nvPr/>
        </p:nvSpPr>
        <p:spPr>
          <a:xfrm>
            <a:off x="3672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12   </a:t>
            </a:r>
            <a:r>
              <a:rPr lang="en-US" sz="840" b="1" dirty="0">
                <a:solidFill>
                  <a:srgbClr val="46606E"/>
                </a:solidFill>
                <a:latin typeface="IBM Plex Sans" pitchFamily="34" charset="0"/>
                <a:ea typeface="IBM Plex Sans" pitchFamily="34" charset="-122"/>
                <a:cs typeface="IBM Plex Sans" pitchFamily="34" charset="-120"/>
              </a:rPr>
              <a:t>Domaine Trichon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10   </a:t>
            </a:r>
            <a:r>
              <a:rPr lang="en-US" sz="840" b="1" dirty="0">
                <a:solidFill>
                  <a:srgbClr val="46606E"/>
                </a:solidFill>
                <a:latin typeface="IBM Plex Sans" pitchFamily="34" charset="0"/>
                <a:ea typeface="IBM Plex Sans" pitchFamily="34" charset="-122"/>
                <a:cs typeface="IBM Plex Sans" pitchFamily="34" charset="-120"/>
              </a:rPr>
              <a:t>24</a:t>
            </a:r>
            <a:endParaRPr lang="en-US" sz="840" dirty="0"/>
          </a:p>
        </p:txBody>
      </p:sp>
      <p:sp>
        <p:nvSpPr>
          <p:cNvPr id="30" name="Text 28"/>
          <p:cNvSpPr/>
          <p:nvPr/>
        </p:nvSpPr>
        <p:spPr>
          <a:xfrm>
            <a:off x="3672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21   </a:t>
            </a:r>
            <a:r>
              <a:rPr lang="en-US" sz="840" b="1" dirty="0">
                <a:solidFill>
                  <a:srgbClr val="46606E"/>
                </a:solidFill>
                <a:latin typeface="IBM Plex Sans" pitchFamily="34" charset="0"/>
                <a:ea typeface="IBM Plex Sans" pitchFamily="34" charset="-122"/>
                <a:cs typeface="IBM Plex Sans" pitchFamily="34" charset="-120"/>
              </a:rPr>
              <a:t>Famille d’Exea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36</a:t>
            </a:r>
            <a:endParaRPr lang="en-US" sz="840" dirty="0"/>
          </a:p>
        </p:txBody>
      </p:sp>
      <p:sp>
        <p:nvSpPr>
          <p:cNvPr id="31" name="Text 29"/>
          <p:cNvSpPr/>
          <p:nvPr/>
        </p:nvSpPr>
        <p:spPr>
          <a:xfrm>
            <a:off x="3672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21   </a:t>
            </a:r>
            <a:r>
              <a:rPr lang="en-US" sz="840" b="1" dirty="0">
                <a:solidFill>
                  <a:srgbClr val="46606E"/>
                </a:solidFill>
                <a:latin typeface="IBM Plex Sans" pitchFamily="34" charset="0"/>
                <a:ea typeface="IBM Plex Sans" pitchFamily="34" charset="-122"/>
                <a:cs typeface="IBM Plex Sans" pitchFamily="34" charset="-120"/>
              </a:rPr>
              <a:t>Famille d’Exea — Jus de Cépages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37</a:t>
            </a:r>
            <a:endParaRPr lang="en-US" sz="840" dirty="0"/>
          </a:p>
        </p:txBody>
      </p:sp>
      <p:sp>
        <p:nvSpPr>
          <p:cNvPr id="32" name="Text 30"/>
          <p:cNvSpPr/>
          <p:nvPr/>
        </p:nvSpPr>
        <p:spPr>
          <a:xfrm>
            <a:off x="3672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10   </a:t>
            </a:r>
            <a:r>
              <a:rPr lang="en-US" sz="840" b="1" dirty="0">
                <a:solidFill>
                  <a:srgbClr val="46606E"/>
                </a:solidFill>
                <a:latin typeface="IBM Plex Sans" pitchFamily="34" charset="0"/>
                <a:ea typeface="IBM Plex Sans" pitchFamily="34" charset="-122"/>
                <a:cs typeface="IBM Plex Sans" pitchFamily="34" charset="-120"/>
              </a:rPr>
              <a:t>François Reverdy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9   </a:t>
            </a:r>
            <a:r>
              <a:rPr lang="en-US" sz="840" b="1" dirty="0">
                <a:solidFill>
                  <a:srgbClr val="46606E"/>
                </a:solidFill>
                <a:latin typeface="IBM Plex Sans" pitchFamily="34" charset="0"/>
                <a:ea typeface="IBM Plex Sans" pitchFamily="34" charset="-122"/>
                <a:cs typeface="IBM Plex Sans" pitchFamily="34" charset="-120"/>
              </a:rPr>
              <a:t>5</a:t>
            </a:r>
            <a:endParaRPr lang="en-US" sz="840" dirty="0"/>
          </a:p>
        </p:txBody>
      </p:sp>
      <p:sp>
        <p:nvSpPr>
          <p:cNvPr id="33" name="Text 31"/>
          <p:cNvSpPr/>
          <p:nvPr/>
        </p:nvSpPr>
        <p:spPr>
          <a:xfrm>
            <a:off x="3672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26   </a:t>
            </a:r>
            <a:r>
              <a:rPr lang="en-US" sz="840" b="1" dirty="0">
                <a:solidFill>
                  <a:srgbClr val="46606E"/>
                </a:solidFill>
                <a:latin typeface="IBM Plex Sans" pitchFamily="34" charset="0"/>
                <a:ea typeface="IBM Plex Sans" pitchFamily="34" charset="-122"/>
                <a:cs typeface="IBM Plex Sans" pitchFamily="34" charset="-120"/>
              </a:rPr>
              <a:t>Maison et Domaine André Goichot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9   </a:t>
            </a:r>
            <a:r>
              <a:rPr lang="en-US" sz="840" b="1" dirty="0">
                <a:solidFill>
                  <a:srgbClr val="46606E"/>
                </a:solidFill>
                <a:latin typeface="IBM Plex Sans" pitchFamily="34" charset="0"/>
                <a:ea typeface="IBM Plex Sans" pitchFamily="34" charset="-122"/>
                <a:cs typeface="IBM Plex Sans" pitchFamily="34" charset="-120"/>
              </a:rPr>
              <a:t>15</a:t>
            </a:r>
            <a:endParaRPr lang="en-US" sz="840" dirty="0"/>
          </a:p>
        </p:txBody>
      </p:sp>
      <p:sp>
        <p:nvSpPr>
          <p:cNvPr id="34" name="Text 32"/>
          <p:cNvSpPr/>
          <p:nvPr/>
        </p:nvSpPr>
        <p:spPr>
          <a:xfrm>
            <a:off x="3672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   </a:t>
            </a:r>
            <a:r>
              <a:rPr lang="en-US" sz="840" b="1" dirty="0">
                <a:solidFill>
                  <a:srgbClr val="46606E"/>
                </a:solidFill>
                <a:latin typeface="IBM Plex Sans" pitchFamily="34" charset="0"/>
                <a:ea typeface="IBM Plex Sans" pitchFamily="34" charset="-122"/>
                <a:cs typeface="IBM Plex Sans" pitchFamily="34" charset="-120"/>
              </a:rPr>
              <a:t>Prieuré Sainte-Marie d’Albas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39</a:t>
            </a:r>
            <a:endParaRPr lang="en-US" sz="840" dirty="0"/>
          </a:p>
        </p:txBody>
      </p:sp>
      <p:sp>
        <p:nvSpPr>
          <p:cNvPr id="35" name="Text 33"/>
          <p:cNvSpPr/>
          <p:nvPr/>
        </p:nvSpPr>
        <p:spPr>
          <a:xfrm>
            <a:off x="3672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15   </a:t>
            </a:r>
            <a:r>
              <a:rPr lang="en-US" sz="840" b="1" dirty="0">
                <a:solidFill>
                  <a:srgbClr val="46606E"/>
                </a:solidFill>
                <a:latin typeface="IBM Plex Sans" pitchFamily="34" charset="0"/>
                <a:ea typeface="IBM Plex Sans" pitchFamily="34" charset="-122"/>
                <a:cs typeface="IBM Plex Sans" pitchFamily="34" charset="-120"/>
              </a:rPr>
              <a:t>Vazart-Coquart &amp; Fils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44</a:t>
            </a:r>
            <a:endParaRPr lang="en-US" sz="840" dirty="0"/>
          </a:p>
        </p:txBody>
      </p:sp>
      <p:sp>
        <p:nvSpPr>
          <p:cNvPr id="36" name="Text 34"/>
          <p:cNvSpPr/>
          <p:nvPr/>
        </p:nvSpPr>
        <p:spPr>
          <a:xfrm>
            <a:off x="612000" y="8604000"/>
            <a:ext cx="6120000" cy="180000"/>
          </a:xfrm>
          <a:prstGeom prst="rect">
            <a:avLst/>
          </a:prstGeom>
          <a:noFill/>
          <a:ln/>
        </p:spPr>
        <p:txBody>
          <a:bodyPr wrap="square" lIns="0" tIns="0" rIns="0" bIns="0" rtlCol="0" anchor="ctr"/>
          <a:lstStyle/>
          <a:p>
            <a:pPr indent="0" marL="0">
              <a:buNone/>
            </a:pPr>
            <a:r>
              <a:rPr lang="en-US" sz="800" dirty="0">
                <a:solidFill>
                  <a:srgbClr val="46606E"/>
                </a:solidFill>
                <a:latin typeface="Spectral" pitchFamily="34" charset="0"/>
                <a:ea typeface="Spectral" pitchFamily="34" charset="-122"/>
                <a:cs typeface="Spectral" pitchFamily="34" charset="-120"/>
              </a:rPr>
              <a:t>Le chiffre avant la page est le nombre de vins à la dégustation.</a:t>
            </a:r>
            <a:endParaRPr lang="en-US" sz="800" dirty="0"/>
          </a:p>
        </p:txBody>
      </p:sp>
      <p:sp>
        <p:nvSpPr>
          <p:cNvPr id="37" name="Text 35"/>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47</a:t>
            </a:r>
            <a:endParaRPr lang="en-US" sz="750" dirty="0"/>
          </a:p>
        </p:txBody>
      </p:sp>
      <p:sp>
        <p:nvSpPr>
          <p:cNvPr id="38" name="Text 36"/>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520000" cy="614097"/>
          </a:xfrm>
          <a:prstGeom prst="rect">
            <a:avLst/>
          </a:prstGeom>
        </p:spPr>
      </p:pic>
      <p:sp>
        <p:nvSpPr>
          <p:cNvPr id="3" name="Text 0"/>
          <p:cNvSpPr/>
          <p:nvPr/>
        </p:nvSpPr>
        <p:spPr>
          <a:xfrm>
            <a:off x="82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4" name="Text 1"/>
          <p:cNvSpPr/>
          <p:nvPr/>
        </p:nvSpPr>
        <p:spPr>
          <a:xfrm>
            <a:off x="82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5" name="Text 2"/>
          <p:cNvSpPr/>
          <p:nvPr/>
        </p:nvSpPr>
        <p:spPr>
          <a:xfrm>
            <a:off x="280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6" name="Text 3"/>
          <p:cNvSpPr/>
          <p:nvPr/>
        </p:nvSpPr>
        <p:spPr>
          <a:xfrm>
            <a:off x="280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7" name="Text 4"/>
          <p:cNvSpPr/>
          <p:nvPr/>
        </p:nvSpPr>
        <p:spPr>
          <a:xfrm>
            <a:off x="828000" y="2196000"/>
            <a:ext cx="6120000" cy="396000"/>
          </a:xfrm>
          <a:prstGeom prst="rect">
            <a:avLst/>
          </a:prstGeom>
          <a:noFill/>
          <a:ln/>
        </p:spPr>
        <p:txBody>
          <a:bodyPr wrap="square" lIns="0" tIns="0" rIns="0" bIns="0" rtlCol="0" anchor="ctr"/>
          <a:lstStyle/>
          <a:p>
            <a:pPr indent="0" marL="0">
              <a:lnSpc>
                <a:spcPct val="120000"/>
              </a:lnSpc>
              <a:buNone/>
            </a:pPr>
            <a:r>
              <a:rPr lang="en-US" sz="1200" dirty="0">
                <a:solidFill>
                  <a:srgbClr val="67067C"/>
                </a:solidFill>
                <a:latin typeface="Young Serif" pitchFamily="34" charset="0"/>
                <a:ea typeface="Young Serif" pitchFamily="34" charset="-122"/>
                <a:cs typeface="Young Serif" pitchFamily="34" charset="-120"/>
              </a:rPr>
              <a:t>Salon Privé Vins &amp; Terroirs</a:t>
            </a:r>
            <a:endParaRPr lang="en-US" sz="1200" dirty="0"/>
          </a:p>
          <a:p>
            <a:pPr indent="0" marL="0">
              <a:lnSpc>
                <a:spcPct val="120000"/>
              </a:lnSpc>
              <a:buNone/>
            </a:pPr>
            <a:r>
              <a:rPr lang="en-US" sz="1200" dirty="0">
                <a:solidFill>
                  <a:srgbClr val="67067C"/>
                </a:solidFill>
                <a:latin typeface="Young Serif" pitchFamily="34" charset="0"/>
                <a:ea typeface="Young Serif" pitchFamily="34" charset="-122"/>
                <a:cs typeface="Young Serif" pitchFamily="34" charset="-120"/>
              </a:rPr>
              <a:t>Lundi 5 octobre 2026, Château de la Rairie, Pont-Saint-Martin</a:t>
            </a:r>
            <a:endParaRPr lang="en-US" sz="1200" dirty="0"/>
          </a:p>
        </p:txBody>
      </p:sp>
      <p:sp>
        <p:nvSpPr>
          <p:cNvPr id="8" name="Text 5"/>
          <p:cNvSpPr/>
          <p:nvPr/>
        </p:nvSpPr>
        <p:spPr>
          <a:xfrm>
            <a:off x="828000" y="2664000"/>
            <a:ext cx="4680000" cy="504000"/>
          </a:xfrm>
          <a:prstGeom prst="rect">
            <a:avLst/>
          </a:prstGeom>
          <a:noFill/>
          <a:ln/>
        </p:spPr>
        <p:txBody>
          <a:bodyPr wrap="square" lIns="0" tIns="0" rIns="0" bIns="0" rtlCol="0" anchor="ctr"/>
          <a:lstStyle/>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contact@agencescio.com · www.agencescio.com</a:t>
            </a:r>
            <a:endParaRPr lang="en-US" sz="1000" dirty="0"/>
          </a:p>
        </p:txBody>
      </p:sp>
      <p:pic>
        <p:nvPicPr>
          <p:cNvPr id="9" name="Image 1" descr="/home/user/philippe1/build/deco-salon-prive-2026/coupe-nue.png">    </p:cNvPr>
          <p:cNvPicPr>
            <a:picLocks noChangeAspect="1"/>
          </p:cNvPicPr>
          <p:nvPr/>
        </p:nvPicPr>
        <p:blipFill>
          <a:blip r:embed="rId2"/>
          <a:stretch>
            <a:fillRect/>
          </a:stretch>
        </p:blipFill>
        <p:spPr>
          <a:xfrm>
            <a:off x="828000" y="3420000"/>
            <a:ext cx="6120000" cy="956455"/>
          </a:xfrm>
          <a:prstGeom prst="rect">
            <a:avLst/>
          </a:prstGeom>
        </p:spPr>
      </p:pic>
      <p:sp>
        <p:nvSpPr>
          <p:cNvPr id="10" name="Shape 6"/>
          <p:cNvSpPr/>
          <p:nvPr/>
        </p:nvSpPr>
        <p:spPr>
          <a:xfrm>
            <a:off x="828000" y="4788000"/>
            <a:ext cx="6120000" cy="0"/>
          </a:xfrm>
          <a:prstGeom prst="line">
            <a:avLst/>
          </a:prstGeom>
          <a:noFill/>
          <a:ln w="10160">
            <a:solidFill>
              <a:srgbClr val="67067C"/>
            </a:solidFill>
            <a:prstDash val="solid"/>
          </a:ln>
        </p:spPr>
      </p:sp>
      <p:sp>
        <p:nvSpPr>
          <p:cNvPr id="11" name="Text 7"/>
          <p:cNvSpPr/>
          <p:nvPr/>
        </p:nvSpPr>
        <p:spPr>
          <a:xfrm>
            <a:off x="82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LEXIQUE</a:t>
            </a:r>
            <a:endParaRPr lang="en-US" sz="760" dirty="0"/>
          </a:p>
        </p:txBody>
      </p:sp>
      <p:sp>
        <p:nvSpPr>
          <p:cNvPr id="12" name="Text 8"/>
          <p:cNvSpPr/>
          <p:nvPr/>
        </p:nvSpPr>
        <p:spPr>
          <a:xfrm>
            <a:off x="82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AOP — Appellation d’Origine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IGP — Indication Géographique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VDF — Vin de France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HVE — Haute Valeur Environnementale</a:t>
            </a:r>
            <a:endParaRPr lang="en-US" sz="780" dirty="0"/>
          </a:p>
        </p:txBody>
      </p:sp>
      <p:sp>
        <p:nvSpPr>
          <p:cNvPr id="13" name="Text 9"/>
          <p:cNvSpPr/>
          <p:nvPr/>
        </p:nvSpPr>
        <p:spPr>
          <a:xfrm>
            <a:off x="286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MENTIONS LÉGALES</a:t>
            </a:r>
            <a:endParaRPr lang="en-US" sz="760" dirty="0"/>
          </a:p>
        </p:txBody>
      </p:sp>
      <p:sp>
        <p:nvSpPr>
          <p:cNvPr id="14" name="Text 10"/>
          <p:cNvSpPr/>
          <p:nvPr/>
        </p:nvSpPr>
        <p:spPr>
          <a:xfrm>
            <a:off x="286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Photos non contractuelles, suggestions de présentation. Dans la limite des stocks disponibles. Les Millésimes peuvent évoluer en fonction de l’avancé de l’année. Sauf erreurs typographiques. Prix H.T. Agence SCIO Vins et spirits 843 151 663 RCS Nantes. Crédits photos : viticulteurs et Adobe Stock. NE PAS JETER SUR LA VOIE PUBLIQUE.</a:t>
            </a:r>
            <a:endParaRPr lang="en-US" sz="780" dirty="0"/>
          </a:p>
        </p:txBody>
      </p:sp>
      <p:sp>
        <p:nvSpPr>
          <p:cNvPr id="15" name="Text 11"/>
          <p:cNvSpPr/>
          <p:nvPr/>
        </p:nvSpPr>
        <p:spPr>
          <a:xfrm>
            <a:off x="490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CRÉDITS</a:t>
            </a:r>
            <a:endParaRPr lang="en-US" sz="760" dirty="0"/>
          </a:p>
        </p:txBody>
      </p:sp>
      <p:sp>
        <p:nvSpPr>
          <p:cNvPr id="16" name="Text 12"/>
          <p:cNvSpPr/>
          <p:nvPr/>
        </p:nvSpPr>
        <p:spPr>
          <a:xfrm>
            <a:off x="490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Conception, maquette et illustrations : Agence SCIO. Les pictogrammes de ce catalogue sont les nôtres ; ils ne reproduisent aucun logo officiel d'organisme certificateur. Les photographies des fiches viennent de les sites officiels des domaines et de la photothèque de l'agence ; elles sont créditées une à une dans credits.md.</a:t>
            </a:r>
            <a:endParaRPr lang="en-US" sz="780" dirty="0"/>
          </a:p>
        </p:txBody>
      </p:sp>
      <p:sp>
        <p:nvSpPr>
          <p:cNvPr id="17" name="Shape 13"/>
          <p:cNvSpPr/>
          <p:nvPr/>
        </p:nvSpPr>
        <p:spPr>
          <a:xfrm>
            <a:off x="828000" y="8388000"/>
            <a:ext cx="6120000" cy="360000"/>
          </a:xfrm>
          <a:prstGeom prst="roundRect">
            <a:avLst>
              <a:gd name="adj" fmla="val 5080"/>
            </a:avLst>
          </a:prstGeom>
          <a:solidFill>
            <a:srgbClr val="67067C"/>
          </a:solidFill>
          <a:ln w="12700">
            <a:solidFill>
              <a:srgbClr val="67067C"/>
            </a:solidFill>
            <a:prstDash val="solid"/>
          </a:ln>
        </p:spPr>
      </p:sp>
      <p:sp>
        <p:nvSpPr>
          <p:cNvPr id="18" name="Text 14"/>
          <p:cNvSpPr/>
          <p:nvPr/>
        </p:nvSpPr>
        <p:spPr>
          <a:xfrm>
            <a:off x="828000" y="8388000"/>
            <a:ext cx="6120000" cy="360000"/>
          </a:xfrm>
          <a:prstGeom prst="rect">
            <a:avLst/>
          </a:prstGeom>
          <a:noFill/>
          <a:ln/>
        </p:spPr>
        <p:txBody>
          <a:bodyPr wrap="square" lIns="0" tIns="0" rIns="0" bIns="0" rtlCol="0" anchor="ctr"/>
          <a:lstStyle/>
          <a:p>
            <a:pPr algn="ctr" indent="0" marL="0">
              <a:buNone/>
            </a:pPr>
            <a:r>
              <a:rPr lang="en-US" sz="850" b="1"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Salon Privé Vins &amp; Terroirs — Lundi 5 octobre 2026</dc:title>
  <dc:subject>PptxGenJS Presentation</dc:subject>
  <dc:creator>Agence SCIO Vins &amp; Spirits</dc:creator>
  <cp:lastModifiedBy>Agence SCIO Vins &amp; Spirits</cp:lastModifiedBy>
  <cp:revision>1</cp:revision>
  <dcterms:created xsi:type="dcterms:W3CDTF">2026-10-03T14:05:46Z</dcterms:created>
  <dcterms:modified xsi:type="dcterms:W3CDTF">2026-10-03T14:05:46Z</dcterms:modified>
</cp:coreProperties>
</file>