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2.png"/><Relationship Id="rId14" Type="http://schemas.openxmlformats.org/officeDocument/2006/relationships/image" Target="../media/image-3-14.png"/><Relationship Id="rId15" Type="http://schemas.openxmlformats.org/officeDocument/2006/relationships/image" Target="../media/image-3-14.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slideLayout" Target="../slideLayouts/slideLayout1.xml"/><Relationship Id="rId1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4032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84000"/>
            <a:ext cx="3420000" cy="360000"/>
          </a:xfrm>
          <a:prstGeom prst="rect">
            <a:avLst/>
          </a:prstGeom>
          <a:noFill/>
          <a:ln/>
        </p:spPr>
        <p:txBody>
          <a:bodyPr wrap="square" lIns="0" tIns="0" rIns="0" bIns="0" rtlCol="0" anchor="ctr"/>
          <a:lstStyle/>
          <a:p>
            <a:pPr indent="0" marL="0">
              <a:buNone/>
            </a:pPr>
            <a:r>
              <a:rPr lang="en-US" sz="2400" dirty="0">
                <a:solidFill>
                  <a:srgbClr val="67067C"/>
                </a:solidFill>
                <a:latin typeface="Young Serif" pitchFamily="34" charset="0"/>
                <a:ea typeface="Young Serif" pitchFamily="34" charset="-122"/>
                <a:cs typeface="Young Serif" pitchFamily="34" charset="-120"/>
              </a:rPr>
              <a:t>Lundi 5 octobre 2026</a:t>
            </a:r>
            <a:endParaRPr lang="en-US" sz="2400" dirty="0"/>
          </a:p>
        </p:txBody>
      </p:sp>
      <p:sp>
        <p:nvSpPr>
          <p:cNvPr id="8" name="Text 4"/>
          <p:cNvSpPr/>
          <p:nvPr/>
        </p:nvSpPr>
        <p:spPr>
          <a:xfrm>
            <a:off x="612000" y="8280000"/>
            <a:ext cx="342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 PONT-SAINT-MARTIN</a:t>
            </a:r>
            <a:endParaRPr lang="en-US" sz="9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171</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pic>
        <p:nvPicPr>
          <p:cNvPr id="4" name="Image 0" descr="/home/user/philippe1/build/deco-salon-prive-2026/bande-loire.png">    </p:cNvPr>
          <p:cNvPicPr>
            <a:picLocks noChangeAspect="1"/>
          </p:cNvPicPr>
          <p:nvPr/>
        </p:nvPicPr>
        <p:blipFill>
          <a:blip r:embed="rId1"/>
          <a:stretch>
            <a:fillRect/>
          </a:stretch>
        </p:blipFill>
        <p:spPr>
          <a:xfrm>
            <a:off x="612000" y="1314000"/>
            <a:ext cx="2952000" cy="273600"/>
          </a:xfrm>
          <a:prstGeom prst="rect">
            <a:avLst/>
          </a:prstGeom>
        </p:spPr>
      </p:pic>
      <p:sp>
        <p:nvSpPr>
          <p:cNvPr id="5" name="Text 2"/>
          <p:cNvSpPr/>
          <p:nvPr/>
        </p:nvSpPr>
        <p:spPr>
          <a:xfrm>
            <a:off x="720000" y="1314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Loire</a:t>
            </a:r>
            <a:endParaRPr lang="en-US" sz="1300" dirty="0"/>
          </a:p>
        </p:txBody>
      </p:sp>
      <p:sp>
        <p:nvSpPr>
          <p:cNvPr id="6" name="Text 3"/>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7" name="Text 4"/>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5"/>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9" name="Shape 6"/>
          <p:cNvSpPr/>
          <p:nvPr/>
        </p:nvSpPr>
        <p:spPr>
          <a:xfrm>
            <a:off x="612000" y="1839600"/>
            <a:ext cx="2952000" cy="0"/>
          </a:xfrm>
          <a:prstGeom prst="line">
            <a:avLst/>
          </a:prstGeom>
          <a:noFill/>
          <a:ln w="3810">
            <a:solidFill>
              <a:srgbClr val="C9CFC9"/>
            </a:solidFill>
            <a:prstDash val="solid"/>
          </a:ln>
        </p:spPr>
      </p:sp>
      <p:sp>
        <p:nvSpPr>
          <p:cNvPr id="10" name="Text 7"/>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 name="Text 8"/>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9"/>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3" name="Shape 10"/>
          <p:cNvSpPr/>
          <p:nvPr/>
        </p:nvSpPr>
        <p:spPr>
          <a:xfrm>
            <a:off x="612000" y="2041200"/>
            <a:ext cx="2952000" cy="0"/>
          </a:xfrm>
          <a:prstGeom prst="line">
            <a:avLst/>
          </a:prstGeom>
          <a:noFill/>
          <a:ln w="3810">
            <a:solidFill>
              <a:srgbClr val="C9CFC9"/>
            </a:solidFill>
            <a:prstDash val="solid"/>
          </a:ln>
        </p:spPr>
      </p:sp>
      <p:sp>
        <p:nvSpPr>
          <p:cNvPr id="14" name="Text 11"/>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5" name="Text 12"/>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3"/>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17" name="Shape 14"/>
          <p:cNvSpPr/>
          <p:nvPr/>
        </p:nvSpPr>
        <p:spPr>
          <a:xfrm>
            <a:off x="612000" y="2242800"/>
            <a:ext cx="2952000" cy="0"/>
          </a:xfrm>
          <a:prstGeom prst="line">
            <a:avLst/>
          </a:prstGeom>
          <a:noFill/>
          <a:ln w="3810">
            <a:solidFill>
              <a:srgbClr val="C9CFC9"/>
            </a:solidFill>
            <a:prstDash val="solid"/>
          </a:ln>
        </p:spPr>
      </p:sp>
      <p:sp>
        <p:nvSpPr>
          <p:cNvPr id="18" name="Text 15"/>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19" name="Text 16"/>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7"/>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1" name="Shape 18"/>
          <p:cNvSpPr/>
          <p:nvPr/>
        </p:nvSpPr>
        <p:spPr>
          <a:xfrm>
            <a:off x="612000" y="2444400"/>
            <a:ext cx="2952000" cy="0"/>
          </a:xfrm>
          <a:prstGeom prst="line">
            <a:avLst/>
          </a:prstGeom>
          <a:noFill/>
          <a:ln w="3810">
            <a:solidFill>
              <a:srgbClr val="C9CFC9"/>
            </a:solidFill>
            <a:prstDash val="solid"/>
          </a:ln>
        </p:spPr>
      </p:sp>
      <p:sp>
        <p:nvSpPr>
          <p:cNvPr id="22" name="Text 19"/>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3" name="Text 20"/>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1"/>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5" name="Shape 22"/>
          <p:cNvSpPr/>
          <p:nvPr/>
        </p:nvSpPr>
        <p:spPr>
          <a:xfrm>
            <a:off x="612000" y="2646000"/>
            <a:ext cx="2952000" cy="0"/>
          </a:xfrm>
          <a:prstGeom prst="line">
            <a:avLst/>
          </a:prstGeom>
          <a:noFill/>
          <a:ln w="3810">
            <a:solidFill>
              <a:srgbClr val="C9CFC9"/>
            </a:solidFill>
            <a:prstDash val="solid"/>
          </a:ln>
        </p:spPr>
      </p:sp>
      <p:sp>
        <p:nvSpPr>
          <p:cNvPr id="26" name="Text 23"/>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7" name="Text 24"/>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5"/>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29" name="Shape 26"/>
          <p:cNvSpPr/>
          <p:nvPr/>
        </p:nvSpPr>
        <p:spPr>
          <a:xfrm>
            <a:off x="612000" y="2847600"/>
            <a:ext cx="2952000" cy="0"/>
          </a:xfrm>
          <a:prstGeom prst="line">
            <a:avLst/>
          </a:prstGeom>
          <a:noFill/>
          <a:ln w="3810">
            <a:solidFill>
              <a:srgbClr val="C9CFC9"/>
            </a:solidFill>
            <a:prstDash val="solid"/>
          </a:ln>
        </p:spPr>
      </p:sp>
      <p:pic>
        <p:nvPicPr>
          <p:cNvPr id="30" name="Image 1" descr="/home/user/philippe1/build/deco-salon-prive-2026/bande-alsace.png">    </p:cNvPr>
          <p:cNvPicPr>
            <a:picLocks noChangeAspect="1"/>
          </p:cNvPicPr>
          <p:nvPr/>
        </p:nvPicPr>
        <p:blipFill>
          <a:blip r:embed="rId2"/>
          <a:stretch>
            <a:fillRect/>
          </a:stretch>
        </p:blipFill>
        <p:spPr>
          <a:xfrm>
            <a:off x="612000" y="2998800"/>
            <a:ext cx="2952000" cy="273600"/>
          </a:xfrm>
          <a:prstGeom prst="rect">
            <a:avLst/>
          </a:prstGeom>
        </p:spPr>
      </p:pic>
      <p:sp>
        <p:nvSpPr>
          <p:cNvPr id="31" name="Text 27"/>
          <p:cNvSpPr/>
          <p:nvPr/>
        </p:nvSpPr>
        <p:spPr>
          <a:xfrm>
            <a:off x="720000" y="2998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Alsace</a:t>
            </a:r>
            <a:endParaRPr lang="en-US" sz="1300" dirty="0"/>
          </a:p>
        </p:txBody>
      </p:sp>
      <p:sp>
        <p:nvSpPr>
          <p:cNvPr id="32" name="Text 28"/>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3" name="Text 29"/>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4" name="Text 30"/>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35" name="Shape 31"/>
          <p:cNvSpPr/>
          <p:nvPr/>
        </p:nvSpPr>
        <p:spPr>
          <a:xfrm>
            <a:off x="612000" y="3524400"/>
            <a:ext cx="2952000" cy="0"/>
          </a:xfrm>
          <a:prstGeom prst="line">
            <a:avLst/>
          </a:prstGeom>
          <a:noFill/>
          <a:ln w="3810">
            <a:solidFill>
              <a:srgbClr val="C9CFC9"/>
            </a:solidFill>
            <a:prstDash val="solid"/>
          </a:ln>
        </p:spPr>
      </p:sp>
      <p:pic>
        <p:nvPicPr>
          <p:cNvPr id="36" name="Image 2" descr="/home/user/philippe1/build/deco-salon-prive-2026/bande-bourgogne.png">    </p:cNvPr>
          <p:cNvPicPr>
            <a:picLocks noChangeAspect="1"/>
          </p:cNvPicPr>
          <p:nvPr/>
        </p:nvPicPr>
        <p:blipFill>
          <a:blip r:embed="rId3"/>
          <a:stretch>
            <a:fillRect/>
          </a:stretch>
        </p:blipFill>
        <p:spPr>
          <a:xfrm>
            <a:off x="612000" y="3675600"/>
            <a:ext cx="2952000" cy="273600"/>
          </a:xfrm>
          <a:prstGeom prst="rect">
            <a:avLst/>
          </a:prstGeom>
        </p:spPr>
      </p:pic>
      <p:sp>
        <p:nvSpPr>
          <p:cNvPr id="37" name="Text 32"/>
          <p:cNvSpPr/>
          <p:nvPr/>
        </p:nvSpPr>
        <p:spPr>
          <a:xfrm>
            <a:off x="720000" y="36756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Bourgogne</a:t>
            </a:r>
            <a:endParaRPr lang="en-US" sz="1300" dirty="0"/>
          </a:p>
        </p:txBody>
      </p:sp>
      <p:sp>
        <p:nvSpPr>
          <p:cNvPr id="38" name="Text 33"/>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39" name="Text 34"/>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0" name="Text 35"/>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41" name="Shape 36"/>
          <p:cNvSpPr/>
          <p:nvPr/>
        </p:nvSpPr>
        <p:spPr>
          <a:xfrm>
            <a:off x="612000" y="4201200"/>
            <a:ext cx="2952000" cy="0"/>
          </a:xfrm>
          <a:prstGeom prst="line">
            <a:avLst/>
          </a:prstGeom>
          <a:noFill/>
          <a:ln w="3810">
            <a:solidFill>
              <a:srgbClr val="C9CFC9"/>
            </a:solidFill>
            <a:prstDash val="solid"/>
          </a:ln>
        </p:spPr>
      </p:sp>
      <p:sp>
        <p:nvSpPr>
          <p:cNvPr id="42" name="Text 37"/>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3" name="Text 38"/>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4" name="Text 39"/>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45" name="Shape 40"/>
          <p:cNvSpPr/>
          <p:nvPr/>
        </p:nvSpPr>
        <p:spPr>
          <a:xfrm>
            <a:off x="612000" y="4402800"/>
            <a:ext cx="2952000" cy="0"/>
          </a:xfrm>
          <a:prstGeom prst="line">
            <a:avLst/>
          </a:prstGeom>
          <a:noFill/>
          <a:ln w="3810">
            <a:solidFill>
              <a:srgbClr val="C9CFC9"/>
            </a:solidFill>
            <a:prstDash val="solid"/>
          </a:ln>
        </p:spPr>
      </p:sp>
      <p:sp>
        <p:nvSpPr>
          <p:cNvPr id="46" name="Text 41"/>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7" name="Text 42"/>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48" name="Text 43"/>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49" name="Shape 44"/>
          <p:cNvSpPr/>
          <p:nvPr/>
        </p:nvSpPr>
        <p:spPr>
          <a:xfrm>
            <a:off x="612000" y="4604400"/>
            <a:ext cx="2952000" cy="0"/>
          </a:xfrm>
          <a:prstGeom prst="line">
            <a:avLst/>
          </a:prstGeom>
          <a:noFill/>
          <a:ln w="3810">
            <a:solidFill>
              <a:srgbClr val="C9CFC9"/>
            </a:solidFill>
            <a:prstDash val="solid"/>
          </a:ln>
        </p:spPr>
      </p:sp>
      <p:sp>
        <p:nvSpPr>
          <p:cNvPr id="50" name="Text 45"/>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1" name="Text 46"/>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2" name="Text 47"/>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53" name="Shape 48"/>
          <p:cNvSpPr/>
          <p:nvPr/>
        </p:nvSpPr>
        <p:spPr>
          <a:xfrm>
            <a:off x="612000" y="4806000"/>
            <a:ext cx="2952000" cy="0"/>
          </a:xfrm>
          <a:prstGeom prst="line">
            <a:avLst/>
          </a:prstGeom>
          <a:noFill/>
          <a:ln w="3810">
            <a:solidFill>
              <a:srgbClr val="C9CFC9"/>
            </a:solidFill>
            <a:prstDash val="solid"/>
          </a:ln>
        </p:spPr>
      </p:sp>
      <p:sp>
        <p:nvSpPr>
          <p:cNvPr id="54" name="Text 49"/>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5" name="Text 50"/>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6" name="Text 51"/>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57" name="Shape 52"/>
          <p:cNvSpPr/>
          <p:nvPr/>
        </p:nvSpPr>
        <p:spPr>
          <a:xfrm>
            <a:off x="612000" y="5007600"/>
            <a:ext cx="2952000" cy="0"/>
          </a:xfrm>
          <a:prstGeom prst="line">
            <a:avLst/>
          </a:prstGeom>
          <a:noFill/>
          <a:ln w="3810">
            <a:solidFill>
              <a:srgbClr val="C9CFC9"/>
            </a:solidFill>
            <a:prstDash val="solid"/>
          </a:ln>
        </p:spPr>
      </p:sp>
      <p:pic>
        <p:nvPicPr>
          <p:cNvPr id="58" name="Image 3" descr="/home/user/philippe1/build/deco-salon-prive-2026/bande-rhone.png">    </p:cNvPr>
          <p:cNvPicPr>
            <a:picLocks noChangeAspect="1"/>
          </p:cNvPicPr>
          <p:nvPr/>
        </p:nvPicPr>
        <p:blipFill>
          <a:blip r:embed="rId4"/>
          <a:stretch>
            <a:fillRect/>
          </a:stretch>
        </p:blipFill>
        <p:spPr>
          <a:xfrm>
            <a:off x="612000" y="5158800"/>
            <a:ext cx="2952000" cy="273600"/>
          </a:xfrm>
          <a:prstGeom prst="rect">
            <a:avLst/>
          </a:prstGeom>
        </p:spPr>
      </p:pic>
      <p:sp>
        <p:nvSpPr>
          <p:cNvPr id="59" name="Text 53"/>
          <p:cNvSpPr/>
          <p:nvPr/>
        </p:nvSpPr>
        <p:spPr>
          <a:xfrm>
            <a:off x="720000" y="5158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Rhône</a:t>
            </a:r>
            <a:endParaRPr lang="en-US" sz="1300" dirty="0"/>
          </a:p>
        </p:txBody>
      </p:sp>
      <p:sp>
        <p:nvSpPr>
          <p:cNvPr id="60" name="Text 54"/>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1" name="Text 55"/>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2" name="Text 56"/>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63" name="Shape 57"/>
          <p:cNvSpPr/>
          <p:nvPr/>
        </p:nvSpPr>
        <p:spPr>
          <a:xfrm>
            <a:off x="612000" y="5684400"/>
            <a:ext cx="2952000" cy="0"/>
          </a:xfrm>
          <a:prstGeom prst="line">
            <a:avLst/>
          </a:prstGeom>
          <a:noFill/>
          <a:ln w="3810">
            <a:solidFill>
              <a:srgbClr val="C9CFC9"/>
            </a:solidFill>
            <a:prstDash val="solid"/>
          </a:ln>
        </p:spPr>
      </p:sp>
      <p:sp>
        <p:nvSpPr>
          <p:cNvPr id="64" name="Text 58"/>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59"/>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66" name="Text 60"/>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67" name="Shape 61"/>
          <p:cNvSpPr/>
          <p:nvPr/>
        </p:nvSpPr>
        <p:spPr>
          <a:xfrm>
            <a:off x="612000" y="5886000"/>
            <a:ext cx="2952000" cy="0"/>
          </a:xfrm>
          <a:prstGeom prst="line">
            <a:avLst/>
          </a:prstGeom>
          <a:noFill/>
          <a:ln w="3810">
            <a:solidFill>
              <a:srgbClr val="C9CFC9"/>
            </a:solidFill>
            <a:prstDash val="solid"/>
          </a:ln>
        </p:spPr>
      </p:sp>
      <p:sp>
        <p:nvSpPr>
          <p:cNvPr id="68" name="Text 62"/>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3"/>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0" name="Text 64"/>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71" name="Shape 65"/>
          <p:cNvSpPr/>
          <p:nvPr/>
        </p:nvSpPr>
        <p:spPr>
          <a:xfrm>
            <a:off x="612000" y="6087600"/>
            <a:ext cx="2952000" cy="0"/>
          </a:xfrm>
          <a:prstGeom prst="line">
            <a:avLst/>
          </a:prstGeom>
          <a:noFill/>
          <a:ln w="3810">
            <a:solidFill>
              <a:srgbClr val="C9CFC9"/>
            </a:solidFill>
            <a:prstDash val="solid"/>
          </a:ln>
        </p:spPr>
      </p:sp>
      <p:sp>
        <p:nvSpPr>
          <p:cNvPr id="72" name="Text 66"/>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67"/>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4" name="Text 68"/>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75" name="Shape 69"/>
          <p:cNvSpPr/>
          <p:nvPr/>
        </p:nvSpPr>
        <p:spPr>
          <a:xfrm>
            <a:off x="612000" y="6289200"/>
            <a:ext cx="2952000" cy="0"/>
          </a:xfrm>
          <a:prstGeom prst="line">
            <a:avLst/>
          </a:prstGeom>
          <a:noFill/>
          <a:ln w="3810">
            <a:solidFill>
              <a:srgbClr val="C9CFC9"/>
            </a:solidFill>
            <a:prstDash val="solid"/>
          </a:ln>
        </p:spPr>
      </p:sp>
      <p:sp>
        <p:nvSpPr>
          <p:cNvPr id="76" name="Text 70"/>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77" name="Text 71"/>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78" name="Text 72"/>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79" name="Shape 73"/>
          <p:cNvSpPr/>
          <p:nvPr/>
        </p:nvSpPr>
        <p:spPr>
          <a:xfrm>
            <a:off x="612000" y="6490800"/>
            <a:ext cx="2952000" cy="0"/>
          </a:xfrm>
          <a:prstGeom prst="line">
            <a:avLst/>
          </a:prstGeom>
          <a:noFill/>
          <a:ln w="3810">
            <a:solidFill>
              <a:srgbClr val="C9CFC9"/>
            </a:solidFill>
            <a:prstDash val="solid"/>
          </a:ln>
        </p:spPr>
      </p:sp>
      <p:pic>
        <p:nvPicPr>
          <p:cNvPr id="80" name="Image 4" descr="/home/user/philippe1/build/deco-salon-prive-2026/bande-sud-ouest.png">    </p:cNvPr>
          <p:cNvPicPr>
            <a:picLocks noChangeAspect="1"/>
          </p:cNvPicPr>
          <p:nvPr/>
        </p:nvPicPr>
        <p:blipFill>
          <a:blip r:embed="rId5"/>
          <a:stretch>
            <a:fillRect/>
          </a:stretch>
        </p:blipFill>
        <p:spPr>
          <a:xfrm>
            <a:off x="3780000" y="1314000"/>
            <a:ext cx="2952000" cy="273600"/>
          </a:xfrm>
          <a:prstGeom prst="rect">
            <a:avLst/>
          </a:prstGeom>
        </p:spPr>
      </p:pic>
      <p:sp>
        <p:nvSpPr>
          <p:cNvPr id="81" name="Text 74"/>
          <p:cNvSpPr/>
          <p:nvPr/>
        </p:nvSpPr>
        <p:spPr>
          <a:xfrm>
            <a:off x="3888000" y="1314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Sud-Ouest</a:t>
            </a:r>
            <a:endParaRPr lang="en-US" sz="1300" dirty="0"/>
          </a:p>
        </p:txBody>
      </p:sp>
      <p:sp>
        <p:nvSpPr>
          <p:cNvPr id="82" name="Text 7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3" name="Text 7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4" name="Text 7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85" name="Shape 78"/>
          <p:cNvSpPr/>
          <p:nvPr/>
        </p:nvSpPr>
        <p:spPr>
          <a:xfrm>
            <a:off x="3780000" y="1839600"/>
            <a:ext cx="2952000" cy="0"/>
          </a:xfrm>
          <a:prstGeom prst="line">
            <a:avLst/>
          </a:prstGeom>
          <a:noFill/>
          <a:ln w="3810">
            <a:solidFill>
              <a:srgbClr val="C9CFC9"/>
            </a:solidFill>
            <a:prstDash val="solid"/>
          </a:ln>
        </p:spPr>
      </p:sp>
      <p:sp>
        <p:nvSpPr>
          <p:cNvPr id="86" name="Text 7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87" name="Text 8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88" name="Text 8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89" name="Shape 82"/>
          <p:cNvSpPr/>
          <p:nvPr/>
        </p:nvSpPr>
        <p:spPr>
          <a:xfrm>
            <a:off x="3780000" y="2041200"/>
            <a:ext cx="2952000" cy="0"/>
          </a:xfrm>
          <a:prstGeom prst="line">
            <a:avLst/>
          </a:prstGeom>
          <a:noFill/>
          <a:ln w="3810">
            <a:solidFill>
              <a:srgbClr val="C9CFC9"/>
            </a:solidFill>
            <a:prstDash val="solid"/>
          </a:ln>
        </p:spPr>
      </p:sp>
      <p:pic>
        <p:nvPicPr>
          <p:cNvPr id="90" name="Image 5" descr="/home/user/philippe1/build/deco-salon-prive-2026/bande-bordeaux.png">    </p:cNvPr>
          <p:cNvPicPr>
            <a:picLocks noChangeAspect="1"/>
          </p:cNvPicPr>
          <p:nvPr/>
        </p:nvPicPr>
        <p:blipFill>
          <a:blip r:embed="rId6"/>
          <a:stretch>
            <a:fillRect/>
          </a:stretch>
        </p:blipFill>
        <p:spPr>
          <a:xfrm>
            <a:off x="3780000" y="2192400"/>
            <a:ext cx="2952000" cy="273600"/>
          </a:xfrm>
          <a:prstGeom prst="rect">
            <a:avLst/>
          </a:prstGeom>
        </p:spPr>
      </p:pic>
      <p:sp>
        <p:nvSpPr>
          <p:cNvPr id="91" name="Text 83"/>
          <p:cNvSpPr/>
          <p:nvPr/>
        </p:nvSpPr>
        <p:spPr>
          <a:xfrm>
            <a:off x="3888000" y="21924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Bordeaux</a:t>
            </a:r>
            <a:endParaRPr lang="en-US" sz="1300" dirty="0"/>
          </a:p>
        </p:txBody>
      </p:sp>
      <p:sp>
        <p:nvSpPr>
          <p:cNvPr id="92" name="Text 84"/>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3" name="Text 85"/>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94" name="Text 86"/>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95" name="Shape 87"/>
          <p:cNvSpPr/>
          <p:nvPr/>
        </p:nvSpPr>
        <p:spPr>
          <a:xfrm>
            <a:off x="3780000" y="2718000"/>
            <a:ext cx="2952000" cy="0"/>
          </a:xfrm>
          <a:prstGeom prst="line">
            <a:avLst/>
          </a:prstGeom>
          <a:noFill/>
          <a:ln w="3810">
            <a:solidFill>
              <a:srgbClr val="C9CFC9"/>
            </a:solidFill>
            <a:prstDash val="solid"/>
          </a:ln>
        </p:spPr>
      </p:sp>
      <p:sp>
        <p:nvSpPr>
          <p:cNvPr id="96" name="Text 88"/>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97" name="Text 89"/>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98" name="Text 90"/>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99" name="Shape 91"/>
          <p:cNvSpPr/>
          <p:nvPr/>
        </p:nvSpPr>
        <p:spPr>
          <a:xfrm>
            <a:off x="3780000" y="2919600"/>
            <a:ext cx="2952000" cy="0"/>
          </a:xfrm>
          <a:prstGeom prst="line">
            <a:avLst/>
          </a:prstGeom>
          <a:noFill/>
          <a:ln w="3810">
            <a:solidFill>
              <a:srgbClr val="C9CFC9"/>
            </a:solidFill>
            <a:prstDash val="solid"/>
          </a:ln>
        </p:spPr>
      </p:sp>
      <p:sp>
        <p:nvSpPr>
          <p:cNvPr id="100" name="Text 92"/>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1" name="Text 93"/>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2" name="Text 94"/>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03" name="Shape 95"/>
          <p:cNvSpPr/>
          <p:nvPr/>
        </p:nvSpPr>
        <p:spPr>
          <a:xfrm>
            <a:off x="3780000" y="3121200"/>
            <a:ext cx="2952000" cy="0"/>
          </a:xfrm>
          <a:prstGeom prst="line">
            <a:avLst/>
          </a:prstGeom>
          <a:noFill/>
          <a:ln w="3810">
            <a:solidFill>
              <a:srgbClr val="C9CFC9"/>
            </a:solidFill>
            <a:prstDash val="solid"/>
          </a:ln>
        </p:spPr>
      </p:sp>
      <p:sp>
        <p:nvSpPr>
          <p:cNvPr id="104" name="Text 96"/>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05" name="Text 97"/>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06" name="Text 98"/>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07" name="Shape 99"/>
          <p:cNvSpPr/>
          <p:nvPr/>
        </p:nvSpPr>
        <p:spPr>
          <a:xfrm>
            <a:off x="3780000" y="3322800"/>
            <a:ext cx="2952000" cy="0"/>
          </a:xfrm>
          <a:prstGeom prst="line">
            <a:avLst/>
          </a:prstGeom>
          <a:noFill/>
          <a:ln w="3810">
            <a:solidFill>
              <a:srgbClr val="C9CFC9"/>
            </a:solidFill>
            <a:prstDash val="solid"/>
          </a:ln>
        </p:spPr>
      </p:sp>
      <p:pic>
        <p:nvPicPr>
          <p:cNvPr id="108" name="Image 6" descr="/home/user/philippe1/build/deco-salon-prive-2026/bande-provence.png">    </p:cNvPr>
          <p:cNvPicPr>
            <a:picLocks noChangeAspect="1"/>
          </p:cNvPicPr>
          <p:nvPr/>
        </p:nvPicPr>
        <p:blipFill>
          <a:blip r:embed="rId7"/>
          <a:stretch>
            <a:fillRect/>
          </a:stretch>
        </p:blipFill>
        <p:spPr>
          <a:xfrm>
            <a:off x="3780000" y="3474000"/>
            <a:ext cx="2952000" cy="273600"/>
          </a:xfrm>
          <a:prstGeom prst="rect">
            <a:avLst/>
          </a:prstGeom>
        </p:spPr>
      </p:pic>
      <p:sp>
        <p:nvSpPr>
          <p:cNvPr id="109" name="Text 100"/>
          <p:cNvSpPr/>
          <p:nvPr/>
        </p:nvSpPr>
        <p:spPr>
          <a:xfrm>
            <a:off x="3888000" y="3474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Provence</a:t>
            </a:r>
            <a:endParaRPr lang="en-US" sz="1300" dirty="0"/>
          </a:p>
        </p:txBody>
      </p:sp>
      <p:sp>
        <p:nvSpPr>
          <p:cNvPr id="110" name="Text 101"/>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1" name="Text 102"/>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2" name="Text 103"/>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13" name="Shape 104"/>
          <p:cNvSpPr/>
          <p:nvPr/>
        </p:nvSpPr>
        <p:spPr>
          <a:xfrm>
            <a:off x="3780000" y="3999600"/>
            <a:ext cx="2952000" cy="0"/>
          </a:xfrm>
          <a:prstGeom prst="line">
            <a:avLst/>
          </a:prstGeom>
          <a:noFill/>
          <a:ln w="3810">
            <a:solidFill>
              <a:srgbClr val="C9CFC9"/>
            </a:solidFill>
            <a:prstDash val="solid"/>
          </a:ln>
        </p:spPr>
      </p:sp>
      <p:pic>
        <p:nvPicPr>
          <p:cNvPr id="114" name="Image 7" descr="/home/user/philippe1/build/deco-salon-prive-2026/bande-languedoc.png">    </p:cNvPr>
          <p:cNvPicPr>
            <a:picLocks noChangeAspect="1"/>
          </p:cNvPicPr>
          <p:nvPr/>
        </p:nvPicPr>
        <p:blipFill>
          <a:blip r:embed="rId8"/>
          <a:stretch>
            <a:fillRect/>
          </a:stretch>
        </p:blipFill>
        <p:spPr>
          <a:xfrm>
            <a:off x="3780000" y="4150800"/>
            <a:ext cx="2952000" cy="273600"/>
          </a:xfrm>
          <a:prstGeom prst="rect">
            <a:avLst/>
          </a:prstGeom>
        </p:spPr>
      </p:pic>
      <p:sp>
        <p:nvSpPr>
          <p:cNvPr id="115" name="Text 105"/>
          <p:cNvSpPr/>
          <p:nvPr/>
        </p:nvSpPr>
        <p:spPr>
          <a:xfrm>
            <a:off x="3888000" y="4150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Languedoc</a:t>
            </a:r>
            <a:endParaRPr lang="en-US" sz="1300" dirty="0"/>
          </a:p>
        </p:txBody>
      </p:sp>
      <p:sp>
        <p:nvSpPr>
          <p:cNvPr id="116" name="Text 106"/>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17" name="Text 107"/>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18" name="Text 108"/>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19" name="Shape 109"/>
          <p:cNvSpPr/>
          <p:nvPr/>
        </p:nvSpPr>
        <p:spPr>
          <a:xfrm>
            <a:off x="3780000" y="4676400"/>
            <a:ext cx="2952000" cy="0"/>
          </a:xfrm>
          <a:prstGeom prst="line">
            <a:avLst/>
          </a:prstGeom>
          <a:noFill/>
          <a:ln w="3810">
            <a:solidFill>
              <a:srgbClr val="C9CFC9"/>
            </a:solidFill>
            <a:prstDash val="solid"/>
          </a:ln>
        </p:spPr>
      </p:sp>
      <p:sp>
        <p:nvSpPr>
          <p:cNvPr id="120" name="Text 110"/>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21" name="Text 111"/>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22" name="Text 112"/>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23" name="Shape 113"/>
          <p:cNvSpPr/>
          <p:nvPr/>
        </p:nvSpPr>
        <p:spPr>
          <a:xfrm>
            <a:off x="3780000" y="4878000"/>
            <a:ext cx="2952000" cy="0"/>
          </a:xfrm>
          <a:prstGeom prst="line">
            <a:avLst/>
          </a:prstGeom>
          <a:noFill/>
          <a:ln w="3810">
            <a:solidFill>
              <a:srgbClr val="C9CFC9"/>
            </a:solidFill>
            <a:prstDash val="solid"/>
          </a:ln>
        </p:spPr>
      </p:sp>
      <p:sp>
        <p:nvSpPr>
          <p:cNvPr id="124" name="Text 114"/>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25" name="Text 115"/>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26" name="Text 116"/>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27" name="Shape 117"/>
          <p:cNvSpPr/>
          <p:nvPr/>
        </p:nvSpPr>
        <p:spPr>
          <a:xfrm>
            <a:off x="3780000" y="5079600"/>
            <a:ext cx="2952000" cy="0"/>
          </a:xfrm>
          <a:prstGeom prst="line">
            <a:avLst/>
          </a:prstGeom>
          <a:noFill/>
          <a:ln w="3810">
            <a:solidFill>
              <a:srgbClr val="C9CFC9"/>
            </a:solidFill>
            <a:prstDash val="solid"/>
          </a:ln>
        </p:spPr>
      </p:sp>
      <p:pic>
        <p:nvPicPr>
          <p:cNvPr id="128" name="Image 8" descr="/home/user/philippe1/build/deco-salon-prive-2026/bande-champagne.png">    </p:cNvPr>
          <p:cNvPicPr>
            <a:picLocks noChangeAspect="1"/>
          </p:cNvPicPr>
          <p:nvPr/>
        </p:nvPicPr>
        <p:blipFill>
          <a:blip r:embed="rId9"/>
          <a:stretch>
            <a:fillRect/>
          </a:stretch>
        </p:blipFill>
        <p:spPr>
          <a:xfrm>
            <a:off x="3780000" y="5230800"/>
            <a:ext cx="2952000" cy="273600"/>
          </a:xfrm>
          <a:prstGeom prst="rect">
            <a:avLst/>
          </a:prstGeom>
        </p:spPr>
      </p:pic>
      <p:sp>
        <p:nvSpPr>
          <p:cNvPr id="129" name="Text 118"/>
          <p:cNvSpPr/>
          <p:nvPr/>
        </p:nvSpPr>
        <p:spPr>
          <a:xfrm>
            <a:off x="3888000" y="5230800"/>
            <a:ext cx="2736000" cy="273600"/>
          </a:xfrm>
          <a:prstGeom prst="rect">
            <a:avLst/>
          </a:prstGeom>
          <a:noFill/>
          <a:ln/>
        </p:spPr>
        <p:txBody>
          <a:bodyPr wrap="square" lIns="0" tIns="0" rIns="0" bIns="0" rtlCol="0" anchor="ctr"/>
          <a:lstStyle/>
          <a:p>
            <a:pPr indent="0" marL="0">
              <a:buNone/>
            </a:pPr>
            <a:r>
              <a:rPr lang="en-US" sz="1300" dirty="0">
                <a:solidFill>
                  <a:srgbClr val="46606E"/>
                </a:solidFill>
                <a:latin typeface="Young Serif" pitchFamily="34" charset="0"/>
                <a:ea typeface="Young Serif" pitchFamily="34" charset="-122"/>
                <a:cs typeface="Young Serif" pitchFamily="34" charset="-120"/>
              </a:rPr>
              <a:t>Champagne</a:t>
            </a:r>
            <a:endParaRPr lang="en-US" sz="1300" dirty="0"/>
          </a:p>
        </p:txBody>
      </p:sp>
      <p:sp>
        <p:nvSpPr>
          <p:cNvPr id="130" name="Text 119"/>
          <p:cNvSpPr/>
          <p:nvPr/>
        </p:nvSpPr>
        <p:spPr>
          <a:xfrm>
            <a:off x="3780000" y="555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31" name="Text 120"/>
          <p:cNvSpPr/>
          <p:nvPr/>
        </p:nvSpPr>
        <p:spPr>
          <a:xfrm>
            <a:off x="4086000" y="555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32" name="Text 121"/>
          <p:cNvSpPr/>
          <p:nvPr/>
        </p:nvSpPr>
        <p:spPr>
          <a:xfrm>
            <a:off x="6372000" y="555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33" name="Shape 122"/>
          <p:cNvSpPr/>
          <p:nvPr/>
        </p:nvSpPr>
        <p:spPr>
          <a:xfrm>
            <a:off x="3780000" y="5756400"/>
            <a:ext cx="2952000" cy="0"/>
          </a:xfrm>
          <a:prstGeom prst="line">
            <a:avLst/>
          </a:prstGeom>
          <a:noFill/>
          <a:ln w="3810">
            <a:solidFill>
              <a:srgbClr val="C9CFC9"/>
            </a:solidFill>
            <a:prstDash val="solid"/>
          </a:ln>
        </p:spPr>
      </p:sp>
      <p:sp>
        <p:nvSpPr>
          <p:cNvPr id="134" name="Text 123"/>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35" name="Text 124"/>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36" name="Text 125"/>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37" name="Shape 126"/>
          <p:cNvSpPr/>
          <p:nvPr/>
        </p:nvSpPr>
        <p:spPr>
          <a:xfrm>
            <a:off x="3780000" y="5958000"/>
            <a:ext cx="2952000" cy="0"/>
          </a:xfrm>
          <a:prstGeom prst="line">
            <a:avLst/>
          </a:prstGeom>
          <a:noFill/>
          <a:ln w="3810">
            <a:solidFill>
              <a:srgbClr val="C9CFC9"/>
            </a:solidFill>
            <a:prstDash val="solid"/>
          </a:ln>
        </p:spPr>
      </p:sp>
      <p:sp>
        <p:nvSpPr>
          <p:cNvPr id="138" name="Text 127"/>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39" name="Text 128"/>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40" name="Text 129"/>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41" name="Shape 130"/>
          <p:cNvSpPr/>
          <p:nvPr/>
        </p:nvSpPr>
        <p:spPr>
          <a:xfrm>
            <a:off x="3780000" y="6159600"/>
            <a:ext cx="2952000" cy="0"/>
          </a:xfrm>
          <a:prstGeom prst="line">
            <a:avLst/>
          </a:prstGeom>
          <a:noFill/>
          <a:ln w="3810">
            <a:solidFill>
              <a:srgbClr val="C9CFC9"/>
            </a:solidFill>
            <a:prstDash val="solid"/>
          </a:ln>
        </p:spPr>
      </p:sp>
      <p:sp>
        <p:nvSpPr>
          <p:cNvPr id="142" name="Text 131"/>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43" name="Text 132"/>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44" name="Text 133"/>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45" name="Shape 134"/>
          <p:cNvSpPr/>
          <p:nvPr/>
        </p:nvSpPr>
        <p:spPr>
          <a:xfrm>
            <a:off x="3780000" y="6361200"/>
            <a:ext cx="2952000" cy="0"/>
          </a:xfrm>
          <a:prstGeom prst="line">
            <a:avLst/>
          </a:prstGeom>
          <a:noFill/>
          <a:ln w="3810">
            <a:solidFill>
              <a:srgbClr val="C9CFC9"/>
            </a:solidFill>
            <a:prstDash val="solid"/>
          </a:ln>
        </p:spPr>
      </p:sp>
      <p:sp>
        <p:nvSpPr>
          <p:cNvPr id="146" name="Shape 135"/>
          <p:cNvSpPr/>
          <p:nvPr/>
        </p:nvSpPr>
        <p:spPr>
          <a:xfrm>
            <a:off x="612000" y="8280000"/>
            <a:ext cx="6120000" cy="0"/>
          </a:xfrm>
          <a:prstGeom prst="line">
            <a:avLst/>
          </a:prstGeom>
          <a:noFill/>
          <a:ln w="10160">
            <a:solidFill>
              <a:srgbClr val="67067C"/>
            </a:solidFill>
            <a:prstDash val="solid"/>
          </a:ln>
        </p:spPr>
      </p:sp>
      <p:sp>
        <p:nvSpPr>
          <p:cNvPr id="147" name="Text 13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48" name="Text 13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49" name="Image 9" descr="/home/user/philippe1/build/deco-salon-prive-2026/label-bio.png">    </p:cNvPr>
          <p:cNvPicPr>
            <a:picLocks noChangeAspect="1"/>
          </p:cNvPicPr>
          <p:nvPr/>
        </p:nvPicPr>
        <p:blipFill>
          <a:blip r:embed="rId10"/>
          <a:stretch>
            <a:fillRect/>
          </a:stretch>
        </p:blipFill>
        <p:spPr>
          <a:xfrm>
            <a:off x="1080000" y="8559000"/>
            <a:ext cx="108000" cy="108000"/>
          </a:xfrm>
          <a:prstGeom prst="rect">
            <a:avLst/>
          </a:prstGeom>
        </p:spPr>
      </p:pic>
      <p:sp>
        <p:nvSpPr>
          <p:cNvPr id="150" name="Text 13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51" name="Image 10" descr="/home/user/philippe1/build/deco-salon-prive-2026/label-conversion.png">    </p:cNvPr>
          <p:cNvPicPr>
            <a:picLocks noChangeAspect="1"/>
          </p:cNvPicPr>
          <p:nvPr/>
        </p:nvPicPr>
        <p:blipFill>
          <a:blip r:embed="rId11"/>
          <a:stretch>
            <a:fillRect/>
          </a:stretch>
        </p:blipFill>
        <p:spPr>
          <a:xfrm>
            <a:off x="1527093" y="8559000"/>
            <a:ext cx="108000" cy="108000"/>
          </a:xfrm>
          <a:prstGeom prst="rect">
            <a:avLst/>
          </a:prstGeom>
        </p:spPr>
      </p:pic>
      <p:sp>
        <p:nvSpPr>
          <p:cNvPr id="152" name="Text 13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53" name="Image 11" descr="/home/user/philippe1/build/deco-salon-prive-2026/label-biobiodyn.png">    </p:cNvPr>
          <p:cNvPicPr>
            <a:picLocks noChangeAspect="1"/>
          </p:cNvPicPr>
          <p:nvPr/>
        </p:nvPicPr>
        <p:blipFill>
          <a:blip r:embed="rId12"/>
          <a:stretch>
            <a:fillRect/>
          </a:stretch>
        </p:blipFill>
        <p:spPr>
          <a:xfrm>
            <a:off x="2587593" y="8559000"/>
            <a:ext cx="108000" cy="108000"/>
          </a:xfrm>
          <a:prstGeom prst="rect">
            <a:avLst/>
          </a:prstGeom>
        </p:spPr>
      </p:pic>
      <p:sp>
        <p:nvSpPr>
          <p:cNvPr id="154" name="Text 14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55" name="Image 12" descr="/home/user/philippe1/build/deco-salon-prive-2026/label-biobiodyn.png">    </p:cNvPr>
          <p:cNvPicPr>
            <a:picLocks noChangeAspect="1"/>
          </p:cNvPicPr>
          <p:nvPr/>
        </p:nvPicPr>
        <p:blipFill>
          <a:blip r:embed="rId13"/>
          <a:stretch>
            <a:fillRect/>
          </a:stretch>
        </p:blipFill>
        <p:spPr>
          <a:xfrm>
            <a:off x="3396791" y="8559000"/>
            <a:ext cx="108000" cy="108000"/>
          </a:xfrm>
          <a:prstGeom prst="rect">
            <a:avLst/>
          </a:prstGeom>
        </p:spPr>
      </p:pic>
      <p:sp>
        <p:nvSpPr>
          <p:cNvPr id="156" name="Text 141"/>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157" name="Image 13" descr="/home/user/philippe1/build/deco-salon-prive-2026/label-hve.png">    </p:cNvPr>
          <p:cNvPicPr>
            <a:picLocks noChangeAspect="1"/>
          </p:cNvPicPr>
          <p:nvPr/>
        </p:nvPicPr>
        <p:blipFill>
          <a:blip r:embed="rId14"/>
          <a:stretch>
            <a:fillRect/>
          </a:stretch>
        </p:blipFill>
        <p:spPr>
          <a:xfrm>
            <a:off x="4453062" y="8559000"/>
            <a:ext cx="108000" cy="108000"/>
          </a:xfrm>
          <a:prstGeom prst="rect">
            <a:avLst/>
          </a:prstGeom>
        </p:spPr>
      </p:pic>
      <p:sp>
        <p:nvSpPr>
          <p:cNvPr id="158" name="Text 142"/>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59" name="Image 14" descr="/home/user/philippe1/build/deco-salon-prive-2026/label-hve.png">    </p:cNvPr>
          <p:cNvPicPr>
            <a:picLocks noChangeAspect="1"/>
          </p:cNvPicPr>
          <p:nvPr/>
        </p:nvPicPr>
        <p:blipFill>
          <a:blip r:embed="rId15"/>
          <a:stretch>
            <a:fillRect/>
          </a:stretch>
        </p:blipFill>
        <p:spPr>
          <a:xfrm>
            <a:off x="4941130" y="8559000"/>
            <a:ext cx="108000" cy="108000"/>
          </a:xfrm>
          <a:prstGeom prst="rect">
            <a:avLst/>
          </a:prstGeom>
        </p:spPr>
      </p:pic>
      <p:sp>
        <p:nvSpPr>
          <p:cNvPr id="160" name="Text 143"/>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61" name="Image 15" descr="/home/user/philippe1/build/deco-salon-prive-2026/label-raisonnee.png">    </p:cNvPr>
          <p:cNvPicPr>
            <a:picLocks noChangeAspect="1"/>
          </p:cNvPicPr>
          <p:nvPr/>
        </p:nvPicPr>
        <p:blipFill>
          <a:blip r:embed="rId16"/>
          <a:stretch>
            <a:fillRect/>
          </a:stretch>
        </p:blipFill>
        <p:spPr>
          <a:xfrm>
            <a:off x="5507765" y="8559000"/>
            <a:ext cx="108000" cy="108000"/>
          </a:xfrm>
          <a:prstGeom prst="rect">
            <a:avLst/>
          </a:prstGeom>
        </p:spPr>
      </p:pic>
      <p:sp>
        <p:nvSpPr>
          <p:cNvPr id="162" name="Text 144"/>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63" name="Image 16" descr="/home/user/philippe1/build/deco-salon-prive-2026/label-iso.png">    </p:cNvPr>
          <p:cNvPicPr>
            <a:picLocks noChangeAspect="1"/>
          </p:cNvPicPr>
          <p:nvPr/>
        </p:nvPicPr>
        <p:blipFill>
          <a:blip r:embed="rId17"/>
          <a:stretch>
            <a:fillRect/>
          </a:stretch>
        </p:blipFill>
        <p:spPr>
          <a:xfrm>
            <a:off x="6722580" y="8559000"/>
            <a:ext cx="108000" cy="108000"/>
          </a:xfrm>
          <a:prstGeom prst="rect">
            <a:avLst/>
          </a:prstGeom>
        </p:spPr>
      </p:pic>
      <p:sp>
        <p:nvSpPr>
          <p:cNvPr id="164" name="Text 145"/>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65" name="Text 146"/>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66" name="Text 14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67" name="Text 14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 plan des exposants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CHÂTEAU DE LA RAIRIE, PONT-SAINT-MARTIN</a:t>
            </a:r>
            <a:endParaRPr lang="en-US" sz="800" dirty="0"/>
          </a:p>
        </p:txBody>
      </p:sp>
      <p:pic>
        <p:nvPicPr>
          <p:cNvPr id="4" name="Image 0" descr="/home/user/philippe1/build/deco-salon-prive-2026/plan-salles.png">    </p:cNvPr>
          <p:cNvPicPr>
            <a:picLocks noChangeAspect="1"/>
          </p:cNvPicPr>
          <p:nvPr/>
        </p:nvPicPr>
        <p:blipFill>
          <a:blip r:embed="rId1"/>
          <a:stretch>
            <a:fillRect/>
          </a:stretch>
        </p:blipFill>
        <p:spPr>
          <a:xfrm>
            <a:off x="828000" y="1296000"/>
            <a:ext cx="6120000" cy="2887258"/>
          </a:xfrm>
          <a:prstGeom prst="rect">
            <a:avLst/>
          </a:prstGeom>
        </p:spPr>
      </p:pic>
      <p:sp>
        <p:nvSpPr>
          <p:cNvPr id="5" name="Shape 2"/>
          <p:cNvSpPr/>
          <p:nvPr/>
        </p:nvSpPr>
        <p:spPr>
          <a:xfrm>
            <a:off x="6371187" y="3759445"/>
            <a:ext cx="176400" cy="176400"/>
          </a:xfrm>
          <a:prstGeom prst="ellipse">
            <a:avLst/>
          </a:prstGeom>
          <a:solidFill>
            <a:srgbClr val="A8515F"/>
          </a:solidFill>
          <a:ln w="7620">
            <a:solidFill>
              <a:srgbClr val="A8515F"/>
            </a:solidFill>
            <a:prstDash val="solid"/>
          </a:ln>
        </p:spPr>
      </p:sp>
      <p:sp>
        <p:nvSpPr>
          <p:cNvPr id="6" name="Text 3"/>
          <p:cNvSpPr/>
          <p:nvPr/>
        </p:nvSpPr>
        <p:spPr>
          <a:xfrm>
            <a:off x="637118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a:t>
            </a:r>
            <a:endParaRPr lang="en-US" sz="740" dirty="0"/>
          </a:p>
        </p:txBody>
      </p:sp>
      <p:sp>
        <p:nvSpPr>
          <p:cNvPr id="7" name="Shape 4"/>
          <p:cNvSpPr/>
          <p:nvPr/>
        </p:nvSpPr>
        <p:spPr>
          <a:xfrm>
            <a:off x="6114832" y="3759445"/>
            <a:ext cx="176400" cy="176400"/>
          </a:xfrm>
          <a:prstGeom prst="ellipse">
            <a:avLst/>
          </a:prstGeom>
          <a:solidFill>
            <a:srgbClr val="FBF8F1"/>
          </a:solidFill>
          <a:ln w="7620">
            <a:solidFill>
              <a:srgbClr val="46606E"/>
            </a:solidFill>
            <a:prstDash val="solid"/>
          </a:ln>
        </p:spPr>
      </p:sp>
      <p:sp>
        <p:nvSpPr>
          <p:cNvPr id="8" name="Text 5"/>
          <p:cNvSpPr/>
          <p:nvPr/>
        </p:nvSpPr>
        <p:spPr>
          <a:xfrm>
            <a:off x="6114832" y="3759445"/>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2</a:t>
            </a:r>
            <a:endParaRPr lang="en-US" sz="740" dirty="0"/>
          </a:p>
        </p:txBody>
      </p:sp>
      <p:sp>
        <p:nvSpPr>
          <p:cNvPr id="9" name="Shape 6"/>
          <p:cNvSpPr/>
          <p:nvPr/>
        </p:nvSpPr>
        <p:spPr>
          <a:xfrm>
            <a:off x="5916832" y="3759445"/>
            <a:ext cx="176400" cy="176400"/>
          </a:xfrm>
          <a:prstGeom prst="ellipse">
            <a:avLst/>
          </a:prstGeom>
          <a:solidFill>
            <a:srgbClr val="3C5B47"/>
          </a:solidFill>
          <a:ln w="7620">
            <a:solidFill>
              <a:srgbClr val="3C5B47"/>
            </a:solidFill>
            <a:prstDash val="solid"/>
          </a:ln>
        </p:spPr>
      </p:sp>
      <p:sp>
        <p:nvSpPr>
          <p:cNvPr id="10" name="Text 7"/>
          <p:cNvSpPr/>
          <p:nvPr/>
        </p:nvSpPr>
        <p:spPr>
          <a:xfrm>
            <a:off x="5916832"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3</a:t>
            </a:r>
            <a:endParaRPr lang="en-US" sz="740" dirty="0"/>
          </a:p>
        </p:txBody>
      </p:sp>
      <p:sp>
        <p:nvSpPr>
          <p:cNvPr id="11" name="Shape 8"/>
          <p:cNvSpPr/>
          <p:nvPr/>
        </p:nvSpPr>
        <p:spPr>
          <a:xfrm>
            <a:off x="5705187" y="3759445"/>
            <a:ext cx="176400" cy="176400"/>
          </a:xfrm>
          <a:prstGeom prst="ellipse">
            <a:avLst/>
          </a:prstGeom>
          <a:solidFill>
            <a:srgbClr val="46606E"/>
          </a:solidFill>
          <a:ln w="7620">
            <a:solidFill>
              <a:srgbClr val="46606E"/>
            </a:solidFill>
            <a:prstDash val="solid"/>
          </a:ln>
        </p:spPr>
      </p:sp>
      <p:sp>
        <p:nvSpPr>
          <p:cNvPr id="12" name="Text 9"/>
          <p:cNvSpPr/>
          <p:nvPr/>
        </p:nvSpPr>
        <p:spPr>
          <a:xfrm>
            <a:off x="570518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4</a:t>
            </a:r>
            <a:endParaRPr lang="en-US" sz="740" dirty="0"/>
          </a:p>
        </p:txBody>
      </p:sp>
      <p:sp>
        <p:nvSpPr>
          <p:cNvPr id="13" name="Shape 10"/>
          <p:cNvSpPr/>
          <p:nvPr/>
        </p:nvSpPr>
        <p:spPr>
          <a:xfrm>
            <a:off x="5507187" y="3759445"/>
            <a:ext cx="176400" cy="176400"/>
          </a:xfrm>
          <a:prstGeom prst="ellipse">
            <a:avLst/>
          </a:prstGeom>
          <a:solidFill>
            <a:srgbClr val="D08C3C"/>
          </a:solidFill>
          <a:ln w="7620">
            <a:solidFill>
              <a:srgbClr val="D08C3C"/>
            </a:solidFill>
            <a:prstDash val="solid"/>
          </a:ln>
        </p:spPr>
      </p:sp>
      <p:sp>
        <p:nvSpPr>
          <p:cNvPr id="14" name="Text 11"/>
          <p:cNvSpPr/>
          <p:nvPr/>
        </p:nvSpPr>
        <p:spPr>
          <a:xfrm>
            <a:off x="550718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5</a:t>
            </a:r>
            <a:endParaRPr lang="en-US" sz="740" dirty="0"/>
          </a:p>
        </p:txBody>
      </p:sp>
      <p:sp>
        <p:nvSpPr>
          <p:cNvPr id="15" name="Shape 12"/>
          <p:cNvSpPr/>
          <p:nvPr/>
        </p:nvSpPr>
        <p:spPr>
          <a:xfrm>
            <a:off x="5196542" y="3759445"/>
            <a:ext cx="176400" cy="176400"/>
          </a:xfrm>
          <a:prstGeom prst="ellipse">
            <a:avLst/>
          </a:prstGeom>
          <a:solidFill>
            <a:srgbClr val="D08C3C"/>
          </a:solidFill>
          <a:ln w="7620">
            <a:solidFill>
              <a:srgbClr val="D08C3C"/>
            </a:solidFill>
            <a:prstDash val="solid"/>
          </a:ln>
        </p:spPr>
      </p:sp>
      <p:sp>
        <p:nvSpPr>
          <p:cNvPr id="16" name="Text 13"/>
          <p:cNvSpPr/>
          <p:nvPr/>
        </p:nvSpPr>
        <p:spPr>
          <a:xfrm>
            <a:off x="5196542"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6</a:t>
            </a:r>
            <a:endParaRPr lang="en-US" sz="740" dirty="0"/>
          </a:p>
        </p:txBody>
      </p:sp>
      <p:sp>
        <p:nvSpPr>
          <p:cNvPr id="17" name="Shape 14"/>
          <p:cNvSpPr/>
          <p:nvPr/>
        </p:nvSpPr>
        <p:spPr>
          <a:xfrm>
            <a:off x="4061381" y="3759445"/>
            <a:ext cx="176400" cy="176400"/>
          </a:xfrm>
          <a:prstGeom prst="ellipse">
            <a:avLst/>
          </a:prstGeom>
          <a:solidFill>
            <a:srgbClr val="3C5B47"/>
          </a:solidFill>
          <a:ln w="7620">
            <a:solidFill>
              <a:srgbClr val="3C5B47"/>
            </a:solidFill>
            <a:prstDash val="solid"/>
          </a:ln>
        </p:spPr>
      </p:sp>
      <p:sp>
        <p:nvSpPr>
          <p:cNvPr id="18" name="Text 15"/>
          <p:cNvSpPr/>
          <p:nvPr/>
        </p:nvSpPr>
        <p:spPr>
          <a:xfrm>
            <a:off x="4061381"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7</a:t>
            </a:r>
            <a:endParaRPr lang="en-US" sz="740" dirty="0"/>
          </a:p>
        </p:txBody>
      </p:sp>
      <p:sp>
        <p:nvSpPr>
          <p:cNvPr id="19" name="Shape 16"/>
          <p:cNvSpPr/>
          <p:nvPr/>
        </p:nvSpPr>
        <p:spPr>
          <a:xfrm>
            <a:off x="3693977" y="3759445"/>
            <a:ext cx="176400" cy="176400"/>
          </a:xfrm>
          <a:prstGeom prst="ellipse">
            <a:avLst/>
          </a:prstGeom>
          <a:solidFill>
            <a:srgbClr val="A8515F"/>
          </a:solidFill>
          <a:ln w="7620">
            <a:solidFill>
              <a:srgbClr val="A8515F"/>
            </a:solidFill>
            <a:prstDash val="solid"/>
          </a:ln>
        </p:spPr>
      </p:sp>
      <p:sp>
        <p:nvSpPr>
          <p:cNvPr id="20" name="Text 17"/>
          <p:cNvSpPr/>
          <p:nvPr/>
        </p:nvSpPr>
        <p:spPr>
          <a:xfrm>
            <a:off x="369397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8</a:t>
            </a:r>
            <a:endParaRPr lang="en-US" sz="740" dirty="0"/>
          </a:p>
        </p:txBody>
      </p:sp>
      <p:sp>
        <p:nvSpPr>
          <p:cNvPr id="21" name="Shape 18"/>
          <p:cNvSpPr/>
          <p:nvPr/>
        </p:nvSpPr>
        <p:spPr>
          <a:xfrm>
            <a:off x="3495977" y="3759445"/>
            <a:ext cx="176400" cy="176400"/>
          </a:xfrm>
          <a:prstGeom prst="ellipse">
            <a:avLst/>
          </a:prstGeom>
          <a:solidFill>
            <a:srgbClr val="3C5B47"/>
          </a:solidFill>
          <a:ln w="7620">
            <a:solidFill>
              <a:srgbClr val="3C5B47"/>
            </a:solidFill>
            <a:prstDash val="solid"/>
          </a:ln>
        </p:spPr>
      </p:sp>
      <p:sp>
        <p:nvSpPr>
          <p:cNvPr id="22" name="Text 19"/>
          <p:cNvSpPr/>
          <p:nvPr/>
        </p:nvSpPr>
        <p:spPr>
          <a:xfrm>
            <a:off x="349597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9</a:t>
            </a:r>
            <a:endParaRPr lang="en-US" sz="740" dirty="0"/>
          </a:p>
        </p:txBody>
      </p:sp>
      <p:sp>
        <p:nvSpPr>
          <p:cNvPr id="23" name="Shape 20"/>
          <p:cNvSpPr/>
          <p:nvPr/>
        </p:nvSpPr>
        <p:spPr>
          <a:xfrm>
            <a:off x="3168058" y="3759445"/>
            <a:ext cx="176400" cy="176400"/>
          </a:xfrm>
          <a:prstGeom prst="ellipse">
            <a:avLst/>
          </a:prstGeom>
          <a:solidFill>
            <a:srgbClr val="46606E"/>
          </a:solidFill>
          <a:ln w="7620">
            <a:solidFill>
              <a:srgbClr val="46606E"/>
            </a:solidFill>
            <a:prstDash val="solid"/>
          </a:ln>
        </p:spPr>
      </p:sp>
      <p:sp>
        <p:nvSpPr>
          <p:cNvPr id="24" name="Text 21"/>
          <p:cNvSpPr/>
          <p:nvPr/>
        </p:nvSpPr>
        <p:spPr>
          <a:xfrm>
            <a:off x="3168058"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10</a:t>
            </a:r>
            <a:endParaRPr lang="en-US" sz="740" dirty="0"/>
          </a:p>
        </p:txBody>
      </p:sp>
      <p:sp>
        <p:nvSpPr>
          <p:cNvPr id="25" name="Shape 22"/>
          <p:cNvSpPr/>
          <p:nvPr/>
        </p:nvSpPr>
        <p:spPr>
          <a:xfrm>
            <a:off x="2802832" y="3759445"/>
            <a:ext cx="176400" cy="176400"/>
          </a:xfrm>
          <a:prstGeom prst="ellipse">
            <a:avLst/>
          </a:prstGeom>
          <a:solidFill>
            <a:srgbClr val="FBF8F1"/>
          </a:solidFill>
          <a:ln w="7620">
            <a:solidFill>
              <a:srgbClr val="46606E"/>
            </a:solidFill>
            <a:prstDash val="solid"/>
          </a:ln>
        </p:spPr>
      </p:sp>
      <p:sp>
        <p:nvSpPr>
          <p:cNvPr id="26" name="Text 23"/>
          <p:cNvSpPr/>
          <p:nvPr/>
        </p:nvSpPr>
        <p:spPr>
          <a:xfrm>
            <a:off x="2802832" y="3759445"/>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11</a:t>
            </a:r>
            <a:endParaRPr lang="en-US" sz="740" dirty="0"/>
          </a:p>
        </p:txBody>
      </p:sp>
      <p:sp>
        <p:nvSpPr>
          <p:cNvPr id="27" name="Shape 24"/>
          <p:cNvSpPr/>
          <p:nvPr/>
        </p:nvSpPr>
        <p:spPr>
          <a:xfrm>
            <a:off x="2383316" y="3759445"/>
            <a:ext cx="176400" cy="176400"/>
          </a:xfrm>
          <a:prstGeom prst="ellipse">
            <a:avLst/>
          </a:prstGeom>
          <a:solidFill>
            <a:srgbClr val="3C5B47"/>
          </a:solidFill>
          <a:ln w="7620">
            <a:solidFill>
              <a:srgbClr val="3C5B47"/>
            </a:solidFill>
            <a:prstDash val="solid"/>
          </a:ln>
        </p:spPr>
      </p:sp>
      <p:sp>
        <p:nvSpPr>
          <p:cNvPr id="28" name="Text 25"/>
          <p:cNvSpPr/>
          <p:nvPr/>
        </p:nvSpPr>
        <p:spPr>
          <a:xfrm>
            <a:off x="2383316"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12</a:t>
            </a:r>
            <a:endParaRPr lang="en-US" sz="740" dirty="0"/>
          </a:p>
        </p:txBody>
      </p:sp>
      <p:sp>
        <p:nvSpPr>
          <p:cNvPr id="29" name="Shape 26"/>
          <p:cNvSpPr/>
          <p:nvPr/>
        </p:nvSpPr>
        <p:spPr>
          <a:xfrm>
            <a:off x="2015913" y="3759445"/>
            <a:ext cx="176400" cy="176400"/>
          </a:xfrm>
          <a:prstGeom prst="ellipse">
            <a:avLst/>
          </a:prstGeom>
          <a:solidFill>
            <a:srgbClr val="3C5B47"/>
          </a:solidFill>
          <a:ln w="7620">
            <a:solidFill>
              <a:srgbClr val="3C5B47"/>
            </a:solidFill>
            <a:prstDash val="solid"/>
          </a:ln>
        </p:spPr>
      </p:sp>
      <p:sp>
        <p:nvSpPr>
          <p:cNvPr id="30" name="Text 27"/>
          <p:cNvSpPr/>
          <p:nvPr/>
        </p:nvSpPr>
        <p:spPr>
          <a:xfrm>
            <a:off x="2015913"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13</a:t>
            </a:r>
            <a:endParaRPr lang="en-US" sz="740" dirty="0"/>
          </a:p>
        </p:txBody>
      </p:sp>
      <p:sp>
        <p:nvSpPr>
          <p:cNvPr id="31" name="Shape 28"/>
          <p:cNvSpPr/>
          <p:nvPr/>
        </p:nvSpPr>
        <p:spPr>
          <a:xfrm>
            <a:off x="1817913" y="3759445"/>
            <a:ext cx="176400" cy="176400"/>
          </a:xfrm>
          <a:prstGeom prst="ellipse">
            <a:avLst/>
          </a:prstGeom>
          <a:solidFill>
            <a:srgbClr val="46606E"/>
          </a:solidFill>
          <a:ln w="7620">
            <a:solidFill>
              <a:srgbClr val="46606E"/>
            </a:solidFill>
            <a:prstDash val="solid"/>
          </a:ln>
        </p:spPr>
      </p:sp>
      <p:sp>
        <p:nvSpPr>
          <p:cNvPr id="32" name="Text 29"/>
          <p:cNvSpPr/>
          <p:nvPr/>
        </p:nvSpPr>
        <p:spPr>
          <a:xfrm>
            <a:off x="1817913"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14</a:t>
            </a:r>
            <a:endParaRPr lang="en-US" sz="740" dirty="0"/>
          </a:p>
        </p:txBody>
      </p:sp>
      <p:sp>
        <p:nvSpPr>
          <p:cNvPr id="33" name="Shape 30"/>
          <p:cNvSpPr/>
          <p:nvPr/>
        </p:nvSpPr>
        <p:spPr>
          <a:xfrm>
            <a:off x="1494929" y="3759445"/>
            <a:ext cx="176400" cy="176400"/>
          </a:xfrm>
          <a:prstGeom prst="ellipse">
            <a:avLst/>
          </a:prstGeom>
          <a:solidFill>
            <a:srgbClr val="FBF8F1"/>
          </a:solidFill>
          <a:ln w="7620">
            <a:solidFill>
              <a:srgbClr val="46606E"/>
            </a:solidFill>
            <a:prstDash val="solid"/>
          </a:ln>
        </p:spPr>
      </p:sp>
      <p:sp>
        <p:nvSpPr>
          <p:cNvPr id="34" name="Text 31"/>
          <p:cNvSpPr/>
          <p:nvPr/>
        </p:nvSpPr>
        <p:spPr>
          <a:xfrm>
            <a:off x="1494929" y="3759445"/>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15</a:t>
            </a:r>
            <a:endParaRPr lang="en-US" sz="740" dirty="0"/>
          </a:p>
        </p:txBody>
      </p:sp>
      <p:sp>
        <p:nvSpPr>
          <p:cNvPr id="35" name="Shape 32"/>
          <p:cNvSpPr/>
          <p:nvPr/>
        </p:nvSpPr>
        <p:spPr>
          <a:xfrm>
            <a:off x="1134639" y="3759445"/>
            <a:ext cx="176400" cy="176400"/>
          </a:xfrm>
          <a:prstGeom prst="ellipse">
            <a:avLst/>
          </a:prstGeom>
          <a:solidFill>
            <a:srgbClr val="A8515F"/>
          </a:solidFill>
          <a:ln w="7620">
            <a:solidFill>
              <a:srgbClr val="A8515F"/>
            </a:solidFill>
            <a:prstDash val="solid"/>
          </a:ln>
        </p:spPr>
      </p:sp>
      <p:sp>
        <p:nvSpPr>
          <p:cNvPr id="36" name="Text 33"/>
          <p:cNvSpPr/>
          <p:nvPr/>
        </p:nvSpPr>
        <p:spPr>
          <a:xfrm>
            <a:off x="1134639"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16</a:t>
            </a:r>
            <a:endParaRPr lang="en-US" sz="740" dirty="0"/>
          </a:p>
        </p:txBody>
      </p:sp>
      <p:sp>
        <p:nvSpPr>
          <p:cNvPr id="37" name="Shape 34"/>
          <p:cNvSpPr/>
          <p:nvPr/>
        </p:nvSpPr>
        <p:spPr>
          <a:xfrm>
            <a:off x="1134639" y="3167187"/>
            <a:ext cx="176400" cy="176400"/>
          </a:xfrm>
          <a:prstGeom prst="ellipse">
            <a:avLst/>
          </a:prstGeom>
          <a:solidFill>
            <a:srgbClr val="46606E"/>
          </a:solidFill>
          <a:ln w="7620">
            <a:solidFill>
              <a:srgbClr val="46606E"/>
            </a:solidFill>
            <a:prstDash val="solid"/>
          </a:ln>
        </p:spPr>
      </p:sp>
      <p:sp>
        <p:nvSpPr>
          <p:cNvPr id="38" name="Text 35"/>
          <p:cNvSpPr/>
          <p:nvPr/>
        </p:nvSpPr>
        <p:spPr>
          <a:xfrm>
            <a:off x="1134639"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17</a:t>
            </a:r>
            <a:endParaRPr lang="en-US" sz="740" dirty="0"/>
          </a:p>
        </p:txBody>
      </p:sp>
      <p:sp>
        <p:nvSpPr>
          <p:cNvPr id="39" name="Shape 36"/>
          <p:cNvSpPr/>
          <p:nvPr/>
        </p:nvSpPr>
        <p:spPr>
          <a:xfrm>
            <a:off x="1494929" y="3167187"/>
            <a:ext cx="176400" cy="176400"/>
          </a:xfrm>
          <a:prstGeom prst="ellipse">
            <a:avLst/>
          </a:prstGeom>
          <a:solidFill>
            <a:srgbClr val="D08C3C"/>
          </a:solidFill>
          <a:ln w="7620">
            <a:solidFill>
              <a:srgbClr val="D08C3C"/>
            </a:solidFill>
            <a:prstDash val="solid"/>
          </a:ln>
        </p:spPr>
      </p:sp>
      <p:sp>
        <p:nvSpPr>
          <p:cNvPr id="40" name="Text 37"/>
          <p:cNvSpPr/>
          <p:nvPr/>
        </p:nvSpPr>
        <p:spPr>
          <a:xfrm>
            <a:off x="1494929"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18</a:t>
            </a:r>
            <a:endParaRPr lang="en-US" sz="740" dirty="0"/>
          </a:p>
        </p:txBody>
      </p:sp>
      <p:sp>
        <p:nvSpPr>
          <p:cNvPr id="41" name="Shape 38"/>
          <p:cNvSpPr/>
          <p:nvPr/>
        </p:nvSpPr>
        <p:spPr>
          <a:xfrm>
            <a:off x="1817913" y="3167187"/>
            <a:ext cx="176400" cy="176400"/>
          </a:xfrm>
          <a:prstGeom prst="ellipse">
            <a:avLst/>
          </a:prstGeom>
          <a:solidFill>
            <a:srgbClr val="46606E"/>
          </a:solidFill>
          <a:ln w="7620">
            <a:solidFill>
              <a:srgbClr val="46606E"/>
            </a:solidFill>
            <a:prstDash val="solid"/>
          </a:ln>
        </p:spPr>
      </p:sp>
      <p:sp>
        <p:nvSpPr>
          <p:cNvPr id="42" name="Text 39"/>
          <p:cNvSpPr/>
          <p:nvPr/>
        </p:nvSpPr>
        <p:spPr>
          <a:xfrm>
            <a:off x="1817913"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19</a:t>
            </a:r>
            <a:endParaRPr lang="en-US" sz="740" dirty="0"/>
          </a:p>
        </p:txBody>
      </p:sp>
      <p:sp>
        <p:nvSpPr>
          <p:cNvPr id="43" name="Shape 40"/>
          <p:cNvSpPr/>
          <p:nvPr/>
        </p:nvSpPr>
        <p:spPr>
          <a:xfrm>
            <a:off x="2015913" y="3167187"/>
            <a:ext cx="176400" cy="176400"/>
          </a:xfrm>
          <a:prstGeom prst="ellipse">
            <a:avLst/>
          </a:prstGeom>
          <a:solidFill>
            <a:srgbClr val="D08C3C"/>
          </a:solidFill>
          <a:ln w="7620">
            <a:solidFill>
              <a:srgbClr val="D08C3C"/>
            </a:solidFill>
            <a:prstDash val="solid"/>
          </a:ln>
        </p:spPr>
      </p:sp>
      <p:sp>
        <p:nvSpPr>
          <p:cNvPr id="44" name="Text 41"/>
          <p:cNvSpPr/>
          <p:nvPr/>
        </p:nvSpPr>
        <p:spPr>
          <a:xfrm>
            <a:off x="2015913"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20</a:t>
            </a:r>
            <a:endParaRPr lang="en-US" sz="740" dirty="0"/>
          </a:p>
        </p:txBody>
      </p:sp>
      <p:sp>
        <p:nvSpPr>
          <p:cNvPr id="45" name="Shape 42"/>
          <p:cNvSpPr/>
          <p:nvPr/>
        </p:nvSpPr>
        <p:spPr>
          <a:xfrm>
            <a:off x="2383316" y="3167187"/>
            <a:ext cx="176400" cy="176400"/>
          </a:xfrm>
          <a:prstGeom prst="ellipse">
            <a:avLst/>
          </a:prstGeom>
          <a:solidFill>
            <a:srgbClr val="3C5B47"/>
          </a:solidFill>
          <a:ln w="7620">
            <a:solidFill>
              <a:srgbClr val="3C5B47"/>
            </a:solidFill>
            <a:prstDash val="solid"/>
          </a:ln>
        </p:spPr>
      </p:sp>
      <p:sp>
        <p:nvSpPr>
          <p:cNvPr id="46" name="Text 43"/>
          <p:cNvSpPr/>
          <p:nvPr/>
        </p:nvSpPr>
        <p:spPr>
          <a:xfrm>
            <a:off x="2383316"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21</a:t>
            </a:r>
            <a:endParaRPr lang="en-US" sz="740" dirty="0"/>
          </a:p>
        </p:txBody>
      </p:sp>
      <p:sp>
        <p:nvSpPr>
          <p:cNvPr id="47" name="Shape 44"/>
          <p:cNvSpPr/>
          <p:nvPr/>
        </p:nvSpPr>
        <p:spPr>
          <a:xfrm>
            <a:off x="2802832" y="3167187"/>
            <a:ext cx="176400" cy="176400"/>
          </a:xfrm>
          <a:prstGeom prst="ellipse">
            <a:avLst/>
          </a:prstGeom>
          <a:solidFill>
            <a:srgbClr val="46606E"/>
          </a:solidFill>
          <a:ln w="7620">
            <a:solidFill>
              <a:srgbClr val="46606E"/>
            </a:solidFill>
            <a:prstDash val="solid"/>
          </a:ln>
        </p:spPr>
      </p:sp>
      <p:sp>
        <p:nvSpPr>
          <p:cNvPr id="48" name="Text 45"/>
          <p:cNvSpPr/>
          <p:nvPr/>
        </p:nvSpPr>
        <p:spPr>
          <a:xfrm>
            <a:off x="2802832"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22</a:t>
            </a:r>
            <a:endParaRPr lang="en-US" sz="740" dirty="0"/>
          </a:p>
        </p:txBody>
      </p:sp>
      <p:sp>
        <p:nvSpPr>
          <p:cNvPr id="49" name="Shape 46"/>
          <p:cNvSpPr/>
          <p:nvPr/>
        </p:nvSpPr>
        <p:spPr>
          <a:xfrm>
            <a:off x="3168058" y="3167187"/>
            <a:ext cx="176400" cy="176400"/>
          </a:xfrm>
          <a:prstGeom prst="ellipse">
            <a:avLst/>
          </a:prstGeom>
          <a:solidFill>
            <a:srgbClr val="FBF8F1"/>
          </a:solidFill>
          <a:ln w="7620">
            <a:solidFill>
              <a:srgbClr val="46606E"/>
            </a:solidFill>
            <a:prstDash val="solid"/>
          </a:ln>
        </p:spPr>
      </p:sp>
      <p:sp>
        <p:nvSpPr>
          <p:cNvPr id="50" name="Text 47"/>
          <p:cNvSpPr/>
          <p:nvPr/>
        </p:nvSpPr>
        <p:spPr>
          <a:xfrm>
            <a:off x="3168058" y="3167187"/>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23</a:t>
            </a:r>
            <a:endParaRPr lang="en-US" sz="740" dirty="0"/>
          </a:p>
        </p:txBody>
      </p:sp>
      <p:sp>
        <p:nvSpPr>
          <p:cNvPr id="51" name="Shape 48"/>
          <p:cNvSpPr/>
          <p:nvPr/>
        </p:nvSpPr>
        <p:spPr>
          <a:xfrm>
            <a:off x="3495977" y="3167187"/>
            <a:ext cx="176400" cy="176400"/>
          </a:xfrm>
          <a:prstGeom prst="ellipse">
            <a:avLst/>
          </a:prstGeom>
          <a:solidFill>
            <a:srgbClr val="A8515F"/>
          </a:solidFill>
          <a:ln w="7620">
            <a:solidFill>
              <a:srgbClr val="A8515F"/>
            </a:solidFill>
            <a:prstDash val="solid"/>
          </a:ln>
        </p:spPr>
      </p:sp>
      <p:sp>
        <p:nvSpPr>
          <p:cNvPr id="52" name="Text 49"/>
          <p:cNvSpPr/>
          <p:nvPr/>
        </p:nvSpPr>
        <p:spPr>
          <a:xfrm>
            <a:off x="3495977"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24</a:t>
            </a:r>
            <a:endParaRPr lang="en-US" sz="740" dirty="0"/>
          </a:p>
        </p:txBody>
      </p:sp>
      <p:sp>
        <p:nvSpPr>
          <p:cNvPr id="53" name="Shape 50"/>
          <p:cNvSpPr/>
          <p:nvPr/>
        </p:nvSpPr>
        <p:spPr>
          <a:xfrm>
            <a:off x="3693977" y="3167187"/>
            <a:ext cx="176400" cy="176400"/>
          </a:xfrm>
          <a:prstGeom prst="ellipse">
            <a:avLst/>
          </a:prstGeom>
          <a:solidFill>
            <a:srgbClr val="46606E"/>
          </a:solidFill>
          <a:ln w="7620">
            <a:solidFill>
              <a:srgbClr val="46606E"/>
            </a:solidFill>
            <a:prstDash val="solid"/>
          </a:ln>
        </p:spPr>
      </p:sp>
      <p:sp>
        <p:nvSpPr>
          <p:cNvPr id="54" name="Text 51"/>
          <p:cNvSpPr/>
          <p:nvPr/>
        </p:nvSpPr>
        <p:spPr>
          <a:xfrm>
            <a:off x="3693977"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25</a:t>
            </a:r>
            <a:endParaRPr lang="en-US" sz="740" dirty="0"/>
          </a:p>
        </p:txBody>
      </p:sp>
      <p:sp>
        <p:nvSpPr>
          <p:cNvPr id="55" name="Shape 52"/>
          <p:cNvSpPr/>
          <p:nvPr/>
        </p:nvSpPr>
        <p:spPr>
          <a:xfrm>
            <a:off x="4061381" y="3167187"/>
            <a:ext cx="176400" cy="176400"/>
          </a:xfrm>
          <a:prstGeom prst="ellipse">
            <a:avLst/>
          </a:prstGeom>
          <a:solidFill>
            <a:srgbClr val="D08C3C"/>
          </a:solidFill>
          <a:ln w="7620">
            <a:solidFill>
              <a:srgbClr val="D08C3C"/>
            </a:solidFill>
            <a:prstDash val="solid"/>
          </a:ln>
        </p:spPr>
      </p:sp>
      <p:sp>
        <p:nvSpPr>
          <p:cNvPr id="56" name="Text 53"/>
          <p:cNvSpPr/>
          <p:nvPr/>
        </p:nvSpPr>
        <p:spPr>
          <a:xfrm>
            <a:off x="4061381"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26</a:t>
            </a:r>
            <a:endParaRPr lang="en-US" sz="740" dirty="0"/>
          </a:p>
        </p:txBody>
      </p:sp>
      <p:sp>
        <p:nvSpPr>
          <p:cNvPr id="57" name="Text 54"/>
          <p:cNvSpPr/>
          <p:nvPr/>
        </p:nvSpPr>
        <p:spPr>
          <a:xfrm>
            <a:off x="828000" y="4291258"/>
            <a:ext cx="6120000" cy="324000"/>
          </a:xfrm>
          <a:prstGeom prst="rect">
            <a:avLst/>
          </a:prstGeom>
          <a:noFill/>
          <a:ln/>
        </p:spPr>
        <p:txBody>
          <a:bodyPr wrap="square" lIns="0" tIns="0" rIns="0" bIns="0" rtlCol="0" anchor="ctr"/>
          <a:lstStyle/>
          <a:p>
            <a:pPr indent="0" marL="0">
              <a:buNone/>
            </a:pPr>
            <a:r>
              <a:rPr lang="en-US" sz="900" i="1" dirty="0">
                <a:solidFill>
                  <a:srgbClr val="46606E"/>
                </a:solidFill>
                <a:latin typeface="Spectral" pitchFamily="34" charset="0"/>
                <a:ea typeface="Spectral" pitchFamily="34" charset="-122"/>
                <a:cs typeface="Spectral" pitchFamily="34" charset="-120"/>
              </a:rPr>
              <a:t>Schéma d'après le plan des exposants de l'agence. Salle Blanche : stands 1 à 6, près de l'accueil. Salle Noire : stands 7 à 26. Chaque pastille a la couleur de sa région.</a:t>
            </a:r>
            <a:endParaRPr lang="en-US" sz="900" dirty="0"/>
          </a:p>
        </p:txBody>
      </p:sp>
      <p:sp>
        <p:nvSpPr>
          <p:cNvPr id="58" name="Shape 55"/>
          <p:cNvSpPr/>
          <p:nvPr/>
        </p:nvSpPr>
        <p:spPr>
          <a:xfrm>
            <a:off x="828000" y="4813258"/>
            <a:ext cx="194400" cy="194400"/>
          </a:xfrm>
          <a:prstGeom prst="ellipse">
            <a:avLst/>
          </a:prstGeom>
          <a:solidFill>
            <a:srgbClr val="A8515F"/>
          </a:solidFill>
          <a:ln w="7620">
            <a:solidFill>
              <a:srgbClr val="A8515F"/>
            </a:solidFill>
            <a:prstDash val="solid"/>
          </a:ln>
        </p:spPr>
      </p:sp>
      <p:sp>
        <p:nvSpPr>
          <p:cNvPr id="59" name="Text 56"/>
          <p:cNvSpPr/>
          <p:nvPr/>
        </p:nvSpPr>
        <p:spPr>
          <a:xfrm>
            <a:off x="828000" y="4813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a:t>
            </a:r>
            <a:endParaRPr lang="en-US" sz="760" dirty="0"/>
          </a:p>
        </p:txBody>
      </p:sp>
      <p:sp>
        <p:nvSpPr>
          <p:cNvPr id="60" name="Text 57"/>
          <p:cNvSpPr/>
          <p:nvPr/>
        </p:nvSpPr>
        <p:spPr>
          <a:xfrm>
            <a:off x="1108800" y="4795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Balac</a:t>
            </a:r>
            <a:endParaRPr lang="en-US" sz="950" dirty="0"/>
          </a:p>
        </p:txBody>
      </p:sp>
      <p:sp>
        <p:nvSpPr>
          <p:cNvPr id="61" name="Text 58"/>
          <p:cNvSpPr/>
          <p:nvPr/>
        </p:nvSpPr>
        <p:spPr>
          <a:xfrm>
            <a:off x="2772000" y="4795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62" name="Text 59"/>
          <p:cNvSpPr/>
          <p:nvPr/>
        </p:nvSpPr>
        <p:spPr>
          <a:xfrm>
            <a:off x="3456000" y="4795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63" name="Shape 60"/>
          <p:cNvSpPr/>
          <p:nvPr/>
        </p:nvSpPr>
        <p:spPr>
          <a:xfrm>
            <a:off x="828000" y="5025658"/>
            <a:ext cx="2916000" cy="0"/>
          </a:xfrm>
          <a:prstGeom prst="line">
            <a:avLst/>
          </a:prstGeom>
          <a:noFill/>
          <a:ln w="3810">
            <a:solidFill>
              <a:srgbClr val="C9CFC9"/>
            </a:solidFill>
            <a:prstDash val="solid"/>
          </a:ln>
        </p:spPr>
      </p:sp>
      <p:sp>
        <p:nvSpPr>
          <p:cNvPr id="64" name="Shape 61"/>
          <p:cNvSpPr/>
          <p:nvPr/>
        </p:nvSpPr>
        <p:spPr>
          <a:xfrm>
            <a:off x="828000" y="5043658"/>
            <a:ext cx="194400" cy="194400"/>
          </a:xfrm>
          <a:prstGeom prst="ellipse">
            <a:avLst/>
          </a:prstGeom>
          <a:solidFill>
            <a:srgbClr val="FBF8F1"/>
          </a:solidFill>
          <a:ln w="7620">
            <a:solidFill>
              <a:srgbClr val="46606E"/>
            </a:solidFill>
            <a:prstDash val="solid"/>
          </a:ln>
        </p:spPr>
      </p:sp>
      <p:sp>
        <p:nvSpPr>
          <p:cNvPr id="65" name="Text 62"/>
          <p:cNvSpPr/>
          <p:nvPr/>
        </p:nvSpPr>
        <p:spPr>
          <a:xfrm>
            <a:off x="828000" y="50436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2</a:t>
            </a:r>
            <a:endParaRPr lang="en-US" sz="760" dirty="0"/>
          </a:p>
        </p:txBody>
      </p:sp>
      <p:sp>
        <p:nvSpPr>
          <p:cNvPr id="66" name="Text 63"/>
          <p:cNvSpPr/>
          <p:nvPr/>
        </p:nvSpPr>
        <p:spPr>
          <a:xfrm>
            <a:off x="1108800" y="5025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Denis Frézier</a:t>
            </a:r>
            <a:endParaRPr lang="en-US" sz="950" dirty="0"/>
          </a:p>
        </p:txBody>
      </p:sp>
      <p:sp>
        <p:nvSpPr>
          <p:cNvPr id="67" name="Text 64"/>
          <p:cNvSpPr/>
          <p:nvPr/>
        </p:nvSpPr>
        <p:spPr>
          <a:xfrm>
            <a:off x="2772000" y="5025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68" name="Text 65"/>
          <p:cNvSpPr/>
          <p:nvPr/>
        </p:nvSpPr>
        <p:spPr>
          <a:xfrm>
            <a:off x="3456000" y="5025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69" name="Shape 66"/>
          <p:cNvSpPr/>
          <p:nvPr/>
        </p:nvSpPr>
        <p:spPr>
          <a:xfrm>
            <a:off x="828000" y="5256058"/>
            <a:ext cx="2916000" cy="0"/>
          </a:xfrm>
          <a:prstGeom prst="line">
            <a:avLst/>
          </a:prstGeom>
          <a:noFill/>
          <a:ln w="3810">
            <a:solidFill>
              <a:srgbClr val="C9CFC9"/>
            </a:solidFill>
            <a:prstDash val="solid"/>
          </a:ln>
        </p:spPr>
      </p:sp>
      <p:sp>
        <p:nvSpPr>
          <p:cNvPr id="70" name="Shape 67"/>
          <p:cNvSpPr/>
          <p:nvPr/>
        </p:nvSpPr>
        <p:spPr>
          <a:xfrm>
            <a:off x="828000" y="5274058"/>
            <a:ext cx="194400" cy="194400"/>
          </a:xfrm>
          <a:prstGeom prst="ellipse">
            <a:avLst/>
          </a:prstGeom>
          <a:solidFill>
            <a:srgbClr val="3C5B47"/>
          </a:solidFill>
          <a:ln w="7620">
            <a:solidFill>
              <a:srgbClr val="3C5B47"/>
            </a:solidFill>
            <a:prstDash val="solid"/>
          </a:ln>
        </p:spPr>
      </p:sp>
      <p:sp>
        <p:nvSpPr>
          <p:cNvPr id="71" name="Text 68"/>
          <p:cNvSpPr/>
          <p:nvPr/>
        </p:nvSpPr>
        <p:spPr>
          <a:xfrm>
            <a:off x="828000" y="5274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3</a:t>
            </a:r>
            <a:endParaRPr lang="en-US" sz="760" dirty="0"/>
          </a:p>
        </p:txBody>
      </p:sp>
      <p:sp>
        <p:nvSpPr>
          <p:cNvPr id="72" name="Text 69"/>
          <p:cNvSpPr/>
          <p:nvPr/>
        </p:nvSpPr>
        <p:spPr>
          <a:xfrm>
            <a:off x="1108800" y="5256058"/>
            <a:ext cx="1692000" cy="230400"/>
          </a:xfrm>
          <a:prstGeom prst="rect">
            <a:avLst/>
          </a:prstGeom>
          <a:noFill/>
          <a:ln/>
        </p:spPr>
        <p:txBody>
          <a:bodyPr wrap="square" lIns="0" tIns="0" rIns="0" bIns="0" rtlCol="0" anchor="ctr"/>
          <a:lstStyle/>
          <a:p>
            <a:pPr indent="0" marL="0">
              <a:buNone/>
            </a:pPr>
            <a:r>
              <a:rPr lang="en-US" sz="750" dirty="0">
                <a:solidFill>
                  <a:srgbClr val="2A3942"/>
                </a:solidFill>
                <a:latin typeface="Spectral" pitchFamily="34" charset="0"/>
                <a:ea typeface="Spectral" pitchFamily="34" charset="-122"/>
                <a:cs typeface="Spectral" pitchFamily="34" charset="-120"/>
              </a:rPr>
              <a:t>Domaine Prieuré Sainte Marie d’Albas</a:t>
            </a:r>
            <a:endParaRPr lang="en-US" sz="750" dirty="0"/>
          </a:p>
        </p:txBody>
      </p:sp>
      <p:sp>
        <p:nvSpPr>
          <p:cNvPr id="73" name="Text 70"/>
          <p:cNvSpPr/>
          <p:nvPr/>
        </p:nvSpPr>
        <p:spPr>
          <a:xfrm>
            <a:off x="2772000" y="5256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Languedoc</a:t>
            </a:r>
            <a:endParaRPr lang="en-US" sz="760" dirty="0"/>
          </a:p>
        </p:txBody>
      </p:sp>
      <p:sp>
        <p:nvSpPr>
          <p:cNvPr id="74" name="Text 71"/>
          <p:cNvSpPr/>
          <p:nvPr/>
        </p:nvSpPr>
        <p:spPr>
          <a:xfrm>
            <a:off x="3456000" y="5256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75" name="Shape 72"/>
          <p:cNvSpPr/>
          <p:nvPr/>
        </p:nvSpPr>
        <p:spPr>
          <a:xfrm>
            <a:off x="828000" y="5486458"/>
            <a:ext cx="2916000" cy="0"/>
          </a:xfrm>
          <a:prstGeom prst="line">
            <a:avLst/>
          </a:prstGeom>
          <a:noFill/>
          <a:ln w="3810">
            <a:solidFill>
              <a:srgbClr val="C9CFC9"/>
            </a:solidFill>
            <a:prstDash val="solid"/>
          </a:ln>
        </p:spPr>
      </p:sp>
      <p:sp>
        <p:nvSpPr>
          <p:cNvPr id="76" name="Shape 73"/>
          <p:cNvSpPr/>
          <p:nvPr/>
        </p:nvSpPr>
        <p:spPr>
          <a:xfrm>
            <a:off x="828000" y="5504458"/>
            <a:ext cx="194400" cy="194400"/>
          </a:xfrm>
          <a:prstGeom prst="ellipse">
            <a:avLst/>
          </a:prstGeom>
          <a:solidFill>
            <a:srgbClr val="46606E"/>
          </a:solidFill>
          <a:ln w="7620">
            <a:solidFill>
              <a:srgbClr val="46606E"/>
            </a:solidFill>
            <a:prstDash val="solid"/>
          </a:ln>
        </p:spPr>
      </p:sp>
      <p:sp>
        <p:nvSpPr>
          <p:cNvPr id="77" name="Text 74"/>
          <p:cNvSpPr/>
          <p:nvPr/>
        </p:nvSpPr>
        <p:spPr>
          <a:xfrm>
            <a:off x="828000" y="5504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4</a:t>
            </a:r>
            <a:endParaRPr lang="en-US" sz="760" dirty="0"/>
          </a:p>
        </p:txBody>
      </p:sp>
      <p:sp>
        <p:nvSpPr>
          <p:cNvPr id="78" name="Text 75"/>
          <p:cNvSpPr/>
          <p:nvPr/>
        </p:nvSpPr>
        <p:spPr>
          <a:xfrm>
            <a:off x="1108800" y="5486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du Colombier</a:t>
            </a:r>
            <a:endParaRPr lang="en-US" sz="950" dirty="0"/>
          </a:p>
        </p:txBody>
      </p:sp>
      <p:sp>
        <p:nvSpPr>
          <p:cNvPr id="79" name="Text 76"/>
          <p:cNvSpPr/>
          <p:nvPr/>
        </p:nvSpPr>
        <p:spPr>
          <a:xfrm>
            <a:off x="2772000" y="5486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80" name="Text 77"/>
          <p:cNvSpPr/>
          <p:nvPr/>
        </p:nvSpPr>
        <p:spPr>
          <a:xfrm>
            <a:off x="3456000" y="5486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81" name="Shape 78"/>
          <p:cNvSpPr/>
          <p:nvPr/>
        </p:nvSpPr>
        <p:spPr>
          <a:xfrm>
            <a:off x="828000" y="5716858"/>
            <a:ext cx="2916000" cy="0"/>
          </a:xfrm>
          <a:prstGeom prst="line">
            <a:avLst/>
          </a:prstGeom>
          <a:noFill/>
          <a:ln w="3810">
            <a:solidFill>
              <a:srgbClr val="C9CFC9"/>
            </a:solidFill>
            <a:prstDash val="solid"/>
          </a:ln>
        </p:spPr>
      </p:sp>
      <p:sp>
        <p:nvSpPr>
          <p:cNvPr id="82" name="Shape 79"/>
          <p:cNvSpPr/>
          <p:nvPr/>
        </p:nvSpPr>
        <p:spPr>
          <a:xfrm>
            <a:off x="828000" y="5734858"/>
            <a:ext cx="194400" cy="194400"/>
          </a:xfrm>
          <a:prstGeom prst="ellipse">
            <a:avLst/>
          </a:prstGeom>
          <a:solidFill>
            <a:srgbClr val="D08C3C"/>
          </a:solidFill>
          <a:ln w="7620">
            <a:solidFill>
              <a:srgbClr val="D08C3C"/>
            </a:solidFill>
            <a:prstDash val="solid"/>
          </a:ln>
        </p:spPr>
      </p:sp>
      <p:sp>
        <p:nvSpPr>
          <p:cNvPr id="83" name="Text 80"/>
          <p:cNvSpPr/>
          <p:nvPr/>
        </p:nvSpPr>
        <p:spPr>
          <a:xfrm>
            <a:off x="828000" y="57348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5</a:t>
            </a:r>
            <a:endParaRPr lang="en-US" sz="760" dirty="0"/>
          </a:p>
        </p:txBody>
      </p:sp>
      <p:sp>
        <p:nvSpPr>
          <p:cNvPr id="84" name="Text 81"/>
          <p:cNvSpPr/>
          <p:nvPr/>
        </p:nvSpPr>
        <p:spPr>
          <a:xfrm>
            <a:off x="1108800" y="5716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des Verchères</a:t>
            </a:r>
            <a:endParaRPr lang="en-US" sz="950" dirty="0"/>
          </a:p>
        </p:txBody>
      </p:sp>
      <p:sp>
        <p:nvSpPr>
          <p:cNvPr id="85" name="Text 82"/>
          <p:cNvSpPr/>
          <p:nvPr/>
        </p:nvSpPr>
        <p:spPr>
          <a:xfrm>
            <a:off x="2772000" y="5716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Bourgogne</a:t>
            </a:r>
            <a:endParaRPr lang="en-US" sz="760" dirty="0"/>
          </a:p>
        </p:txBody>
      </p:sp>
      <p:sp>
        <p:nvSpPr>
          <p:cNvPr id="86" name="Text 83"/>
          <p:cNvSpPr/>
          <p:nvPr/>
        </p:nvSpPr>
        <p:spPr>
          <a:xfrm>
            <a:off x="3456000" y="5716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7" name="Shape 84"/>
          <p:cNvSpPr/>
          <p:nvPr/>
        </p:nvSpPr>
        <p:spPr>
          <a:xfrm>
            <a:off x="828000" y="5947258"/>
            <a:ext cx="2916000" cy="0"/>
          </a:xfrm>
          <a:prstGeom prst="line">
            <a:avLst/>
          </a:prstGeom>
          <a:noFill/>
          <a:ln w="3810">
            <a:solidFill>
              <a:srgbClr val="C9CFC9"/>
            </a:solidFill>
            <a:prstDash val="solid"/>
          </a:ln>
        </p:spPr>
      </p:sp>
      <p:sp>
        <p:nvSpPr>
          <p:cNvPr id="88" name="Shape 85"/>
          <p:cNvSpPr/>
          <p:nvPr/>
        </p:nvSpPr>
        <p:spPr>
          <a:xfrm>
            <a:off x="828000" y="5965258"/>
            <a:ext cx="194400" cy="194400"/>
          </a:xfrm>
          <a:prstGeom prst="ellipse">
            <a:avLst/>
          </a:prstGeom>
          <a:solidFill>
            <a:srgbClr val="D08C3C"/>
          </a:solidFill>
          <a:ln w="7620">
            <a:solidFill>
              <a:srgbClr val="D08C3C"/>
            </a:solidFill>
            <a:prstDash val="solid"/>
          </a:ln>
        </p:spPr>
      </p:sp>
      <p:sp>
        <p:nvSpPr>
          <p:cNvPr id="89" name="Text 86"/>
          <p:cNvSpPr/>
          <p:nvPr/>
        </p:nvSpPr>
        <p:spPr>
          <a:xfrm>
            <a:off x="828000" y="5965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6</a:t>
            </a:r>
            <a:endParaRPr lang="en-US" sz="760" dirty="0"/>
          </a:p>
        </p:txBody>
      </p:sp>
      <p:sp>
        <p:nvSpPr>
          <p:cNvPr id="90" name="Text 87"/>
          <p:cNvSpPr/>
          <p:nvPr/>
        </p:nvSpPr>
        <p:spPr>
          <a:xfrm>
            <a:off x="1108800" y="5947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Haut Marin</a:t>
            </a:r>
            <a:endParaRPr lang="en-US" sz="950" dirty="0"/>
          </a:p>
        </p:txBody>
      </p:sp>
      <p:sp>
        <p:nvSpPr>
          <p:cNvPr id="91" name="Text 88"/>
          <p:cNvSpPr/>
          <p:nvPr/>
        </p:nvSpPr>
        <p:spPr>
          <a:xfrm>
            <a:off x="2772000" y="5947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Sud-Ouest</a:t>
            </a:r>
            <a:endParaRPr lang="en-US" sz="760" dirty="0"/>
          </a:p>
        </p:txBody>
      </p:sp>
      <p:sp>
        <p:nvSpPr>
          <p:cNvPr id="92" name="Text 89"/>
          <p:cNvSpPr/>
          <p:nvPr/>
        </p:nvSpPr>
        <p:spPr>
          <a:xfrm>
            <a:off x="3456000" y="5947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93" name="Shape 90"/>
          <p:cNvSpPr/>
          <p:nvPr/>
        </p:nvSpPr>
        <p:spPr>
          <a:xfrm>
            <a:off x="828000" y="6177658"/>
            <a:ext cx="2916000" cy="0"/>
          </a:xfrm>
          <a:prstGeom prst="line">
            <a:avLst/>
          </a:prstGeom>
          <a:noFill/>
          <a:ln w="3810">
            <a:solidFill>
              <a:srgbClr val="C9CFC9"/>
            </a:solidFill>
            <a:prstDash val="solid"/>
          </a:ln>
        </p:spPr>
      </p:sp>
      <p:sp>
        <p:nvSpPr>
          <p:cNvPr id="94" name="Shape 91"/>
          <p:cNvSpPr/>
          <p:nvPr/>
        </p:nvSpPr>
        <p:spPr>
          <a:xfrm>
            <a:off x="828000" y="6195658"/>
            <a:ext cx="194400" cy="194400"/>
          </a:xfrm>
          <a:prstGeom prst="ellipse">
            <a:avLst/>
          </a:prstGeom>
          <a:solidFill>
            <a:srgbClr val="3C5B47"/>
          </a:solidFill>
          <a:ln w="7620">
            <a:solidFill>
              <a:srgbClr val="3C5B47"/>
            </a:solidFill>
            <a:prstDash val="solid"/>
          </a:ln>
        </p:spPr>
      </p:sp>
      <p:sp>
        <p:nvSpPr>
          <p:cNvPr id="95" name="Text 92"/>
          <p:cNvSpPr/>
          <p:nvPr/>
        </p:nvSpPr>
        <p:spPr>
          <a:xfrm>
            <a:off x="828000" y="6195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7</a:t>
            </a:r>
            <a:endParaRPr lang="en-US" sz="760" dirty="0"/>
          </a:p>
        </p:txBody>
      </p:sp>
      <p:sp>
        <p:nvSpPr>
          <p:cNvPr id="96" name="Text 93"/>
          <p:cNvSpPr/>
          <p:nvPr/>
        </p:nvSpPr>
        <p:spPr>
          <a:xfrm>
            <a:off x="1108800" y="6177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Vignobles Strasser Radziwill</a:t>
            </a:r>
            <a:endParaRPr lang="en-US" sz="950" dirty="0"/>
          </a:p>
        </p:txBody>
      </p:sp>
      <p:sp>
        <p:nvSpPr>
          <p:cNvPr id="97" name="Text 94"/>
          <p:cNvSpPr/>
          <p:nvPr/>
        </p:nvSpPr>
        <p:spPr>
          <a:xfrm>
            <a:off x="2772000" y="6177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Rhône</a:t>
            </a:r>
            <a:endParaRPr lang="en-US" sz="760" dirty="0"/>
          </a:p>
        </p:txBody>
      </p:sp>
      <p:sp>
        <p:nvSpPr>
          <p:cNvPr id="98" name="Text 95"/>
          <p:cNvSpPr/>
          <p:nvPr/>
        </p:nvSpPr>
        <p:spPr>
          <a:xfrm>
            <a:off x="3456000" y="6177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9" name="Shape 96"/>
          <p:cNvSpPr/>
          <p:nvPr/>
        </p:nvSpPr>
        <p:spPr>
          <a:xfrm>
            <a:off x="828000" y="6408058"/>
            <a:ext cx="2916000" cy="0"/>
          </a:xfrm>
          <a:prstGeom prst="line">
            <a:avLst/>
          </a:prstGeom>
          <a:noFill/>
          <a:ln w="3810">
            <a:solidFill>
              <a:srgbClr val="C9CFC9"/>
            </a:solidFill>
            <a:prstDash val="solid"/>
          </a:ln>
        </p:spPr>
      </p:sp>
      <p:sp>
        <p:nvSpPr>
          <p:cNvPr id="100" name="Shape 97"/>
          <p:cNvSpPr/>
          <p:nvPr/>
        </p:nvSpPr>
        <p:spPr>
          <a:xfrm>
            <a:off x="828000" y="6426058"/>
            <a:ext cx="194400" cy="194400"/>
          </a:xfrm>
          <a:prstGeom prst="ellipse">
            <a:avLst/>
          </a:prstGeom>
          <a:solidFill>
            <a:srgbClr val="A8515F"/>
          </a:solidFill>
          <a:ln w="7620">
            <a:solidFill>
              <a:srgbClr val="A8515F"/>
            </a:solidFill>
            <a:prstDash val="solid"/>
          </a:ln>
        </p:spPr>
      </p:sp>
      <p:sp>
        <p:nvSpPr>
          <p:cNvPr id="101" name="Text 98"/>
          <p:cNvSpPr/>
          <p:nvPr/>
        </p:nvSpPr>
        <p:spPr>
          <a:xfrm>
            <a:off x="828000" y="6426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8</a:t>
            </a:r>
            <a:endParaRPr lang="en-US" sz="760" dirty="0"/>
          </a:p>
        </p:txBody>
      </p:sp>
      <p:sp>
        <p:nvSpPr>
          <p:cNvPr id="102" name="Text 99"/>
          <p:cNvSpPr/>
          <p:nvPr/>
        </p:nvSpPr>
        <p:spPr>
          <a:xfrm>
            <a:off x="1108800" y="6408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Falfas</a:t>
            </a:r>
            <a:endParaRPr lang="en-US" sz="950" dirty="0"/>
          </a:p>
        </p:txBody>
      </p:sp>
      <p:sp>
        <p:nvSpPr>
          <p:cNvPr id="103" name="Text 100"/>
          <p:cNvSpPr/>
          <p:nvPr/>
        </p:nvSpPr>
        <p:spPr>
          <a:xfrm>
            <a:off x="2772000" y="6408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104" name="Text 101"/>
          <p:cNvSpPr/>
          <p:nvPr/>
        </p:nvSpPr>
        <p:spPr>
          <a:xfrm>
            <a:off x="3456000" y="6408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05" name="Shape 102"/>
          <p:cNvSpPr/>
          <p:nvPr/>
        </p:nvSpPr>
        <p:spPr>
          <a:xfrm>
            <a:off x="828000" y="6638458"/>
            <a:ext cx="2916000" cy="0"/>
          </a:xfrm>
          <a:prstGeom prst="line">
            <a:avLst/>
          </a:prstGeom>
          <a:noFill/>
          <a:ln w="3810">
            <a:solidFill>
              <a:srgbClr val="C9CFC9"/>
            </a:solidFill>
            <a:prstDash val="solid"/>
          </a:ln>
        </p:spPr>
      </p:sp>
      <p:sp>
        <p:nvSpPr>
          <p:cNvPr id="106" name="Shape 103"/>
          <p:cNvSpPr/>
          <p:nvPr/>
        </p:nvSpPr>
        <p:spPr>
          <a:xfrm>
            <a:off x="828000" y="6656458"/>
            <a:ext cx="194400" cy="194400"/>
          </a:xfrm>
          <a:prstGeom prst="ellipse">
            <a:avLst/>
          </a:prstGeom>
          <a:solidFill>
            <a:srgbClr val="3C5B47"/>
          </a:solidFill>
          <a:ln w="7620">
            <a:solidFill>
              <a:srgbClr val="3C5B47"/>
            </a:solidFill>
            <a:prstDash val="solid"/>
          </a:ln>
        </p:spPr>
      </p:sp>
      <p:sp>
        <p:nvSpPr>
          <p:cNvPr id="107" name="Text 104"/>
          <p:cNvSpPr/>
          <p:nvPr/>
        </p:nvSpPr>
        <p:spPr>
          <a:xfrm>
            <a:off x="828000" y="6656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9</a:t>
            </a:r>
            <a:endParaRPr lang="en-US" sz="760" dirty="0"/>
          </a:p>
        </p:txBody>
      </p:sp>
      <p:sp>
        <p:nvSpPr>
          <p:cNvPr id="108" name="Text 105"/>
          <p:cNvSpPr/>
          <p:nvPr/>
        </p:nvSpPr>
        <p:spPr>
          <a:xfrm>
            <a:off x="1108800" y="6638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Boehler</a:t>
            </a:r>
            <a:endParaRPr lang="en-US" sz="950" dirty="0"/>
          </a:p>
        </p:txBody>
      </p:sp>
      <p:sp>
        <p:nvSpPr>
          <p:cNvPr id="109" name="Text 106"/>
          <p:cNvSpPr/>
          <p:nvPr/>
        </p:nvSpPr>
        <p:spPr>
          <a:xfrm>
            <a:off x="2772000" y="6638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Alsace</a:t>
            </a:r>
            <a:endParaRPr lang="en-US" sz="760" dirty="0"/>
          </a:p>
        </p:txBody>
      </p:sp>
      <p:sp>
        <p:nvSpPr>
          <p:cNvPr id="110" name="Text 107"/>
          <p:cNvSpPr/>
          <p:nvPr/>
        </p:nvSpPr>
        <p:spPr>
          <a:xfrm>
            <a:off x="3456000" y="6638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111" name="Shape 108"/>
          <p:cNvSpPr/>
          <p:nvPr/>
        </p:nvSpPr>
        <p:spPr>
          <a:xfrm>
            <a:off x="828000" y="6868858"/>
            <a:ext cx="2916000" cy="0"/>
          </a:xfrm>
          <a:prstGeom prst="line">
            <a:avLst/>
          </a:prstGeom>
          <a:noFill/>
          <a:ln w="3810">
            <a:solidFill>
              <a:srgbClr val="C9CFC9"/>
            </a:solidFill>
            <a:prstDash val="solid"/>
          </a:ln>
        </p:spPr>
      </p:sp>
      <p:sp>
        <p:nvSpPr>
          <p:cNvPr id="112" name="Shape 109"/>
          <p:cNvSpPr/>
          <p:nvPr/>
        </p:nvSpPr>
        <p:spPr>
          <a:xfrm>
            <a:off x="828000" y="6886858"/>
            <a:ext cx="194400" cy="194400"/>
          </a:xfrm>
          <a:prstGeom prst="ellipse">
            <a:avLst/>
          </a:prstGeom>
          <a:solidFill>
            <a:srgbClr val="46606E"/>
          </a:solidFill>
          <a:ln w="7620">
            <a:solidFill>
              <a:srgbClr val="46606E"/>
            </a:solidFill>
            <a:prstDash val="solid"/>
          </a:ln>
        </p:spPr>
      </p:sp>
      <p:sp>
        <p:nvSpPr>
          <p:cNvPr id="113" name="Text 110"/>
          <p:cNvSpPr/>
          <p:nvPr/>
        </p:nvSpPr>
        <p:spPr>
          <a:xfrm>
            <a:off x="828000" y="68868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10</a:t>
            </a:r>
            <a:endParaRPr lang="en-US" sz="760" dirty="0"/>
          </a:p>
        </p:txBody>
      </p:sp>
      <p:sp>
        <p:nvSpPr>
          <p:cNvPr id="114" name="Text 111"/>
          <p:cNvSpPr/>
          <p:nvPr/>
        </p:nvSpPr>
        <p:spPr>
          <a:xfrm>
            <a:off x="1108800" y="6868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François Reverdy</a:t>
            </a:r>
            <a:endParaRPr lang="en-US" sz="950" dirty="0"/>
          </a:p>
        </p:txBody>
      </p:sp>
      <p:sp>
        <p:nvSpPr>
          <p:cNvPr id="115" name="Text 112"/>
          <p:cNvSpPr/>
          <p:nvPr/>
        </p:nvSpPr>
        <p:spPr>
          <a:xfrm>
            <a:off x="2772000" y="6868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16" name="Text 113"/>
          <p:cNvSpPr/>
          <p:nvPr/>
        </p:nvSpPr>
        <p:spPr>
          <a:xfrm>
            <a:off x="3456000" y="6868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17" name="Shape 114"/>
          <p:cNvSpPr/>
          <p:nvPr/>
        </p:nvSpPr>
        <p:spPr>
          <a:xfrm>
            <a:off x="828000" y="7099258"/>
            <a:ext cx="2916000" cy="0"/>
          </a:xfrm>
          <a:prstGeom prst="line">
            <a:avLst/>
          </a:prstGeom>
          <a:noFill/>
          <a:ln w="3810">
            <a:solidFill>
              <a:srgbClr val="C9CFC9"/>
            </a:solidFill>
            <a:prstDash val="solid"/>
          </a:ln>
        </p:spPr>
      </p:sp>
      <p:sp>
        <p:nvSpPr>
          <p:cNvPr id="118" name="Shape 115"/>
          <p:cNvSpPr/>
          <p:nvPr/>
        </p:nvSpPr>
        <p:spPr>
          <a:xfrm>
            <a:off x="828000" y="7117258"/>
            <a:ext cx="194400" cy="194400"/>
          </a:xfrm>
          <a:prstGeom prst="ellipse">
            <a:avLst/>
          </a:prstGeom>
          <a:solidFill>
            <a:srgbClr val="FBF8F1"/>
          </a:solidFill>
          <a:ln w="7620">
            <a:solidFill>
              <a:srgbClr val="46606E"/>
            </a:solidFill>
            <a:prstDash val="solid"/>
          </a:ln>
        </p:spPr>
      </p:sp>
      <p:sp>
        <p:nvSpPr>
          <p:cNvPr id="119" name="Text 116"/>
          <p:cNvSpPr/>
          <p:nvPr/>
        </p:nvSpPr>
        <p:spPr>
          <a:xfrm>
            <a:off x="828000" y="71172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11</a:t>
            </a:r>
            <a:endParaRPr lang="en-US" sz="760" dirty="0"/>
          </a:p>
        </p:txBody>
      </p:sp>
      <p:sp>
        <p:nvSpPr>
          <p:cNvPr id="120" name="Text 117"/>
          <p:cNvSpPr/>
          <p:nvPr/>
        </p:nvSpPr>
        <p:spPr>
          <a:xfrm>
            <a:off x="1108800" y="7099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Dekeyne</a:t>
            </a:r>
            <a:endParaRPr lang="en-US" sz="950" dirty="0"/>
          </a:p>
        </p:txBody>
      </p:sp>
      <p:sp>
        <p:nvSpPr>
          <p:cNvPr id="121" name="Text 118"/>
          <p:cNvSpPr/>
          <p:nvPr/>
        </p:nvSpPr>
        <p:spPr>
          <a:xfrm>
            <a:off x="2772000" y="7099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122" name="Text 119"/>
          <p:cNvSpPr/>
          <p:nvPr/>
        </p:nvSpPr>
        <p:spPr>
          <a:xfrm>
            <a:off x="3456000" y="7099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23" name="Shape 120"/>
          <p:cNvSpPr/>
          <p:nvPr/>
        </p:nvSpPr>
        <p:spPr>
          <a:xfrm>
            <a:off x="828000" y="7329658"/>
            <a:ext cx="2916000" cy="0"/>
          </a:xfrm>
          <a:prstGeom prst="line">
            <a:avLst/>
          </a:prstGeom>
          <a:noFill/>
          <a:ln w="3810">
            <a:solidFill>
              <a:srgbClr val="C9CFC9"/>
            </a:solidFill>
            <a:prstDash val="solid"/>
          </a:ln>
        </p:spPr>
      </p:sp>
      <p:sp>
        <p:nvSpPr>
          <p:cNvPr id="124" name="Shape 121"/>
          <p:cNvSpPr/>
          <p:nvPr/>
        </p:nvSpPr>
        <p:spPr>
          <a:xfrm>
            <a:off x="828000" y="7347658"/>
            <a:ext cx="194400" cy="194400"/>
          </a:xfrm>
          <a:prstGeom prst="ellipse">
            <a:avLst/>
          </a:prstGeom>
          <a:solidFill>
            <a:srgbClr val="3C5B47"/>
          </a:solidFill>
          <a:ln w="7620">
            <a:solidFill>
              <a:srgbClr val="3C5B47"/>
            </a:solidFill>
            <a:prstDash val="solid"/>
          </a:ln>
        </p:spPr>
      </p:sp>
      <p:sp>
        <p:nvSpPr>
          <p:cNvPr id="125" name="Text 122"/>
          <p:cNvSpPr/>
          <p:nvPr/>
        </p:nvSpPr>
        <p:spPr>
          <a:xfrm>
            <a:off x="828000" y="7347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12</a:t>
            </a:r>
            <a:endParaRPr lang="en-US" sz="760" dirty="0"/>
          </a:p>
        </p:txBody>
      </p:sp>
      <p:sp>
        <p:nvSpPr>
          <p:cNvPr id="126" name="Text 123"/>
          <p:cNvSpPr/>
          <p:nvPr/>
        </p:nvSpPr>
        <p:spPr>
          <a:xfrm>
            <a:off x="1108800" y="7329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Trichon</a:t>
            </a:r>
            <a:endParaRPr lang="en-US" sz="950" dirty="0"/>
          </a:p>
        </p:txBody>
      </p:sp>
      <p:sp>
        <p:nvSpPr>
          <p:cNvPr id="127" name="Text 124"/>
          <p:cNvSpPr/>
          <p:nvPr/>
        </p:nvSpPr>
        <p:spPr>
          <a:xfrm>
            <a:off x="2772000" y="7329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Rhône</a:t>
            </a:r>
            <a:endParaRPr lang="en-US" sz="760" dirty="0"/>
          </a:p>
        </p:txBody>
      </p:sp>
      <p:sp>
        <p:nvSpPr>
          <p:cNvPr id="128" name="Text 125"/>
          <p:cNvSpPr/>
          <p:nvPr/>
        </p:nvSpPr>
        <p:spPr>
          <a:xfrm>
            <a:off x="3456000" y="7329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29" name="Shape 126"/>
          <p:cNvSpPr/>
          <p:nvPr/>
        </p:nvSpPr>
        <p:spPr>
          <a:xfrm>
            <a:off x="828000" y="7560058"/>
            <a:ext cx="2916000" cy="0"/>
          </a:xfrm>
          <a:prstGeom prst="line">
            <a:avLst/>
          </a:prstGeom>
          <a:noFill/>
          <a:ln w="3810">
            <a:solidFill>
              <a:srgbClr val="C9CFC9"/>
            </a:solidFill>
            <a:prstDash val="solid"/>
          </a:ln>
        </p:spPr>
      </p:sp>
      <p:sp>
        <p:nvSpPr>
          <p:cNvPr id="130" name="Shape 127"/>
          <p:cNvSpPr/>
          <p:nvPr/>
        </p:nvSpPr>
        <p:spPr>
          <a:xfrm>
            <a:off x="828000" y="7578058"/>
            <a:ext cx="194400" cy="194400"/>
          </a:xfrm>
          <a:prstGeom prst="ellipse">
            <a:avLst/>
          </a:prstGeom>
          <a:solidFill>
            <a:srgbClr val="3C5B47"/>
          </a:solidFill>
          <a:ln w="7620">
            <a:solidFill>
              <a:srgbClr val="3C5B47"/>
            </a:solidFill>
            <a:prstDash val="solid"/>
          </a:ln>
        </p:spPr>
      </p:sp>
      <p:sp>
        <p:nvSpPr>
          <p:cNvPr id="131" name="Text 128"/>
          <p:cNvSpPr/>
          <p:nvPr/>
        </p:nvSpPr>
        <p:spPr>
          <a:xfrm>
            <a:off x="828000" y="7578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13</a:t>
            </a:r>
            <a:endParaRPr lang="en-US" sz="760" dirty="0"/>
          </a:p>
        </p:txBody>
      </p:sp>
      <p:sp>
        <p:nvSpPr>
          <p:cNvPr id="132" name="Text 129"/>
          <p:cNvSpPr/>
          <p:nvPr/>
        </p:nvSpPr>
        <p:spPr>
          <a:xfrm>
            <a:off x="1108800" y="7560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de Gragnos</a:t>
            </a:r>
            <a:endParaRPr lang="en-US" sz="950" dirty="0"/>
          </a:p>
        </p:txBody>
      </p:sp>
      <p:sp>
        <p:nvSpPr>
          <p:cNvPr id="133" name="Text 130"/>
          <p:cNvSpPr/>
          <p:nvPr/>
        </p:nvSpPr>
        <p:spPr>
          <a:xfrm>
            <a:off x="2772000" y="7560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Languedoc</a:t>
            </a:r>
            <a:endParaRPr lang="en-US" sz="760" dirty="0"/>
          </a:p>
        </p:txBody>
      </p:sp>
      <p:sp>
        <p:nvSpPr>
          <p:cNvPr id="134" name="Text 131"/>
          <p:cNvSpPr/>
          <p:nvPr/>
        </p:nvSpPr>
        <p:spPr>
          <a:xfrm>
            <a:off x="3456000" y="7560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35" name="Shape 132"/>
          <p:cNvSpPr/>
          <p:nvPr/>
        </p:nvSpPr>
        <p:spPr>
          <a:xfrm>
            <a:off x="828000" y="7790458"/>
            <a:ext cx="2916000" cy="0"/>
          </a:xfrm>
          <a:prstGeom prst="line">
            <a:avLst/>
          </a:prstGeom>
          <a:noFill/>
          <a:ln w="3810">
            <a:solidFill>
              <a:srgbClr val="C9CFC9"/>
            </a:solidFill>
            <a:prstDash val="solid"/>
          </a:ln>
        </p:spPr>
      </p:sp>
      <p:sp>
        <p:nvSpPr>
          <p:cNvPr id="136" name="Shape 133"/>
          <p:cNvSpPr/>
          <p:nvPr/>
        </p:nvSpPr>
        <p:spPr>
          <a:xfrm>
            <a:off x="4032000" y="4813258"/>
            <a:ext cx="194400" cy="194400"/>
          </a:xfrm>
          <a:prstGeom prst="ellipse">
            <a:avLst/>
          </a:prstGeom>
          <a:solidFill>
            <a:srgbClr val="46606E"/>
          </a:solidFill>
          <a:ln w="7620">
            <a:solidFill>
              <a:srgbClr val="46606E"/>
            </a:solidFill>
            <a:prstDash val="solid"/>
          </a:ln>
        </p:spPr>
      </p:sp>
      <p:sp>
        <p:nvSpPr>
          <p:cNvPr id="137" name="Text 134"/>
          <p:cNvSpPr/>
          <p:nvPr/>
        </p:nvSpPr>
        <p:spPr>
          <a:xfrm>
            <a:off x="4032000" y="4813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14</a:t>
            </a:r>
            <a:endParaRPr lang="en-US" sz="760" dirty="0"/>
          </a:p>
        </p:txBody>
      </p:sp>
      <p:sp>
        <p:nvSpPr>
          <p:cNvPr id="138" name="Text 135"/>
          <p:cNvSpPr/>
          <p:nvPr/>
        </p:nvSpPr>
        <p:spPr>
          <a:xfrm>
            <a:off x="4312800" y="4795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des Noëls</a:t>
            </a:r>
            <a:endParaRPr lang="en-US" sz="950" dirty="0"/>
          </a:p>
        </p:txBody>
      </p:sp>
      <p:sp>
        <p:nvSpPr>
          <p:cNvPr id="139" name="Text 136"/>
          <p:cNvSpPr/>
          <p:nvPr/>
        </p:nvSpPr>
        <p:spPr>
          <a:xfrm>
            <a:off x="5976000" y="4795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40" name="Text 137"/>
          <p:cNvSpPr/>
          <p:nvPr/>
        </p:nvSpPr>
        <p:spPr>
          <a:xfrm>
            <a:off x="6660000" y="4795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141" name="Shape 138"/>
          <p:cNvSpPr/>
          <p:nvPr/>
        </p:nvSpPr>
        <p:spPr>
          <a:xfrm>
            <a:off x="4032000" y="5025658"/>
            <a:ext cx="2916000" cy="0"/>
          </a:xfrm>
          <a:prstGeom prst="line">
            <a:avLst/>
          </a:prstGeom>
          <a:noFill/>
          <a:ln w="3810">
            <a:solidFill>
              <a:srgbClr val="C9CFC9"/>
            </a:solidFill>
            <a:prstDash val="solid"/>
          </a:ln>
        </p:spPr>
      </p:sp>
      <p:sp>
        <p:nvSpPr>
          <p:cNvPr id="142" name="Shape 139"/>
          <p:cNvSpPr/>
          <p:nvPr/>
        </p:nvSpPr>
        <p:spPr>
          <a:xfrm>
            <a:off x="4032000" y="5043658"/>
            <a:ext cx="194400" cy="194400"/>
          </a:xfrm>
          <a:prstGeom prst="ellipse">
            <a:avLst/>
          </a:prstGeom>
          <a:solidFill>
            <a:srgbClr val="FBF8F1"/>
          </a:solidFill>
          <a:ln w="7620">
            <a:solidFill>
              <a:srgbClr val="46606E"/>
            </a:solidFill>
            <a:prstDash val="solid"/>
          </a:ln>
        </p:spPr>
      </p:sp>
      <p:sp>
        <p:nvSpPr>
          <p:cNvPr id="143" name="Text 140"/>
          <p:cNvSpPr/>
          <p:nvPr/>
        </p:nvSpPr>
        <p:spPr>
          <a:xfrm>
            <a:off x="4032000" y="50436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15</a:t>
            </a:r>
            <a:endParaRPr lang="en-US" sz="760" dirty="0"/>
          </a:p>
        </p:txBody>
      </p:sp>
      <p:sp>
        <p:nvSpPr>
          <p:cNvPr id="144" name="Text 141"/>
          <p:cNvSpPr/>
          <p:nvPr/>
        </p:nvSpPr>
        <p:spPr>
          <a:xfrm>
            <a:off x="4312800" y="5025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Vazart-Coquart</a:t>
            </a:r>
            <a:endParaRPr lang="en-US" sz="950" dirty="0"/>
          </a:p>
        </p:txBody>
      </p:sp>
      <p:sp>
        <p:nvSpPr>
          <p:cNvPr id="145" name="Text 142"/>
          <p:cNvSpPr/>
          <p:nvPr/>
        </p:nvSpPr>
        <p:spPr>
          <a:xfrm>
            <a:off x="5976000" y="5025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146" name="Text 143"/>
          <p:cNvSpPr/>
          <p:nvPr/>
        </p:nvSpPr>
        <p:spPr>
          <a:xfrm>
            <a:off x="6660000" y="5025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47" name="Shape 144"/>
          <p:cNvSpPr/>
          <p:nvPr/>
        </p:nvSpPr>
        <p:spPr>
          <a:xfrm>
            <a:off x="4032000" y="5256058"/>
            <a:ext cx="2916000" cy="0"/>
          </a:xfrm>
          <a:prstGeom prst="line">
            <a:avLst/>
          </a:prstGeom>
          <a:noFill/>
          <a:ln w="3810">
            <a:solidFill>
              <a:srgbClr val="C9CFC9"/>
            </a:solidFill>
            <a:prstDash val="solid"/>
          </a:ln>
        </p:spPr>
      </p:sp>
      <p:sp>
        <p:nvSpPr>
          <p:cNvPr id="148" name="Shape 145"/>
          <p:cNvSpPr/>
          <p:nvPr/>
        </p:nvSpPr>
        <p:spPr>
          <a:xfrm>
            <a:off x="4032000" y="5274058"/>
            <a:ext cx="194400" cy="194400"/>
          </a:xfrm>
          <a:prstGeom prst="ellipse">
            <a:avLst/>
          </a:prstGeom>
          <a:solidFill>
            <a:srgbClr val="A8515F"/>
          </a:solidFill>
          <a:ln w="7620">
            <a:solidFill>
              <a:srgbClr val="A8515F"/>
            </a:solidFill>
            <a:prstDash val="solid"/>
          </a:ln>
        </p:spPr>
      </p:sp>
      <p:sp>
        <p:nvSpPr>
          <p:cNvPr id="149" name="Text 146"/>
          <p:cNvSpPr/>
          <p:nvPr/>
        </p:nvSpPr>
        <p:spPr>
          <a:xfrm>
            <a:off x="4032000" y="5274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16</a:t>
            </a:r>
            <a:endParaRPr lang="en-US" sz="760" dirty="0"/>
          </a:p>
        </p:txBody>
      </p:sp>
      <p:sp>
        <p:nvSpPr>
          <p:cNvPr id="150" name="Text 147"/>
          <p:cNvSpPr/>
          <p:nvPr/>
        </p:nvSpPr>
        <p:spPr>
          <a:xfrm>
            <a:off x="4312800" y="5256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Pré La Lande</a:t>
            </a:r>
            <a:endParaRPr lang="en-US" sz="950" dirty="0"/>
          </a:p>
        </p:txBody>
      </p:sp>
      <p:sp>
        <p:nvSpPr>
          <p:cNvPr id="151" name="Text 148"/>
          <p:cNvSpPr/>
          <p:nvPr/>
        </p:nvSpPr>
        <p:spPr>
          <a:xfrm>
            <a:off x="5976000" y="5256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152" name="Text 149"/>
          <p:cNvSpPr/>
          <p:nvPr/>
        </p:nvSpPr>
        <p:spPr>
          <a:xfrm>
            <a:off x="6660000" y="5256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53" name="Shape 150"/>
          <p:cNvSpPr/>
          <p:nvPr/>
        </p:nvSpPr>
        <p:spPr>
          <a:xfrm>
            <a:off x="4032000" y="5486458"/>
            <a:ext cx="2916000" cy="0"/>
          </a:xfrm>
          <a:prstGeom prst="line">
            <a:avLst/>
          </a:prstGeom>
          <a:noFill/>
          <a:ln w="3810">
            <a:solidFill>
              <a:srgbClr val="C9CFC9"/>
            </a:solidFill>
            <a:prstDash val="solid"/>
          </a:ln>
        </p:spPr>
      </p:sp>
      <p:sp>
        <p:nvSpPr>
          <p:cNvPr id="154" name="Shape 151"/>
          <p:cNvSpPr/>
          <p:nvPr/>
        </p:nvSpPr>
        <p:spPr>
          <a:xfrm>
            <a:off x="4032000" y="5504458"/>
            <a:ext cx="194400" cy="194400"/>
          </a:xfrm>
          <a:prstGeom prst="ellipse">
            <a:avLst/>
          </a:prstGeom>
          <a:solidFill>
            <a:srgbClr val="46606E"/>
          </a:solidFill>
          <a:ln w="7620">
            <a:solidFill>
              <a:srgbClr val="46606E"/>
            </a:solidFill>
            <a:prstDash val="solid"/>
          </a:ln>
        </p:spPr>
      </p:sp>
      <p:sp>
        <p:nvSpPr>
          <p:cNvPr id="155" name="Text 152"/>
          <p:cNvSpPr/>
          <p:nvPr/>
        </p:nvSpPr>
        <p:spPr>
          <a:xfrm>
            <a:off x="4032000" y="5504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17</a:t>
            </a:r>
            <a:endParaRPr lang="en-US" sz="760" dirty="0"/>
          </a:p>
        </p:txBody>
      </p:sp>
      <p:sp>
        <p:nvSpPr>
          <p:cNvPr id="156" name="Text 153"/>
          <p:cNvSpPr/>
          <p:nvPr/>
        </p:nvSpPr>
        <p:spPr>
          <a:xfrm>
            <a:off x="4312800" y="5486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Vignobles Jean de Villebois</a:t>
            </a:r>
            <a:endParaRPr lang="en-US" sz="950" dirty="0"/>
          </a:p>
        </p:txBody>
      </p:sp>
      <p:sp>
        <p:nvSpPr>
          <p:cNvPr id="157" name="Text 154"/>
          <p:cNvSpPr/>
          <p:nvPr/>
        </p:nvSpPr>
        <p:spPr>
          <a:xfrm>
            <a:off x="5976000" y="5486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58" name="Text 155"/>
          <p:cNvSpPr/>
          <p:nvPr/>
        </p:nvSpPr>
        <p:spPr>
          <a:xfrm>
            <a:off x="6660000" y="5486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159" name="Shape 156"/>
          <p:cNvSpPr/>
          <p:nvPr/>
        </p:nvSpPr>
        <p:spPr>
          <a:xfrm>
            <a:off x="4032000" y="5716858"/>
            <a:ext cx="2916000" cy="0"/>
          </a:xfrm>
          <a:prstGeom prst="line">
            <a:avLst/>
          </a:prstGeom>
          <a:noFill/>
          <a:ln w="3810">
            <a:solidFill>
              <a:srgbClr val="C9CFC9"/>
            </a:solidFill>
            <a:prstDash val="solid"/>
          </a:ln>
        </p:spPr>
      </p:sp>
      <p:sp>
        <p:nvSpPr>
          <p:cNvPr id="160" name="Shape 157"/>
          <p:cNvSpPr/>
          <p:nvPr/>
        </p:nvSpPr>
        <p:spPr>
          <a:xfrm>
            <a:off x="4032000" y="5734858"/>
            <a:ext cx="194400" cy="194400"/>
          </a:xfrm>
          <a:prstGeom prst="ellipse">
            <a:avLst/>
          </a:prstGeom>
          <a:solidFill>
            <a:srgbClr val="D08C3C"/>
          </a:solidFill>
          <a:ln w="7620">
            <a:solidFill>
              <a:srgbClr val="D08C3C"/>
            </a:solidFill>
            <a:prstDash val="solid"/>
          </a:ln>
        </p:spPr>
      </p:sp>
      <p:sp>
        <p:nvSpPr>
          <p:cNvPr id="161" name="Text 158"/>
          <p:cNvSpPr/>
          <p:nvPr/>
        </p:nvSpPr>
        <p:spPr>
          <a:xfrm>
            <a:off x="4032000" y="57348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18</a:t>
            </a:r>
            <a:endParaRPr lang="en-US" sz="760" dirty="0"/>
          </a:p>
        </p:txBody>
      </p:sp>
      <p:sp>
        <p:nvSpPr>
          <p:cNvPr id="162" name="Text 159"/>
          <p:cNvSpPr/>
          <p:nvPr/>
        </p:nvSpPr>
        <p:spPr>
          <a:xfrm>
            <a:off x="4312800" y="5716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Sébastien Magnien</a:t>
            </a:r>
            <a:endParaRPr lang="en-US" sz="950" dirty="0"/>
          </a:p>
        </p:txBody>
      </p:sp>
      <p:sp>
        <p:nvSpPr>
          <p:cNvPr id="163" name="Text 160"/>
          <p:cNvSpPr/>
          <p:nvPr/>
        </p:nvSpPr>
        <p:spPr>
          <a:xfrm>
            <a:off x="5976000" y="5716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Bourgogne</a:t>
            </a:r>
            <a:endParaRPr lang="en-US" sz="760" dirty="0"/>
          </a:p>
        </p:txBody>
      </p:sp>
      <p:sp>
        <p:nvSpPr>
          <p:cNvPr id="164" name="Text 161"/>
          <p:cNvSpPr/>
          <p:nvPr/>
        </p:nvSpPr>
        <p:spPr>
          <a:xfrm>
            <a:off x="6660000" y="5716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165" name="Shape 162"/>
          <p:cNvSpPr/>
          <p:nvPr/>
        </p:nvSpPr>
        <p:spPr>
          <a:xfrm>
            <a:off x="4032000" y="5947258"/>
            <a:ext cx="2916000" cy="0"/>
          </a:xfrm>
          <a:prstGeom prst="line">
            <a:avLst/>
          </a:prstGeom>
          <a:noFill/>
          <a:ln w="3810">
            <a:solidFill>
              <a:srgbClr val="C9CFC9"/>
            </a:solidFill>
            <a:prstDash val="solid"/>
          </a:ln>
        </p:spPr>
      </p:sp>
      <p:sp>
        <p:nvSpPr>
          <p:cNvPr id="166" name="Shape 163"/>
          <p:cNvSpPr/>
          <p:nvPr/>
        </p:nvSpPr>
        <p:spPr>
          <a:xfrm>
            <a:off x="4032000" y="5965258"/>
            <a:ext cx="194400" cy="194400"/>
          </a:xfrm>
          <a:prstGeom prst="ellipse">
            <a:avLst/>
          </a:prstGeom>
          <a:solidFill>
            <a:srgbClr val="46606E"/>
          </a:solidFill>
          <a:ln w="7620">
            <a:solidFill>
              <a:srgbClr val="46606E"/>
            </a:solidFill>
            <a:prstDash val="solid"/>
          </a:ln>
        </p:spPr>
      </p:sp>
      <p:sp>
        <p:nvSpPr>
          <p:cNvPr id="167" name="Text 164"/>
          <p:cNvSpPr/>
          <p:nvPr/>
        </p:nvSpPr>
        <p:spPr>
          <a:xfrm>
            <a:off x="4032000" y="5965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19</a:t>
            </a:r>
            <a:endParaRPr lang="en-US" sz="760" dirty="0"/>
          </a:p>
        </p:txBody>
      </p:sp>
      <p:sp>
        <p:nvSpPr>
          <p:cNvPr id="168" name="Text 165"/>
          <p:cNvSpPr/>
          <p:nvPr/>
        </p:nvSpPr>
        <p:spPr>
          <a:xfrm>
            <a:off x="4312800" y="5947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Bastide de Blacailloux</a:t>
            </a:r>
            <a:endParaRPr lang="en-US" sz="950" dirty="0"/>
          </a:p>
        </p:txBody>
      </p:sp>
      <p:sp>
        <p:nvSpPr>
          <p:cNvPr id="169" name="Text 166"/>
          <p:cNvSpPr/>
          <p:nvPr/>
        </p:nvSpPr>
        <p:spPr>
          <a:xfrm>
            <a:off x="5976000" y="5947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Provence</a:t>
            </a:r>
            <a:endParaRPr lang="en-US" sz="760" dirty="0"/>
          </a:p>
        </p:txBody>
      </p:sp>
      <p:sp>
        <p:nvSpPr>
          <p:cNvPr id="170" name="Text 167"/>
          <p:cNvSpPr/>
          <p:nvPr/>
        </p:nvSpPr>
        <p:spPr>
          <a:xfrm>
            <a:off x="6660000" y="5947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71" name="Shape 168"/>
          <p:cNvSpPr/>
          <p:nvPr/>
        </p:nvSpPr>
        <p:spPr>
          <a:xfrm>
            <a:off x="4032000" y="6177658"/>
            <a:ext cx="2916000" cy="0"/>
          </a:xfrm>
          <a:prstGeom prst="line">
            <a:avLst/>
          </a:prstGeom>
          <a:noFill/>
          <a:ln w="3810">
            <a:solidFill>
              <a:srgbClr val="C9CFC9"/>
            </a:solidFill>
            <a:prstDash val="solid"/>
          </a:ln>
        </p:spPr>
      </p:sp>
      <p:sp>
        <p:nvSpPr>
          <p:cNvPr id="172" name="Shape 169"/>
          <p:cNvSpPr/>
          <p:nvPr/>
        </p:nvSpPr>
        <p:spPr>
          <a:xfrm>
            <a:off x="4032000" y="6195658"/>
            <a:ext cx="194400" cy="194400"/>
          </a:xfrm>
          <a:prstGeom prst="ellipse">
            <a:avLst/>
          </a:prstGeom>
          <a:solidFill>
            <a:srgbClr val="D08C3C"/>
          </a:solidFill>
          <a:ln w="7620">
            <a:solidFill>
              <a:srgbClr val="D08C3C"/>
            </a:solidFill>
            <a:prstDash val="solid"/>
          </a:ln>
        </p:spPr>
      </p:sp>
      <p:sp>
        <p:nvSpPr>
          <p:cNvPr id="173" name="Text 170"/>
          <p:cNvSpPr/>
          <p:nvPr/>
        </p:nvSpPr>
        <p:spPr>
          <a:xfrm>
            <a:off x="4032000" y="6195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20</a:t>
            </a:r>
            <a:endParaRPr lang="en-US" sz="760" dirty="0"/>
          </a:p>
        </p:txBody>
      </p:sp>
      <p:sp>
        <p:nvSpPr>
          <p:cNvPr id="174" name="Text 171"/>
          <p:cNvSpPr/>
          <p:nvPr/>
        </p:nvSpPr>
        <p:spPr>
          <a:xfrm>
            <a:off x="4312800" y="6177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Stratéus</a:t>
            </a:r>
            <a:endParaRPr lang="en-US" sz="950" dirty="0"/>
          </a:p>
        </p:txBody>
      </p:sp>
      <p:sp>
        <p:nvSpPr>
          <p:cNvPr id="175" name="Text 172"/>
          <p:cNvSpPr/>
          <p:nvPr/>
        </p:nvSpPr>
        <p:spPr>
          <a:xfrm>
            <a:off x="5976000" y="6177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Sud-Ouest</a:t>
            </a:r>
            <a:endParaRPr lang="en-US" sz="760" dirty="0"/>
          </a:p>
        </p:txBody>
      </p:sp>
      <p:sp>
        <p:nvSpPr>
          <p:cNvPr id="176" name="Text 173"/>
          <p:cNvSpPr/>
          <p:nvPr/>
        </p:nvSpPr>
        <p:spPr>
          <a:xfrm>
            <a:off x="6660000" y="6177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77" name="Shape 174"/>
          <p:cNvSpPr/>
          <p:nvPr/>
        </p:nvSpPr>
        <p:spPr>
          <a:xfrm>
            <a:off x="4032000" y="6408058"/>
            <a:ext cx="2916000" cy="0"/>
          </a:xfrm>
          <a:prstGeom prst="line">
            <a:avLst/>
          </a:prstGeom>
          <a:noFill/>
          <a:ln w="3810">
            <a:solidFill>
              <a:srgbClr val="C9CFC9"/>
            </a:solidFill>
            <a:prstDash val="solid"/>
          </a:ln>
        </p:spPr>
      </p:sp>
      <p:sp>
        <p:nvSpPr>
          <p:cNvPr id="178" name="Shape 175"/>
          <p:cNvSpPr/>
          <p:nvPr/>
        </p:nvSpPr>
        <p:spPr>
          <a:xfrm>
            <a:off x="4032000" y="6426058"/>
            <a:ext cx="194400" cy="194400"/>
          </a:xfrm>
          <a:prstGeom prst="ellipse">
            <a:avLst/>
          </a:prstGeom>
          <a:solidFill>
            <a:srgbClr val="3C5B47"/>
          </a:solidFill>
          <a:ln w="7620">
            <a:solidFill>
              <a:srgbClr val="3C5B47"/>
            </a:solidFill>
            <a:prstDash val="solid"/>
          </a:ln>
        </p:spPr>
      </p:sp>
      <p:sp>
        <p:nvSpPr>
          <p:cNvPr id="179" name="Text 176"/>
          <p:cNvSpPr/>
          <p:nvPr/>
        </p:nvSpPr>
        <p:spPr>
          <a:xfrm>
            <a:off x="4032000" y="6426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21</a:t>
            </a:r>
            <a:endParaRPr lang="en-US" sz="760" dirty="0"/>
          </a:p>
        </p:txBody>
      </p:sp>
      <p:sp>
        <p:nvSpPr>
          <p:cNvPr id="180" name="Text 177"/>
          <p:cNvSpPr/>
          <p:nvPr/>
        </p:nvSpPr>
        <p:spPr>
          <a:xfrm>
            <a:off x="4312800" y="6408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Famille d’Exea</a:t>
            </a:r>
            <a:endParaRPr lang="en-US" sz="950" dirty="0"/>
          </a:p>
        </p:txBody>
      </p:sp>
      <p:sp>
        <p:nvSpPr>
          <p:cNvPr id="181" name="Text 178"/>
          <p:cNvSpPr/>
          <p:nvPr/>
        </p:nvSpPr>
        <p:spPr>
          <a:xfrm>
            <a:off x="5976000" y="6408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Languedoc</a:t>
            </a:r>
            <a:endParaRPr lang="en-US" sz="760" dirty="0"/>
          </a:p>
        </p:txBody>
      </p:sp>
      <p:sp>
        <p:nvSpPr>
          <p:cNvPr id="182" name="Text 179"/>
          <p:cNvSpPr/>
          <p:nvPr/>
        </p:nvSpPr>
        <p:spPr>
          <a:xfrm>
            <a:off x="6660000" y="6408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83" name="Shape 180"/>
          <p:cNvSpPr/>
          <p:nvPr/>
        </p:nvSpPr>
        <p:spPr>
          <a:xfrm>
            <a:off x="4032000" y="6638458"/>
            <a:ext cx="2916000" cy="0"/>
          </a:xfrm>
          <a:prstGeom prst="line">
            <a:avLst/>
          </a:prstGeom>
          <a:noFill/>
          <a:ln w="3810">
            <a:solidFill>
              <a:srgbClr val="C9CFC9"/>
            </a:solidFill>
            <a:prstDash val="solid"/>
          </a:ln>
        </p:spPr>
      </p:sp>
      <p:sp>
        <p:nvSpPr>
          <p:cNvPr id="184" name="Shape 181"/>
          <p:cNvSpPr/>
          <p:nvPr/>
        </p:nvSpPr>
        <p:spPr>
          <a:xfrm>
            <a:off x="4032000" y="6656458"/>
            <a:ext cx="194400" cy="194400"/>
          </a:xfrm>
          <a:prstGeom prst="ellipse">
            <a:avLst/>
          </a:prstGeom>
          <a:solidFill>
            <a:srgbClr val="46606E"/>
          </a:solidFill>
          <a:ln w="7620">
            <a:solidFill>
              <a:srgbClr val="46606E"/>
            </a:solidFill>
            <a:prstDash val="solid"/>
          </a:ln>
        </p:spPr>
      </p:sp>
      <p:sp>
        <p:nvSpPr>
          <p:cNvPr id="185" name="Text 182"/>
          <p:cNvSpPr/>
          <p:nvPr/>
        </p:nvSpPr>
        <p:spPr>
          <a:xfrm>
            <a:off x="4032000" y="6656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22</a:t>
            </a:r>
            <a:endParaRPr lang="en-US" sz="760" dirty="0"/>
          </a:p>
        </p:txBody>
      </p:sp>
      <p:sp>
        <p:nvSpPr>
          <p:cNvPr id="186" name="Text 183"/>
          <p:cNvSpPr/>
          <p:nvPr/>
        </p:nvSpPr>
        <p:spPr>
          <a:xfrm>
            <a:off x="4312800" y="6638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de la Barbinière</a:t>
            </a:r>
            <a:endParaRPr lang="en-US" sz="950" dirty="0"/>
          </a:p>
        </p:txBody>
      </p:sp>
      <p:sp>
        <p:nvSpPr>
          <p:cNvPr id="187" name="Text 184"/>
          <p:cNvSpPr/>
          <p:nvPr/>
        </p:nvSpPr>
        <p:spPr>
          <a:xfrm>
            <a:off x="5976000" y="6638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88" name="Text 185"/>
          <p:cNvSpPr/>
          <p:nvPr/>
        </p:nvSpPr>
        <p:spPr>
          <a:xfrm>
            <a:off x="6660000" y="6638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9" name="Shape 186"/>
          <p:cNvSpPr/>
          <p:nvPr/>
        </p:nvSpPr>
        <p:spPr>
          <a:xfrm>
            <a:off x="4032000" y="6868858"/>
            <a:ext cx="2916000" cy="0"/>
          </a:xfrm>
          <a:prstGeom prst="line">
            <a:avLst/>
          </a:prstGeom>
          <a:noFill/>
          <a:ln w="3810">
            <a:solidFill>
              <a:srgbClr val="C9CFC9"/>
            </a:solidFill>
            <a:prstDash val="solid"/>
          </a:ln>
        </p:spPr>
      </p:sp>
      <p:sp>
        <p:nvSpPr>
          <p:cNvPr id="190" name="Shape 187"/>
          <p:cNvSpPr/>
          <p:nvPr/>
        </p:nvSpPr>
        <p:spPr>
          <a:xfrm>
            <a:off x="4032000" y="6886858"/>
            <a:ext cx="194400" cy="194400"/>
          </a:xfrm>
          <a:prstGeom prst="ellipse">
            <a:avLst/>
          </a:prstGeom>
          <a:solidFill>
            <a:srgbClr val="FBF8F1"/>
          </a:solidFill>
          <a:ln w="7620">
            <a:solidFill>
              <a:srgbClr val="46606E"/>
            </a:solidFill>
            <a:prstDash val="solid"/>
          </a:ln>
        </p:spPr>
      </p:sp>
      <p:sp>
        <p:nvSpPr>
          <p:cNvPr id="191" name="Text 188"/>
          <p:cNvSpPr/>
          <p:nvPr/>
        </p:nvSpPr>
        <p:spPr>
          <a:xfrm>
            <a:off x="4032000" y="68868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23</a:t>
            </a:r>
            <a:endParaRPr lang="en-US" sz="760" dirty="0"/>
          </a:p>
        </p:txBody>
      </p:sp>
      <p:sp>
        <p:nvSpPr>
          <p:cNvPr id="192" name="Text 189"/>
          <p:cNvSpPr/>
          <p:nvPr/>
        </p:nvSpPr>
        <p:spPr>
          <a:xfrm>
            <a:off x="4312800" y="6868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Solemme</a:t>
            </a:r>
            <a:endParaRPr lang="en-US" sz="950" dirty="0"/>
          </a:p>
        </p:txBody>
      </p:sp>
      <p:sp>
        <p:nvSpPr>
          <p:cNvPr id="193" name="Text 190"/>
          <p:cNvSpPr/>
          <p:nvPr/>
        </p:nvSpPr>
        <p:spPr>
          <a:xfrm>
            <a:off x="5976000" y="6868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194" name="Text 191"/>
          <p:cNvSpPr/>
          <p:nvPr/>
        </p:nvSpPr>
        <p:spPr>
          <a:xfrm>
            <a:off x="6660000" y="6868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95" name="Shape 192"/>
          <p:cNvSpPr/>
          <p:nvPr/>
        </p:nvSpPr>
        <p:spPr>
          <a:xfrm>
            <a:off x="4032000" y="7099258"/>
            <a:ext cx="2916000" cy="0"/>
          </a:xfrm>
          <a:prstGeom prst="line">
            <a:avLst/>
          </a:prstGeom>
          <a:noFill/>
          <a:ln w="3810">
            <a:solidFill>
              <a:srgbClr val="C9CFC9"/>
            </a:solidFill>
            <a:prstDash val="solid"/>
          </a:ln>
        </p:spPr>
      </p:sp>
      <p:sp>
        <p:nvSpPr>
          <p:cNvPr id="196" name="Shape 193"/>
          <p:cNvSpPr/>
          <p:nvPr/>
        </p:nvSpPr>
        <p:spPr>
          <a:xfrm>
            <a:off x="4032000" y="7117258"/>
            <a:ext cx="194400" cy="194400"/>
          </a:xfrm>
          <a:prstGeom prst="ellipse">
            <a:avLst/>
          </a:prstGeom>
          <a:solidFill>
            <a:srgbClr val="A8515F"/>
          </a:solidFill>
          <a:ln w="7620">
            <a:solidFill>
              <a:srgbClr val="A8515F"/>
            </a:solidFill>
            <a:prstDash val="solid"/>
          </a:ln>
        </p:spPr>
      </p:sp>
      <p:sp>
        <p:nvSpPr>
          <p:cNvPr id="197" name="Text 194"/>
          <p:cNvSpPr/>
          <p:nvPr/>
        </p:nvSpPr>
        <p:spPr>
          <a:xfrm>
            <a:off x="4032000" y="7117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24</a:t>
            </a:r>
            <a:endParaRPr lang="en-US" sz="760" dirty="0"/>
          </a:p>
        </p:txBody>
      </p:sp>
      <p:sp>
        <p:nvSpPr>
          <p:cNvPr id="198" name="Text 195"/>
          <p:cNvSpPr/>
          <p:nvPr/>
        </p:nvSpPr>
        <p:spPr>
          <a:xfrm>
            <a:off x="4312800" y="7099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Escarderie</a:t>
            </a:r>
            <a:endParaRPr lang="en-US" sz="950" dirty="0"/>
          </a:p>
        </p:txBody>
      </p:sp>
      <p:sp>
        <p:nvSpPr>
          <p:cNvPr id="199" name="Text 196"/>
          <p:cNvSpPr/>
          <p:nvPr/>
        </p:nvSpPr>
        <p:spPr>
          <a:xfrm>
            <a:off x="5976000" y="7099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200" name="Text 197"/>
          <p:cNvSpPr/>
          <p:nvPr/>
        </p:nvSpPr>
        <p:spPr>
          <a:xfrm>
            <a:off x="6660000" y="7099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201" name="Shape 198"/>
          <p:cNvSpPr/>
          <p:nvPr/>
        </p:nvSpPr>
        <p:spPr>
          <a:xfrm>
            <a:off x="4032000" y="7329658"/>
            <a:ext cx="2916000" cy="0"/>
          </a:xfrm>
          <a:prstGeom prst="line">
            <a:avLst/>
          </a:prstGeom>
          <a:noFill/>
          <a:ln w="3810">
            <a:solidFill>
              <a:srgbClr val="C9CFC9"/>
            </a:solidFill>
            <a:prstDash val="solid"/>
          </a:ln>
        </p:spPr>
      </p:sp>
      <p:sp>
        <p:nvSpPr>
          <p:cNvPr id="202" name="Shape 199"/>
          <p:cNvSpPr/>
          <p:nvPr/>
        </p:nvSpPr>
        <p:spPr>
          <a:xfrm>
            <a:off x="4032000" y="7347658"/>
            <a:ext cx="194400" cy="194400"/>
          </a:xfrm>
          <a:prstGeom prst="ellipse">
            <a:avLst/>
          </a:prstGeom>
          <a:solidFill>
            <a:srgbClr val="46606E"/>
          </a:solidFill>
          <a:ln w="7620">
            <a:solidFill>
              <a:srgbClr val="46606E"/>
            </a:solidFill>
            <a:prstDash val="solid"/>
          </a:ln>
        </p:spPr>
      </p:sp>
      <p:sp>
        <p:nvSpPr>
          <p:cNvPr id="203" name="Text 200"/>
          <p:cNvSpPr/>
          <p:nvPr/>
        </p:nvSpPr>
        <p:spPr>
          <a:xfrm>
            <a:off x="4032000" y="7347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25</a:t>
            </a:r>
            <a:endParaRPr lang="en-US" sz="760" dirty="0"/>
          </a:p>
        </p:txBody>
      </p:sp>
      <p:sp>
        <p:nvSpPr>
          <p:cNvPr id="204" name="Text 201"/>
          <p:cNvSpPr/>
          <p:nvPr/>
        </p:nvSpPr>
        <p:spPr>
          <a:xfrm>
            <a:off x="4312800" y="7329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Chai Berteaud Manceau</a:t>
            </a:r>
            <a:endParaRPr lang="en-US" sz="950" dirty="0"/>
          </a:p>
        </p:txBody>
      </p:sp>
      <p:sp>
        <p:nvSpPr>
          <p:cNvPr id="205" name="Text 202"/>
          <p:cNvSpPr/>
          <p:nvPr/>
        </p:nvSpPr>
        <p:spPr>
          <a:xfrm>
            <a:off x="5976000" y="7329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206" name="Text 203"/>
          <p:cNvSpPr/>
          <p:nvPr/>
        </p:nvSpPr>
        <p:spPr>
          <a:xfrm>
            <a:off x="6660000" y="7329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07" name="Shape 204"/>
          <p:cNvSpPr/>
          <p:nvPr/>
        </p:nvSpPr>
        <p:spPr>
          <a:xfrm>
            <a:off x="4032000" y="7560058"/>
            <a:ext cx="2916000" cy="0"/>
          </a:xfrm>
          <a:prstGeom prst="line">
            <a:avLst/>
          </a:prstGeom>
          <a:noFill/>
          <a:ln w="3810">
            <a:solidFill>
              <a:srgbClr val="C9CFC9"/>
            </a:solidFill>
            <a:prstDash val="solid"/>
          </a:ln>
        </p:spPr>
      </p:sp>
      <p:sp>
        <p:nvSpPr>
          <p:cNvPr id="208" name="Shape 205"/>
          <p:cNvSpPr/>
          <p:nvPr/>
        </p:nvSpPr>
        <p:spPr>
          <a:xfrm>
            <a:off x="4032000" y="7578058"/>
            <a:ext cx="194400" cy="194400"/>
          </a:xfrm>
          <a:prstGeom prst="ellipse">
            <a:avLst/>
          </a:prstGeom>
          <a:solidFill>
            <a:srgbClr val="D08C3C"/>
          </a:solidFill>
          <a:ln w="7620">
            <a:solidFill>
              <a:srgbClr val="D08C3C"/>
            </a:solidFill>
            <a:prstDash val="solid"/>
          </a:ln>
        </p:spPr>
      </p:sp>
      <p:sp>
        <p:nvSpPr>
          <p:cNvPr id="209" name="Text 206"/>
          <p:cNvSpPr/>
          <p:nvPr/>
        </p:nvSpPr>
        <p:spPr>
          <a:xfrm>
            <a:off x="4032000" y="7578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26</a:t>
            </a:r>
            <a:endParaRPr lang="en-US" sz="760" dirty="0"/>
          </a:p>
        </p:txBody>
      </p:sp>
      <p:sp>
        <p:nvSpPr>
          <p:cNvPr id="210" name="Text 207"/>
          <p:cNvSpPr/>
          <p:nvPr/>
        </p:nvSpPr>
        <p:spPr>
          <a:xfrm>
            <a:off x="4312800" y="7560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Maison André Goichot</a:t>
            </a:r>
            <a:endParaRPr lang="en-US" sz="950" dirty="0"/>
          </a:p>
        </p:txBody>
      </p:sp>
      <p:sp>
        <p:nvSpPr>
          <p:cNvPr id="211" name="Text 208"/>
          <p:cNvSpPr/>
          <p:nvPr/>
        </p:nvSpPr>
        <p:spPr>
          <a:xfrm>
            <a:off x="5976000" y="7560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Bourgogne</a:t>
            </a:r>
            <a:endParaRPr lang="en-US" sz="760" dirty="0"/>
          </a:p>
        </p:txBody>
      </p:sp>
      <p:sp>
        <p:nvSpPr>
          <p:cNvPr id="212" name="Text 209"/>
          <p:cNvSpPr/>
          <p:nvPr/>
        </p:nvSpPr>
        <p:spPr>
          <a:xfrm>
            <a:off x="6660000" y="7560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213" name="Shape 210"/>
          <p:cNvSpPr/>
          <p:nvPr/>
        </p:nvSpPr>
        <p:spPr>
          <a:xfrm>
            <a:off x="4032000" y="7790458"/>
            <a:ext cx="2916000" cy="0"/>
          </a:xfrm>
          <a:prstGeom prst="line">
            <a:avLst/>
          </a:prstGeom>
          <a:noFill/>
          <a:ln w="3810">
            <a:solidFill>
              <a:srgbClr val="C9CFC9"/>
            </a:solidFill>
            <a:prstDash val="solid"/>
          </a:ln>
        </p:spPr>
      </p:sp>
      <p:sp>
        <p:nvSpPr>
          <p:cNvPr id="214" name="Text 21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15" name="Text 21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45</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6208033" y="1735388"/>
            <a:ext cx="615934" cy="2232000"/>
          </a:xfrm>
          <a:prstGeom prst="rect">
            <a:avLst/>
          </a:prstGeom>
        </p:spPr>
      </p:pic>
      <p:sp>
        <p:nvSpPr>
          <p:cNvPr id="18" name="Text 12"/>
          <p:cNvSpPr/>
          <p:nvPr/>
        </p:nvSpPr>
        <p:spPr>
          <a:xfrm>
            <a:off x="2393967" y="163995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448000" y="1782715"/>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Cravant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70857"/>
            <a:ext cx="0" cy="288349"/>
          </a:xfrm>
          <a:prstGeom prst="line">
            <a:avLst/>
          </a:prstGeom>
          <a:noFill/>
          <a:ln w="17780">
            <a:solidFill>
              <a:srgbClr val="67067C"/>
            </a:solidFill>
            <a:prstDash val="solid"/>
          </a:ln>
        </p:spPr>
      </p:sp>
      <p:sp>
        <p:nvSpPr>
          <p:cNvPr id="22" name="Text 15"/>
          <p:cNvSpPr/>
          <p:nvPr/>
        </p:nvSpPr>
        <p:spPr>
          <a:xfrm>
            <a:off x="936000" y="747085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177651"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887762"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88776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352436"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52436"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013377" y="1735388"/>
            <a:ext cx="573246" cy="2232000"/>
          </a:xfrm>
          <a:prstGeom prst="rect">
            <a:avLst/>
          </a:prstGeom>
        </p:spPr>
      </p:pic>
      <p:sp>
        <p:nvSpPr>
          <p:cNvPr id="20" name="Text 14"/>
          <p:cNvSpPr/>
          <p:nvPr/>
        </p:nvSpPr>
        <p:spPr>
          <a:xfrm>
            <a:off x="2177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232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7157276"/>
            <a:ext cx="0" cy="288349"/>
          </a:xfrm>
          <a:prstGeom prst="line">
            <a:avLst/>
          </a:prstGeom>
          <a:noFill/>
          <a:ln w="17780">
            <a:solidFill>
              <a:srgbClr val="67067C"/>
            </a:solidFill>
            <a:prstDash val="solid"/>
          </a:ln>
        </p:spPr>
      </p:sp>
      <p:sp>
        <p:nvSpPr>
          <p:cNvPr id="24" name="Text 17"/>
          <p:cNvSpPr/>
          <p:nvPr/>
        </p:nvSpPr>
        <p:spPr>
          <a:xfrm>
            <a:off x="720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218705" y="1735388"/>
            <a:ext cx="594590" cy="2232000"/>
          </a:xfrm>
          <a:prstGeom prst="rect">
            <a:avLst/>
          </a:prstGeom>
        </p:spPr>
      </p:pic>
      <p:sp>
        <p:nvSpPr>
          <p:cNvPr id="18" name="Text 12"/>
          <p:cNvSpPr/>
          <p:nvPr/>
        </p:nvSpPr>
        <p:spPr>
          <a:xfrm>
            <a:off x="2394005" y="186216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448000" y="1988265"/>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157276"/>
            <a:ext cx="0" cy="288349"/>
          </a:xfrm>
          <a:prstGeom prst="line">
            <a:avLst/>
          </a:prstGeom>
          <a:noFill/>
          <a:ln w="17780">
            <a:solidFill>
              <a:srgbClr val="67067C"/>
            </a:solidFill>
            <a:prstDash val="solid"/>
          </a:ln>
        </p:spPr>
      </p:sp>
      <p:sp>
        <p:nvSpPr>
          <p:cNvPr id="22" name="Text 15"/>
          <p:cNvSpPr/>
          <p:nvPr/>
        </p:nvSpPr>
        <p:spPr>
          <a:xfrm>
            <a:off x="936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Autre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001180" y="1735388"/>
            <a:ext cx="597639" cy="2232000"/>
          </a:xfrm>
          <a:prstGeom prst="rect">
            <a:avLst/>
          </a:prstGeom>
        </p:spPr>
      </p:pic>
      <p:sp>
        <p:nvSpPr>
          <p:cNvPr id="18" name="Text 12"/>
          <p:cNvSpPr/>
          <p:nvPr/>
        </p:nvSpPr>
        <p:spPr>
          <a:xfrm>
            <a:off x="2177965" y="185572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232000" y="1992694"/>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073783"/>
            <a:ext cx="0" cy="288349"/>
          </a:xfrm>
          <a:prstGeom prst="line">
            <a:avLst/>
          </a:prstGeom>
          <a:noFill/>
          <a:ln w="17780">
            <a:solidFill>
              <a:srgbClr val="67067C"/>
            </a:solidFill>
            <a:prstDash val="solid"/>
          </a:ln>
        </p:spPr>
      </p:sp>
      <p:sp>
        <p:nvSpPr>
          <p:cNvPr id="22" name="Text 15"/>
          <p:cNvSpPr/>
          <p:nvPr/>
        </p:nvSpPr>
        <p:spPr>
          <a:xfrm>
            <a:off x="720000" y="707378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6214131" y="1735388"/>
            <a:ext cx="603738" cy="2232000"/>
          </a:xfrm>
          <a:prstGeom prst="rect">
            <a:avLst/>
          </a:prstGeom>
        </p:spPr>
      </p:pic>
      <p:sp>
        <p:nvSpPr>
          <p:cNvPr id="18" name="Text 12"/>
          <p:cNvSpPr/>
          <p:nvPr/>
        </p:nvSpPr>
        <p:spPr>
          <a:xfrm>
            <a:off x="2394017" y="186673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985121"/>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L'Eberluant –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064431"/>
            <a:ext cx="0" cy="288349"/>
          </a:xfrm>
          <a:prstGeom prst="line">
            <a:avLst/>
          </a:prstGeom>
          <a:noFill/>
          <a:ln w="17780">
            <a:solidFill>
              <a:srgbClr val="67067C"/>
            </a:solidFill>
            <a:prstDash val="solid"/>
          </a:ln>
        </p:spPr>
      </p:sp>
      <p:sp>
        <p:nvSpPr>
          <p:cNvPr id="22" name="Text 15"/>
          <p:cNvSpPr/>
          <p:nvPr/>
        </p:nvSpPr>
        <p:spPr>
          <a:xfrm>
            <a:off x="936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644380"/>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495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95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927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927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870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870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5993557" y="1735388"/>
            <a:ext cx="612885" cy="2232000"/>
          </a:xfrm>
          <a:prstGeom prst="rect">
            <a:avLst/>
          </a:prstGeom>
        </p:spPr>
      </p:pic>
      <p:sp>
        <p:nvSpPr>
          <p:cNvPr id="20" name="Text 14"/>
          <p:cNvSpPr/>
          <p:nvPr/>
        </p:nvSpPr>
        <p:spPr>
          <a:xfrm>
            <a:off x="2177960" y="187157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232000" y="1981788"/>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Beltins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Text 16"/>
          <p:cNvSpPr/>
          <p:nvPr/>
        </p:nvSpPr>
        <p:spPr>
          <a:xfrm>
            <a:off x="612000" y="56262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5773884"/>
            <a:ext cx="6120000" cy="1152745"/>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17353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Vignes de Tréleau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4"/>
          <p:cNvSpPr/>
          <p:nvPr/>
        </p:nvSpPr>
        <p:spPr>
          <a:xfrm>
            <a:off x="828000" y="4428810"/>
            <a:ext cx="0" cy="288349"/>
          </a:xfrm>
          <a:prstGeom prst="line">
            <a:avLst/>
          </a:prstGeom>
          <a:noFill/>
          <a:ln w="17780">
            <a:solidFill>
              <a:srgbClr val="67067C"/>
            </a:solidFill>
            <a:prstDash val="solid"/>
          </a:ln>
        </p:spPr>
      </p:sp>
      <p:sp>
        <p:nvSpPr>
          <p:cNvPr id="20" name="Text 15"/>
          <p:cNvSpPr/>
          <p:nvPr/>
        </p:nvSpPr>
        <p:spPr>
          <a:xfrm>
            <a:off x="936000" y="44288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6"/>
          <p:cNvSpPr/>
          <p:nvPr/>
        </p:nvSpPr>
        <p:spPr>
          <a:xfrm>
            <a:off x="828000" y="48611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2" descr="/home/user/philippe1/build/deco-salon-prive-2026/sol-loire.png">    </p:cNvPr>
          <p:cNvPicPr>
            <a:picLocks noChangeAspect="1"/>
          </p:cNvPicPr>
          <p:nvPr/>
        </p:nvPicPr>
        <p:blipFill>
          <a:blip r:embed="rId3"/>
          <a:stretch>
            <a:fillRect/>
          </a:stretch>
        </p:blipFill>
        <p:spPr>
          <a:xfrm>
            <a:off x="828000" y="5008759"/>
            <a:ext cx="6120000" cy="1611821"/>
          </a:xfrm>
          <a:prstGeom prst="rect">
            <a:avLst/>
          </a:prstGeom>
        </p:spPr>
      </p:pic>
      <p:sp>
        <p:nvSpPr>
          <p:cNvPr id="23"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4" name="Shape 18"/>
          <p:cNvSpPr/>
          <p:nvPr/>
        </p:nvSpPr>
        <p:spPr>
          <a:xfrm>
            <a:off x="828000" y="8388000"/>
            <a:ext cx="6120000" cy="0"/>
          </a:xfrm>
          <a:prstGeom prst="line">
            <a:avLst/>
          </a:prstGeom>
          <a:noFill/>
          <a:ln w="8890">
            <a:solidFill>
              <a:srgbClr val="46606E"/>
            </a:solidFill>
            <a:prstDash val="solid"/>
          </a:ln>
        </p:spPr>
      </p:sp>
      <p:sp>
        <p:nvSpPr>
          <p:cNvPr id="25"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7"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8"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735388"/>
            <a:ext cx="487869" cy="2232000"/>
          </a:xfrm>
          <a:prstGeom prst="rect">
            <a:avLst/>
          </a:prstGeom>
        </p:spPr>
      </p:pic>
      <p:sp>
        <p:nvSpPr>
          <p:cNvPr id="18" name="Text 12"/>
          <p:cNvSpPr/>
          <p:nvPr/>
        </p:nvSpPr>
        <p:spPr>
          <a:xfrm>
            <a:off x="2393956" y="1730081"/>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841694"/>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218593"/>
            <a:ext cx="0" cy="288349"/>
          </a:xfrm>
          <a:prstGeom prst="line">
            <a:avLst/>
          </a:prstGeom>
          <a:noFill/>
          <a:ln w="17780">
            <a:solidFill>
              <a:srgbClr val="67067C"/>
            </a:solidFill>
            <a:prstDash val="solid"/>
          </a:ln>
        </p:spPr>
      </p:sp>
      <p:sp>
        <p:nvSpPr>
          <p:cNvPr id="22" name="Text 15"/>
          <p:cNvSpPr/>
          <p:nvPr/>
        </p:nvSpPr>
        <p:spPr>
          <a:xfrm>
            <a:off x="936000" y="7218593"/>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19</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3279" y="1735388"/>
            <a:ext cx="585443" cy="2232000"/>
          </a:xfrm>
          <a:prstGeom prst="rect">
            <a:avLst/>
          </a:prstGeom>
        </p:spPr>
      </p:pic>
      <p:sp>
        <p:nvSpPr>
          <p:cNvPr id="20" name="Text 14"/>
          <p:cNvSpPr/>
          <p:nvPr/>
        </p:nvSpPr>
        <p:spPr>
          <a:xfrm>
            <a:off x="2394024" y="1725998"/>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21" name="Text 15"/>
          <p:cNvSpPr/>
          <p:nvPr/>
        </p:nvSpPr>
        <p:spPr>
          <a:xfrm>
            <a:off x="2448000" y="1844504"/>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627745"/>
            <a:ext cx="0" cy="288349"/>
          </a:xfrm>
          <a:prstGeom prst="line">
            <a:avLst/>
          </a:prstGeom>
          <a:noFill/>
          <a:ln w="17780">
            <a:solidFill>
              <a:srgbClr val="67067C"/>
            </a:solidFill>
            <a:prstDash val="solid"/>
          </a:ln>
        </p:spPr>
      </p:sp>
      <p:sp>
        <p:nvSpPr>
          <p:cNvPr id="24" name="Text 17"/>
          <p:cNvSpPr/>
          <p:nvPr/>
        </p:nvSpPr>
        <p:spPr>
          <a:xfrm>
            <a:off x="936000" y="662774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7060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7207695"/>
            <a:ext cx="6120000" cy="906347"/>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425788"/>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735388"/>
            <a:ext cx="561049" cy="2232000"/>
          </a:xfrm>
          <a:prstGeom prst="rect">
            <a:avLst/>
          </a:prstGeom>
        </p:spPr>
      </p:pic>
      <p:sp>
        <p:nvSpPr>
          <p:cNvPr id="20" name="Text 14"/>
          <p:cNvSpPr/>
          <p:nvPr/>
        </p:nvSpPr>
        <p:spPr>
          <a:xfrm>
            <a:off x="2178034" y="200608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2126692"/>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Pouilly-Vinzelles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Aux Allots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Givry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7297770"/>
            <a:ext cx="0" cy="288349"/>
          </a:xfrm>
          <a:prstGeom prst="line">
            <a:avLst/>
          </a:prstGeom>
          <a:noFill/>
          <a:ln w="17780">
            <a:solidFill>
              <a:srgbClr val="67067C"/>
            </a:solidFill>
            <a:prstDash val="solid"/>
          </a:ln>
        </p:spPr>
      </p:sp>
      <p:sp>
        <p:nvSpPr>
          <p:cNvPr id="24" name="Text 17"/>
          <p:cNvSpPr/>
          <p:nvPr/>
        </p:nvSpPr>
        <p:spPr>
          <a:xfrm>
            <a:off x="720000" y="729777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18 · Domaine Les Guignottes, stand 26 p. 19</a:t>
            </a:r>
            <a:endParaRPr lang="en-US" sz="740" dirty="0"/>
          </a:p>
        </p:txBody>
      </p:sp>
      <p:sp>
        <p:nvSpPr>
          <p:cNvPr id="26" name="Shape 19"/>
          <p:cNvSpPr/>
          <p:nvPr/>
        </p:nvSpPr>
        <p:spPr>
          <a:xfrm>
            <a:off x="612000" y="8388000"/>
            <a:ext cx="6120000" cy="0"/>
          </a:xfrm>
          <a:prstGeom prst="line">
            <a:avLst/>
          </a:prstGeom>
          <a:noFill/>
          <a:ln w="8890">
            <a:solidFill>
              <a:srgbClr val="46606E"/>
            </a:solidFill>
            <a:prstDash val="solid"/>
          </a:ln>
        </p:spPr>
      </p:sp>
      <p:sp>
        <p:nvSpPr>
          <p:cNvPr id="27"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735388"/>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735388"/>
            <a:ext cx="598337" cy="2232000"/>
          </a:xfrm>
          <a:prstGeom prst="rect">
            <a:avLst/>
          </a:prstGeom>
        </p:spPr>
      </p:pic>
      <p:sp>
        <p:nvSpPr>
          <p:cNvPr id="15" name="Text 10"/>
          <p:cNvSpPr/>
          <p:nvPr/>
        </p:nvSpPr>
        <p:spPr>
          <a:xfrm>
            <a:off x="2393990" y="177181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886077"/>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704142"/>
            <a:ext cx="0" cy="288349"/>
          </a:xfrm>
          <a:prstGeom prst="line">
            <a:avLst/>
          </a:prstGeom>
          <a:noFill/>
          <a:ln w="17780">
            <a:solidFill>
              <a:srgbClr val="67067C"/>
            </a:solidFill>
            <a:prstDash val="solid"/>
          </a:ln>
        </p:spPr>
      </p:sp>
      <p:sp>
        <p:nvSpPr>
          <p:cNvPr id="19" name="Text 13"/>
          <p:cNvSpPr/>
          <p:nvPr/>
        </p:nvSpPr>
        <p:spPr>
          <a:xfrm>
            <a:off x="936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284091"/>
            <a:ext cx="6120000" cy="1372326"/>
          </a:xfrm>
          <a:prstGeom prst="rect">
            <a:avLst/>
          </a:prstGeom>
        </p:spPr>
      </p:pic>
      <p:sp>
        <p:nvSpPr>
          <p:cNvPr id="22"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17 · Domaine Les Guignottes, stand 26 p. 19</a:t>
            </a:r>
            <a:endParaRPr lang="en-US" sz="74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735388"/>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735388"/>
            <a:ext cx="570197" cy="2232000"/>
          </a:xfrm>
          <a:prstGeom prst="rect">
            <a:avLst/>
          </a:prstGeom>
        </p:spPr>
      </p:pic>
      <p:sp>
        <p:nvSpPr>
          <p:cNvPr id="15" name="Text 10"/>
          <p:cNvSpPr/>
          <p:nvPr/>
        </p:nvSpPr>
        <p:spPr>
          <a:xfrm>
            <a:off x="2177990" y="165279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767053"/>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704142"/>
            <a:ext cx="0" cy="288349"/>
          </a:xfrm>
          <a:prstGeom prst="line">
            <a:avLst/>
          </a:prstGeom>
          <a:noFill/>
          <a:ln w="17780">
            <a:solidFill>
              <a:srgbClr val="67067C"/>
            </a:solidFill>
            <a:prstDash val="solid"/>
          </a:ln>
        </p:spPr>
      </p:sp>
      <p:sp>
        <p:nvSpPr>
          <p:cNvPr id="19" name="Text 13"/>
          <p:cNvSpPr/>
          <p:nvPr/>
        </p:nvSpPr>
        <p:spPr>
          <a:xfrm>
            <a:off x="720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284091"/>
            <a:ext cx="6120000" cy="1372326"/>
          </a:xfrm>
          <a:prstGeom prst="rect">
            <a:avLst/>
          </a:prstGeom>
        </p:spPr>
      </p:pic>
      <p:sp>
        <p:nvSpPr>
          <p:cNvPr id="22"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17 · Château du Cray, stand 26 p. 18</a:t>
            </a:r>
            <a:endParaRPr lang="en-US" sz="74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40049" y="1735388"/>
            <a:ext cx="551902" cy="2232000"/>
          </a:xfrm>
          <a:prstGeom prst="rect">
            <a:avLst/>
          </a:prstGeom>
        </p:spPr>
      </p:pic>
      <p:sp>
        <p:nvSpPr>
          <p:cNvPr id="18" name="Text 12"/>
          <p:cNvSpPr/>
          <p:nvPr/>
        </p:nvSpPr>
        <p:spPr>
          <a:xfrm>
            <a:off x="2394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Bourgogne Passe-Tout-Grain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Bulles du Puits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171885"/>
            <a:ext cx="0" cy="288349"/>
          </a:xfrm>
          <a:prstGeom prst="line">
            <a:avLst/>
          </a:prstGeom>
          <a:noFill/>
          <a:ln w="17780">
            <a:solidFill>
              <a:srgbClr val="67067C"/>
            </a:solidFill>
            <a:prstDash val="solid"/>
          </a:ln>
        </p:spPr>
      </p:sp>
      <p:sp>
        <p:nvSpPr>
          <p:cNvPr id="22" name="Text 15"/>
          <p:cNvSpPr/>
          <p:nvPr/>
        </p:nvSpPr>
        <p:spPr>
          <a:xfrm>
            <a:off x="936000" y="61718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66042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6751834"/>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735388"/>
            <a:ext cx="576295" cy="2232000"/>
          </a:xfrm>
          <a:prstGeom prst="rect">
            <a:avLst/>
          </a:prstGeom>
        </p:spPr>
      </p:pic>
      <p:sp>
        <p:nvSpPr>
          <p:cNvPr id="18" name="Text 12"/>
          <p:cNvSpPr/>
          <p:nvPr/>
        </p:nvSpPr>
        <p:spPr>
          <a:xfrm>
            <a:off x="2394049" y="156832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595917"/>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42499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Couchant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23813"/>
            <a:ext cx="0" cy="288349"/>
          </a:xfrm>
          <a:prstGeom prst="line">
            <a:avLst/>
          </a:prstGeom>
          <a:noFill/>
          <a:ln w="17780">
            <a:solidFill>
              <a:srgbClr val="67067C"/>
            </a:solidFill>
            <a:prstDash val="solid"/>
          </a:ln>
        </p:spPr>
      </p:sp>
      <p:sp>
        <p:nvSpPr>
          <p:cNvPr id="22" name="Text 15"/>
          <p:cNvSpPr/>
          <p:nvPr/>
        </p:nvSpPr>
        <p:spPr>
          <a:xfrm>
            <a:off x="936000" y="61238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556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703762"/>
            <a:ext cx="6120000" cy="881939"/>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23 · Domaine du Moulin Blanc, stand 7 p. 24 · Domaine de la Pousterle, stand 7 p. 25</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735388"/>
            <a:ext cx="597639" cy="2232000"/>
          </a:xfrm>
          <a:prstGeom prst="rect">
            <a:avLst/>
          </a:prstGeom>
        </p:spPr>
      </p:pic>
      <p:sp>
        <p:nvSpPr>
          <p:cNvPr id="18" name="Text 12"/>
          <p:cNvSpPr/>
          <p:nvPr/>
        </p:nvSpPr>
        <p:spPr>
          <a:xfrm>
            <a:off x="2178017" y="155268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636007"/>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461193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Premières Fleurs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547080"/>
            <a:ext cx="0" cy="288349"/>
          </a:xfrm>
          <a:prstGeom prst="line">
            <a:avLst/>
          </a:prstGeom>
          <a:noFill/>
          <a:ln w="17780">
            <a:solidFill>
              <a:srgbClr val="67067C"/>
            </a:solidFill>
            <a:prstDash val="solid"/>
          </a:ln>
        </p:spPr>
      </p:sp>
      <p:sp>
        <p:nvSpPr>
          <p:cNvPr id="22" name="Text 15"/>
          <p:cNvSpPr/>
          <p:nvPr/>
        </p:nvSpPr>
        <p:spPr>
          <a:xfrm>
            <a:off x="720000" y="654708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22 · Domaine du Moulin Blanc, stand 7 p. 24 · Domaine de la Pousterle, stand 7 p. 25</a:t>
            </a:r>
            <a:endParaRPr lang="en-US" sz="740" dirty="0"/>
          </a:p>
        </p:txBody>
      </p:sp>
      <p:sp>
        <p:nvSpPr>
          <p:cNvPr id="24" name="Shape 17"/>
          <p:cNvSpPr/>
          <p:nvPr/>
        </p:nvSpPr>
        <p:spPr>
          <a:xfrm>
            <a:off x="612000" y="8388000"/>
            <a:ext cx="6120000" cy="0"/>
          </a:xfrm>
          <a:prstGeom prst="line">
            <a:avLst/>
          </a:prstGeom>
          <a:noFill/>
          <a:ln w="8890">
            <a:solidFill>
              <a:srgbClr val="46606E"/>
            </a:solidFill>
            <a:prstDash val="solid"/>
          </a:ln>
        </p:spPr>
      </p:sp>
      <p:sp>
        <p:nvSpPr>
          <p:cNvPr id="25"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Autre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recadré au-dessus du verre — Domaine du Moulin Blanc">    </p:cNvPr>
          <p:cNvPicPr>
            <a:picLocks noChangeAspect="1"/>
          </p:cNvPicPr>
          <p:nvPr/>
        </p:nvPicPr>
        <p:blipFill>
          <a:blip r:embed="rId3"/>
          <a:stretch>
            <a:fillRect/>
          </a:stretch>
        </p:blipFill>
        <p:spPr>
          <a:xfrm>
            <a:off x="828000" y="1735388"/>
            <a:ext cx="1440000" cy="1440000"/>
          </a:xfrm>
          <a:prstGeom prst="rect">
            <a:avLst/>
          </a:prstGeom>
        </p:spPr>
      </p:pic>
      <p:sp>
        <p:nvSpPr>
          <p:cNvPr id="17" name="Shape 12"/>
          <p:cNvSpPr/>
          <p:nvPr/>
        </p:nvSpPr>
        <p:spPr>
          <a:xfrm>
            <a:off x="6084000" y="1735388"/>
            <a:ext cx="864000" cy="2232000"/>
          </a:xfrm>
          <a:prstGeom prst="roundRect">
            <a:avLst>
              <a:gd name="adj" fmla="val 2117"/>
            </a:avLst>
          </a:prstGeom>
          <a:solidFill>
            <a:srgbClr val="F2EADA"/>
          </a:solidFill>
          <a:ln w="12700">
            <a:solidFill>
              <a:srgbClr val="46606E"/>
            </a:solidFill>
            <a:prstDash val="dash"/>
          </a:ln>
        </p:spPr>
      </p:sp>
      <p:sp>
        <p:nvSpPr>
          <p:cNvPr id="18" name="Text 13"/>
          <p:cNvSpPr/>
          <p:nvPr/>
        </p:nvSpPr>
        <p:spPr>
          <a:xfrm>
            <a:off x="6084000" y="1735388"/>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4"/>
          <p:cNvSpPr/>
          <p:nvPr/>
        </p:nvSpPr>
        <p:spPr>
          <a:xfrm>
            <a:off x="2393970" y="1696217"/>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20" name="Text 15"/>
          <p:cNvSpPr/>
          <p:nvPr/>
        </p:nvSpPr>
        <p:spPr>
          <a:xfrm>
            <a:off x="2448000" y="1776013"/>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6"/>
          <p:cNvSpPr/>
          <p:nvPr/>
        </p:nvSpPr>
        <p:spPr>
          <a:xfrm>
            <a:off x="828000" y="4765459"/>
            <a:ext cx="0" cy="288349"/>
          </a:xfrm>
          <a:prstGeom prst="line">
            <a:avLst/>
          </a:prstGeom>
          <a:noFill/>
          <a:ln w="17780">
            <a:solidFill>
              <a:srgbClr val="67067C"/>
            </a:solidFill>
            <a:prstDash val="solid"/>
          </a:ln>
        </p:spPr>
      </p:sp>
      <p:sp>
        <p:nvSpPr>
          <p:cNvPr id="23" name="Text 17"/>
          <p:cNvSpPr/>
          <p:nvPr/>
        </p:nvSpPr>
        <p:spPr>
          <a:xfrm>
            <a:off x="936000" y="476545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4" name="Text 18"/>
          <p:cNvSpPr/>
          <p:nvPr/>
        </p:nvSpPr>
        <p:spPr>
          <a:xfrm>
            <a:off x="828000" y="519780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5" name="Image 3" descr="/home/user/philippe1/build/deco-salon-prive-2026/sol-rhone.png">    </p:cNvPr>
          <p:cNvPicPr>
            <a:picLocks noChangeAspect="1"/>
          </p:cNvPicPr>
          <p:nvPr/>
        </p:nvPicPr>
        <p:blipFill>
          <a:blip r:embed="rId4"/>
          <a:stretch>
            <a:fillRect/>
          </a:stretch>
        </p:blipFill>
        <p:spPr>
          <a:xfrm>
            <a:off x="828000" y="5345408"/>
            <a:ext cx="6120000" cy="1335536"/>
          </a:xfrm>
          <a:prstGeom prst="rect">
            <a:avLst/>
          </a:prstGeom>
        </p:spPr>
      </p:pic>
      <p:sp>
        <p:nvSpPr>
          <p:cNvPr id="26" name="Text 19"/>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22 · Domaine de Coyeux, stand 7 p. 23 · Domaine de la Pousterle, stand 7 p. 25</a:t>
            </a:r>
            <a:endParaRPr lang="en-US" sz="740" dirty="0"/>
          </a:p>
        </p:txBody>
      </p:sp>
      <p:sp>
        <p:nvSpPr>
          <p:cNvPr id="27" name="Shape 20"/>
          <p:cNvSpPr/>
          <p:nvPr/>
        </p:nvSpPr>
        <p:spPr>
          <a:xfrm>
            <a:off x="828000" y="8388000"/>
            <a:ext cx="6120000" cy="0"/>
          </a:xfrm>
          <a:prstGeom prst="line">
            <a:avLst/>
          </a:prstGeom>
          <a:noFill/>
          <a:ln w="8890">
            <a:solidFill>
              <a:srgbClr val="46606E"/>
            </a:solidFill>
            <a:prstDash val="solid"/>
          </a:ln>
        </p:spPr>
      </p:sp>
      <p:sp>
        <p:nvSpPr>
          <p:cNvPr id="28" name="Text 21"/>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2"/>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30" name="Text 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31" name="Text 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735388"/>
            <a:ext cx="585443" cy="2232000"/>
          </a:xfrm>
          <a:prstGeom prst="rect">
            <a:avLst/>
          </a:prstGeom>
        </p:spPr>
      </p:pic>
      <p:sp>
        <p:nvSpPr>
          <p:cNvPr id="18" name="Text 12"/>
          <p:cNvSpPr/>
          <p:nvPr/>
        </p:nvSpPr>
        <p:spPr>
          <a:xfrm>
            <a:off x="2177990" y="166644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748549"/>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Chardonnay-Viognier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679710"/>
            <a:ext cx="0" cy="288349"/>
          </a:xfrm>
          <a:prstGeom prst="line">
            <a:avLst/>
          </a:prstGeom>
          <a:noFill/>
          <a:ln w="17780">
            <a:solidFill>
              <a:srgbClr val="67067C"/>
            </a:solidFill>
            <a:prstDash val="solid"/>
          </a:ln>
        </p:spPr>
      </p:sp>
      <p:sp>
        <p:nvSpPr>
          <p:cNvPr id="22" name="Text 15"/>
          <p:cNvSpPr/>
          <p:nvPr/>
        </p:nvSpPr>
        <p:spPr>
          <a:xfrm>
            <a:off x="720000" y="56797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1120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259659"/>
            <a:ext cx="6120000" cy="1148400"/>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22 · Domaine de Coyeux, stand 7 p. 23 · Domaine du Moulin Blanc, stand 7 p. 24</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199083" y="1735388"/>
            <a:ext cx="633834" cy="2232000"/>
          </a:xfrm>
          <a:prstGeom prst="rect">
            <a:avLst/>
          </a:prstGeom>
        </p:spPr>
      </p:pic>
      <p:sp>
        <p:nvSpPr>
          <p:cNvPr id="18" name="Text 12"/>
          <p:cNvSpPr/>
          <p:nvPr/>
        </p:nvSpPr>
        <p:spPr>
          <a:xfrm>
            <a:off x="2393985" y="170757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813821"/>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Mondeuse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828000" y="61220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alon-prive-2026/sol-rhone.png">    </p:cNvPr>
          <p:cNvPicPr>
            <a:picLocks noChangeAspect="1"/>
          </p:cNvPicPr>
          <p:nvPr/>
        </p:nvPicPr>
        <p:blipFill>
          <a:blip r:embed="rId5"/>
          <a:stretch>
            <a:fillRect/>
          </a:stretch>
        </p:blipFill>
        <p:spPr>
          <a:xfrm>
            <a:off x="828000" y="6269631"/>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 Autre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17353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612000" y="4312277"/>
            <a:ext cx="0" cy="288349"/>
          </a:xfrm>
          <a:prstGeom prst="line">
            <a:avLst/>
          </a:prstGeom>
          <a:noFill/>
          <a:ln w="17780">
            <a:solidFill>
              <a:srgbClr val="67067C"/>
            </a:solidFill>
            <a:prstDash val="solid"/>
          </a:ln>
        </p:spPr>
      </p:sp>
      <p:sp>
        <p:nvSpPr>
          <p:cNvPr id="18" name="Text 13"/>
          <p:cNvSpPr/>
          <p:nvPr/>
        </p:nvSpPr>
        <p:spPr>
          <a:xfrm>
            <a:off x="720000" y="431227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9" name="Text 14"/>
          <p:cNvSpPr/>
          <p:nvPr/>
        </p:nvSpPr>
        <p:spPr>
          <a:xfrm>
            <a:off x="612000" y="474462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0" name="Image 2" descr="/home/user/philippe1/build/deco-salon-prive-2026/sol-rhone.png">    </p:cNvPr>
          <p:cNvPicPr>
            <a:picLocks noChangeAspect="1"/>
          </p:cNvPicPr>
          <p:nvPr/>
        </p:nvPicPr>
        <p:blipFill>
          <a:blip r:embed="rId3"/>
          <a:stretch>
            <a:fillRect/>
          </a:stretch>
        </p:blipFill>
        <p:spPr>
          <a:xfrm>
            <a:off x="612000" y="4892227"/>
            <a:ext cx="6120000" cy="1924449"/>
          </a:xfrm>
          <a:prstGeom prst="rect">
            <a:avLst/>
          </a:prstGeom>
        </p:spPr>
      </p:pic>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 Autre     pictos de l’Agence SCIO, pas les logos officiels</a:t>
            </a:r>
            <a:endParaRPr lang="en-US" sz="650" dirty="0"/>
          </a:p>
        </p:txBody>
      </p:sp>
      <p:sp>
        <p:nvSpPr>
          <p:cNvPr id="24"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5"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5" name="Text 1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056066" y="1735388"/>
            <a:ext cx="487869" cy="2232000"/>
          </a:xfrm>
          <a:prstGeom prst="rect">
            <a:avLst/>
          </a:prstGeom>
        </p:spPr>
      </p:pic>
      <p:sp>
        <p:nvSpPr>
          <p:cNvPr id="20" name="Text 14"/>
          <p:cNvSpPr/>
          <p:nvPr/>
        </p:nvSpPr>
        <p:spPr>
          <a:xfrm>
            <a:off x="2177975" y="1849151"/>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232000" y="1997218"/>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833872"/>
            <a:ext cx="0" cy="288349"/>
          </a:xfrm>
          <a:prstGeom prst="line">
            <a:avLst/>
          </a:prstGeom>
          <a:noFill/>
          <a:ln w="17780">
            <a:solidFill>
              <a:srgbClr val="67067C"/>
            </a:solidFill>
            <a:prstDash val="solid"/>
          </a:ln>
        </p:spPr>
      </p:sp>
      <p:sp>
        <p:nvSpPr>
          <p:cNvPr id="24" name="Text 17"/>
          <p:cNvSpPr/>
          <p:nvPr/>
        </p:nvSpPr>
        <p:spPr>
          <a:xfrm>
            <a:off x="720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413821"/>
            <a:ext cx="6120000" cy="700220"/>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511792"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1179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76466"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976466"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920023"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20023"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244623" y="1735388"/>
            <a:ext cx="542754" cy="2232000"/>
          </a:xfrm>
          <a:prstGeom prst="rect">
            <a:avLst/>
          </a:prstGeom>
        </p:spPr>
      </p:pic>
      <p:sp>
        <p:nvSpPr>
          <p:cNvPr id="20" name="Text 14"/>
          <p:cNvSpPr/>
          <p:nvPr/>
        </p:nvSpPr>
        <p:spPr>
          <a:xfrm>
            <a:off x="2393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7311164"/>
            <a:ext cx="0" cy="288349"/>
          </a:xfrm>
          <a:prstGeom prst="line">
            <a:avLst/>
          </a:prstGeom>
          <a:noFill/>
          <a:ln w="17780">
            <a:solidFill>
              <a:srgbClr val="67067C"/>
            </a:solidFill>
            <a:prstDash val="solid"/>
          </a:ln>
        </p:spPr>
      </p:sp>
      <p:sp>
        <p:nvSpPr>
          <p:cNvPr id="24" name="Text 17"/>
          <p:cNvSpPr/>
          <p:nvPr/>
        </p:nvSpPr>
        <p:spPr>
          <a:xfrm>
            <a:off x="936000" y="73111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828000" y="8388000"/>
            <a:ext cx="6120000" cy="0"/>
          </a:xfrm>
          <a:prstGeom prst="line">
            <a:avLst/>
          </a:prstGeom>
          <a:noFill/>
          <a:ln w="8890">
            <a:solidFill>
              <a:srgbClr val="46606E"/>
            </a:solidFill>
            <a:prstDash val="solid"/>
          </a:ln>
        </p:spPr>
      </p:sp>
      <p:sp>
        <p:nvSpPr>
          <p:cNvPr id="26"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7"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28"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244623" y="1735388"/>
            <a:ext cx="542754" cy="2232000"/>
          </a:xfrm>
          <a:prstGeom prst="rect">
            <a:avLst/>
          </a:prstGeom>
        </p:spPr>
      </p:pic>
      <p:sp>
        <p:nvSpPr>
          <p:cNvPr id="18" name="Text 12"/>
          <p:cNvSpPr/>
          <p:nvPr/>
        </p:nvSpPr>
        <p:spPr>
          <a:xfrm>
            <a:off x="2393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448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157276"/>
            <a:ext cx="0" cy="288349"/>
          </a:xfrm>
          <a:prstGeom prst="line">
            <a:avLst/>
          </a:prstGeom>
          <a:noFill/>
          <a:ln w="17780">
            <a:solidFill>
              <a:srgbClr val="67067C"/>
            </a:solidFill>
            <a:prstDash val="solid"/>
          </a:ln>
        </p:spPr>
      </p:sp>
      <p:sp>
        <p:nvSpPr>
          <p:cNvPr id="22" name="Text 15"/>
          <p:cNvSpPr/>
          <p:nvPr/>
        </p:nvSpPr>
        <p:spPr>
          <a:xfrm>
            <a:off x="936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022525" y="1735388"/>
            <a:ext cx="554951" cy="2232000"/>
          </a:xfrm>
          <a:prstGeom prst="rect">
            <a:avLst/>
          </a:prstGeom>
        </p:spPr>
      </p:pic>
      <p:sp>
        <p:nvSpPr>
          <p:cNvPr id="18" name="Text 12"/>
          <p:cNvSpPr/>
          <p:nvPr/>
        </p:nvSpPr>
        <p:spPr>
          <a:xfrm>
            <a:off x="2178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618393"/>
            <a:ext cx="0" cy="288349"/>
          </a:xfrm>
          <a:prstGeom prst="line">
            <a:avLst/>
          </a:prstGeom>
          <a:noFill/>
          <a:ln w="17780">
            <a:solidFill>
              <a:srgbClr val="67067C"/>
            </a:solidFill>
            <a:prstDash val="solid"/>
          </a:ln>
        </p:spPr>
      </p:sp>
      <p:sp>
        <p:nvSpPr>
          <p:cNvPr id="22" name="Text 15"/>
          <p:cNvSpPr/>
          <p:nvPr/>
        </p:nvSpPr>
        <p:spPr>
          <a:xfrm>
            <a:off x="720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612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98342"/>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246148" y="1735388"/>
            <a:ext cx="539705" cy="2232000"/>
          </a:xfrm>
          <a:prstGeom prst="rect">
            <a:avLst/>
          </a:prstGeom>
        </p:spPr>
      </p:pic>
      <p:sp>
        <p:nvSpPr>
          <p:cNvPr id="18" name="Text 12"/>
          <p:cNvSpPr/>
          <p:nvPr/>
        </p:nvSpPr>
        <p:spPr>
          <a:xfrm>
            <a:off x="2393976" y="1854896"/>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993265"/>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Cru Bourgeois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064431"/>
            <a:ext cx="0" cy="288349"/>
          </a:xfrm>
          <a:prstGeom prst="line">
            <a:avLst/>
          </a:prstGeom>
          <a:noFill/>
          <a:ln w="17780">
            <a:solidFill>
              <a:srgbClr val="67067C"/>
            </a:solidFill>
            <a:prstDash val="solid"/>
          </a:ln>
        </p:spPr>
      </p:sp>
      <p:sp>
        <p:nvSpPr>
          <p:cNvPr id="22" name="Text 15"/>
          <p:cNvSpPr/>
          <p:nvPr/>
        </p:nvSpPr>
        <p:spPr>
          <a:xfrm>
            <a:off x="936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6644380"/>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027098" y="1735388"/>
            <a:ext cx="545803" cy="2232000"/>
          </a:xfrm>
          <a:prstGeom prst="rect">
            <a:avLst/>
          </a:prstGeom>
        </p:spPr>
      </p:pic>
      <p:sp>
        <p:nvSpPr>
          <p:cNvPr id="18" name="Text 12"/>
          <p:cNvSpPr/>
          <p:nvPr/>
        </p:nvSpPr>
        <p:spPr>
          <a:xfrm>
            <a:off x="2178014" y="171769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232000" y="1850219"/>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Lafargue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618393"/>
            <a:ext cx="0" cy="288349"/>
          </a:xfrm>
          <a:prstGeom prst="line">
            <a:avLst/>
          </a:prstGeom>
          <a:noFill/>
          <a:ln w="17780">
            <a:solidFill>
              <a:srgbClr val="67067C"/>
            </a:solidFill>
            <a:prstDash val="solid"/>
          </a:ln>
        </p:spPr>
      </p:sp>
      <p:sp>
        <p:nvSpPr>
          <p:cNvPr id="22" name="Text 15"/>
          <p:cNvSpPr/>
          <p:nvPr/>
        </p:nvSpPr>
        <p:spPr>
          <a:xfrm>
            <a:off x="720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612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98342"/>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 Autre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051492" y="1735388"/>
            <a:ext cx="497016" cy="2232000"/>
          </a:xfrm>
          <a:prstGeom prst="rect">
            <a:avLst/>
          </a:prstGeom>
        </p:spPr>
      </p:pic>
      <p:sp>
        <p:nvSpPr>
          <p:cNvPr id="18" name="Text 12"/>
          <p:cNvSpPr/>
          <p:nvPr/>
        </p:nvSpPr>
        <p:spPr>
          <a:xfrm>
            <a:off x="2177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232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03314"/>
            <a:ext cx="0" cy="288349"/>
          </a:xfrm>
          <a:prstGeom prst="line">
            <a:avLst/>
          </a:prstGeom>
          <a:noFill/>
          <a:ln w="17780">
            <a:solidFill>
              <a:srgbClr val="67067C"/>
            </a:solidFill>
            <a:prstDash val="solid"/>
          </a:ln>
        </p:spPr>
      </p:sp>
      <p:sp>
        <p:nvSpPr>
          <p:cNvPr id="22" name="Text 15"/>
          <p:cNvSpPr/>
          <p:nvPr/>
        </p:nvSpPr>
        <p:spPr>
          <a:xfrm>
            <a:off x="720000" y="76033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40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38</a:t>
            </a:r>
            <a:endParaRPr lang="en-US" sz="750" dirty="0"/>
          </a:p>
        </p:txBody>
      </p:sp>
      <p:sp>
        <p:nvSpPr>
          <p:cNvPr id="16" name="Text 1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007279" y="1735388"/>
            <a:ext cx="585443" cy="2232000"/>
          </a:xfrm>
          <a:prstGeom prst="rect">
            <a:avLst/>
          </a:prstGeom>
        </p:spPr>
      </p:pic>
      <p:sp>
        <p:nvSpPr>
          <p:cNvPr id="18" name="Text 12"/>
          <p:cNvSpPr/>
          <p:nvPr/>
        </p:nvSpPr>
        <p:spPr>
          <a:xfrm>
            <a:off x="2177965" y="213705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232000" y="2274024"/>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49152"/>
            <a:ext cx="0" cy="288349"/>
          </a:xfrm>
          <a:prstGeom prst="line">
            <a:avLst/>
          </a:prstGeom>
          <a:noFill/>
          <a:ln w="17780">
            <a:solidFill>
              <a:srgbClr val="67067C"/>
            </a:solidFill>
            <a:prstDash val="solid"/>
          </a:ln>
        </p:spPr>
      </p:sp>
      <p:sp>
        <p:nvSpPr>
          <p:cNvPr id="22" name="Text 15"/>
          <p:cNvSpPr/>
          <p:nvPr/>
        </p:nvSpPr>
        <p:spPr>
          <a:xfrm>
            <a:off x="720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7029101"/>
            <a:ext cx="6120000" cy="680426"/>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4803" y="1735388"/>
            <a:ext cx="582393" cy="2232000"/>
          </a:xfrm>
          <a:prstGeom prst="rect">
            <a:avLst/>
          </a:prstGeom>
        </p:spPr>
      </p:pic>
      <p:sp>
        <p:nvSpPr>
          <p:cNvPr id="18" name="Text 12"/>
          <p:cNvSpPr/>
          <p:nvPr/>
        </p:nvSpPr>
        <p:spPr>
          <a:xfrm>
            <a:off x="2393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Juliette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387834"/>
            <a:ext cx="0" cy="288349"/>
          </a:xfrm>
          <a:prstGeom prst="line">
            <a:avLst/>
          </a:prstGeom>
          <a:noFill/>
          <a:ln w="17780">
            <a:solidFill>
              <a:srgbClr val="67067C"/>
            </a:solidFill>
            <a:prstDash val="solid"/>
          </a:ln>
        </p:spPr>
      </p:sp>
      <p:sp>
        <p:nvSpPr>
          <p:cNvPr id="22" name="Text 15"/>
          <p:cNvSpPr/>
          <p:nvPr/>
        </p:nvSpPr>
        <p:spPr>
          <a:xfrm>
            <a:off x="936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967784"/>
            <a:ext cx="6120000" cy="1146258"/>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735388"/>
            <a:ext cx="487869" cy="2232000"/>
          </a:xfrm>
          <a:prstGeom prst="rect">
            <a:avLst/>
          </a:prstGeom>
        </p:spPr>
      </p:pic>
      <p:sp>
        <p:nvSpPr>
          <p:cNvPr id="18" name="Text 12"/>
          <p:cNvSpPr/>
          <p:nvPr/>
        </p:nvSpPr>
        <p:spPr>
          <a:xfrm>
            <a:off x="2177963" y="1647634"/>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9" name="Text 13"/>
          <p:cNvSpPr/>
          <p:nvPr/>
        </p:nvSpPr>
        <p:spPr>
          <a:xfrm>
            <a:off x="2232000" y="1777429"/>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387834"/>
            <a:ext cx="0" cy="288349"/>
          </a:xfrm>
          <a:prstGeom prst="line">
            <a:avLst/>
          </a:prstGeom>
          <a:noFill/>
          <a:ln w="17780">
            <a:solidFill>
              <a:srgbClr val="67067C"/>
            </a:solidFill>
            <a:prstDash val="solid"/>
          </a:ln>
        </p:spPr>
      </p:sp>
      <p:sp>
        <p:nvSpPr>
          <p:cNvPr id="22" name="Text 15"/>
          <p:cNvSpPr/>
          <p:nvPr/>
        </p:nvSpPr>
        <p:spPr>
          <a:xfrm>
            <a:off x="720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967784"/>
            <a:ext cx="6120000" cy="1146258"/>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45</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46</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735388"/>
            <a:ext cx="588492" cy="2232000"/>
          </a:xfrm>
          <a:prstGeom prst="rect">
            <a:avLst/>
          </a:prstGeom>
        </p:spPr>
      </p:pic>
      <p:sp>
        <p:nvSpPr>
          <p:cNvPr id="20" name="Text 14"/>
          <p:cNvSpPr/>
          <p:nvPr/>
        </p:nvSpPr>
        <p:spPr>
          <a:xfrm>
            <a:off x="2178034" y="186541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986026"/>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003114"/>
            <a:ext cx="0" cy="288349"/>
          </a:xfrm>
          <a:prstGeom prst="line">
            <a:avLst/>
          </a:prstGeom>
          <a:noFill/>
          <a:ln w="17780">
            <a:solidFill>
              <a:srgbClr val="67067C"/>
            </a:solidFill>
            <a:prstDash val="solid"/>
          </a:ln>
        </p:spPr>
      </p:sp>
      <p:sp>
        <p:nvSpPr>
          <p:cNvPr id="24" name="Text 17"/>
          <p:cNvSpPr/>
          <p:nvPr/>
        </p:nvSpPr>
        <p:spPr>
          <a:xfrm>
            <a:off x="720000" y="60031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64354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583063"/>
            <a:ext cx="6120000" cy="1148400"/>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735388"/>
            <a:ext cx="594590" cy="2232000"/>
          </a:xfrm>
          <a:prstGeom prst="rect">
            <a:avLst/>
          </a:prstGeom>
        </p:spPr>
      </p:pic>
      <p:sp>
        <p:nvSpPr>
          <p:cNvPr id="20" name="Text 14"/>
          <p:cNvSpPr/>
          <p:nvPr/>
        </p:nvSpPr>
        <p:spPr>
          <a:xfrm>
            <a:off x="2393992" y="184811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997933"/>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49152"/>
            <a:ext cx="0" cy="288349"/>
          </a:xfrm>
          <a:prstGeom prst="line">
            <a:avLst/>
          </a:prstGeom>
          <a:noFill/>
          <a:ln w="17780">
            <a:solidFill>
              <a:srgbClr val="67067C"/>
            </a:solidFill>
            <a:prstDash val="solid"/>
          </a:ln>
        </p:spPr>
      </p:sp>
      <p:sp>
        <p:nvSpPr>
          <p:cNvPr id="24" name="Text 17"/>
          <p:cNvSpPr/>
          <p:nvPr/>
        </p:nvSpPr>
        <p:spPr>
          <a:xfrm>
            <a:off x="936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7029101"/>
            <a:ext cx="6120000" cy="1084941"/>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09708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2" name="Shape 8"/>
          <p:cNvSpPr/>
          <p:nvPr/>
        </p:nvSpPr>
        <p:spPr>
          <a:xfrm>
            <a:off x="178828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8828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5296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5296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735388"/>
            <a:ext cx="594590" cy="2232000"/>
          </a:xfrm>
          <a:prstGeom prst="rect">
            <a:avLst/>
          </a:prstGeom>
        </p:spPr>
      </p:pic>
      <p:sp>
        <p:nvSpPr>
          <p:cNvPr id="18" name="Text 12"/>
          <p:cNvSpPr/>
          <p:nvPr/>
        </p:nvSpPr>
        <p:spPr>
          <a:xfrm>
            <a:off x="2177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833872"/>
            <a:ext cx="0" cy="288349"/>
          </a:xfrm>
          <a:prstGeom prst="line">
            <a:avLst/>
          </a:prstGeom>
          <a:noFill/>
          <a:ln w="17780">
            <a:solidFill>
              <a:srgbClr val="67067C"/>
            </a:solidFill>
            <a:prstDash val="solid"/>
          </a:ln>
        </p:spPr>
      </p:sp>
      <p:sp>
        <p:nvSpPr>
          <p:cNvPr id="22" name="Text 15"/>
          <p:cNvSpPr/>
          <p:nvPr/>
        </p:nvSpPr>
        <p:spPr>
          <a:xfrm>
            <a:off x="720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13821"/>
            <a:ext cx="6120000" cy="70022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735388"/>
            <a:ext cx="773503" cy="2232000"/>
          </a:xfrm>
          <a:prstGeom prst="rect">
            <a:avLst/>
          </a:prstGeom>
        </p:spPr>
      </p:pic>
      <p:sp>
        <p:nvSpPr>
          <p:cNvPr id="18" name="Text 12"/>
          <p:cNvSpPr/>
          <p:nvPr/>
        </p:nvSpPr>
        <p:spPr>
          <a:xfrm>
            <a:off x="2394033" y="1851436"/>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1995647"/>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82/17 Blanc de Blancs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833872"/>
            <a:ext cx="0" cy="288349"/>
          </a:xfrm>
          <a:prstGeom prst="line">
            <a:avLst/>
          </a:prstGeom>
          <a:noFill/>
          <a:ln w="17780">
            <a:solidFill>
              <a:srgbClr val="67067C"/>
            </a:solidFill>
            <a:prstDash val="solid"/>
          </a:ln>
        </p:spPr>
      </p:sp>
      <p:sp>
        <p:nvSpPr>
          <p:cNvPr id="22" name="Text 15"/>
          <p:cNvSpPr/>
          <p:nvPr/>
        </p:nvSpPr>
        <p:spPr>
          <a:xfrm>
            <a:off x="936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413821"/>
            <a:ext cx="6120000" cy="70022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82/17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2023</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Pousterle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4" name="Text 22"/>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6" name="Text 24"/>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27" name="Text 25"/>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8" name="Text 26"/>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29" name="Text 27"/>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0" name="Text 28"/>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2022</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1" name="Text 29"/>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2" name="Text 30"/>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33" name="Text 31"/>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5" name="Text 33"/>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37" name="Text 35"/>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8" name="Text 36"/>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39" name="Text 37"/>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1" name="Text 39"/>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2" name="Text 40"/>
          <p:cNvSpPr/>
          <p:nvPr/>
        </p:nvSpPr>
        <p:spPr>
          <a:xfrm>
            <a:off x="286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43" name="Text 41"/>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4" name="Text 42"/>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5" name="Text 43"/>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6" name="Text 44"/>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7" name="Text 45"/>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8" name="Text 46"/>
          <p:cNvSpPr/>
          <p:nvPr/>
        </p:nvSpPr>
        <p:spPr>
          <a:xfrm>
            <a:off x="4908000" y="79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49" name="Text 47"/>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4908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51" name="Text 49"/>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2" name="Text 50"/>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3" name="Text 51"/>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54" name="Text 52"/>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55" name="Text 53"/>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 Chardonnay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6" name="Text 54"/>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7" name="Text 55"/>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8" name="Text 56"/>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0" name="Text 58"/>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1" name="Text 59"/>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2" name="Text 60"/>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3" name="Text 61"/>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4" name="Text 62"/>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5" name="Text 63"/>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6" name="Text 64"/>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7" name="Text 6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68" name="Text 6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40</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19</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46</a:t>
            </a:r>
            <a:endParaRPr lang="en-US" sz="840" dirty="0"/>
          </a:p>
        </p:txBody>
      </p:sp>
      <p:sp>
        <p:nvSpPr>
          <p:cNvPr id="35" name="Text 33"/>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6" name="Text 3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37" name="Text 3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STANDS, VINS, QUANTITÉS, COMMANDES</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400421"/>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vingt-six vignerons.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2026-10-02T11:35:27Z</dcterms:created>
  <dcterms:modified xsi:type="dcterms:W3CDTF">2026-10-02T11:35:27Z</dcterms:modified>
</cp:coreProperties>
</file>