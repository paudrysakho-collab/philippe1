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940000" cy="1224000"/>
          </a:xfrm>
          <a:prstGeom prst="rect">
            <a:avLst/>
          </a:prstGeom>
          <a:noFill/>
          <a:ln/>
        </p:spPr>
        <p:txBody>
          <a:bodyPr wrap="square" lIns="0" tIns="0" rIns="0" bIns="0" rtlCol="0" anchor="ctr"/>
          <a:lstStyle/>
          <a:p>
            <a:pPr indent="0" marL="0">
              <a:lnSpc>
                <a:spcPct val="92000"/>
              </a:lnSpc>
              <a:buNone/>
            </a:pPr>
            <a:r>
              <a:rPr lang="en-US" sz="4400" dirty="0">
                <a:solidFill>
                  <a:srgbClr val="46606E"/>
                </a:solidFill>
                <a:latin typeface="Young Serif" pitchFamily="34" charset="0"/>
                <a:ea typeface="Young Serif" pitchFamily="34" charset="-122"/>
                <a:cs typeface="Young Serif" pitchFamily="34" charset="-120"/>
              </a:rPr>
              <a:t>Salon Privé</a:t>
            </a:r>
            <a:endParaRPr lang="en-US" sz="4400" dirty="0"/>
          </a:p>
          <a:p>
            <a:pPr indent="0" marL="0">
              <a:lnSpc>
                <a:spcPct val="92000"/>
              </a:lnSpc>
              <a:buNone/>
            </a:pPr>
            <a:r>
              <a:rPr lang="en-US" sz="4400" dirty="0">
                <a:solidFill>
                  <a:srgbClr val="67067C"/>
                </a:solidFill>
                <a:latin typeface="Young Serif" pitchFamily="34" charset="0"/>
                <a:ea typeface="Young Serif" pitchFamily="34" charset="-122"/>
                <a:cs typeface="Young Serif" pitchFamily="34" charset="-120"/>
              </a:rPr>
              <a:t>Vins &amp; Terroirs</a:t>
            </a:r>
            <a:endParaRPr lang="en-US" sz="4400" dirty="0"/>
          </a:p>
        </p:txBody>
      </p:sp>
      <p:sp>
        <p:nvSpPr>
          <p:cNvPr id="5" name="Text 1"/>
          <p:cNvSpPr/>
          <p:nvPr/>
        </p:nvSpPr>
        <p:spPr>
          <a:xfrm>
            <a:off x="612000" y="3204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Vingt-six vignerons, neuf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3528000" y="576000"/>
            <a:ext cx="3420000" cy="306000"/>
          </a:xfrm>
          <a:prstGeom prst="rect">
            <a:avLst/>
          </a:prstGeom>
          <a:noFill/>
          <a:ln/>
        </p:spPr>
        <p:txBody>
          <a:bodyPr wrap="square" lIns="0" tIns="0" rIns="0" bIns="0" rtlCol="0" anchor="t"/>
          <a:lstStyle/>
          <a:p>
            <a:pPr algn="r" indent="0" marL="0">
              <a:buNone/>
            </a:pPr>
            <a:r>
              <a:rPr lang="en-US" sz="1900" dirty="0">
                <a:solidFill>
                  <a:srgbClr val="67067C"/>
                </a:solidFill>
                <a:latin typeface="Young Serif" pitchFamily="34" charset="0"/>
                <a:ea typeface="Young Serif" pitchFamily="34" charset="-122"/>
                <a:cs typeface="Young Serif" pitchFamily="34" charset="-120"/>
              </a:rPr>
              <a:t>Lundi 5 octobre 2026</a:t>
            </a:r>
            <a:endParaRPr lang="en-US" sz="1900" dirty="0"/>
          </a:p>
        </p:txBody>
      </p:sp>
      <p:sp>
        <p:nvSpPr>
          <p:cNvPr id="7" name="Text 3"/>
          <p:cNvSpPr/>
          <p:nvPr/>
        </p:nvSpPr>
        <p:spPr>
          <a:xfrm>
            <a:off x="3528000" y="900000"/>
            <a:ext cx="3420000" cy="324000"/>
          </a:xfrm>
          <a:prstGeom prst="rect">
            <a:avLst/>
          </a:prstGeom>
          <a:noFill/>
          <a:ln/>
        </p:spPr>
        <p:txBody>
          <a:bodyPr wrap="square" lIns="0" tIns="0" rIns="0" bIns="0" rtlCol="0" anchor="t"/>
          <a:lstStyle/>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CHÂTEAU DE LA RAIRIE</a:t>
            </a:r>
            <a:endParaRPr lang="en-US" sz="900" dirty="0"/>
          </a:p>
          <a:p>
            <a:pPr algn="r" indent="0" marL="0">
              <a:lnSpc>
                <a:spcPct val="120000"/>
              </a:lnSpc>
              <a:buNone/>
            </a:pPr>
            <a:r>
              <a:rPr lang="en-US" sz="900" b="1" spc="30" kern="0" dirty="0">
                <a:solidFill>
                  <a:srgbClr val="46606E"/>
                </a:solidFill>
                <a:latin typeface="IBM Plex Sans" pitchFamily="34" charset="0"/>
                <a:ea typeface="IBM Plex Sans" pitchFamily="34" charset="-122"/>
                <a:cs typeface="IBM Plex Sans" pitchFamily="34" charset="-120"/>
              </a:rPr>
              <a:t>PONT-SAINT-MARTIN</a:t>
            </a:r>
            <a:endParaRPr lang="en-US" sz="9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sp>
        <p:nvSpPr>
          <p:cNvPr id="9" name="Shape 6"/>
          <p:cNvSpPr/>
          <p:nvPr/>
        </p:nvSpPr>
        <p:spPr>
          <a:xfrm>
            <a:off x="828000" y="4932000"/>
            <a:ext cx="6120000" cy="1296000"/>
          </a:xfrm>
          <a:prstGeom prst="rect">
            <a:avLst/>
          </a:prstGeom>
          <a:solidFill>
            <a:srgbClr val="FBF8F1"/>
          </a:solidFill>
          <a:ln w="12700">
            <a:solidFill>
              <a:srgbClr val="FBF8F1"/>
            </a:solidFill>
            <a:prstDash val="solid"/>
          </a:ln>
        </p:spPr>
      </p:sp>
      <p:sp>
        <p:nvSpPr>
          <p:cNvPr id="10" name="Shape 7"/>
          <p:cNvSpPr/>
          <p:nvPr/>
        </p:nvSpPr>
        <p:spPr>
          <a:xfrm>
            <a:off x="828000" y="4932000"/>
            <a:ext cx="0" cy="1296000"/>
          </a:xfrm>
          <a:prstGeom prst="line">
            <a:avLst/>
          </a:prstGeom>
          <a:noFill/>
          <a:ln w="25400">
            <a:solidFill>
              <a:srgbClr val="E1C853"/>
            </a:solidFill>
            <a:prstDash val="solid"/>
          </a:ln>
        </p:spPr>
      </p:sp>
      <p:sp>
        <p:nvSpPr>
          <p:cNvPr id="11" name="Text 8"/>
          <p:cNvSpPr/>
          <p:nvPr/>
        </p:nvSpPr>
        <p:spPr>
          <a:xfrm>
            <a:off x="1044000" y="4932000"/>
            <a:ext cx="5688000" cy="1296000"/>
          </a:xfrm>
          <a:prstGeom prst="rect">
            <a:avLst/>
          </a:prstGeom>
          <a:noFill/>
          <a:ln/>
        </p:spPr>
        <p:txBody>
          <a:bodyPr wrap="square" lIns="0" tIns="0" rIns="0" bIns="0" rtlCol="0" anchor="ctr"/>
          <a:lstStyle/>
          <a:p>
            <a:pPr indent="0" marL="0">
              <a:lnSpc>
                <a:spcPct val="125000"/>
              </a:lnSpc>
              <a:buNone/>
            </a:pPr>
            <a:r>
              <a:rPr lang="en-US" sz="1800" dirty="0">
                <a:solidFill>
                  <a:srgbClr val="67067C"/>
                </a:solidFill>
                <a:latin typeface="Young Serif" pitchFamily="34" charset="0"/>
                <a:ea typeface="Young Serif" pitchFamily="34" charset="-122"/>
                <a:cs typeface="Young Serif" pitchFamily="34" charset="-120"/>
              </a:rPr>
              <a:t>Salon Privé Vins &amp; Terroirs</a:t>
            </a:r>
            <a:endParaRPr lang="en-US" sz="1800" dirty="0"/>
          </a:p>
          <a:p>
            <a:pPr indent="0" marL="0">
              <a:lnSpc>
                <a:spcPct val="125000"/>
              </a:lnSpc>
              <a:buNone/>
            </a:pPr>
            <a:r>
              <a:rPr lang="en-US" sz="1300" dirty="0">
                <a:solidFill>
                  <a:srgbClr val="46606E"/>
                </a:solidFill>
                <a:latin typeface="Young Serif" pitchFamily="34" charset="0"/>
                <a:ea typeface="Young Serif" pitchFamily="34" charset="-122"/>
                <a:cs typeface="Young Serif" pitchFamily="34" charset="-120"/>
              </a:rPr>
              <a:t>Lundi 5 octobre 2026</a:t>
            </a:r>
            <a:endParaRPr lang="en-US" sz="1800" dirty="0"/>
          </a:p>
          <a:p>
            <a:pPr indent="0" marL="0">
              <a:lnSpc>
                <a:spcPct val="125000"/>
              </a:lnSpc>
              <a:buNone/>
            </a:pPr>
            <a:r>
              <a:rPr lang="en-US" sz="1000" dirty="0">
                <a:solidFill>
                  <a:srgbClr val="46606E"/>
                </a:solidFill>
                <a:latin typeface="Spectral" pitchFamily="34" charset="0"/>
                <a:ea typeface="Spectral" pitchFamily="34" charset="-122"/>
                <a:cs typeface="Spectral" pitchFamily="34" charset="-120"/>
              </a:rPr>
              <a:t>Château de la Rairie, Pont-Saint-Martin</a:t>
            </a:r>
            <a:endParaRPr lang="en-US" sz="1800" dirty="0"/>
          </a:p>
          <a:p>
            <a:pPr indent="0" marL="0">
              <a:lnSpc>
                <a:spcPct val="125000"/>
              </a:lnSpc>
              <a:buNone/>
            </a:pPr>
            <a:r>
              <a:rPr lang="en-US" sz="800" dirty="0">
                <a:solidFill>
                  <a:srgbClr val="A8515F"/>
                </a:solidFill>
                <a:latin typeface="IBM Plex Sans" pitchFamily="34" charset="0"/>
                <a:ea typeface="IBM Plex Sans" pitchFamily="34" charset="-122"/>
                <a:cs typeface="IBM Plex Sans" pitchFamily="34" charset="-120"/>
              </a:rPr>
              <a:t>Organisé par l'Agence SCIO Vins &amp; Spirits</a:t>
            </a:r>
            <a:endParaRPr lang="en-US" sz="1800" dirty="0"/>
          </a:p>
        </p:txBody>
      </p:sp>
      <p:sp>
        <p:nvSpPr>
          <p:cNvPr id="12" name="Shape 9"/>
          <p:cNvSpPr/>
          <p:nvPr/>
        </p:nvSpPr>
        <p:spPr>
          <a:xfrm>
            <a:off x="828000" y="6732000"/>
            <a:ext cx="6120000" cy="0"/>
          </a:xfrm>
          <a:prstGeom prst="line">
            <a:avLst/>
          </a:prstGeom>
          <a:noFill/>
          <a:ln w="10160">
            <a:solidFill>
              <a:srgbClr val="67067C"/>
            </a:solidFill>
            <a:prstDash val="solid"/>
          </a:ln>
        </p:spPr>
      </p:sp>
      <p:sp>
        <p:nvSpPr>
          <p:cNvPr id="13" name="Text 10"/>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26</a:t>
            </a:r>
            <a:endParaRPr lang="en-US" sz="2600" dirty="0"/>
          </a:p>
        </p:txBody>
      </p:sp>
      <p:sp>
        <p:nvSpPr>
          <p:cNvPr id="14" name="Text 11"/>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vignerons</a:t>
            </a:r>
            <a:endParaRPr lang="en-US" sz="900" dirty="0"/>
          </a:p>
        </p:txBody>
      </p:sp>
      <p:sp>
        <p:nvSpPr>
          <p:cNvPr id="15" name="Text 12"/>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9</a:t>
            </a:r>
            <a:endParaRPr lang="en-US" sz="2600" dirty="0"/>
          </a:p>
        </p:txBody>
      </p:sp>
      <p:sp>
        <p:nvSpPr>
          <p:cNvPr id="16" name="Text 13"/>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7" name="Text 14"/>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180</a:t>
            </a:r>
            <a:endParaRPr lang="en-US" sz="2600" dirty="0"/>
          </a:p>
        </p:txBody>
      </p:sp>
      <p:sp>
        <p:nvSpPr>
          <p:cNvPr id="18" name="Text 15"/>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vins à la dégustation</a:t>
            </a:r>
            <a:endParaRPr lang="en-US" sz="900" dirty="0"/>
          </a:p>
        </p:txBody>
      </p:sp>
      <p:sp>
        <p:nvSpPr>
          <p:cNvPr id="19" name="Text 16"/>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20" name="Text 17"/>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RÉGION ; LE PREMIER CHIFFRE EST LE NUMÉRO DU STAND</a:t>
            </a:r>
            <a:endParaRPr lang="en-US" sz="800" dirty="0"/>
          </a:p>
        </p:txBody>
      </p:sp>
      <p:sp>
        <p:nvSpPr>
          <p:cNvPr id="4" name="Shape 2"/>
          <p:cNvSpPr/>
          <p:nvPr/>
        </p:nvSpPr>
        <p:spPr>
          <a:xfrm>
            <a:off x="612000" y="1393200"/>
            <a:ext cx="115200" cy="115200"/>
          </a:xfrm>
          <a:prstGeom prst="rect">
            <a:avLst/>
          </a:prstGeom>
          <a:solidFill>
            <a:srgbClr val="46606E"/>
          </a:solidFill>
          <a:ln w="7620">
            <a:solidFill>
              <a:srgbClr val="46606E"/>
            </a:solidFill>
            <a:prstDash val="solid"/>
          </a:ln>
        </p:spPr>
      </p:sp>
      <p:sp>
        <p:nvSpPr>
          <p:cNvPr id="5" name="Text 3"/>
          <p:cNvSpPr/>
          <p:nvPr/>
        </p:nvSpPr>
        <p:spPr>
          <a:xfrm>
            <a:off x="806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6" name="Shape 4"/>
          <p:cNvSpPr/>
          <p:nvPr/>
        </p:nvSpPr>
        <p:spPr>
          <a:xfrm>
            <a:off x="612000" y="1587600"/>
            <a:ext cx="2952000" cy="0"/>
          </a:xfrm>
          <a:prstGeom prst="line">
            <a:avLst/>
          </a:prstGeom>
          <a:noFill/>
          <a:ln w="11430">
            <a:solidFill>
              <a:srgbClr val="67067C"/>
            </a:solidFill>
            <a:prstDash val="solid"/>
          </a:ln>
        </p:spPr>
      </p:sp>
      <p:sp>
        <p:nvSpPr>
          <p:cNvPr id="7" name="Text 5"/>
          <p:cNvSpPr/>
          <p:nvPr/>
        </p:nvSpPr>
        <p:spPr>
          <a:xfrm>
            <a:off x="612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8" name="Text 6"/>
          <p:cNvSpPr/>
          <p:nvPr/>
        </p:nvSpPr>
        <p:spPr>
          <a:xfrm>
            <a:off x="918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9" name="Text 7"/>
          <p:cNvSpPr/>
          <p:nvPr/>
        </p:nvSpPr>
        <p:spPr>
          <a:xfrm>
            <a:off x="3204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0" name="Shape 8"/>
          <p:cNvSpPr/>
          <p:nvPr/>
        </p:nvSpPr>
        <p:spPr>
          <a:xfrm>
            <a:off x="612000" y="1839600"/>
            <a:ext cx="2952000" cy="0"/>
          </a:xfrm>
          <a:prstGeom prst="line">
            <a:avLst/>
          </a:prstGeom>
          <a:noFill/>
          <a:ln w="3810">
            <a:solidFill>
              <a:srgbClr val="C9CFC9"/>
            </a:solidFill>
            <a:prstDash val="solid"/>
          </a:ln>
        </p:spPr>
      </p:sp>
      <p:sp>
        <p:nvSpPr>
          <p:cNvPr id="11" name="Text 9"/>
          <p:cNvSpPr/>
          <p:nvPr/>
        </p:nvSpPr>
        <p:spPr>
          <a:xfrm>
            <a:off x="612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2" name="Text 10"/>
          <p:cNvSpPr/>
          <p:nvPr/>
        </p:nvSpPr>
        <p:spPr>
          <a:xfrm>
            <a:off x="918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3" name="Text 11"/>
          <p:cNvSpPr/>
          <p:nvPr/>
        </p:nvSpPr>
        <p:spPr>
          <a:xfrm>
            <a:off x="3204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4" name="Shape 12"/>
          <p:cNvSpPr/>
          <p:nvPr/>
        </p:nvSpPr>
        <p:spPr>
          <a:xfrm>
            <a:off x="612000" y="2041200"/>
            <a:ext cx="2952000" cy="0"/>
          </a:xfrm>
          <a:prstGeom prst="line">
            <a:avLst/>
          </a:prstGeom>
          <a:noFill/>
          <a:ln w="3810">
            <a:solidFill>
              <a:srgbClr val="C9CFC9"/>
            </a:solidFill>
            <a:prstDash val="solid"/>
          </a:ln>
        </p:spPr>
      </p:sp>
      <p:sp>
        <p:nvSpPr>
          <p:cNvPr id="15" name="Text 13"/>
          <p:cNvSpPr/>
          <p:nvPr/>
        </p:nvSpPr>
        <p:spPr>
          <a:xfrm>
            <a:off x="612000" y="204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6" name="Text 14"/>
          <p:cNvSpPr/>
          <p:nvPr/>
        </p:nvSpPr>
        <p:spPr>
          <a:xfrm>
            <a:off x="918000" y="204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7" name="Text 15"/>
          <p:cNvSpPr/>
          <p:nvPr/>
        </p:nvSpPr>
        <p:spPr>
          <a:xfrm>
            <a:off x="3204000" y="204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18" name="Shape 16"/>
          <p:cNvSpPr/>
          <p:nvPr/>
        </p:nvSpPr>
        <p:spPr>
          <a:xfrm>
            <a:off x="612000" y="2242800"/>
            <a:ext cx="2952000" cy="0"/>
          </a:xfrm>
          <a:prstGeom prst="line">
            <a:avLst/>
          </a:prstGeom>
          <a:noFill/>
          <a:ln w="3810">
            <a:solidFill>
              <a:srgbClr val="C9CFC9"/>
            </a:solidFill>
            <a:prstDash val="solid"/>
          </a:ln>
        </p:spPr>
      </p:sp>
      <p:sp>
        <p:nvSpPr>
          <p:cNvPr id="19" name="Text 17"/>
          <p:cNvSpPr/>
          <p:nvPr/>
        </p:nvSpPr>
        <p:spPr>
          <a:xfrm>
            <a:off x="612000" y="224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20" name="Text 18"/>
          <p:cNvSpPr/>
          <p:nvPr/>
        </p:nvSpPr>
        <p:spPr>
          <a:xfrm>
            <a:off x="918000" y="224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1" name="Text 19"/>
          <p:cNvSpPr/>
          <p:nvPr/>
        </p:nvSpPr>
        <p:spPr>
          <a:xfrm>
            <a:off x="3204000" y="224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2" name="Shape 20"/>
          <p:cNvSpPr/>
          <p:nvPr/>
        </p:nvSpPr>
        <p:spPr>
          <a:xfrm>
            <a:off x="612000" y="2444400"/>
            <a:ext cx="2952000" cy="0"/>
          </a:xfrm>
          <a:prstGeom prst="line">
            <a:avLst/>
          </a:prstGeom>
          <a:noFill/>
          <a:ln w="3810">
            <a:solidFill>
              <a:srgbClr val="C9CFC9"/>
            </a:solidFill>
            <a:prstDash val="solid"/>
          </a:ln>
        </p:spPr>
      </p:sp>
      <p:sp>
        <p:nvSpPr>
          <p:cNvPr id="23" name="Text 21"/>
          <p:cNvSpPr/>
          <p:nvPr/>
        </p:nvSpPr>
        <p:spPr>
          <a:xfrm>
            <a:off x="612000" y="24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24" name="Text 22"/>
          <p:cNvSpPr/>
          <p:nvPr/>
        </p:nvSpPr>
        <p:spPr>
          <a:xfrm>
            <a:off x="918000" y="24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5" name="Text 23"/>
          <p:cNvSpPr/>
          <p:nvPr/>
        </p:nvSpPr>
        <p:spPr>
          <a:xfrm>
            <a:off x="3204000" y="24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6" name="Shape 24"/>
          <p:cNvSpPr/>
          <p:nvPr/>
        </p:nvSpPr>
        <p:spPr>
          <a:xfrm>
            <a:off x="612000" y="2646000"/>
            <a:ext cx="2952000" cy="0"/>
          </a:xfrm>
          <a:prstGeom prst="line">
            <a:avLst/>
          </a:prstGeom>
          <a:noFill/>
          <a:ln w="3810">
            <a:solidFill>
              <a:srgbClr val="C9CFC9"/>
            </a:solidFill>
            <a:prstDash val="solid"/>
          </a:ln>
        </p:spPr>
      </p:sp>
      <p:sp>
        <p:nvSpPr>
          <p:cNvPr id="27" name="Text 25"/>
          <p:cNvSpPr/>
          <p:nvPr/>
        </p:nvSpPr>
        <p:spPr>
          <a:xfrm>
            <a:off x="612000" y="264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28" name="Text 26"/>
          <p:cNvSpPr/>
          <p:nvPr/>
        </p:nvSpPr>
        <p:spPr>
          <a:xfrm>
            <a:off x="918000" y="264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9" name="Text 27"/>
          <p:cNvSpPr/>
          <p:nvPr/>
        </p:nvSpPr>
        <p:spPr>
          <a:xfrm>
            <a:off x="3204000" y="264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0" name="Shape 28"/>
          <p:cNvSpPr/>
          <p:nvPr/>
        </p:nvSpPr>
        <p:spPr>
          <a:xfrm>
            <a:off x="612000" y="2847600"/>
            <a:ext cx="2952000" cy="0"/>
          </a:xfrm>
          <a:prstGeom prst="line">
            <a:avLst/>
          </a:prstGeom>
          <a:noFill/>
          <a:ln w="3810">
            <a:solidFill>
              <a:srgbClr val="C9CFC9"/>
            </a:solidFill>
            <a:prstDash val="solid"/>
          </a:ln>
        </p:spPr>
      </p:sp>
      <p:sp>
        <p:nvSpPr>
          <p:cNvPr id="31" name="Shape 29"/>
          <p:cNvSpPr/>
          <p:nvPr/>
        </p:nvSpPr>
        <p:spPr>
          <a:xfrm>
            <a:off x="612000" y="3078000"/>
            <a:ext cx="115200" cy="115200"/>
          </a:xfrm>
          <a:prstGeom prst="rect">
            <a:avLst/>
          </a:prstGeom>
          <a:solidFill>
            <a:srgbClr val="3C5B47"/>
          </a:solidFill>
          <a:ln w="7620">
            <a:solidFill>
              <a:srgbClr val="3C5B47"/>
            </a:solidFill>
            <a:prstDash val="solid"/>
          </a:ln>
        </p:spPr>
      </p:sp>
      <p:sp>
        <p:nvSpPr>
          <p:cNvPr id="32" name="Text 30"/>
          <p:cNvSpPr/>
          <p:nvPr/>
        </p:nvSpPr>
        <p:spPr>
          <a:xfrm>
            <a:off x="806400" y="299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3" name="Shape 31"/>
          <p:cNvSpPr/>
          <p:nvPr/>
        </p:nvSpPr>
        <p:spPr>
          <a:xfrm>
            <a:off x="612000" y="3272400"/>
            <a:ext cx="2952000" cy="0"/>
          </a:xfrm>
          <a:prstGeom prst="line">
            <a:avLst/>
          </a:prstGeom>
          <a:noFill/>
          <a:ln w="11430">
            <a:solidFill>
              <a:srgbClr val="67067C"/>
            </a:solidFill>
            <a:prstDash val="solid"/>
          </a:ln>
        </p:spPr>
      </p:sp>
      <p:sp>
        <p:nvSpPr>
          <p:cNvPr id="34" name="Text 32"/>
          <p:cNvSpPr/>
          <p:nvPr/>
        </p:nvSpPr>
        <p:spPr>
          <a:xfrm>
            <a:off x="612000" y="332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35" name="Text 33"/>
          <p:cNvSpPr/>
          <p:nvPr/>
        </p:nvSpPr>
        <p:spPr>
          <a:xfrm>
            <a:off x="918000" y="332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6" name="Text 34"/>
          <p:cNvSpPr/>
          <p:nvPr/>
        </p:nvSpPr>
        <p:spPr>
          <a:xfrm>
            <a:off x="3204000" y="332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37" name="Shape 35"/>
          <p:cNvSpPr/>
          <p:nvPr/>
        </p:nvSpPr>
        <p:spPr>
          <a:xfrm>
            <a:off x="612000" y="3524400"/>
            <a:ext cx="2952000" cy="0"/>
          </a:xfrm>
          <a:prstGeom prst="line">
            <a:avLst/>
          </a:prstGeom>
          <a:noFill/>
          <a:ln w="3810">
            <a:solidFill>
              <a:srgbClr val="C9CFC9"/>
            </a:solidFill>
            <a:prstDash val="solid"/>
          </a:ln>
        </p:spPr>
      </p:sp>
      <p:sp>
        <p:nvSpPr>
          <p:cNvPr id="38" name="Shape 36"/>
          <p:cNvSpPr/>
          <p:nvPr/>
        </p:nvSpPr>
        <p:spPr>
          <a:xfrm>
            <a:off x="612000" y="3754800"/>
            <a:ext cx="115200" cy="115200"/>
          </a:xfrm>
          <a:prstGeom prst="rect">
            <a:avLst/>
          </a:prstGeom>
          <a:solidFill>
            <a:srgbClr val="D08C3C"/>
          </a:solidFill>
          <a:ln w="7620">
            <a:solidFill>
              <a:srgbClr val="D08C3C"/>
            </a:solidFill>
            <a:prstDash val="solid"/>
          </a:ln>
        </p:spPr>
      </p:sp>
      <p:sp>
        <p:nvSpPr>
          <p:cNvPr id="39" name="Text 37"/>
          <p:cNvSpPr/>
          <p:nvPr/>
        </p:nvSpPr>
        <p:spPr>
          <a:xfrm>
            <a:off x="806400" y="3675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40" name="Shape 38"/>
          <p:cNvSpPr/>
          <p:nvPr/>
        </p:nvSpPr>
        <p:spPr>
          <a:xfrm>
            <a:off x="612000" y="3949200"/>
            <a:ext cx="2952000" cy="0"/>
          </a:xfrm>
          <a:prstGeom prst="line">
            <a:avLst/>
          </a:prstGeom>
          <a:noFill/>
          <a:ln w="11430">
            <a:solidFill>
              <a:srgbClr val="67067C"/>
            </a:solidFill>
            <a:prstDash val="solid"/>
          </a:ln>
        </p:spPr>
      </p:sp>
      <p:sp>
        <p:nvSpPr>
          <p:cNvPr id="41" name="Text 39"/>
          <p:cNvSpPr/>
          <p:nvPr/>
        </p:nvSpPr>
        <p:spPr>
          <a:xfrm>
            <a:off x="612000" y="399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42" name="Text 40"/>
          <p:cNvSpPr/>
          <p:nvPr/>
        </p:nvSpPr>
        <p:spPr>
          <a:xfrm>
            <a:off x="918000" y="399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43" name="Text 41"/>
          <p:cNvSpPr/>
          <p:nvPr/>
        </p:nvSpPr>
        <p:spPr>
          <a:xfrm>
            <a:off x="3204000" y="399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44" name="Shape 42"/>
          <p:cNvSpPr/>
          <p:nvPr/>
        </p:nvSpPr>
        <p:spPr>
          <a:xfrm>
            <a:off x="612000" y="4201200"/>
            <a:ext cx="2952000" cy="0"/>
          </a:xfrm>
          <a:prstGeom prst="line">
            <a:avLst/>
          </a:prstGeom>
          <a:noFill/>
          <a:ln w="3810">
            <a:solidFill>
              <a:srgbClr val="C9CFC9"/>
            </a:solidFill>
            <a:prstDash val="solid"/>
          </a:ln>
        </p:spPr>
      </p:sp>
      <p:sp>
        <p:nvSpPr>
          <p:cNvPr id="45" name="Text 43"/>
          <p:cNvSpPr/>
          <p:nvPr/>
        </p:nvSpPr>
        <p:spPr>
          <a:xfrm>
            <a:off x="612000" y="420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46" name="Text 44"/>
          <p:cNvSpPr/>
          <p:nvPr/>
        </p:nvSpPr>
        <p:spPr>
          <a:xfrm>
            <a:off x="918000" y="420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47" name="Text 45"/>
          <p:cNvSpPr/>
          <p:nvPr/>
        </p:nvSpPr>
        <p:spPr>
          <a:xfrm>
            <a:off x="3204000" y="420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48" name="Shape 46"/>
          <p:cNvSpPr/>
          <p:nvPr/>
        </p:nvSpPr>
        <p:spPr>
          <a:xfrm>
            <a:off x="612000" y="4402800"/>
            <a:ext cx="2952000" cy="0"/>
          </a:xfrm>
          <a:prstGeom prst="line">
            <a:avLst/>
          </a:prstGeom>
          <a:noFill/>
          <a:ln w="3810">
            <a:solidFill>
              <a:srgbClr val="C9CFC9"/>
            </a:solidFill>
            <a:prstDash val="solid"/>
          </a:ln>
        </p:spPr>
      </p:sp>
      <p:sp>
        <p:nvSpPr>
          <p:cNvPr id="49" name="Text 47"/>
          <p:cNvSpPr/>
          <p:nvPr/>
        </p:nvSpPr>
        <p:spPr>
          <a:xfrm>
            <a:off x="612000" y="440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0" name="Text 48"/>
          <p:cNvSpPr/>
          <p:nvPr/>
        </p:nvSpPr>
        <p:spPr>
          <a:xfrm>
            <a:off x="918000" y="440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51" name="Text 49"/>
          <p:cNvSpPr/>
          <p:nvPr/>
        </p:nvSpPr>
        <p:spPr>
          <a:xfrm>
            <a:off x="3204000" y="440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16</a:t>
            </a:r>
            <a:endParaRPr lang="en-US" sz="900" dirty="0"/>
          </a:p>
        </p:txBody>
      </p:sp>
      <p:sp>
        <p:nvSpPr>
          <p:cNvPr id="52" name="Shape 50"/>
          <p:cNvSpPr/>
          <p:nvPr/>
        </p:nvSpPr>
        <p:spPr>
          <a:xfrm>
            <a:off x="612000" y="4604400"/>
            <a:ext cx="2952000" cy="0"/>
          </a:xfrm>
          <a:prstGeom prst="line">
            <a:avLst/>
          </a:prstGeom>
          <a:noFill/>
          <a:ln w="3810">
            <a:solidFill>
              <a:srgbClr val="C9CFC9"/>
            </a:solidFill>
            <a:prstDash val="solid"/>
          </a:ln>
        </p:spPr>
      </p:sp>
      <p:sp>
        <p:nvSpPr>
          <p:cNvPr id="53" name="Text 51"/>
          <p:cNvSpPr/>
          <p:nvPr/>
        </p:nvSpPr>
        <p:spPr>
          <a:xfrm>
            <a:off x="612000" y="460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54" name="Text 52"/>
          <p:cNvSpPr/>
          <p:nvPr/>
        </p:nvSpPr>
        <p:spPr>
          <a:xfrm>
            <a:off x="918000" y="460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55" name="Text 53"/>
          <p:cNvSpPr/>
          <p:nvPr/>
        </p:nvSpPr>
        <p:spPr>
          <a:xfrm>
            <a:off x="3204000" y="460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56" name="Shape 54"/>
          <p:cNvSpPr/>
          <p:nvPr/>
        </p:nvSpPr>
        <p:spPr>
          <a:xfrm>
            <a:off x="612000" y="4806000"/>
            <a:ext cx="2952000" cy="0"/>
          </a:xfrm>
          <a:prstGeom prst="line">
            <a:avLst/>
          </a:prstGeom>
          <a:noFill/>
          <a:ln w="3810">
            <a:solidFill>
              <a:srgbClr val="C9CFC9"/>
            </a:solidFill>
            <a:prstDash val="solid"/>
          </a:ln>
        </p:spPr>
      </p:sp>
      <p:sp>
        <p:nvSpPr>
          <p:cNvPr id="57" name="Text 55"/>
          <p:cNvSpPr/>
          <p:nvPr/>
        </p:nvSpPr>
        <p:spPr>
          <a:xfrm>
            <a:off x="612000" y="480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58" name="Text 56"/>
          <p:cNvSpPr/>
          <p:nvPr/>
        </p:nvSpPr>
        <p:spPr>
          <a:xfrm>
            <a:off x="918000" y="480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59" name="Text 57"/>
          <p:cNvSpPr/>
          <p:nvPr/>
        </p:nvSpPr>
        <p:spPr>
          <a:xfrm>
            <a:off x="3204000" y="480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60" name="Shape 58"/>
          <p:cNvSpPr/>
          <p:nvPr/>
        </p:nvSpPr>
        <p:spPr>
          <a:xfrm>
            <a:off x="612000" y="5007600"/>
            <a:ext cx="2952000" cy="0"/>
          </a:xfrm>
          <a:prstGeom prst="line">
            <a:avLst/>
          </a:prstGeom>
          <a:noFill/>
          <a:ln w="3810">
            <a:solidFill>
              <a:srgbClr val="C9CFC9"/>
            </a:solidFill>
            <a:prstDash val="solid"/>
          </a:ln>
        </p:spPr>
      </p:sp>
      <p:sp>
        <p:nvSpPr>
          <p:cNvPr id="61" name="Shape 59"/>
          <p:cNvSpPr/>
          <p:nvPr/>
        </p:nvSpPr>
        <p:spPr>
          <a:xfrm>
            <a:off x="612000" y="5238000"/>
            <a:ext cx="115200" cy="115200"/>
          </a:xfrm>
          <a:prstGeom prst="rect">
            <a:avLst/>
          </a:prstGeom>
          <a:solidFill>
            <a:srgbClr val="3C5B47"/>
          </a:solidFill>
          <a:ln w="7620">
            <a:solidFill>
              <a:srgbClr val="3C5B47"/>
            </a:solidFill>
            <a:prstDash val="solid"/>
          </a:ln>
        </p:spPr>
      </p:sp>
      <p:sp>
        <p:nvSpPr>
          <p:cNvPr id="62" name="Text 60"/>
          <p:cNvSpPr/>
          <p:nvPr/>
        </p:nvSpPr>
        <p:spPr>
          <a:xfrm>
            <a:off x="806400" y="5158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63" name="Shape 61"/>
          <p:cNvSpPr/>
          <p:nvPr/>
        </p:nvSpPr>
        <p:spPr>
          <a:xfrm>
            <a:off x="612000" y="5432400"/>
            <a:ext cx="2952000" cy="0"/>
          </a:xfrm>
          <a:prstGeom prst="line">
            <a:avLst/>
          </a:prstGeom>
          <a:noFill/>
          <a:ln w="11430">
            <a:solidFill>
              <a:srgbClr val="67067C"/>
            </a:solidFill>
            <a:prstDash val="solid"/>
          </a:ln>
        </p:spPr>
      </p:sp>
      <p:sp>
        <p:nvSpPr>
          <p:cNvPr id="64" name="Text 62"/>
          <p:cNvSpPr/>
          <p:nvPr/>
        </p:nvSpPr>
        <p:spPr>
          <a:xfrm>
            <a:off x="612000" y="5482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5" name="Text 63"/>
          <p:cNvSpPr/>
          <p:nvPr/>
        </p:nvSpPr>
        <p:spPr>
          <a:xfrm>
            <a:off x="918000" y="5482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66" name="Text 64"/>
          <p:cNvSpPr/>
          <p:nvPr/>
        </p:nvSpPr>
        <p:spPr>
          <a:xfrm>
            <a:off x="3204000" y="5482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67" name="Shape 65"/>
          <p:cNvSpPr/>
          <p:nvPr/>
        </p:nvSpPr>
        <p:spPr>
          <a:xfrm>
            <a:off x="612000" y="5684400"/>
            <a:ext cx="2952000" cy="0"/>
          </a:xfrm>
          <a:prstGeom prst="line">
            <a:avLst/>
          </a:prstGeom>
          <a:noFill/>
          <a:ln w="3810">
            <a:solidFill>
              <a:srgbClr val="C9CFC9"/>
            </a:solidFill>
            <a:prstDash val="solid"/>
          </a:ln>
        </p:spPr>
      </p:sp>
      <p:sp>
        <p:nvSpPr>
          <p:cNvPr id="68" name="Text 66"/>
          <p:cNvSpPr/>
          <p:nvPr/>
        </p:nvSpPr>
        <p:spPr>
          <a:xfrm>
            <a:off x="612000" y="568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69" name="Text 67"/>
          <p:cNvSpPr/>
          <p:nvPr/>
        </p:nvSpPr>
        <p:spPr>
          <a:xfrm>
            <a:off x="918000" y="568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70" name="Text 68"/>
          <p:cNvSpPr/>
          <p:nvPr/>
        </p:nvSpPr>
        <p:spPr>
          <a:xfrm>
            <a:off x="3204000" y="568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71" name="Shape 69"/>
          <p:cNvSpPr/>
          <p:nvPr/>
        </p:nvSpPr>
        <p:spPr>
          <a:xfrm>
            <a:off x="612000" y="5886000"/>
            <a:ext cx="2952000" cy="0"/>
          </a:xfrm>
          <a:prstGeom prst="line">
            <a:avLst/>
          </a:prstGeom>
          <a:noFill/>
          <a:ln w="3810">
            <a:solidFill>
              <a:srgbClr val="C9CFC9"/>
            </a:solidFill>
            <a:prstDash val="solid"/>
          </a:ln>
        </p:spPr>
      </p:sp>
      <p:sp>
        <p:nvSpPr>
          <p:cNvPr id="72" name="Text 70"/>
          <p:cNvSpPr/>
          <p:nvPr/>
        </p:nvSpPr>
        <p:spPr>
          <a:xfrm>
            <a:off x="612000" y="58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3" name="Text 71"/>
          <p:cNvSpPr/>
          <p:nvPr/>
        </p:nvSpPr>
        <p:spPr>
          <a:xfrm>
            <a:off x="918000" y="58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74" name="Text 72"/>
          <p:cNvSpPr/>
          <p:nvPr/>
        </p:nvSpPr>
        <p:spPr>
          <a:xfrm>
            <a:off x="3204000" y="58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75" name="Shape 73"/>
          <p:cNvSpPr/>
          <p:nvPr/>
        </p:nvSpPr>
        <p:spPr>
          <a:xfrm>
            <a:off x="612000" y="6087600"/>
            <a:ext cx="2952000" cy="0"/>
          </a:xfrm>
          <a:prstGeom prst="line">
            <a:avLst/>
          </a:prstGeom>
          <a:noFill/>
          <a:ln w="3810">
            <a:solidFill>
              <a:srgbClr val="C9CFC9"/>
            </a:solidFill>
            <a:prstDash val="solid"/>
          </a:ln>
        </p:spPr>
      </p:sp>
      <p:sp>
        <p:nvSpPr>
          <p:cNvPr id="76" name="Text 74"/>
          <p:cNvSpPr/>
          <p:nvPr/>
        </p:nvSpPr>
        <p:spPr>
          <a:xfrm>
            <a:off x="612000" y="60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77" name="Text 75"/>
          <p:cNvSpPr/>
          <p:nvPr/>
        </p:nvSpPr>
        <p:spPr>
          <a:xfrm>
            <a:off x="918000" y="60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78" name="Text 76"/>
          <p:cNvSpPr/>
          <p:nvPr/>
        </p:nvSpPr>
        <p:spPr>
          <a:xfrm>
            <a:off x="3204000" y="60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79" name="Shape 77"/>
          <p:cNvSpPr/>
          <p:nvPr/>
        </p:nvSpPr>
        <p:spPr>
          <a:xfrm>
            <a:off x="612000" y="6289200"/>
            <a:ext cx="2952000" cy="0"/>
          </a:xfrm>
          <a:prstGeom prst="line">
            <a:avLst/>
          </a:prstGeom>
          <a:noFill/>
          <a:ln w="3810">
            <a:solidFill>
              <a:srgbClr val="C9CFC9"/>
            </a:solidFill>
            <a:prstDash val="solid"/>
          </a:ln>
        </p:spPr>
      </p:sp>
      <p:sp>
        <p:nvSpPr>
          <p:cNvPr id="80" name="Text 78"/>
          <p:cNvSpPr/>
          <p:nvPr/>
        </p:nvSpPr>
        <p:spPr>
          <a:xfrm>
            <a:off x="612000" y="62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81" name="Text 79"/>
          <p:cNvSpPr/>
          <p:nvPr/>
        </p:nvSpPr>
        <p:spPr>
          <a:xfrm>
            <a:off x="918000" y="62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82" name="Text 80"/>
          <p:cNvSpPr/>
          <p:nvPr/>
        </p:nvSpPr>
        <p:spPr>
          <a:xfrm>
            <a:off x="3204000" y="62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83" name="Shape 81"/>
          <p:cNvSpPr/>
          <p:nvPr/>
        </p:nvSpPr>
        <p:spPr>
          <a:xfrm>
            <a:off x="612000" y="6490800"/>
            <a:ext cx="2952000" cy="0"/>
          </a:xfrm>
          <a:prstGeom prst="line">
            <a:avLst/>
          </a:prstGeom>
          <a:noFill/>
          <a:ln w="3810">
            <a:solidFill>
              <a:srgbClr val="C9CFC9"/>
            </a:solidFill>
            <a:prstDash val="solid"/>
          </a:ln>
        </p:spPr>
      </p:sp>
      <p:sp>
        <p:nvSpPr>
          <p:cNvPr id="84" name="Shape 82"/>
          <p:cNvSpPr/>
          <p:nvPr/>
        </p:nvSpPr>
        <p:spPr>
          <a:xfrm>
            <a:off x="3780000" y="1393200"/>
            <a:ext cx="115200" cy="115200"/>
          </a:xfrm>
          <a:prstGeom prst="rect">
            <a:avLst/>
          </a:prstGeom>
          <a:solidFill>
            <a:srgbClr val="D08C3C"/>
          </a:solidFill>
          <a:ln w="7620">
            <a:solidFill>
              <a:srgbClr val="D08C3C"/>
            </a:solidFill>
            <a:prstDash val="solid"/>
          </a:ln>
        </p:spPr>
      </p:sp>
      <p:sp>
        <p:nvSpPr>
          <p:cNvPr id="85" name="Text 83"/>
          <p:cNvSpPr/>
          <p:nvPr/>
        </p:nvSpPr>
        <p:spPr>
          <a:xfrm>
            <a:off x="3974400" y="131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86" name="Shape 84"/>
          <p:cNvSpPr/>
          <p:nvPr/>
        </p:nvSpPr>
        <p:spPr>
          <a:xfrm>
            <a:off x="3780000" y="1587600"/>
            <a:ext cx="2952000" cy="0"/>
          </a:xfrm>
          <a:prstGeom prst="line">
            <a:avLst/>
          </a:prstGeom>
          <a:noFill/>
          <a:ln w="11430">
            <a:solidFill>
              <a:srgbClr val="67067C"/>
            </a:solidFill>
            <a:prstDash val="solid"/>
          </a:ln>
        </p:spPr>
      </p:sp>
      <p:sp>
        <p:nvSpPr>
          <p:cNvPr id="87" name="Text 85"/>
          <p:cNvSpPr/>
          <p:nvPr/>
        </p:nvSpPr>
        <p:spPr>
          <a:xfrm>
            <a:off x="3780000" y="163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88" name="Text 86"/>
          <p:cNvSpPr/>
          <p:nvPr/>
        </p:nvSpPr>
        <p:spPr>
          <a:xfrm>
            <a:off x="4086000" y="163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89" name="Text 87"/>
          <p:cNvSpPr/>
          <p:nvPr/>
        </p:nvSpPr>
        <p:spPr>
          <a:xfrm>
            <a:off x="6372000" y="163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90" name="Shape 88"/>
          <p:cNvSpPr/>
          <p:nvPr/>
        </p:nvSpPr>
        <p:spPr>
          <a:xfrm>
            <a:off x="3780000" y="1839600"/>
            <a:ext cx="2952000" cy="0"/>
          </a:xfrm>
          <a:prstGeom prst="line">
            <a:avLst/>
          </a:prstGeom>
          <a:noFill/>
          <a:ln w="3810">
            <a:solidFill>
              <a:srgbClr val="C9CFC9"/>
            </a:solidFill>
            <a:prstDash val="solid"/>
          </a:ln>
        </p:spPr>
      </p:sp>
      <p:sp>
        <p:nvSpPr>
          <p:cNvPr id="91" name="Text 89"/>
          <p:cNvSpPr/>
          <p:nvPr/>
        </p:nvSpPr>
        <p:spPr>
          <a:xfrm>
            <a:off x="3780000" y="183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92" name="Text 90"/>
          <p:cNvSpPr/>
          <p:nvPr/>
        </p:nvSpPr>
        <p:spPr>
          <a:xfrm>
            <a:off x="4086000" y="183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93" name="Text 91"/>
          <p:cNvSpPr/>
          <p:nvPr/>
        </p:nvSpPr>
        <p:spPr>
          <a:xfrm>
            <a:off x="6372000" y="183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94" name="Shape 92"/>
          <p:cNvSpPr/>
          <p:nvPr/>
        </p:nvSpPr>
        <p:spPr>
          <a:xfrm>
            <a:off x="3780000" y="2041200"/>
            <a:ext cx="2952000" cy="0"/>
          </a:xfrm>
          <a:prstGeom prst="line">
            <a:avLst/>
          </a:prstGeom>
          <a:noFill/>
          <a:ln w="3810">
            <a:solidFill>
              <a:srgbClr val="C9CFC9"/>
            </a:solidFill>
            <a:prstDash val="solid"/>
          </a:ln>
        </p:spPr>
      </p:sp>
      <p:sp>
        <p:nvSpPr>
          <p:cNvPr id="95" name="Shape 93"/>
          <p:cNvSpPr/>
          <p:nvPr/>
        </p:nvSpPr>
        <p:spPr>
          <a:xfrm>
            <a:off x="3780000" y="2271600"/>
            <a:ext cx="115200" cy="115200"/>
          </a:xfrm>
          <a:prstGeom prst="rect">
            <a:avLst/>
          </a:prstGeom>
          <a:solidFill>
            <a:srgbClr val="A8515F"/>
          </a:solidFill>
          <a:ln w="7620">
            <a:solidFill>
              <a:srgbClr val="A8515F"/>
            </a:solidFill>
            <a:prstDash val="solid"/>
          </a:ln>
        </p:spPr>
      </p:sp>
      <p:sp>
        <p:nvSpPr>
          <p:cNvPr id="96" name="Text 94"/>
          <p:cNvSpPr/>
          <p:nvPr/>
        </p:nvSpPr>
        <p:spPr>
          <a:xfrm>
            <a:off x="3974400" y="219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97" name="Shape 95"/>
          <p:cNvSpPr/>
          <p:nvPr/>
        </p:nvSpPr>
        <p:spPr>
          <a:xfrm>
            <a:off x="3780000" y="2466000"/>
            <a:ext cx="2952000" cy="0"/>
          </a:xfrm>
          <a:prstGeom prst="line">
            <a:avLst/>
          </a:prstGeom>
          <a:noFill/>
          <a:ln w="11430">
            <a:solidFill>
              <a:srgbClr val="67067C"/>
            </a:solidFill>
            <a:prstDash val="solid"/>
          </a:ln>
        </p:spPr>
      </p:sp>
      <p:sp>
        <p:nvSpPr>
          <p:cNvPr id="98" name="Text 96"/>
          <p:cNvSpPr/>
          <p:nvPr/>
        </p:nvSpPr>
        <p:spPr>
          <a:xfrm>
            <a:off x="3780000" y="251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99" name="Text 97"/>
          <p:cNvSpPr/>
          <p:nvPr/>
        </p:nvSpPr>
        <p:spPr>
          <a:xfrm>
            <a:off x="4086000" y="251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00" name="Text 98"/>
          <p:cNvSpPr/>
          <p:nvPr/>
        </p:nvSpPr>
        <p:spPr>
          <a:xfrm>
            <a:off x="6372000" y="251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01" name="Shape 99"/>
          <p:cNvSpPr/>
          <p:nvPr/>
        </p:nvSpPr>
        <p:spPr>
          <a:xfrm>
            <a:off x="3780000" y="2718000"/>
            <a:ext cx="2952000" cy="0"/>
          </a:xfrm>
          <a:prstGeom prst="line">
            <a:avLst/>
          </a:prstGeom>
          <a:noFill/>
          <a:ln w="3810">
            <a:solidFill>
              <a:srgbClr val="C9CFC9"/>
            </a:solidFill>
            <a:prstDash val="solid"/>
          </a:ln>
        </p:spPr>
      </p:sp>
      <p:sp>
        <p:nvSpPr>
          <p:cNvPr id="102" name="Text 100"/>
          <p:cNvSpPr/>
          <p:nvPr/>
        </p:nvSpPr>
        <p:spPr>
          <a:xfrm>
            <a:off x="3780000" y="271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103" name="Text 101"/>
          <p:cNvSpPr/>
          <p:nvPr/>
        </p:nvSpPr>
        <p:spPr>
          <a:xfrm>
            <a:off x="4086000" y="271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04" name="Text 102"/>
          <p:cNvSpPr/>
          <p:nvPr/>
        </p:nvSpPr>
        <p:spPr>
          <a:xfrm>
            <a:off x="6372000" y="271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05" name="Shape 103"/>
          <p:cNvSpPr/>
          <p:nvPr/>
        </p:nvSpPr>
        <p:spPr>
          <a:xfrm>
            <a:off x="3780000" y="2919600"/>
            <a:ext cx="2952000" cy="0"/>
          </a:xfrm>
          <a:prstGeom prst="line">
            <a:avLst/>
          </a:prstGeom>
          <a:noFill/>
          <a:ln w="3810">
            <a:solidFill>
              <a:srgbClr val="C9CFC9"/>
            </a:solidFill>
            <a:prstDash val="solid"/>
          </a:ln>
        </p:spPr>
      </p:sp>
      <p:sp>
        <p:nvSpPr>
          <p:cNvPr id="106" name="Text 104"/>
          <p:cNvSpPr/>
          <p:nvPr/>
        </p:nvSpPr>
        <p:spPr>
          <a:xfrm>
            <a:off x="3780000" y="291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107" name="Text 105"/>
          <p:cNvSpPr/>
          <p:nvPr/>
        </p:nvSpPr>
        <p:spPr>
          <a:xfrm>
            <a:off x="4086000" y="291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08" name="Text 106"/>
          <p:cNvSpPr/>
          <p:nvPr/>
        </p:nvSpPr>
        <p:spPr>
          <a:xfrm>
            <a:off x="6372000" y="291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31</a:t>
            </a:r>
            <a:endParaRPr lang="en-US" sz="900" dirty="0"/>
          </a:p>
        </p:txBody>
      </p:sp>
      <p:sp>
        <p:nvSpPr>
          <p:cNvPr id="109" name="Shape 107"/>
          <p:cNvSpPr/>
          <p:nvPr/>
        </p:nvSpPr>
        <p:spPr>
          <a:xfrm>
            <a:off x="3780000" y="3121200"/>
            <a:ext cx="2952000" cy="0"/>
          </a:xfrm>
          <a:prstGeom prst="line">
            <a:avLst/>
          </a:prstGeom>
          <a:noFill/>
          <a:ln w="3810">
            <a:solidFill>
              <a:srgbClr val="C9CFC9"/>
            </a:solidFill>
            <a:prstDash val="solid"/>
          </a:ln>
        </p:spPr>
      </p:sp>
      <p:sp>
        <p:nvSpPr>
          <p:cNvPr id="110" name="Text 108"/>
          <p:cNvSpPr/>
          <p:nvPr/>
        </p:nvSpPr>
        <p:spPr>
          <a:xfrm>
            <a:off x="3780000" y="312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1" name="Text 109"/>
          <p:cNvSpPr/>
          <p:nvPr/>
        </p:nvSpPr>
        <p:spPr>
          <a:xfrm>
            <a:off x="4086000" y="312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12" name="Text 110"/>
          <p:cNvSpPr/>
          <p:nvPr/>
        </p:nvSpPr>
        <p:spPr>
          <a:xfrm>
            <a:off x="6372000" y="312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13" name="Shape 111"/>
          <p:cNvSpPr/>
          <p:nvPr/>
        </p:nvSpPr>
        <p:spPr>
          <a:xfrm>
            <a:off x="3780000" y="3322800"/>
            <a:ext cx="2952000" cy="0"/>
          </a:xfrm>
          <a:prstGeom prst="line">
            <a:avLst/>
          </a:prstGeom>
          <a:noFill/>
          <a:ln w="3810">
            <a:solidFill>
              <a:srgbClr val="C9CFC9"/>
            </a:solidFill>
            <a:prstDash val="solid"/>
          </a:ln>
        </p:spPr>
      </p:sp>
      <p:sp>
        <p:nvSpPr>
          <p:cNvPr id="114" name="Shape 112"/>
          <p:cNvSpPr/>
          <p:nvPr/>
        </p:nvSpPr>
        <p:spPr>
          <a:xfrm>
            <a:off x="3780000" y="3553200"/>
            <a:ext cx="115200" cy="115200"/>
          </a:xfrm>
          <a:prstGeom prst="rect">
            <a:avLst/>
          </a:prstGeom>
          <a:solidFill>
            <a:srgbClr val="46606E"/>
          </a:solidFill>
          <a:ln w="7620">
            <a:solidFill>
              <a:srgbClr val="46606E"/>
            </a:solidFill>
            <a:prstDash val="solid"/>
          </a:ln>
        </p:spPr>
      </p:sp>
      <p:sp>
        <p:nvSpPr>
          <p:cNvPr id="115" name="Text 113"/>
          <p:cNvSpPr/>
          <p:nvPr/>
        </p:nvSpPr>
        <p:spPr>
          <a:xfrm>
            <a:off x="3974400" y="3474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16" name="Shape 114"/>
          <p:cNvSpPr/>
          <p:nvPr/>
        </p:nvSpPr>
        <p:spPr>
          <a:xfrm>
            <a:off x="3780000" y="3747600"/>
            <a:ext cx="2952000" cy="0"/>
          </a:xfrm>
          <a:prstGeom prst="line">
            <a:avLst/>
          </a:prstGeom>
          <a:noFill/>
          <a:ln w="11430">
            <a:solidFill>
              <a:srgbClr val="67067C"/>
            </a:solidFill>
            <a:prstDash val="solid"/>
          </a:ln>
        </p:spPr>
      </p:sp>
      <p:sp>
        <p:nvSpPr>
          <p:cNvPr id="117" name="Text 115"/>
          <p:cNvSpPr/>
          <p:nvPr/>
        </p:nvSpPr>
        <p:spPr>
          <a:xfrm>
            <a:off x="3780000" y="379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118" name="Text 116"/>
          <p:cNvSpPr/>
          <p:nvPr/>
        </p:nvSpPr>
        <p:spPr>
          <a:xfrm>
            <a:off x="4086000" y="379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19" name="Text 117"/>
          <p:cNvSpPr/>
          <p:nvPr/>
        </p:nvSpPr>
        <p:spPr>
          <a:xfrm>
            <a:off x="6372000" y="379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20" name="Shape 118"/>
          <p:cNvSpPr/>
          <p:nvPr/>
        </p:nvSpPr>
        <p:spPr>
          <a:xfrm>
            <a:off x="3780000" y="3999600"/>
            <a:ext cx="2952000" cy="0"/>
          </a:xfrm>
          <a:prstGeom prst="line">
            <a:avLst/>
          </a:prstGeom>
          <a:noFill/>
          <a:ln w="3810">
            <a:solidFill>
              <a:srgbClr val="C9CFC9"/>
            </a:solidFill>
            <a:prstDash val="solid"/>
          </a:ln>
        </p:spPr>
      </p:sp>
      <p:sp>
        <p:nvSpPr>
          <p:cNvPr id="121" name="Shape 119"/>
          <p:cNvSpPr/>
          <p:nvPr/>
        </p:nvSpPr>
        <p:spPr>
          <a:xfrm>
            <a:off x="3780000" y="4230000"/>
            <a:ext cx="115200" cy="115200"/>
          </a:xfrm>
          <a:prstGeom prst="rect">
            <a:avLst/>
          </a:prstGeom>
          <a:solidFill>
            <a:srgbClr val="3C5B47"/>
          </a:solidFill>
          <a:ln w="7620">
            <a:solidFill>
              <a:srgbClr val="3C5B47"/>
            </a:solidFill>
            <a:prstDash val="solid"/>
          </a:ln>
        </p:spPr>
      </p:sp>
      <p:sp>
        <p:nvSpPr>
          <p:cNvPr id="122" name="Text 120"/>
          <p:cNvSpPr/>
          <p:nvPr/>
        </p:nvSpPr>
        <p:spPr>
          <a:xfrm>
            <a:off x="3974400" y="4150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23" name="Shape 121"/>
          <p:cNvSpPr/>
          <p:nvPr/>
        </p:nvSpPr>
        <p:spPr>
          <a:xfrm>
            <a:off x="3780000" y="4424400"/>
            <a:ext cx="2952000" cy="0"/>
          </a:xfrm>
          <a:prstGeom prst="line">
            <a:avLst/>
          </a:prstGeom>
          <a:noFill/>
          <a:ln w="11430">
            <a:solidFill>
              <a:srgbClr val="67067C"/>
            </a:solidFill>
            <a:prstDash val="solid"/>
          </a:ln>
        </p:spPr>
      </p:sp>
      <p:sp>
        <p:nvSpPr>
          <p:cNvPr id="124" name="Text 122"/>
          <p:cNvSpPr/>
          <p:nvPr/>
        </p:nvSpPr>
        <p:spPr>
          <a:xfrm>
            <a:off x="3780000" y="4474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5" name="Text 123"/>
          <p:cNvSpPr/>
          <p:nvPr/>
        </p:nvSpPr>
        <p:spPr>
          <a:xfrm>
            <a:off x="4086000" y="4474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26" name="Text 124"/>
          <p:cNvSpPr/>
          <p:nvPr/>
        </p:nvSpPr>
        <p:spPr>
          <a:xfrm>
            <a:off x="6372000" y="4474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27" name="Shape 125"/>
          <p:cNvSpPr/>
          <p:nvPr/>
        </p:nvSpPr>
        <p:spPr>
          <a:xfrm>
            <a:off x="3780000" y="4676400"/>
            <a:ext cx="2952000" cy="0"/>
          </a:xfrm>
          <a:prstGeom prst="line">
            <a:avLst/>
          </a:prstGeom>
          <a:noFill/>
          <a:ln w="3810">
            <a:solidFill>
              <a:srgbClr val="C9CFC9"/>
            </a:solidFill>
            <a:prstDash val="solid"/>
          </a:ln>
        </p:spPr>
      </p:sp>
      <p:sp>
        <p:nvSpPr>
          <p:cNvPr id="128" name="Text 126"/>
          <p:cNvSpPr/>
          <p:nvPr/>
        </p:nvSpPr>
        <p:spPr>
          <a:xfrm>
            <a:off x="3780000" y="467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29" name="Text 127"/>
          <p:cNvSpPr/>
          <p:nvPr/>
        </p:nvSpPr>
        <p:spPr>
          <a:xfrm>
            <a:off x="4086000" y="467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30" name="Text 128"/>
          <p:cNvSpPr/>
          <p:nvPr/>
        </p:nvSpPr>
        <p:spPr>
          <a:xfrm>
            <a:off x="6372000" y="467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31" name="Shape 129"/>
          <p:cNvSpPr/>
          <p:nvPr/>
        </p:nvSpPr>
        <p:spPr>
          <a:xfrm>
            <a:off x="3780000" y="4878000"/>
            <a:ext cx="2952000" cy="0"/>
          </a:xfrm>
          <a:prstGeom prst="line">
            <a:avLst/>
          </a:prstGeom>
          <a:noFill/>
          <a:ln w="3810">
            <a:solidFill>
              <a:srgbClr val="C9CFC9"/>
            </a:solidFill>
            <a:prstDash val="solid"/>
          </a:ln>
        </p:spPr>
      </p:sp>
      <p:sp>
        <p:nvSpPr>
          <p:cNvPr id="132" name="Text 130"/>
          <p:cNvSpPr/>
          <p:nvPr/>
        </p:nvSpPr>
        <p:spPr>
          <a:xfrm>
            <a:off x="3780000" y="48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133" name="Text 131"/>
          <p:cNvSpPr/>
          <p:nvPr/>
        </p:nvSpPr>
        <p:spPr>
          <a:xfrm>
            <a:off x="4086000" y="48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34" name="Text 132"/>
          <p:cNvSpPr/>
          <p:nvPr/>
        </p:nvSpPr>
        <p:spPr>
          <a:xfrm>
            <a:off x="6372000" y="48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35" name="Shape 133"/>
          <p:cNvSpPr/>
          <p:nvPr/>
        </p:nvSpPr>
        <p:spPr>
          <a:xfrm>
            <a:off x="3780000" y="5079600"/>
            <a:ext cx="2952000" cy="0"/>
          </a:xfrm>
          <a:prstGeom prst="line">
            <a:avLst/>
          </a:prstGeom>
          <a:noFill/>
          <a:ln w="3810">
            <a:solidFill>
              <a:srgbClr val="C9CFC9"/>
            </a:solidFill>
            <a:prstDash val="solid"/>
          </a:ln>
        </p:spPr>
      </p:sp>
      <p:sp>
        <p:nvSpPr>
          <p:cNvPr id="136" name="Text 134"/>
          <p:cNvSpPr/>
          <p:nvPr/>
        </p:nvSpPr>
        <p:spPr>
          <a:xfrm>
            <a:off x="3780000" y="50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37" name="Text 135"/>
          <p:cNvSpPr/>
          <p:nvPr/>
        </p:nvSpPr>
        <p:spPr>
          <a:xfrm>
            <a:off x="4086000" y="50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38" name="Text 136"/>
          <p:cNvSpPr/>
          <p:nvPr/>
        </p:nvSpPr>
        <p:spPr>
          <a:xfrm>
            <a:off x="6372000" y="50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39</a:t>
            </a:r>
            <a:endParaRPr lang="en-US" sz="900" dirty="0"/>
          </a:p>
        </p:txBody>
      </p:sp>
      <p:sp>
        <p:nvSpPr>
          <p:cNvPr id="139" name="Shape 137"/>
          <p:cNvSpPr/>
          <p:nvPr/>
        </p:nvSpPr>
        <p:spPr>
          <a:xfrm>
            <a:off x="3780000" y="5281200"/>
            <a:ext cx="2952000" cy="0"/>
          </a:xfrm>
          <a:prstGeom prst="line">
            <a:avLst/>
          </a:prstGeom>
          <a:noFill/>
          <a:ln w="3810">
            <a:solidFill>
              <a:srgbClr val="C9CFC9"/>
            </a:solidFill>
            <a:prstDash val="solid"/>
          </a:ln>
        </p:spPr>
      </p:sp>
      <p:sp>
        <p:nvSpPr>
          <p:cNvPr id="140" name="Shape 138"/>
          <p:cNvSpPr/>
          <p:nvPr/>
        </p:nvSpPr>
        <p:spPr>
          <a:xfrm>
            <a:off x="3780000" y="5511600"/>
            <a:ext cx="115200" cy="115200"/>
          </a:xfrm>
          <a:prstGeom prst="rect">
            <a:avLst/>
          </a:prstGeom>
          <a:solidFill>
            <a:srgbClr val="FBF8F1"/>
          </a:solidFill>
          <a:ln w="7620">
            <a:solidFill>
              <a:srgbClr val="46606E"/>
            </a:solidFill>
            <a:prstDash val="solid"/>
          </a:ln>
        </p:spPr>
      </p:sp>
      <p:sp>
        <p:nvSpPr>
          <p:cNvPr id="141" name="Text 139"/>
          <p:cNvSpPr/>
          <p:nvPr/>
        </p:nvSpPr>
        <p:spPr>
          <a:xfrm>
            <a:off x="3974400" y="5432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42" name="Shape 140"/>
          <p:cNvSpPr/>
          <p:nvPr/>
        </p:nvSpPr>
        <p:spPr>
          <a:xfrm>
            <a:off x="3780000" y="5706000"/>
            <a:ext cx="2952000" cy="0"/>
          </a:xfrm>
          <a:prstGeom prst="line">
            <a:avLst/>
          </a:prstGeom>
          <a:noFill/>
          <a:ln w="11430">
            <a:solidFill>
              <a:srgbClr val="67067C"/>
            </a:solidFill>
            <a:prstDash val="solid"/>
          </a:ln>
        </p:spPr>
      </p:sp>
      <p:sp>
        <p:nvSpPr>
          <p:cNvPr id="143" name="Text 141"/>
          <p:cNvSpPr/>
          <p:nvPr/>
        </p:nvSpPr>
        <p:spPr>
          <a:xfrm>
            <a:off x="3780000" y="5756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144" name="Text 142"/>
          <p:cNvSpPr/>
          <p:nvPr/>
        </p:nvSpPr>
        <p:spPr>
          <a:xfrm>
            <a:off x="4086000" y="5756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45" name="Text 143"/>
          <p:cNvSpPr/>
          <p:nvPr/>
        </p:nvSpPr>
        <p:spPr>
          <a:xfrm>
            <a:off x="6372000" y="5756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46" name="Shape 144"/>
          <p:cNvSpPr/>
          <p:nvPr/>
        </p:nvSpPr>
        <p:spPr>
          <a:xfrm>
            <a:off x="3780000" y="5958000"/>
            <a:ext cx="2952000" cy="0"/>
          </a:xfrm>
          <a:prstGeom prst="line">
            <a:avLst/>
          </a:prstGeom>
          <a:noFill/>
          <a:ln w="3810">
            <a:solidFill>
              <a:srgbClr val="C9CFC9"/>
            </a:solidFill>
            <a:prstDash val="solid"/>
          </a:ln>
        </p:spPr>
      </p:sp>
      <p:sp>
        <p:nvSpPr>
          <p:cNvPr id="147" name="Text 145"/>
          <p:cNvSpPr/>
          <p:nvPr/>
        </p:nvSpPr>
        <p:spPr>
          <a:xfrm>
            <a:off x="3780000" y="595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48" name="Text 146"/>
          <p:cNvSpPr/>
          <p:nvPr/>
        </p:nvSpPr>
        <p:spPr>
          <a:xfrm>
            <a:off x="4086000" y="595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49" name="Text 147"/>
          <p:cNvSpPr/>
          <p:nvPr/>
        </p:nvSpPr>
        <p:spPr>
          <a:xfrm>
            <a:off x="6372000" y="595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50" name="Shape 148"/>
          <p:cNvSpPr/>
          <p:nvPr/>
        </p:nvSpPr>
        <p:spPr>
          <a:xfrm>
            <a:off x="3780000" y="6159600"/>
            <a:ext cx="2952000" cy="0"/>
          </a:xfrm>
          <a:prstGeom prst="line">
            <a:avLst/>
          </a:prstGeom>
          <a:noFill/>
          <a:ln w="3810">
            <a:solidFill>
              <a:srgbClr val="C9CFC9"/>
            </a:solidFill>
            <a:prstDash val="solid"/>
          </a:ln>
        </p:spPr>
      </p:sp>
      <p:sp>
        <p:nvSpPr>
          <p:cNvPr id="151" name="Text 149"/>
          <p:cNvSpPr/>
          <p:nvPr/>
        </p:nvSpPr>
        <p:spPr>
          <a:xfrm>
            <a:off x="3780000" y="615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52" name="Text 150"/>
          <p:cNvSpPr/>
          <p:nvPr/>
        </p:nvSpPr>
        <p:spPr>
          <a:xfrm>
            <a:off x="4086000" y="615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53" name="Text 151"/>
          <p:cNvSpPr/>
          <p:nvPr/>
        </p:nvSpPr>
        <p:spPr>
          <a:xfrm>
            <a:off x="6372000" y="615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54" name="Shape 152"/>
          <p:cNvSpPr/>
          <p:nvPr/>
        </p:nvSpPr>
        <p:spPr>
          <a:xfrm>
            <a:off x="3780000" y="6361200"/>
            <a:ext cx="2952000" cy="0"/>
          </a:xfrm>
          <a:prstGeom prst="line">
            <a:avLst/>
          </a:prstGeom>
          <a:noFill/>
          <a:ln w="3810">
            <a:solidFill>
              <a:srgbClr val="C9CFC9"/>
            </a:solidFill>
            <a:prstDash val="solid"/>
          </a:ln>
        </p:spPr>
      </p:sp>
      <p:sp>
        <p:nvSpPr>
          <p:cNvPr id="155" name="Text 153"/>
          <p:cNvSpPr/>
          <p:nvPr/>
        </p:nvSpPr>
        <p:spPr>
          <a:xfrm>
            <a:off x="3780000" y="63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156" name="Text 154"/>
          <p:cNvSpPr/>
          <p:nvPr/>
        </p:nvSpPr>
        <p:spPr>
          <a:xfrm>
            <a:off x="4086000" y="63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57" name="Text 155"/>
          <p:cNvSpPr/>
          <p:nvPr/>
        </p:nvSpPr>
        <p:spPr>
          <a:xfrm>
            <a:off x="6372000" y="63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58" name="Shape 156"/>
          <p:cNvSpPr/>
          <p:nvPr/>
        </p:nvSpPr>
        <p:spPr>
          <a:xfrm>
            <a:off x="3780000" y="6562800"/>
            <a:ext cx="2952000" cy="0"/>
          </a:xfrm>
          <a:prstGeom prst="line">
            <a:avLst/>
          </a:prstGeom>
          <a:noFill/>
          <a:ln w="3810">
            <a:solidFill>
              <a:srgbClr val="C9CFC9"/>
            </a:solidFill>
            <a:prstDash val="solid"/>
          </a:ln>
        </p:spPr>
      </p:sp>
      <p:sp>
        <p:nvSpPr>
          <p:cNvPr id="159" name="Shape 157"/>
          <p:cNvSpPr/>
          <p:nvPr/>
        </p:nvSpPr>
        <p:spPr>
          <a:xfrm>
            <a:off x="612000" y="8280000"/>
            <a:ext cx="6120000" cy="0"/>
          </a:xfrm>
          <a:prstGeom prst="line">
            <a:avLst/>
          </a:prstGeom>
          <a:noFill/>
          <a:ln w="10160">
            <a:solidFill>
              <a:srgbClr val="67067C"/>
            </a:solidFill>
            <a:prstDash val="solid"/>
          </a:ln>
        </p:spPr>
      </p:sp>
      <p:sp>
        <p:nvSpPr>
          <p:cNvPr id="160" name="Text 158"/>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61" name="Text 159"/>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62" name="Image 0" descr="/home/user/philippe1/build/deco-salon-prive-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63" name="Text 160"/>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64" name="Image 1" descr="/home/user/philippe1/build/deco-salon-prive-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65" name="Text 161"/>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166" name="Image 2" descr="/home/user/philippe1/build/deco-salon-prive-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167" name="Text 162"/>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168" name="Image 3" descr="/home/user/philippe1/build/deco-salon-prive-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169" name="Text 163"/>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170" name="Image 4" descr="/home/user/philippe1/build/deco-salon-prive-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171" name="Text 164"/>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172" name="Image 5" descr="/home/user/philippe1/build/deco-salon-prive-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173" name="Text 165"/>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174" name="Image 6" descr="/home/user/philippe1/build/deco-salon-prive-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175" name="Text 166"/>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176" name="Text 167"/>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177" name="Text 16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178" name="Text 16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oir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oir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1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Loire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schistes et tuffeau</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6</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46</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10   </a:t>
            </a:r>
            <a:r>
              <a:rPr lang="en-US" sz="860" dirty="0">
                <a:solidFill>
                  <a:srgbClr val="FBF8F1"/>
                </a:solidFill>
                <a:latin typeface="IBM Plex Sans" pitchFamily="34" charset="0"/>
                <a:ea typeface="IBM Plex Sans" pitchFamily="34" charset="-122"/>
                <a:cs typeface="IBM Plex Sans" pitchFamily="34" charset="-120"/>
              </a:rPr>
              <a:t>François Reverdy</a:t>
            </a:r>
            <a:r>
              <a:rPr lang="en-US" sz="860" b="1" dirty="0">
                <a:solidFill>
                  <a:srgbClr val="FBF8F1"/>
                </a:solidFill>
                <a:latin typeface="IBM Plex Sans" pitchFamily="34" charset="0"/>
                <a:ea typeface="IBM Plex Sans" pitchFamily="34" charset="-122"/>
                <a:cs typeface="IBM Plex Sans" pitchFamily="34" charset="-120"/>
              </a:rPr>
              <a:t>   5</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22   </a:t>
            </a:r>
            <a:r>
              <a:rPr lang="en-US" sz="860" dirty="0">
                <a:solidFill>
                  <a:srgbClr val="FBF8F1"/>
                </a:solidFill>
                <a:latin typeface="IBM Plex Sans" pitchFamily="34" charset="0"/>
                <a:ea typeface="IBM Plex Sans" pitchFamily="34" charset="-122"/>
                <a:cs typeface="IBM Plex Sans" pitchFamily="34" charset="-120"/>
              </a:rPr>
              <a:t>Domaine de la Barbinière</a:t>
            </a:r>
            <a:r>
              <a:rPr lang="en-US" sz="860" b="1" dirty="0">
                <a:solidFill>
                  <a:srgbClr val="FBF8F1"/>
                </a:solidFill>
                <a:latin typeface="IBM Plex Sans" pitchFamily="34" charset="0"/>
                <a:ea typeface="IBM Plex Sans" pitchFamily="34" charset="-122"/>
                <a:cs typeface="IBM Plex Sans" pitchFamily="34" charset="-120"/>
              </a:rPr>
              <a:t>   6</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4   </a:t>
            </a:r>
            <a:r>
              <a:rPr lang="en-US" sz="860" dirty="0">
                <a:solidFill>
                  <a:srgbClr val="FBF8F1"/>
                </a:solidFill>
                <a:latin typeface="IBM Plex Sans" pitchFamily="34" charset="0"/>
                <a:ea typeface="IBM Plex Sans" pitchFamily="34" charset="-122"/>
                <a:cs typeface="IBM Plex Sans" pitchFamily="34" charset="-120"/>
              </a:rPr>
              <a:t>Domaine du Colombier / J.Y Bretaudeau</a:t>
            </a:r>
            <a:r>
              <a:rPr lang="en-US" sz="860" b="1" dirty="0">
                <a:solidFill>
                  <a:srgbClr val="FBF8F1"/>
                </a:solidFill>
                <a:latin typeface="IBM Plex Sans" pitchFamily="34" charset="0"/>
                <a:ea typeface="IBM Plex Sans" pitchFamily="34" charset="-122"/>
                <a:cs typeface="IBM Plex Sans" pitchFamily="34" charset="-120"/>
              </a:rPr>
              <a:t>   7</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14   </a:t>
            </a:r>
            <a:r>
              <a:rPr lang="en-US" sz="860" dirty="0">
                <a:solidFill>
                  <a:srgbClr val="FBF8F1"/>
                </a:solidFill>
                <a:latin typeface="IBM Plex Sans" pitchFamily="34" charset="0"/>
                <a:ea typeface="IBM Plex Sans" pitchFamily="34" charset="-122"/>
                <a:cs typeface="IBM Plex Sans" pitchFamily="34" charset="-120"/>
              </a:rPr>
              <a:t>Domaine des Noëls</a:t>
            </a:r>
            <a:r>
              <a:rPr lang="en-US" sz="860" b="1" dirty="0">
                <a:solidFill>
                  <a:srgbClr val="FBF8F1"/>
                </a:solidFill>
                <a:latin typeface="IBM Plex Sans" pitchFamily="34" charset="0"/>
                <a:ea typeface="IBM Plex Sans" pitchFamily="34" charset="-122"/>
                <a:cs typeface="IBM Plex Sans" pitchFamily="34" charset="-120"/>
              </a:rPr>
              <a:t>   8</a:t>
            </a:r>
            <a:endParaRPr lang="en-US" sz="860" dirty="0"/>
          </a:p>
        </p:txBody>
      </p:sp>
      <p:sp>
        <p:nvSpPr>
          <p:cNvPr id="16" name="Text 12"/>
          <p:cNvSpPr/>
          <p:nvPr/>
        </p:nvSpPr>
        <p:spPr>
          <a:xfrm>
            <a:off x="82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25   </a:t>
            </a:r>
            <a:r>
              <a:rPr lang="en-US" sz="860" dirty="0">
                <a:solidFill>
                  <a:srgbClr val="FBF8F1"/>
                </a:solidFill>
                <a:latin typeface="IBM Plex Sans" pitchFamily="34" charset="0"/>
                <a:ea typeface="IBM Plex Sans" pitchFamily="34" charset="-122"/>
                <a:cs typeface="IBM Plex Sans" pitchFamily="34" charset="-120"/>
              </a:rPr>
              <a:t>Chai Berteaud Manceau</a:t>
            </a:r>
            <a:r>
              <a:rPr lang="en-US" sz="860" b="1" dirty="0">
                <a:solidFill>
                  <a:srgbClr val="FBF8F1"/>
                </a:solidFill>
                <a:latin typeface="IBM Plex Sans" pitchFamily="34" charset="0"/>
                <a:ea typeface="IBM Plex Sans" pitchFamily="34" charset="-122"/>
                <a:cs typeface="IBM Plex Sans" pitchFamily="34" charset="-120"/>
              </a:rPr>
              <a:t>   9</a:t>
            </a:r>
            <a:endParaRPr lang="en-US" sz="860" dirty="0"/>
          </a:p>
        </p:txBody>
      </p:sp>
      <p:sp>
        <p:nvSpPr>
          <p:cNvPr id="17" name="Text 13"/>
          <p:cNvSpPr/>
          <p:nvPr/>
        </p:nvSpPr>
        <p:spPr>
          <a:xfrm>
            <a:off x="3888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17   </a:t>
            </a:r>
            <a:r>
              <a:rPr lang="en-US" sz="860" dirty="0">
                <a:solidFill>
                  <a:srgbClr val="FBF8F1"/>
                </a:solidFill>
                <a:latin typeface="IBM Plex Sans" pitchFamily="34" charset="0"/>
                <a:ea typeface="IBM Plex Sans" pitchFamily="34" charset="-122"/>
                <a:cs typeface="IBM Plex Sans" pitchFamily="34" charset="-120"/>
              </a:rPr>
              <a:t>Domaine Jean de Villebois</a:t>
            </a:r>
            <a:r>
              <a:rPr lang="en-US" sz="860" b="1" dirty="0">
                <a:solidFill>
                  <a:srgbClr val="FBF8F1"/>
                </a:solidFill>
                <a:latin typeface="IBM Plex Sans" pitchFamily="34" charset="0"/>
                <a:ea typeface="IBM Plex Sans" pitchFamily="34" charset="-122"/>
                <a:cs typeface="IBM Plex Sans" pitchFamily="34" charset="-120"/>
              </a:rPr>
              <a:t>   10</a:t>
            </a:r>
            <a:endParaRPr lang="en-US" sz="86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4</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François Reverdy</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portrait du vigneron, noir et blanc — François Reverdy">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rançois Reverdy">    </p:cNvPr>
          <p:cNvPicPr>
            <a:picLocks noChangeAspect="1"/>
          </p:cNvPicPr>
          <p:nvPr/>
        </p:nvPicPr>
        <p:blipFill>
          <a:blip r:embed="rId4"/>
          <a:stretch>
            <a:fillRect/>
          </a:stretch>
        </p:blipFill>
        <p:spPr>
          <a:xfrm>
            <a:off x="5992033" y="1605996"/>
            <a:ext cx="615934" cy="2232000"/>
          </a:xfrm>
          <a:prstGeom prst="rect">
            <a:avLst/>
          </a:prstGeom>
        </p:spPr>
      </p:pic>
      <p:sp>
        <p:nvSpPr>
          <p:cNvPr id="18" name="Text 12"/>
          <p:cNvSpPr/>
          <p:nvPr/>
        </p:nvSpPr>
        <p:spPr>
          <a:xfrm>
            <a:off x="2177967" y="1510537"/>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9" name="Text 13"/>
          <p:cNvSpPr/>
          <p:nvPr/>
        </p:nvSpPr>
        <p:spPr>
          <a:xfrm>
            <a:off x="2232000" y="1653302"/>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Rouge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Cravant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Les Soudannes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730413"/>
            <a:ext cx="0" cy="259440"/>
          </a:xfrm>
          <a:prstGeom prst="line">
            <a:avLst/>
          </a:prstGeom>
          <a:noFill/>
          <a:ln w="17780">
            <a:solidFill>
              <a:srgbClr val="67067C"/>
            </a:solidFill>
            <a:prstDash val="solid"/>
          </a:ln>
        </p:spPr>
      </p:sp>
      <p:sp>
        <p:nvSpPr>
          <p:cNvPr id="22" name="Text 15"/>
          <p:cNvSpPr/>
          <p:nvPr/>
        </p:nvSpPr>
        <p:spPr>
          <a:xfrm>
            <a:off x="720000" y="673041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713385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7281454"/>
            <a:ext cx="6120000" cy="839821"/>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Barbinière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393651"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103762"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10376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568436"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568436"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vendanges dans les vignes du domaine — Domaine de la Barbinière">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de la Barbinière">    </p:cNvPr>
          <p:cNvPicPr>
            <a:picLocks noChangeAspect="1"/>
          </p:cNvPicPr>
          <p:nvPr/>
        </p:nvPicPr>
        <p:blipFill>
          <a:blip r:embed="rId4"/>
          <a:stretch>
            <a:fillRect/>
          </a:stretch>
        </p:blipFill>
        <p:spPr>
          <a:xfrm>
            <a:off x="6229377" y="1605996"/>
            <a:ext cx="573246" cy="2232000"/>
          </a:xfrm>
          <a:prstGeom prst="rect">
            <a:avLst/>
          </a:prstGeom>
        </p:spPr>
      </p:pic>
      <p:sp>
        <p:nvSpPr>
          <p:cNvPr id="20" name="Text 14"/>
          <p:cNvSpPr/>
          <p:nvPr/>
        </p:nvSpPr>
        <p:spPr>
          <a:xfrm>
            <a:off x="2393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 Vins sous allocation.</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431566"/>
            <a:ext cx="0" cy="259440"/>
          </a:xfrm>
          <a:prstGeom prst="line">
            <a:avLst/>
          </a:prstGeom>
          <a:noFill/>
          <a:ln w="17780">
            <a:solidFill>
              <a:srgbClr val="67067C"/>
            </a:solidFill>
            <a:prstDash val="solid"/>
          </a:ln>
        </p:spPr>
      </p:sp>
      <p:sp>
        <p:nvSpPr>
          <p:cNvPr id="24" name="Text 17"/>
          <p:cNvSpPr/>
          <p:nvPr/>
        </p:nvSpPr>
        <p:spPr>
          <a:xfrm>
            <a:off x="936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6" name="Image 4" descr="/home/user/philippe1/build/deco-salon-prive-2026/sol-loire.png">    </p:cNvPr>
          <p:cNvPicPr>
            <a:picLocks noChangeAspect="1"/>
          </p:cNvPicPr>
          <p:nvPr/>
        </p:nvPicPr>
        <p:blipFill>
          <a:blip r:embed="rId5"/>
          <a:stretch>
            <a:fillRect/>
          </a:stretch>
        </p:blipFill>
        <p:spPr>
          <a:xfrm>
            <a:off x="828000" y="6982607"/>
            <a:ext cx="6120000" cy="1138668"/>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550" dirty="0">
                <a:solidFill>
                  <a:srgbClr val="46606E"/>
                </a:solidFill>
                <a:latin typeface="Young Serif" pitchFamily="34" charset="0"/>
                <a:ea typeface="Young Serif" pitchFamily="34" charset="-122"/>
                <a:cs typeface="Young Serif" pitchFamily="34" charset="-120"/>
              </a:rPr>
              <a:t>Domaine du Colombier / J.Y Bretaudeau</a:t>
            </a:r>
            <a:endParaRPr lang="en-US" sz="15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e vigneron au chai — Domaine du Colombier / J.Y Bretaud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u Colombier / J.Y Bretaudeau">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8005" y="1592085"/>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9" name="Text 13"/>
          <p:cNvSpPr/>
          <p:nvPr/>
        </p:nvSpPr>
        <p:spPr>
          <a:xfrm>
            <a:off x="2232000" y="1718186"/>
            <a:ext cx="3456000" cy="2119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 Format BIB disponible.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L’envol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Noëls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portrait — Domaine des Noë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Noëls">    </p:cNvPr>
          <p:cNvPicPr>
            <a:picLocks noChangeAspect="1"/>
          </p:cNvPicPr>
          <p:nvPr/>
        </p:nvPicPr>
        <p:blipFill>
          <a:blip r:embed="rId4"/>
          <a:stretch>
            <a:fillRect/>
          </a:stretch>
        </p:blipFill>
        <p:spPr>
          <a:xfrm>
            <a:off x="6217180" y="1605996"/>
            <a:ext cx="597639"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Anjou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912454"/>
            <a:ext cx="0" cy="259440"/>
          </a:xfrm>
          <a:prstGeom prst="line">
            <a:avLst/>
          </a:prstGeom>
          <a:noFill/>
          <a:ln w="17780">
            <a:solidFill>
              <a:srgbClr val="67067C"/>
            </a:solidFill>
            <a:prstDash val="solid"/>
          </a:ln>
        </p:spPr>
      </p:sp>
      <p:sp>
        <p:nvSpPr>
          <p:cNvPr id="22" name="Text 15"/>
          <p:cNvSpPr/>
          <p:nvPr/>
        </p:nvSpPr>
        <p:spPr>
          <a:xfrm>
            <a:off x="936000" y="59124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31589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828000" y="6463494"/>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Chai Berteaud Manceau</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s deux fondateurs du chai — Chai Berteaud Manceau">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i Berteaud Manceau">    </p:cNvPr>
          <p:cNvPicPr>
            <a:picLocks noChangeAspect="1"/>
          </p:cNvPicPr>
          <p:nvPr/>
        </p:nvPicPr>
        <p:blipFill>
          <a:blip r:embed="rId4"/>
          <a:stretch>
            <a:fillRect/>
          </a:stretch>
        </p:blipFill>
        <p:spPr>
          <a:xfrm>
            <a:off x="5998131" y="1605996"/>
            <a:ext cx="603738" cy="2232000"/>
          </a:xfrm>
          <a:prstGeom prst="rect">
            <a:avLst/>
          </a:prstGeom>
        </p:spPr>
      </p:pic>
      <p:sp>
        <p:nvSpPr>
          <p:cNvPr id="18" name="Text 12"/>
          <p:cNvSpPr/>
          <p:nvPr/>
        </p:nvSpPr>
        <p:spPr>
          <a:xfrm>
            <a:off x="2178017" y="1737318"/>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232000" y="1855708"/>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L’Eberluant Chardonnay Méthode ancestrale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4" name="Image 4" descr="/home/user/philippe1/build/deco-salon-prive-2026/sol-loire.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Jean de Villebois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0475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is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2" name="Shape 8"/>
          <p:cNvSpPr/>
          <p:nvPr/>
        </p:nvSpPr>
        <p:spPr>
          <a:xfrm>
            <a:off x="1711954"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11954"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143344"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3143344"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4086901"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086901"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12 vins à la dégustation</a:t>
            </a:r>
            <a:endParaRPr lang="en-US" sz="720" dirty="0"/>
          </a:p>
        </p:txBody>
      </p:sp>
      <p:pic>
        <p:nvPicPr>
          <p:cNvPr id="18" name="Image 2" descr="dans les vignes — Domaine Jean de Villeboi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Jean de Villebois">    </p:cNvPr>
          <p:cNvPicPr>
            <a:picLocks noChangeAspect="1"/>
          </p:cNvPicPr>
          <p:nvPr/>
        </p:nvPicPr>
        <p:blipFill>
          <a:blip r:embed="rId4"/>
          <a:stretch>
            <a:fillRect/>
          </a:stretch>
        </p:blipFill>
        <p:spPr>
          <a:xfrm>
            <a:off x="6209557" y="1605996"/>
            <a:ext cx="612885" cy="2232000"/>
          </a:xfrm>
          <a:prstGeom prst="rect">
            <a:avLst/>
          </a:prstGeom>
        </p:spPr>
      </p:pic>
      <p:sp>
        <p:nvSpPr>
          <p:cNvPr id="20" name="Text 14"/>
          <p:cNvSpPr/>
          <p:nvPr/>
        </p:nvSpPr>
        <p:spPr>
          <a:xfrm>
            <a:off x="2393960" y="1742163"/>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21" name="Text 15"/>
          <p:cNvSpPr/>
          <p:nvPr/>
        </p:nvSpPr>
        <p:spPr>
          <a:xfrm>
            <a:off x="2448000" y="1852374"/>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Menetou-Salon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Beltins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Vignes de Tréleau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7189846"/>
            <a:ext cx="0" cy="259440"/>
          </a:xfrm>
          <a:prstGeom prst="line">
            <a:avLst/>
          </a:prstGeom>
          <a:noFill/>
          <a:ln w="17780">
            <a:solidFill>
              <a:srgbClr val="67067C"/>
            </a:solidFill>
            <a:prstDash val="solid"/>
          </a:ln>
        </p:spPr>
      </p:sp>
      <p:sp>
        <p:nvSpPr>
          <p:cNvPr id="24" name="Text 17"/>
          <p:cNvSpPr/>
          <p:nvPr/>
        </p:nvSpPr>
        <p:spPr>
          <a:xfrm>
            <a:off x="936000" y="71898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a:t>
            </a:r>
            <a:endParaRPr lang="en-US" sz="740" dirty="0"/>
          </a:p>
        </p:txBody>
      </p:sp>
      <p:sp>
        <p:nvSpPr>
          <p:cNvPr id="26" name="Shape 19"/>
          <p:cNvSpPr/>
          <p:nvPr/>
        </p:nvSpPr>
        <p:spPr>
          <a:xfrm>
            <a:off x="828000" y="8496000"/>
            <a:ext cx="6120000" cy="0"/>
          </a:xfrm>
          <a:prstGeom prst="line">
            <a:avLst/>
          </a:prstGeom>
          <a:noFill/>
          <a:ln w="8890">
            <a:solidFill>
              <a:srgbClr val="46606E"/>
            </a:solidFill>
            <a:prstDash val="solid"/>
          </a:ln>
        </p:spPr>
      </p:sp>
      <p:sp>
        <p:nvSpPr>
          <p:cNvPr id="27"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8"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9"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30"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alsa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alsa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2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Alsace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coteaux du Bruderthal</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9</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9   </a:t>
            </a:r>
            <a:r>
              <a:rPr lang="en-US" sz="860" dirty="0">
                <a:solidFill>
                  <a:srgbClr val="FBF8F1"/>
                </a:solidFill>
                <a:latin typeface="IBM Plex Sans" pitchFamily="34" charset="0"/>
                <a:ea typeface="IBM Plex Sans" pitchFamily="34" charset="-122"/>
                <a:cs typeface="IBM Plex Sans" pitchFamily="34" charset="-120"/>
              </a:rPr>
              <a:t>Domaine Boehler</a:t>
            </a:r>
            <a:r>
              <a:rPr lang="en-US" sz="860" b="1" dirty="0">
                <a:solidFill>
                  <a:srgbClr val="FBF8F1"/>
                </a:solidFill>
                <a:latin typeface="IBM Plex Sans" pitchFamily="34" charset="0"/>
                <a:ea typeface="IBM Plex Sans" pitchFamily="34" charset="-122"/>
                <a:cs typeface="IBM Plex Sans" pitchFamily="34" charset="-120"/>
              </a:rPr>
              <a:t>   12</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11</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alsa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Boehler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vins à la dégustation</a:t>
            </a:r>
            <a:endParaRPr lang="en-US" sz="720" dirty="0"/>
          </a:p>
        </p:txBody>
      </p:sp>
      <p:pic>
        <p:nvPicPr>
          <p:cNvPr id="16" name="Image 2" descr="logo du domaine — Domaine Boehler">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Boehler">    </p:cNvPr>
          <p:cNvPicPr>
            <a:picLocks noChangeAspect="1"/>
          </p:cNvPicPr>
          <p:nvPr/>
        </p:nvPicPr>
        <p:blipFill>
          <a:blip r:embed="rId4"/>
          <a:stretch>
            <a:fillRect/>
          </a:stretch>
        </p:blipFill>
        <p:spPr>
          <a:xfrm>
            <a:off x="6272066" y="1605996"/>
            <a:ext cx="487869" cy="2232000"/>
          </a:xfrm>
          <a:prstGeom prst="rect">
            <a:avLst/>
          </a:prstGeom>
        </p:spPr>
      </p:pic>
      <p:sp>
        <p:nvSpPr>
          <p:cNvPr id="18" name="Text 12"/>
          <p:cNvSpPr/>
          <p:nvPr/>
        </p:nvSpPr>
        <p:spPr>
          <a:xfrm>
            <a:off x="2393956" y="1600668"/>
            <a:ext cx="251419" cy="439318"/>
          </a:xfrm>
          <a:prstGeom prst="rect">
            <a:avLst/>
          </a:prstGeom>
          <a:noFill/>
          <a:ln/>
        </p:spPr>
        <p:txBody>
          <a:bodyPr wrap="square" lIns="0" tIns="0" rIns="0" bIns="0" rtlCol="0" anchor="t"/>
          <a:lstStyle/>
          <a:p>
            <a:pPr algn="r" indent="0" marL="0">
              <a:lnSpc>
                <a:spcPct val="125900"/>
              </a:lnSpc>
              <a:buNone/>
            </a:pPr>
            <a:r>
              <a:rPr lang="en-US" sz="2162" dirty="0">
                <a:solidFill>
                  <a:srgbClr val="67067C"/>
                </a:solidFill>
                <a:latin typeface="Young Serif" pitchFamily="34" charset="0"/>
                <a:ea typeface="Young Serif" pitchFamily="34" charset="-122"/>
                <a:cs typeface="Young Serif" pitchFamily="34" charset="-120"/>
              </a:rPr>
              <a:t>B</a:t>
            </a:r>
            <a:endParaRPr lang="en-US" sz="2162" dirty="0"/>
          </a:p>
        </p:txBody>
      </p:sp>
      <p:sp>
        <p:nvSpPr>
          <p:cNvPr id="19" name="Text 13"/>
          <p:cNvSpPr/>
          <p:nvPr/>
        </p:nvSpPr>
        <p:spPr>
          <a:xfrm>
            <a:off x="2448000" y="1712280"/>
            <a:ext cx="3456000" cy="2125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d’Alsace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Holderhurst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Hahnenberg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Gewurztraminer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Riesling Grand Cru Bruderthal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6829384"/>
            <a:ext cx="0" cy="259440"/>
          </a:xfrm>
          <a:prstGeom prst="line">
            <a:avLst/>
          </a:prstGeom>
          <a:noFill/>
          <a:ln w="17780">
            <a:solidFill>
              <a:srgbClr val="67067C"/>
            </a:solidFill>
            <a:prstDash val="solid"/>
          </a:ln>
        </p:spPr>
      </p:sp>
      <p:sp>
        <p:nvSpPr>
          <p:cNvPr id="22" name="Text 15"/>
          <p:cNvSpPr/>
          <p:nvPr/>
        </p:nvSpPr>
        <p:spPr>
          <a:xfrm>
            <a:off x="936000" y="6829384"/>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3" name="Text 16"/>
          <p:cNvSpPr/>
          <p:nvPr/>
        </p:nvSpPr>
        <p:spPr>
          <a:xfrm>
            <a:off x="828000" y="723282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ALSACE — COTEAUX DU BRUDERTHAL</a:t>
            </a:r>
            <a:endParaRPr lang="en-US" sz="720" dirty="0"/>
          </a:p>
        </p:txBody>
      </p:sp>
      <p:pic>
        <p:nvPicPr>
          <p:cNvPr id="24" name="Image 4" descr="/home/user/philippe1/build/deco-salon-prive-2026/sol-alsace.png">    </p:cNvPr>
          <p:cNvPicPr>
            <a:picLocks noChangeAspect="1"/>
          </p:cNvPicPr>
          <p:nvPr/>
        </p:nvPicPr>
        <p:blipFill>
          <a:blip r:embed="rId5"/>
          <a:stretch>
            <a:fillRect/>
          </a:stretch>
        </p:blipFill>
        <p:spPr>
          <a:xfrm>
            <a:off x="828000" y="7380424"/>
            <a:ext cx="6120000" cy="74085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urgo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urgog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3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Bourgogne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climats et terrasses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24</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18   </a:t>
            </a:r>
            <a:r>
              <a:rPr lang="en-US" sz="860" dirty="0">
                <a:solidFill>
                  <a:srgbClr val="FBF8F1"/>
                </a:solidFill>
                <a:latin typeface="IBM Plex Sans" pitchFamily="34" charset="0"/>
                <a:ea typeface="IBM Plex Sans" pitchFamily="34" charset="-122"/>
                <a:cs typeface="IBM Plex Sans" pitchFamily="34" charset="-120"/>
              </a:rPr>
              <a:t>Domaine Sébastien Magnien</a:t>
            </a:r>
            <a:r>
              <a:rPr lang="en-US" sz="860" b="1" dirty="0">
                <a:solidFill>
                  <a:srgbClr val="FBF8F1"/>
                </a:solidFill>
                <a:latin typeface="IBM Plex Sans" pitchFamily="34" charset="0"/>
                <a:ea typeface="IBM Plex Sans" pitchFamily="34" charset="-122"/>
                <a:cs typeface="IBM Plex Sans" pitchFamily="34" charset="-120"/>
              </a:rPr>
              <a:t>   14</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Maison et Domaine André Goichot</a:t>
            </a:r>
            <a:r>
              <a:rPr lang="en-US" sz="860" b="1" dirty="0">
                <a:solidFill>
                  <a:srgbClr val="FBF8F1"/>
                </a:solidFill>
                <a:latin typeface="IBM Plex Sans" pitchFamily="34" charset="0"/>
                <a:ea typeface="IBM Plex Sans" pitchFamily="34" charset="-122"/>
                <a:cs typeface="IBM Plex Sans" pitchFamily="34" charset="-120"/>
              </a:rPr>
              <a:t>   15</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Château du Cray</a:t>
            </a:r>
            <a:r>
              <a:rPr lang="en-US" sz="860" b="1" dirty="0">
                <a:solidFill>
                  <a:srgbClr val="FBF8F1"/>
                </a:solidFill>
                <a:latin typeface="IBM Plex Sans" pitchFamily="34" charset="0"/>
                <a:ea typeface="IBM Plex Sans" pitchFamily="34" charset="-122"/>
                <a:cs typeface="IBM Plex Sans" pitchFamily="34" charset="-120"/>
              </a:rPr>
              <a:t>   16</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26   </a:t>
            </a:r>
            <a:r>
              <a:rPr lang="en-US" sz="860" dirty="0">
                <a:solidFill>
                  <a:srgbClr val="FBF8F1"/>
                </a:solidFill>
                <a:latin typeface="IBM Plex Sans" pitchFamily="34" charset="0"/>
                <a:ea typeface="IBM Plex Sans" pitchFamily="34" charset="-122"/>
                <a:cs typeface="IBM Plex Sans" pitchFamily="34" charset="-120"/>
              </a:rPr>
              <a:t>Domaine Les Guignottes</a:t>
            </a:r>
            <a:r>
              <a:rPr lang="en-US" sz="860" b="1" dirty="0">
                <a:solidFill>
                  <a:srgbClr val="FBF8F1"/>
                </a:solidFill>
                <a:latin typeface="IBM Plex Sans" pitchFamily="34" charset="0"/>
                <a:ea typeface="IBM Plex Sans" pitchFamily="34" charset="-122"/>
                <a:cs typeface="IBM Plex Sans" pitchFamily="34" charset="-120"/>
              </a:rPr>
              <a:t>   17</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5   </a:t>
            </a:r>
            <a:r>
              <a:rPr lang="en-US" sz="860" dirty="0">
                <a:solidFill>
                  <a:srgbClr val="FBF8F1"/>
                </a:solidFill>
                <a:latin typeface="IBM Plex Sans" pitchFamily="34" charset="0"/>
                <a:ea typeface="IBM Plex Sans" pitchFamily="34" charset="-122"/>
                <a:cs typeface="IBM Plex Sans" pitchFamily="34" charset="-120"/>
              </a:rPr>
              <a:t>Domaine des Verchères</a:t>
            </a:r>
            <a:r>
              <a:rPr lang="en-US" sz="860" b="1" dirty="0">
                <a:solidFill>
                  <a:srgbClr val="FBF8F1"/>
                </a:solidFill>
                <a:latin typeface="IBM Plex Sans" pitchFamily="34" charset="0"/>
                <a:ea typeface="IBM Plex Sans" pitchFamily="34" charset="-122"/>
                <a:cs typeface="IBM Plex Sans" pitchFamily="34" charset="-120"/>
              </a:rPr>
              <a:t>   18</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13</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Sébastien Magnien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26451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raisonne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2" name="Shape 8"/>
          <p:cNvSpPr/>
          <p:nvPr/>
        </p:nvSpPr>
        <p:spPr>
          <a:xfrm>
            <a:off x="217171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17171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88182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88182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346499"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346499"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portrait au chai, recadré au-dessus du verre — Domaine Sébastien Magnien">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ébastien Magnien">    </p:cNvPr>
          <p:cNvPicPr>
            <a:picLocks noChangeAspect="1"/>
          </p:cNvPicPr>
          <p:nvPr/>
        </p:nvPicPr>
        <p:blipFill>
          <a:blip r:embed="rId4"/>
          <a:stretch>
            <a:fillRect/>
          </a:stretch>
        </p:blipFill>
        <p:spPr>
          <a:xfrm>
            <a:off x="6223279" y="1605996"/>
            <a:ext cx="585443" cy="2232000"/>
          </a:xfrm>
          <a:prstGeom prst="rect">
            <a:avLst/>
          </a:prstGeom>
        </p:spPr>
      </p:pic>
      <p:sp>
        <p:nvSpPr>
          <p:cNvPr id="20" name="Text 14"/>
          <p:cNvSpPr/>
          <p:nvPr/>
        </p:nvSpPr>
        <p:spPr>
          <a:xfrm>
            <a:off x="2394020" y="1618453"/>
            <a:ext cx="166424" cy="441960"/>
          </a:xfrm>
          <a:prstGeom prst="rect">
            <a:avLst/>
          </a:prstGeom>
          <a:noFill/>
          <a:ln/>
        </p:spPr>
        <p:txBody>
          <a:bodyPr wrap="square" lIns="0" tIns="0" rIns="0" bIns="0" rtlCol="0" anchor="t"/>
          <a:lstStyle/>
          <a:p>
            <a:pPr algn="r" indent="0" marL="0">
              <a:lnSpc>
                <a:spcPct val="125100"/>
              </a:lnSpc>
              <a:buNone/>
            </a:pPr>
            <a:r>
              <a:rPr lang="en-US" sz="2175" dirty="0">
                <a:solidFill>
                  <a:srgbClr val="67067C"/>
                </a:solidFill>
                <a:latin typeface="Young Serif" pitchFamily="34" charset="0"/>
                <a:ea typeface="Young Serif" pitchFamily="34" charset="-122"/>
                <a:cs typeface="Young Serif" pitchFamily="34" charset="-120"/>
              </a:rPr>
              <a:t>I</a:t>
            </a:r>
            <a:endParaRPr lang="en-US" sz="2175" dirty="0"/>
          </a:p>
        </p:txBody>
      </p:sp>
      <p:sp>
        <p:nvSpPr>
          <p:cNvPr id="21" name="Text 15"/>
          <p:cNvSpPr/>
          <p:nvPr/>
        </p:nvSpPr>
        <p:spPr>
          <a:xfrm>
            <a:off x="2448000" y="1734296"/>
            <a:ext cx="3456000" cy="2103556"/>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 Vins sous allocation.</a:t>
            </a:r>
            <a:endParaRPr lang="en-US" sz="1275"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Meursault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233625"/>
            <a:ext cx="0" cy="259440"/>
          </a:xfrm>
          <a:prstGeom prst="line">
            <a:avLst/>
          </a:prstGeom>
          <a:noFill/>
          <a:ln w="17780">
            <a:solidFill>
              <a:srgbClr val="67067C"/>
            </a:solidFill>
            <a:prstDash val="solid"/>
          </a:ln>
        </p:spPr>
      </p:sp>
      <p:sp>
        <p:nvSpPr>
          <p:cNvPr id="24" name="Text 17"/>
          <p:cNvSpPr/>
          <p:nvPr/>
        </p:nvSpPr>
        <p:spPr>
          <a:xfrm>
            <a:off x="936000" y="623362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828000" y="663706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6" name="Image 4" descr="/home/user/philippe1/build/deco-salon-prive-2026/sol-bourgogne.png">    </p:cNvPr>
          <p:cNvPicPr>
            <a:picLocks noChangeAspect="1"/>
          </p:cNvPicPr>
          <p:nvPr/>
        </p:nvPicPr>
        <p:blipFill>
          <a:blip r:embed="rId5"/>
          <a:stretch>
            <a:fillRect/>
          </a:stretch>
        </p:blipFill>
        <p:spPr>
          <a:xfrm>
            <a:off x="828000" y="6784665"/>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850" dirty="0">
                <a:solidFill>
                  <a:srgbClr val="46606E"/>
                </a:solidFill>
                <a:latin typeface="Young Serif" pitchFamily="34" charset="0"/>
                <a:ea typeface="Young Serif" pitchFamily="34" charset="-122"/>
                <a:cs typeface="Young Serif" pitchFamily="34" charset="-120"/>
              </a:rPr>
              <a:t>Maison et Domaine André Goichot</a:t>
            </a:r>
            <a:endParaRPr lang="en-US" sz="18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219348"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1929459" y="1317996"/>
            <a:ext cx="1352190"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1929459"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6" name="Shape 12"/>
          <p:cNvSpPr/>
          <p:nvPr/>
        </p:nvSpPr>
        <p:spPr>
          <a:xfrm>
            <a:off x="3360848" y="1317996"/>
            <a:ext cx="1204240"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360848"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8" name="Image 2" descr="deux portraits de la maison, côte à côte — Maison et Domaine André Goichot">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Maison et Domaine André Goichot">    </p:cNvPr>
          <p:cNvPicPr>
            <a:picLocks noChangeAspect="1"/>
          </p:cNvPicPr>
          <p:nvPr/>
        </p:nvPicPr>
        <p:blipFill>
          <a:blip r:embed="rId4"/>
          <a:stretch>
            <a:fillRect/>
          </a:stretch>
        </p:blipFill>
        <p:spPr>
          <a:xfrm>
            <a:off x="6019475" y="1605996"/>
            <a:ext cx="561049"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 Panachage possible avec le Château du Cray et le Domaine Les Guignottes. Vins sous allocation.</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Pouilly-Vinzelles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Crémant de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Baron Auguste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Chassagne-Montrachet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Nuits-Saint-Georges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Aux Allots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Mercurey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Givry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6743510"/>
            <a:ext cx="0" cy="259440"/>
          </a:xfrm>
          <a:prstGeom prst="line">
            <a:avLst/>
          </a:prstGeom>
          <a:noFill/>
          <a:ln w="17780">
            <a:solidFill>
              <a:srgbClr val="67067C"/>
            </a:solidFill>
            <a:prstDash val="solid"/>
          </a:ln>
        </p:spPr>
      </p:sp>
      <p:sp>
        <p:nvSpPr>
          <p:cNvPr id="24" name="Text 17"/>
          <p:cNvSpPr/>
          <p:nvPr/>
        </p:nvSpPr>
        <p:spPr>
          <a:xfrm>
            <a:off x="720000" y="674351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Château du Cray, stand 26 p. 16 · Domaine Les Guignottes, stand 26 p. 17</a:t>
            </a:r>
            <a:endParaRPr lang="en-US" sz="740" dirty="0"/>
          </a:p>
        </p:txBody>
      </p:sp>
      <p:sp>
        <p:nvSpPr>
          <p:cNvPr id="26" name="Shape 19"/>
          <p:cNvSpPr/>
          <p:nvPr/>
        </p:nvSpPr>
        <p:spPr>
          <a:xfrm>
            <a:off x="612000" y="8496000"/>
            <a:ext cx="6120000" cy="0"/>
          </a:xfrm>
          <a:prstGeom prst="line">
            <a:avLst/>
          </a:prstGeom>
          <a:noFill/>
          <a:ln w="8890">
            <a:solidFill>
              <a:srgbClr val="46606E"/>
            </a:solidFill>
            <a:prstDash val="solid"/>
          </a:ln>
        </p:spPr>
      </p:sp>
      <p:sp>
        <p:nvSpPr>
          <p:cNvPr id="27"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9"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30"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du Cray</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828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259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259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le vignoble du Château du Cray (bannière de sa page) — Château du Cray">    </p:cNvPr>
          <p:cNvPicPr>
            <a:picLocks noChangeAspect="1"/>
          </p:cNvPicPr>
          <p:nvPr/>
        </p:nvPicPr>
        <p:blipFill>
          <a:blip r:embed="rId2"/>
          <a:stretch>
            <a:fillRect/>
          </a:stretch>
        </p:blipFill>
        <p:spPr>
          <a:xfrm>
            <a:off x="828000" y="1605996"/>
            <a:ext cx="1440000" cy="1440000"/>
          </a:xfrm>
          <a:prstGeom prst="rect">
            <a:avLst/>
          </a:prstGeom>
        </p:spPr>
      </p:pic>
      <p:pic>
        <p:nvPicPr>
          <p:cNvPr id="14" name="Image 2" descr="Une bouteille du domaine Château du Cray">    </p:cNvPr>
          <p:cNvPicPr>
            <a:picLocks noChangeAspect="1"/>
          </p:cNvPicPr>
          <p:nvPr/>
        </p:nvPicPr>
        <p:blipFill>
          <a:blip r:embed="rId3"/>
          <a:stretch>
            <a:fillRect/>
          </a:stretch>
        </p:blipFill>
        <p:spPr>
          <a:xfrm>
            <a:off x="6216831" y="1605996"/>
            <a:ext cx="598337" cy="2232000"/>
          </a:xfrm>
          <a:prstGeom prst="rect">
            <a:avLst/>
          </a:prstGeom>
        </p:spPr>
      </p:pic>
      <p:sp>
        <p:nvSpPr>
          <p:cNvPr id="15" name="Text 10"/>
          <p:cNvSpPr/>
          <p:nvPr/>
        </p:nvSpPr>
        <p:spPr>
          <a:xfrm>
            <a:off x="2393990" y="164240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448000" y="1756664"/>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Cray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828000" y="4646224"/>
            <a:ext cx="0" cy="259440"/>
          </a:xfrm>
          <a:prstGeom prst="line">
            <a:avLst/>
          </a:prstGeom>
          <a:noFill/>
          <a:ln w="17780">
            <a:solidFill>
              <a:srgbClr val="67067C"/>
            </a:solidFill>
            <a:prstDash val="solid"/>
          </a:ln>
        </p:spPr>
      </p:sp>
      <p:sp>
        <p:nvSpPr>
          <p:cNvPr id="19" name="Text 13"/>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0" name="Text 14"/>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828000" y="5197264"/>
            <a:ext cx="6120000" cy="1463409"/>
          </a:xfrm>
          <a:prstGeom prst="rect">
            <a:avLst/>
          </a:prstGeom>
        </p:spPr>
      </p:pic>
      <p:sp>
        <p:nvSpPr>
          <p:cNvPr id="22"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Domaine Les Guignottes, stand 26 p. 17</a:t>
            </a:r>
            <a:endParaRPr lang="en-US" sz="74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Les Guignottes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352190" cy="180000"/>
          </a:xfrm>
          <a:prstGeom prst="roundRect">
            <a:avLst>
              <a:gd name="adj" fmla="val 10160"/>
            </a:avLst>
          </a:prstGeom>
          <a:solidFill>
            <a:srgbClr val="F2EADA"/>
          </a:solidFill>
          <a:ln w="8890">
            <a:solidFill>
              <a:srgbClr val="A8515F"/>
            </a:solidFill>
            <a:prstDash val="solid"/>
          </a:ln>
        </p:spPr>
      </p:sp>
      <p:sp>
        <p:nvSpPr>
          <p:cNvPr id="10" name="Text 7"/>
          <p:cNvSpPr/>
          <p:nvPr/>
        </p:nvSpPr>
        <p:spPr>
          <a:xfrm>
            <a:off x="612000"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1" name="Shape 8"/>
          <p:cNvSpPr/>
          <p:nvPr/>
        </p:nvSpPr>
        <p:spPr>
          <a:xfrm>
            <a:off x="2043390" y="1317996"/>
            <a:ext cx="1103747" cy="180000"/>
          </a:xfrm>
          <a:prstGeom prst="roundRect">
            <a:avLst>
              <a:gd name="adj" fmla="val 10160"/>
            </a:avLst>
          </a:prstGeom>
          <a:solidFill>
            <a:srgbClr val="F2EADA"/>
          </a:solidFill>
          <a:ln w="8890">
            <a:solidFill>
              <a:srgbClr val="46606E"/>
            </a:solidFill>
            <a:prstDash val="solid"/>
          </a:ln>
        </p:spPr>
      </p:sp>
      <p:sp>
        <p:nvSpPr>
          <p:cNvPr id="12" name="Text 9"/>
          <p:cNvSpPr/>
          <p:nvPr/>
        </p:nvSpPr>
        <p:spPr>
          <a:xfrm>
            <a:off x="2043390"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3" name="Image 1" descr="nom du domaine sur ses vignes — Domaine Les Guignottes">    </p:cNvPr>
          <p:cNvPicPr>
            <a:picLocks noChangeAspect="1"/>
          </p:cNvPicPr>
          <p:nvPr/>
        </p:nvPicPr>
        <p:blipFill>
          <a:blip r:embed="rId2"/>
          <a:stretch>
            <a:fillRect/>
          </a:stretch>
        </p:blipFill>
        <p:spPr>
          <a:xfrm>
            <a:off x="612000" y="1605996"/>
            <a:ext cx="1440000" cy="1440000"/>
          </a:xfrm>
          <a:prstGeom prst="rect">
            <a:avLst/>
          </a:prstGeom>
        </p:spPr>
      </p:pic>
      <p:pic>
        <p:nvPicPr>
          <p:cNvPr id="14" name="Image 2" descr="Une bouteille du domaine Domaine Les Guignottes">    </p:cNvPr>
          <p:cNvPicPr>
            <a:picLocks noChangeAspect="1"/>
          </p:cNvPicPr>
          <p:nvPr/>
        </p:nvPicPr>
        <p:blipFill>
          <a:blip r:embed="rId3"/>
          <a:stretch>
            <a:fillRect/>
          </a:stretch>
        </p:blipFill>
        <p:spPr>
          <a:xfrm>
            <a:off x="6014902" y="1605996"/>
            <a:ext cx="570197" cy="2232000"/>
          </a:xfrm>
          <a:prstGeom prst="rect">
            <a:avLst/>
          </a:prstGeom>
        </p:spPr>
      </p:pic>
      <p:sp>
        <p:nvSpPr>
          <p:cNvPr id="15" name="Text 10"/>
          <p:cNvSpPr/>
          <p:nvPr/>
        </p:nvSpPr>
        <p:spPr>
          <a:xfrm>
            <a:off x="2177990" y="1523380"/>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6" name="Text 11"/>
          <p:cNvSpPr/>
          <p:nvPr/>
        </p:nvSpPr>
        <p:spPr>
          <a:xfrm>
            <a:off x="2232000" y="1637639"/>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Domaine les Guignottes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8" name="Shape 12"/>
          <p:cNvSpPr/>
          <p:nvPr/>
        </p:nvSpPr>
        <p:spPr>
          <a:xfrm>
            <a:off x="612000" y="4646224"/>
            <a:ext cx="0" cy="259440"/>
          </a:xfrm>
          <a:prstGeom prst="line">
            <a:avLst/>
          </a:prstGeom>
          <a:noFill/>
          <a:ln w="17780">
            <a:solidFill>
              <a:srgbClr val="67067C"/>
            </a:solidFill>
            <a:prstDash val="solid"/>
          </a:ln>
        </p:spPr>
      </p:sp>
      <p:sp>
        <p:nvSpPr>
          <p:cNvPr id="19" name="Text 13"/>
          <p:cNvSpPr/>
          <p:nvPr/>
        </p:nvSpPr>
        <p:spPr>
          <a:xfrm>
            <a:off x="720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20" name="Text 14"/>
          <p:cNvSpPr/>
          <p:nvPr/>
        </p:nvSpPr>
        <p:spPr>
          <a:xfrm>
            <a:off x="612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1" name="Image 3" descr="/home/user/philippe1/build/deco-salon-prive-2026/sol-bourgogne.png">    </p:cNvPr>
          <p:cNvPicPr>
            <a:picLocks noChangeAspect="1"/>
          </p:cNvPicPr>
          <p:nvPr/>
        </p:nvPicPr>
        <p:blipFill>
          <a:blip r:embed="rId4"/>
          <a:stretch>
            <a:fillRect/>
          </a:stretch>
        </p:blipFill>
        <p:spPr>
          <a:xfrm>
            <a:off x="612000" y="5197264"/>
            <a:ext cx="6120000" cy="1463409"/>
          </a:xfrm>
          <a:prstGeom prst="rect">
            <a:avLst/>
          </a:prstGeom>
        </p:spPr>
      </p:pic>
      <p:sp>
        <p:nvSpPr>
          <p:cNvPr id="22"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Maison et Domaine André Goichot, stand 26 p. 15 · Château du Cray, stand 26 p. 16</a:t>
            </a:r>
            <a:endParaRPr lang="en-US" sz="74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des Verchères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435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435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900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900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portrait du vigneron — Domaine des Verchèr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es Verchères">    </p:cNvPr>
          <p:cNvPicPr>
            <a:picLocks noChangeAspect="1"/>
          </p:cNvPicPr>
          <p:nvPr/>
        </p:nvPicPr>
        <p:blipFill>
          <a:blip r:embed="rId4"/>
          <a:stretch>
            <a:fillRect/>
          </a:stretch>
        </p:blipFill>
        <p:spPr>
          <a:xfrm>
            <a:off x="6240049" y="1605996"/>
            <a:ext cx="551902"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Mancey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Mâcon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Bourgogne Passe-Tout-Grain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Bulles du Puits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391407"/>
            <a:ext cx="0" cy="259440"/>
          </a:xfrm>
          <a:prstGeom prst="line">
            <a:avLst/>
          </a:prstGeom>
          <a:noFill/>
          <a:ln w="17780">
            <a:solidFill>
              <a:srgbClr val="67067C"/>
            </a:solidFill>
            <a:prstDash val="solid"/>
          </a:ln>
        </p:spPr>
      </p:sp>
      <p:sp>
        <p:nvSpPr>
          <p:cNvPr id="22" name="Text 15"/>
          <p:cNvSpPr/>
          <p:nvPr/>
        </p:nvSpPr>
        <p:spPr>
          <a:xfrm>
            <a:off x="936000" y="539140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79484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4" name="Image 4" descr="/home/user/philippe1/build/deco-salon-prive-2026/sol-bourgogne.png">    </p:cNvPr>
          <p:cNvPicPr>
            <a:picLocks noChangeAspect="1"/>
          </p:cNvPicPr>
          <p:nvPr/>
        </p:nvPicPr>
        <p:blipFill>
          <a:blip r:embed="rId5"/>
          <a:stretch>
            <a:fillRect/>
          </a:stretch>
        </p:blipFill>
        <p:spPr>
          <a:xfrm>
            <a:off x="828000" y="5942447"/>
            <a:ext cx="6120000" cy="1298656"/>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rho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rhon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4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Rhône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grès et Trias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5</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22</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Le Prieuré des Papes</a:t>
            </a:r>
            <a:r>
              <a:rPr lang="en-US" sz="860" b="1" dirty="0">
                <a:solidFill>
                  <a:srgbClr val="FBF8F1"/>
                </a:solidFill>
                <a:latin typeface="IBM Plex Sans" pitchFamily="34" charset="0"/>
                <a:ea typeface="IBM Plex Sans" pitchFamily="34" charset="-122"/>
                <a:cs typeface="IBM Plex Sans" pitchFamily="34" charset="-120"/>
              </a:rPr>
              <a:t>   20</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Coyeux</a:t>
            </a:r>
            <a:r>
              <a:rPr lang="en-US" sz="860" b="1" dirty="0">
                <a:solidFill>
                  <a:srgbClr val="FBF8F1"/>
                </a:solidFill>
                <a:latin typeface="IBM Plex Sans" pitchFamily="34" charset="0"/>
                <a:ea typeface="IBM Plex Sans" pitchFamily="34" charset="-122"/>
                <a:cs typeface="IBM Plex Sans" pitchFamily="34" charset="-120"/>
              </a:rPr>
              <a:t>   21</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du Moulin Blanc</a:t>
            </a:r>
            <a:r>
              <a:rPr lang="en-US" sz="860" b="1" dirty="0">
                <a:solidFill>
                  <a:srgbClr val="FBF8F1"/>
                </a:solidFill>
                <a:latin typeface="IBM Plex Sans" pitchFamily="34" charset="0"/>
                <a:ea typeface="IBM Plex Sans" pitchFamily="34" charset="-122"/>
                <a:cs typeface="IBM Plex Sans" pitchFamily="34" charset="-120"/>
              </a:rPr>
              <a:t>   22</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7   </a:t>
            </a:r>
            <a:r>
              <a:rPr lang="en-US" sz="860" dirty="0">
                <a:solidFill>
                  <a:srgbClr val="FBF8F1"/>
                </a:solidFill>
                <a:latin typeface="IBM Plex Sans" pitchFamily="34" charset="0"/>
                <a:ea typeface="IBM Plex Sans" pitchFamily="34" charset="-122"/>
                <a:cs typeface="IBM Plex Sans" pitchFamily="34" charset="-120"/>
              </a:rPr>
              <a:t>Domaine de la Pousterle</a:t>
            </a:r>
            <a:r>
              <a:rPr lang="en-US" sz="860" b="1" dirty="0">
                <a:solidFill>
                  <a:srgbClr val="FBF8F1"/>
                </a:solidFill>
                <a:latin typeface="IBM Plex Sans" pitchFamily="34" charset="0"/>
                <a:ea typeface="IBM Plex Sans" pitchFamily="34" charset="-122"/>
                <a:cs typeface="IBM Plex Sans" pitchFamily="34" charset="-120"/>
              </a:rPr>
              <a:t>   23</a:t>
            </a:r>
            <a:endParaRPr lang="en-US" sz="860" dirty="0"/>
          </a:p>
        </p:txBody>
      </p:sp>
      <p:sp>
        <p:nvSpPr>
          <p:cNvPr id="16" name="Text 12"/>
          <p:cNvSpPr/>
          <p:nvPr/>
        </p:nvSpPr>
        <p:spPr>
          <a:xfrm>
            <a:off x="612000" y="7632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12   </a:t>
            </a:r>
            <a:r>
              <a:rPr lang="en-US" sz="860" dirty="0">
                <a:solidFill>
                  <a:srgbClr val="FBF8F1"/>
                </a:solidFill>
                <a:latin typeface="IBM Plex Sans" pitchFamily="34" charset="0"/>
                <a:ea typeface="IBM Plex Sans" pitchFamily="34" charset="-122"/>
                <a:cs typeface="IBM Plex Sans" pitchFamily="34" charset="-120"/>
              </a:rPr>
              <a:t>Domaine Trichon</a:t>
            </a:r>
            <a:r>
              <a:rPr lang="en-US" sz="860" b="1" dirty="0">
                <a:solidFill>
                  <a:srgbClr val="FBF8F1"/>
                </a:solidFill>
                <a:latin typeface="IBM Plex Sans" pitchFamily="34" charset="0"/>
                <a:ea typeface="IBM Plex Sans" pitchFamily="34" charset="-122"/>
                <a:cs typeface="IBM Plex Sans" pitchFamily="34" charset="-120"/>
              </a:rPr>
              <a:t>   24</a:t>
            </a:r>
            <a:endParaRPr lang="en-US" sz="860" dirty="0"/>
          </a:p>
        </p:txBody>
      </p:sp>
      <p:sp>
        <p:nvSpPr>
          <p:cNvPr id="17" name="Text 13"/>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19</a:t>
            </a:r>
            <a:endParaRPr lang="en-US" sz="750" dirty="0"/>
          </a:p>
        </p:txBody>
      </p:sp>
      <p:sp>
        <p:nvSpPr>
          <p:cNvPr id="18" name="Text 14"/>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Le Prieuré des Papes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ogo du domaine — Domaine Le Prieuré des Pape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Le Prieuré des Papes">    </p:cNvPr>
          <p:cNvPicPr>
            <a:picLocks noChangeAspect="1"/>
          </p:cNvPicPr>
          <p:nvPr/>
        </p:nvPicPr>
        <p:blipFill>
          <a:blip r:embed="rId4"/>
          <a:stretch>
            <a:fillRect/>
          </a:stretch>
        </p:blipFill>
        <p:spPr>
          <a:xfrm>
            <a:off x="6227852" y="1605996"/>
            <a:ext cx="576295" cy="2232000"/>
          </a:xfrm>
          <a:prstGeom prst="rect">
            <a:avLst/>
          </a:prstGeom>
        </p:spPr>
      </p:pic>
      <p:sp>
        <p:nvSpPr>
          <p:cNvPr id="18" name="Text 12"/>
          <p:cNvSpPr/>
          <p:nvPr/>
        </p:nvSpPr>
        <p:spPr>
          <a:xfrm>
            <a:off x="2394049" y="1438911"/>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9" name="Text 13"/>
          <p:cNvSpPr/>
          <p:nvPr/>
        </p:nvSpPr>
        <p:spPr>
          <a:xfrm>
            <a:off x="2448000" y="1466503"/>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40881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Couchant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696951"/>
            <a:ext cx="0" cy="259440"/>
          </a:xfrm>
          <a:prstGeom prst="line">
            <a:avLst/>
          </a:prstGeom>
          <a:noFill/>
          <a:ln w="17780">
            <a:solidFill>
              <a:srgbClr val="67067C"/>
            </a:solidFill>
            <a:prstDash val="solid"/>
          </a:ln>
        </p:spPr>
      </p:sp>
      <p:sp>
        <p:nvSpPr>
          <p:cNvPr id="22" name="Text 15"/>
          <p:cNvSpPr/>
          <p:nvPr/>
        </p:nvSpPr>
        <p:spPr>
          <a:xfrm>
            <a:off x="936000" y="56969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61003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6247991"/>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de Coyeux, stand 7 p. 21 · Domaine du Moulin Blanc, stand 7 p. 22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Coyeux</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le domaine — Domaine de Coyeux">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Coyeux">    </p:cNvPr>
          <p:cNvPicPr>
            <a:picLocks noChangeAspect="1"/>
          </p:cNvPicPr>
          <p:nvPr/>
        </p:nvPicPr>
        <p:blipFill>
          <a:blip r:embed="rId4"/>
          <a:stretch>
            <a:fillRect/>
          </a:stretch>
        </p:blipFill>
        <p:spPr>
          <a:xfrm>
            <a:off x="6001180" y="1605996"/>
            <a:ext cx="597639" cy="2232000"/>
          </a:xfrm>
          <a:prstGeom prst="rect">
            <a:avLst/>
          </a:prstGeom>
        </p:spPr>
      </p:pic>
      <p:sp>
        <p:nvSpPr>
          <p:cNvPr id="18" name="Text 12"/>
          <p:cNvSpPr/>
          <p:nvPr/>
        </p:nvSpPr>
        <p:spPr>
          <a:xfrm>
            <a:off x="2178017" y="1423269"/>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9" name="Text 13"/>
          <p:cNvSpPr/>
          <p:nvPr/>
        </p:nvSpPr>
        <p:spPr>
          <a:xfrm>
            <a:off x="2232000" y="1506594"/>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45010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Premières Fleurs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Or des Dentelles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058901"/>
            <a:ext cx="0" cy="259440"/>
          </a:xfrm>
          <a:prstGeom prst="line">
            <a:avLst/>
          </a:prstGeom>
          <a:noFill/>
          <a:ln w="17780">
            <a:solidFill>
              <a:srgbClr val="67067C"/>
            </a:solidFill>
            <a:prstDash val="solid"/>
          </a:ln>
        </p:spPr>
      </p:sp>
      <p:sp>
        <p:nvSpPr>
          <p:cNvPr id="22" name="Text 15"/>
          <p:cNvSpPr/>
          <p:nvPr/>
        </p:nvSpPr>
        <p:spPr>
          <a:xfrm>
            <a:off x="720000" y="605890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46234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6609941"/>
            <a:ext cx="6120000" cy="1040739"/>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du Moulin Blanc, stand 7 p. 22 · Domaine de la Pousterle, stand 7 p. 23</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du Moulin Blanc</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03747"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03747"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 vin à la dégustation</a:t>
            </a:r>
            <a:endParaRPr lang="en-US" sz="720" dirty="0"/>
          </a:p>
        </p:txBody>
      </p:sp>
      <p:pic>
        <p:nvPicPr>
          <p:cNvPr id="16"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du Moulin Blanc">    </p:cNvPr>
          <p:cNvPicPr>
            <a:picLocks noChangeAspect="1"/>
          </p:cNvPicPr>
          <p:nvPr/>
        </p:nvPicPr>
        <p:blipFill>
          <a:blip r:embed="rId4"/>
          <a:stretch>
            <a:fillRect/>
          </a:stretch>
        </p:blipFill>
        <p:spPr>
          <a:xfrm>
            <a:off x="6220230" y="1605996"/>
            <a:ext cx="591541" cy="2232000"/>
          </a:xfrm>
          <a:prstGeom prst="rect">
            <a:avLst/>
          </a:prstGeom>
        </p:spPr>
      </p:pic>
      <p:sp>
        <p:nvSpPr>
          <p:cNvPr id="18" name="Text 12"/>
          <p:cNvSpPr/>
          <p:nvPr/>
        </p:nvSpPr>
        <p:spPr>
          <a:xfrm>
            <a:off x="2393970" y="1566804"/>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9" name="Text 13"/>
          <p:cNvSpPr/>
          <p:nvPr/>
        </p:nvSpPr>
        <p:spPr>
          <a:xfrm>
            <a:off x="2448000" y="1646599"/>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4646224"/>
            <a:ext cx="0" cy="259440"/>
          </a:xfrm>
          <a:prstGeom prst="line">
            <a:avLst/>
          </a:prstGeom>
          <a:noFill/>
          <a:ln w="17780">
            <a:solidFill>
              <a:srgbClr val="67067C"/>
            </a:solidFill>
            <a:prstDash val="solid"/>
          </a:ln>
        </p:spPr>
      </p:sp>
      <p:sp>
        <p:nvSpPr>
          <p:cNvPr id="22" name="Text 15"/>
          <p:cNvSpPr/>
          <p:nvPr/>
        </p:nvSpPr>
        <p:spPr>
          <a:xfrm>
            <a:off x="936000" y="46462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828000" y="504966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828000" y="5197264"/>
            <a:ext cx="6120000" cy="1463409"/>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de la Pousterle, stand 7 p. 23</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7</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de la Pousterle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dans les vignes — Domaine de la Pousterl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Domaine de la Pousterle">    </p:cNvPr>
          <p:cNvPicPr>
            <a:picLocks noChangeAspect="1"/>
          </p:cNvPicPr>
          <p:nvPr/>
        </p:nvPicPr>
        <p:blipFill>
          <a:blip r:embed="rId4"/>
          <a:stretch>
            <a:fillRect/>
          </a:stretch>
        </p:blipFill>
        <p:spPr>
          <a:xfrm>
            <a:off x="6007279" y="1605996"/>
            <a:ext cx="585443" cy="2232000"/>
          </a:xfrm>
          <a:prstGeom prst="rect">
            <a:avLst/>
          </a:prstGeom>
        </p:spPr>
      </p:pic>
      <p:sp>
        <p:nvSpPr>
          <p:cNvPr id="18" name="Text 12"/>
          <p:cNvSpPr/>
          <p:nvPr/>
        </p:nvSpPr>
        <p:spPr>
          <a:xfrm>
            <a:off x="2177990" y="1537027"/>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9" name="Text 13"/>
          <p:cNvSpPr/>
          <p:nvPr/>
        </p:nvSpPr>
        <p:spPr>
          <a:xfrm>
            <a:off x="2232000" y="1619135"/>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Chardonnay-Viognier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266242"/>
            <a:ext cx="0" cy="259440"/>
          </a:xfrm>
          <a:prstGeom prst="line">
            <a:avLst/>
          </a:prstGeom>
          <a:noFill/>
          <a:ln w="17780">
            <a:solidFill>
              <a:srgbClr val="67067C"/>
            </a:solidFill>
            <a:prstDash val="solid"/>
          </a:ln>
        </p:spPr>
      </p:sp>
      <p:sp>
        <p:nvSpPr>
          <p:cNvPr id="22" name="Text 15"/>
          <p:cNvSpPr/>
          <p:nvPr/>
        </p:nvSpPr>
        <p:spPr>
          <a:xfrm>
            <a:off x="720000" y="5266242"/>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66968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4" name="Image 4" descr="/home/user/philippe1/build/deco-salon-prive-2026/sol-rhone.png">    </p:cNvPr>
          <p:cNvPicPr>
            <a:picLocks noChangeAspect="1"/>
          </p:cNvPicPr>
          <p:nvPr/>
        </p:nvPicPr>
        <p:blipFill>
          <a:blip r:embed="rId5"/>
          <a:stretch>
            <a:fillRect/>
          </a:stretch>
        </p:blipFill>
        <p:spPr>
          <a:xfrm>
            <a:off x="612000" y="5817282"/>
            <a:ext cx="6120000" cy="1148400"/>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Domaine Le Prieuré des Papes, stand 7 p. 20 · Domaine de Coyeux, stand 7 p. 21 · Domaine du Moulin Blanc, stand 7 p. 22</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Trichon</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les deux vignerons, recadrés sur leurs visages — Domaine Trichon">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Domaine Trichon">    </p:cNvPr>
          <p:cNvPicPr>
            <a:picLocks noChangeAspect="1"/>
          </p:cNvPicPr>
          <p:nvPr/>
        </p:nvPicPr>
        <p:blipFill>
          <a:blip r:embed="rId4"/>
          <a:stretch>
            <a:fillRect/>
          </a:stretch>
        </p:blipFill>
        <p:spPr>
          <a:xfrm>
            <a:off x="6199083" y="1605996"/>
            <a:ext cx="633834" cy="2232000"/>
          </a:xfrm>
          <a:prstGeom prst="rect">
            <a:avLst/>
          </a:prstGeom>
        </p:spPr>
      </p:pic>
      <p:sp>
        <p:nvSpPr>
          <p:cNvPr id="18" name="Text 12"/>
          <p:cNvSpPr/>
          <p:nvPr/>
        </p:nvSpPr>
        <p:spPr>
          <a:xfrm>
            <a:off x="2393985" y="1578165"/>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9" name="Text 13"/>
          <p:cNvSpPr/>
          <p:nvPr/>
        </p:nvSpPr>
        <p:spPr>
          <a:xfrm>
            <a:off x="2448000" y="1684407"/>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Extra-Brut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Mondeuse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Pinot Noir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Gamay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Bugey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Chardonnay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Vacqueyras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Mas de Lusanne Pétillant de Jus de Raisin 0 %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41365"/>
            <a:ext cx="0" cy="259440"/>
          </a:xfrm>
          <a:prstGeom prst="line">
            <a:avLst/>
          </a:prstGeom>
          <a:noFill/>
          <a:ln w="17780">
            <a:solidFill>
              <a:srgbClr val="67067C"/>
            </a:solidFill>
            <a:prstDash val="solid"/>
          </a:ln>
        </p:spPr>
      </p:sp>
      <p:sp>
        <p:nvSpPr>
          <p:cNvPr id="22" name="Text 15"/>
          <p:cNvSpPr/>
          <p:nvPr/>
        </p:nvSpPr>
        <p:spPr>
          <a:xfrm>
            <a:off x="936000" y="744136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Jus de cépages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sud-ouest.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sud-ouest.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5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Sud-Ouest</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sables fauves et fossiles marins</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2</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13</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20   </a:t>
            </a:r>
            <a:r>
              <a:rPr lang="en-US" sz="860" dirty="0">
                <a:solidFill>
                  <a:srgbClr val="FBF8F1"/>
                </a:solidFill>
                <a:latin typeface="IBM Plex Sans" pitchFamily="34" charset="0"/>
                <a:ea typeface="IBM Plex Sans" pitchFamily="34" charset="-122"/>
                <a:cs typeface="IBM Plex Sans" pitchFamily="34" charset="-120"/>
              </a:rPr>
              <a:t>Domaine Stratéus</a:t>
            </a:r>
            <a:r>
              <a:rPr lang="en-US" sz="860" b="1" dirty="0">
                <a:solidFill>
                  <a:srgbClr val="FBF8F1"/>
                </a:solidFill>
                <a:latin typeface="IBM Plex Sans" pitchFamily="34" charset="0"/>
                <a:ea typeface="IBM Plex Sans" pitchFamily="34" charset="-122"/>
                <a:cs typeface="IBM Plex Sans" pitchFamily="34" charset="-120"/>
              </a:rPr>
              <a:t>   26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6   </a:t>
            </a:r>
            <a:r>
              <a:rPr lang="en-US" sz="860" dirty="0">
                <a:solidFill>
                  <a:srgbClr val="FBF8F1"/>
                </a:solidFill>
                <a:latin typeface="IBM Plex Sans" pitchFamily="34" charset="0"/>
                <a:ea typeface="IBM Plex Sans" pitchFamily="34" charset="-122"/>
                <a:cs typeface="IBM Plex Sans" pitchFamily="34" charset="-120"/>
              </a:rPr>
              <a:t>Domaine Haut Marin</a:t>
            </a:r>
            <a:r>
              <a:rPr lang="en-US" sz="860" b="1" dirty="0">
                <a:solidFill>
                  <a:srgbClr val="FBF8F1"/>
                </a:solidFill>
                <a:latin typeface="IBM Plex Sans" pitchFamily="34" charset="0"/>
                <a:ea typeface="IBM Plex Sans" pitchFamily="34" charset="-122"/>
                <a:cs typeface="IBM Plex Sans" pitchFamily="34" charset="-120"/>
              </a:rPr>
              <a:t>   27</a:t>
            </a:r>
            <a:endParaRPr lang="en-US" sz="860" dirty="0"/>
          </a:p>
        </p:txBody>
      </p:sp>
      <p:sp>
        <p:nvSpPr>
          <p:cNvPr id="14" name="Text 1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25</a:t>
            </a:r>
            <a:endParaRPr lang="en-US" sz="750" dirty="0"/>
          </a:p>
        </p:txBody>
      </p:sp>
      <p:sp>
        <p:nvSpPr>
          <p:cNvPr id="15" name="Text 1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20</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Stratéus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8" name="Image 2" descr="logo du domaine — Domaine Stratéus">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Domaine Stratéus">    </p:cNvPr>
          <p:cNvPicPr>
            <a:picLocks noChangeAspect="1"/>
          </p:cNvPicPr>
          <p:nvPr/>
        </p:nvPicPr>
        <p:blipFill>
          <a:blip r:embed="rId4"/>
          <a:stretch>
            <a:fillRect/>
          </a:stretch>
        </p:blipFill>
        <p:spPr>
          <a:xfrm>
            <a:off x="6272066" y="1605996"/>
            <a:ext cx="487869" cy="2232000"/>
          </a:xfrm>
          <a:prstGeom prst="rect">
            <a:avLst/>
          </a:prstGeom>
        </p:spPr>
      </p:pic>
      <p:sp>
        <p:nvSpPr>
          <p:cNvPr id="20" name="Text 14"/>
          <p:cNvSpPr/>
          <p:nvPr/>
        </p:nvSpPr>
        <p:spPr>
          <a:xfrm>
            <a:off x="2393975" y="1579073"/>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21" name="Text 15"/>
          <p:cNvSpPr/>
          <p:nvPr/>
        </p:nvSpPr>
        <p:spPr>
          <a:xfrm>
            <a:off x="2448000" y="1727139"/>
            <a:ext cx="3456000" cy="211071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 Vins sous allocation.</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 Doux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Stratéus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828000" y="6196269"/>
            <a:ext cx="0" cy="259440"/>
          </a:xfrm>
          <a:prstGeom prst="line">
            <a:avLst/>
          </a:prstGeom>
          <a:noFill/>
          <a:ln w="17780">
            <a:solidFill>
              <a:srgbClr val="67067C"/>
            </a:solidFill>
            <a:prstDash val="solid"/>
          </a:ln>
        </p:spPr>
      </p:sp>
      <p:sp>
        <p:nvSpPr>
          <p:cNvPr id="24" name="Text 17"/>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828000" y="6747309"/>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Domaine Haut Marin</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604592"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2" name="Shape 8"/>
          <p:cNvSpPr/>
          <p:nvPr/>
        </p:nvSpPr>
        <p:spPr>
          <a:xfrm>
            <a:off x="1295792"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95792"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760466" y="1317996"/>
            <a:ext cx="864357" cy="180000"/>
          </a:xfrm>
          <a:prstGeom prst="roundRect">
            <a:avLst>
              <a:gd name="adj" fmla="val 10160"/>
            </a:avLst>
          </a:prstGeom>
          <a:solidFill>
            <a:srgbClr val="D08C3C"/>
          </a:solidFill>
          <a:ln w="8890">
            <a:solidFill>
              <a:srgbClr val="D08C3C"/>
            </a:solidFill>
            <a:prstDash val="solid"/>
          </a:ln>
        </p:spPr>
      </p:sp>
      <p:sp>
        <p:nvSpPr>
          <p:cNvPr id="15" name="Text 11"/>
          <p:cNvSpPr/>
          <p:nvPr/>
        </p:nvSpPr>
        <p:spPr>
          <a:xfrm>
            <a:off x="2760466" y="1317996"/>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6" name="Shape 12"/>
          <p:cNvSpPr/>
          <p:nvPr/>
        </p:nvSpPr>
        <p:spPr>
          <a:xfrm>
            <a:off x="3704023"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704023"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8" name="Image 2" descr="logo du domaine — Domaine Haut Marin">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Domaine Haut Marin">    </p:cNvPr>
          <p:cNvPicPr>
            <a:picLocks noChangeAspect="1"/>
          </p:cNvPicPr>
          <p:nvPr/>
        </p:nvPicPr>
        <p:blipFill>
          <a:blip r:embed="rId4"/>
          <a:stretch>
            <a:fillRect/>
          </a:stretch>
        </p:blipFill>
        <p:spPr>
          <a:xfrm>
            <a:off x="6028623" y="1605996"/>
            <a:ext cx="542754" cy="2232000"/>
          </a:xfrm>
          <a:prstGeom prst="rect">
            <a:avLst/>
          </a:prstGeom>
        </p:spPr>
      </p:pic>
      <p:sp>
        <p:nvSpPr>
          <p:cNvPr id="20" name="Text 14"/>
          <p:cNvSpPr/>
          <p:nvPr/>
        </p:nvSpPr>
        <p:spPr>
          <a:xfrm>
            <a:off x="2177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232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 Format BIB disponible.</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Vénus Blanc Moelleux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 de 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 Pétillant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612000" y="6610309"/>
            <a:ext cx="0" cy="259440"/>
          </a:xfrm>
          <a:prstGeom prst="line">
            <a:avLst/>
          </a:prstGeom>
          <a:noFill/>
          <a:ln w="17780">
            <a:solidFill>
              <a:srgbClr val="67067C"/>
            </a:solidFill>
            <a:prstDash val="solid"/>
          </a:ln>
        </p:spPr>
      </p:sp>
      <p:sp>
        <p:nvSpPr>
          <p:cNvPr id="24" name="Text 17"/>
          <p:cNvSpPr/>
          <p:nvPr/>
        </p:nvSpPr>
        <p:spPr>
          <a:xfrm>
            <a:off x="720000" y="661030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5" name="Text 18"/>
          <p:cNvSpPr/>
          <p:nvPr/>
        </p:nvSpPr>
        <p:spPr>
          <a:xfrm>
            <a:off x="612000" y="701374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6" name="Image 4" descr="/home/user/philippe1/build/deco-salon-prive-2026/sol-sud-ouest.png">    </p:cNvPr>
          <p:cNvPicPr>
            <a:picLocks noChangeAspect="1"/>
          </p:cNvPicPr>
          <p:nvPr/>
        </p:nvPicPr>
        <p:blipFill>
          <a:blip r:embed="rId5"/>
          <a:stretch>
            <a:fillRect/>
          </a:stretch>
        </p:blipFill>
        <p:spPr>
          <a:xfrm>
            <a:off x="612000" y="7161349"/>
            <a:ext cx="6120000" cy="959925"/>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bordeaux.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bordeaux.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6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Bordeaux</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graves et argilo-calcaire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17</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8   </a:t>
            </a:r>
            <a:r>
              <a:rPr lang="en-US" sz="860" dirty="0">
                <a:solidFill>
                  <a:srgbClr val="FBF8F1"/>
                </a:solidFill>
                <a:latin typeface="IBM Plex Sans" pitchFamily="34" charset="0"/>
                <a:ea typeface="IBM Plex Sans" pitchFamily="34" charset="-122"/>
                <a:cs typeface="IBM Plex Sans" pitchFamily="34" charset="-120"/>
              </a:rPr>
              <a:t>Château Falfas</a:t>
            </a:r>
            <a:r>
              <a:rPr lang="en-US" sz="860" b="1" dirty="0">
                <a:solidFill>
                  <a:srgbClr val="FBF8F1"/>
                </a:solidFill>
                <a:latin typeface="IBM Plex Sans" pitchFamily="34" charset="0"/>
                <a:ea typeface="IBM Plex Sans" pitchFamily="34" charset="-122"/>
                <a:cs typeface="IBM Plex Sans" pitchFamily="34" charset="-120"/>
              </a:rPr>
              <a:t>   29</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16   </a:t>
            </a:r>
            <a:r>
              <a:rPr lang="en-US" sz="860" dirty="0">
                <a:solidFill>
                  <a:srgbClr val="FBF8F1"/>
                </a:solidFill>
                <a:latin typeface="IBM Plex Sans" pitchFamily="34" charset="0"/>
                <a:ea typeface="IBM Plex Sans" pitchFamily="34" charset="-122"/>
                <a:cs typeface="IBM Plex Sans" pitchFamily="34" charset="-120"/>
              </a:rPr>
              <a:t>Château Pré la Lande</a:t>
            </a:r>
            <a:r>
              <a:rPr lang="en-US" sz="860" b="1" dirty="0">
                <a:solidFill>
                  <a:srgbClr val="FBF8F1"/>
                </a:solidFill>
                <a:latin typeface="IBM Plex Sans" pitchFamily="34" charset="0"/>
                <a:ea typeface="IBM Plex Sans" pitchFamily="34" charset="-122"/>
                <a:cs typeface="IBM Plex Sans" pitchFamily="34" charset="-120"/>
              </a:rPr>
              <a:t>   30</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   </a:t>
            </a:r>
            <a:r>
              <a:rPr lang="en-US" sz="860" dirty="0">
                <a:solidFill>
                  <a:srgbClr val="FBF8F1"/>
                </a:solidFill>
                <a:latin typeface="IBM Plex Sans" pitchFamily="34" charset="0"/>
                <a:ea typeface="IBM Plex Sans" pitchFamily="34" charset="-122"/>
                <a:cs typeface="IBM Plex Sans" pitchFamily="34" charset="-120"/>
              </a:rPr>
              <a:t>Château Balac</a:t>
            </a:r>
            <a:r>
              <a:rPr lang="en-US" sz="860" b="1" dirty="0">
                <a:solidFill>
                  <a:srgbClr val="FBF8F1"/>
                </a:solidFill>
                <a:latin typeface="IBM Plex Sans" pitchFamily="34" charset="0"/>
                <a:ea typeface="IBM Plex Sans" pitchFamily="34" charset="-122"/>
                <a:cs typeface="IBM Plex Sans" pitchFamily="34" charset="-120"/>
              </a:rPr>
              <a:t>   31</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24   </a:t>
            </a:r>
            <a:r>
              <a:rPr lang="en-US" sz="860" dirty="0">
                <a:solidFill>
                  <a:srgbClr val="FBF8F1"/>
                </a:solidFill>
                <a:latin typeface="IBM Plex Sans" pitchFamily="34" charset="0"/>
                <a:ea typeface="IBM Plex Sans" pitchFamily="34" charset="-122"/>
                <a:cs typeface="IBM Plex Sans" pitchFamily="34" charset="-120"/>
              </a:rPr>
              <a:t>Château l’Escarderie</a:t>
            </a:r>
            <a:r>
              <a:rPr lang="en-US" sz="860" b="1" dirty="0">
                <a:solidFill>
                  <a:srgbClr val="FBF8F1"/>
                </a:solidFill>
                <a:latin typeface="IBM Plex Sans" pitchFamily="34" charset="0"/>
                <a:ea typeface="IBM Plex Sans" pitchFamily="34" charset="-122"/>
                <a:cs typeface="IBM Plex Sans" pitchFamily="34" charset="-120"/>
              </a:rPr>
              <a:t>   32</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28</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8</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Falfas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vins à la dégustation</a:t>
            </a:r>
            <a:endParaRPr lang="en-US" sz="720" dirty="0"/>
          </a:p>
        </p:txBody>
      </p:sp>
      <p:pic>
        <p:nvPicPr>
          <p:cNvPr id="16" name="Image 2" descr="logo du château — Château Falf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Falfas">    </p:cNvPr>
          <p:cNvPicPr>
            <a:picLocks noChangeAspect="1"/>
          </p:cNvPicPr>
          <p:nvPr/>
        </p:nvPicPr>
        <p:blipFill>
          <a:blip r:embed="rId4"/>
          <a:stretch>
            <a:fillRect/>
          </a:stretch>
        </p:blipFill>
        <p:spPr>
          <a:xfrm>
            <a:off x="6028623" y="1605996"/>
            <a:ext cx="542754" cy="2232000"/>
          </a:xfrm>
          <a:prstGeom prst="rect">
            <a:avLst/>
          </a:prstGeom>
        </p:spPr>
      </p:pic>
      <p:sp>
        <p:nvSpPr>
          <p:cNvPr id="18" name="Text 12"/>
          <p:cNvSpPr/>
          <p:nvPr/>
        </p:nvSpPr>
        <p:spPr>
          <a:xfrm>
            <a:off x="2177960" y="160149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711709"/>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Chevalier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6431566"/>
            <a:ext cx="0" cy="259440"/>
          </a:xfrm>
          <a:prstGeom prst="line">
            <a:avLst/>
          </a:prstGeom>
          <a:noFill/>
          <a:ln w="17780">
            <a:solidFill>
              <a:srgbClr val="67067C"/>
            </a:solidFill>
            <a:prstDash val="solid"/>
          </a:ln>
        </p:spPr>
      </p:sp>
      <p:sp>
        <p:nvSpPr>
          <p:cNvPr id="22" name="Text 15"/>
          <p:cNvSpPr/>
          <p:nvPr/>
        </p:nvSpPr>
        <p:spPr>
          <a:xfrm>
            <a:off x="720000" y="643156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683500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982607"/>
            <a:ext cx="6120000" cy="1138668"/>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16</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Pré la Lande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758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758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223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223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vendanges au domaine — Château Pré la Land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Pré la Lande">    </p:cNvPr>
          <p:cNvPicPr>
            <a:picLocks noChangeAspect="1"/>
          </p:cNvPicPr>
          <p:nvPr/>
        </p:nvPicPr>
        <p:blipFill>
          <a:blip r:embed="rId4"/>
          <a:stretch>
            <a:fillRect/>
          </a:stretch>
        </p:blipFill>
        <p:spPr>
          <a:xfrm>
            <a:off x="6238525" y="1605996"/>
            <a:ext cx="554951" cy="2232000"/>
          </a:xfrm>
          <a:prstGeom prst="rect">
            <a:avLst/>
          </a:prstGeom>
        </p:spPr>
      </p:pic>
      <p:sp>
        <p:nvSpPr>
          <p:cNvPr id="18" name="Text 12"/>
          <p:cNvSpPr/>
          <p:nvPr/>
        </p:nvSpPr>
        <p:spPr>
          <a:xfrm>
            <a:off x="2394017" y="1596653"/>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9" name="Text 13"/>
          <p:cNvSpPr/>
          <p:nvPr/>
        </p:nvSpPr>
        <p:spPr>
          <a:xfrm>
            <a:off x="2448000" y="1715043"/>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Balac</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42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42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6" name="Image 2" descr="portrait des vignerons — Château Balac">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âteau Balac">    </p:cNvPr>
          <p:cNvPicPr>
            <a:picLocks noChangeAspect="1"/>
          </p:cNvPicPr>
          <p:nvPr/>
        </p:nvPicPr>
        <p:blipFill>
          <a:blip r:embed="rId4"/>
          <a:stretch>
            <a:fillRect/>
          </a:stretch>
        </p:blipFill>
        <p:spPr>
          <a:xfrm>
            <a:off x="6030148" y="1605996"/>
            <a:ext cx="539705" cy="2232000"/>
          </a:xfrm>
          <a:prstGeom prst="rect">
            <a:avLst/>
          </a:prstGeom>
        </p:spPr>
      </p:pic>
      <p:sp>
        <p:nvSpPr>
          <p:cNvPr id="18" name="Text 12"/>
          <p:cNvSpPr/>
          <p:nvPr/>
        </p:nvSpPr>
        <p:spPr>
          <a:xfrm>
            <a:off x="2177976" y="1725483"/>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863852"/>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Haut-Médoc Cru Bourgeois Supérieur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Balac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L’inopine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5576251"/>
            <a:ext cx="0" cy="259440"/>
          </a:xfrm>
          <a:prstGeom prst="line">
            <a:avLst/>
          </a:prstGeom>
          <a:noFill/>
          <a:ln w="17780">
            <a:solidFill>
              <a:srgbClr val="67067C"/>
            </a:solidFill>
            <a:prstDash val="solid"/>
          </a:ln>
        </p:spPr>
      </p:sp>
      <p:sp>
        <p:nvSpPr>
          <p:cNvPr id="22" name="Text 15"/>
          <p:cNvSpPr/>
          <p:nvPr/>
        </p:nvSpPr>
        <p:spPr>
          <a:xfrm>
            <a:off x="720000" y="55762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5979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612000" y="6127291"/>
            <a:ext cx="6120000" cy="118775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24</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l’Escarderie</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les deux vignerons, deux portraits côte à côte — Château l’Escarderie">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l’Escarderie">    </p:cNvPr>
          <p:cNvPicPr>
            <a:picLocks noChangeAspect="1"/>
          </p:cNvPicPr>
          <p:nvPr/>
        </p:nvPicPr>
        <p:blipFill>
          <a:blip r:embed="rId4"/>
          <a:stretch>
            <a:fillRect/>
          </a:stretch>
        </p:blipFill>
        <p:spPr>
          <a:xfrm>
            <a:off x="6243098" y="1605996"/>
            <a:ext cx="545803" cy="2232000"/>
          </a:xfrm>
          <a:prstGeom prst="rect">
            <a:avLst/>
          </a:prstGeom>
        </p:spPr>
      </p:pic>
      <p:sp>
        <p:nvSpPr>
          <p:cNvPr id="18" name="Text 12"/>
          <p:cNvSpPr/>
          <p:nvPr/>
        </p:nvSpPr>
        <p:spPr>
          <a:xfrm>
            <a:off x="2394014" y="1588278"/>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9" name="Text 13"/>
          <p:cNvSpPr/>
          <p:nvPr/>
        </p:nvSpPr>
        <p:spPr>
          <a:xfrm>
            <a:off x="2448000" y="1720805"/>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Lafargue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191530"/>
            <a:ext cx="0" cy="259440"/>
          </a:xfrm>
          <a:prstGeom prst="line">
            <a:avLst/>
          </a:prstGeom>
          <a:noFill/>
          <a:ln w="17780">
            <a:solidFill>
              <a:srgbClr val="67067C"/>
            </a:solidFill>
            <a:prstDash val="solid"/>
          </a:ln>
        </p:spPr>
      </p:sp>
      <p:sp>
        <p:nvSpPr>
          <p:cNvPr id="22" name="Text 15"/>
          <p:cNvSpPr/>
          <p:nvPr/>
        </p:nvSpPr>
        <p:spPr>
          <a:xfrm>
            <a:off x="936000" y="51915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3" name="Text 16"/>
          <p:cNvSpPr/>
          <p:nvPr/>
        </p:nvSpPr>
        <p:spPr>
          <a:xfrm>
            <a:off x="828000" y="559497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4" name="Image 4" descr="/home/user/philippe1/build/deco-salon-prive-2026/sol-bordeaux.png">    </p:cNvPr>
          <p:cNvPicPr>
            <a:picLocks noChangeAspect="1"/>
          </p:cNvPicPr>
          <p:nvPr/>
        </p:nvPicPr>
        <p:blipFill>
          <a:blip r:embed="rId5"/>
          <a:stretch>
            <a:fillRect/>
          </a:stretch>
        </p:blipFill>
        <p:spPr>
          <a:xfrm>
            <a:off x="828000" y="5742571"/>
            <a:ext cx="6120000" cy="141858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provenc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provence.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7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Provence</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la Provence Verte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10</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19   </a:t>
            </a:r>
            <a:r>
              <a:rPr lang="en-US" sz="860" dirty="0">
                <a:solidFill>
                  <a:srgbClr val="FBF8F1"/>
                </a:solidFill>
                <a:latin typeface="IBM Plex Sans" pitchFamily="34" charset="0"/>
                <a:ea typeface="IBM Plex Sans" pitchFamily="34" charset="-122"/>
                <a:cs typeface="IBM Plex Sans" pitchFamily="34" charset="-120"/>
              </a:rPr>
              <a:t>Bastide de Blacailloux</a:t>
            </a:r>
            <a:r>
              <a:rPr lang="en-US" sz="860" b="1" dirty="0">
                <a:solidFill>
                  <a:srgbClr val="FBF8F1"/>
                </a:solidFill>
                <a:latin typeface="IBM Plex Sans" pitchFamily="34" charset="0"/>
                <a:ea typeface="IBM Plex Sans" pitchFamily="34" charset="-122"/>
                <a:cs typeface="IBM Plex Sans" pitchFamily="34" charset="-120"/>
              </a:rPr>
              <a:t>   34</a:t>
            </a:r>
            <a:endParaRPr lang="en-US" sz="860" dirty="0"/>
          </a:p>
        </p:txBody>
      </p:sp>
      <p:sp>
        <p:nvSpPr>
          <p:cNvPr id="13" name="Text 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33</a:t>
            </a:r>
            <a:endParaRPr lang="en-US" sz="750" dirty="0"/>
          </a:p>
        </p:txBody>
      </p:sp>
      <p:sp>
        <p:nvSpPr>
          <p:cNvPr id="14" name="Text 1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provenc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19</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Bastide de Blacailloux</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204240"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204240"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vins à la dégustation</a:t>
            </a:r>
            <a:endParaRPr lang="en-US" sz="720" dirty="0"/>
          </a:p>
        </p:txBody>
      </p:sp>
      <p:pic>
        <p:nvPicPr>
          <p:cNvPr id="16" name="Image 2" descr="borie en pierre sèche du domaine — Bastide de Blacailloux">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Bastide de Blacailloux">    </p:cNvPr>
          <p:cNvPicPr>
            <a:picLocks noChangeAspect="1"/>
          </p:cNvPicPr>
          <p:nvPr/>
        </p:nvPicPr>
        <p:blipFill>
          <a:blip r:embed="rId4"/>
          <a:stretch>
            <a:fillRect/>
          </a:stretch>
        </p:blipFill>
        <p:spPr>
          <a:xfrm>
            <a:off x="6267492" y="1605996"/>
            <a:ext cx="497016" cy="2232000"/>
          </a:xfrm>
          <a:prstGeom prst="rect">
            <a:avLst/>
          </a:prstGeom>
        </p:spPr>
      </p:pic>
      <p:sp>
        <p:nvSpPr>
          <p:cNvPr id="18" name="Text 12"/>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9" name="Text 13"/>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 Format BIB disponible.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 Probace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Miraia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Aquino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7436305"/>
            <a:ext cx="0" cy="259440"/>
          </a:xfrm>
          <a:prstGeom prst="line">
            <a:avLst/>
          </a:prstGeom>
          <a:noFill/>
          <a:ln w="17780">
            <a:solidFill>
              <a:srgbClr val="67067C"/>
            </a:solidFill>
            <a:prstDash val="solid"/>
          </a:ln>
        </p:spPr>
      </p:sp>
      <p:sp>
        <p:nvSpPr>
          <p:cNvPr id="22" name="Text 15"/>
          <p:cNvSpPr/>
          <p:nvPr/>
        </p:nvSpPr>
        <p:spPr>
          <a:xfrm>
            <a:off x="936000" y="743630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Shape 16"/>
          <p:cNvSpPr/>
          <p:nvPr/>
        </p:nvSpPr>
        <p:spPr>
          <a:xfrm>
            <a:off x="828000" y="8496000"/>
            <a:ext cx="6120000" cy="0"/>
          </a:xfrm>
          <a:prstGeom prst="line">
            <a:avLst/>
          </a:prstGeom>
          <a:noFill/>
          <a:ln w="8890">
            <a:solidFill>
              <a:srgbClr val="46606E"/>
            </a:solidFill>
            <a:prstDash val="solid"/>
          </a:ln>
        </p:spPr>
      </p:sp>
      <p:sp>
        <p:nvSpPr>
          <p:cNvPr id="24"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5"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languedoc.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languedoc.png">    </p:cNvPr>
          <p:cNvPicPr>
            <a:picLocks noChangeAspect="1"/>
          </p:cNvPicPr>
          <p:nvPr/>
        </p:nvPicPr>
        <p:blipFill>
          <a:blip r:embed="rId2"/>
          <a:stretch>
            <a:fillRect/>
          </a:stretch>
        </p:blipFill>
        <p:spPr>
          <a:xfrm>
            <a:off x="7236000" y="0"/>
            <a:ext cx="324000" cy="9360000"/>
          </a:xfrm>
          <a:prstGeom prst="rect">
            <a:avLst/>
          </a:prstGeom>
        </p:spPr>
      </p:pic>
      <p:sp>
        <p:nvSpPr>
          <p:cNvPr id="4"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5" name="Text 1"/>
          <p:cNvSpPr/>
          <p:nvPr/>
        </p:nvSpPr>
        <p:spPr>
          <a:xfrm>
            <a:off x="612000" y="540000"/>
            <a:ext cx="792000" cy="216000"/>
          </a:xfrm>
          <a:prstGeom prst="rect">
            <a:avLst/>
          </a:prstGeom>
          <a:noFill/>
          <a:ln/>
        </p:spPr>
        <p:txBody>
          <a:bodyPr wrap="square" lIns="0" tIns="0" rIns="0" bIns="0" rtlCol="0" anchor="ctr"/>
          <a:lstStyle/>
          <a:p>
            <a:pPr algn="ctr" indent="0" marL="0">
              <a:buNone/>
            </a:pPr>
            <a:r>
              <a:rPr lang="en-US" sz="800" b="1" dirty="0">
                <a:solidFill>
                  <a:srgbClr val="FBF8F1"/>
                </a:solidFill>
                <a:latin typeface="IBM Plex Sans" pitchFamily="34" charset="0"/>
                <a:ea typeface="IBM Plex Sans" pitchFamily="34" charset="-122"/>
                <a:cs typeface="IBM Plex Sans" pitchFamily="34" charset="-120"/>
              </a:rPr>
              <a:t>8 / 9</a:t>
            </a:r>
            <a:endParaRPr lang="en-US" sz="800" dirty="0"/>
          </a:p>
        </p:txBody>
      </p:sp>
      <p:sp>
        <p:nvSpPr>
          <p:cNvPr id="6" name="Text 2"/>
          <p:cNvSpPr/>
          <p:nvPr/>
        </p:nvSpPr>
        <p:spPr>
          <a:xfrm>
            <a:off x="612000" y="5112000"/>
            <a:ext cx="5040000" cy="792000"/>
          </a:xfrm>
          <a:prstGeom prst="rect">
            <a:avLst/>
          </a:prstGeom>
          <a:noFill/>
          <a:ln/>
        </p:spPr>
        <p:txBody>
          <a:bodyPr wrap="square" lIns="0" tIns="0" rIns="0" bIns="0" rtlCol="0" anchor="ctr"/>
          <a:lstStyle/>
          <a:p>
            <a:pPr indent="0" marL="0">
              <a:buNone/>
            </a:pPr>
            <a:r>
              <a:rPr lang="en-US" sz="4600" dirty="0">
                <a:solidFill>
                  <a:srgbClr val="FBF8F1"/>
                </a:solidFill>
                <a:latin typeface="Young Serif" pitchFamily="34" charset="0"/>
                <a:ea typeface="Young Serif" pitchFamily="34" charset="-122"/>
                <a:cs typeface="Young Serif" pitchFamily="34" charset="-120"/>
              </a:rPr>
              <a:t>Languedoc</a:t>
            </a:r>
            <a:endParaRPr lang="en-US" sz="4600" dirty="0"/>
          </a:p>
        </p:txBody>
      </p:sp>
      <p:sp>
        <p:nvSpPr>
          <p:cNvPr id="7" name="Text 3"/>
          <p:cNvSpPr/>
          <p:nvPr/>
        </p:nvSpPr>
        <p:spPr>
          <a:xfrm>
            <a:off x="612000" y="5976000"/>
            <a:ext cx="4320000" cy="252000"/>
          </a:xfrm>
          <a:prstGeom prst="rect">
            <a:avLst/>
          </a:prstGeom>
          <a:noFill/>
          <a:ln/>
        </p:spPr>
        <p:txBody>
          <a:bodyPr wrap="square" lIns="0" tIns="0" rIns="0" bIns="0" rtlCol="0" anchor="ctr"/>
          <a:lstStyle/>
          <a:p>
            <a:pPr indent="0" marL="0">
              <a:buNone/>
            </a:pPr>
            <a:r>
              <a:rPr lang="en-US" sz="1200" i="1" dirty="0">
                <a:solidFill>
                  <a:srgbClr val="FBF8F1"/>
                </a:solidFill>
                <a:latin typeface="Spectral" pitchFamily="34" charset="0"/>
                <a:ea typeface="Spectral" pitchFamily="34" charset="-122"/>
                <a:cs typeface="Spectral" pitchFamily="34" charset="-120"/>
              </a:rPr>
              <a:t>terrasses et garrigue</a:t>
            </a:r>
            <a:endParaRPr lang="en-US" sz="1200" dirty="0"/>
          </a:p>
        </p:txBody>
      </p:sp>
      <p:sp>
        <p:nvSpPr>
          <p:cNvPr id="8" name="Text 4"/>
          <p:cNvSpPr/>
          <p:nvPr/>
        </p:nvSpPr>
        <p:spPr>
          <a:xfrm>
            <a:off x="612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612000" y="6660000"/>
            <a:ext cx="864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620000" y="6336000"/>
            <a:ext cx="864000" cy="324000"/>
          </a:xfrm>
          <a:prstGeom prst="rect">
            <a:avLst/>
          </a:prstGeom>
          <a:noFill/>
          <a:ln/>
        </p:spPr>
        <p:txBody>
          <a:bodyPr wrap="square" lIns="0" tIns="0" rIns="0" bIns="0" rtlCol="0" anchor="ctr"/>
          <a:lstStyle/>
          <a:p>
            <a:pPr indent="0" marL="0">
              <a:buNone/>
            </a:pPr>
            <a:r>
              <a:rPr lang="en-US" sz="2000" dirty="0">
                <a:solidFill>
                  <a:srgbClr val="FBF8F1"/>
                </a:solidFill>
                <a:latin typeface="Young Serif" pitchFamily="34" charset="0"/>
                <a:ea typeface="Young Serif" pitchFamily="34" charset="-122"/>
                <a:cs typeface="Young Serif" pitchFamily="34" charset="-120"/>
              </a:rPr>
              <a:t>18</a:t>
            </a:r>
            <a:endParaRPr lang="en-US" sz="2000" dirty="0"/>
          </a:p>
        </p:txBody>
      </p:sp>
      <p:sp>
        <p:nvSpPr>
          <p:cNvPr id="11" name="Text 7"/>
          <p:cNvSpPr/>
          <p:nvPr/>
        </p:nvSpPr>
        <p:spPr>
          <a:xfrm>
            <a:off x="1620000" y="6660000"/>
            <a:ext cx="1620000" cy="180000"/>
          </a:xfrm>
          <a:prstGeom prst="rect">
            <a:avLst/>
          </a:prstGeom>
          <a:noFill/>
          <a:ln/>
        </p:spPr>
        <p:txBody>
          <a:bodyPr wrap="square" lIns="0" tIns="0" rIns="0" bIns="0" rtlCol="0" anchor="ctr"/>
          <a:lstStyle/>
          <a:p>
            <a:pPr indent="0" marL="0">
              <a:buNone/>
            </a:pPr>
            <a:r>
              <a:rPr lang="en-US" sz="850" dirty="0">
                <a:solidFill>
                  <a:srgbClr val="FBF8F1"/>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61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a:t>
            </a:r>
            <a:r>
              <a:rPr lang="en-US" sz="860" b="1" dirty="0">
                <a:solidFill>
                  <a:srgbClr val="FBF8F1"/>
                </a:solidFill>
                <a:latin typeface="IBM Plex Sans" pitchFamily="34" charset="0"/>
                <a:ea typeface="IBM Plex Sans" pitchFamily="34" charset="-122"/>
                <a:cs typeface="IBM Plex Sans" pitchFamily="34" charset="-120"/>
              </a:rPr>
              <a:t>   36</a:t>
            </a:r>
            <a:endParaRPr lang="en-US" sz="860" dirty="0"/>
          </a:p>
        </p:txBody>
      </p:sp>
      <p:sp>
        <p:nvSpPr>
          <p:cNvPr id="13" name="Text 9"/>
          <p:cNvSpPr/>
          <p:nvPr/>
        </p:nvSpPr>
        <p:spPr>
          <a:xfrm>
            <a:off x="3672000" y="7128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21   </a:t>
            </a:r>
            <a:r>
              <a:rPr lang="en-US" sz="860" dirty="0">
                <a:solidFill>
                  <a:srgbClr val="FBF8F1"/>
                </a:solidFill>
                <a:latin typeface="IBM Plex Sans" pitchFamily="34" charset="0"/>
                <a:ea typeface="IBM Plex Sans" pitchFamily="34" charset="-122"/>
                <a:cs typeface="IBM Plex Sans" pitchFamily="34" charset="-120"/>
              </a:rPr>
              <a:t>Famille d’Exea — Jus de Cépages</a:t>
            </a:r>
            <a:r>
              <a:rPr lang="en-US" sz="860" b="1" dirty="0">
                <a:solidFill>
                  <a:srgbClr val="FBF8F1"/>
                </a:solidFill>
                <a:latin typeface="IBM Plex Sans" pitchFamily="34" charset="0"/>
                <a:ea typeface="IBM Plex Sans" pitchFamily="34" charset="-122"/>
                <a:cs typeface="IBM Plex Sans" pitchFamily="34" charset="-120"/>
              </a:rPr>
              <a:t>   37</a:t>
            </a:r>
            <a:endParaRPr lang="en-US" sz="860" dirty="0"/>
          </a:p>
        </p:txBody>
      </p:sp>
      <p:sp>
        <p:nvSpPr>
          <p:cNvPr id="14" name="Text 10"/>
          <p:cNvSpPr/>
          <p:nvPr/>
        </p:nvSpPr>
        <p:spPr>
          <a:xfrm>
            <a:off x="61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13   </a:t>
            </a:r>
            <a:r>
              <a:rPr lang="en-US" sz="860" dirty="0">
                <a:solidFill>
                  <a:srgbClr val="FBF8F1"/>
                </a:solidFill>
                <a:latin typeface="IBM Plex Sans" pitchFamily="34" charset="0"/>
                <a:ea typeface="IBM Plex Sans" pitchFamily="34" charset="-122"/>
                <a:cs typeface="IBM Plex Sans" pitchFamily="34" charset="-120"/>
              </a:rPr>
              <a:t>Château de Gragnos</a:t>
            </a:r>
            <a:r>
              <a:rPr lang="en-US" sz="860" b="1" dirty="0">
                <a:solidFill>
                  <a:srgbClr val="FBF8F1"/>
                </a:solidFill>
                <a:latin typeface="IBM Plex Sans" pitchFamily="34" charset="0"/>
                <a:ea typeface="IBM Plex Sans" pitchFamily="34" charset="-122"/>
                <a:cs typeface="IBM Plex Sans" pitchFamily="34" charset="-120"/>
              </a:rPr>
              <a:t>   38</a:t>
            </a:r>
            <a:endParaRPr lang="en-US" sz="860" dirty="0"/>
          </a:p>
        </p:txBody>
      </p:sp>
      <p:sp>
        <p:nvSpPr>
          <p:cNvPr id="15" name="Text 11"/>
          <p:cNvSpPr/>
          <p:nvPr/>
        </p:nvSpPr>
        <p:spPr>
          <a:xfrm>
            <a:off x="3672000" y="7380000"/>
            <a:ext cx="2916000" cy="216000"/>
          </a:xfrm>
          <a:prstGeom prst="rect">
            <a:avLst/>
          </a:prstGeom>
          <a:noFill/>
          <a:ln/>
        </p:spPr>
        <p:txBody>
          <a:bodyPr wrap="square" lIns="0" tIns="0" rIns="0" bIns="0" rtlCol="0" anchor="ctr"/>
          <a:lstStyle/>
          <a:p>
            <a:pPr indent="0" marL="0">
              <a:buNone/>
            </a:pPr>
            <a:r>
              <a:rPr lang="en-US" sz="1100" dirty="0">
                <a:solidFill>
                  <a:srgbClr val="FBF8F1"/>
                </a:solidFill>
                <a:latin typeface="Young Serif" pitchFamily="34" charset="0"/>
                <a:ea typeface="Young Serif" pitchFamily="34" charset="-122"/>
                <a:cs typeface="Young Serif" pitchFamily="34" charset="-120"/>
              </a:rPr>
              <a:t>3   </a:t>
            </a:r>
            <a:r>
              <a:rPr lang="en-US" sz="860" dirty="0">
                <a:solidFill>
                  <a:srgbClr val="FBF8F1"/>
                </a:solidFill>
                <a:latin typeface="IBM Plex Sans" pitchFamily="34" charset="0"/>
                <a:ea typeface="IBM Plex Sans" pitchFamily="34" charset="-122"/>
                <a:cs typeface="IBM Plex Sans" pitchFamily="34" charset="-120"/>
              </a:rPr>
              <a:t>Prieuré Sainte-Marie d’Albas</a:t>
            </a:r>
            <a:r>
              <a:rPr lang="en-US" sz="860" b="1" dirty="0">
                <a:solidFill>
                  <a:srgbClr val="FBF8F1"/>
                </a:solidFill>
                <a:latin typeface="IBM Plex Sans" pitchFamily="34" charset="0"/>
                <a:ea typeface="IBM Plex Sans" pitchFamily="34" charset="-122"/>
                <a:cs typeface="IBM Plex Sans" pitchFamily="34" charset="-120"/>
              </a:rPr>
              <a:t>   39</a:t>
            </a:r>
            <a:endParaRPr lang="en-US" sz="860" dirty="0"/>
          </a:p>
        </p:txBody>
      </p:sp>
      <p:sp>
        <p:nvSpPr>
          <p:cNvPr id="16" name="Text 1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FBF8F1">
                    <a:alpha val="72000"/>
                  </a:srgbClr>
                </a:solidFill>
                <a:latin typeface="IBM Plex Sans" pitchFamily="34" charset="0"/>
                <a:ea typeface="IBM Plex Sans" pitchFamily="34" charset="-122"/>
                <a:cs typeface="IBM Plex Sans" pitchFamily="34" charset="-120"/>
              </a:rPr>
              <a:t>35</a:t>
            </a:r>
            <a:endParaRPr lang="en-US" sz="750" dirty="0"/>
          </a:p>
        </p:txBody>
      </p:sp>
      <p:sp>
        <p:nvSpPr>
          <p:cNvPr id="17" name="Text 1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FBF8F1">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Famille d’Exea</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825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25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ogo de la maison — Famille d’Exea">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Famille d’Exea">    </p:cNvPr>
          <p:cNvPicPr>
            <a:picLocks noChangeAspect="1"/>
          </p:cNvPicPr>
          <p:nvPr/>
        </p:nvPicPr>
        <p:blipFill>
          <a:blip r:embed="rId4"/>
          <a:stretch>
            <a:fillRect/>
          </a:stretch>
        </p:blipFill>
        <p:spPr>
          <a:xfrm>
            <a:off x="6223279" y="1605996"/>
            <a:ext cx="585443" cy="2232000"/>
          </a:xfrm>
          <a:prstGeom prst="rect">
            <a:avLst/>
          </a:prstGeom>
        </p:spPr>
      </p:pic>
      <p:sp>
        <p:nvSpPr>
          <p:cNvPr id="18" name="Text 12"/>
          <p:cNvSpPr/>
          <p:nvPr/>
        </p:nvSpPr>
        <p:spPr>
          <a:xfrm>
            <a:off x="2393965" y="1726313"/>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9" name="Text 13"/>
          <p:cNvSpPr/>
          <p:nvPr/>
        </p:nvSpPr>
        <p:spPr>
          <a:xfrm>
            <a:off x="2448000" y="1863280"/>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 Panachage possible avec la gamme de purs jus de cépages. Format BIB disponible.</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86260"/>
            <a:ext cx="0" cy="259440"/>
          </a:xfrm>
          <a:prstGeom prst="line">
            <a:avLst/>
          </a:prstGeom>
          <a:noFill/>
          <a:ln w="17780">
            <a:solidFill>
              <a:srgbClr val="67067C"/>
            </a:solidFill>
            <a:prstDash val="solid"/>
          </a:ln>
        </p:spPr>
      </p:sp>
      <p:sp>
        <p:nvSpPr>
          <p:cNvPr id="22" name="Text 15"/>
          <p:cNvSpPr/>
          <p:nvPr/>
        </p:nvSpPr>
        <p:spPr>
          <a:xfrm>
            <a:off x="936000" y="588626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828000" y="628970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437300"/>
            <a:ext cx="6120000" cy="1148400"/>
          </a:xfrm>
          <a:prstGeom prst="rect">
            <a:avLst/>
          </a:prstGeom>
        </p:spPr>
      </p:pic>
      <p:sp>
        <p:nvSpPr>
          <p:cNvPr id="25" name="Text 17"/>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 Jus de Cépages, stand 21 p. 37</a:t>
            </a:r>
            <a:endParaRPr lang="en-US" sz="740" dirty="0"/>
          </a:p>
        </p:txBody>
      </p:sp>
      <p:sp>
        <p:nvSpPr>
          <p:cNvPr id="26" name="Shape 18"/>
          <p:cNvSpPr/>
          <p:nvPr/>
        </p:nvSpPr>
        <p:spPr>
          <a:xfrm>
            <a:off x="828000" y="8496000"/>
            <a:ext cx="6120000" cy="0"/>
          </a:xfrm>
          <a:prstGeom prst="line">
            <a:avLst/>
          </a:prstGeom>
          <a:noFill/>
          <a:ln w="8890">
            <a:solidFill>
              <a:srgbClr val="46606E"/>
            </a:solidFill>
            <a:prstDash val="solid"/>
          </a:ln>
        </p:spPr>
      </p:sp>
      <p:sp>
        <p:nvSpPr>
          <p:cNvPr id="27" name="Text 19"/>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9" name="Text 21"/>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30" name="Text 22"/>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1950" dirty="0">
                <a:solidFill>
                  <a:srgbClr val="46606E"/>
                </a:solidFill>
                <a:latin typeface="Young Serif" pitchFamily="34" charset="0"/>
                <a:ea typeface="Young Serif" pitchFamily="34" charset="-122"/>
                <a:cs typeface="Young Serif" pitchFamily="34" charset="-120"/>
              </a:rPr>
              <a:t>Famille d’Exea — Jus de Cépages</a:t>
            </a:r>
            <a:endParaRPr lang="en-US" sz="195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177651" y="1317996"/>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177651" y="1317996"/>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2609041"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09041"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vins à la dégustation</a:t>
            </a:r>
            <a:endParaRPr lang="en-US" sz="720" dirty="0"/>
          </a:p>
        </p:txBody>
      </p:sp>
      <p:pic>
        <p:nvPicPr>
          <p:cNvPr id="16" name="Image 2" descr="brebis dans les vignes — Famille d’Exea — Jus de Cépage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Famille d’Exea — Jus de Cépages">    </p:cNvPr>
          <p:cNvPicPr>
            <a:picLocks noChangeAspect="1"/>
          </p:cNvPicPr>
          <p:nvPr/>
        </p:nvPicPr>
        <p:blipFill>
          <a:blip r:embed="rId4"/>
          <a:stretch>
            <a:fillRect/>
          </a:stretch>
        </p:blipFill>
        <p:spPr>
          <a:xfrm>
            <a:off x="5897508" y="1605996"/>
            <a:ext cx="804984" cy="2232000"/>
          </a:xfrm>
          <a:prstGeom prst="rect">
            <a:avLst/>
          </a:prstGeom>
        </p:spPr>
      </p:pic>
      <p:sp>
        <p:nvSpPr>
          <p:cNvPr id="18" name="Text 12"/>
          <p:cNvSpPr/>
          <p:nvPr/>
        </p:nvSpPr>
        <p:spPr>
          <a:xfrm>
            <a:off x="2178013" y="1529640"/>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9" name="Text 13"/>
          <p:cNvSpPr/>
          <p:nvPr/>
        </p:nvSpPr>
        <p:spPr>
          <a:xfrm>
            <a:off x="2232000" y="1640157"/>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627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11038">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Jus de cépages –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4969330"/>
            <a:ext cx="0" cy="259440"/>
          </a:xfrm>
          <a:prstGeom prst="line">
            <a:avLst/>
          </a:prstGeom>
          <a:noFill/>
          <a:ln w="17780">
            <a:solidFill>
              <a:srgbClr val="67067C"/>
            </a:solidFill>
            <a:prstDash val="solid"/>
          </a:ln>
        </p:spPr>
      </p:sp>
      <p:sp>
        <p:nvSpPr>
          <p:cNvPr id="22" name="Text 15"/>
          <p:cNvSpPr/>
          <p:nvPr/>
        </p:nvSpPr>
        <p:spPr>
          <a:xfrm>
            <a:off x="720000" y="496933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3" name="Text 16"/>
          <p:cNvSpPr/>
          <p:nvPr/>
        </p:nvSpPr>
        <p:spPr>
          <a:xfrm>
            <a:off x="612000" y="537277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5520370"/>
            <a:ext cx="6120000" cy="1343841"/>
          </a:xfrm>
          <a:prstGeom prst="rect">
            <a:avLst/>
          </a:prstGeom>
        </p:spPr>
      </p:pic>
      <p:sp>
        <p:nvSpPr>
          <p:cNvPr id="25" name="Text 17"/>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Famille d’Exea, stand 21 p. 36</a:t>
            </a:r>
            <a:endParaRPr lang="en-US" sz="740" dirty="0"/>
          </a:p>
        </p:txBody>
      </p:sp>
      <p:sp>
        <p:nvSpPr>
          <p:cNvPr id="26" name="Shape 18"/>
          <p:cNvSpPr/>
          <p:nvPr/>
        </p:nvSpPr>
        <p:spPr>
          <a:xfrm>
            <a:off x="612000" y="8496000"/>
            <a:ext cx="6120000" cy="0"/>
          </a:xfrm>
          <a:prstGeom prst="line">
            <a:avLst/>
          </a:prstGeom>
          <a:noFill/>
          <a:ln w="8890">
            <a:solidFill>
              <a:srgbClr val="46606E"/>
            </a:solidFill>
            <a:prstDash val="solid"/>
          </a:ln>
        </p:spPr>
      </p:sp>
      <p:sp>
        <p:nvSpPr>
          <p:cNvPr id="27"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8"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9"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30"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Château de Gragnos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486451"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2" name="Shape 8"/>
          <p:cNvSpPr/>
          <p:nvPr/>
        </p:nvSpPr>
        <p:spPr>
          <a:xfrm>
            <a:off x="1393651"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393651"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858325"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858325"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grappes à la vigne — Château de Gragno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Château de Gragnos">    </p:cNvPr>
          <p:cNvPicPr>
            <a:picLocks noChangeAspect="1"/>
          </p:cNvPicPr>
          <p:nvPr/>
        </p:nvPicPr>
        <p:blipFill>
          <a:blip r:embed="rId4"/>
          <a:stretch>
            <a:fillRect/>
          </a:stretch>
        </p:blipFill>
        <p:spPr>
          <a:xfrm>
            <a:off x="6224803" y="1605996"/>
            <a:ext cx="582393" cy="2232000"/>
          </a:xfrm>
          <a:prstGeom prst="rect">
            <a:avLst/>
          </a:prstGeom>
        </p:spPr>
      </p:pic>
      <p:sp>
        <p:nvSpPr>
          <p:cNvPr id="18" name="Text 12"/>
          <p:cNvSpPr/>
          <p:nvPr/>
        </p:nvSpPr>
        <p:spPr>
          <a:xfrm>
            <a:off x="2393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448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Saint-Chinian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Juliette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d’Hérault Monts de la Grage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828000" y="5811548"/>
            <a:ext cx="0" cy="259440"/>
          </a:xfrm>
          <a:prstGeom prst="line">
            <a:avLst/>
          </a:prstGeom>
          <a:noFill/>
          <a:ln w="17780">
            <a:solidFill>
              <a:srgbClr val="67067C"/>
            </a:solidFill>
            <a:prstDash val="solid"/>
          </a:ln>
        </p:spPr>
      </p:sp>
      <p:sp>
        <p:nvSpPr>
          <p:cNvPr id="22" name="Text 15"/>
          <p:cNvSpPr/>
          <p:nvPr/>
        </p:nvSpPr>
        <p:spPr>
          <a:xfrm>
            <a:off x="936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3" name="Text 16"/>
          <p:cNvSpPr/>
          <p:nvPr/>
        </p:nvSpPr>
        <p:spPr>
          <a:xfrm>
            <a:off x="828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828000" y="636258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Prieuré Sainte-Marie d’Albas</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528148"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hve.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2" name="Shape 8"/>
          <p:cNvSpPr/>
          <p:nvPr/>
        </p:nvSpPr>
        <p:spPr>
          <a:xfrm>
            <a:off x="1219348"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219348"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2684022"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2684022"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6" name="Image 2" descr="les deux vignerons et leur rosé, noir et blanc — Prieuré Sainte-Marie d’Albas">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Prieuré Sainte-Marie d’Albas">    </p:cNvPr>
          <p:cNvPicPr>
            <a:picLocks noChangeAspect="1"/>
          </p:cNvPicPr>
          <p:nvPr/>
        </p:nvPicPr>
        <p:blipFill>
          <a:blip r:embed="rId4"/>
          <a:stretch>
            <a:fillRect/>
          </a:stretch>
        </p:blipFill>
        <p:spPr>
          <a:xfrm>
            <a:off x="6056066" y="1605996"/>
            <a:ext cx="487869"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5811548"/>
            <a:ext cx="0" cy="259440"/>
          </a:xfrm>
          <a:prstGeom prst="line">
            <a:avLst/>
          </a:prstGeom>
          <a:noFill/>
          <a:ln w="17780">
            <a:solidFill>
              <a:srgbClr val="67067C"/>
            </a:solidFill>
            <a:prstDash val="solid"/>
          </a:ln>
        </p:spPr>
      </p:sp>
      <p:sp>
        <p:nvSpPr>
          <p:cNvPr id="22" name="Text 15"/>
          <p:cNvSpPr/>
          <p:nvPr/>
        </p:nvSpPr>
        <p:spPr>
          <a:xfrm>
            <a:off x="720000" y="581154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3" name="Text 16"/>
          <p:cNvSpPr/>
          <p:nvPr/>
        </p:nvSpPr>
        <p:spPr>
          <a:xfrm>
            <a:off x="612000" y="621498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4" name="Image 4" descr="/home/user/philippe1/build/deco-salon-prive-2026/sol-languedoc.png">    </p:cNvPr>
          <p:cNvPicPr>
            <a:picLocks noChangeAspect="1"/>
          </p:cNvPicPr>
          <p:nvPr/>
        </p:nvPicPr>
        <p:blipFill>
          <a:blip r:embed="rId5"/>
          <a:stretch>
            <a:fillRect/>
          </a:stretch>
        </p:blipFill>
        <p:spPr>
          <a:xfrm>
            <a:off x="612000" y="6362589"/>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46606E"/>
        </a:solidFill>
      </p:bgPr>
    </p:bg>
    <p:spTree>
      <p:nvGrpSpPr>
        <p:cNvPr id="1" name=""/>
        <p:cNvGrpSpPr/>
        <p:nvPr/>
      </p:nvGrpSpPr>
      <p:grpSpPr>
        <a:xfrm>
          <a:off x="0" y="0"/>
          <a:ext cx="0" cy="0"/>
          <a:chOff x="0" y="0"/>
          <a:chExt cx="0" cy="0"/>
        </a:xfrm>
      </p:grpSpPr>
      <p:pic>
        <p:nvPicPr>
          <p:cNvPr id="2" name="Image 0" descr="/home/user/philippe1/build/deco-salon-prive-2026/ouverture-champagne.png">    </p:cNvPr>
          <p:cNvPicPr>
            <a:picLocks noChangeAspect="1"/>
          </p:cNvPicPr>
          <p:nvPr/>
        </p:nvPicPr>
        <p:blipFill>
          <a:blip r:embed="rId1"/>
          <a:stretch>
            <a:fillRect/>
          </a:stretch>
        </p:blipFill>
        <p:spPr>
          <a:xfrm>
            <a:off x="0" y="0"/>
            <a:ext cx="7560000" cy="9360000"/>
          </a:xfrm>
          <a:prstGeom prst="rect">
            <a:avLst/>
          </a:prstGeom>
        </p:spPr>
      </p:pic>
      <p:pic>
        <p:nvPicPr>
          <p:cNvPr id="3" name="Image 1" descr="/home/user/philippe1/build/deco-salon-prive-2026/carotte-champagne.png">    </p:cNvPr>
          <p:cNvPicPr>
            <a:picLocks noChangeAspect="1"/>
          </p:cNvPicPr>
          <p:nvPr/>
        </p:nvPicPr>
        <p:blipFill>
          <a:blip r:embed="rId2"/>
          <a:stretch>
            <a:fillRect/>
          </a:stretch>
        </p:blipFill>
        <p:spPr>
          <a:xfrm>
            <a:off x="0" y="0"/>
            <a:ext cx="324000" cy="9360000"/>
          </a:xfrm>
          <a:prstGeom prst="rect">
            <a:avLst/>
          </a:prstGeom>
        </p:spPr>
      </p:pic>
      <p:sp>
        <p:nvSpPr>
          <p:cNvPr id="4"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5" name="Text 1"/>
          <p:cNvSpPr/>
          <p:nvPr/>
        </p:nvSpPr>
        <p:spPr>
          <a:xfrm>
            <a:off x="828000" y="540000"/>
            <a:ext cx="792000" cy="216000"/>
          </a:xfrm>
          <a:prstGeom prst="rect">
            <a:avLst/>
          </a:prstGeom>
          <a:noFill/>
          <a:ln/>
        </p:spPr>
        <p:txBody>
          <a:bodyPr wrap="square" lIns="0" tIns="0" rIns="0" bIns="0" rtlCol="0" anchor="ctr"/>
          <a:lstStyle/>
          <a:p>
            <a:pPr algn="ctr" indent="0" marL="0">
              <a:buNone/>
            </a:pPr>
            <a:r>
              <a:rPr lang="en-US" sz="800" b="1" dirty="0">
                <a:solidFill>
                  <a:srgbClr val="46606E"/>
                </a:solidFill>
                <a:latin typeface="IBM Plex Sans" pitchFamily="34" charset="0"/>
                <a:ea typeface="IBM Plex Sans" pitchFamily="34" charset="-122"/>
                <a:cs typeface="IBM Plex Sans" pitchFamily="34" charset="-120"/>
              </a:rPr>
              <a:t>9 / 9</a:t>
            </a:r>
            <a:endParaRPr lang="en-US" sz="800" dirty="0"/>
          </a:p>
        </p:txBody>
      </p:sp>
      <p:sp>
        <p:nvSpPr>
          <p:cNvPr id="6" name="Text 2"/>
          <p:cNvSpPr/>
          <p:nvPr/>
        </p:nvSpPr>
        <p:spPr>
          <a:xfrm>
            <a:off x="828000" y="5112000"/>
            <a:ext cx="5040000" cy="792000"/>
          </a:xfrm>
          <a:prstGeom prst="rect">
            <a:avLst/>
          </a:prstGeom>
          <a:noFill/>
          <a:ln/>
        </p:spPr>
        <p:txBody>
          <a:bodyPr wrap="square" lIns="0" tIns="0" rIns="0" bIns="0" rtlCol="0" anchor="ctr"/>
          <a:lstStyle/>
          <a:p>
            <a:pPr indent="0" marL="0">
              <a:buNone/>
            </a:pPr>
            <a:r>
              <a:rPr lang="en-US" sz="4600" dirty="0">
                <a:solidFill>
                  <a:srgbClr val="46606E"/>
                </a:solidFill>
                <a:latin typeface="Young Serif" pitchFamily="34" charset="0"/>
                <a:ea typeface="Young Serif" pitchFamily="34" charset="-122"/>
                <a:cs typeface="Young Serif" pitchFamily="34" charset="-120"/>
              </a:rPr>
              <a:t>Champagne</a:t>
            </a:r>
            <a:endParaRPr lang="en-US" sz="4600" dirty="0"/>
          </a:p>
        </p:txBody>
      </p:sp>
      <p:sp>
        <p:nvSpPr>
          <p:cNvPr id="7" name="Text 3"/>
          <p:cNvSpPr/>
          <p:nvPr/>
        </p:nvSpPr>
        <p:spPr>
          <a:xfrm>
            <a:off x="828000" y="5976000"/>
            <a:ext cx="4320000" cy="252000"/>
          </a:xfrm>
          <a:prstGeom prst="rect">
            <a:avLst/>
          </a:prstGeom>
          <a:noFill/>
          <a:ln/>
        </p:spPr>
        <p:txBody>
          <a:bodyPr wrap="square" lIns="0" tIns="0" rIns="0" bIns="0" rtlCol="0" anchor="ctr"/>
          <a:lstStyle/>
          <a:p>
            <a:pPr indent="0" marL="0">
              <a:buNone/>
            </a:pPr>
            <a:r>
              <a:rPr lang="en-US" sz="1200" i="1" dirty="0">
                <a:solidFill>
                  <a:srgbClr val="46606E"/>
                </a:solidFill>
                <a:latin typeface="Spectral" pitchFamily="34" charset="0"/>
                <a:ea typeface="Spectral" pitchFamily="34" charset="-122"/>
                <a:cs typeface="Spectral" pitchFamily="34" charset="-120"/>
              </a:rPr>
              <a:t>la craie</a:t>
            </a:r>
            <a:endParaRPr lang="en-US" sz="1200" dirty="0"/>
          </a:p>
        </p:txBody>
      </p:sp>
      <p:sp>
        <p:nvSpPr>
          <p:cNvPr id="8" name="Text 4"/>
          <p:cNvSpPr/>
          <p:nvPr/>
        </p:nvSpPr>
        <p:spPr>
          <a:xfrm>
            <a:off x="828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4</a:t>
            </a:r>
            <a:endParaRPr lang="en-US" sz="2000" dirty="0"/>
          </a:p>
        </p:txBody>
      </p:sp>
      <p:sp>
        <p:nvSpPr>
          <p:cNvPr id="9" name="Text 5"/>
          <p:cNvSpPr/>
          <p:nvPr/>
        </p:nvSpPr>
        <p:spPr>
          <a:xfrm>
            <a:off x="828000" y="6660000"/>
            <a:ext cx="864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domaines</a:t>
            </a:r>
            <a:endParaRPr lang="en-US" sz="850" dirty="0"/>
          </a:p>
        </p:txBody>
      </p:sp>
      <p:sp>
        <p:nvSpPr>
          <p:cNvPr id="10" name="Text 6"/>
          <p:cNvSpPr/>
          <p:nvPr/>
        </p:nvSpPr>
        <p:spPr>
          <a:xfrm>
            <a:off x="1836000" y="6336000"/>
            <a:ext cx="864000" cy="324000"/>
          </a:xfrm>
          <a:prstGeom prst="rect">
            <a:avLst/>
          </a:prstGeom>
          <a:noFill/>
          <a:ln/>
        </p:spPr>
        <p:txBody>
          <a:bodyPr wrap="square" lIns="0" tIns="0" rIns="0" bIns="0" rtlCol="0" anchor="ctr"/>
          <a:lstStyle/>
          <a:p>
            <a:pPr indent="0" marL="0">
              <a:buNone/>
            </a:pPr>
            <a:r>
              <a:rPr lang="en-US" sz="2000" dirty="0">
                <a:solidFill>
                  <a:srgbClr val="46606E"/>
                </a:solidFill>
                <a:latin typeface="Young Serif" pitchFamily="34" charset="0"/>
                <a:ea typeface="Young Serif" pitchFamily="34" charset="-122"/>
                <a:cs typeface="Young Serif" pitchFamily="34" charset="-120"/>
              </a:rPr>
              <a:t>21</a:t>
            </a:r>
            <a:endParaRPr lang="en-US" sz="2000" dirty="0"/>
          </a:p>
        </p:txBody>
      </p:sp>
      <p:sp>
        <p:nvSpPr>
          <p:cNvPr id="11" name="Text 7"/>
          <p:cNvSpPr/>
          <p:nvPr/>
        </p:nvSpPr>
        <p:spPr>
          <a:xfrm>
            <a:off x="1836000" y="6660000"/>
            <a:ext cx="1620000" cy="180000"/>
          </a:xfrm>
          <a:prstGeom prst="rect">
            <a:avLst/>
          </a:prstGeom>
          <a:noFill/>
          <a:ln/>
        </p:spPr>
        <p:txBody>
          <a:bodyPr wrap="square" lIns="0" tIns="0" rIns="0" bIns="0" rtlCol="0" anchor="ctr"/>
          <a:lstStyle/>
          <a:p>
            <a:pPr indent="0" marL="0">
              <a:buNone/>
            </a:pPr>
            <a:r>
              <a:rPr lang="en-US" sz="850" dirty="0">
                <a:solidFill>
                  <a:srgbClr val="46606E"/>
                </a:solidFill>
                <a:latin typeface="IBM Plex Sans" pitchFamily="34" charset="0"/>
                <a:ea typeface="IBM Plex Sans" pitchFamily="34" charset="-122"/>
                <a:cs typeface="IBM Plex Sans" pitchFamily="34" charset="-120"/>
              </a:rPr>
              <a:t>vins à la dégustation</a:t>
            </a:r>
            <a:endParaRPr lang="en-US" sz="850" dirty="0"/>
          </a:p>
        </p:txBody>
      </p:sp>
      <p:sp>
        <p:nvSpPr>
          <p:cNvPr id="12" name="Text 8"/>
          <p:cNvSpPr/>
          <p:nvPr/>
        </p:nvSpPr>
        <p:spPr>
          <a:xfrm>
            <a:off x="82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11   </a:t>
            </a:r>
            <a:r>
              <a:rPr lang="en-US" sz="860" dirty="0">
                <a:solidFill>
                  <a:srgbClr val="46606E"/>
                </a:solidFill>
                <a:latin typeface="IBM Plex Sans" pitchFamily="34" charset="0"/>
                <a:ea typeface="IBM Plex Sans" pitchFamily="34" charset="-122"/>
                <a:cs typeface="IBM Plex Sans" pitchFamily="34" charset="-120"/>
              </a:rPr>
              <a:t>Champagne Dekeyne</a:t>
            </a:r>
            <a:r>
              <a:rPr lang="en-US" sz="860" b="1" dirty="0">
                <a:solidFill>
                  <a:srgbClr val="46606E"/>
                </a:solidFill>
                <a:latin typeface="IBM Plex Sans" pitchFamily="34" charset="0"/>
                <a:ea typeface="IBM Plex Sans" pitchFamily="34" charset="-122"/>
                <a:cs typeface="IBM Plex Sans" pitchFamily="34" charset="-120"/>
              </a:rPr>
              <a:t>   41</a:t>
            </a:r>
            <a:endParaRPr lang="en-US" sz="860" dirty="0"/>
          </a:p>
        </p:txBody>
      </p:sp>
      <p:sp>
        <p:nvSpPr>
          <p:cNvPr id="13" name="Text 9"/>
          <p:cNvSpPr/>
          <p:nvPr/>
        </p:nvSpPr>
        <p:spPr>
          <a:xfrm>
            <a:off x="3888000" y="7128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   </a:t>
            </a:r>
            <a:r>
              <a:rPr lang="en-US" sz="860" dirty="0">
                <a:solidFill>
                  <a:srgbClr val="46606E"/>
                </a:solidFill>
                <a:latin typeface="IBM Plex Sans" pitchFamily="34" charset="0"/>
                <a:ea typeface="IBM Plex Sans" pitchFamily="34" charset="-122"/>
                <a:cs typeface="IBM Plex Sans" pitchFamily="34" charset="-120"/>
              </a:rPr>
              <a:t>Champagne Denis Frézier</a:t>
            </a:r>
            <a:r>
              <a:rPr lang="en-US" sz="860" b="1" dirty="0">
                <a:solidFill>
                  <a:srgbClr val="46606E"/>
                </a:solidFill>
                <a:latin typeface="IBM Plex Sans" pitchFamily="34" charset="0"/>
                <a:ea typeface="IBM Plex Sans" pitchFamily="34" charset="-122"/>
                <a:cs typeface="IBM Plex Sans" pitchFamily="34" charset="-120"/>
              </a:rPr>
              <a:t>   42</a:t>
            </a:r>
            <a:endParaRPr lang="en-US" sz="860" dirty="0"/>
          </a:p>
        </p:txBody>
      </p:sp>
      <p:sp>
        <p:nvSpPr>
          <p:cNvPr id="14" name="Text 10"/>
          <p:cNvSpPr/>
          <p:nvPr/>
        </p:nvSpPr>
        <p:spPr>
          <a:xfrm>
            <a:off x="82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23   </a:t>
            </a:r>
            <a:r>
              <a:rPr lang="en-US" sz="860" dirty="0">
                <a:solidFill>
                  <a:srgbClr val="46606E"/>
                </a:solidFill>
                <a:latin typeface="IBM Plex Sans" pitchFamily="34" charset="0"/>
                <a:ea typeface="IBM Plex Sans" pitchFamily="34" charset="-122"/>
                <a:cs typeface="IBM Plex Sans" pitchFamily="34" charset="-120"/>
              </a:rPr>
              <a:t>Champagne Solemme</a:t>
            </a:r>
            <a:r>
              <a:rPr lang="en-US" sz="860" b="1" dirty="0">
                <a:solidFill>
                  <a:srgbClr val="46606E"/>
                </a:solidFill>
                <a:latin typeface="IBM Plex Sans" pitchFamily="34" charset="0"/>
                <a:ea typeface="IBM Plex Sans" pitchFamily="34" charset="-122"/>
                <a:cs typeface="IBM Plex Sans" pitchFamily="34" charset="-120"/>
              </a:rPr>
              <a:t>   43</a:t>
            </a:r>
            <a:endParaRPr lang="en-US" sz="860" dirty="0"/>
          </a:p>
        </p:txBody>
      </p:sp>
      <p:sp>
        <p:nvSpPr>
          <p:cNvPr id="15" name="Text 11"/>
          <p:cNvSpPr/>
          <p:nvPr/>
        </p:nvSpPr>
        <p:spPr>
          <a:xfrm>
            <a:off x="3888000" y="7380000"/>
            <a:ext cx="2916000" cy="216000"/>
          </a:xfrm>
          <a:prstGeom prst="rect">
            <a:avLst/>
          </a:prstGeom>
          <a:noFill/>
          <a:ln/>
        </p:spPr>
        <p:txBody>
          <a:bodyPr wrap="square" lIns="0" tIns="0" rIns="0" bIns="0" rtlCol="0" anchor="ctr"/>
          <a:lstStyle/>
          <a:p>
            <a:pPr indent="0" marL="0">
              <a:buNone/>
            </a:pPr>
            <a:r>
              <a:rPr lang="en-US" sz="1100" dirty="0">
                <a:solidFill>
                  <a:srgbClr val="46606E"/>
                </a:solidFill>
                <a:latin typeface="Young Serif" pitchFamily="34" charset="0"/>
                <a:ea typeface="Young Serif" pitchFamily="34" charset="-122"/>
                <a:cs typeface="Young Serif" pitchFamily="34" charset="-120"/>
              </a:rPr>
              <a:t>15   </a:t>
            </a:r>
            <a:r>
              <a:rPr lang="en-US" sz="860" dirty="0">
                <a:solidFill>
                  <a:srgbClr val="46606E"/>
                </a:solidFill>
                <a:latin typeface="IBM Plex Sans" pitchFamily="34" charset="0"/>
                <a:ea typeface="IBM Plex Sans" pitchFamily="34" charset="-122"/>
                <a:cs typeface="IBM Plex Sans" pitchFamily="34" charset="-120"/>
              </a:rPr>
              <a:t>Vazart-Coquart &amp; Fils</a:t>
            </a:r>
            <a:r>
              <a:rPr lang="en-US" sz="860" b="1" dirty="0">
                <a:solidFill>
                  <a:srgbClr val="46606E"/>
                </a:solidFill>
                <a:latin typeface="IBM Plex Sans" pitchFamily="34" charset="0"/>
                <a:ea typeface="IBM Plex Sans" pitchFamily="34" charset="-122"/>
                <a:cs typeface="IBM Plex Sans" pitchFamily="34" charset="-120"/>
              </a:rPr>
              <a:t>   44</a:t>
            </a:r>
            <a:endParaRPr lang="en-US" sz="860" dirty="0"/>
          </a:p>
        </p:txBody>
      </p:sp>
      <p:sp>
        <p:nvSpPr>
          <p:cNvPr id="16" name="Text 1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17" name="Text 1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11</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Dekeyne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1792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1792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502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502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3967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3967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vins à la dégustation</a:t>
            </a:r>
            <a:endParaRPr lang="en-US" sz="720" dirty="0"/>
          </a:p>
        </p:txBody>
      </p:sp>
      <p:pic>
        <p:nvPicPr>
          <p:cNvPr id="18" name="Image 2" descr="les deux frères dans les vignes — Champagne Dekeyne">    </p:cNvPr>
          <p:cNvPicPr>
            <a:picLocks noChangeAspect="1"/>
          </p:cNvPicPr>
          <p:nvPr/>
        </p:nvPicPr>
        <p:blipFill>
          <a:blip r:embed="rId3"/>
          <a:stretch>
            <a:fillRect/>
          </a:stretch>
        </p:blipFill>
        <p:spPr>
          <a:xfrm>
            <a:off x="612000" y="1605996"/>
            <a:ext cx="1440000" cy="1440000"/>
          </a:xfrm>
          <a:prstGeom prst="rect">
            <a:avLst/>
          </a:prstGeom>
        </p:spPr>
      </p:pic>
      <p:pic>
        <p:nvPicPr>
          <p:cNvPr id="19" name="Image 3" descr="Une bouteille du domaine Champagne Dekeyne">    </p:cNvPr>
          <p:cNvPicPr>
            <a:picLocks noChangeAspect="1"/>
          </p:cNvPicPr>
          <p:nvPr/>
        </p:nvPicPr>
        <p:blipFill>
          <a:blip r:embed="rId4"/>
          <a:stretch>
            <a:fillRect/>
          </a:stretch>
        </p:blipFill>
        <p:spPr>
          <a:xfrm>
            <a:off x="6005754" y="1605996"/>
            <a:ext cx="588492" cy="2232000"/>
          </a:xfrm>
          <a:prstGeom prst="rect">
            <a:avLst/>
          </a:prstGeom>
        </p:spPr>
      </p:pic>
      <p:sp>
        <p:nvSpPr>
          <p:cNvPr id="20" name="Text 14"/>
          <p:cNvSpPr/>
          <p:nvPr/>
        </p:nvSpPr>
        <p:spPr>
          <a:xfrm>
            <a:off x="2178034" y="1595338"/>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21" name="Text 15"/>
          <p:cNvSpPr/>
          <p:nvPr/>
        </p:nvSpPr>
        <p:spPr>
          <a:xfrm>
            <a:off x="2232000" y="1715947"/>
            <a:ext cx="3456000" cy="212190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 Ratafia disponible. Vins sous allocation.</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Supernova Extra-Brut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3" name="Shape 16"/>
          <p:cNvSpPr/>
          <p:nvPr/>
        </p:nvSpPr>
        <p:spPr>
          <a:xfrm>
            <a:off x="612000" y="5501539"/>
            <a:ext cx="0" cy="259440"/>
          </a:xfrm>
          <a:prstGeom prst="line">
            <a:avLst/>
          </a:prstGeom>
          <a:noFill/>
          <a:ln w="17780">
            <a:solidFill>
              <a:srgbClr val="67067C"/>
            </a:solidFill>
            <a:prstDash val="solid"/>
          </a:ln>
        </p:spPr>
      </p:sp>
      <p:sp>
        <p:nvSpPr>
          <p:cNvPr id="24" name="Text 17"/>
          <p:cNvSpPr/>
          <p:nvPr/>
        </p:nvSpPr>
        <p:spPr>
          <a:xfrm>
            <a:off x="720000" y="550153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5" name="Text 18"/>
          <p:cNvSpPr/>
          <p:nvPr/>
        </p:nvSpPr>
        <p:spPr>
          <a:xfrm>
            <a:off x="612000" y="590498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612000" y="6052580"/>
            <a:ext cx="6120000" cy="1232577"/>
          </a:xfrm>
          <a:prstGeom prst="rect">
            <a:avLst/>
          </a:prstGeom>
        </p:spPr>
      </p:pic>
      <p:sp>
        <p:nvSpPr>
          <p:cNvPr id="27" name="Shape 19"/>
          <p:cNvSpPr/>
          <p:nvPr/>
        </p:nvSpPr>
        <p:spPr>
          <a:xfrm>
            <a:off x="612000" y="8496000"/>
            <a:ext cx="6120000" cy="0"/>
          </a:xfrm>
          <a:prstGeom prst="line">
            <a:avLst/>
          </a:prstGeom>
          <a:noFill/>
          <a:ln w="8890">
            <a:solidFill>
              <a:srgbClr val="46606E"/>
            </a:solidFill>
            <a:prstDash val="solid"/>
          </a:ln>
        </p:spPr>
      </p:sp>
      <p:sp>
        <p:nvSpPr>
          <p:cNvPr id="28" name="Text 20"/>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9" name="Text 21"/>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31" name="Text 2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Blanche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Denis Frézier</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630911" cy="180000"/>
          </a:xfrm>
          <a:prstGeom prst="roundRect">
            <a:avLst>
              <a:gd name="adj" fmla="val 10160"/>
            </a:avLst>
          </a:prstGeom>
          <a:solidFill>
            <a:srgbClr val="67067C"/>
          </a:solidFill>
          <a:ln w="8890">
            <a:solidFill>
              <a:srgbClr val="67067C"/>
            </a:solidFill>
            <a:prstDash val="solid"/>
          </a:ln>
        </p:spPr>
      </p:sp>
      <p:sp>
        <p:nvSpPr>
          <p:cNvPr id="13" name="Text 9"/>
          <p:cNvSpPr/>
          <p:nvPr/>
        </p:nvSpPr>
        <p:spPr>
          <a:xfrm>
            <a:off x="2008494" y="1317996"/>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4" name="Shape 10"/>
          <p:cNvSpPr/>
          <p:nvPr/>
        </p:nvSpPr>
        <p:spPr>
          <a:xfrm>
            <a:off x="2718605" y="1317996"/>
            <a:ext cx="1385474" cy="180000"/>
          </a:xfrm>
          <a:prstGeom prst="roundRect">
            <a:avLst>
              <a:gd name="adj" fmla="val 10160"/>
            </a:avLst>
          </a:prstGeom>
          <a:solidFill>
            <a:srgbClr val="F2EADA"/>
          </a:solidFill>
          <a:ln w="8890">
            <a:solidFill>
              <a:srgbClr val="A8515F"/>
            </a:solidFill>
            <a:prstDash val="solid"/>
          </a:ln>
        </p:spPr>
      </p:sp>
      <p:sp>
        <p:nvSpPr>
          <p:cNvPr id="15" name="Text 11"/>
          <p:cNvSpPr/>
          <p:nvPr/>
        </p:nvSpPr>
        <p:spPr>
          <a:xfrm>
            <a:off x="2718605"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6" name="Shape 12"/>
          <p:cNvSpPr/>
          <p:nvPr/>
        </p:nvSpPr>
        <p:spPr>
          <a:xfrm>
            <a:off x="4183278" y="1317996"/>
            <a:ext cx="1149376" cy="180000"/>
          </a:xfrm>
          <a:prstGeom prst="roundRect">
            <a:avLst>
              <a:gd name="adj" fmla="val 10160"/>
            </a:avLst>
          </a:prstGeom>
          <a:solidFill>
            <a:srgbClr val="F2EADA"/>
          </a:solidFill>
          <a:ln w="8890">
            <a:solidFill>
              <a:srgbClr val="46606E"/>
            </a:solidFill>
            <a:prstDash val="solid"/>
          </a:ln>
        </p:spPr>
      </p:sp>
      <p:sp>
        <p:nvSpPr>
          <p:cNvPr id="17" name="Text 13"/>
          <p:cNvSpPr/>
          <p:nvPr/>
        </p:nvSpPr>
        <p:spPr>
          <a:xfrm>
            <a:off x="418327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vins à la dégustation</a:t>
            </a:r>
            <a:endParaRPr lang="en-US" sz="720" dirty="0"/>
          </a:p>
        </p:txBody>
      </p:sp>
      <p:pic>
        <p:nvPicPr>
          <p:cNvPr id="18" name="Image 2" descr="le village dans ses vignes — Champagne Denis Frézier">    </p:cNvPr>
          <p:cNvPicPr>
            <a:picLocks noChangeAspect="1"/>
          </p:cNvPicPr>
          <p:nvPr/>
        </p:nvPicPr>
        <p:blipFill>
          <a:blip r:embed="rId3"/>
          <a:stretch>
            <a:fillRect/>
          </a:stretch>
        </p:blipFill>
        <p:spPr>
          <a:xfrm>
            <a:off x="828000" y="1605996"/>
            <a:ext cx="1440000" cy="1440000"/>
          </a:xfrm>
          <a:prstGeom prst="rect">
            <a:avLst/>
          </a:prstGeom>
        </p:spPr>
      </p:pic>
      <p:pic>
        <p:nvPicPr>
          <p:cNvPr id="19" name="Image 3" descr="Une bouteille du domaine Champagne Denis Frézier">    </p:cNvPr>
          <p:cNvPicPr>
            <a:picLocks noChangeAspect="1"/>
          </p:cNvPicPr>
          <p:nvPr/>
        </p:nvPicPr>
        <p:blipFill>
          <a:blip r:embed="rId4"/>
          <a:stretch>
            <a:fillRect/>
          </a:stretch>
        </p:blipFill>
        <p:spPr>
          <a:xfrm>
            <a:off x="6218705" y="1605996"/>
            <a:ext cx="594590" cy="2232000"/>
          </a:xfrm>
          <a:prstGeom prst="rect">
            <a:avLst/>
          </a:prstGeom>
        </p:spPr>
      </p:pic>
      <p:sp>
        <p:nvSpPr>
          <p:cNvPr id="20" name="Text 14"/>
          <p:cNvSpPr/>
          <p:nvPr/>
        </p:nvSpPr>
        <p:spPr>
          <a:xfrm>
            <a:off x="2393992" y="1578034"/>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21" name="Text 15"/>
          <p:cNvSpPr/>
          <p:nvPr/>
        </p:nvSpPr>
        <p:spPr>
          <a:xfrm>
            <a:off x="2448000" y="1727854"/>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 Ratafia disponible. Vins sous allocation.</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Blanc Blanc de Blancs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Terroir Meunier Blanc de Meuniers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Millésime Expression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3" name="Shape 16"/>
          <p:cNvSpPr/>
          <p:nvPr/>
        </p:nvSpPr>
        <p:spPr>
          <a:xfrm>
            <a:off x="828000" y="6022736"/>
            <a:ext cx="0" cy="259440"/>
          </a:xfrm>
          <a:prstGeom prst="line">
            <a:avLst/>
          </a:prstGeom>
          <a:noFill/>
          <a:ln w="17780">
            <a:solidFill>
              <a:srgbClr val="67067C"/>
            </a:solidFill>
            <a:prstDash val="solid"/>
          </a:ln>
        </p:spPr>
      </p:sp>
      <p:sp>
        <p:nvSpPr>
          <p:cNvPr id="24" name="Text 17"/>
          <p:cNvSpPr/>
          <p:nvPr/>
        </p:nvSpPr>
        <p:spPr>
          <a:xfrm>
            <a:off x="936000" y="602273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5" name="Text 18"/>
          <p:cNvSpPr/>
          <p:nvPr/>
        </p:nvSpPr>
        <p:spPr>
          <a:xfrm>
            <a:off x="828000" y="642617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6" name="Image 4" descr="/home/user/philippe1/build/deco-salon-prive-2026/sol-champagne.png">    </p:cNvPr>
          <p:cNvPicPr>
            <a:picLocks noChangeAspect="1"/>
          </p:cNvPicPr>
          <p:nvPr/>
        </p:nvPicPr>
        <p:blipFill>
          <a:blip r:embed="rId5"/>
          <a:stretch>
            <a:fillRect/>
          </a:stretch>
        </p:blipFill>
        <p:spPr>
          <a:xfrm>
            <a:off x="828000" y="6573776"/>
            <a:ext cx="6120000" cy="1148400"/>
          </a:xfrm>
          <a:prstGeom prst="rect">
            <a:avLst/>
          </a:prstGeom>
        </p:spPr>
      </p:pic>
      <p:sp>
        <p:nvSpPr>
          <p:cNvPr id="27" name="Shape 19"/>
          <p:cNvSpPr/>
          <p:nvPr/>
        </p:nvSpPr>
        <p:spPr>
          <a:xfrm>
            <a:off x="828000" y="8496000"/>
            <a:ext cx="6120000" cy="0"/>
          </a:xfrm>
          <a:prstGeom prst="line">
            <a:avLst/>
          </a:prstGeom>
          <a:noFill/>
          <a:ln w="8890">
            <a:solidFill>
              <a:srgbClr val="46606E"/>
            </a:solidFill>
            <a:prstDash val="solid"/>
          </a:ln>
        </p:spPr>
      </p:sp>
      <p:sp>
        <p:nvSpPr>
          <p:cNvPr id="28" name="Text 20"/>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1"/>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30" name="Text 22"/>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31" name="Text 23"/>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612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612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23</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440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Champagne Solemme</a:t>
            </a:r>
            <a:endParaRPr lang="en-US" sz="2000" dirty="0"/>
          </a:p>
        </p:txBody>
      </p:sp>
      <p:sp>
        <p:nvSpPr>
          <p:cNvPr id="7" name="Text 4"/>
          <p:cNvSpPr/>
          <p:nvPr/>
        </p:nvSpPr>
        <p:spPr>
          <a:xfrm>
            <a:off x="5292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612000" y="1253196"/>
            <a:ext cx="6120000" cy="0"/>
          </a:xfrm>
          <a:prstGeom prst="line">
            <a:avLst/>
          </a:prstGeom>
          <a:noFill/>
          <a:ln w="17780">
            <a:solidFill>
              <a:srgbClr val="67067C"/>
            </a:solidFill>
            <a:prstDash val="solid"/>
          </a:ln>
        </p:spPr>
      </p:sp>
      <p:sp>
        <p:nvSpPr>
          <p:cNvPr id="9" name="Shape 6"/>
          <p:cNvSpPr/>
          <p:nvPr/>
        </p:nvSpPr>
        <p:spPr>
          <a:xfrm>
            <a:off x="612000" y="1317996"/>
            <a:ext cx="851480"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biobiodyn.png">    </p:cNvPr>
          <p:cNvPicPr>
            <a:picLocks noChangeAspect="1"/>
          </p:cNvPicPr>
          <p:nvPr/>
        </p:nvPicPr>
        <p:blipFill>
          <a:blip r:embed="rId2"/>
          <a:stretch>
            <a:fillRect/>
          </a:stretch>
        </p:blipFill>
        <p:spPr>
          <a:xfrm>
            <a:off x="684000" y="1353996"/>
            <a:ext cx="108000" cy="108000"/>
          </a:xfrm>
          <a:prstGeom prst="rect">
            <a:avLst/>
          </a:prstGeom>
        </p:spPr>
      </p:pic>
      <p:sp>
        <p:nvSpPr>
          <p:cNvPr id="11" name="Text 7"/>
          <p:cNvSpPr/>
          <p:nvPr/>
        </p:nvSpPr>
        <p:spPr>
          <a:xfrm>
            <a:off x="759600" y="1317996"/>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2" name="Shape 8"/>
          <p:cNvSpPr/>
          <p:nvPr/>
        </p:nvSpPr>
        <p:spPr>
          <a:xfrm>
            <a:off x="1542680"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542680"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007354"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007354"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ogo de la maison — Champagne Solemme">    </p:cNvPr>
          <p:cNvPicPr>
            <a:picLocks noChangeAspect="1"/>
          </p:cNvPicPr>
          <p:nvPr/>
        </p:nvPicPr>
        <p:blipFill>
          <a:blip r:embed="rId3"/>
          <a:stretch>
            <a:fillRect/>
          </a:stretch>
        </p:blipFill>
        <p:spPr>
          <a:xfrm>
            <a:off x="612000" y="1605996"/>
            <a:ext cx="1440000" cy="1440000"/>
          </a:xfrm>
          <a:prstGeom prst="rect">
            <a:avLst/>
          </a:prstGeom>
        </p:spPr>
      </p:pic>
      <p:pic>
        <p:nvPicPr>
          <p:cNvPr id="17" name="Image 3" descr="Une bouteille du domaine Champagne Solemme">    </p:cNvPr>
          <p:cNvPicPr>
            <a:picLocks noChangeAspect="1"/>
          </p:cNvPicPr>
          <p:nvPr/>
        </p:nvPicPr>
        <p:blipFill>
          <a:blip r:embed="rId4"/>
          <a:stretch>
            <a:fillRect/>
          </a:stretch>
        </p:blipFill>
        <p:spPr>
          <a:xfrm>
            <a:off x="6002705" y="1605996"/>
            <a:ext cx="594590" cy="2232000"/>
          </a:xfrm>
          <a:prstGeom prst="rect">
            <a:avLst/>
          </a:prstGeom>
        </p:spPr>
      </p:pic>
      <p:sp>
        <p:nvSpPr>
          <p:cNvPr id="18" name="Text 12"/>
          <p:cNvSpPr/>
          <p:nvPr/>
        </p:nvSpPr>
        <p:spPr>
          <a:xfrm>
            <a:off x="2177976" y="158481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9" name="Text 13"/>
          <p:cNvSpPr/>
          <p:nvPr/>
        </p:nvSpPr>
        <p:spPr>
          <a:xfrm>
            <a:off x="2232000" y="1723186"/>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446484">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 Blanc de Blancs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 Blanc de Noirs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Premier Cru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 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6332745"/>
            <a:ext cx="0" cy="259440"/>
          </a:xfrm>
          <a:prstGeom prst="line">
            <a:avLst/>
          </a:prstGeom>
          <a:noFill/>
          <a:ln w="17780">
            <a:solidFill>
              <a:srgbClr val="67067C"/>
            </a:solidFill>
            <a:prstDash val="solid"/>
          </a:ln>
        </p:spPr>
      </p:sp>
      <p:sp>
        <p:nvSpPr>
          <p:cNvPr id="22" name="Text 15"/>
          <p:cNvSpPr/>
          <p:nvPr/>
        </p:nvSpPr>
        <p:spPr>
          <a:xfrm>
            <a:off x="720000" y="633274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612000" y="673618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612000" y="6883785"/>
            <a:ext cx="6120000" cy="1148400"/>
          </a:xfrm>
          <a:prstGeom prst="rect">
            <a:avLst/>
          </a:prstGeom>
        </p:spPr>
      </p:pic>
      <p:sp>
        <p:nvSpPr>
          <p:cNvPr id="25" name="Shape 17"/>
          <p:cNvSpPr/>
          <p:nvPr/>
        </p:nvSpPr>
        <p:spPr>
          <a:xfrm>
            <a:off x="612000" y="8496000"/>
            <a:ext cx="6120000" cy="0"/>
          </a:xfrm>
          <a:prstGeom prst="line">
            <a:avLst/>
          </a:prstGeom>
          <a:noFill/>
          <a:ln w="8890">
            <a:solidFill>
              <a:srgbClr val="46606E"/>
            </a:solidFill>
            <a:prstDash val="solid"/>
          </a:ln>
        </p:spPr>
      </p:sp>
      <p:sp>
        <p:nvSpPr>
          <p:cNvPr id="26"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8"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9"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salon-prive-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Shape 1"/>
          <p:cNvSpPr/>
          <p:nvPr/>
        </p:nvSpPr>
        <p:spPr>
          <a:xfrm>
            <a:off x="828000" y="635598"/>
            <a:ext cx="684000" cy="518400"/>
          </a:xfrm>
          <a:prstGeom prst="roundRect">
            <a:avLst>
              <a:gd name="adj" fmla="val 10583"/>
            </a:avLst>
          </a:prstGeom>
          <a:solidFill>
            <a:srgbClr val="E1C853"/>
          </a:solidFill>
          <a:ln w="12700">
            <a:solidFill>
              <a:srgbClr val="E1C853"/>
            </a:solidFill>
            <a:prstDash val="solid"/>
          </a:ln>
        </p:spPr>
      </p:sp>
      <p:sp>
        <p:nvSpPr>
          <p:cNvPr id="5" name="Text 2"/>
          <p:cNvSpPr/>
          <p:nvPr/>
        </p:nvSpPr>
        <p:spPr>
          <a:xfrm>
            <a:off x="828000" y="635598"/>
            <a:ext cx="684000" cy="518400"/>
          </a:xfrm>
          <a:prstGeom prst="rect">
            <a:avLst/>
          </a:prstGeom>
          <a:noFill/>
          <a:ln/>
        </p:spPr>
        <p:txBody>
          <a:bodyPr wrap="square" lIns="0" tIns="0" rIns="0" bIns="0" rtlCol="0" anchor="ctr"/>
          <a:lstStyle/>
          <a:p>
            <a:pPr algn="ctr" indent="0" marL="0">
              <a:lnSpc>
                <a:spcPct val="95000"/>
              </a:lnSpc>
              <a:buNone/>
            </a:pPr>
            <a:r>
              <a:rPr lang="en-US" sz="700" b="1" spc="30" kern="0" dirty="0">
                <a:solidFill>
                  <a:srgbClr val="67067C"/>
                </a:solidFill>
                <a:latin typeface="IBM Plex Sans" pitchFamily="34" charset="0"/>
                <a:ea typeface="IBM Plex Sans" pitchFamily="34" charset="-122"/>
                <a:cs typeface="IBM Plex Sans" pitchFamily="34" charset="-120"/>
              </a:rPr>
              <a:t>STAND</a:t>
            </a:r>
            <a:endParaRPr lang="en-US" sz="700" dirty="0"/>
          </a:p>
          <a:p>
            <a:pPr algn="ctr" indent="0" marL="0">
              <a:lnSpc>
                <a:spcPct val="95000"/>
              </a:lnSpc>
              <a:buNone/>
            </a:pPr>
            <a:r>
              <a:rPr lang="en-US" sz="2200" dirty="0">
                <a:solidFill>
                  <a:srgbClr val="67067C"/>
                </a:solidFill>
                <a:latin typeface="Young Serif" pitchFamily="34" charset="0"/>
                <a:ea typeface="Young Serif" pitchFamily="34" charset="-122"/>
                <a:cs typeface="Young Serif" pitchFamily="34" charset="-120"/>
              </a:rPr>
              <a:t>15</a:t>
            </a:r>
            <a:endParaRPr lang="en-US" sz="700" dirty="0"/>
          </a:p>
          <a:p>
            <a:pPr algn="ctr" indent="0" marL="0">
              <a:lnSpc>
                <a:spcPct val="95000"/>
              </a:lnSpc>
              <a:buNone/>
            </a:pPr>
            <a:r>
              <a:rPr lang="en-US" sz="700" dirty="0">
                <a:solidFill>
                  <a:srgbClr val="67067C"/>
                </a:solidFill>
                <a:latin typeface="IBM Plex Sans" pitchFamily="34" charset="0"/>
                <a:ea typeface="IBM Plex Sans" pitchFamily="34" charset="-122"/>
                <a:cs typeface="IBM Plex Sans" pitchFamily="34" charset="-120"/>
              </a:rPr>
              <a:t>Salle Noire</a:t>
            </a:r>
            <a:endParaRPr lang="en-US" sz="700" dirty="0"/>
          </a:p>
        </p:txBody>
      </p:sp>
      <p:sp>
        <p:nvSpPr>
          <p:cNvPr id="6" name="Text 3"/>
          <p:cNvSpPr/>
          <p:nvPr/>
        </p:nvSpPr>
        <p:spPr>
          <a:xfrm>
            <a:off x="1656000" y="540000"/>
            <a:ext cx="4068000" cy="709596"/>
          </a:xfrm>
          <a:prstGeom prst="rect">
            <a:avLst/>
          </a:prstGeom>
          <a:noFill/>
          <a:ln/>
        </p:spPr>
        <p:txBody>
          <a:bodyPr wrap="square" lIns="0" tIns="0" rIns="0" bIns="0" rtlCol="0" anchor="ctr"/>
          <a:lstStyle/>
          <a:p>
            <a:pPr indent="0" marL="0">
              <a:lnSpc>
                <a:spcPct val="104000"/>
              </a:lnSpc>
              <a:buNone/>
            </a:pPr>
            <a:r>
              <a:rPr lang="en-US" sz="2000" dirty="0">
                <a:solidFill>
                  <a:srgbClr val="46606E"/>
                </a:solidFill>
                <a:latin typeface="Young Serif" pitchFamily="34" charset="0"/>
                <a:ea typeface="Young Serif" pitchFamily="34" charset="-122"/>
                <a:cs typeface="Young Serif" pitchFamily="34" charset="-120"/>
              </a:rPr>
              <a:t>Vazart-Coquart &amp; Fils</a:t>
            </a:r>
            <a:endParaRPr lang="en-US" sz="2000" dirty="0"/>
          </a:p>
        </p:txBody>
      </p:sp>
      <p:sp>
        <p:nvSpPr>
          <p:cNvPr id="7" name="Text 4"/>
          <p:cNvSpPr/>
          <p:nvPr/>
        </p:nvSpPr>
        <p:spPr>
          <a:xfrm>
            <a:off x="5508000" y="540000"/>
            <a:ext cx="1440000" cy="709596"/>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8" name="Shape 5"/>
          <p:cNvSpPr/>
          <p:nvPr/>
        </p:nvSpPr>
        <p:spPr>
          <a:xfrm>
            <a:off x="828000" y="1253196"/>
            <a:ext cx="6120000" cy="0"/>
          </a:xfrm>
          <a:prstGeom prst="line">
            <a:avLst/>
          </a:prstGeom>
          <a:noFill/>
          <a:ln w="17780">
            <a:solidFill>
              <a:srgbClr val="67067C"/>
            </a:solidFill>
            <a:prstDash val="solid"/>
          </a:ln>
        </p:spPr>
      </p:sp>
      <p:sp>
        <p:nvSpPr>
          <p:cNvPr id="9" name="Shape 6"/>
          <p:cNvSpPr/>
          <p:nvPr/>
        </p:nvSpPr>
        <p:spPr>
          <a:xfrm>
            <a:off x="828000" y="1317996"/>
            <a:ext cx="1101294" cy="180000"/>
          </a:xfrm>
          <a:prstGeom prst="roundRect">
            <a:avLst>
              <a:gd name="adj" fmla="val 10160"/>
            </a:avLst>
          </a:prstGeom>
          <a:solidFill>
            <a:srgbClr val="F2EADA"/>
          </a:solidFill>
          <a:ln w="8890">
            <a:solidFill>
              <a:srgbClr val="3C5B47"/>
            </a:solidFill>
            <a:prstDash val="solid"/>
          </a:ln>
        </p:spPr>
      </p:sp>
      <p:pic>
        <p:nvPicPr>
          <p:cNvPr id="10" name="Image 1" descr="/home/user/philippe1/build/deco-salon-prive-2026/label-conversion.png">    </p:cNvPr>
          <p:cNvPicPr>
            <a:picLocks noChangeAspect="1"/>
          </p:cNvPicPr>
          <p:nvPr/>
        </p:nvPicPr>
        <p:blipFill>
          <a:blip r:embed="rId2"/>
          <a:stretch>
            <a:fillRect/>
          </a:stretch>
        </p:blipFill>
        <p:spPr>
          <a:xfrm>
            <a:off x="900000" y="1353996"/>
            <a:ext cx="108000" cy="108000"/>
          </a:xfrm>
          <a:prstGeom prst="rect">
            <a:avLst/>
          </a:prstGeom>
        </p:spPr>
      </p:pic>
      <p:sp>
        <p:nvSpPr>
          <p:cNvPr id="11" name="Text 7"/>
          <p:cNvSpPr/>
          <p:nvPr/>
        </p:nvSpPr>
        <p:spPr>
          <a:xfrm>
            <a:off x="975600" y="1317996"/>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2" name="Shape 8"/>
          <p:cNvSpPr/>
          <p:nvPr/>
        </p:nvSpPr>
        <p:spPr>
          <a:xfrm>
            <a:off x="2008494" y="1317996"/>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008494" y="1317996"/>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473168" y="1317996"/>
            <a:ext cx="1149376"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473168" y="1317996"/>
            <a:ext cx="1149376"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vins à la dégustation</a:t>
            </a:r>
            <a:endParaRPr lang="en-US" sz="720" dirty="0"/>
          </a:p>
        </p:txBody>
      </p:sp>
      <p:pic>
        <p:nvPicPr>
          <p:cNvPr id="16" name="Image 2" descr="la maison de champagne — Vazart-Coquart &amp; Fils">    </p:cNvPr>
          <p:cNvPicPr>
            <a:picLocks noChangeAspect="1"/>
          </p:cNvPicPr>
          <p:nvPr/>
        </p:nvPicPr>
        <p:blipFill>
          <a:blip r:embed="rId3"/>
          <a:stretch>
            <a:fillRect/>
          </a:stretch>
        </p:blipFill>
        <p:spPr>
          <a:xfrm>
            <a:off x="828000" y="1605996"/>
            <a:ext cx="1440000" cy="1440000"/>
          </a:xfrm>
          <a:prstGeom prst="rect">
            <a:avLst/>
          </a:prstGeom>
        </p:spPr>
      </p:pic>
      <p:pic>
        <p:nvPicPr>
          <p:cNvPr id="17" name="Image 3" descr="Une bouteille du domaine Vazart-Coquart &amp; Fils">    </p:cNvPr>
          <p:cNvPicPr>
            <a:picLocks noChangeAspect="1"/>
          </p:cNvPicPr>
          <p:nvPr/>
        </p:nvPicPr>
        <p:blipFill>
          <a:blip r:embed="rId4"/>
          <a:stretch>
            <a:fillRect/>
          </a:stretch>
        </p:blipFill>
        <p:spPr>
          <a:xfrm>
            <a:off x="6129248" y="1605996"/>
            <a:ext cx="773503" cy="2232000"/>
          </a:xfrm>
          <a:prstGeom prst="rect">
            <a:avLst/>
          </a:prstGeom>
        </p:spPr>
      </p:pic>
      <p:sp>
        <p:nvSpPr>
          <p:cNvPr id="18" name="Text 12"/>
          <p:cNvSpPr/>
          <p:nvPr/>
        </p:nvSpPr>
        <p:spPr>
          <a:xfrm>
            <a:off x="2394033" y="1862687"/>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9" name="Text 13"/>
          <p:cNvSpPr/>
          <p:nvPr/>
        </p:nvSpPr>
        <p:spPr>
          <a:xfrm>
            <a:off x="2448000" y="2006898"/>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967452"/>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 Extra-Brut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 Blanc de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Spécial Club Blanc de Blancs Extra-Brut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Grand Cru Chouilly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82/18 Blanc de Blancs Zéro Dosage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6196269"/>
            <a:ext cx="0" cy="259440"/>
          </a:xfrm>
          <a:prstGeom prst="line">
            <a:avLst/>
          </a:prstGeom>
          <a:noFill/>
          <a:ln w="17780">
            <a:solidFill>
              <a:srgbClr val="67067C"/>
            </a:solidFill>
            <a:prstDash val="solid"/>
          </a:ln>
        </p:spPr>
      </p:sp>
      <p:sp>
        <p:nvSpPr>
          <p:cNvPr id="22" name="Text 15"/>
          <p:cNvSpPr/>
          <p:nvPr/>
        </p:nvSpPr>
        <p:spPr>
          <a:xfrm>
            <a:off x="936000" y="619626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59970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salon-prive-2026/sol-champagne.png">    </p:cNvPr>
          <p:cNvPicPr>
            <a:picLocks noChangeAspect="1"/>
          </p:cNvPicPr>
          <p:nvPr/>
        </p:nvPicPr>
        <p:blipFill>
          <a:blip r:embed="rId5"/>
          <a:stretch>
            <a:fillRect/>
          </a:stretch>
        </p:blipFill>
        <p:spPr>
          <a:xfrm>
            <a:off x="828000" y="6747309"/>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612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stand, le dernier chiffre est la page.</a:t>
            </a:r>
            <a:endParaRPr lang="en-US" sz="860" dirty="0"/>
          </a:p>
        </p:txBody>
      </p:sp>
      <p:sp>
        <p:nvSpPr>
          <p:cNvPr id="5" name="Text 3"/>
          <p:cNvSpPr/>
          <p:nvPr/>
        </p:nvSpPr>
        <p:spPr>
          <a:xfrm>
            <a:off x="612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61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82/18 Blanc de Blancs Zéro Dosage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7" name="Text 5"/>
          <p:cNvSpPr/>
          <p:nvPr/>
        </p:nvSpPr>
        <p:spPr>
          <a:xfrm>
            <a:off x="61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 Blanc de Noirs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8" name="Text 6"/>
          <p:cNvSpPr/>
          <p:nvPr/>
        </p:nvSpPr>
        <p:spPr>
          <a:xfrm>
            <a:off x="61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d’Alsace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 name="Text 7"/>
          <p:cNvSpPr/>
          <p:nvPr/>
        </p:nvSpPr>
        <p:spPr>
          <a:xfrm>
            <a:off x="61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Crémant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0" name="Text 8"/>
          <p:cNvSpPr/>
          <p:nvPr/>
        </p:nvSpPr>
        <p:spPr>
          <a:xfrm>
            <a:off x="61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 name="Text 9"/>
          <p:cNvSpPr/>
          <p:nvPr/>
        </p:nvSpPr>
        <p:spPr>
          <a:xfrm>
            <a:off x="61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Baron Auguste Rosé</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2" name="Text 10"/>
          <p:cNvSpPr/>
          <p:nvPr/>
        </p:nvSpPr>
        <p:spPr>
          <a:xfrm>
            <a:off x="61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3" name="Text 11"/>
          <p:cNvSpPr/>
          <p:nvPr/>
        </p:nvSpPr>
        <p:spPr>
          <a:xfrm>
            <a:off x="61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Extra-Brut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4" name="Text 12"/>
          <p:cNvSpPr/>
          <p:nvPr/>
        </p:nvSpPr>
        <p:spPr>
          <a:xfrm>
            <a:off x="61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 Extra-Brut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5" name="Text 13"/>
          <p:cNvSpPr/>
          <p:nvPr/>
        </p:nvSpPr>
        <p:spPr>
          <a:xfrm>
            <a:off x="61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6" name="Text 14"/>
          <p:cNvSpPr/>
          <p:nvPr/>
        </p:nvSpPr>
        <p:spPr>
          <a:xfrm>
            <a:off x="61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L’Eberluant Chardonnay Méthode ancestrale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7" name="Text 15"/>
          <p:cNvSpPr/>
          <p:nvPr/>
        </p:nvSpPr>
        <p:spPr>
          <a:xfrm>
            <a:off x="61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8" name="Text 16"/>
          <p:cNvSpPr/>
          <p:nvPr/>
        </p:nvSpPr>
        <p:spPr>
          <a:xfrm>
            <a:off x="61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9" name="Text 17"/>
          <p:cNvSpPr/>
          <p:nvPr/>
        </p:nvSpPr>
        <p:spPr>
          <a:xfrm>
            <a:off x="61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Blanc Blanc de Blancs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0" name="Text 18"/>
          <p:cNvSpPr/>
          <p:nvPr/>
        </p:nvSpPr>
        <p:spPr>
          <a:xfrm>
            <a:off x="61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Terroir Meunier Blanc de Meuniers Extra-Brut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1" name="Text 19"/>
          <p:cNvSpPr/>
          <p:nvPr/>
        </p:nvSpPr>
        <p:spPr>
          <a:xfrm>
            <a:off x="61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Bulles du Puits Rosé</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2" name="Text 20"/>
          <p:cNvSpPr/>
          <p:nvPr/>
        </p:nvSpPr>
        <p:spPr>
          <a:xfrm>
            <a:off x="61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3" name="Text 21"/>
          <p:cNvSpPr/>
          <p:nvPr/>
        </p:nvSpPr>
        <p:spPr>
          <a:xfrm>
            <a:off x="61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Extra-Brut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24" name="Text 22"/>
          <p:cNvSpPr/>
          <p:nvPr/>
        </p:nvSpPr>
        <p:spPr>
          <a:xfrm>
            <a:off x="61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Millésime Expression</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25" name="Text 23"/>
          <p:cNvSpPr/>
          <p:nvPr/>
        </p:nvSpPr>
        <p:spPr>
          <a:xfrm>
            <a:off x="61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Pétillant</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6" name="Text 24"/>
          <p:cNvSpPr/>
          <p:nvPr/>
        </p:nvSpPr>
        <p:spPr>
          <a:xfrm>
            <a:off x="61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61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 Blanc de Blancs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 Extra-Brut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9" name="Text 27"/>
          <p:cNvSpPr/>
          <p:nvPr/>
        </p:nvSpPr>
        <p:spPr>
          <a:xfrm>
            <a:off x="61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0" name="Text 28"/>
          <p:cNvSpPr/>
          <p:nvPr/>
        </p:nvSpPr>
        <p:spPr>
          <a:xfrm>
            <a:off x="61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 Brut Nature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1" name="Text 29"/>
          <p:cNvSpPr/>
          <p:nvPr/>
        </p:nvSpPr>
        <p:spPr>
          <a:xfrm>
            <a:off x="61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Supernova Extra-Brut Zéro Dosage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 Brut</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33" name="Text 31"/>
          <p:cNvSpPr/>
          <p:nvPr/>
        </p:nvSpPr>
        <p:spPr>
          <a:xfrm>
            <a:off x="61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34" name="Text 32"/>
          <p:cNvSpPr/>
          <p:nvPr/>
        </p:nvSpPr>
        <p:spPr>
          <a:xfrm>
            <a:off x="61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 Brut</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5" name="Text 33"/>
          <p:cNvSpPr/>
          <p:nvPr/>
        </p:nvSpPr>
        <p:spPr>
          <a:xfrm>
            <a:off x="612000" y="540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6" name="Text 34"/>
          <p:cNvSpPr/>
          <p:nvPr/>
        </p:nvSpPr>
        <p:spPr>
          <a:xfrm>
            <a:off x="61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Albas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37" name="Text 35"/>
          <p:cNvSpPr/>
          <p:nvPr/>
        </p:nvSpPr>
        <p:spPr>
          <a:xfrm>
            <a:off x="61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Anjou Blanc</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38" name="Text 36"/>
          <p:cNvSpPr/>
          <p:nvPr/>
        </p:nvSpPr>
        <p:spPr>
          <a:xfrm>
            <a:off x="61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Hautes-Côtes de Beaune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9" name="Text 37"/>
          <p:cNvSpPr/>
          <p:nvPr/>
        </p:nvSpPr>
        <p:spPr>
          <a:xfrm>
            <a:off x="61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Chardonnay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0" name="Text 38"/>
          <p:cNvSpPr/>
          <p:nvPr/>
        </p:nvSpPr>
        <p:spPr>
          <a:xfrm>
            <a:off x="61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Mancey Blanc</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1" name="Text 39"/>
          <p:cNvSpPr/>
          <p:nvPr/>
        </p:nvSpPr>
        <p:spPr>
          <a:xfrm>
            <a:off x="61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2" name="Text 40"/>
          <p:cNvSpPr/>
          <p:nvPr/>
        </p:nvSpPr>
        <p:spPr>
          <a:xfrm>
            <a:off x="61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3" name="Text 41"/>
          <p:cNvSpPr/>
          <p:nvPr/>
        </p:nvSpPr>
        <p:spPr>
          <a:xfrm>
            <a:off x="265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Meursault</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4" name="Text 42"/>
          <p:cNvSpPr/>
          <p:nvPr/>
        </p:nvSpPr>
        <p:spPr>
          <a:xfrm>
            <a:off x="265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Pouilly-Fumé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5" name="Text 43"/>
          <p:cNvSpPr/>
          <p:nvPr/>
        </p:nvSpPr>
        <p:spPr>
          <a:xfrm>
            <a:off x="265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Pouilly-Vinzelles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65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Quincy</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7" name="Text 45"/>
          <p:cNvSpPr/>
          <p:nvPr/>
        </p:nvSpPr>
        <p:spPr>
          <a:xfrm>
            <a:off x="265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48" name="Text 46"/>
          <p:cNvSpPr/>
          <p:nvPr/>
        </p:nvSpPr>
        <p:spPr>
          <a:xfrm>
            <a:off x="265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Sauvignon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49" name="Text 47"/>
          <p:cNvSpPr/>
          <p:nvPr/>
        </p:nvSpPr>
        <p:spPr>
          <a:xfrm>
            <a:off x="265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Touraine Chenonceaux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0" name="Text 48"/>
          <p:cNvSpPr/>
          <p:nvPr/>
        </p:nvSpPr>
        <p:spPr>
          <a:xfrm>
            <a:off x="265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Anjou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1" name="Text 49"/>
          <p:cNvSpPr/>
          <p:nvPr/>
        </p:nvSpPr>
        <p:spPr>
          <a:xfrm>
            <a:off x="265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2" name="Text 50"/>
          <p:cNvSpPr/>
          <p:nvPr/>
        </p:nvSpPr>
        <p:spPr>
          <a:xfrm>
            <a:off x="265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Saumur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53" name="Text 51"/>
          <p:cNvSpPr/>
          <p:nvPr/>
        </p:nvSpPr>
        <p:spPr>
          <a:xfrm>
            <a:off x="265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4" name="Text 52"/>
          <p:cNvSpPr/>
          <p:nvPr/>
        </p:nvSpPr>
        <p:spPr>
          <a:xfrm>
            <a:off x="265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265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 Blanc de Blancs</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56" name="Text 54"/>
          <p:cNvSpPr/>
          <p:nvPr/>
        </p:nvSpPr>
        <p:spPr>
          <a:xfrm>
            <a:off x="265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Chardonnay-Viognier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57" name="Text 55"/>
          <p:cNvSpPr/>
          <p:nvPr/>
        </p:nvSpPr>
        <p:spPr>
          <a:xfrm>
            <a:off x="265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Cray Blanc</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16</a:t>
            </a:r>
            <a:endParaRPr lang="en-US" sz="690" dirty="0"/>
          </a:p>
        </p:txBody>
      </p:sp>
      <p:sp>
        <p:nvSpPr>
          <p:cNvPr id="58" name="Text 56"/>
          <p:cNvSpPr/>
          <p:nvPr/>
        </p:nvSpPr>
        <p:spPr>
          <a:xfrm>
            <a:off x="2652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59" name="Text 57"/>
          <p:cNvSpPr/>
          <p:nvPr/>
        </p:nvSpPr>
        <p:spPr>
          <a:xfrm>
            <a:off x="265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Chenin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65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Mouzillon-Tillières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1" name="Text 59"/>
          <p:cNvSpPr/>
          <p:nvPr/>
        </p:nvSpPr>
        <p:spPr>
          <a:xfrm>
            <a:off x="265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2" name="Text 60"/>
          <p:cNvSpPr/>
          <p:nvPr/>
        </p:nvSpPr>
        <p:spPr>
          <a:xfrm>
            <a:off x="265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3" name="Text 61"/>
          <p:cNvSpPr/>
          <p:nvPr/>
        </p:nvSpPr>
        <p:spPr>
          <a:xfrm>
            <a:off x="265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64" name="Text 62"/>
          <p:cNvSpPr/>
          <p:nvPr/>
        </p:nvSpPr>
        <p:spPr>
          <a:xfrm>
            <a:off x="2652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Gewurztraminer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65" name="Text 63"/>
          <p:cNvSpPr/>
          <p:nvPr/>
        </p:nvSpPr>
        <p:spPr>
          <a:xfrm>
            <a:off x="265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6" name="Text 64"/>
          <p:cNvSpPr/>
          <p:nvPr/>
        </p:nvSpPr>
        <p:spPr>
          <a:xfrm>
            <a:off x="265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67" name="Text 65"/>
          <p:cNvSpPr/>
          <p:nvPr/>
        </p:nvSpPr>
        <p:spPr>
          <a:xfrm>
            <a:off x="265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Juliette Blanc</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8" name="Text 66"/>
          <p:cNvSpPr/>
          <p:nvPr/>
        </p:nvSpPr>
        <p:spPr>
          <a:xfrm>
            <a:off x="265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L’envol</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69" name="Text 67"/>
          <p:cNvSpPr/>
          <p:nvPr/>
        </p:nvSpPr>
        <p:spPr>
          <a:xfrm>
            <a:off x="265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Blanc</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0" name="Text 68"/>
          <p:cNvSpPr/>
          <p:nvPr/>
        </p:nvSpPr>
        <p:spPr>
          <a:xfrm>
            <a:off x="265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1" name="Text 69"/>
          <p:cNvSpPr/>
          <p:nvPr/>
        </p:nvSpPr>
        <p:spPr>
          <a:xfrm>
            <a:off x="265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2" name="Text 70"/>
          <p:cNvSpPr/>
          <p:nvPr/>
        </p:nvSpPr>
        <p:spPr>
          <a:xfrm>
            <a:off x="265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2023</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73" name="Text 71"/>
          <p:cNvSpPr/>
          <p:nvPr/>
        </p:nvSpPr>
        <p:spPr>
          <a:xfrm>
            <a:off x="265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4" name="Text 72"/>
          <p:cNvSpPr/>
          <p:nvPr/>
        </p:nvSpPr>
        <p:spPr>
          <a:xfrm>
            <a:off x="265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Beltins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75" name="Text 73"/>
          <p:cNvSpPr/>
          <p:nvPr/>
        </p:nvSpPr>
        <p:spPr>
          <a:xfrm>
            <a:off x="265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6" name="Text 74"/>
          <p:cNvSpPr/>
          <p:nvPr/>
        </p:nvSpPr>
        <p:spPr>
          <a:xfrm>
            <a:off x="265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 Blanc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77" name="Text 75"/>
          <p:cNvSpPr/>
          <p:nvPr/>
        </p:nvSpPr>
        <p:spPr>
          <a:xfrm>
            <a:off x="265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Villaudes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78" name="Text 76"/>
          <p:cNvSpPr/>
          <p:nvPr/>
        </p:nvSpPr>
        <p:spPr>
          <a:xfrm>
            <a:off x="265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Chardonnay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9" name="Text 77"/>
          <p:cNvSpPr/>
          <p:nvPr/>
        </p:nvSpPr>
        <p:spPr>
          <a:xfrm>
            <a:off x="265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Blanc</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80" name="Text 78"/>
          <p:cNvSpPr/>
          <p:nvPr/>
        </p:nvSpPr>
        <p:spPr>
          <a:xfrm>
            <a:off x="2652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81" name="Text 79"/>
          <p:cNvSpPr/>
          <p:nvPr/>
        </p:nvSpPr>
        <p:spPr>
          <a:xfrm>
            <a:off x="4692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2" name="Text 80"/>
          <p:cNvSpPr/>
          <p:nvPr/>
        </p:nvSpPr>
        <p:spPr>
          <a:xfrm>
            <a:off x="4692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3" name="Text 81"/>
          <p:cNvSpPr/>
          <p:nvPr/>
        </p:nvSpPr>
        <p:spPr>
          <a:xfrm>
            <a:off x="4692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 Blanc</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4" name="Text 82"/>
          <p:cNvSpPr/>
          <p:nvPr/>
        </p:nvSpPr>
        <p:spPr>
          <a:xfrm>
            <a:off x="4692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5" name="Text 83"/>
          <p:cNvSpPr/>
          <p:nvPr/>
        </p:nvSpPr>
        <p:spPr>
          <a:xfrm>
            <a:off x="4692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86" name="Text 84"/>
          <p:cNvSpPr/>
          <p:nvPr/>
        </p:nvSpPr>
        <p:spPr>
          <a:xfrm>
            <a:off x="4692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 Noëls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87" name="Text 85"/>
          <p:cNvSpPr/>
          <p:nvPr/>
        </p:nvSpPr>
        <p:spPr>
          <a:xfrm>
            <a:off x="4692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Grand Cru Bruderthal</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8" name="Text 86"/>
          <p:cNvSpPr/>
          <p:nvPr/>
        </p:nvSpPr>
        <p:spPr>
          <a:xfrm>
            <a:off x="4692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Hahnenberg</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9" name="Text 87"/>
          <p:cNvSpPr/>
          <p:nvPr/>
        </p:nvSpPr>
        <p:spPr>
          <a:xfrm>
            <a:off x="4692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Riesling Holderhurst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90" name="Text 88"/>
          <p:cNvSpPr/>
          <p:nvPr/>
        </p:nvSpPr>
        <p:spPr>
          <a:xfrm>
            <a:off x="4692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Melon B.</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1" name="Text 89"/>
          <p:cNvSpPr/>
          <p:nvPr/>
        </p:nvSpPr>
        <p:spPr>
          <a:xfrm>
            <a:off x="4692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Spécial Club Blanc de Blancs Extra-Brut</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92" name="Text 90"/>
          <p:cNvSpPr/>
          <p:nvPr/>
        </p:nvSpPr>
        <p:spPr>
          <a:xfrm>
            <a:off x="4692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Blanc</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93" name="Text 91"/>
          <p:cNvSpPr/>
          <p:nvPr/>
        </p:nvSpPr>
        <p:spPr>
          <a:xfrm>
            <a:off x="4692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Blanc</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94" name="Text 92"/>
          <p:cNvSpPr/>
          <p:nvPr/>
        </p:nvSpPr>
        <p:spPr>
          <a:xfrm>
            <a:off x="4692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95" name="Text 93"/>
          <p:cNvSpPr/>
          <p:nvPr/>
        </p:nvSpPr>
        <p:spPr>
          <a:xfrm>
            <a:off x="4692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Vignes de Tréleau Blanc</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692000" y="351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97" name="Text 95"/>
          <p:cNvSpPr/>
          <p:nvPr/>
        </p:nvSpPr>
        <p:spPr>
          <a:xfrm>
            <a:off x="4692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 Rosé</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692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Rosé de Loire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99" name="Text 97"/>
          <p:cNvSpPr/>
          <p:nvPr/>
        </p:nvSpPr>
        <p:spPr>
          <a:xfrm>
            <a:off x="4692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0" name="Text 98"/>
          <p:cNvSpPr/>
          <p:nvPr/>
        </p:nvSpPr>
        <p:spPr>
          <a:xfrm>
            <a:off x="4692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 Rosé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01" name="Text 99"/>
          <p:cNvSpPr/>
          <p:nvPr/>
        </p:nvSpPr>
        <p:spPr>
          <a:xfrm>
            <a:off x="4692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Rosé</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02" name="Text 100"/>
          <p:cNvSpPr/>
          <p:nvPr/>
        </p:nvSpPr>
        <p:spPr>
          <a:xfrm>
            <a:off x="4692000" y="426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103" name="Text 101"/>
          <p:cNvSpPr/>
          <p:nvPr/>
        </p:nvSpPr>
        <p:spPr>
          <a:xfrm>
            <a:off x="4692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04" name="Text 102"/>
          <p:cNvSpPr/>
          <p:nvPr/>
        </p:nvSpPr>
        <p:spPr>
          <a:xfrm>
            <a:off x="4692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5" name="Text 103"/>
          <p:cNvSpPr/>
          <p:nvPr/>
        </p:nvSpPr>
        <p:spPr>
          <a:xfrm>
            <a:off x="4692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Auxey-Duresses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692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Bourgogne Passe-Tout-Grain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07" name="Text 105"/>
          <p:cNvSpPr/>
          <p:nvPr/>
        </p:nvSpPr>
        <p:spPr>
          <a:xfrm>
            <a:off x="4692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Chassagne-Montrachet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8" name="Text 106"/>
          <p:cNvSpPr/>
          <p:nvPr/>
        </p:nvSpPr>
        <p:spPr>
          <a:xfrm>
            <a:off x="4692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Gevrey-Chambertin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9" name="Text 107"/>
          <p:cNvSpPr/>
          <p:nvPr/>
        </p:nvSpPr>
        <p:spPr>
          <a:xfrm>
            <a:off x="4692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Givry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0" name="Text 108"/>
          <p:cNvSpPr/>
          <p:nvPr/>
        </p:nvSpPr>
        <p:spPr>
          <a:xfrm>
            <a:off x="4692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Mâcon Rouge</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111" name="Text 109"/>
          <p:cNvSpPr/>
          <p:nvPr/>
        </p:nvSpPr>
        <p:spPr>
          <a:xfrm>
            <a:off x="4692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Menetou-Salon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2" name="Text 110"/>
          <p:cNvSpPr/>
          <p:nvPr/>
        </p:nvSpPr>
        <p:spPr>
          <a:xfrm>
            <a:off x="4692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Mercurey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3" name="Text 111"/>
          <p:cNvSpPr/>
          <p:nvPr/>
        </p:nvSpPr>
        <p:spPr>
          <a:xfrm>
            <a:off x="4692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Pinot Noir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114" name="Text 112"/>
          <p:cNvSpPr/>
          <p:nvPr/>
        </p:nvSpPr>
        <p:spPr>
          <a:xfrm>
            <a:off x="4692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Aquino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15" name="Text 113"/>
          <p:cNvSpPr/>
          <p:nvPr/>
        </p:nvSpPr>
        <p:spPr>
          <a:xfrm>
            <a:off x="4692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Aux Allots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6" name="Text 114"/>
          <p:cNvSpPr/>
          <p:nvPr/>
        </p:nvSpPr>
        <p:spPr>
          <a:xfrm>
            <a:off x="4692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117" name="Text 115"/>
          <p:cNvSpPr/>
          <p:nvPr/>
        </p:nvSpPr>
        <p:spPr>
          <a:xfrm>
            <a:off x="4692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8" name="Text 11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119" name="Text 11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Balac Rouge</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Chevalier  75 cl</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Lafargue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Cravant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Rouge</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Domaine les Guignottes Rouge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Franc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L’inopine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Rouge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Les Soudannes Rouge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Rouge – Grolleau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7" name="Text 25"/>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 Rouge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28" name="Text 26"/>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29" name="Text 27"/>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Couchant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1" name="Text 29"/>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32" name="Text 30"/>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4" name="Text 32"/>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5" name="Text 33"/>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7" name="Text 35"/>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38" name="Text 36"/>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Rouge</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9" name="Text 37"/>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 Rouge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0" name="Text 38"/>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Gamay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1" name="Text 39"/>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Mondeuse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2" name="Text 40"/>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Pinot Noir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3" name="Text 41"/>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Vacqueyras Rouge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5" name="Text 43"/>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Miraia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46" name="Text 44"/>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7" name="Text 45"/>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8" name="Text 46"/>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 Rouge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9" name="Text 47"/>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 Rouge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1" name="Text 49"/>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Premières Fleurs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52" name="Text 50"/>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Gamay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3" name="Text 51"/>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54" name="Text 52"/>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5" name="Text 53"/>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Rouge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6" name="Text 54"/>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 Probace Rouge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57" name="Text 55"/>
          <p:cNvSpPr/>
          <p:nvPr/>
        </p:nvSpPr>
        <p:spPr>
          <a:xfrm>
            <a:off x="490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Stratéus Rouge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8" name="Text 56"/>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31</a:t>
            </a:r>
            <a:endParaRPr lang="en-US" sz="690" dirty="0"/>
          </a:p>
        </p:txBody>
      </p:sp>
      <p:sp>
        <p:nvSpPr>
          <p:cNvPr id="59" name="Text 57"/>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Rouge</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60" name="Text 58"/>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39</a:t>
            </a:r>
            <a:endParaRPr lang="en-US" sz="690" dirty="0"/>
          </a:p>
        </p:txBody>
      </p:sp>
      <p:sp>
        <p:nvSpPr>
          <p:cNvPr id="61" name="Text 59"/>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2" name="Text 60"/>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Rouge  75 cl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63" name="Text 61"/>
          <p:cNvSpPr/>
          <p:nvPr/>
        </p:nvSpPr>
        <p:spPr>
          <a:xfrm>
            <a:off x="4908000" y="1926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64" name="Text 62"/>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5" name="Text 63"/>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AOC Coteaux du Layon Faye</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66" name="Text 64"/>
          <p:cNvSpPr/>
          <p:nvPr/>
        </p:nvSpPr>
        <p:spPr>
          <a:xfrm>
            <a:off x="490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Koloss Doux</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67" name="Text 65"/>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Vénus Blanc Moelleux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68" name="Text 66"/>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2023</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9" name="Text 67"/>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Or des Dentelles Blanc Moelleux  2022</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70" name="Text 68"/>
          <p:cNvSpPr/>
          <p:nvPr/>
        </p:nvSpPr>
        <p:spPr>
          <a:xfrm>
            <a:off x="4908000" y="280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71" name="Text 69"/>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Chardonnay</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2" name="Text 70"/>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Grenache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3" name="Text 71"/>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Jus de cépages – Syrah</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74" name="Text 72"/>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Mas de Lusanne Pétillant de Jus de Raisin 0 %</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5" name="Text 7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76" name="Text 7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vingt-six exposants</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DE A À Z</a:t>
            </a:r>
            <a:endParaRPr lang="en-US" sz="800" dirty="0"/>
          </a:p>
        </p:txBody>
      </p:sp>
      <p:sp>
        <p:nvSpPr>
          <p:cNvPr id="4" name="Text 2"/>
          <p:cNvSpPr/>
          <p:nvPr/>
        </p:nvSpPr>
        <p:spPr>
          <a:xfrm>
            <a:off x="61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19   </a:t>
            </a:r>
            <a:r>
              <a:rPr lang="en-US" sz="840" b="1" dirty="0">
                <a:solidFill>
                  <a:srgbClr val="46606E"/>
                </a:solidFill>
                <a:latin typeface="IBM Plex Sans" pitchFamily="34" charset="0"/>
                <a:ea typeface="IBM Plex Sans" pitchFamily="34" charset="-122"/>
                <a:cs typeface="IBM Plex Sans" pitchFamily="34" charset="-120"/>
              </a:rPr>
              <a:t>Bastide de Blacailloux   </a:t>
            </a:r>
            <a:r>
              <a:rPr lang="en-US" sz="700" dirty="0">
                <a:solidFill>
                  <a:srgbClr val="A8515F"/>
                </a:solidFill>
                <a:latin typeface="IBM Plex Sans" pitchFamily="34" charset="0"/>
                <a:ea typeface="IBM Plex Sans" pitchFamily="34" charset="-122"/>
                <a:cs typeface="IBM Plex Sans" pitchFamily="34" charset="-120"/>
              </a:rPr>
              <a:t>Provence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34</a:t>
            </a:r>
            <a:endParaRPr lang="en-US" sz="840" dirty="0"/>
          </a:p>
        </p:txBody>
      </p:sp>
      <p:sp>
        <p:nvSpPr>
          <p:cNvPr id="5" name="Text 3"/>
          <p:cNvSpPr/>
          <p:nvPr/>
        </p:nvSpPr>
        <p:spPr>
          <a:xfrm>
            <a:off x="61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25   </a:t>
            </a:r>
            <a:r>
              <a:rPr lang="en-US" sz="840" b="1" dirty="0">
                <a:solidFill>
                  <a:srgbClr val="46606E"/>
                </a:solidFill>
                <a:latin typeface="IBM Plex Sans" pitchFamily="34" charset="0"/>
                <a:ea typeface="IBM Plex Sans" pitchFamily="34" charset="-122"/>
                <a:cs typeface="IBM Plex Sans" pitchFamily="34" charset="-120"/>
              </a:rPr>
              <a:t>Chai Berteaud Manceau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9</a:t>
            </a:r>
            <a:endParaRPr lang="en-US" sz="840" dirty="0"/>
          </a:p>
        </p:txBody>
      </p:sp>
      <p:sp>
        <p:nvSpPr>
          <p:cNvPr id="6" name="Text 4"/>
          <p:cNvSpPr/>
          <p:nvPr/>
        </p:nvSpPr>
        <p:spPr>
          <a:xfrm>
            <a:off x="61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11   </a:t>
            </a:r>
            <a:r>
              <a:rPr lang="en-US" sz="840" b="1" dirty="0">
                <a:solidFill>
                  <a:srgbClr val="46606E"/>
                </a:solidFill>
                <a:latin typeface="IBM Plex Sans" pitchFamily="34" charset="0"/>
                <a:ea typeface="IBM Plex Sans" pitchFamily="34" charset="-122"/>
                <a:cs typeface="IBM Plex Sans" pitchFamily="34" charset="-120"/>
              </a:rPr>
              <a:t>Champagne Dekeyne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41</a:t>
            </a:r>
            <a:endParaRPr lang="en-US" sz="840" dirty="0"/>
          </a:p>
        </p:txBody>
      </p:sp>
      <p:sp>
        <p:nvSpPr>
          <p:cNvPr id="7" name="Text 5"/>
          <p:cNvSpPr/>
          <p:nvPr/>
        </p:nvSpPr>
        <p:spPr>
          <a:xfrm>
            <a:off x="61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   </a:t>
            </a:r>
            <a:r>
              <a:rPr lang="en-US" sz="840" b="1" dirty="0">
                <a:solidFill>
                  <a:srgbClr val="46606E"/>
                </a:solidFill>
                <a:latin typeface="IBM Plex Sans" pitchFamily="34" charset="0"/>
                <a:ea typeface="IBM Plex Sans" pitchFamily="34" charset="-122"/>
                <a:cs typeface="IBM Plex Sans" pitchFamily="34" charset="-120"/>
              </a:rPr>
              <a:t>Champagne Denis Frézier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42</a:t>
            </a:r>
            <a:endParaRPr lang="en-US" sz="840" dirty="0"/>
          </a:p>
        </p:txBody>
      </p:sp>
      <p:sp>
        <p:nvSpPr>
          <p:cNvPr id="8" name="Text 6"/>
          <p:cNvSpPr/>
          <p:nvPr/>
        </p:nvSpPr>
        <p:spPr>
          <a:xfrm>
            <a:off x="61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23   </a:t>
            </a:r>
            <a:r>
              <a:rPr lang="en-US" sz="840" b="1" dirty="0">
                <a:solidFill>
                  <a:srgbClr val="46606E"/>
                </a:solidFill>
                <a:latin typeface="IBM Plex Sans" pitchFamily="34" charset="0"/>
                <a:ea typeface="IBM Plex Sans" pitchFamily="34" charset="-122"/>
                <a:cs typeface="IBM Plex Sans" pitchFamily="34" charset="-120"/>
              </a:rPr>
              <a:t>Champagne Solemme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43</a:t>
            </a:r>
            <a:endParaRPr lang="en-US" sz="840" dirty="0"/>
          </a:p>
        </p:txBody>
      </p:sp>
      <p:sp>
        <p:nvSpPr>
          <p:cNvPr id="9" name="Text 7"/>
          <p:cNvSpPr/>
          <p:nvPr/>
        </p:nvSpPr>
        <p:spPr>
          <a:xfrm>
            <a:off x="61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   </a:t>
            </a:r>
            <a:r>
              <a:rPr lang="en-US" sz="840" b="1" dirty="0">
                <a:solidFill>
                  <a:srgbClr val="46606E"/>
                </a:solidFill>
                <a:latin typeface="IBM Plex Sans" pitchFamily="34" charset="0"/>
                <a:ea typeface="IBM Plex Sans" pitchFamily="34" charset="-122"/>
                <a:cs typeface="IBM Plex Sans" pitchFamily="34" charset="-120"/>
              </a:rPr>
              <a:t>Château Balac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31</a:t>
            </a:r>
            <a:endParaRPr lang="en-US" sz="840" dirty="0"/>
          </a:p>
        </p:txBody>
      </p:sp>
      <p:sp>
        <p:nvSpPr>
          <p:cNvPr id="10" name="Text 8"/>
          <p:cNvSpPr/>
          <p:nvPr/>
        </p:nvSpPr>
        <p:spPr>
          <a:xfrm>
            <a:off x="61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13   </a:t>
            </a:r>
            <a:r>
              <a:rPr lang="en-US" sz="840" b="1" dirty="0">
                <a:solidFill>
                  <a:srgbClr val="46606E"/>
                </a:solidFill>
                <a:latin typeface="IBM Plex Sans" pitchFamily="34" charset="0"/>
                <a:ea typeface="IBM Plex Sans" pitchFamily="34" charset="-122"/>
                <a:cs typeface="IBM Plex Sans" pitchFamily="34" charset="-120"/>
              </a:rPr>
              <a:t>Château de Gragnos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38</a:t>
            </a:r>
            <a:endParaRPr lang="en-US" sz="840" dirty="0"/>
          </a:p>
        </p:txBody>
      </p:sp>
      <p:sp>
        <p:nvSpPr>
          <p:cNvPr id="11" name="Text 9"/>
          <p:cNvSpPr/>
          <p:nvPr/>
        </p:nvSpPr>
        <p:spPr>
          <a:xfrm>
            <a:off x="61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Château du Cray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16</a:t>
            </a:r>
            <a:endParaRPr lang="en-US" sz="840" dirty="0"/>
          </a:p>
        </p:txBody>
      </p:sp>
      <p:sp>
        <p:nvSpPr>
          <p:cNvPr id="12" name="Text 10"/>
          <p:cNvSpPr/>
          <p:nvPr/>
        </p:nvSpPr>
        <p:spPr>
          <a:xfrm>
            <a:off x="61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8   </a:t>
            </a:r>
            <a:r>
              <a:rPr lang="en-US" sz="840" b="1" dirty="0">
                <a:solidFill>
                  <a:srgbClr val="46606E"/>
                </a:solidFill>
                <a:latin typeface="IBM Plex Sans" pitchFamily="34" charset="0"/>
                <a:ea typeface="IBM Plex Sans" pitchFamily="34" charset="-122"/>
                <a:cs typeface="IBM Plex Sans" pitchFamily="34" charset="-120"/>
              </a:rPr>
              <a:t>Château Falfas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29</a:t>
            </a:r>
            <a:endParaRPr lang="en-US" sz="840" dirty="0"/>
          </a:p>
        </p:txBody>
      </p:sp>
      <p:sp>
        <p:nvSpPr>
          <p:cNvPr id="13" name="Text 11"/>
          <p:cNvSpPr/>
          <p:nvPr/>
        </p:nvSpPr>
        <p:spPr>
          <a:xfrm>
            <a:off x="61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24   </a:t>
            </a:r>
            <a:r>
              <a:rPr lang="en-US" sz="840" b="1" dirty="0">
                <a:solidFill>
                  <a:srgbClr val="46606E"/>
                </a:solidFill>
                <a:latin typeface="IBM Plex Sans" pitchFamily="34" charset="0"/>
                <a:ea typeface="IBM Plex Sans" pitchFamily="34" charset="-122"/>
                <a:cs typeface="IBM Plex Sans" pitchFamily="34" charset="-120"/>
              </a:rPr>
              <a:t>Château l’Escarderie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32</a:t>
            </a:r>
            <a:endParaRPr lang="en-US" sz="840" dirty="0"/>
          </a:p>
        </p:txBody>
      </p:sp>
      <p:sp>
        <p:nvSpPr>
          <p:cNvPr id="14" name="Text 12"/>
          <p:cNvSpPr/>
          <p:nvPr/>
        </p:nvSpPr>
        <p:spPr>
          <a:xfrm>
            <a:off x="61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16   </a:t>
            </a:r>
            <a:r>
              <a:rPr lang="en-US" sz="840" b="1" dirty="0">
                <a:solidFill>
                  <a:srgbClr val="46606E"/>
                </a:solidFill>
                <a:latin typeface="IBM Plex Sans" pitchFamily="34" charset="0"/>
                <a:ea typeface="IBM Plex Sans" pitchFamily="34" charset="-122"/>
                <a:cs typeface="IBM Plex Sans" pitchFamily="34" charset="-120"/>
              </a:rPr>
              <a:t>Château Pré la Lande   </a:t>
            </a:r>
            <a:r>
              <a:rPr lang="en-US" sz="700" dirty="0">
                <a:solidFill>
                  <a:srgbClr val="A8515F"/>
                </a:solidFill>
                <a:latin typeface="IBM Plex Sans" pitchFamily="34" charset="0"/>
                <a:ea typeface="IBM Plex Sans" pitchFamily="34" charset="-122"/>
                <a:cs typeface="IBM Plex Sans" pitchFamily="34" charset="-120"/>
              </a:rPr>
              <a:t>Bordeaux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30</a:t>
            </a:r>
            <a:endParaRPr lang="en-US" sz="840" dirty="0"/>
          </a:p>
        </p:txBody>
      </p:sp>
      <p:sp>
        <p:nvSpPr>
          <p:cNvPr id="15" name="Text 13"/>
          <p:cNvSpPr/>
          <p:nvPr/>
        </p:nvSpPr>
        <p:spPr>
          <a:xfrm>
            <a:off x="61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9   </a:t>
            </a:r>
            <a:r>
              <a:rPr lang="en-US" sz="840" b="1" dirty="0">
                <a:solidFill>
                  <a:srgbClr val="46606E"/>
                </a:solidFill>
                <a:latin typeface="IBM Plex Sans" pitchFamily="34" charset="0"/>
                <a:ea typeface="IBM Plex Sans" pitchFamily="34" charset="-122"/>
                <a:cs typeface="IBM Plex Sans" pitchFamily="34" charset="-120"/>
              </a:rPr>
              <a:t>Domaine Boehler   </a:t>
            </a:r>
            <a:r>
              <a:rPr lang="en-US" sz="700" dirty="0">
                <a:solidFill>
                  <a:srgbClr val="A8515F"/>
                </a:solidFill>
                <a:latin typeface="IBM Plex Sans" pitchFamily="34" charset="0"/>
                <a:ea typeface="IBM Plex Sans" pitchFamily="34" charset="-122"/>
                <a:cs typeface="IBM Plex Sans" pitchFamily="34" charset="-120"/>
              </a:rPr>
              <a:t>Alsace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12</a:t>
            </a:r>
            <a:endParaRPr lang="en-US" sz="840" dirty="0"/>
          </a:p>
        </p:txBody>
      </p:sp>
      <p:sp>
        <p:nvSpPr>
          <p:cNvPr id="16" name="Text 14"/>
          <p:cNvSpPr/>
          <p:nvPr/>
        </p:nvSpPr>
        <p:spPr>
          <a:xfrm>
            <a:off x="61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Coyeux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21</a:t>
            </a:r>
            <a:endParaRPr lang="en-US" sz="840" dirty="0"/>
          </a:p>
        </p:txBody>
      </p:sp>
      <p:sp>
        <p:nvSpPr>
          <p:cNvPr id="17" name="Text 15"/>
          <p:cNvSpPr/>
          <p:nvPr/>
        </p:nvSpPr>
        <p:spPr>
          <a:xfrm>
            <a:off x="61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22   </a:t>
            </a:r>
            <a:r>
              <a:rPr lang="en-US" sz="840" b="1" dirty="0">
                <a:solidFill>
                  <a:srgbClr val="46606E"/>
                </a:solidFill>
                <a:latin typeface="IBM Plex Sans" pitchFamily="34" charset="0"/>
                <a:ea typeface="IBM Plex Sans" pitchFamily="34" charset="-122"/>
                <a:cs typeface="IBM Plex Sans" pitchFamily="34" charset="-120"/>
              </a:rPr>
              <a:t>Domaine de la Barbinière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6</a:t>
            </a:r>
            <a:endParaRPr lang="en-US" sz="840" dirty="0"/>
          </a:p>
        </p:txBody>
      </p:sp>
      <p:sp>
        <p:nvSpPr>
          <p:cNvPr id="18" name="Text 16"/>
          <p:cNvSpPr/>
          <p:nvPr/>
        </p:nvSpPr>
        <p:spPr>
          <a:xfrm>
            <a:off x="61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de la Pousterle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23</a:t>
            </a:r>
            <a:endParaRPr lang="en-US" sz="840" dirty="0"/>
          </a:p>
        </p:txBody>
      </p:sp>
      <p:sp>
        <p:nvSpPr>
          <p:cNvPr id="19" name="Text 17"/>
          <p:cNvSpPr/>
          <p:nvPr/>
        </p:nvSpPr>
        <p:spPr>
          <a:xfrm>
            <a:off x="61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14   </a:t>
            </a:r>
            <a:r>
              <a:rPr lang="en-US" sz="840" b="1" dirty="0">
                <a:solidFill>
                  <a:srgbClr val="46606E"/>
                </a:solidFill>
                <a:latin typeface="IBM Plex Sans" pitchFamily="34" charset="0"/>
                <a:ea typeface="IBM Plex Sans" pitchFamily="34" charset="-122"/>
                <a:cs typeface="IBM Plex Sans" pitchFamily="34" charset="-120"/>
              </a:rPr>
              <a:t>Domaine des Noëls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8</a:t>
            </a:r>
            <a:endParaRPr lang="en-US" sz="840" dirty="0"/>
          </a:p>
        </p:txBody>
      </p:sp>
      <p:sp>
        <p:nvSpPr>
          <p:cNvPr id="20" name="Text 18"/>
          <p:cNvSpPr/>
          <p:nvPr/>
        </p:nvSpPr>
        <p:spPr>
          <a:xfrm>
            <a:off x="3672000" y="129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5   </a:t>
            </a:r>
            <a:r>
              <a:rPr lang="en-US" sz="840" b="1" dirty="0">
                <a:solidFill>
                  <a:srgbClr val="46606E"/>
                </a:solidFill>
                <a:latin typeface="IBM Plex Sans" pitchFamily="34" charset="0"/>
                <a:ea typeface="IBM Plex Sans" pitchFamily="34" charset="-122"/>
                <a:cs typeface="IBM Plex Sans" pitchFamily="34" charset="-120"/>
              </a:rPr>
              <a:t>Domaine des Verchères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18</a:t>
            </a:r>
            <a:endParaRPr lang="en-US" sz="840" dirty="0"/>
          </a:p>
        </p:txBody>
      </p:sp>
      <p:sp>
        <p:nvSpPr>
          <p:cNvPr id="21" name="Text 19"/>
          <p:cNvSpPr/>
          <p:nvPr/>
        </p:nvSpPr>
        <p:spPr>
          <a:xfrm>
            <a:off x="3672000" y="158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4   </a:t>
            </a:r>
            <a:r>
              <a:rPr lang="en-US" sz="840" b="1" dirty="0">
                <a:solidFill>
                  <a:srgbClr val="46606E"/>
                </a:solidFill>
                <a:latin typeface="IBM Plex Sans" pitchFamily="34" charset="0"/>
                <a:ea typeface="IBM Plex Sans" pitchFamily="34" charset="-122"/>
                <a:cs typeface="IBM Plex Sans" pitchFamily="34" charset="-120"/>
              </a:rPr>
              <a:t>Domaine du Colombier / J.Y Bretaudeau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7</a:t>
            </a:r>
            <a:endParaRPr lang="en-US" sz="840" dirty="0"/>
          </a:p>
        </p:txBody>
      </p:sp>
      <p:sp>
        <p:nvSpPr>
          <p:cNvPr id="22" name="Text 20"/>
          <p:cNvSpPr/>
          <p:nvPr/>
        </p:nvSpPr>
        <p:spPr>
          <a:xfrm>
            <a:off x="3672000" y="187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du Moulin Blanc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22</a:t>
            </a:r>
            <a:endParaRPr lang="en-US" sz="840" dirty="0"/>
          </a:p>
        </p:txBody>
      </p:sp>
      <p:sp>
        <p:nvSpPr>
          <p:cNvPr id="23" name="Text 21"/>
          <p:cNvSpPr/>
          <p:nvPr/>
        </p:nvSpPr>
        <p:spPr>
          <a:xfrm>
            <a:off x="3672000" y="216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6   </a:t>
            </a:r>
            <a:r>
              <a:rPr lang="en-US" sz="840" b="1" dirty="0">
                <a:solidFill>
                  <a:srgbClr val="46606E"/>
                </a:solidFill>
                <a:latin typeface="IBM Plex Sans" pitchFamily="34" charset="0"/>
                <a:ea typeface="IBM Plex Sans" pitchFamily="34" charset="-122"/>
                <a:cs typeface="IBM Plex Sans" pitchFamily="34" charset="-120"/>
              </a:rPr>
              <a:t>Domaine Haut Marin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27</a:t>
            </a:r>
            <a:endParaRPr lang="en-US" sz="840" dirty="0"/>
          </a:p>
        </p:txBody>
      </p:sp>
      <p:sp>
        <p:nvSpPr>
          <p:cNvPr id="24" name="Text 22"/>
          <p:cNvSpPr/>
          <p:nvPr/>
        </p:nvSpPr>
        <p:spPr>
          <a:xfrm>
            <a:off x="3672000" y="244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17   </a:t>
            </a:r>
            <a:r>
              <a:rPr lang="en-US" sz="840" b="1" dirty="0">
                <a:solidFill>
                  <a:srgbClr val="46606E"/>
                </a:solidFill>
                <a:latin typeface="IBM Plex Sans" pitchFamily="34" charset="0"/>
                <a:ea typeface="IBM Plex Sans" pitchFamily="34" charset="-122"/>
                <a:cs typeface="IBM Plex Sans" pitchFamily="34" charset="-120"/>
              </a:rPr>
              <a:t>Domaine Jean de Villebois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12   </a:t>
            </a:r>
            <a:r>
              <a:rPr lang="en-US" sz="840" b="1" dirty="0">
                <a:solidFill>
                  <a:srgbClr val="46606E"/>
                </a:solidFill>
                <a:latin typeface="IBM Plex Sans" pitchFamily="34" charset="0"/>
                <a:ea typeface="IBM Plex Sans" pitchFamily="34" charset="-122"/>
                <a:cs typeface="IBM Plex Sans" pitchFamily="34" charset="-120"/>
              </a:rPr>
              <a:t>10</a:t>
            </a:r>
            <a:endParaRPr lang="en-US" sz="840" dirty="0"/>
          </a:p>
        </p:txBody>
      </p:sp>
      <p:sp>
        <p:nvSpPr>
          <p:cNvPr id="25" name="Text 23"/>
          <p:cNvSpPr/>
          <p:nvPr/>
        </p:nvSpPr>
        <p:spPr>
          <a:xfrm>
            <a:off x="3672000" y="273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7   </a:t>
            </a:r>
            <a:r>
              <a:rPr lang="en-US" sz="840" b="1" dirty="0">
                <a:solidFill>
                  <a:srgbClr val="46606E"/>
                </a:solidFill>
                <a:latin typeface="IBM Plex Sans" pitchFamily="34" charset="0"/>
                <a:ea typeface="IBM Plex Sans" pitchFamily="34" charset="-122"/>
                <a:cs typeface="IBM Plex Sans" pitchFamily="34" charset="-120"/>
              </a:rPr>
              <a:t>Domaine Le Prieuré des Papes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4   </a:t>
            </a:r>
            <a:r>
              <a:rPr lang="en-US" sz="840" b="1" dirty="0">
                <a:solidFill>
                  <a:srgbClr val="46606E"/>
                </a:solidFill>
                <a:latin typeface="IBM Plex Sans" pitchFamily="34" charset="0"/>
                <a:ea typeface="IBM Plex Sans" pitchFamily="34" charset="-122"/>
                <a:cs typeface="IBM Plex Sans" pitchFamily="34" charset="-120"/>
              </a:rPr>
              <a:t>20</a:t>
            </a:r>
            <a:endParaRPr lang="en-US" sz="840" dirty="0"/>
          </a:p>
        </p:txBody>
      </p:sp>
      <p:sp>
        <p:nvSpPr>
          <p:cNvPr id="26" name="Text 24"/>
          <p:cNvSpPr/>
          <p:nvPr/>
        </p:nvSpPr>
        <p:spPr>
          <a:xfrm>
            <a:off x="3672000" y="302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Domaine Les Guignottes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   </a:t>
            </a:r>
            <a:r>
              <a:rPr lang="en-US" sz="840" b="1" dirty="0">
                <a:solidFill>
                  <a:srgbClr val="46606E"/>
                </a:solidFill>
                <a:latin typeface="IBM Plex Sans" pitchFamily="34" charset="0"/>
                <a:ea typeface="IBM Plex Sans" pitchFamily="34" charset="-122"/>
                <a:cs typeface="IBM Plex Sans" pitchFamily="34" charset="-120"/>
              </a:rPr>
              <a:t>17</a:t>
            </a:r>
            <a:endParaRPr lang="en-US" sz="840" dirty="0"/>
          </a:p>
        </p:txBody>
      </p:sp>
      <p:sp>
        <p:nvSpPr>
          <p:cNvPr id="27" name="Text 25"/>
          <p:cNvSpPr/>
          <p:nvPr/>
        </p:nvSpPr>
        <p:spPr>
          <a:xfrm>
            <a:off x="3672000" y="331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18   </a:t>
            </a:r>
            <a:r>
              <a:rPr lang="en-US" sz="840" b="1" dirty="0">
                <a:solidFill>
                  <a:srgbClr val="46606E"/>
                </a:solidFill>
                <a:latin typeface="IBM Plex Sans" pitchFamily="34" charset="0"/>
                <a:ea typeface="IBM Plex Sans" pitchFamily="34" charset="-122"/>
                <a:cs typeface="IBM Plex Sans" pitchFamily="34" charset="-120"/>
              </a:rPr>
              <a:t>Domaine Sébastien Magnien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7   </a:t>
            </a:r>
            <a:r>
              <a:rPr lang="en-US" sz="840" b="1" dirty="0">
                <a:solidFill>
                  <a:srgbClr val="46606E"/>
                </a:solidFill>
                <a:latin typeface="IBM Plex Sans" pitchFamily="34" charset="0"/>
                <a:ea typeface="IBM Plex Sans" pitchFamily="34" charset="-122"/>
                <a:cs typeface="IBM Plex Sans" pitchFamily="34" charset="-120"/>
              </a:rPr>
              <a:t>14</a:t>
            </a:r>
            <a:endParaRPr lang="en-US" sz="840" dirty="0"/>
          </a:p>
        </p:txBody>
      </p:sp>
      <p:sp>
        <p:nvSpPr>
          <p:cNvPr id="28" name="Text 26"/>
          <p:cNvSpPr/>
          <p:nvPr/>
        </p:nvSpPr>
        <p:spPr>
          <a:xfrm>
            <a:off x="3672000" y="360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20   </a:t>
            </a:r>
            <a:r>
              <a:rPr lang="en-US" sz="840" b="1" dirty="0">
                <a:solidFill>
                  <a:srgbClr val="46606E"/>
                </a:solidFill>
                <a:latin typeface="IBM Plex Sans" pitchFamily="34" charset="0"/>
                <a:ea typeface="IBM Plex Sans" pitchFamily="34" charset="-122"/>
                <a:cs typeface="IBM Plex Sans" pitchFamily="34" charset="-120"/>
              </a:rPr>
              <a:t>Domaine Stratéus   </a:t>
            </a:r>
            <a:r>
              <a:rPr lang="en-US" sz="700" dirty="0">
                <a:solidFill>
                  <a:srgbClr val="A8515F"/>
                </a:solidFill>
                <a:latin typeface="IBM Plex Sans" pitchFamily="34" charset="0"/>
                <a:ea typeface="IBM Plex Sans" pitchFamily="34" charset="-122"/>
                <a:cs typeface="IBM Plex Sans" pitchFamily="34" charset="-120"/>
              </a:rPr>
              <a:t>Sud-Ouest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26</a:t>
            </a:r>
            <a:endParaRPr lang="en-US" sz="840" dirty="0"/>
          </a:p>
        </p:txBody>
      </p:sp>
      <p:sp>
        <p:nvSpPr>
          <p:cNvPr id="29" name="Text 27"/>
          <p:cNvSpPr/>
          <p:nvPr/>
        </p:nvSpPr>
        <p:spPr>
          <a:xfrm>
            <a:off x="3672000" y="388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12   </a:t>
            </a:r>
            <a:r>
              <a:rPr lang="en-US" sz="840" b="1" dirty="0">
                <a:solidFill>
                  <a:srgbClr val="46606E"/>
                </a:solidFill>
                <a:latin typeface="IBM Plex Sans" pitchFamily="34" charset="0"/>
                <a:ea typeface="IBM Plex Sans" pitchFamily="34" charset="-122"/>
                <a:cs typeface="IBM Plex Sans" pitchFamily="34" charset="-120"/>
              </a:rPr>
              <a:t>Domaine Trichon   </a:t>
            </a:r>
            <a:r>
              <a:rPr lang="en-US" sz="700" dirty="0">
                <a:solidFill>
                  <a:srgbClr val="A8515F"/>
                </a:solidFill>
                <a:latin typeface="IBM Plex Sans" pitchFamily="34" charset="0"/>
                <a:ea typeface="IBM Plex Sans" pitchFamily="34" charset="-122"/>
                <a:cs typeface="IBM Plex Sans" pitchFamily="34" charset="-120"/>
              </a:rPr>
              <a:t>Rhône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24</a:t>
            </a:r>
            <a:endParaRPr lang="en-US" sz="840" dirty="0"/>
          </a:p>
        </p:txBody>
      </p:sp>
      <p:sp>
        <p:nvSpPr>
          <p:cNvPr id="30" name="Text 28"/>
          <p:cNvSpPr/>
          <p:nvPr/>
        </p:nvSpPr>
        <p:spPr>
          <a:xfrm>
            <a:off x="3672000" y="417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36</a:t>
            </a:r>
            <a:endParaRPr lang="en-US" sz="840" dirty="0"/>
          </a:p>
        </p:txBody>
      </p:sp>
      <p:sp>
        <p:nvSpPr>
          <p:cNvPr id="31" name="Text 29"/>
          <p:cNvSpPr/>
          <p:nvPr/>
        </p:nvSpPr>
        <p:spPr>
          <a:xfrm>
            <a:off x="3672000" y="4464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21   </a:t>
            </a:r>
            <a:r>
              <a:rPr lang="en-US" sz="840" b="1" dirty="0">
                <a:solidFill>
                  <a:srgbClr val="46606E"/>
                </a:solidFill>
                <a:latin typeface="IBM Plex Sans" pitchFamily="34" charset="0"/>
                <a:ea typeface="IBM Plex Sans" pitchFamily="34" charset="-122"/>
                <a:cs typeface="IBM Plex Sans" pitchFamily="34" charset="-120"/>
              </a:rPr>
              <a:t>Famille d’Exea — Jus de Cépages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3   </a:t>
            </a:r>
            <a:r>
              <a:rPr lang="en-US" sz="840" b="1" dirty="0">
                <a:solidFill>
                  <a:srgbClr val="46606E"/>
                </a:solidFill>
                <a:latin typeface="IBM Plex Sans" pitchFamily="34" charset="0"/>
                <a:ea typeface="IBM Plex Sans" pitchFamily="34" charset="-122"/>
                <a:cs typeface="IBM Plex Sans" pitchFamily="34" charset="-120"/>
              </a:rPr>
              <a:t>37</a:t>
            </a:r>
            <a:endParaRPr lang="en-US" sz="840" dirty="0"/>
          </a:p>
        </p:txBody>
      </p:sp>
      <p:sp>
        <p:nvSpPr>
          <p:cNvPr id="32" name="Text 30"/>
          <p:cNvSpPr/>
          <p:nvPr/>
        </p:nvSpPr>
        <p:spPr>
          <a:xfrm>
            <a:off x="3672000" y="4752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10   </a:t>
            </a:r>
            <a:r>
              <a:rPr lang="en-US" sz="840" b="1" dirty="0">
                <a:solidFill>
                  <a:srgbClr val="46606E"/>
                </a:solidFill>
                <a:latin typeface="IBM Plex Sans" pitchFamily="34" charset="0"/>
                <a:ea typeface="IBM Plex Sans" pitchFamily="34" charset="-122"/>
                <a:cs typeface="IBM Plex Sans" pitchFamily="34" charset="-120"/>
              </a:rPr>
              <a:t>François Reverdy   </a:t>
            </a:r>
            <a:r>
              <a:rPr lang="en-US" sz="700" dirty="0">
                <a:solidFill>
                  <a:srgbClr val="A8515F"/>
                </a:solidFill>
                <a:latin typeface="IBM Plex Sans" pitchFamily="34" charset="0"/>
                <a:ea typeface="IBM Plex Sans" pitchFamily="34" charset="-122"/>
                <a:cs typeface="IBM Plex Sans" pitchFamily="34" charset="-120"/>
              </a:rPr>
              <a:t>Loire   </a:t>
            </a:r>
            <a:r>
              <a:rPr lang="en-US" sz="700" dirty="0">
                <a:solidFill>
                  <a:srgbClr val="46606E"/>
                </a:solidFill>
                <a:latin typeface="IBM Plex Sans" pitchFamily="34" charset="0"/>
                <a:ea typeface="IBM Plex Sans" pitchFamily="34" charset="-122"/>
                <a:cs typeface="IBM Plex Sans" pitchFamily="34" charset="-120"/>
              </a:rPr>
              <a:t>9   </a:t>
            </a:r>
            <a:r>
              <a:rPr lang="en-US" sz="840" b="1" dirty="0">
                <a:solidFill>
                  <a:srgbClr val="46606E"/>
                </a:solidFill>
                <a:latin typeface="IBM Plex Sans" pitchFamily="34" charset="0"/>
                <a:ea typeface="IBM Plex Sans" pitchFamily="34" charset="-122"/>
                <a:cs typeface="IBM Plex Sans" pitchFamily="34" charset="-120"/>
              </a:rPr>
              <a:t>5</a:t>
            </a:r>
            <a:endParaRPr lang="en-US" sz="840" dirty="0"/>
          </a:p>
        </p:txBody>
      </p:sp>
      <p:sp>
        <p:nvSpPr>
          <p:cNvPr id="33" name="Text 31"/>
          <p:cNvSpPr/>
          <p:nvPr/>
        </p:nvSpPr>
        <p:spPr>
          <a:xfrm>
            <a:off x="3672000" y="5040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26   </a:t>
            </a:r>
            <a:r>
              <a:rPr lang="en-US" sz="840" b="1" dirty="0">
                <a:solidFill>
                  <a:srgbClr val="46606E"/>
                </a:solidFill>
                <a:latin typeface="IBM Plex Sans" pitchFamily="34" charset="0"/>
                <a:ea typeface="IBM Plex Sans" pitchFamily="34" charset="-122"/>
                <a:cs typeface="IBM Plex Sans" pitchFamily="34" charset="-120"/>
              </a:rPr>
              <a:t>Maison et Domaine André Goichot   </a:t>
            </a:r>
            <a:r>
              <a:rPr lang="en-US" sz="700" dirty="0">
                <a:solidFill>
                  <a:srgbClr val="A8515F"/>
                </a:solidFill>
                <a:latin typeface="IBM Plex Sans" pitchFamily="34" charset="0"/>
                <a:ea typeface="IBM Plex Sans" pitchFamily="34" charset="-122"/>
                <a:cs typeface="IBM Plex Sans" pitchFamily="34" charset="-120"/>
              </a:rPr>
              <a:t>Bourgogne   </a:t>
            </a:r>
            <a:r>
              <a:rPr lang="en-US" sz="700" dirty="0">
                <a:solidFill>
                  <a:srgbClr val="46606E"/>
                </a:solidFill>
                <a:latin typeface="IBM Plex Sans" pitchFamily="34" charset="0"/>
                <a:ea typeface="IBM Plex Sans" pitchFamily="34" charset="-122"/>
                <a:cs typeface="IBM Plex Sans" pitchFamily="34" charset="-120"/>
              </a:rPr>
              <a:t>10   </a:t>
            </a:r>
            <a:r>
              <a:rPr lang="en-US" sz="840" b="1" dirty="0">
                <a:solidFill>
                  <a:srgbClr val="46606E"/>
                </a:solidFill>
                <a:latin typeface="IBM Plex Sans" pitchFamily="34" charset="0"/>
                <a:ea typeface="IBM Plex Sans" pitchFamily="34" charset="-122"/>
                <a:cs typeface="IBM Plex Sans" pitchFamily="34" charset="-120"/>
              </a:rPr>
              <a:t>15</a:t>
            </a:r>
            <a:endParaRPr lang="en-US" sz="840" dirty="0"/>
          </a:p>
        </p:txBody>
      </p:sp>
      <p:sp>
        <p:nvSpPr>
          <p:cNvPr id="34" name="Text 32"/>
          <p:cNvSpPr/>
          <p:nvPr/>
        </p:nvSpPr>
        <p:spPr>
          <a:xfrm>
            <a:off x="3672000" y="5328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3   </a:t>
            </a:r>
            <a:r>
              <a:rPr lang="en-US" sz="840" b="1" dirty="0">
                <a:solidFill>
                  <a:srgbClr val="46606E"/>
                </a:solidFill>
                <a:latin typeface="IBM Plex Sans" pitchFamily="34" charset="0"/>
                <a:ea typeface="IBM Plex Sans" pitchFamily="34" charset="-122"/>
                <a:cs typeface="IBM Plex Sans" pitchFamily="34" charset="-120"/>
              </a:rPr>
              <a:t>Prieuré Sainte-Marie d’Albas   </a:t>
            </a:r>
            <a:r>
              <a:rPr lang="en-US" sz="700" dirty="0">
                <a:solidFill>
                  <a:srgbClr val="A8515F"/>
                </a:solidFill>
                <a:latin typeface="IBM Plex Sans" pitchFamily="34" charset="0"/>
                <a:ea typeface="IBM Plex Sans" pitchFamily="34" charset="-122"/>
                <a:cs typeface="IBM Plex Sans" pitchFamily="34" charset="-120"/>
              </a:rPr>
              <a:t>Languedoc   </a:t>
            </a:r>
            <a:r>
              <a:rPr lang="en-US" sz="700" dirty="0">
                <a:solidFill>
                  <a:srgbClr val="46606E"/>
                </a:solidFill>
                <a:latin typeface="IBM Plex Sans" pitchFamily="34" charset="0"/>
                <a:ea typeface="IBM Plex Sans" pitchFamily="34" charset="-122"/>
                <a:cs typeface="IBM Plex Sans" pitchFamily="34" charset="-120"/>
              </a:rPr>
              <a:t>5   </a:t>
            </a:r>
            <a:r>
              <a:rPr lang="en-US" sz="840" b="1" dirty="0">
                <a:solidFill>
                  <a:srgbClr val="46606E"/>
                </a:solidFill>
                <a:latin typeface="IBM Plex Sans" pitchFamily="34" charset="0"/>
                <a:ea typeface="IBM Plex Sans" pitchFamily="34" charset="-122"/>
                <a:cs typeface="IBM Plex Sans" pitchFamily="34" charset="-120"/>
              </a:rPr>
              <a:t>39</a:t>
            </a:r>
            <a:endParaRPr lang="en-US" sz="840" dirty="0"/>
          </a:p>
        </p:txBody>
      </p:sp>
      <p:sp>
        <p:nvSpPr>
          <p:cNvPr id="35" name="Text 33"/>
          <p:cNvSpPr/>
          <p:nvPr/>
        </p:nvSpPr>
        <p:spPr>
          <a:xfrm>
            <a:off x="3672000" y="5616000"/>
            <a:ext cx="2916000" cy="252000"/>
          </a:xfrm>
          <a:prstGeom prst="rect">
            <a:avLst/>
          </a:prstGeom>
          <a:noFill/>
          <a:ln/>
        </p:spPr>
        <p:txBody>
          <a:bodyPr wrap="square" lIns="0" tIns="0" rIns="0" bIns="0" rtlCol="0" anchor="ctr"/>
          <a:lstStyle/>
          <a:p>
            <a:pPr indent="0" marL="0">
              <a:buNone/>
            </a:pPr>
            <a:r>
              <a:rPr lang="en-US" sz="1100" dirty="0">
                <a:solidFill>
                  <a:srgbClr val="67067C"/>
                </a:solidFill>
                <a:latin typeface="Young Serif" pitchFamily="34" charset="0"/>
                <a:ea typeface="Young Serif" pitchFamily="34" charset="-122"/>
                <a:cs typeface="Young Serif" pitchFamily="34" charset="-120"/>
              </a:rPr>
              <a:t>15   </a:t>
            </a:r>
            <a:r>
              <a:rPr lang="en-US" sz="840" b="1" dirty="0">
                <a:solidFill>
                  <a:srgbClr val="46606E"/>
                </a:solidFill>
                <a:latin typeface="IBM Plex Sans" pitchFamily="34" charset="0"/>
                <a:ea typeface="IBM Plex Sans" pitchFamily="34" charset="-122"/>
                <a:cs typeface="IBM Plex Sans" pitchFamily="34" charset="-120"/>
              </a:rPr>
              <a:t>Vazart-Coquart &amp; Fils   </a:t>
            </a:r>
            <a:r>
              <a:rPr lang="en-US" sz="700" dirty="0">
                <a:solidFill>
                  <a:srgbClr val="A8515F"/>
                </a:solidFill>
                <a:latin typeface="IBM Plex Sans" pitchFamily="34" charset="0"/>
                <a:ea typeface="IBM Plex Sans" pitchFamily="34" charset="-122"/>
                <a:cs typeface="IBM Plex Sans" pitchFamily="34" charset="-120"/>
              </a:rPr>
              <a:t>Champagne   </a:t>
            </a:r>
            <a:r>
              <a:rPr lang="en-US" sz="700" dirty="0">
                <a:solidFill>
                  <a:srgbClr val="46606E"/>
                </a:solidFill>
                <a:latin typeface="IBM Plex Sans" pitchFamily="34" charset="0"/>
                <a:ea typeface="IBM Plex Sans" pitchFamily="34" charset="-122"/>
                <a:cs typeface="IBM Plex Sans" pitchFamily="34" charset="-120"/>
              </a:rPr>
              <a:t>6   </a:t>
            </a:r>
            <a:r>
              <a:rPr lang="en-US" sz="840" b="1" dirty="0">
                <a:solidFill>
                  <a:srgbClr val="46606E"/>
                </a:solidFill>
                <a:latin typeface="IBM Plex Sans" pitchFamily="34" charset="0"/>
                <a:ea typeface="IBM Plex Sans" pitchFamily="34" charset="-122"/>
                <a:cs typeface="IBM Plex Sans" pitchFamily="34" charset="-120"/>
              </a:rPr>
              <a:t>44</a:t>
            </a:r>
            <a:endParaRPr lang="en-US" sz="840" dirty="0"/>
          </a:p>
        </p:txBody>
      </p:sp>
      <p:sp>
        <p:nvSpPr>
          <p:cNvPr id="36" name="Text 34"/>
          <p:cNvSpPr/>
          <p:nvPr/>
        </p:nvSpPr>
        <p:spPr>
          <a:xfrm>
            <a:off x="612000" y="8604000"/>
            <a:ext cx="6120000" cy="180000"/>
          </a:xfrm>
          <a:prstGeom prst="rect">
            <a:avLst/>
          </a:prstGeom>
          <a:noFill/>
          <a:ln/>
        </p:spPr>
        <p:txBody>
          <a:bodyPr wrap="square" lIns="0" tIns="0" rIns="0" bIns="0" rtlCol="0" anchor="ctr"/>
          <a:lstStyle/>
          <a:p>
            <a:pPr indent="0" marL="0">
              <a:buNone/>
            </a:pPr>
            <a:r>
              <a:rPr lang="en-US" sz="800" dirty="0">
                <a:solidFill>
                  <a:srgbClr val="46606E"/>
                </a:solidFill>
                <a:latin typeface="Spectral" pitchFamily="34" charset="0"/>
                <a:ea typeface="Spectral" pitchFamily="34" charset="-122"/>
                <a:cs typeface="Spectral" pitchFamily="34" charset="-120"/>
              </a:rPr>
              <a:t>Le chiffre avant la page est le nombre de vins à la dégustation.</a:t>
            </a:r>
            <a:endParaRPr lang="en-US" sz="800" dirty="0"/>
          </a:p>
        </p:txBody>
      </p:sp>
      <p:sp>
        <p:nvSpPr>
          <p:cNvPr id="37" name="Text 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38" name="Text 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6120000" cy="396000"/>
          </a:xfrm>
          <a:prstGeom prst="rect">
            <a:avLst/>
          </a:prstGeom>
          <a:noFill/>
          <a:ln/>
        </p:spPr>
        <p:txBody>
          <a:bodyPr wrap="square" lIns="0" tIns="0" rIns="0" bIns="0" rtlCol="0" anchor="ctr"/>
          <a:lstStyle/>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Salon Privé Vins &amp; Terroirs</a:t>
            </a:r>
            <a:endParaRPr lang="en-US" sz="1200" dirty="0"/>
          </a:p>
          <a:p>
            <a:pPr indent="0" marL="0">
              <a:lnSpc>
                <a:spcPct val="120000"/>
              </a:lnSpc>
              <a:buNone/>
            </a:pPr>
            <a:r>
              <a:rPr lang="en-US" sz="1200" dirty="0">
                <a:solidFill>
                  <a:srgbClr val="67067C"/>
                </a:solidFill>
                <a:latin typeface="Young Serif" pitchFamily="34" charset="0"/>
                <a:ea typeface="Young Serif" pitchFamily="34" charset="-122"/>
                <a:cs typeface="Young Serif" pitchFamily="34" charset="-120"/>
              </a:rPr>
              <a:t>Lundi 5 octobre 2026, Château de la Rairie, Pont-Saint-Martin</a:t>
            </a:r>
            <a:endParaRPr lang="en-US" sz="1200" dirty="0"/>
          </a:p>
        </p:txBody>
      </p:sp>
      <p:sp>
        <p:nvSpPr>
          <p:cNvPr id="8" name="Text 5"/>
          <p:cNvSpPr/>
          <p:nvPr/>
        </p:nvSpPr>
        <p:spPr>
          <a:xfrm>
            <a:off x="828000" y="2664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9" name="Image 1" descr="/home/user/philippe1/build/deco-salon-prive-2026/coupe-nue.png">    </p:cNvPr>
          <p:cNvPicPr>
            <a:picLocks noChangeAspect="1"/>
          </p:cNvPicPr>
          <p:nvPr/>
        </p:nvPicPr>
        <p:blipFill>
          <a:blip r:embed="rId2"/>
          <a:stretch>
            <a:fillRect/>
          </a:stretch>
        </p:blipFill>
        <p:spPr>
          <a:xfrm>
            <a:off x="828000" y="3420000"/>
            <a:ext cx="6120000" cy="956455"/>
          </a:xfrm>
          <a:prstGeom prst="rect">
            <a:avLst/>
          </a:prstGeom>
        </p:spPr>
      </p:pic>
      <p:sp>
        <p:nvSpPr>
          <p:cNvPr id="10" name="Shape 6"/>
          <p:cNvSpPr/>
          <p:nvPr/>
        </p:nvSpPr>
        <p:spPr>
          <a:xfrm>
            <a:off x="828000" y="4788000"/>
            <a:ext cx="6120000" cy="0"/>
          </a:xfrm>
          <a:prstGeom prst="line">
            <a:avLst/>
          </a:prstGeom>
          <a:noFill/>
          <a:ln w="10160">
            <a:solidFill>
              <a:srgbClr val="67067C"/>
            </a:solidFill>
            <a:prstDash val="solid"/>
          </a:ln>
        </p:spPr>
      </p:sp>
      <p:sp>
        <p:nvSpPr>
          <p:cNvPr id="11" name="Text 7"/>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2" name="Text 8"/>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3" name="Text 9"/>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4" name="Text 10"/>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5" name="Text 11"/>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6" name="Text 12"/>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7" name="Shape 13"/>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8" name="Text 14"/>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Salon Privé Vins &amp; Terroirs — Lundi 5 octobre 2026</dc:title>
  <dc:subject>PptxGenJS Presentation</dc:subject>
  <dc:creator>Agence SCIO Vins &amp; Spirits</dc:creator>
  <cp:lastModifiedBy>Agence SCIO Vins &amp; Spirits</cp:lastModifiedBy>
  <cp:revision>1</cp:revision>
  <dcterms:created xsi:type="dcterms:W3CDTF">2026-10-02T16:53:19Z</dcterms:created>
  <dcterms:modified xsi:type="dcterms:W3CDTF">2026-10-02T16:53:19Z</dcterms:modified>
</cp:coreProperties>
</file>