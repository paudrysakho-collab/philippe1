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7560000" cy="9360000"/>
  <p:notesSz cx="9360000" cy="7560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3.png"/><Relationship Id="rId5" Type="http://schemas.openxmlformats.org/officeDocument/2006/relationships/image" Target="../media/image-3-5.png"/><Relationship Id="rId6" Type="http://schemas.openxmlformats.org/officeDocument/2006/relationships/image" Target="../media/image-3-5.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slideLayout" Target="../slideLayouts/slideLayout1.xml"/><Relationship Id="rId10"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slideLayout" Target="../slideLayouts/slideLayout1.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slideLayout" Target="../slideLayouts/slideLayout1.xml"/><Relationship Id="rId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slideLayout" Target="../slideLayouts/slideLayout1.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slideLayout" Target="../slideLayouts/slideLayout1.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slideLayout" Target="../slideLayouts/slideLayout1.xml"/><Relationship Id="rId7"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slideLayout" Target="../slideLayouts/slideLayout1.xml"/><Relationship Id="rId7"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slideLayout" Target="../slideLayouts/slideLayout1.xml"/><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image" Target="../media/image-28-5.png"/><Relationship Id="rId6" Type="http://schemas.openxmlformats.org/officeDocument/2006/relationships/slideLayout" Target="../slideLayouts/slideLayout1.xml"/><Relationship Id="rId7"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slideLayout" Target="../slideLayouts/slideLayout1.xml"/><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slideLayout" Target="../slideLayouts/slideLayout1.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slideLayout" Target="../slideLayouts/slideLayout1.xml"/><Relationship Id="rId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image" Target="../media/image-32-4.png"/><Relationship Id="rId5" Type="http://schemas.openxmlformats.org/officeDocument/2006/relationships/image" Target="../media/image-32-5.png"/><Relationship Id="rId6" Type="http://schemas.openxmlformats.org/officeDocument/2006/relationships/slideLayout" Target="../slideLayouts/slideLayout1.xml"/><Relationship Id="rId7"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png"/><Relationship Id="rId4" Type="http://schemas.openxmlformats.org/officeDocument/2006/relationships/image" Target="../media/image-33-4.png"/><Relationship Id="rId5" Type="http://schemas.openxmlformats.org/officeDocument/2006/relationships/image" Target="../media/image-33-5.png"/><Relationship Id="rId6" Type="http://schemas.openxmlformats.org/officeDocument/2006/relationships/slideLayout" Target="../slideLayouts/slideLayout1.xml"/><Relationship Id="rId7"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png"/><Relationship Id="rId4" Type="http://schemas.openxmlformats.org/officeDocument/2006/relationships/image" Target="../media/image-34-4.png"/><Relationship Id="rId5" Type="http://schemas.openxmlformats.org/officeDocument/2006/relationships/image" Target="../media/image-34-5.png"/><Relationship Id="rId6" Type="http://schemas.openxmlformats.org/officeDocument/2006/relationships/slideLayout" Target="../slideLayouts/slideLayout1.xml"/><Relationship Id="rId7"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slideLayout" Target="../slideLayouts/slideLayout1.xm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image" Target="../media/image-36-3.png"/><Relationship Id="rId4" Type="http://schemas.openxmlformats.org/officeDocument/2006/relationships/image" Target="../media/image-36-4.png"/><Relationship Id="rId5" Type="http://schemas.openxmlformats.org/officeDocument/2006/relationships/slideLayout" Target="../slideLayouts/slideLayout1.xml"/><Relationship Id="rId6"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slideLayout" Target="../slideLayouts/slideLayout1.xm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image" Target="../media/image-38-3.png"/><Relationship Id="rId4" Type="http://schemas.openxmlformats.org/officeDocument/2006/relationships/image" Target="../media/image-38-4.png"/><Relationship Id="rId5" Type="http://schemas.openxmlformats.org/officeDocument/2006/relationships/image" Target="../media/image-38-5.png"/><Relationship Id="rId6" Type="http://schemas.openxmlformats.org/officeDocument/2006/relationships/slideLayout" Target="../slideLayouts/slideLayout1.xml"/><Relationship Id="rId7"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image" Target="../media/image-39-3.png"/><Relationship Id="rId4" Type="http://schemas.openxmlformats.org/officeDocument/2006/relationships/image" Target="../media/image-39-4.png"/><Relationship Id="rId5" Type="http://schemas.openxmlformats.org/officeDocument/2006/relationships/image" Target="../media/image-39-5.png"/><Relationship Id="rId6" Type="http://schemas.openxmlformats.org/officeDocument/2006/relationships/slideLayout" Target="../slideLayouts/slideLayout1.xml"/><Relationship Id="rId7"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image" Target="../media/image-40-3.png"/><Relationship Id="rId4" Type="http://schemas.openxmlformats.org/officeDocument/2006/relationships/image" Target="../media/image-40-4.png"/><Relationship Id="rId5" Type="http://schemas.openxmlformats.org/officeDocument/2006/relationships/image" Target="../media/image-40-5.png"/><Relationship Id="rId6" Type="http://schemas.openxmlformats.org/officeDocument/2006/relationships/slideLayout" Target="../slideLayouts/slideLayout1.xml"/><Relationship Id="rId7"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slideLayout" Target="../slideLayouts/slideLayout1.xml"/><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image" Target="../media/image-42-2.png"/><Relationship Id="rId3" Type="http://schemas.openxmlformats.org/officeDocument/2006/relationships/image" Target="../media/image-42-3.png"/><Relationship Id="rId4" Type="http://schemas.openxmlformats.org/officeDocument/2006/relationships/image" Target="../media/image-42-4.png"/><Relationship Id="rId5" Type="http://schemas.openxmlformats.org/officeDocument/2006/relationships/image" Target="../media/image-42-5.png"/><Relationship Id="rId6" Type="http://schemas.openxmlformats.org/officeDocument/2006/relationships/slideLayout" Target="../slideLayouts/slideLayout1.xml"/><Relationship Id="rId7"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image" Target="../media/image-43-3.png"/><Relationship Id="rId4" Type="http://schemas.openxmlformats.org/officeDocument/2006/relationships/image" Target="../media/image-43-4.png"/><Relationship Id="rId5" Type="http://schemas.openxmlformats.org/officeDocument/2006/relationships/image" Target="../media/image-43-5.png"/><Relationship Id="rId6" Type="http://schemas.openxmlformats.org/officeDocument/2006/relationships/slideLayout" Target="../slideLayouts/slideLayout1.xml"/><Relationship Id="rId7"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image" Target="../media/image-44-3.png"/><Relationship Id="rId4" Type="http://schemas.openxmlformats.org/officeDocument/2006/relationships/image" Target="../media/image-44-4.png"/><Relationship Id="rId5" Type="http://schemas.openxmlformats.org/officeDocument/2006/relationships/image" Target="../media/image-44-5.png"/><Relationship Id="rId6" Type="http://schemas.openxmlformats.org/officeDocument/2006/relationships/slideLayout" Target="../slideLayouts/slideLayout1.xml"/><Relationship Id="rId7"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image" Target="../media/image-45-2.png"/><Relationship Id="rId3" Type="http://schemas.openxmlformats.org/officeDocument/2006/relationships/image" Target="../media/image-45-3.png"/><Relationship Id="rId4" Type="http://schemas.openxmlformats.org/officeDocument/2006/relationships/image" Target="../media/image-45-4.png"/><Relationship Id="rId5" Type="http://schemas.openxmlformats.org/officeDocument/2006/relationships/image" Target="../media/image-45-5.png"/><Relationship Id="rId6" Type="http://schemas.openxmlformats.org/officeDocument/2006/relationships/slideLayout" Target="../slideLayouts/slideLayout1.xml"/><Relationship Id="rId7"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image" Target="../media/image-52-2.png"/><Relationship Id="rId3" Type="http://schemas.openxmlformats.org/officeDocument/2006/relationships/slideLayout" Target="../slideLayouts/slideLayout1.xml"/><Relationship Id="rId4"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oupe-titree.png">    </p:cNvPr>
          <p:cNvPicPr>
            <a:picLocks noChangeAspect="1"/>
          </p:cNvPicPr>
          <p:nvPr/>
        </p:nvPicPr>
        <p:blipFill>
          <a:blip r:embed="rId1"/>
          <a:stretch>
            <a:fillRect/>
          </a:stretch>
        </p:blipFill>
        <p:spPr>
          <a:xfrm>
            <a:off x="0" y="4032000"/>
            <a:ext cx="7560000" cy="5328000"/>
          </a:xfrm>
          <a:prstGeom prst="rect">
            <a:avLst/>
          </a:prstGeom>
        </p:spPr>
      </p:pic>
      <p:pic>
        <p:nvPicPr>
          <p:cNvPr id="3" name="Image 1" descr="/home/user/philippe1/src/images/logo-agence-scio-detoure.png">    </p:cNvPr>
          <p:cNvPicPr>
            <a:picLocks noChangeAspect="1"/>
          </p:cNvPicPr>
          <p:nvPr/>
        </p:nvPicPr>
        <p:blipFill>
          <a:blip r:embed="rId2"/>
          <a:stretch>
            <a:fillRect/>
          </a:stretch>
        </p:blipFill>
        <p:spPr>
          <a:xfrm>
            <a:off x="612000" y="612000"/>
            <a:ext cx="2232000" cy="543915"/>
          </a:xfrm>
          <a:prstGeom prst="rect">
            <a:avLst/>
          </a:prstGeom>
        </p:spPr>
      </p:pic>
      <p:sp>
        <p:nvSpPr>
          <p:cNvPr id="4" name="Text 0"/>
          <p:cNvSpPr/>
          <p:nvPr/>
        </p:nvSpPr>
        <p:spPr>
          <a:xfrm>
            <a:off x="612000" y="1512000"/>
            <a:ext cx="5940000" cy="1224000"/>
          </a:xfrm>
          <a:prstGeom prst="rect">
            <a:avLst/>
          </a:prstGeom>
          <a:noFill/>
          <a:ln/>
        </p:spPr>
        <p:txBody>
          <a:bodyPr wrap="square" lIns="0" tIns="0" rIns="0" bIns="0" rtlCol="0" anchor="ctr"/>
          <a:lstStyle/>
          <a:p>
            <a:pPr indent="0" marL="0">
              <a:lnSpc>
                <a:spcPct val="92000"/>
              </a:lnSpc>
              <a:buNone/>
            </a:pPr>
            <a:r>
              <a:rPr lang="en-US" sz="4400" dirty="0">
                <a:solidFill>
                  <a:srgbClr val="46606E"/>
                </a:solidFill>
                <a:latin typeface="Young Serif" pitchFamily="34" charset="0"/>
                <a:ea typeface="Young Serif" pitchFamily="34" charset="-122"/>
                <a:cs typeface="Young Serif" pitchFamily="34" charset="-120"/>
              </a:rPr>
              <a:t>Salon Privé</a:t>
            </a:r>
            <a:endParaRPr lang="en-US" sz="4400" dirty="0"/>
          </a:p>
          <a:p>
            <a:pPr indent="0" marL="0">
              <a:lnSpc>
                <a:spcPct val="92000"/>
              </a:lnSpc>
              <a:buNone/>
            </a:pPr>
            <a:r>
              <a:rPr lang="en-US" sz="4400" dirty="0">
                <a:solidFill>
                  <a:srgbClr val="67067C"/>
                </a:solidFill>
                <a:latin typeface="Young Serif" pitchFamily="34" charset="0"/>
                <a:ea typeface="Young Serif" pitchFamily="34" charset="-122"/>
                <a:cs typeface="Young Serif" pitchFamily="34" charset="-120"/>
              </a:rPr>
              <a:t>Vins &amp; Terroirs</a:t>
            </a:r>
            <a:endParaRPr lang="en-US" sz="4400" dirty="0"/>
          </a:p>
        </p:txBody>
      </p:sp>
      <p:sp>
        <p:nvSpPr>
          <p:cNvPr id="5" name="Text 1"/>
          <p:cNvSpPr/>
          <p:nvPr/>
        </p:nvSpPr>
        <p:spPr>
          <a:xfrm>
            <a:off x="612000" y="3204000"/>
            <a:ext cx="4320000" cy="504000"/>
          </a:xfrm>
          <a:prstGeom prst="rect">
            <a:avLst/>
          </a:prstGeom>
          <a:noFill/>
          <a:ln/>
        </p:spPr>
        <p:txBody>
          <a:bodyPr wrap="square" lIns="0" tIns="0" rIns="0" bIns="0" rtlCol="0" anchor="ctr"/>
          <a:lstStyle/>
          <a:p>
            <a:pPr indent="0" marL="0">
              <a:lnSpc>
                <a:spcPct val="140000"/>
              </a:lnSpc>
              <a:buNone/>
            </a:pPr>
            <a:r>
              <a:rPr lang="en-US" sz="1050" dirty="0">
                <a:solidFill>
                  <a:srgbClr val="46606E"/>
                </a:solidFill>
                <a:latin typeface="Spectral" pitchFamily="34" charset="0"/>
                <a:ea typeface="Spectral" pitchFamily="34" charset="-122"/>
                <a:cs typeface="Spectral" pitchFamily="34" charset="-120"/>
              </a:rPr>
              <a:t>Vingt-six vignerons, neuf régions,</a:t>
            </a:r>
            <a:endParaRPr lang="en-US" sz="1050" dirty="0"/>
          </a:p>
          <a:p>
            <a:pPr indent="0" marL="0">
              <a:lnSpc>
                <a:spcPct val="140000"/>
              </a:lnSpc>
              <a:buNone/>
            </a:pPr>
            <a:r>
              <a:rPr lang="en-US" sz="1050" dirty="0">
                <a:solidFill>
                  <a:srgbClr val="46606E"/>
                </a:solidFill>
                <a:latin typeface="Spectral" pitchFamily="34" charset="0"/>
                <a:ea typeface="Spectral" pitchFamily="34" charset="-122"/>
                <a:cs typeface="Spectral" pitchFamily="34" charset="-120"/>
              </a:rPr>
              <a:t>et la terre qu'ils ont sous les pieds.</a:t>
            </a:r>
            <a:endParaRPr lang="en-US" sz="1050" dirty="0"/>
          </a:p>
        </p:txBody>
      </p:sp>
      <p:sp>
        <p:nvSpPr>
          <p:cNvPr id="6" name="Text 2"/>
          <p:cNvSpPr/>
          <p:nvPr/>
        </p:nvSpPr>
        <p:spPr>
          <a:xfrm>
            <a:off x="3528000" y="576000"/>
            <a:ext cx="3420000" cy="306000"/>
          </a:xfrm>
          <a:prstGeom prst="rect">
            <a:avLst/>
          </a:prstGeom>
          <a:noFill/>
          <a:ln/>
        </p:spPr>
        <p:txBody>
          <a:bodyPr wrap="square" lIns="0" tIns="0" rIns="0" bIns="0" rtlCol="0" anchor="t"/>
          <a:lstStyle/>
          <a:p>
            <a:pPr algn="r" indent="0" marL="0">
              <a:buNone/>
            </a:pPr>
            <a:r>
              <a:rPr lang="en-US" sz="1900" dirty="0">
                <a:solidFill>
                  <a:srgbClr val="67067C"/>
                </a:solidFill>
                <a:latin typeface="Young Serif" pitchFamily="34" charset="0"/>
                <a:ea typeface="Young Serif" pitchFamily="34" charset="-122"/>
                <a:cs typeface="Young Serif" pitchFamily="34" charset="-120"/>
              </a:rPr>
              <a:t>Lundi 5 octobre 2026</a:t>
            </a:r>
            <a:endParaRPr lang="en-US" sz="1900" dirty="0"/>
          </a:p>
        </p:txBody>
      </p:sp>
      <p:sp>
        <p:nvSpPr>
          <p:cNvPr id="7" name="Text 3"/>
          <p:cNvSpPr/>
          <p:nvPr/>
        </p:nvSpPr>
        <p:spPr>
          <a:xfrm>
            <a:off x="3528000" y="900000"/>
            <a:ext cx="3420000" cy="324000"/>
          </a:xfrm>
          <a:prstGeom prst="rect">
            <a:avLst/>
          </a:prstGeom>
          <a:noFill/>
          <a:ln/>
        </p:spPr>
        <p:txBody>
          <a:bodyPr wrap="square" lIns="0" tIns="0" rIns="0" bIns="0" rtlCol="0" anchor="t"/>
          <a:lstStyle/>
          <a:p>
            <a:pPr algn="r" indent="0" marL="0">
              <a:lnSpc>
                <a:spcPct val="120000"/>
              </a:lnSpc>
              <a:buNone/>
            </a:pPr>
            <a:r>
              <a:rPr lang="en-US" sz="900" b="1" spc="30" kern="0" dirty="0">
                <a:solidFill>
                  <a:srgbClr val="46606E"/>
                </a:solidFill>
                <a:latin typeface="IBM Plex Sans" pitchFamily="34" charset="0"/>
                <a:ea typeface="IBM Plex Sans" pitchFamily="34" charset="-122"/>
                <a:cs typeface="IBM Plex Sans" pitchFamily="34" charset="-120"/>
              </a:rPr>
              <a:t>CHÂTEAU DE LA RAIRIE</a:t>
            </a:r>
            <a:endParaRPr lang="en-US" sz="900" dirty="0"/>
          </a:p>
          <a:p>
            <a:pPr algn="r" indent="0" marL="0">
              <a:lnSpc>
                <a:spcPct val="120000"/>
              </a:lnSpc>
              <a:buNone/>
            </a:pPr>
            <a:r>
              <a:rPr lang="en-US" sz="900" b="1" spc="30" kern="0" dirty="0">
                <a:solidFill>
                  <a:srgbClr val="46606E"/>
                </a:solidFill>
                <a:latin typeface="IBM Plex Sans" pitchFamily="34" charset="0"/>
                <a:ea typeface="IBM Plex Sans" pitchFamily="34" charset="-122"/>
                <a:cs typeface="IBM Plex Sans" pitchFamily="34" charset="-120"/>
              </a:rPr>
              <a:t>PONT-SAINT-MARTIN</a:t>
            </a:r>
            <a:endParaRPr lang="en-US" sz="900" dirty="0"/>
          </a:p>
        </p:txBody>
      </p:sp>
      <p:sp>
        <p:nvSpPr>
          <p:cNvPr id="8" name="Text 4"/>
          <p:cNvSpPr/>
          <p:nvPr/>
        </p:nvSpPr>
        <p:spPr>
          <a:xfrm>
            <a:off x="612000" y="8892000"/>
            <a:ext cx="5040000" cy="180000"/>
          </a:xfrm>
          <a:prstGeom prst="rect">
            <a:avLst/>
          </a:prstGeom>
          <a:noFill/>
          <a:ln/>
        </p:spPr>
        <p:txBody>
          <a:bodyPr wrap="square" lIns="0" tIns="0" rIns="0" bIns="0" rtlCol="0" anchor="ctr"/>
          <a:lstStyle/>
          <a:p>
            <a:pPr indent="0" marL="0">
              <a:buNone/>
            </a:pPr>
            <a:r>
              <a:rPr lang="en-US" sz="560" dirty="0">
                <a:solidFill>
                  <a:srgbClr val="FBF8F1"/>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2EADA"/>
        </a:solidFill>
      </p:bgPr>
    </p:bg>
    <p:spTree>
      <p:nvGrpSpPr>
        <p:cNvPr id="1" name=""/>
        <p:cNvGrpSpPr/>
        <p:nvPr/>
      </p:nvGrpSpPr>
      <p:grpSpPr>
        <a:xfrm>
          <a:off x="0" y="0"/>
          <a:ext cx="0" cy="0"/>
          <a:chOff x="0" y="0"/>
          <a:chExt cx="0" cy="0"/>
        </a:xfrm>
      </p:grpSpPr>
      <p:pic>
        <p:nvPicPr>
          <p:cNvPr id="2" name="Image 0" descr="/home/user/philippe1/src/images/logo-agence-scio-detoure.png">    </p:cNvPr>
          <p:cNvPicPr>
            <a:picLocks noChangeAspect="1"/>
          </p:cNvPicPr>
          <p:nvPr/>
        </p:nvPicPr>
        <p:blipFill>
          <a:blip r:embed="rId1"/>
          <a:stretch>
            <a:fillRect/>
          </a:stretch>
        </p:blipFill>
        <p:spPr>
          <a:xfrm>
            <a:off x="828000" y="540000"/>
            <a:ext cx="2664000" cy="649188"/>
          </a:xfrm>
          <a:prstGeom prst="rect">
            <a:avLst/>
          </a:prstGeom>
        </p:spPr>
      </p:pic>
      <p:sp>
        <p:nvSpPr>
          <p:cNvPr id="3" name="Text 0"/>
          <p:cNvSpPr/>
          <p:nvPr/>
        </p:nvSpPr>
        <p:spPr>
          <a:xfrm>
            <a:off x="828000" y="1692000"/>
            <a:ext cx="5400000" cy="1440000"/>
          </a:xfrm>
          <a:prstGeom prst="rect">
            <a:avLst/>
          </a:prstGeom>
          <a:noFill/>
          <a:ln/>
        </p:spPr>
        <p:txBody>
          <a:bodyPr wrap="square" lIns="0" tIns="0" rIns="0" bIns="0" rtlCol="0" anchor="ctr"/>
          <a:lstStyle/>
          <a:p>
            <a:pPr indent="0" marL="0">
              <a:lnSpc>
                <a:spcPct val="128000"/>
              </a:lnSpc>
              <a:buNone/>
            </a:pPr>
            <a:r>
              <a:rPr lang="en-US" sz="1600" dirty="0">
                <a:solidFill>
                  <a:srgbClr val="46606E"/>
                </a:solidFill>
                <a:latin typeface="Young Serif" pitchFamily="34" charset="0"/>
                <a:ea typeface="Young Serif" pitchFamily="34" charset="-122"/>
                <a:cs typeface="Young Serif" pitchFamily="34" charset="-120"/>
              </a:rPr>
              <a:t>L'Agence SCIO, c'est </a:t>
            </a:r>
            <a:r>
              <a:rPr lang="en-US" sz="1600" dirty="0">
                <a:solidFill>
                  <a:srgbClr val="67067C"/>
                </a:solidFill>
                <a:latin typeface="Young Serif" pitchFamily="34" charset="0"/>
                <a:ea typeface="Young Serif" pitchFamily="34" charset="-122"/>
                <a:cs typeface="Young Serif" pitchFamily="34" charset="-120"/>
              </a:rPr>
              <a:t>partager notre savoir et notre passion</a:t>
            </a:r>
            <a:r>
              <a:rPr lang="en-US" sz="1600" dirty="0">
                <a:solidFill>
                  <a:srgbClr val="46606E"/>
                </a:solidFill>
                <a:latin typeface="Young Serif" pitchFamily="34" charset="0"/>
                <a:ea typeface="Young Serif" pitchFamily="34" charset="-122"/>
                <a:cs typeface="Young Serif" pitchFamily="34" charset="-120"/>
              </a:rPr>
              <a:t> en vous proposant des vignerons de tous horizons, avant-gardistes et respectueux de la nature. Découvrez notre sélection. Laissez-vous guider et conseiller.</a:t>
            </a:r>
            <a:endParaRPr lang="en-US" sz="1600" dirty="0"/>
          </a:p>
        </p:txBody>
      </p:sp>
      <p:sp>
        <p:nvSpPr>
          <p:cNvPr id="4" name="Text 1"/>
          <p:cNvSpPr/>
          <p:nvPr/>
        </p:nvSpPr>
        <p:spPr>
          <a:xfrm>
            <a:off x="828000" y="3276000"/>
            <a:ext cx="180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LAURENT</a:t>
            </a:r>
            <a:endParaRPr lang="en-US" sz="800" dirty="0"/>
          </a:p>
        </p:txBody>
      </p:sp>
      <p:sp>
        <p:nvSpPr>
          <p:cNvPr id="5" name="Text 2"/>
          <p:cNvSpPr/>
          <p:nvPr/>
        </p:nvSpPr>
        <p:spPr>
          <a:xfrm>
            <a:off x="828000" y="3456000"/>
            <a:ext cx="1800000" cy="324000"/>
          </a:xfrm>
          <a:prstGeom prst="rect">
            <a:avLst/>
          </a:prstGeom>
          <a:noFill/>
          <a:ln/>
        </p:spPr>
        <p:txBody>
          <a:bodyPr wrap="square" lIns="0" tIns="0" rIns="0" bIns="0" rtlCol="0" anchor="ctr"/>
          <a:lstStyle/>
          <a:p>
            <a:pPr indent="0" marL="0">
              <a:buNone/>
            </a:pPr>
            <a:r>
              <a:rPr lang="en-US" sz="1700" dirty="0">
                <a:solidFill>
                  <a:srgbClr val="67067C"/>
                </a:solidFill>
                <a:latin typeface="Young Serif" pitchFamily="34" charset="0"/>
                <a:ea typeface="Young Serif" pitchFamily="34" charset="-122"/>
                <a:cs typeface="Young Serif" pitchFamily="34" charset="-120"/>
              </a:rPr>
              <a:t>06 80 88 07 55</a:t>
            </a:r>
            <a:endParaRPr lang="en-US" sz="1700" dirty="0"/>
          </a:p>
        </p:txBody>
      </p:sp>
      <p:sp>
        <p:nvSpPr>
          <p:cNvPr id="6" name="Text 3"/>
          <p:cNvSpPr/>
          <p:nvPr/>
        </p:nvSpPr>
        <p:spPr>
          <a:xfrm>
            <a:off x="2808000" y="3276000"/>
            <a:ext cx="180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CARLINE</a:t>
            </a:r>
            <a:endParaRPr lang="en-US" sz="800" dirty="0"/>
          </a:p>
        </p:txBody>
      </p:sp>
      <p:sp>
        <p:nvSpPr>
          <p:cNvPr id="7" name="Text 4"/>
          <p:cNvSpPr/>
          <p:nvPr/>
        </p:nvSpPr>
        <p:spPr>
          <a:xfrm>
            <a:off x="2808000" y="3456000"/>
            <a:ext cx="1800000" cy="324000"/>
          </a:xfrm>
          <a:prstGeom prst="rect">
            <a:avLst/>
          </a:prstGeom>
          <a:noFill/>
          <a:ln/>
        </p:spPr>
        <p:txBody>
          <a:bodyPr wrap="square" lIns="0" tIns="0" rIns="0" bIns="0" rtlCol="0" anchor="ctr"/>
          <a:lstStyle/>
          <a:p>
            <a:pPr indent="0" marL="0">
              <a:buNone/>
            </a:pPr>
            <a:r>
              <a:rPr lang="en-US" sz="1700" dirty="0">
                <a:solidFill>
                  <a:srgbClr val="67067C"/>
                </a:solidFill>
                <a:latin typeface="Young Serif" pitchFamily="34" charset="0"/>
                <a:ea typeface="Young Serif" pitchFamily="34" charset="-122"/>
                <a:cs typeface="Young Serif" pitchFamily="34" charset="-120"/>
              </a:rPr>
              <a:t>06 49 19 16 75</a:t>
            </a:r>
            <a:endParaRPr lang="en-US" sz="1700" dirty="0"/>
          </a:p>
        </p:txBody>
      </p:sp>
      <p:sp>
        <p:nvSpPr>
          <p:cNvPr id="8" name="Text 5"/>
          <p:cNvSpPr/>
          <p:nvPr/>
        </p:nvSpPr>
        <p:spPr>
          <a:xfrm>
            <a:off x="828000" y="3924000"/>
            <a:ext cx="4320000" cy="720000"/>
          </a:xfrm>
          <a:prstGeom prst="rect">
            <a:avLst/>
          </a:prstGeom>
          <a:noFill/>
          <a:ln/>
        </p:spPr>
        <p:txBody>
          <a:bodyPr wrap="square" lIns="0" tIns="0" rIns="0" bIns="0" rtlCol="0" anchor="ctr"/>
          <a:lstStyle/>
          <a:p>
            <a:pPr indent="0" marL="0">
              <a:lnSpc>
                <a:spcPct val="160000"/>
              </a:lnSpc>
              <a:buNone/>
            </a:pPr>
            <a:r>
              <a:rPr lang="en-US" sz="1000" dirty="0">
                <a:solidFill>
                  <a:srgbClr val="46606E"/>
                </a:solidFill>
                <a:latin typeface="Spectral" pitchFamily="34" charset="0"/>
                <a:ea typeface="Spectral" pitchFamily="34" charset="-122"/>
                <a:cs typeface="Spectral" pitchFamily="34" charset="-120"/>
              </a:rPr>
              <a:t>71 avenue de la Libération — 44400 Rezé</a:t>
            </a:r>
            <a:endParaRPr lang="en-US" sz="1000" dirty="0"/>
          </a:p>
          <a:p>
            <a:pPr indent="0" marL="0">
              <a:lnSpc>
                <a:spcPct val="160000"/>
              </a:lnSpc>
              <a:buNone/>
            </a:pPr>
            <a:r>
              <a:rPr lang="en-US" sz="1000" dirty="0">
                <a:solidFill>
                  <a:srgbClr val="46606E"/>
                </a:solidFill>
                <a:latin typeface="Spectral" pitchFamily="34" charset="0"/>
                <a:ea typeface="Spectral" pitchFamily="34" charset="-122"/>
                <a:cs typeface="Spectral" pitchFamily="34" charset="-120"/>
              </a:rPr>
              <a:t>contact@agencescio.com</a:t>
            </a:r>
            <a:endParaRPr lang="en-US" sz="1000" dirty="0"/>
          </a:p>
          <a:p>
            <a:pPr indent="0" marL="0">
              <a:lnSpc>
                <a:spcPct val="160000"/>
              </a:lnSpc>
              <a:buNone/>
            </a:pPr>
            <a:r>
              <a:rPr lang="en-US" sz="1000" dirty="0">
                <a:solidFill>
                  <a:srgbClr val="46606E"/>
                </a:solidFill>
                <a:latin typeface="Spectral" pitchFamily="34" charset="0"/>
                <a:ea typeface="Spectral" pitchFamily="34" charset="-122"/>
                <a:cs typeface="Spectral" pitchFamily="34" charset="-120"/>
              </a:rPr>
              <a:t>www.agencescio.com</a:t>
            </a:r>
            <a:endParaRPr lang="en-US" sz="1000" dirty="0"/>
          </a:p>
        </p:txBody>
      </p:sp>
      <p:sp>
        <p:nvSpPr>
          <p:cNvPr id="9" name="Shape 6"/>
          <p:cNvSpPr/>
          <p:nvPr/>
        </p:nvSpPr>
        <p:spPr>
          <a:xfrm>
            <a:off x="828000" y="4932000"/>
            <a:ext cx="6120000" cy="1296000"/>
          </a:xfrm>
          <a:prstGeom prst="rect">
            <a:avLst/>
          </a:prstGeom>
          <a:solidFill>
            <a:srgbClr val="FBF8F1"/>
          </a:solidFill>
          <a:ln w="12700">
            <a:solidFill>
              <a:srgbClr val="FBF8F1"/>
            </a:solidFill>
            <a:prstDash val="solid"/>
          </a:ln>
        </p:spPr>
      </p:sp>
      <p:sp>
        <p:nvSpPr>
          <p:cNvPr id="10" name="Shape 7"/>
          <p:cNvSpPr/>
          <p:nvPr/>
        </p:nvSpPr>
        <p:spPr>
          <a:xfrm>
            <a:off x="828000" y="4932000"/>
            <a:ext cx="0" cy="1296000"/>
          </a:xfrm>
          <a:prstGeom prst="line">
            <a:avLst/>
          </a:prstGeom>
          <a:noFill/>
          <a:ln w="25400">
            <a:solidFill>
              <a:srgbClr val="E1C853"/>
            </a:solidFill>
            <a:prstDash val="solid"/>
          </a:ln>
        </p:spPr>
      </p:sp>
      <p:sp>
        <p:nvSpPr>
          <p:cNvPr id="11" name="Text 8"/>
          <p:cNvSpPr/>
          <p:nvPr/>
        </p:nvSpPr>
        <p:spPr>
          <a:xfrm>
            <a:off x="1044000" y="4932000"/>
            <a:ext cx="5688000" cy="1296000"/>
          </a:xfrm>
          <a:prstGeom prst="rect">
            <a:avLst/>
          </a:prstGeom>
          <a:noFill/>
          <a:ln/>
        </p:spPr>
        <p:txBody>
          <a:bodyPr wrap="square" lIns="0" tIns="0" rIns="0" bIns="0" rtlCol="0" anchor="ctr"/>
          <a:lstStyle/>
          <a:p>
            <a:pPr indent="0" marL="0">
              <a:lnSpc>
                <a:spcPct val="125000"/>
              </a:lnSpc>
              <a:buNone/>
            </a:pPr>
            <a:r>
              <a:rPr lang="en-US" sz="1800" dirty="0">
                <a:solidFill>
                  <a:srgbClr val="67067C"/>
                </a:solidFill>
                <a:latin typeface="Young Serif" pitchFamily="34" charset="0"/>
                <a:ea typeface="Young Serif" pitchFamily="34" charset="-122"/>
                <a:cs typeface="Young Serif" pitchFamily="34" charset="-120"/>
              </a:rPr>
              <a:t>Salon Privé Vins &amp; Terroirs</a:t>
            </a:r>
            <a:endParaRPr lang="en-US" sz="1800" dirty="0"/>
          </a:p>
          <a:p>
            <a:pPr indent="0" marL="0">
              <a:lnSpc>
                <a:spcPct val="125000"/>
              </a:lnSpc>
              <a:buNone/>
            </a:pPr>
            <a:r>
              <a:rPr lang="en-US" sz="1300" dirty="0">
                <a:solidFill>
                  <a:srgbClr val="46606E"/>
                </a:solidFill>
                <a:latin typeface="Young Serif" pitchFamily="34" charset="0"/>
                <a:ea typeface="Young Serif" pitchFamily="34" charset="-122"/>
                <a:cs typeface="Young Serif" pitchFamily="34" charset="-120"/>
              </a:rPr>
              <a:t>Lundi 5 octobre 2026</a:t>
            </a:r>
            <a:endParaRPr lang="en-US" sz="1800" dirty="0"/>
          </a:p>
          <a:p>
            <a:pPr indent="0" marL="0">
              <a:lnSpc>
                <a:spcPct val="125000"/>
              </a:lnSpc>
              <a:buNone/>
            </a:pPr>
            <a:r>
              <a:rPr lang="en-US" sz="1000" dirty="0">
                <a:solidFill>
                  <a:srgbClr val="46606E"/>
                </a:solidFill>
                <a:latin typeface="Spectral" pitchFamily="34" charset="0"/>
                <a:ea typeface="Spectral" pitchFamily="34" charset="-122"/>
                <a:cs typeface="Spectral" pitchFamily="34" charset="-120"/>
              </a:rPr>
              <a:t>Château de la Rairie, Pont-Saint-Martin</a:t>
            </a:r>
            <a:endParaRPr lang="en-US" sz="1800" dirty="0"/>
          </a:p>
          <a:p>
            <a:pPr indent="0" marL="0">
              <a:lnSpc>
                <a:spcPct val="125000"/>
              </a:lnSpc>
              <a:buNone/>
            </a:pPr>
            <a:r>
              <a:rPr lang="en-US" sz="800" dirty="0">
                <a:solidFill>
                  <a:srgbClr val="A8515F"/>
                </a:solidFill>
                <a:latin typeface="IBM Plex Sans" pitchFamily="34" charset="0"/>
                <a:ea typeface="IBM Plex Sans" pitchFamily="34" charset="-122"/>
                <a:cs typeface="IBM Plex Sans" pitchFamily="34" charset="-120"/>
              </a:rPr>
              <a:t>Organisé par l'Agence SCIO Vins &amp; Spirits</a:t>
            </a:r>
            <a:endParaRPr lang="en-US" sz="1800" dirty="0"/>
          </a:p>
        </p:txBody>
      </p:sp>
      <p:sp>
        <p:nvSpPr>
          <p:cNvPr id="12" name="Shape 9"/>
          <p:cNvSpPr/>
          <p:nvPr/>
        </p:nvSpPr>
        <p:spPr>
          <a:xfrm>
            <a:off x="828000" y="6732000"/>
            <a:ext cx="6120000" cy="0"/>
          </a:xfrm>
          <a:prstGeom prst="line">
            <a:avLst/>
          </a:prstGeom>
          <a:noFill/>
          <a:ln w="10160">
            <a:solidFill>
              <a:srgbClr val="67067C"/>
            </a:solidFill>
            <a:prstDash val="solid"/>
          </a:ln>
        </p:spPr>
      </p:sp>
      <p:sp>
        <p:nvSpPr>
          <p:cNvPr id="13" name="Text 10"/>
          <p:cNvSpPr/>
          <p:nvPr/>
        </p:nvSpPr>
        <p:spPr>
          <a:xfrm>
            <a:off x="828000" y="6840000"/>
            <a:ext cx="1440000" cy="396000"/>
          </a:xfrm>
          <a:prstGeom prst="rect">
            <a:avLst/>
          </a:prstGeom>
          <a:noFill/>
          <a:ln/>
        </p:spPr>
        <p:txBody>
          <a:bodyPr wrap="square" lIns="0" tIns="0" rIns="0" bIns="0" rtlCol="0" anchor="ctr"/>
          <a:lstStyle/>
          <a:p>
            <a:pPr indent="0" marL="0">
              <a:buNone/>
            </a:pPr>
            <a:r>
              <a:rPr lang="en-US" sz="2600" dirty="0">
                <a:solidFill>
                  <a:srgbClr val="67067C"/>
                </a:solidFill>
                <a:latin typeface="Young Serif" pitchFamily="34" charset="0"/>
                <a:ea typeface="Young Serif" pitchFamily="34" charset="-122"/>
                <a:cs typeface="Young Serif" pitchFamily="34" charset="-120"/>
              </a:rPr>
              <a:t>26</a:t>
            </a:r>
            <a:endParaRPr lang="en-US" sz="2600" dirty="0"/>
          </a:p>
        </p:txBody>
      </p:sp>
      <p:sp>
        <p:nvSpPr>
          <p:cNvPr id="14" name="Text 11"/>
          <p:cNvSpPr/>
          <p:nvPr/>
        </p:nvSpPr>
        <p:spPr>
          <a:xfrm>
            <a:off x="828000" y="7236000"/>
            <a:ext cx="1440000" cy="180000"/>
          </a:xfrm>
          <a:prstGeom prst="rect">
            <a:avLst/>
          </a:prstGeom>
          <a:noFill/>
          <a:ln/>
        </p:spPr>
        <p:txBody>
          <a:bodyPr wrap="square" lIns="0" tIns="0" rIns="0" bIns="0" rtlCol="0" anchor="ctr"/>
          <a:lstStyle/>
          <a:p>
            <a:pPr indent="0" marL="0">
              <a:buNone/>
            </a:pPr>
            <a:r>
              <a:rPr lang="en-US" sz="900" dirty="0">
                <a:solidFill>
                  <a:srgbClr val="46606E"/>
                </a:solidFill>
                <a:latin typeface="IBM Plex Sans" pitchFamily="34" charset="0"/>
                <a:ea typeface="IBM Plex Sans" pitchFamily="34" charset="-122"/>
                <a:cs typeface="IBM Plex Sans" pitchFamily="34" charset="-120"/>
              </a:rPr>
              <a:t>vignerons</a:t>
            </a:r>
            <a:endParaRPr lang="en-US" sz="900" dirty="0"/>
          </a:p>
        </p:txBody>
      </p:sp>
      <p:sp>
        <p:nvSpPr>
          <p:cNvPr id="15" name="Text 12"/>
          <p:cNvSpPr/>
          <p:nvPr/>
        </p:nvSpPr>
        <p:spPr>
          <a:xfrm>
            <a:off x="2340000" y="6840000"/>
            <a:ext cx="1440000" cy="396000"/>
          </a:xfrm>
          <a:prstGeom prst="rect">
            <a:avLst/>
          </a:prstGeom>
          <a:noFill/>
          <a:ln/>
        </p:spPr>
        <p:txBody>
          <a:bodyPr wrap="square" lIns="0" tIns="0" rIns="0" bIns="0" rtlCol="0" anchor="ctr"/>
          <a:lstStyle/>
          <a:p>
            <a:pPr indent="0" marL="0">
              <a:buNone/>
            </a:pPr>
            <a:r>
              <a:rPr lang="en-US" sz="2600" dirty="0">
                <a:solidFill>
                  <a:srgbClr val="67067C"/>
                </a:solidFill>
                <a:latin typeface="Young Serif" pitchFamily="34" charset="0"/>
                <a:ea typeface="Young Serif" pitchFamily="34" charset="-122"/>
                <a:cs typeface="Young Serif" pitchFamily="34" charset="-120"/>
              </a:rPr>
              <a:t>9</a:t>
            </a:r>
            <a:endParaRPr lang="en-US" sz="2600" dirty="0"/>
          </a:p>
        </p:txBody>
      </p:sp>
      <p:sp>
        <p:nvSpPr>
          <p:cNvPr id="16" name="Text 13"/>
          <p:cNvSpPr/>
          <p:nvPr/>
        </p:nvSpPr>
        <p:spPr>
          <a:xfrm>
            <a:off x="2340000" y="7236000"/>
            <a:ext cx="1440000" cy="180000"/>
          </a:xfrm>
          <a:prstGeom prst="rect">
            <a:avLst/>
          </a:prstGeom>
          <a:noFill/>
          <a:ln/>
        </p:spPr>
        <p:txBody>
          <a:bodyPr wrap="square" lIns="0" tIns="0" rIns="0" bIns="0" rtlCol="0" anchor="ctr"/>
          <a:lstStyle/>
          <a:p>
            <a:pPr indent="0" marL="0">
              <a:buNone/>
            </a:pPr>
            <a:r>
              <a:rPr lang="en-US" sz="900" dirty="0">
                <a:solidFill>
                  <a:srgbClr val="46606E"/>
                </a:solidFill>
                <a:latin typeface="IBM Plex Sans" pitchFamily="34" charset="0"/>
                <a:ea typeface="IBM Plex Sans" pitchFamily="34" charset="-122"/>
                <a:cs typeface="IBM Plex Sans" pitchFamily="34" charset="-120"/>
              </a:rPr>
              <a:t>régions</a:t>
            </a:r>
            <a:endParaRPr lang="en-US" sz="900" dirty="0"/>
          </a:p>
        </p:txBody>
      </p:sp>
      <p:sp>
        <p:nvSpPr>
          <p:cNvPr id="17" name="Text 14"/>
          <p:cNvSpPr/>
          <p:nvPr/>
        </p:nvSpPr>
        <p:spPr>
          <a:xfrm>
            <a:off x="3852000" y="6840000"/>
            <a:ext cx="1440000" cy="396000"/>
          </a:xfrm>
          <a:prstGeom prst="rect">
            <a:avLst/>
          </a:prstGeom>
          <a:noFill/>
          <a:ln/>
        </p:spPr>
        <p:txBody>
          <a:bodyPr wrap="square" lIns="0" tIns="0" rIns="0" bIns="0" rtlCol="0" anchor="ctr"/>
          <a:lstStyle/>
          <a:p>
            <a:pPr indent="0" marL="0">
              <a:buNone/>
            </a:pPr>
            <a:r>
              <a:rPr lang="en-US" sz="2600" dirty="0">
                <a:solidFill>
                  <a:srgbClr val="67067C"/>
                </a:solidFill>
                <a:latin typeface="Young Serif" pitchFamily="34" charset="0"/>
                <a:ea typeface="Young Serif" pitchFamily="34" charset="-122"/>
                <a:cs typeface="Young Serif" pitchFamily="34" charset="-120"/>
              </a:rPr>
              <a:t>171</a:t>
            </a:r>
            <a:endParaRPr lang="en-US" sz="2600" dirty="0"/>
          </a:p>
        </p:txBody>
      </p:sp>
      <p:sp>
        <p:nvSpPr>
          <p:cNvPr id="18" name="Text 15"/>
          <p:cNvSpPr/>
          <p:nvPr/>
        </p:nvSpPr>
        <p:spPr>
          <a:xfrm>
            <a:off x="3852000" y="7236000"/>
            <a:ext cx="1440000" cy="180000"/>
          </a:xfrm>
          <a:prstGeom prst="rect">
            <a:avLst/>
          </a:prstGeom>
          <a:noFill/>
          <a:ln/>
        </p:spPr>
        <p:txBody>
          <a:bodyPr wrap="square" lIns="0" tIns="0" rIns="0" bIns="0" rtlCol="0" anchor="ctr"/>
          <a:lstStyle/>
          <a:p>
            <a:pPr indent="0" marL="0">
              <a:buNone/>
            </a:pPr>
            <a:r>
              <a:rPr lang="en-US" sz="900" dirty="0">
                <a:solidFill>
                  <a:srgbClr val="46606E"/>
                </a:solidFill>
                <a:latin typeface="IBM Plex Sans" pitchFamily="34" charset="0"/>
                <a:ea typeface="IBM Plex Sans" pitchFamily="34" charset="-122"/>
                <a:cs typeface="IBM Plex Sans" pitchFamily="34" charset="-120"/>
              </a:rPr>
              <a:t>vins à la dégustation</a:t>
            </a:r>
            <a:endParaRPr lang="en-US" sz="900" dirty="0"/>
          </a:p>
        </p:txBody>
      </p:sp>
      <p:sp>
        <p:nvSpPr>
          <p:cNvPr id="19" name="Text 16"/>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a:t>
            </a:r>
            <a:endParaRPr lang="en-US" sz="750" dirty="0"/>
          </a:p>
        </p:txBody>
      </p:sp>
      <p:sp>
        <p:nvSpPr>
          <p:cNvPr id="20" name="Text 17"/>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612000" y="540000"/>
            <a:ext cx="6120000" cy="432000"/>
          </a:xfrm>
          <a:prstGeom prst="rect">
            <a:avLst/>
          </a:prstGeom>
          <a:noFill/>
          <a:ln/>
        </p:spPr>
        <p:txBody>
          <a:bodyPr wrap="square" lIns="0" tIns="0" rIns="0" bIns="0" rtlCol="0" anchor="b"/>
          <a:lstStyle/>
          <a:p>
            <a:pPr indent="0" marL="0">
              <a:buNone/>
            </a:pPr>
            <a:r>
              <a:rPr lang="en-US" sz="2400" dirty="0">
                <a:solidFill>
                  <a:srgbClr val="67067C"/>
                </a:solidFill>
                <a:latin typeface="Young Serif" pitchFamily="34" charset="0"/>
                <a:ea typeface="Young Serif" pitchFamily="34" charset="-122"/>
                <a:cs typeface="Young Serif" pitchFamily="34" charset="-120"/>
              </a:rPr>
              <a:t>Sommaire</a:t>
            </a:r>
            <a:endParaRPr lang="en-US" sz="2400" dirty="0"/>
          </a:p>
        </p:txBody>
      </p:sp>
      <p:sp>
        <p:nvSpPr>
          <p:cNvPr id="3" name="Text 1"/>
          <p:cNvSpPr/>
          <p:nvPr/>
        </p:nvSpPr>
        <p:spPr>
          <a:xfrm>
            <a:off x="612000" y="990000"/>
            <a:ext cx="612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PAR RÉGION ; LE PREMIER CHIFFRE EST LE NUMÉRO DU STAND</a:t>
            </a:r>
            <a:endParaRPr lang="en-US" sz="800" dirty="0"/>
          </a:p>
        </p:txBody>
      </p:sp>
      <p:sp>
        <p:nvSpPr>
          <p:cNvPr id="4" name="Shape 2"/>
          <p:cNvSpPr/>
          <p:nvPr/>
        </p:nvSpPr>
        <p:spPr>
          <a:xfrm>
            <a:off x="612000" y="1393200"/>
            <a:ext cx="115200" cy="115200"/>
          </a:xfrm>
          <a:prstGeom prst="rect">
            <a:avLst/>
          </a:prstGeom>
          <a:solidFill>
            <a:srgbClr val="46606E"/>
          </a:solidFill>
          <a:ln w="7620">
            <a:solidFill>
              <a:srgbClr val="46606E"/>
            </a:solidFill>
            <a:prstDash val="solid"/>
          </a:ln>
        </p:spPr>
      </p:sp>
      <p:sp>
        <p:nvSpPr>
          <p:cNvPr id="5" name="Text 3"/>
          <p:cNvSpPr/>
          <p:nvPr/>
        </p:nvSpPr>
        <p:spPr>
          <a:xfrm>
            <a:off x="806400" y="13140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Loire</a:t>
            </a:r>
            <a:endParaRPr lang="en-US" sz="1300" dirty="0"/>
          </a:p>
        </p:txBody>
      </p:sp>
      <p:sp>
        <p:nvSpPr>
          <p:cNvPr id="6" name="Shape 4"/>
          <p:cNvSpPr/>
          <p:nvPr/>
        </p:nvSpPr>
        <p:spPr>
          <a:xfrm>
            <a:off x="612000" y="1587600"/>
            <a:ext cx="2952000" cy="0"/>
          </a:xfrm>
          <a:prstGeom prst="line">
            <a:avLst/>
          </a:prstGeom>
          <a:noFill/>
          <a:ln w="11430">
            <a:solidFill>
              <a:srgbClr val="67067C"/>
            </a:solidFill>
            <a:prstDash val="solid"/>
          </a:ln>
        </p:spPr>
      </p:sp>
      <p:sp>
        <p:nvSpPr>
          <p:cNvPr id="7" name="Text 5"/>
          <p:cNvSpPr/>
          <p:nvPr/>
        </p:nvSpPr>
        <p:spPr>
          <a:xfrm>
            <a:off x="612000" y="1638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10</a:t>
            </a:r>
            <a:endParaRPr lang="en-US" sz="850" dirty="0"/>
          </a:p>
        </p:txBody>
      </p:sp>
      <p:sp>
        <p:nvSpPr>
          <p:cNvPr id="8" name="Text 6"/>
          <p:cNvSpPr/>
          <p:nvPr/>
        </p:nvSpPr>
        <p:spPr>
          <a:xfrm>
            <a:off x="918000" y="1638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François Reverdy</a:t>
            </a:r>
            <a:endParaRPr lang="en-US" sz="1000" dirty="0"/>
          </a:p>
        </p:txBody>
      </p:sp>
      <p:sp>
        <p:nvSpPr>
          <p:cNvPr id="9" name="Text 7"/>
          <p:cNvSpPr/>
          <p:nvPr/>
        </p:nvSpPr>
        <p:spPr>
          <a:xfrm>
            <a:off x="3204000" y="1638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5</a:t>
            </a:r>
            <a:endParaRPr lang="en-US" sz="900" dirty="0"/>
          </a:p>
        </p:txBody>
      </p:sp>
      <p:sp>
        <p:nvSpPr>
          <p:cNvPr id="10" name="Shape 8"/>
          <p:cNvSpPr/>
          <p:nvPr/>
        </p:nvSpPr>
        <p:spPr>
          <a:xfrm>
            <a:off x="612000" y="1839600"/>
            <a:ext cx="2952000" cy="0"/>
          </a:xfrm>
          <a:prstGeom prst="line">
            <a:avLst/>
          </a:prstGeom>
          <a:noFill/>
          <a:ln w="3810">
            <a:solidFill>
              <a:srgbClr val="C9CFC9"/>
            </a:solidFill>
            <a:prstDash val="solid"/>
          </a:ln>
        </p:spPr>
      </p:sp>
      <p:sp>
        <p:nvSpPr>
          <p:cNvPr id="11" name="Text 9"/>
          <p:cNvSpPr/>
          <p:nvPr/>
        </p:nvSpPr>
        <p:spPr>
          <a:xfrm>
            <a:off x="612000" y="1839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22</a:t>
            </a:r>
            <a:endParaRPr lang="en-US" sz="850" dirty="0"/>
          </a:p>
        </p:txBody>
      </p:sp>
      <p:sp>
        <p:nvSpPr>
          <p:cNvPr id="12" name="Text 10"/>
          <p:cNvSpPr/>
          <p:nvPr/>
        </p:nvSpPr>
        <p:spPr>
          <a:xfrm>
            <a:off x="918000" y="1839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 la Barbinière</a:t>
            </a:r>
            <a:endParaRPr lang="en-US" sz="1000" dirty="0"/>
          </a:p>
        </p:txBody>
      </p:sp>
      <p:sp>
        <p:nvSpPr>
          <p:cNvPr id="13" name="Text 11"/>
          <p:cNvSpPr/>
          <p:nvPr/>
        </p:nvSpPr>
        <p:spPr>
          <a:xfrm>
            <a:off x="3204000" y="1839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6</a:t>
            </a:r>
            <a:endParaRPr lang="en-US" sz="900" dirty="0"/>
          </a:p>
        </p:txBody>
      </p:sp>
      <p:sp>
        <p:nvSpPr>
          <p:cNvPr id="14" name="Shape 12"/>
          <p:cNvSpPr/>
          <p:nvPr/>
        </p:nvSpPr>
        <p:spPr>
          <a:xfrm>
            <a:off x="612000" y="2041200"/>
            <a:ext cx="2952000" cy="0"/>
          </a:xfrm>
          <a:prstGeom prst="line">
            <a:avLst/>
          </a:prstGeom>
          <a:noFill/>
          <a:ln w="3810">
            <a:solidFill>
              <a:srgbClr val="C9CFC9"/>
            </a:solidFill>
            <a:prstDash val="solid"/>
          </a:ln>
        </p:spPr>
      </p:sp>
      <p:sp>
        <p:nvSpPr>
          <p:cNvPr id="15" name="Text 13"/>
          <p:cNvSpPr/>
          <p:nvPr/>
        </p:nvSpPr>
        <p:spPr>
          <a:xfrm>
            <a:off x="612000" y="2041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4</a:t>
            </a:r>
            <a:endParaRPr lang="en-US" sz="850" dirty="0"/>
          </a:p>
        </p:txBody>
      </p:sp>
      <p:sp>
        <p:nvSpPr>
          <p:cNvPr id="16" name="Text 14"/>
          <p:cNvSpPr/>
          <p:nvPr/>
        </p:nvSpPr>
        <p:spPr>
          <a:xfrm>
            <a:off x="918000" y="2041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du Colombier / J.Y Bretaudeau</a:t>
            </a:r>
            <a:endParaRPr lang="en-US" sz="1000" dirty="0"/>
          </a:p>
        </p:txBody>
      </p:sp>
      <p:sp>
        <p:nvSpPr>
          <p:cNvPr id="17" name="Text 15"/>
          <p:cNvSpPr/>
          <p:nvPr/>
        </p:nvSpPr>
        <p:spPr>
          <a:xfrm>
            <a:off x="3204000" y="2041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7</a:t>
            </a:r>
            <a:endParaRPr lang="en-US" sz="900" dirty="0"/>
          </a:p>
        </p:txBody>
      </p:sp>
      <p:sp>
        <p:nvSpPr>
          <p:cNvPr id="18" name="Shape 16"/>
          <p:cNvSpPr/>
          <p:nvPr/>
        </p:nvSpPr>
        <p:spPr>
          <a:xfrm>
            <a:off x="612000" y="2242800"/>
            <a:ext cx="2952000" cy="0"/>
          </a:xfrm>
          <a:prstGeom prst="line">
            <a:avLst/>
          </a:prstGeom>
          <a:noFill/>
          <a:ln w="3810">
            <a:solidFill>
              <a:srgbClr val="C9CFC9"/>
            </a:solidFill>
            <a:prstDash val="solid"/>
          </a:ln>
        </p:spPr>
      </p:sp>
      <p:sp>
        <p:nvSpPr>
          <p:cNvPr id="19" name="Text 17"/>
          <p:cNvSpPr/>
          <p:nvPr/>
        </p:nvSpPr>
        <p:spPr>
          <a:xfrm>
            <a:off x="612000" y="2242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14</a:t>
            </a:r>
            <a:endParaRPr lang="en-US" sz="850" dirty="0"/>
          </a:p>
        </p:txBody>
      </p:sp>
      <p:sp>
        <p:nvSpPr>
          <p:cNvPr id="20" name="Text 18"/>
          <p:cNvSpPr/>
          <p:nvPr/>
        </p:nvSpPr>
        <p:spPr>
          <a:xfrm>
            <a:off x="918000" y="2242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des Noëls</a:t>
            </a:r>
            <a:endParaRPr lang="en-US" sz="1000" dirty="0"/>
          </a:p>
        </p:txBody>
      </p:sp>
      <p:sp>
        <p:nvSpPr>
          <p:cNvPr id="21" name="Text 19"/>
          <p:cNvSpPr/>
          <p:nvPr/>
        </p:nvSpPr>
        <p:spPr>
          <a:xfrm>
            <a:off x="3204000" y="2242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8</a:t>
            </a:r>
            <a:endParaRPr lang="en-US" sz="900" dirty="0"/>
          </a:p>
        </p:txBody>
      </p:sp>
      <p:sp>
        <p:nvSpPr>
          <p:cNvPr id="22" name="Shape 20"/>
          <p:cNvSpPr/>
          <p:nvPr/>
        </p:nvSpPr>
        <p:spPr>
          <a:xfrm>
            <a:off x="612000" y="2444400"/>
            <a:ext cx="2952000" cy="0"/>
          </a:xfrm>
          <a:prstGeom prst="line">
            <a:avLst/>
          </a:prstGeom>
          <a:noFill/>
          <a:ln w="3810">
            <a:solidFill>
              <a:srgbClr val="C9CFC9"/>
            </a:solidFill>
            <a:prstDash val="solid"/>
          </a:ln>
        </p:spPr>
      </p:sp>
      <p:sp>
        <p:nvSpPr>
          <p:cNvPr id="23" name="Text 21"/>
          <p:cNvSpPr/>
          <p:nvPr/>
        </p:nvSpPr>
        <p:spPr>
          <a:xfrm>
            <a:off x="612000" y="2444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25</a:t>
            </a:r>
            <a:endParaRPr lang="en-US" sz="850" dirty="0"/>
          </a:p>
        </p:txBody>
      </p:sp>
      <p:sp>
        <p:nvSpPr>
          <p:cNvPr id="24" name="Text 22"/>
          <p:cNvSpPr/>
          <p:nvPr/>
        </p:nvSpPr>
        <p:spPr>
          <a:xfrm>
            <a:off x="918000" y="2444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Chai Berteaud Manceau</a:t>
            </a:r>
            <a:endParaRPr lang="en-US" sz="1000" dirty="0"/>
          </a:p>
        </p:txBody>
      </p:sp>
      <p:sp>
        <p:nvSpPr>
          <p:cNvPr id="25" name="Text 23"/>
          <p:cNvSpPr/>
          <p:nvPr/>
        </p:nvSpPr>
        <p:spPr>
          <a:xfrm>
            <a:off x="3204000" y="2444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9</a:t>
            </a:r>
            <a:endParaRPr lang="en-US" sz="900" dirty="0"/>
          </a:p>
        </p:txBody>
      </p:sp>
      <p:sp>
        <p:nvSpPr>
          <p:cNvPr id="26" name="Shape 24"/>
          <p:cNvSpPr/>
          <p:nvPr/>
        </p:nvSpPr>
        <p:spPr>
          <a:xfrm>
            <a:off x="612000" y="2646000"/>
            <a:ext cx="2952000" cy="0"/>
          </a:xfrm>
          <a:prstGeom prst="line">
            <a:avLst/>
          </a:prstGeom>
          <a:noFill/>
          <a:ln w="3810">
            <a:solidFill>
              <a:srgbClr val="C9CFC9"/>
            </a:solidFill>
            <a:prstDash val="solid"/>
          </a:ln>
        </p:spPr>
      </p:sp>
      <p:sp>
        <p:nvSpPr>
          <p:cNvPr id="27" name="Text 25"/>
          <p:cNvSpPr/>
          <p:nvPr/>
        </p:nvSpPr>
        <p:spPr>
          <a:xfrm>
            <a:off x="612000" y="2646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17</a:t>
            </a:r>
            <a:endParaRPr lang="en-US" sz="850" dirty="0"/>
          </a:p>
        </p:txBody>
      </p:sp>
      <p:sp>
        <p:nvSpPr>
          <p:cNvPr id="28" name="Text 26"/>
          <p:cNvSpPr/>
          <p:nvPr/>
        </p:nvSpPr>
        <p:spPr>
          <a:xfrm>
            <a:off x="918000" y="2646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Jean de Villebois</a:t>
            </a:r>
            <a:endParaRPr lang="en-US" sz="1000" dirty="0"/>
          </a:p>
        </p:txBody>
      </p:sp>
      <p:sp>
        <p:nvSpPr>
          <p:cNvPr id="29" name="Text 27"/>
          <p:cNvSpPr/>
          <p:nvPr/>
        </p:nvSpPr>
        <p:spPr>
          <a:xfrm>
            <a:off x="3204000" y="2646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10</a:t>
            </a:r>
            <a:endParaRPr lang="en-US" sz="900" dirty="0"/>
          </a:p>
        </p:txBody>
      </p:sp>
      <p:sp>
        <p:nvSpPr>
          <p:cNvPr id="30" name="Shape 28"/>
          <p:cNvSpPr/>
          <p:nvPr/>
        </p:nvSpPr>
        <p:spPr>
          <a:xfrm>
            <a:off x="612000" y="2847600"/>
            <a:ext cx="2952000" cy="0"/>
          </a:xfrm>
          <a:prstGeom prst="line">
            <a:avLst/>
          </a:prstGeom>
          <a:noFill/>
          <a:ln w="3810">
            <a:solidFill>
              <a:srgbClr val="C9CFC9"/>
            </a:solidFill>
            <a:prstDash val="solid"/>
          </a:ln>
        </p:spPr>
      </p:sp>
      <p:sp>
        <p:nvSpPr>
          <p:cNvPr id="31" name="Shape 29"/>
          <p:cNvSpPr/>
          <p:nvPr/>
        </p:nvSpPr>
        <p:spPr>
          <a:xfrm>
            <a:off x="612000" y="3078000"/>
            <a:ext cx="115200" cy="115200"/>
          </a:xfrm>
          <a:prstGeom prst="rect">
            <a:avLst/>
          </a:prstGeom>
          <a:solidFill>
            <a:srgbClr val="3C5B47"/>
          </a:solidFill>
          <a:ln w="7620">
            <a:solidFill>
              <a:srgbClr val="3C5B47"/>
            </a:solidFill>
            <a:prstDash val="solid"/>
          </a:ln>
        </p:spPr>
      </p:sp>
      <p:sp>
        <p:nvSpPr>
          <p:cNvPr id="32" name="Text 30"/>
          <p:cNvSpPr/>
          <p:nvPr/>
        </p:nvSpPr>
        <p:spPr>
          <a:xfrm>
            <a:off x="806400" y="29988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Alsace</a:t>
            </a:r>
            <a:endParaRPr lang="en-US" sz="1300" dirty="0"/>
          </a:p>
        </p:txBody>
      </p:sp>
      <p:sp>
        <p:nvSpPr>
          <p:cNvPr id="33" name="Shape 31"/>
          <p:cNvSpPr/>
          <p:nvPr/>
        </p:nvSpPr>
        <p:spPr>
          <a:xfrm>
            <a:off x="612000" y="3272400"/>
            <a:ext cx="2952000" cy="0"/>
          </a:xfrm>
          <a:prstGeom prst="line">
            <a:avLst/>
          </a:prstGeom>
          <a:noFill/>
          <a:ln w="11430">
            <a:solidFill>
              <a:srgbClr val="67067C"/>
            </a:solidFill>
            <a:prstDash val="solid"/>
          </a:ln>
        </p:spPr>
      </p:sp>
      <p:sp>
        <p:nvSpPr>
          <p:cNvPr id="34" name="Text 32"/>
          <p:cNvSpPr/>
          <p:nvPr/>
        </p:nvSpPr>
        <p:spPr>
          <a:xfrm>
            <a:off x="612000" y="3322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9</a:t>
            </a:r>
            <a:endParaRPr lang="en-US" sz="850" dirty="0"/>
          </a:p>
        </p:txBody>
      </p:sp>
      <p:sp>
        <p:nvSpPr>
          <p:cNvPr id="35" name="Text 33"/>
          <p:cNvSpPr/>
          <p:nvPr/>
        </p:nvSpPr>
        <p:spPr>
          <a:xfrm>
            <a:off x="918000" y="3322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Boehler</a:t>
            </a:r>
            <a:endParaRPr lang="en-US" sz="1000" dirty="0"/>
          </a:p>
        </p:txBody>
      </p:sp>
      <p:sp>
        <p:nvSpPr>
          <p:cNvPr id="36" name="Text 34"/>
          <p:cNvSpPr/>
          <p:nvPr/>
        </p:nvSpPr>
        <p:spPr>
          <a:xfrm>
            <a:off x="3204000" y="3322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13</a:t>
            </a:r>
            <a:endParaRPr lang="en-US" sz="900" dirty="0"/>
          </a:p>
        </p:txBody>
      </p:sp>
      <p:sp>
        <p:nvSpPr>
          <p:cNvPr id="37" name="Shape 35"/>
          <p:cNvSpPr/>
          <p:nvPr/>
        </p:nvSpPr>
        <p:spPr>
          <a:xfrm>
            <a:off x="612000" y="3524400"/>
            <a:ext cx="2952000" cy="0"/>
          </a:xfrm>
          <a:prstGeom prst="line">
            <a:avLst/>
          </a:prstGeom>
          <a:noFill/>
          <a:ln w="3810">
            <a:solidFill>
              <a:srgbClr val="C9CFC9"/>
            </a:solidFill>
            <a:prstDash val="solid"/>
          </a:ln>
        </p:spPr>
      </p:sp>
      <p:sp>
        <p:nvSpPr>
          <p:cNvPr id="38" name="Shape 36"/>
          <p:cNvSpPr/>
          <p:nvPr/>
        </p:nvSpPr>
        <p:spPr>
          <a:xfrm>
            <a:off x="612000" y="3754800"/>
            <a:ext cx="115200" cy="115200"/>
          </a:xfrm>
          <a:prstGeom prst="rect">
            <a:avLst/>
          </a:prstGeom>
          <a:solidFill>
            <a:srgbClr val="D08C3C"/>
          </a:solidFill>
          <a:ln w="7620">
            <a:solidFill>
              <a:srgbClr val="D08C3C"/>
            </a:solidFill>
            <a:prstDash val="solid"/>
          </a:ln>
        </p:spPr>
      </p:sp>
      <p:sp>
        <p:nvSpPr>
          <p:cNvPr id="39" name="Text 37"/>
          <p:cNvSpPr/>
          <p:nvPr/>
        </p:nvSpPr>
        <p:spPr>
          <a:xfrm>
            <a:off x="806400" y="36756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Bourgogne</a:t>
            </a:r>
            <a:endParaRPr lang="en-US" sz="1300" dirty="0"/>
          </a:p>
        </p:txBody>
      </p:sp>
      <p:sp>
        <p:nvSpPr>
          <p:cNvPr id="40" name="Shape 38"/>
          <p:cNvSpPr/>
          <p:nvPr/>
        </p:nvSpPr>
        <p:spPr>
          <a:xfrm>
            <a:off x="612000" y="3949200"/>
            <a:ext cx="2952000" cy="0"/>
          </a:xfrm>
          <a:prstGeom prst="line">
            <a:avLst/>
          </a:prstGeom>
          <a:noFill/>
          <a:ln w="11430">
            <a:solidFill>
              <a:srgbClr val="67067C"/>
            </a:solidFill>
            <a:prstDash val="solid"/>
          </a:ln>
        </p:spPr>
      </p:sp>
      <p:sp>
        <p:nvSpPr>
          <p:cNvPr id="41" name="Text 39"/>
          <p:cNvSpPr/>
          <p:nvPr/>
        </p:nvSpPr>
        <p:spPr>
          <a:xfrm>
            <a:off x="612000" y="3999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18</a:t>
            </a:r>
            <a:endParaRPr lang="en-US" sz="850" dirty="0"/>
          </a:p>
        </p:txBody>
      </p:sp>
      <p:sp>
        <p:nvSpPr>
          <p:cNvPr id="42" name="Text 40"/>
          <p:cNvSpPr/>
          <p:nvPr/>
        </p:nvSpPr>
        <p:spPr>
          <a:xfrm>
            <a:off x="918000" y="3999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Sébastien Magnien</a:t>
            </a:r>
            <a:endParaRPr lang="en-US" sz="1000" dirty="0"/>
          </a:p>
        </p:txBody>
      </p:sp>
      <p:sp>
        <p:nvSpPr>
          <p:cNvPr id="43" name="Text 41"/>
          <p:cNvSpPr/>
          <p:nvPr/>
        </p:nvSpPr>
        <p:spPr>
          <a:xfrm>
            <a:off x="3204000" y="3999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15</a:t>
            </a:r>
            <a:endParaRPr lang="en-US" sz="900" dirty="0"/>
          </a:p>
        </p:txBody>
      </p:sp>
      <p:sp>
        <p:nvSpPr>
          <p:cNvPr id="44" name="Shape 42"/>
          <p:cNvSpPr/>
          <p:nvPr/>
        </p:nvSpPr>
        <p:spPr>
          <a:xfrm>
            <a:off x="612000" y="4201200"/>
            <a:ext cx="2952000" cy="0"/>
          </a:xfrm>
          <a:prstGeom prst="line">
            <a:avLst/>
          </a:prstGeom>
          <a:noFill/>
          <a:ln w="3810">
            <a:solidFill>
              <a:srgbClr val="C9CFC9"/>
            </a:solidFill>
            <a:prstDash val="solid"/>
          </a:ln>
        </p:spPr>
      </p:sp>
      <p:sp>
        <p:nvSpPr>
          <p:cNvPr id="45" name="Text 43"/>
          <p:cNvSpPr/>
          <p:nvPr/>
        </p:nvSpPr>
        <p:spPr>
          <a:xfrm>
            <a:off x="612000" y="4201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26</a:t>
            </a:r>
            <a:endParaRPr lang="en-US" sz="850" dirty="0"/>
          </a:p>
        </p:txBody>
      </p:sp>
      <p:sp>
        <p:nvSpPr>
          <p:cNvPr id="46" name="Text 44"/>
          <p:cNvSpPr/>
          <p:nvPr/>
        </p:nvSpPr>
        <p:spPr>
          <a:xfrm>
            <a:off x="918000" y="4201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Maison et Domaine André Goichot</a:t>
            </a:r>
            <a:endParaRPr lang="en-US" sz="1000" dirty="0"/>
          </a:p>
        </p:txBody>
      </p:sp>
      <p:sp>
        <p:nvSpPr>
          <p:cNvPr id="47" name="Text 45"/>
          <p:cNvSpPr/>
          <p:nvPr/>
        </p:nvSpPr>
        <p:spPr>
          <a:xfrm>
            <a:off x="3204000" y="4201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16</a:t>
            </a:r>
            <a:endParaRPr lang="en-US" sz="900" dirty="0"/>
          </a:p>
        </p:txBody>
      </p:sp>
      <p:sp>
        <p:nvSpPr>
          <p:cNvPr id="48" name="Shape 46"/>
          <p:cNvSpPr/>
          <p:nvPr/>
        </p:nvSpPr>
        <p:spPr>
          <a:xfrm>
            <a:off x="612000" y="4402800"/>
            <a:ext cx="2952000" cy="0"/>
          </a:xfrm>
          <a:prstGeom prst="line">
            <a:avLst/>
          </a:prstGeom>
          <a:noFill/>
          <a:ln w="3810">
            <a:solidFill>
              <a:srgbClr val="C9CFC9"/>
            </a:solidFill>
            <a:prstDash val="solid"/>
          </a:ln>
        </p:spPr>
      </p:sp>
      <p:sp>
        <p:nvSpPr>
          <p:cNvPr id="49" name="Text 47"/>
          <p:cNvSpPr/>
          <p:nvPr/>
        </p:nvSpPr>
        <p:spPr>
          <a:xfrm>
            <a:off x="612000" y="4402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26</a:t>
            </a:r>
            <a:endParaRPr lang="en-US" sz="850" dirty="0"/>
          </a:p>
        </p:txBody>
      </p:sp>
      <p:sp>
        <p:nvSpPr>
          <p:cNvPr id="50" name="Text 48"/>
          <p:cNvSpPr/>
          <p:nvPr/>
        </p:nvSpPr>
        <p:spPr>
          <a:xfrm>
            <a:off x="918000" y="4402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du Cray</a:t>
            </a:r>
            <a:endParaRPr lang="en-US" sz="1000" dirty="0"/>
          </a:p>
        </p:txBody>
      </p:sp>
      <p:sp>
        <p:nvSpPr>
          <p:cNvPr id="51" name="Text 49"/>
          <p:cNvSpPr/>
          <p:nvPr/>
        </p:nvSpPr>
        <p:spPr>
          <a:xfrm>
            <a:off x="3204000" y="4402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17</a:t>
            </a:r>
            <a:endParaRPr lang="en-US" sz="900" dirty="0"/>
          </a:p>
        </p:txBody>
      </p:sp>
      <p:sp>
        <p:nvSpPr>
          <p:cNvPr id="52" name="Shape 50"/>
          <p:cNvSpPr/>
          <p:nvPr/>
        </p:nvSpPr>
        <p:spPr>
          <a:xfrm>
            <a:off x="612000" y="4604400"/>
            <a:ext cx="2952000" cy="0"/>
          </a:xfrm>
          <a:prstGeom prst="line">
            <a:avLst/>
          </a:prstGeom>
          <a:noFill/>
          <a:ln w="3810">
            <a:solidFill>
              <a:srgbClr val="C9CFC9"/>
            </a:solidFill>
            <a:prstDash val="solid"/>
          </a:ln>
        </p:spPr>
      </p:sp>
      <p:sp>
        <p:nvSpPr>
          <p:cNvPr id="53" name="Text 51"/>
          <p:cNvSpPr/>
          <p:nvPr/>
        </p:nvSpPr>
        <p:spPr>
          <a:xfrm>
            <a:off x="612000" y="4604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26</a:t>
            </a:r>
            <a:endParaRPr lang="en-US" sz="850" dirty="0"/>
          </a:p>
        </p:txBody>
      </p:sp>
      <p:sp>
        <p:nvSpPr>
          <p:cNvPr id="54" name="Text 52"/>
          <p:cNvSpPr/>
          <p:nvPr/>
        </p:nvSpPr>
        <p:spPr>
          <a:xfrm>
            <a:off x="918000" y="4604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Les Guignottes</a:t>
            </a:r>
            <a:endParaRPr lang="en-US" sz="1000" dirty="0"/>
          </a:p>
        </p:txBody>
      </p:sp>
      <p:sp>
        <p:nvSpPr>
          <p:cNvPr id="55" name="Text 53"/>
          <p:cNvSpPr/>
          <p:nvPr/>
        </p:nvSpPr>
        <p:spPr>
          <a:xfrm>
            <a:off x="3204000" y="4604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18</a:t>
            </a:r>
            <a:endParaRPr lang="en-US" sz="900" dirty="0"/>
          </a:p>
        </p:txBody>
      </p:sp>
      <p:sp>
        <p:nvSpPr>
          <p:cNvPr id="56" name="Shape 54"/>
          <p:cNvSpPr/>
          <p:nvPr/>
        </p:nvSpPr>
        <p:spPr>
          <a:xfrm>
            <a:off x="612000" y="4806000"/>
            <a:ext cx="2952000" cy="0"/>
          </a:xfrm>
          <a:prstGeom prst="line">
            <a:avLst/>
          </a:prstGeom>
          <a:noFill/>
          <a:ln w="3810">
            <a:solidFill>
              <a:srgbClr val="C9CFC9"/>
            </a:solidFill>
            <a:prstDash val="solid"/>
          </a:ln>
        </p:spPr>
      </p:sp>
      <p:sp>
        <p:nvSpPr>
          <p:cNvPr id="57" name="Text 55"/>
          <p:cNvSpPr/>
          <p:nvPr/>
        </p:nvSpPr>
        <p:spPr>
          <a:xfrm>
            <a:off x="612000" y="4806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5</a:t>
            </a:r>
            <a:endParaRPr lang="en-US" sz="850" dirty="0"/>
          </a:p>
        </p:txBody>
      </p:sp>
      <p:sp>
        <p:nvSpPr>
          <p:cNvPr id="58" name="Text 56"/>
          <p:cNvSpPr/>
          <p:nvPr/>
        </p:nvSpPr>
        <p:spPr>
          <a:xfrm>
            <a:off x="918000" y="4806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des Verchères</a:t>
            </a:r>
            <a:endParaRPr lang="en-US" sz="1000" dirty="0"/>
          </a:p>
        </p:txBody>
      </p:sp>
      <p:sp>
        <p:nvSpPr>
          <p:cNvPr id="59" name="Text 57"/>
          <p:cNvSpPr/>
          <p:nvPr/>
        </p:nvSpPr>
        <p:spPr>
          <a:xfrm>
            <a:off x="3204000" y="4806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19</a:t>
            </a:r>
            <a:endParaRPr lang="en-US" sz="900" dirty="0"/>
          </a:p>
        </p:txBody>
      </p:sp>
      <p:sp>
        <p:nvSpPr>
          <p:cNvPr id="60" name="Shape 58"/>
          <p:cNvSpPr/>
          <p:nvPr/>
        </p:nvSpPr>
        <p:spPr>
          <a:xfrm>
            <a:off x="612000" y="5007600"/>
            <a:ext cx="2952000" cy="0"/>
          </a:xfrm>
          <a:prstGeom prst="line">
            <a:avLst/>
          </a:prstGeom>
          <a:noFill/>
          <a:ln w="3810">
            <a:solidFill>
              <a:srgbClr val="C9CFC9"/>
            </a:solidFill>
            <a:prstDash val="solid"/>
          </a:ln>
        </p:spPr>
      </p:sp>
      <p:sp>
        <p:nvSpPr>
          <p:cNvPr id="61" name="Shape 59"/>
          <p:cNvSpPr/>
          <p:nvPr/>
        </p:nvSpPr>
        <p:spPr>
          <a:xfrm>
            <a:off x="612000" y="5238000"/>
            <a:ext cx="115200" cy="115200"/>
          </a:xfrm>
          <a:prstGeom prst="rect">
            <a:avLst/>
          </a:prstGeom>
          <a:solidFill>
            <a:srgbClr val="3C5B47"/>
          </a:solidFill>
          <a:ln w="7620">
            <a:solidFill>
              <a:srgbClr val="3C5B47"/>
            </a:solidFill>
            <a:prstDash val="solid"/>
          </a:ln>
        </p:spPr>
      </p:sp>
      <p:sp>
        <p:nvSpPr>
          <p:cNvPr id="62" name="Text 60"/>
          <p:cNvSpPr/>
          <p:nvPr/>
        </p:nvSpPr>
        <p:spPr>
          <a:xfrm>
            <a:off x="806400" y="51588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Rhône</a:t>
            </a:r>
            <a:endParaRPr lang="en-US" sz="1300" dirty="0"/>
          </a:p>
        </p:txBody>
      </p:sp>
      <p:sp>
        <p:nvSpPr>
          <p:cNvPr id="63" name="Shape 61"/>
          <p:cNvSpPr/>
          <p:nvPr/>
        </p:nvSpPr>
        <p:spPr>
          <a:xfrm>
            <a:off x="612000" y="5432400"/>
            <a:ext cx="2952000" cy="0"/>
          </a:xfrm>
          <a:prstGeom prst="line">
            <a:avLst/>
          </a:prstGeom>
          <a:noFill/>
          <a:ln w="11430">
            <a:solidFill>
              <a:srgbClr val="67067C"/>
            </a:solidFill>
            <a:prstDash val="solid"/>
          </a:ln>
        </p:spPr>
      </p:sp>
      <p:sp>
        <p:nvSpPr>
          <p:cNvPr id="64" name="Text 62"/>
          <p:cNvSpPr/>
          <p:nvPr/>
        </p:nvSpPr>
        <p:spPr>
          <a:xfrm>
            <a:off x="612000" y="5482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7</a:t>
            </a:r>
            <a:endParaRPr lang="en-US" sz="850" dirty="0"/>
          </a:p>
        </p:txBody>
      </p:sp>
      <p:sp>
        <p:nvSpPr>
          <p:cNvPr id="65" name="Text 63"/>
          <p:cNvSpPr/>
          <p:nvPr/>
        </p:nvSpPr>
        <p:spPr>
          <a:xfrm>
            <a:off x="918000" y="5482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Le Prieuré des Papes</a:t>
            </a:r>
            <a:endParaRPr lang="en-US" sz="1000" dirty="0"/>
          </a:p>
        </p:txBody>
      </p:sp>
      <p:sp>
        <p:nvSpPr>
          <p:cNvPr id="66" name="Text 64"/>
          <p:cNvSpPr/>
          <p:nvPr/>
        </p:nvSpPr>
        <p:spPr>
          <a:xfrm>
            <a:off x="3204000" y="5482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21</a:t>
            </a:r>
            <a:endParaRPr lang="en-US" sz="900" dirty="0"/>
          </a:p>
        </p:txBody>
      </p:sp>
      <p:sp>
        <p:nvSpPr>
          <p:cNvPr id="67" name="Shape 65"/>
          <p:cNvSpPr/>
          <p:nvPr/>
        </p:nvSpPr>
        <p:spPr>
          <a:xfrm>
            <a:off x="612000" y="5684400"/>
            <a:ext cx="2952000" cy="0"/>
          </a:xfrm>
          <a:prstGeom prst="line">
            <a:avLst/>
          </a:prstGeom>
          <a:noFill/>
          <a:ln w="3810">
            <a:solidFill>
              <a:srgbClr val="C9CFC9"/>
            </a:solidFill>
            <a:prstDash val="solid"/>
          </a:ln>
        </p:spPr>
      </p:sp>
      <p:sp>
        <p:nvSpPr>
          <p:cNvPr id="68" name="Text 66"/>
          <p:cNvSpPr/>
          <p:nvPr/>
        </p:nvSpPr>
        <p:spPr>
          <a:xfrm>
            <a:off x="612000" y="5684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7</a:t>
            </a:r>
            <a:endParaRPr lang="en-US" sz="850" dirty="0"/>
          </a:p>
        </p:txBody>
      </p:sp>
      <p:sp>
        <p:nvSpPr>
          <p:cNvPr id="69" name="Text 67"/>
          <p:cNvSpPr/>
          <p:nvPr/>
        </p:nvSpPr>
        <p:spPr>
          <a:xfrm>
            <a:off x="918000" y="5684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 Coyeux</a:t>
            </a:r>
            <a:endParaRPr lang="en-US" sz="1000" dirty="0"/>
          </a:p>
        </p:txBody>
      </p:sp>
      <p:sp>
        <p:nvSpPr>
          <p:cNvPr id="70" name="Text 68"/>
          <p:cNvSpPr/>
          <p:nvPr/>
        </p:nvSpPr>
        <p:spPr>
          <a:xfrm>
            <a:off x="3204000" y="5684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22</a:t>
            </a:r>
            <a:endParaRPr lang="en-US" sz="900" dirty="0"/>
          </a:p>
        </p:txBody>
      </p:sp>
      <p:sp>
        <p:nvSpPr>
          <p:cNvPr id="71" name="Shape 69"/>
          <p:cNvSpPr/>
          <p:nvPr/>
        </p:nvSpPr>
        <p:spPr>
          <a:xfrm>
            <a:off x="612000" y="5886000"/>
            <a:ext cx="2952000" cy="0"/>
          </a:xfrm>
          <a:prstGeom prst="line">
            <a:avLst/>
          </a:prstGeom>
          <a:noFill/>
          <a:ln w="3810">
            <a:solidFill>
              <a:srgbClr val="C9CFC9"/>
            </a:solidFill>
            <a:prstDash val="solid"/>
          </a:ln>
        </p:spPr>
      </p:sp>
      <p:sp>
        <p:nvSpPr>
          <p:cNvPr id="72" name="Text 70"/>
          <p:cNvSpPr/>
          <p:nvPr/>
        </p:nvSpPr>
        <p:spPr>
          <a:xfrm>
            <a:off x="612000" y="5886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7</a:t>
            </a:r>
            <a:endParaRPr lang="en-US" sz="850" dirty="0"/>
          </a:p>
        </p:txBody>
      </p:sp>
      <p:sp>
        <p:nvSpPr>
          <p:cNvPr id="73" name="Text 71"/>
          <p:cNvSpPr/>
          <p:nvPr/>
        </p:nvSpPr>
        <p:spPr>
          <a:xfrm>
            <a:off x="918000" y="5886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du Moulin Blanc</a:t>
            </a:r>
            <a:endParaRPr lang="en-US" sz="1000" dirty="0"/>
          </a:p>
        </p:txBody>
      </p:sp>
      <p:sp>
        <p:nvSpPr>
          <p:cNvPr id="74" name="Text 72"/>
          <p:cNvSpPr/>
          <p:nvPr/>
        </p:nvSpPr>
        <p:spPr>
          <a:xfrm>
            <a:off x="3204000" y="5886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23</a:t>
            </a:r>
            <a:endParaRPr lang="en-US" sz="900" dirty="0"/>
          </a:p>
        </p:txBody>
      </p:sp>
      <p:sp>
        <p:nvSpPr>
          <p:cNvPr id="75" name="Shape 73"/>
          <p:cNvSpPr/>
          <p:nvPr/>
        </p:nvSpPr>
        <p:spPr>
          <a:xfrm>
            <a:off x="612000" y="6087600"/>
            <a:ext cx="2952000" cy="0"/>
          </a:xfrm>
          <a:prstGeom prst="line">
            <a:avLst/>
          </a:prstGeom>
          <a:noFill/>
          <a:ln w="3810">
            <a:solidFill>
              <a:srgbClr val="C9CFC9"/>
            </a:solidFill>
            <a:prstDash val="solid"/>
          </a:ln>
        </p:spPr>
      </p:sp>
      <p:sp>
        <p:nvSpPr>
          <p:cNvPr id="76" name="Text 74"/>
          <p:cNvSpPr/>
          <p:nvPr/>
        </p:nvSpPr>
        <p:spPr>
          <a:xfrm>
            <a:off x="612000" y="6087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7</a:t>
            </a:r>
            <a:endParaRPr lang="en-US" sz="850" dirty="0"/>
          </a:p>
        </p:txBody>
      </p:sp>
      <p:sp>
        <p:nvSpPr>
          <p:cNvPr id="77" name="Text 75"/>
          <p:cNvSpPr/>
          <p:nvPr/>
        </p:nvSpPr>
        <p:spPr>
          <a:xfrm>
            <a:off x="918000" y="6087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 la Pousterle</a:t>
            </a:r>
            <a:endParaRPr lang="en-US" sz="1000" dirty="0"/>
          </a:p>
        </p:txBody>
      </p:sp>
      <p:sp>
        <p:nvSpPr>
          <p:cNvPr id="78" name="Text 76"/>
          <p:cNvSpPr/>
          <p:nvPr/>
        </p:nvSpPr>
        <p:spPr>
          <a:xfrm>
            <a:off x="3204000" y="6087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24</a:t>
            </a:r>
            <a:endParaRPr lang="en-US" sz="900" dirty="0"/>
          </a:p>
        </p:txBody>
      </p:sp>
      <p:sp>
        <p:nvSpPr>
          <p:cNvPr id="79" name="Shape 77"/>
          <p:cNvSpPr/>
          <p:nvPr/>
        </p:nvSpPr>
        <p:spPr>
          <a:xfrm>
            <a:off x="612000" y="6289200"/>
            <a:ext cx="2952000" cy="0"/>
          </a:xfrm>
          <a:prstGeom prst="line">
            <a:avLst/>
          </a:prstGeom>
          <a:noFill/>
          <a:ln w="3810">
            <a:solidFill>
              <a:srgbClr val="C9CFC9"/>
            </a:solidFill>
            <a:prstDash val="solid"/>
          </a:ln>
        </p:spPr>
      </p:sp>
      <p:sp>
        <p:nvSpPr>
          <p:cNvPr id="80" name="Text 78"/>
          <p:cNvSpPr/>
          <p:nvPr/>
        </p:nvSpPr>
        <p:spPr>
          <a:xfrm>
            <a:off x="612000" y="6289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12</a:t>
            </a:r>
            <a:endParaRPr lang="en-US" sz="850" dirty="0"/>
          </a:p>
        </p:txBody>
      </p:sp>
      <p:sp>
        <p:nvSpPr>
          <p:cNvPr id="81" name="Text 79"/>
          <p:cNvSpPr/>
          <p:nvPr/>
        </p:nvSpPr>
        <p:spPr>
          <a:xfrm>
            <a:off x="918000" y="6289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Trichon</a:t>
            </a:r>
            <a:endParaRPr lang="en-US" sz="1000" dirty="0"/>
          </a:p>
        </p:txBody>
      </p:sp>
      <p:sp>
        <p:nvSpPr>
          <p:cNvPr id="82" name="Text 80"/>
          <p:cNvSpPr/>
          <p:nvPr/>
        </p:nvSpPr>
        <p:spPr>
          <a:xfrm>
            <a:off x="3204000" y="6289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25</a:t>
            </a:r>
            <a:endParaRPr lang="en-US" sz="900" dirty="0"/>
          </a:p>
        </p:txBody>
      </p:sp>
      <p:sp>
        <p:nvSpPr>
          <p:cNvPr id="83" name="Shape 81"/>
          <p:cNvSpPr/>
          <p:nvPr/>
        </p:nvSpPr>
        <p:spPr>
          <a:xfrm>
            <a:off x="612000" y="6490800"/>
            <a:ext cx="2952000" cy="0"/>
          </a:xfrm>
          <a:prstGeom prst="line">
            <a:avLst/>
          </a:prstGeom>
          <a:noFill/>
          <a:ln w="3810">
            <a:solidFill>
              <a:srgbClr val="C9CFC9"/>
            </a:solidFill>
            <a:prstDash val="solid"/>
          </a:ln>
        </p:spPr>
      </p:sp>
      <p:sp>
        <p:nvSpPr>
          <p:cNvPr id="84" name="Shape 82"/>
          <p:cNvSpPr/>
          <p:nvPr/>
        </p:nvSpPr>
        <p:spPr>
          <a:xfrm>
            <a:off x="3780000" y="1393200"/>
            <a:ext cx="115200" cy="115200"/>
          </a:xfrm>
          <a:prstGeom prst="rect">
            <a:avLst/>
          </a:prstGeom>
          <a:solidFill>
            <a:srgbClr val="D08C3C"/>
          </a:solidFill>
          <a:ln w="7620">
            <a:solidFill>
              <a:srgbClr val="D08C3C"/>
            </a:solidFill>
            <a:prstDash val="solid"/>
          </a:ln>
        </p:spPr>
      </p:sp>
      <p:sp>
        <p:nvSpPr>
          <p:cNvPr id="85" name="Text 83"/>
          <p:cNvSpPr/>
          <p:nvPr/>
        </p:nvSpPr>
        <p:spPr>
          <a:xfrm>
            <a:off x="3974400" y="13140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Sud-Ouest</a:t>
            </a:r>
            <a:endParaRPr lang="en-US" sz="1300" dirty="0"/>
          </a:p>
        </p:txBody>
      </p:sp>
      <p:sp>
        <p:nvSpPr>
          <p:cNvPr id="86" name="Shape 84"/>
          <p:cNvSpPr/>
          <p:nvPr/>
        </p:nvSpPr>
        <p:spPr>
          <a:xfrm>
            <a:off x="3780000" y="1587600"/>
            <a:ext cx="2952000" cy="0"/>
          </a:xfrm>
          <a:prstGeom prst="line">
            <a:avLst/>
          </a:prstGeom>
          <a:noFill/>
          <a:ln w="11430">
            <a:solidFill>
              <a:srgbClr val="67067C"/>
            </a:solidFill>
            <a:prstDash val="solid"/>
          </a:ln>
        </p:spPr>
      </p:sp>
      <p:sp>
        <p:nvSpPr>
          <p:cNvPr id="87" name="Text 85"/>
          <p:cNvSpPr/>
          <p:nvPr/>
        </p:nvSpPr>
        <p:spPr>
          <a:xfrm>
            <a:off x="3780000" y="1638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20</a:t>
            </a:r>
            <a:endParaRPr lang="en-US" sz="850" dirty="0"/>
          </a:p>
        </p:txBody>
      </p:sp>
      <p:sp>
        <p:nvSpPr>
          <p:cNvPr id="88" name="Text 86"/>
          <p:cNvSpPr/>
          <p:nvPr/>
        </p:nvSpPr>
        <p:spPr>
          <a:xfrm>
            <a:off x="4086000" y="1638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Stratéus</a:t>
            </a:r>
            <a:endParaRPr lang="en-US" sz="1000" dirty="0"/>
          </a:p>
        </p:txBody>
      </p:sp>
      <p:sp>
        <p:nvSpPr>
          <p:cNvPr id="89" name="Text 87"/>
          <p:cNvSpPr/>
          <p:nvPr/>
        </p:nvSpPr>
        <p:spPr>
          <a:xfrm>
            <a:off x="6372000" y="1638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28</a:t>
            </a:r>
            <a:endParaRPr lang="en-US" sz="900" dirty="0"/>
          </a:p>
        </p:txBody>
      </p:sp>
      <p:sp>
        <p:nvSpPr>
          <p:cNvPr id="90" name="Shape 88"/>
          <p:cNvSpPr/>
          <p:nvPr/>
        </p:nvSpPr>
        <p:spPr>
          <a:xfrm>
            <a:off x="3780000" y="1839600"/>
            <a:ext cx="2952000" cy="0"/>
          </a:xfrm>
          <a:prstGeom prst="line">
            <a:avLst/>
          </a:prstGeom>
          <a:noFill/>
          <a:ln w="3810">
            <a:solidFill>
              <a:srgbClr val="C9CFC9"/>
            </a:solidFill>
            <a:prstDash val="solid"/>
          </a:ln>
        </p:spPr>
      </p:sp>
      <p:sp>
        <p:nvSpPr>
          <p:cNvPr id="91" name="Text 89"/>
          <p:cNvSpPr/>
          <p:nvPr/>
        </p:nvSpPr>
        <p:spPr>
          <a:xfrm>
            <a:off x="3780000" y="1839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6</a:t>
            </a:r>
            <a:endParaRPr lang="en-US" sz="850" dirty="0"/>
          </a:p>
        </p:txBody>
      </p:sp>
      <p:sp>
        <p:nvSpPr>
          <p:cNvPr id="92" name="Text 90"/>
          <p:cNvSpPr/>
          <p:nvPr/>
        </p:nvSpPr>
        <p:spPr>
          <a:xfrm>
            <a:off x="4086000" y="1839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Haut Marin</a:t>
            </a:r>
            <a:endParaRPr lang="en-US" sz="1000" dirty="0"/>
          </a:p>
        </p:txBody>
      </p:sp>
      <p:sp>
        <p:nvSpPr>
          <p:cNvPr id="93" name="Text 91"/>
          <p:cNvSpPr/>
          <p:nvPr/>
        </p:nvSpPr>
        <p:spPr>
          <a:xfrm>
            <a:off x="6372000" y="1839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29</a:t>
            </a:r>
            <a:endParaRPr lang="en-US" sz="900" dirty="0"/>
          </a:p>
        </p:txBody>
      </p:sp>
      <p:sp>
        <p:nvSpPr>
          <p:cNvPr id="94" name="Shape 92"/>
          <p:cNvSpPr/>
          <p:nvPr/>
        </p:nvSpPr>
        <p:spPr>
          <a:xfrm>
            <a:off x="3780000" y="2041200"/>
            <a:ext cx="2952000" cy="0"/>
          </a:xfrm>
          <a:prstGeom prst="line">
            <a:avLst/>
          </a:prstGeom>
          <a:noFill/>
          <a:ln w="3810">
            <a:solidFill>
              <a:srgbClr val="C9CFC9"/>
            </a:solidFill>
            <a:prstDash val="solid"/>
          </a:ln>
        </p:spPr>
      </p:sp>
      <p:sp>
        <p:nvSpPr>
          <p:cNvPr id="95" name="Shape 93"/>
          <p:cNvSpPr/>
          <p:nvPr/>
        </p:nvSpPr>
        <p:spPr>
          <a:xfrm>
            <a:off x="3780000" y="2271600"/>
            <a:ext cx="115200" cy="115200"/>
          </a:xfrm>
          <a:prstGeom prst="rect">
            <a:avLst/>
          </a:prstGeom>
          <a:solidFill>
            <a:srgbClr val="A8515F"/>
          </a:solidFill>
          <a:ln w="7620">
            <a:solidFill>
              <a:srgbClr val="A8515F"/>
            </a:solidFill>
            <a:prstDash val="solid"/>
          </a:ln>
        </p:spPr>
      </p:sp>
      <p:sp>
        <p:nvSpPr>
          <p:cNvPr id="96" name="Text 94"/>
          <p:cNvSpPr/>
          <p:nvPr/>
        </p:nvSpPr>
        <p:spPr>
          <a:xfrm>
            <a:off x="3974400" y="21924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Bordeaux</a:t>
            </a:r>
            <a:endParaRPr lang="en-US" sz="1300" dirty="0"/>
          </a:p>
        </p:txBody>
      </p:sp>
      <p:sp>
        <p:nvSpPr>
          <p:cNvPr id="97" name="Shape 95"/>
          <p:cNvSpPr/>
          <p:nvPr/>
        </p:nvSpPr>
        <p:spPr>
          <a:xfrm>
            <a:off x="3780000" y="2466000"/>
            <a:ext cx="2952000" cy="0"/>
          </a:xfrm>
          <a:prstGeom prst="line">
            <a:avLst/>
          </a:prstGeom>
          <a:noFill/>
          <a:ln w="11430">
            <a:solidFill>
              <a:srgbClr val="67067C"/>
            </a:solidFill>
            <a:prstDash val="solid"/>
          </a:ln>
        </p:spPr>
      </p:sp>
      <p:sp>
        <p:nvSpPr>
          <p:cNvPr id="98" name="Text 96"/>
          <p:cNvSpPr/>
          <p:nvPr/>
        </p:nvSpPr>
        <p:spPr>
          <a:xfrm>
            <a:off x="3780000" y="2516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8</a:t>
            </a:r>
            <a:endParaRPr lang="en-US" sz="850" dirty="0"/>
          </a:p>
        </p:txBody>
      </p:sp>
      <p:sp>
        <p:nvSpPr>
          <p:cNvPr id="99" name="Text 97"/>
          <p:cNvSpPr/>
          <p:nvPr/>
        </p:nvSpPr>
        <p:spPr>
          <a:xfrm>
            <a:off x="4086000" y="2516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Falfas</a:t>
            </a:r>
            <a:endParaRPr lang="en-US" sz="1000" dirty="0"/>
          </a:p>
        </p:txBody>
      </p:sp>
      <p:sp>
        <p:nvSpPr>
          <p:cNvPr id="100" name="Text 98"/>
          <p:cNvSpPr/>
          <p:nvPr/>
        </p:nvSpPr>
        <p:spPr>
          <a:xfrm>
            <a:off x="6372000" y="2516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31</a:t>
            </a:r>
            <a:endParaRPr lang="en-US" sz="900" dirty="0"/>
          </a:p>
        </p:txBody>
      </p:sp>
      <p:sp>
        <p:nvSpPr>
          <p:cNvPr id="101" name="Shape 99"/>
          <p:cNvSpPr/>
          <p:nvPr/>
        </p:nvSpPr>
        <p:spPr>
          <a:xfrm>
            <a:off x="3780000" y="2718000"/>
            <a:ext cx="2952000" cy="0"/>
          </a:xfrm>
          <a:prstGeom prst="line">
            <a:avLst/>
          </a:prstGeom>
          <a:noFill/>
          <a:ln w="3810">
            <a:solidFill>
              <a:srgbClr val="C9CFC9"/>
            </a:solidFill>
            <a:prstDash val="solid"/>
          </a:ln>
        </p:spPr>
      </p:sp>
      <p:sp>
        <p:nvSpPr>
          <p:cNvPr id="102" name="Text 100"/>
          <p:cNvSpPr/>
          <p:nvPr/>
        </p:nvSpPr>
        <p:spPr>
          <a:xfrm>
            <a:off x="3780000" y="2718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16</a:t>
            </a:r>
            <a:endParaRPr lang="en-US" sz="850" dirty="0"/>
          </a:p>
        </p:txBody>
      </p:sp>
      <p:sp>
        <p:nvSpPr>
          <p:cNvPr id="103" name="Text 101"/>
          <p:cNvSpPr/>
          <p:nvPr/>
        </p:nvSpPr>
        <p:spPr>
          <a:xfrm>
            <a:off x="4086000" y="2718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Pré la Lande</a:t>
            </a:r>
            <a:endParaRPr lang="en-US" sz="1000" dirty="0"/>
          </a:p>
        </p:txBody>
      </p:sp>
      <p:sp>
        <p:nvSpPr>
          <p:cNvPr id="104" name="Text 102"/>
          <p:cNvSpPr/>
          <p:nvPr/>
        </p:nvSpPr>
        <p:spPr>
          <a:xfrm>
            <a:off x="6372000" y="2718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32</a:t>
            </a:r>
            <a:endParaRPr lang="en-US" sz="900" dirty="0"/>
          </a:p>
        </p:txBody>
      </p:sp>
      <p:sp>
        <p:nvSpPr>
          <p:cNvPr id="105" name="Shape 103"/>
          <p:cNvSpPr/>
          <p:nvPr/>
        </p:nvSpPr>
        <p:spPr>
          <a:xfrm>
            <a:off x="3780000" y="2919600"/>
            <a:ext cx="2952000" cy="0"/>
          </a:xfrm>
          <a:prstGeom prst="line">
            <a:avLst/>
          </a:prstGeom>
          <a:noFill/>
          <a:ln w="3810">
            <a:solidFill>
              <a:srgbClr val="C9CFC9"/>
            </a:solidFill>
            <a:prstDash val="solid"/>
          </a:ln>
        </p:spPr>
      </p:sp>
      <p:sp>
        <p:nvSpPr>
          <p:cNvPr id="106" name="Text 104"/>
          <p:cNvSpPr/>
          <p:nvPr/>
        </p:nvSpPr>
        <p:spPr>
          <a:xfrm>
            <a:off x="3780000" y="2919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a:t>
            </a:r>
            <a:endParaRPr lang="en-US" sz="850" dirty="0"/>
          </a:p>
        </p:txBody>
      </p:sp>
      <p:sp>
        <p:nvSpPr>
          <p:cNvPr id="107" name="Text 105"/>
          <p:cNvSpPr/>
          <p:nvPr/>
        </p:nvSpPr>
        <p:spPr>
          <a:xfrm>
            <a:off x="4086000" y="2919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Balac</a:t>
            </a:r>
            <a:endParaRPr lang="en-US" sz="1000" dirty="0"/>
          </a:p>
        </p:txBody>
      </p:sp>
      <p:sp>
        <p:nvSpPr>
          <p:cNvPr id="108" name="Text 106"/>
          <p:cNvSpPr/>
          <p:nvPr/>
        </p:nvSpPr>
        <p:spPr>
          <a:xfrm>
            <a:off x="6372000" y="2919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33</a:t>
            </a:r>
            <a:endParaRPr lang="en-US" sz="900" dirty="0"/>
          </a:p>
        </p:txBody>
      </p:sp>
      <p:sp>
        <p:nvSpPr>
          <p:cNvPr id="109" name="Shape 107"/>
          <p:cNvSpPr/>
          <p:nvPr/>
        </p:nvSpPr>
        <p:spPr>
          <a:xfrm>
            <a:off x="3780000" y="3121200"/>
            <a:ext cx="2952000" cy="0"/>
          </a:xfrm>
          <a:prstGeom prst="line">
            <a:avLst/>
          </a:prstGeom>
          <a:noFill/>
          <a:ln w="3810">
            <a:solidFill>
              <a:srgbClr val="C9CFC9"/>
            </a:solidFill>
            <a:prstDash val="solid"/>
          </a:ln>
        </p:spPr>
      </p:sp>
      <p:sp>
        <p:nvSpPr>
          <p:cNvPr id="110" name="Text 108"/>
          <p:cNvSpPr/>
          <p:nvPr/>
        </p:nvSpPr>
        <p:spPr>
          <a:xfrm>
            <a:off x="3780000" y="3121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24</a:t>
            </a:r>
            <a:endParaRPr lang="en-US" sz="850" dirty="0"/>
          </a:p>
        </p:txBody>
      </p:sp>
      <p:sp>
        <p:nvSpPr>
          <p:cNvPr id="111" name="Text 109"/>
          <p:cNvSpPr/>
          <p:nvPr/>
        </p:nvSpPr>
        <p:spPr>
          <a:xfrm>
            <a:off x="4086000" y="3121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l’Escarderie</a:t>
            </a:r>
            <a:endParaRPr lang="en-US" sz="1000" dirty="0"/>
          </a:p>
        </p:txBody>
      </p:sp>
      <p:sp>
        <p:nvSpPr>
          <p:cNvPr id="112" name="Text 110"/>
          <p:cNvSpPr/>
          <p:nvPr/>
        </p:nvSpPr>
        <p:spPr>
          <a:xfrm>
            <a:off x="6372000" y="3121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34</a:t>
            </a:r>
            <a:endParaRPr lang="en-US" sz="900" dirty="0"/>
          </a:p>
        </p:txBody>
      </p:sp>
      <p:sp>
        <p:nvSpPr>
          <p:cNvPr id="113" name="Shape 111"/>
          <p:cNvSpPr/>
          <p:nvPr/>
        </p:nvSpPr>
        <p:spPr>
          <a:xfrm>
            <a:off x="3780000" y="3322800"/>
            <a:ext cx="2952000" cy="0"/>
          </a:xfrm>
          <a:prstGeom prst="line">
            <a:avLst/>
          </a:prstGeom>
          <a:noFill/>
          <a:ln w="3810">
            <a:solidFill>
              <a:srgbClr val="C9CFC9"/>
            </a:solidFill>
            <a:prstDash val="solid"/>
          </a:ln>
        </p:spPr>
      </p:sp>
      <p:sp>
        <p:nvSpPr>
          <p:cNvPr id="114" name="Shape 112"/>
          <p:cNvSpPr/>
          <p:nvPr/>
        </p:nvSpPr>
        <p:spPr>
          <a:xfrm>
            <a:off x="3780000" y="3553200"/>
            <a:ext cx="115200" cy="115200"/>
          </a:xfrm>
          <a:prstGeom prst="rect">
            <a:avLst/>
          </a:prstGeom>
          <a:solidFill>
            <a:srgbClr val="46606E"/>
          </a:solidFill>
          <a:ln w="7620">
            <a:solidFill>
              <a:srgbClr val="46606E"/>
            </a:solidFill>
            <a:prstDash val="solid"/>
          </a:ln>
        </p:spPr>
      </p:sp>
      <p:sp>
        <p:nvSpPr>
          <p:cNvPr id="115" name="Text 113"/>
          <p:cNvSpPr/>
          <p:nvPr/>
        </p:nvSpPr>
        <p:spPr>
          <a:xfrm>
            <a:off x="3974400" y="34740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Provence</a:t>
            </a:r>
            <a:endParaRPr lang="en-US" sz="1300" dirty="0"/>
          </a:p>
        </p:txBody>
      </p:sp>
      <p:sp>
        <p:nvSpPr>
          <p:cNvPr id="116" name="Shape 114"/>
          <p:cNvSpPr/>
          <p:nvPr/>
        </p:nvSpPr>
        <p:spPr>
          <a:xfrm>
            <a:off x="3780000" y="3747600"/>
            <a:ext cx="2952000" cy="0"/>
          </a:xfrm>
          <a:prstGeom prst="line">
            <a:avLst/>
          </a:prstGeom>
          <a:noFill/>
          <a:ln w="11430">
            <a:solidFill>
              <a:srgbClr val="67067C"/>
            </a:solidFill>
            <a:prstDash val="solid"/>
          </a:ln>
        </p:spPr>
      </p:sp>
      <p:sp>
        <p:nvSpPr>
          <p:cNvPr id="117" name="Text 115"/>
          <p:cNvSpPr/>
          <p:nvPr/>
        </p:nvSpPr>
        <p:spPr>
          <a:xfrm>
            <a:off x="3780000" y="3798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19</a:t>
            </a:r>
            <a:endParaRPr lang="en-US" sz="850" dirty="0"/>
          </a:p>
        </p:txBody>
      </p:sp>
      <p:sp>
        <p:nvSpPr>
          <p:cNvPr id="118" name="Text 116"/>
          <p:cNvSpPr/>
          <p:nvPr/>
        </p:nvSpPr>
        <p:spPr>
          <a:xfrm>
            <a:off x="4086000" y="3798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Bastide de Blacailloux</a:t>
            </a:r>
            <a:endParaRPr lang="en-US" sz="1000" dirty="0"/>
          </a:p>
        </p:txBody>
      </p:sp>
      <p:sp>
        <p:nvSpPr>
          <p:cNvPr id="119" name="Text 117"/>
          <p:cNvSpPr/>
          <p:nvPr/>
        </p:nvSpPr>
        <p:spPr>
          <a:xfrm>
            <a:off x="6372000" y="3798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36</a:t>
            </a:r>
            <a:endParaRPr lang="en-US" sz="900" dirty="0"/>
          </a:p>
        </p:txBody>
      </p:sp>
      <p:sp>
        <p:nvSpPr>
          <p:cNvPr id="120" name="Shape 118"/>
          <p:cNvSpPr/>
          <p:nvPr/>
        </p:nvSpPr>
        <p:spPr>
          <a:xfrm>
            <a:off x="3780000" y="3999600"/>
            <a:ext cx="2952000" cy="0"/>
          </a:xfrm>
          <a:prstGeom prst="line">
            <a:avLst/>
          </a:prstGeom>
          <a:noFill/>
          <a:ln w="3810">
            <a:solidFill>
              <a:srgbClr val="C9CFC9"/>
            </a:solidFill>
            <a:prstDash val="solid"/>
          </a:ln>
        </p:spPr>
      </p:sp>
      <p:sp>
        <p:nvSpPr>
          <p:cNvPr id="121" name="Shape 119"/>
          <p:cNvSpPr/>
          <p:nvPr/>
        </p:nvSpPr>
        <p:spPr>
          <a:xfrm>
            <a:off x="3780000" y="4230000"/>
            <a:ext cx="115200" cy="115200"/>
          </a:xfrm>
          <a:prstGeom prst="rect">
            <a:avLst/>
          </a:prstGeom>
          <a:solidFill>
            <a:srgbClr val="3C5B47"/>
          </a:solidFill>
          <a:ln w="7620">
            <a:solidFill>
              <a:srgbClr val="3C5B47"/>
            </a:solidFill>
            <a:prstDash val="solid"/>
          </a:ln>
        </p:spPr>
      </p:sp>
      <p:sp>
        <p:nvSpPr>
          <p:cNvPr id="122" name="Text 120"/>
          <p:cNvSpPr/>
          <p:nvPr/>
        </p:nvSpPr>
        <p:spPr>
          <a:xfrm>
            <a:off x="3974400" y="41508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Languedoc</a:t>
            </a:r>
            <a:endParaRPr lang="en-US" sz="1300" dirty="0"/>
          </a:p>
        </p:txBody>
      </p:sp>
      <p:sp>
        <p:nvSpPr>
          <p:cNvPr id="123" name="Shape 121"/>
          <p:cNvSpPr/>
          <p:nvPr/>
        </p:nvSpPr>
        <p:spPr>
          <a:xfrm>
            <a:off x="3780000" y="4424400"/>
            <a:ext cx="2952000" cy="0"/>
          </a:xfrm>
          <a:prstGeom prst="line">
            <a:avLst/>
          </a:prstGeom>
          <a:noFill/>
          <a:ln w="11430">
            <a:solidFill>
              <a:srgbClr val="67067C"/>
            </a:solidFill>
            <a:prstDash val="solid"/>
          </a:ln>
        </p:spPr>
      </p:sp>
      <p:sp>
        <p:nvSpPr>
          <p:cNvPr id="124" name="Text 122"/>
          <p:cNvSpPr/>
          <p:nvPr/>
        </p:nvSpPr>
        <p:spPr>
          <a:xfrm>
            <a:off x="3780000" y="4474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21</a:t>
            </a:r>
            <a:endParaRPr lang="en-US" sz="850" dirty="0"/>
          </a:p>
        </p:txBody>
      </p:sp>
      <p:sp>
        <p:nvSpPr>
          <p:cNvPr id="125" name="Text 123"/>
          <p:cNvSpPr/>
          <p:nvPr/>
        </p:nvSpPr>
        <p:spPr>
          <a:xfrm>
            <a:off x="4086000" y="4474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Famille d’Exea</a:t>
            </a:r>
            <a:endParaRPr lang="en-US" sz="1000" dirty="0"/>
          </a:p>
        </p:txBody>
      </p:sp>
      <p:sp>
        <p:nvSpPr>
          <p:cNvPr id="126" name="Text 124"/>
          <p:cNvSpPr/>
          <p:nvPr/>
        </p:nvSpPr>
        <p:spPr>
          <a:xfrm>
            <a:off x="6372000" y="4474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38</a:t>
            </a:r>
            <a:endParaRPr lang="en-US" sz="900" dirty="0"/>
          </a:p>
        </p:txBody>
      </p:sp>
      <p:sp>
        <p:nvSpPr>
          <p:cNvPr id="127" name="Shape 125"/>
          <p:cNvSpPr/>
          <p:nvPr/>
        </p:nvSpPr>
        <p:spPr>
          <a:xfrm>
            <a:off x="3780000" y="4676400"/>
            <a:ext cx="2952000" cy="0"/>
          </a:xfrm>
          <a:prstGeom prst="line">
            <a:avLst/>
          </a:prstGeom>
          <a:noFill/>
          <a:ln w="3810">
            <a:solidFill>
              <a:srgbClr val="C9CFC9"/>
            </a:solidFill>
            <a:prstDash val="solid"/>
          </a:ln>
        </p:spPr>
      </p:sp>
      <p:sp>
        <p:nvSpPr>
          <p:cNvPr id="128" name="Text 126"/>
          <p:cNvSpPr/>
          <p:nvPr/>
        </p:nvSpPr>
        <p:spPr>
          <a:xfrm>
            <a:off x="3780000" y="4676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13</a:t>
            </a:r>
            <a:endParaRPr lang="en-US" sz="850" dirty="0"/>
          </a:p>
        </p:txBody>
      </p:sp>
      <p:sp>
        <p:nvSpPr>
          <p:cNvPr id="129" name="Text 127"/>
          <p:cNvSpPr/>
          <p:nvPr/>
        </p:nvSpPr>
        <p:spPr>
          <a:xfrm>
            <a:off x="4086000" y="4676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de Gragnos</a:t>
            </a:r>
            <a:endParaRPr lang="en-US" sz="1000" dirty="0"/>
          </a:p>
        </p:txBody>
      </p:sp>
      <p:sp>
        <p:nvSpPr>
          <p:cNvPr id="130" name="Text 128"/>
          <p:cNvSpPr/>
          <p:nvPr/>
        </p:nvSpPr>
        <p:spPr>
          <a:xfrm>
            <a:off x="6372000" y="4676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39</a:t>
            </a:r>
            <a:endParaRPr lang="en-US" sz="900" dirty="0"/>
          </a:p>
        </p:txBody>
      </p:sp>
      <p:sp>
        <p:nvSpPr>
          <p:cNvPr id="131" name="Shape 129"/>
          <p:cNvSpPr/>
          <p:nvPr/>
        </p:nvSpPr>
        <p:spPr>
          <a:xfrm>
            <a:off x="3780000" y="4878000"/>
            <a:ext cx="2952000" cy="0"/>
          </a:xfrm>
          <a:prstGeom prst="line">
            <a:avLst/>
          </a:prstGeom>
          <a:noFill/>
          <a:ln w="3810">
            <a:solidFill>
              <a:srgbClr val="C9CFC9"/>
            </a:solidFill>
            <a:prstDash val="solid"/>
          </a:ln>
        </p:spPr>
      </p:sp>
      <p:sp>
        <p:nvSpPr>
          <p:cNvPr id="132" name="Text 130"/>
          <p:cNvSpPr/>
          <p:nvPr/>
        </p:nvSpPr>
        <p:spPr>
          <a:xfrm>
            <a:off x="3780000" y="4878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a:t>
            </a:r>
            <a:endParaRPr lang="en-US" sz="850" dirty="0"/>
          </a:p>
        </p:txBody>
      </p:sp>
      <p:sp>
        <p:nvSpPr>
          <p:cNvPr id="133" name="Text 131"/>
          <p:cNvSpPr/>
          <p:nvPr/>
        </p:nvSpPr>
        <p:spPr>
          <a:xfrm>
            <a:off x="4086000" y="4878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Prieuré Sainte-Marie d’Albas</a:t>
            </a:r>
            <a:endParaRPr lang="en-US" sz="1000" dirty="0"/>
          </a:p>
        </p:txBody>
      </p:sp>
      <p:sp>
        <p:nvSpPr>
          <p:cNvPr id="134" name="Text 132"/>
          <p:cNvSpPr/>
          <p:nvPr/>
        </p:nvSpPr>
        <p:spPr>
          <a:xfrm>
            <a:off x="6372000" y="4878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40</a:t>
            </a:r>
            <a:endParaRPr lang="en-US" sz="900" dirty="0"/>
          </a:p>
        </p:txBody>
      </p:sp>
      <p:sp>
        <p:nvSpPr>
          <p:cNvPr id="135" name="Shape 133"/>
          <p:cNvSpPr/>
          <p:nvPr/>
        </p:nvSpPr>
        <p:spPr>
          <a:xfrm>
            <a:off x="3780000" y="5079600"/>
            <a:ext cx="2952000" cy="0"/>
          </a:xfrm>
          <a:prstGeom prst="line">
            <a:avLst/>
          </a:prstGeom>
          <a:noFill/>
          <a:ln w="3810">
            <a:solidFill>
              <a:srgbClr val="C9CFC9"/>
            </a:solidFill>
            <a:prstDash val="solid"/>
          </a:ln>
        </p:spPr>
      </p:sp>
      <p:sp>
        <p:nvSpPr>
          <p:cNvPr id="136" name="Shape 134"/>
          <p:cNvSpPr/>
          <p:nvPr/>
        </p:nvSpPr>
        <p:spPr>
          <a:xfrm>
            <a:off x="3780000" y="5310000"/>
            <a:ext cx="115200" cy="115200"/>
          </a:xfrm>
          <a:prstGeom prst="rect">
            <a:avLst/>
          </a:prstGeom>
          <a:solidFill>
            <a:srgbClr val="FBF8F1"/>
          </a:solidFill>
          <a:ln w="7620">
            <a:solidFill>
              <a:srgbClr val="46606E"/>
            </a:solidFill>
            <a:prstDash val="solid"/>
          </a:ln>
        </p:spPr>
      </p:sp>
      <p:sp>
        <p:nvSpPr>
          <p:cNvPr id="137" name="Text 135"/>
          <p:cNvSpPr/>
          <p:nvPr/>
        </p:nvSpPr>
        <p:spPr>
          <a:xfrm>
            <a:off x="3974400" y="52308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Champagne</a:t>
            </a:r>
            <a:endParaRPr lang="en-US" sz="1300" dirty="0"/>
          </a:p>
        </p:txBody>
      </p:sp>
      <p:sp>
        <p:nvSpPr>
          <p:cNvPr id="138" name="Shape 136"/>
          <p:cNvSpPr/>
          <p:nvPr/>
        </p:nvSpPr>
        <p:spPr>
          <a:xfrm>
            <a:off x="3780000" y="5504400"/>
            <a:ext cx="2952000" cy="0"/>
          </a:xfrm>
          <a:prstGeom prst="line">
            <a:avLst/>
          </a:prstGeom>
          <a:noFill/>
          <a:ln w="11430">
            <a:solidFill>
              <a:srgbClr val="67067C"/>
            </a:solidFill>
            <a:prstDash val="solid"/>
          </a:ln>
        </p:spPr>
      </p:sp>
      <p:sp>
        <p:nvSpPr>
          <p:cNvPr id="139" name="Text 137"/>
          <p:cNvSpPr/>
          <p:nvPr/>
        </p:nvSpPr>
        <p:spPr>
          <a:xfrm>
            <a:off x="3780000" y="5554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11</a:t>
            </a:r>
            <a:endParaRPr lang="en-US" sz="850" dirty="0"/>
          </a:p>
        </p:txBody>
      </p:sp>
      <p:sp>
        <p:nvSpPr>
          <p:cNvPr id="140" name="Text 138"/>
          <p:cNvSpPr/>
          <p:nvPr/>
        </p:nvSpPr>
        <p:spPr>
          <a:xfrm>
            <a:off x="4086000" y="5554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Champagne Dekeyne</a:t>
            </a:r>
            <a:endParaRPr lang="en-US" sz="1000" dirty="0"/>
          </a:p>
        </p:txBody>
      </p:sp>
      <p:sp>
        <p:nvSpPr>
          <p:cNvPr id="141" name="Text 139"/>
          <p:cNvSpPr/>
          <p:nvPr/>
        </p:nvSpPr>
        <p:spPr>
          <a:xfrm>
            <a:off x="6372000" y="5554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42</a:t>
            </a:r>
            <a:endParaRPr lang="en-US" sz="900" dirty="0"/>
          </a:p>
        </p:txBody>
      </p:sp>
      <p:sp>
        <p:nvSpPr>
          <p:cNvPr id="142" name="Shape 140"/>
          <p:cNvSpPr/>
          <p:nvPr/>
        </p:nvSpPr>
        <p:spPr>
          <a:xfrm>
            <a:off x="3780000" y="5756400"/>
            <a:ext cx="2952000" cy="0"/>
          </a:xfrm>
          <a:prstGeom prst="line">
            <a:avLst/>
          </a:prstGeom>
          <a:noFill/>
          <a:ln w="3810">
            <a:solidFill>
              <a:srgbClr val="C9CFC9"/>
            </a:solidFill>
            <a:prstDash val="solid"/>
          </a:ln>
        </p:spPr>
      </p:sp>
      <p:sp>
        <p:nvSpPr>
          <p:cNvPr id="143" name="Text 141"/>
          <p:cNvSpPr/>
          <p:nvPr/>
        </p:nvSpPr>
        <p:spPr>
          <a:xfrm>
            <a:off x="3780000" y="5756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a:t>
            </a:r>
            <a:endParaRPr lang="en-US" sz="850" dirty="0"/>
          </a:p>
        </p:txBody>
      </p:sp>
      <p:sp>
        <p:nvSpPr>
          <p:cNvPr id="144" name="Text 142"/>
          <p:cNvSpPr/>
          <p:nvPr/>
        </p:nvSpPr>
        <p:spPr>
          <a:xfrm>
            <a:off x="4086000" y="5756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Champagne Denis Frézier</a:t>
            </a:r>
            <a:endParaRPr lang="en-US" sz="1000" dirty="0"/>
          </a:p>
        </p:txBody>
      </p:sp>
      <p:sp>
        <p:nvSpPr>
          <p:cNvPr id="145" name="Text 143"/>
          <p:cNvSpPr/>
          <p:nvPr/>
        </p:nvSpPr>
        <p:spPr>
          <a:xfrm>
            <a:off x="6372000" y="5756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43</a:t>
            </a:r>
            <a:endParaRPr lang="en-US" sz="900" dirty="0"/>
          </a:p>
        </p:txBody>
      </p:sp>
      <p:sp>
        <p:nvSpPr>
          <p:cNvPr id="146" name="Shape 144"/>
          <p:cNvSpPr/>
          <p:nvPr/>
        </p:nvSpPr>
        <p:spPr>
          <a:xfrm>
            <a:off x="3780000" y="5958000"/>
            <a:ext cx="2952000" cy="0"/>
          </a:xfrm>
          <a:prstGeom prst="line">
            <a:avLst/>
          </a:prstGeom>
          <a:noFill/>
          <a:ln w="3810">
            <a:solidFill>
              <a:srgbClr val="C9CFC9"/>
            </a:solidFill>
            <a:prstDash val="solid"/>
          </a:ln>
        </p:spPr>
      </p:sp>
      <p:sp>
        <p:nvSpPr>
          <p:cNvPr id="147" name="Text 145"/>
          <p:cNvSpPr/>
          <p:nvPr/>
        </p:nvSpPr>
        <p:spPr>
          <a:xfrm>
            <a:off x="3780000" y="5958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23</a:t>
            </a:r>
            <a:endParaRPr lang="en-US" sz="850" dirty="0"/>
          </a:p>
        </p:txBody>
      </p:sp>
      <p:sp>
        <p:nvSpPr>
          <p:cNvPr id="148" name="Text 146"/>
          <p:cNvSpPr/>
          <p:nvPr/>
        </p:nvSpPr>
        <p:spPr>
          <a:xfrm>
            <a:off x="4086000" y="5958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Champagne Solemme</a:t>
            </a:r>
            <a:endParaRPr lang="en-US" sz="1000" dirty="0"/>
          </a:p>
        </p:txBody>
      </p:sp>
      <p:sp>
        <p:nvSpPr>
          <p:cNvPr id="149" name="Text 147"/>
          <p:cNvSpPr/>
          <p:nvPr/>
        </p:nvSpPr>
        <p:spPr>
          <a:xfrm>
            <a:off x="6372000" y="5958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44</a:t>
            </a:r>
            <a:endParaRPr lang="en-US" sz="900" dirty="0"/>
          </a:p>
        </p:txBody>
      </p:sp>
      <p:sp>
        <p:nvSpPr>
          <p:cNvPr id="150" name="Shape 148"/>
          <p:cNvSpPr/>
          <p:nvPr/>
        </p:nvSpPr>
        <p:spPr>
          <a:xfrm>
            <a:off x="3780000" y="6159600"/>
            <a:ext cx="2952000" cy="0"/>
          </a:xfrm>
          <a:prstGeom prst="line">
            <a:avLst/>
          </a:prstGeom>
          <a:noFill/>
          <a:ln w="3810">
            <a:solidFill>
              <a:srgbClr val="C9CFC9"/>
            </a:solidFill>
            <a:prstDash val="solid"/>
          </a:ln>
        </p:spPr>
      </p:sp>
      <p:sp>
        <p:nvSpPr>
          <p:cNvPr id="151" name="Text 149"/>
          <p:cNvSpPr/>
          <p:nvPr/>
        </p:nvSpPr>
        <p:spPr>
          <a:xfrm>
            <a:off x="3780000" y="6159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15</a:t>
            </a:r>
            <a:endParaRPr lang="en-US" sz="850" dirty="0"/>
          </a:p>
        </p:txBody>
      </p:sp>
      <p:sp>
        <p:nvSpPr>
          <p:cNvPr id="152" name="Text 150"/>
          <p:cNvSpPr/>
          <p:nvPr/>
        </p:nvSpPr>
        <p:spPr>
          <a:xfrm>
            <a:off x="4086000" y="6159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Vazart-Coquart &amp; Fils</a:t>
            </a:r>
            <a:endParaRPr lang="en-US" sz="1000" dirty="0"/>
          </a:p>
        </p:txBody>
      </p:sp>
      <p:sp>
        <p:nvSpPr>
          <p:cNvPr id="153" name="Text 151"/>
          <p:cNvSpPr/>
          <p:nvPr/>
        </p:nvSpPr>
        <p:spPr>
          <a:xfrm>
            <a:off x="6372000" y="6159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45</a:t>
            </a:r>
            <a:endParaRPr lang="en-US" sz="900" dirty="0"/>
          </a:p>
        </p:txBody>
      </p:sp>
      <p:sp>
        <p:nvSpPr>
          <p:cNvPr id="154" name="Shape 152"/>
          <p:cNvSpPr/>
          <p:nvPr/>
        </p:nvSpPr>
        <p:spPr>
          <a:xfrm>
            <a:off x="3780000" y="6361200"/>
            <a:ext cx="2952000" cy="0"/>
          </a:xfrm>
          <a:prstGeom prst="line">
            <a:avLst/>
          </a:prstGeom>
          <a:noFill/>
          <a:ln w="3810">
            <a:solidFill>
              <a:srgbClr val="C9CFC9"/>
            </a:solidFill>
            <a:prstDash val="solid"/>
          </a:ln>
        </p:spPr>
      </p:sp>
      <p:sp>
        <p:nvSpPr>
          <p:cNvPr id="155" name="Shape 153"/>
          <p:cNvSpPr/>
          <p:nvPr/>
        </p:nvSpPr>
        <p:spPr>
          <a:xfrm>
            <a:off x="612000" y="8280000"/>
            <a:ext cx="6120000" cy="0"/>
          </a:xfrm>
          <a:prstGeom prst="line">
            <a:avLst/>
          </a:prstGeom>
          <a:noFill/>
          <a:ln w="10160">
            <a:solidFill>
              <a:srgbClr val="67067C"/>
            </a:solidFill>
            <a:prstDash val="solid"/>
          </a:ln>
        </p:spPr>
      </p:sp>
      <p:sp>
        <p:nvSpPr>
          <p:cNvPr id="156" name="Text 154"/>
          <p:cNvSpPr/>
          <p:nvPr/>
        </p:nvSpPr>
        <p:spPr>
          <a:xfrm>
            <a:off x="612000" y="8352000"/>
            <a:ext cx="6120000" cy="162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Types    </a:t>
            </a:r>
            <a:r>
              <a:rPr lang="en-US" sz="740" dirty="0">
                <a:solidFill>
                  <a:srgbClr val="46606E"/>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Bulles    </a:t>
            </a:r>
            <a:r>
              <a:rPr lang="en-US" sz="740" dirty="0">
                <a:solidFill>
                  <a:srgbClr val="FBF8F1"/>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Blanc    </a:t>
            </a:r>
            <a:r>
              <a:rPr lang="en-US" sz="740" dirty="0">
                <a:solidFill>
                  <a:srgbClr val="D98FA0"/>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Rosé    </a:t>
            </a:r>
            <a:r>
              <a:rPr lang="en-US" sz="740" dirty="0">
                <a:solidFill>
                  <a:srgbClr val="A8515F"/>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Rouge    </a:t>
            </a:r>
            <a:r>
              <a:rPr lang="en-US" sz="740" dirty="0">
                <a:solidFill>
                  <a:srgbClr val="E1C853"/>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Doux    </a:t>
            </a:r>
            <a:r>
              <a:rPr lang="en-US" sz="740" dirty="0">
                <a:solidFill>
                  <a:srgbClr val="46606E"/>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Sans alcool    </a:t>
            </a:r>
            <a:r>
              <a:rPr lang="en-US" sz="740" dirty="0">
                <a:solidFill>
                  <a:srgbClr val="3C5B47"/>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Jus de cépages    </a:t>
            </a:r>
            <a:r>
              <a:rPr lang="en-US" sz="740" dirty="0">
                <a:solidFill>
                  <a:srgbClr val="D08C3C"/>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Bière    </a:t>
            </a:r>
            <a:r>
              <a:rPr lang="en-US" sz="740" dirty="0">
                <a:solidFill>
                  <a:srgbClr val="8A6230"/>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Spiritueux    </a:t>
            </a:r>
            <a:endParaRPr lang="en-US" sz="740" dirty="0"/>
          </a:p>
        </p:txBody>
      </p:sp>
      <p:sp>
        <p:nvSpPr>
          <p:cNvPr id="157" name="Text 155"/>
          <p:cNvSpPr/>
          <p:nvPr/>
        </p:nvSpPr>
        <p:spPr>
          <a:xfrm>
            <a:off x="612000" y="8532000"/>
            <a:ext cx="468000" cy="162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Labels</a:t>
            </a:r>
            <a:endParaRPr lang="en-US" sz="740" dirty="0"/>
          </a:p>
        </p:txBody>
      </p:sp>
      <p:pic>
        <p:nvPicPr>
          <p:cNvPr id="158" name="Image 0" descr="/home/user/philippe1/build/deco-salon-prive-2026/label-bio.png">    </p:cNvPr>
          <p:cNvPicPr>
            <a:picLocks noChangeAspect="1"/>
          </p:cNvPicPr>
          <p:nvPr/>
        </p:nvPicPr>
        <p:blipFill>
          <a:blip r:embed="rId1"/>
          <a:stretch>
            <a:fillRect/>
          </a:stretch>
        </p:blipFill>
        <p:spPr>
          <a:xfrm>
            <a:off x="1080000" y="8559000"/>
            <a:ext cx="108000" cy="108000"/>
          </a:xfrm>
          <a:prstGeom prst="rect">
            <a:avLst/>
          </a:prstGeom>
        </p:spPr>
      </p:pic>
      <p:sp>
        <p:nvSpPr>
          <p:cNvPr id="159" name="Text 156"/>
          <p:cNvSpPr/>
          <p:nvPr/>
        </p:nvSpPr>
        <p:spPr>
          <a:xfrm>
            <a:off x="1227600" y="8532000"/>
            <a:ext cx="191493"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Bio</a:t>
            </a:r>
            <a:endParaRPr lang="en-US" sz="740" dirty="0"/>
          </a:p>
        </p:txBody>
      </p:sp>
      <p:pic>
        <p:nvPicPr>
          <p:cNvPr id="160" name="Image 1" descr="/home/user/philippe1/build/deco-salon-prive-2026/label-conversion.png">    </p:cNvPr>
          <p:cNvPicPr>
            <a:picLocks noChangeAspect="1"/>
          </p:cNvPicPr>
          <p:nvPr/>
        </p:nvPicPr>
        <p:blipFill>
          <a:blip r:embed="rId2"/>
          <a:stretch>
            <a:fillRect/>
          </a:stretch>
        </p:blipFill>
        <p:spPr>
          <a:xfrm>
            <a:off x="1527093" y="8559000"/>
            <a:ext cx="108000" cy="108000"/>
          </a:xfrm>
          <a:prstGeom prst="rect">
            <a:avLst/>
          </a:prstGeom>
        </p:spPr>
      </p:pic>
      <p:sp>
        <p:nvSpPr>
          <p:cNvPr id="161" name="Text 157"/>
          <p:cNvSpPr/>
          <p:nvPr/>
        </p:nvSpPr>
        <p:spPr>
          <a:xfrm>
            <a:off x="1674693" y="8532000"/>
            <a:ext cx="804900"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En conversion Bio</a:t>
            </a:r>
            <a:endParaRPr lang="en-US" sz="740" dirty="0"/>
          </a:p>
        </p:txBody>
      </p:sp>
      <p:pic>
        <p:nvPicPr>
          <p:cNvPr id="162" name="Image 2" descr="/home/user/philippe1/build/deco-salon-prive-2026/label-biobiodyn.png">    </p:cNvPr>
          <p:cNvPicPr>
            <a:picLocks noChangeAspect="1"/>
          </p:cNvPicPr>
          <p:nvPr/>
        </p:nvPicPr>
        <p:blipFill>
          <a:blip r:embed="rId3"/>
          <a:stretch>
            <a:fillRect/>
          </a:stretch>
        </p:blipFill>
        <p:spPr>
          <a:xfrm>
            <a:off x="2587593" y="8559000"/>
            <a:ext cx="108000" cy="108000"/>
          </a:xfrm>
          <a:prstGeom prst="rect">
            <a:avLst/>
          </a:prstGeom>
        </p:spPr>
      </p:pic>
      <p:sp>
        <p:nvSpPr>
          <p:cNvPr id="163" name="Text 158"/>
          <p:cNvSpPr/>
          <p:nvPr/>
        </p:nvSpPr>
        <p:spPr>
          <a:xfrm>
            <a:off x="2735193" y="8532000"/>
            <a:ext cx="553598"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Biodynamie</a:t>
            </a:r>
            <a:endParaRPr lang="en-US" sz="740" dirty="0"/>
          </a:p>
        </p:txBody>
      </p:sp>
      <p:pic>
        <p:nvPicPr>
          <p:cNvPr id="164" name="Image 3" descr="/home/user/philippe1/build/deco-salon-prive-2026/label-biobiodyn.png">    </p:cNvPr>
          <p:cNvPicPr>
            <a:picLocks noChangeAspect="1"/>
          </p:cNvPicPr>
          <p:nvPr/>
        </p:nvPicPr>
        <p:blipFill>
          <a:blip r:embed="rId4"/>
          <a:stretch>
            <a:fillRect/>
          </a:stretch>
        </p:blipFill>
        <p:spPr>
          <a:xfrm>
            <a:off x="3396791" y="8559000"/>
            <a:ext cx="108000" cy="108000"/>
          </a:xfrm>
          <a:prstGeom prst="rect">
            <a:avLst/>
          </a:prstGeom>
        </p:spPr>
      </p:pic>
      <p:sp>
        <p:nvSpPr>
          <p:cNvPr id="165" name="Text 159"/>
          <p:cNvSpPr/>
          <p:nvPr/>
        </p:nvSpPr>
        <p:spPr>
          <a:xfrm>
            <a:off x="3544391" y="8532000"/>
            <a:ext cx="800671"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Bio &amp; Biodynamie</a:t>
            </a:r>
            <a:endParaRPr lang="en-US" sz="740" dirty="0"/>
          </a:p>
        </p:txBody>
      </p:sp>
      <p:pic>
        <p:nvPicPr>
          <p:cNvPr id="166" name="Image 4" descr="/home/user/philippe1/build/deco-salon-prive-2026/label-hve.png">    </p:cNvPr>
          <p:cNvPicPr>
            <a:picLocks noChangeAspect="1"/>
          </p:cNvPicPr>
          <p:nvPr/>
        </p:nvPicPr>
        <p:blipFill>
          <a:blip r:embed="rId5"/>
          <a:stretch>
            <a:fillRect/>
          </a:stretch>
        </p:blipFill>
        <p:spPr>
          <a:xfrm>
            <a:off x="4453062" y="8559000"/>
            <a:ext cx="108000" cy="108000"/>
          </a:xfrm>
          <a:prstGeom prst="rect">
            <a:avLst/>
          </a:prstGeom>
        </p:spPr>
      </p:pic>
      <p:sp>
        <p:nvSpPr>
          <p:cNvPr id="167" name="Text 160"/>
          <p:cNvSpPr/>
          <p:nvPr/>
        </p:nvSpPr>
        <p:spPr>
          <a:xfrm>
            <a:off x="4600662" y="8532000"/>
            <a:ext cx="232468"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HVE</a:t>
            </a:r>
            <a:endParaRPr lang="en-US" sz="740" dirty="0"/>
          </a:p>
        </p:txBody>
      </p:sp>
      <p:pic>
        <p:nvPicPr>
          <p:cNvPr id="168" name="Image 5" descr="/home/user/philippe1/build/deco-salon-prive-2026/label-hve.png">    </p:cNvPr>
          <p:cNvPicPr>
            <a:picLocks noChangeAspect="1"/>
          </p:cNvPicPr>
          <p:nvPr/>
        </p:nvPicPr>
        <p:blipFill>
          <a:blip r:embed="rId6"/>
          <a:stretch>
            <a:fillRect/>
          </a:stretch>
        </p:blipFill>
        <p:spPr>
          <a:xfrm>
            <a:off x="4941130" y="8559000"/>
            <a:ext cx="108000" cy="108000"/>
          </a:xfrm>
          <a:prstGeom prst="rect">
            <a:avLst/>
          </a:prstGeom>
        </p:spPr>
      </p:pic>
      <p:sp>
        <p:nvSpPr>
          <p:cNvPr id="169" name="Text 161"/>
          <p:cNvSpPr/>
          <p:nvPr/>
        </p:nvSpPr>
        <p:spPr>
          <a:xfrm>
            <a:off x="5088730" y="8532000"/>
            <a:ext cx="311035"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HVE 3</a:t>
            </a:r>
            <a:endParaRPr lang="en-US" sz="740" dirty="0"/>
          </a:p>
        </p:txBody>
      </p:sp>
      <p:pic>
        <p:nvPicPr>
          <p:cNvPr id="170" name="Image 6" descr="/home/user/philippe1/build/deco-salon-prive-2026/label-raisonnee.png">    </p:cNvPr>
          <p:cNvPicPr>
            <a:picLocks noChangeAspect="1"/>
          </p:cNvPicPr>
          <p:nvPr/>
        </p:nvPicPr>
        <p:blipFill>
          <a:blip r:embed="rId7"/>
          <a:stretch>
            <a:fillRect/>
          </a:stretch>
        </p:blipFill>
        <p:spPr>
          <a:xfrm>
            <a:off x="5507765" y="8559000"/>
            <a:ext cx="108000" cy="108000"/>
          </a:xfrm>
          <a:prstGeom prst="rect">
            <a:avLst/>
          </a:prstGeom>
        </p:spPr>
      </p:pic>
      <p:sp>
        <p:nvSpPr>
          <p:cNvPr id="171" name="Text 162"/>
          <p:cNvSpPr/>
          <p:nvPr/>
        </p:nvSpPr>
        <p:spPr>
          <a:xfrm>
            <a:off x="5655365" y="8532000"/>
            <a:ext cx="959215"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Agriculture raisonnée</a:t>
            </a:r>
            <a:endParaRPr lang="en-US" sz="740" dirty="0"/>
          </a:p>
        </p:txBody>
      </p:sp>
      <p:pic>
        <p:nvPicPr>
          <p:cNvPr id="172" name="Image 7" descr="/home/user/philippe1/build/deco-salon-prive-2026/label-iso.png">    </p:cNvPr>
          <p:cNvPicPr>
            <a:picLocks noChangeAspect="1"/>
          </p:cNvPicPr>
          <p:nvPr/>
        </p:nvPicPr>
        <p:blipFill>
          <a:blip r:embed="rId8"/>
          <a:stretch>
            <a:fillRect/>
          </a:stretch>
        </p:blipFill>
        <p:spPr>
          <a:xfrm>
            <a:off x="6722580" y="8559000"/>
            <a:ext cx="108000" cy="108000"/>
          </a:xfrm>
          <a:prstGeom prst="rect">
            <a:avLst/>
          </a:prstGeom>
        </p:spPr>
      </p:pic>
      <p:sp>
        <p:nvSpPr>
          <p:cNvPr id="173" name="Text 163"/>
          <p:cNvSpPr/>
          <p:nvPr/>
        </p:nvSpPr>
        <p:spPr>
          <a:xfrm>
            <a:off x="6870180" y="8532000"/>
            <a:ext cx="516852"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ISO 26000</a:t>
            </a:r>
            <a:endParaRPr lang="en-US" sz="740" dirty="0"/>
          </a:p>
        </p:txBody>
      </p:sp>
      <p:sp>
        <p:nvSpPr>
          <p:cNvPr id="174" name="Text 164"/>
          <p:cNvSpPr/>
          <p:nvPr/>
        </p:nvSpPr>
        <p:spPr>
          <a:xfrm>
            <a:off x="612000" y="8712000"/>
            <a:ext cx="6120000" cy="144000"/>
          </a:xfrm>
          <a:prstGeom prst="rect">
            <a:avLst/>
          </a:prstGeom>
          <a:noFill/>
          <a:ln/>
        </p:spPr>
        <p:txBody>
          <a:bodyPr wrap="square" lIns="0" tIns="0" rIns="0" bIns="0" rtlCol="0" anchor="ctr"/>
          <a:lstStyle/>
          <a:p>
            <a:pPr indent="0" marL="0">
              <a:buNone/>
            </a:pPr>
            <a:r>
              <a:rPr lang="en-US" sz="760" i="1" dirty="0">
                <a:solidFill>
                  <a:srgbClr val="46606E"/>
                </a:solidFill>
                <a:latin typeface="IBM Plex Sans" pitchFamily="34" charset="0"/>
                <a:ea typeface="IBM Plex Sans" pitchFamily="34" charset="-122"/>
                <a:cs typeface="IBM Plex Sans" pitchFamily="34" charset="-120"/>
              </a:rPr>
              <a:t>Ces pictos sont ceux de l'Agence SCIO, dessinés pour ce catalogue : ce ne sont pas les logos officiels des organismes certificateurs.</a:t>
            </a:r>
            <a:endParaRPr lang="en-US" sz="760" dirty="0"/>
          </a:p>
        </p:txBody>
      </p:sp>
      <p:sp>
        <p:nvSpPr>
          <p:cNvPr id="175" name="Text 165"/>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a:t>
            </a:r>
            <a:endParaRPr lang="en-US" sz="750" dirty="0"/>
          </a:p>
        </p:txBody>
      </p:sp>
      <p:sp>
        <p:nvSpPr>
          <p:cNvPr id="176" name="Text 166"/>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46606E"/>
        </a:solidFill>
      </p:bgPr>
    </p:bg>
    <p:spTree>
      <p:nvGrpSpPr>
        <p:cNvPr id="1" name=""/>
        <p:cNvGrpSpPr/>
        <p:nvPr/>
      </p:nvGrpSpPr>
      <p:grpSpPr>
        <a:xfrm>
          <a:off x="0" y="0"/>
          <a:ext cx="0" cy="0"/>
          <a:chOff x="0" y="0"/>
          <a:chExt cx="0" cy="0"/>
        </a:xfrm>
      </p:grpSpPr>
      <p:pic>
        <p:nvPicPr>
          <p:cNvPr id="2" name="Image 0" descr="/home/user/philippe1/build/deco-salon-prive-2026/ouverture-loire.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salon-prive-2026/carotte-loire.png">    </p:cNvPr>
          <p:cNvPicPr>
            <a:picLocks noChangeAspect="1"/>
          </p:cNvPicPr>
          <p:nvPr/>
        </p:nvPicPr>
        <p:blipFill>
          <a:blip r:embed="rId2"/>
          <a:stretch>
            <a:fillRect/>
          </a:stretch>
        </p:blipFill>
        <p:spPr>
          <a:xfrm>
            <a:off x="0" y="0"/>
            <a:ext cx="324000" cy="9360000"/>
          </a:xfrm>
          <a:prstGeom prst="rect">
            <a:avLst/>
          </a:prstGeom>
        </p:spPr>
      </p:pic>
      <p:sp>
        <p:nvSpPr>
          <p:cNvPr id="4"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5" name="Text 1"/>
          <p:cNvSpPr/>
          <p:nvPr/>
        </p:nvSpPr>
        <p:spPr>
          <a:xfrm>
            <a:off x="828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1 / 9</a:t>
            </a:r>
            <a:endParaRPr lang="en-US" sz="800" dirty="0"/>
          </a:p>
        </p:txBody>
      </p:sp>
      <p:sp>
        <p:nvSpPr>
          <p:cNvPr id="6" name="Text 2"/>
          <p:cNvSpPr/>
          <p:nvPr/>
        </p:nvSpPr>
        <p:spPr>
          <a:xfrm>
            <a:off x="828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Loire</a:t>
            </a:r>
            <a:endParaRPr lang="en-US" sz="4600" dirty="0"/>
          </a:p>
        </p:txBody>
      </p:sp>
      <p:sp>
        <p:nvSpPr>
          <p:cNvPr id="7" name="Text 3"/>
          <p:cNvSpPr/>
          <p:nvPr/>
        </p:nvSpPr>
        <p:spPr>
          <a:xfrm>
            <a:off x="828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schistes et tuffeau</a:t>
            </a:r>
            <a:endParaRPr lang="en-US" sz="1200" dirty="0"/>
          </a:p>
        </p:txBody>
      </p:sp>
      <p:sp>
        <p:nvSpPr>
          <p:cNvPr id="8" name="Text 4"/>
          <p:cNvSpPr/>
          <p:nvPr/>
        </p:nvSpPr>
        <p:spPr>
          <a:xfrm>
            <a:off x="828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6</a:t>
            </a:r>
            <a:endParaRPr lang="en-US" sz="2000" dirty="0"/>
          </a:p>
        </p:txBody>
      </p:sp>
      <p:sp>
        <p:nvSpPr>
          <p:cNvPr id="9" name="Text 5"/>
          <p:cNvSpPr/>
          <p:nvPr/>
        </p:nvSpPr>
        <p:spPr>
          <a:xfrm>
            <a:off x="828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domaines</a:t>
            </a:r>
            <a:endParaRPr lang="en-US" sz="850" dirty="0"/>
          </a:p>
        </p:txBody>
      </p:sp>
      <p:sp>
        <p:nvSpPr>
          <p:cNvPr id="10" name="Text 6"/>
          <p:cNvSpPr/>
          <p:nvPr/>
        </p:nvSpPr>
        <p:spPr>
          <a:xfrm>
            <a:off x="1836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45</a:t>
            </a:r>
            <a:endParaRPr lang="en-US" sz="2000" dirty="0"/>
          </a:p>
        </p:txBody>
      </p:sp>
      <p:sp>
        <p:nvSpPr>
          <p:cNvPr id="11" name="Text 7"/>
          <p:cNvSpPr/>
          <p:nvPr/>
        </p:nvSpPr>
        <p:spPr>
          <a:xfrm>
            <a:off x="1836000" y="6660000"/>
            <a:ext cx="1620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vins à la dégustation</a:t>
            </a:r>
            <a:endParaRPr lang="en-US" sz="850" dirty="0"/>
          </a:p>
        </p:txBody>
      </p:sp>
      <p:sp>
        <p:nvSpPr>
          <p:cNvPr id="12" name="Text 8"/>
          <p:cNvSpPr/>
          <p:nvPr/>
        </p:nvSpPr>
        <p:spPr>
          <a:xfrm>
            <a:off x="828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10   </a:t>
            </a:r>
            <a:r>
              <a:rPr lang="en-US" sz="860" dirty="0">
                <a:solidFill>
                  <a:srgbClr val="FBF8F1"/>
                </a:solidFill>
                <a:latin typeface="IBM Plex Sans" pitchFamily="34" charset="0"/>
                <a:ea typeface="IBM Plex Sans" pitchFamily="34" charset="-122"/>
                <a:cs typeface="IBM Plex Sans" pitchFamily="34" charset="-120"/>
              </a:rPr>
              <a:t>François Reverdy</a:t>
            </a:r>
            <a:r>
              <a:rPr lang="en-US" sz="860" b="1" dirty="0">
                <a:solidFill>
                  <a:srgbClr val="FBF8F1"/>
                </a:solidFill>
                <a:latin typeface="IBM Plex Sans" pitchFamily="34" charset="0"/>
                <a:ea typeface="IBM Plex Sans" pitchFamily="34" charset="-122"/>
                <a:cs typeface="IBM Plex Sans" pitchFamily="34" charset="-120"/>
              </a:rPr>
              <a:t>   5</a:t>
            </a:r>
            <a:endParaRPr lang="en-US" sz="860" dirty="0"/>
          </a:p>
        </p:txBody>
      </p:sp>
      <p:sp>
        <p:nvSpPr>
          <p:cNvPr id="13" name="Text 9"/>
          <p:cNvSpPr/>
          <p:nvPr/>
        </p:nvSpPr>
        <p:spPr>
          <a:xfrm>
            <a:off x="3888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22   </a:t>
            </a:r>
            <a:r>
              <a:rPr lang="en-US" sz="860" dirty="0">
                <a:solidFill>
                  <a:srgbClr val="FBF8F1"/>
                </a:solidFill>
                <a:latin typeface="IBM Plex Sans" pitchFamily="34" charset="0"/>
                <a:ea typeface="IBM Plex Sans" pitchFamily="34" charset="-122"/>
                <a:cs typeface="IBM Plex Sans" pitchFamily="34" charset="-120"/>
              </a:rPr>
              <a:t>Domaine de la Barbinière</a:t>
            </a:r>
            <a:r>
              <a:rPr lang="en-US" sz="860" b="1" dirty="0">
                <a:solidFill>
                  <a:srgbClr val="FBF8F1"/>
                </a:solidFill>
                <a:latin typeface="IBM Plex Sans" pitchFamily="34" charset="0"/>
                <a:ea typeface="IBM Plex Sans" pitchFamily="34" charset="-122"/>
                <a:cs typeface="IBM Plex Sans" pitchFamily="34" charset="-120"/>
              </a:rPr>
              <a:t>   6</a:t>
            </a:r>
            <a:endParaRPr lang="en-US" sz="860" dirty="0"/>
          </a:p>
        </p:txBody>
      </p:sp>
      <p:sp>
        <p:nvSpPr>
          <p:cNvPr id="14" name="Text 10"/>
          <p:cNvSpPr/>
          <p:nvPr/>
        </p:nvSpPr>
        <p:spPr>
          <a:xfrm>
            <a:off x="828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4   </a:t>
            </a:r>
            <a:r>
              <a:rPr lang="en-US" sz="860" dirty="0">
                <a:solidFill>
                  <a:srgbClr val="FBF8F1"/>
                </a:solidFill>
                <a:latin typeface="IBM Plex Sans" pitchFamily="34" charset="0"/>
                <a:ea typeface="IBM Plex Sans" pitchFamily="34" charset="-122"/>
                <a:cs typeface="IBM Plex Sans" pitchFamily="34" charset="-120"/>
              </a:rPr>
              <a:t>Domaine du Colombier / J.Y Bretaudeau</a:t>
            </a:r>
            <a:r>
              <a:rPr lang="en-US" sz="860" b="1" dirty="0">
                <a:solidFill>
                  <a:srgbClr val="FBF8F1"/>
                </a:solidFill>
                <a:latin typeface="IBM Plex Sans" pitchFamily="34" charset="0"/>
                <a:ea typeface="IBM Plex Sans" pitchFamily="34" charset="-122"/>
                <a:cs typeface="IBM Plex Sans" pitchFamily="34" charset="-120"/>
              </a:rPr>
              <a:t>   7</a:t>
            </a:r>
            <a:endParaRPr lang="en-US" sz="860" dirty="0"/>
          </a:p>
        </p:txBody>
      </p:sp>
      <p:sp>
        <p:nvSpPr>
          <p:cNvPr id="15" name="Text 11"/>
          <p:cNvSpPr/>
          <p:nvPr/>
        </p:nvSpPr>
        <p:spPr>
          <a:xfrm>
            <a:off x="3888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14   </a:t>
            </a:r>
            <a:r>
              <a:rPr lang="en-US" sz="860" dirty="0">
                <a:solidFill>
                  <a:srgbClr val="FBF8F1"/>
                </a:solidFill>
                <a:latin typeface="IBM Plex Sans" pitchFamily="34" charset="0"/>
                <a:ea typeface="IBM Plex Sans" pitchFamily="34" charset="-122"/>
                <a:cs typeface="IBM Plex Sans" pitchFamily="34" charset="-120"/>
              </a:rPr>
              <a:t>Domaine des Noëls</a:t>
            </a:r>
            <a:r>
              <a:rPr lang="en-US" sz="860" b="1" dirty="0">
                <a:solidFill>
                  <a:srgbClr val="FBF8F1"/>
                </a:solidFill>
                <a:latin typeface="IBM Plex Sans" pitchFamily="34" charset="0"/>
                <a:ea typeface="IBM Plex Sans" pitchFamily="34" charset="-122"/>
                <a:cs typeface="IBM Plex Sans" pitchFamily="34" charset="-120"/>
              </a:rPr>
              <a:t>   8</a:t>
            </a:r>
            <a:endParaRPr lang="en-US" sz="860" dirty="0"/>
          </a:p>
        </p:txBody>
      </p:sp>
      <p:sp>
        <p:nvSpPr>
          <p:cNvPr id="16" name="Text 12"/>
          <p:cNvSpPr/>
          <p:nvPr/>
        </p:nvSpPr>
        <p:spPr>
          <a:xfrm>
            <a:off x="828000" y="7632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25   </a:t>
            </a:r>
            <a:r>
              <a:rPr lang="en-US" sz="860" dirty="0">
                <a:solidFill>
                  <a:srgbClr val="FBF8F1"/>
                </a:solidFill>
                <a:latin typeface="IBM Plex Sans" pitchFamily="34" charset="0"/>
                <a:ea typeface="IBM Plex Sans" pitchFamily="34" charset="-122"/>
                <a:cs typeface="IBM Plex Sans" pitchFamily="34" charset="-120"/>
              </a:rPr>
              <a:t>Chai Berteaud Manceau</a:t>
            </a:r>
            <a:r>
              <a:rPr lang="en-US" sz="860" b="1" dirty="0">
                <a:solidFill>
                  <a:srgbClr val="FBF8F1"/>
                </a:solidFill>
                <a:latin typeface="IBM Plex Sans" pitchFamily="34" charset="0"/>
                <a:ea typeface="IBM Plex Sans" pitchFamily="34" charset="-122"/>
                <a:cs typeface="IBM Plex Sans" pitchFamily="34" charset="-120"/>
              </a:rPr>
              <a:t>   9</a:t>
            </a:r>
            <a:endParaRPr lang="en-US" sz="860" dirty="0"/>
          </a:p>
        </p:txBody>
      </p:sp>
      <p:sp>
        <p:nvSpPr>
          <p:cNvPr id="17" name="Text 13"/>
          <p:cNvSpPr/>
          <p:nvPr/>
        </p:nvSpPr>
        <p:spPr>
          <a:xfrm>
            <a:off x="3888000" y="7632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17   </a:t>
            </a:r>
            <a:r>
              <a:rPr lang="en-US" sz="860" dirty="0">
                <a:solidFill>
                  <a:srgbClr val="FBF8F1"/>
                </a:solidFill>
                <a:latin typeface="IBM Plex Sans" pitchFamily="34" charset="0"/>
                <a:ea typeface="IBM Plex Sans" pitchFamily="34" charset="-122"/>
                <a:cs typeface="IBM Plex Sans" pitchFamily="34" charset="-120"/>
              </a:rPr>
              <a:t>Domaine Jean de Villebois</a:t>
            </a:r>
            <a:r>
              <a:rPr lang="en-US" sz="860" b="1" dirty="0">
                <a:solidFill>
                  <a:srgbClr val="FBF8F1"/>
                </a:solidFill>
                <a:latin typeface="IBM Plex Sans" pitchFamily="34" charset="0"/>
                <a:ea typeface="IBM Plex Sans" pitchFamily="34" charset="-122"/>
                <a:cs typeface="IBM Plex Sans" pitchFamily="34" charset="-120"/>
              </a:rPr>
              <a:t>   10</a:t>
            </a:r>
            <a:endParaRPr lang="en-US" sz="860" dirty="0"/>
          </a:p>
        </p:txBody>
      </p:sp>
      <p:sp>
        <p:nvSpPr>
          <p:cNvPr id="18" name="Text 14"/>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4</a:t>
            </a:r>
            <a:endParaRPr lang="en-US" sz="750" dirty="0"/>
          </a:p>
        </p:txBody>
      </p:sp>
      <p:sp>
        <p:nvSpPr>
          <p:cNvPr id="19" name="Text 15"/>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loir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Shape 1"/>
          <p:cNvSpPr/>
          <p:nvPr/>
        </p:nvSpPr>
        <p:spPr>
          <a:xfrm>
            <a:off x="612000" y="667894"/>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612000" y="667894"/>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10</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440000" y="540000"/>
            <a:ext cx="4068000" cy="774188"/>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François Reverdy</a:t>
            </a:r>
            <a:endParaRPr lang="en-US" sz="2000" dirty="0"/>
          </a:p>
        </p:txBody>
      </p:sp>
      <p:sp>
        <p:nvSpPr>
          <p:cNvPr id="7" name="Text 4"/>
          <p:cNvSpPr/>
          <p:nvPr/>
        </p:nvSpPr>
        <p:spPr>
          <a:xfrm>
            <a:off x="5292000" y="540000"/>
            <a:ext cx="1440000" cy="774188"/>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8" name="Shape 5"/>
          <p:cNvSpPr/>
          <p:nvPr/>
        </p:nvSpPr>
        <p:spPr>
          <a:xfrm>
            <a:off x="612000" y="1332188"/>
            <a:ext cx="6120000" cy="0"/>
          </a:xfrm>
          <a:prstGeom prst="line">
            <a:avLst/>
          </a:prstGeom>
          <a:noFill/>
          <a:ln w="17780">
            <a:solidFill>
              <a:srgbClr val="67067C"/>
            </a:solidFill>
            <a:prstDash val="solid"/>
          </a:ln>
        </p:spPr>
      </p:sp>
      <p:sp>
        <p:nvSpPr>
          <p:cNvPr id="9" name="Shape 6"/>
          <p:cNvSpPr/>
          <p:nvPr/>
        </p:nvSpPr>
        <p:spPr>
          <a:xfrm>
            <a:off x="612000" y="1425788"/>
            <a:ext cx="486451"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png">    </p:cNvPr>
          <p:cNvPicPr>
            <a:picLocks noChangeAspect="1"/>
          </p:cNvPicPr>
          <p:nvPr/>
        </p:nvPicPr>
        <p:blipFill>
          <a:blip r:embed="rId2"/>
          <a:stretch>
            <a:fillRect/>
          </a:stretch>
        </p:blipFill>
        <p:spPr>
          <a:xfrm>
            <a:off x="684000" y="1461788"/>
            <a:ext cx="108000" cy="108000"/>
          </a:xfrm>
          <a:prstGeom prst="rect">
            <a:avLst/>
          </a:prstGeom>
        </p:spPr>
      </p:pic>
      <p:sp>
        <p:nvSpPr>
          <p:cNvPr id="11" name="Text 7"/>
          <p:cNvSpPr/>
          <p:nvPr/>
        </p:nvSpPr>
        <p:spPr>
          <a:xfrm>
            <a:off x="759600" y="1425788"/>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2" name="Shape 8"/>
          <p:cNvSpPr/>
          <p:nvPr/>
        </p:nvSpPr>
        <p:spPr>
          <a:xfrm>
            <a:off x="1177651" y="1425788"/>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177651" y="1425788"/>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2642325" y="1425788"/>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642325" y="1425788"/>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vins à la dégustation</a:t>
            </a:r>
            <a:endParaRPr lang="en-US" sz="720" dirty="0"/>
          </a:p>
        </p:txBody>
      </p:sp>
      <p:pic>
        <p:nvPicPr>
          <p:cNvPr id="16" name="Image 2" descr="portrait du vigneron, noir et blanc — François Reverdy">    </p:cNvPr>
          <p:cNvPicPr>
            <a:picLocks noChangeAspect="1"/>
          </p:cNvPicPr>
          <p:nvPr/>
        </p:nvPicPr>
        <p:blipFill>
          <a:blip r:embed="rId3"/>
          <a:stretch>
            <a:fillRect/>
          </a:stretch>
        </p:blipFill>
        <p:spPr>
          <a:xfrm>
            <a:off x="612000" y="1735388"/>
            <a:ext cx="1440000" cy="1440000"/>
          </a:xfrm>
          <a:prstGeom prst="rect">
            <a:avLst/>
          </a:prstGeom>
        </p:spPr>
      </p:pic>
      <p:pic>
        <p:nvPicPr>
          <p:cNvPr id="17" name="Image 3" descr="Une bouteille du domaine François Reverdy">    </p:cNvPr>
          <p:cNvPicPr>
            <a:picLocks noChangeAspect="1"/>
          </p:cNvPicPr>
          <p:nvPr/>
        </p:nvPicPr>
        <p:blipFill>
          <a:blip r:embed="rId4"/>
          <a:stretch>
            <a:fillRect/>
          </a:stretch>
        </p:blipFill>
        <p:spPr>
          <a:xfrm>
            <a:off x="5992033" y="1735388"/>
            <a:ext cx="615934" cy="2232000"/>
          </a:xfrm>
          <a:prstGeom prst="rect">
            <a:avLst/>
          </a:prstGeom>
        </p:spPr>
      </p:pic>
      <p:sp>
        <p:nvSpPr>
          <p:cNvPr id="18" name="Text 12"/>
          <p:cNvSpPr/>
          <p:nvPr/>
        </p:nvSpPr>
        <p:spPr>
          <a:xfrm>
            <a:off x="2177967" y="1639951"/>
            <a:ext cx="278395" cy="479349"/>
          </a:xfrm>
          <a:prstGeom prst="rect">
            <a:avLst/>
          </a:prstGeom>
          <a:noFill/>
          <a:ln/>
        </p:spPr>
        <p:txBody>
          <a:bodyPr wrap="square" lIns="0" tIns="0" rIns="0" bIns="0" rtlCol="0" anchor="t"/>
          <a:lstStyle/>
          <a:p>
            <a:pPr algn="r" indent="0" marL="0">
              <a:lnSpc>
                <a:spcPct val="121500"/>
              </a:lnSpc>
              <a:buNone/>
            </a:pPr>
            <a:r>
              <a:rPr lang="en-US" sz="2359" dirty="0">
                <a:solidFill>
                  <a:srgbClr val="67067C"/>
                </a:solidFill>
                <a:latin typeface="Young Serif" pitchFamily="34" charset="0"/>
                <a:ea typeface="Young Serif" pitchFamily="34" charset="-122"/>
                <a:cs typeface="Young Serif" pitchFamily="34" charset="-120"/>
              </a:rPr>
              <a:t>C</a:t>
            </a:r>
            <a:endParaRPr lang="en-US" sz="2359" dirty="0"/>
          </a:p>
        </p:txBody>
      </p:sp>
      <p:sp>
        <p:nvSpPr>
          <p:cNvPr id="19" name="Text 13"/>
          <p:cNvSpPr/>
          <p:nvPr/>
        </p:nvSpPr>
        <p:spPr>
          <a:xfrm>
            <a:off x="2232000" y="1782715"/>
            <a:ext cx="3456000" cy="2184573"/>
          </a:xfrm>
          <a:prstGeom prst="rect">
            <a:avLst/>
          </a:prstGeom>
          <a:noFill/>
          <a:ln/>
        </p:spPr>
        <p:txBody>
          <a:bodyPr wrap="square" lIns="0" tIns="0" rIns="0" bIns="0" rtlCol="0" anchor="t"/>
          <a:lstStyle/>
          <a:p>
            <a:pPr indent="0" marL="0">
              <a:lnSpc>
                <a:spcPct val="142000"/>
              </a:lnSpc>
              <a:buNone/>
            </a:pPr>
            <a:r>
              <a:rPr lang="en-US" sz="1225" dirty="0">
                <a:solidFill>
                  <a:srgbClr val="46606E"/>
                </a:solidFill>
                <a:latin typeface="Spectral" pitchFamily="34" charset="0"/>
                <a:ea typeface="Spectral" pitchFamily="34" charset="-122"/>
                <a:cs typeface="Spectral" pitchFamily="34" charset="-120"/>
              </a:rPr>
              <a:t>      réés ex nihilo en 2023, deux vignobles jardins conduits en agriculture biologique : l'un à Sancerre, où François Reverdy est le plus petit vigneron de l'appellation, l'autre à Roiffé entre Saumur et Chinon, en vieilles vignes de Grolleau noir, Cabernet Franc et Chenin blanc. Vendanges à la main et vins éco-conçus, en Anjou, Saumur, Chinon, Quincy et Sancerre.</a:t>
            </a:r>
            <a:endParaRPr lang="en-US" sz="1225"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12000" y="4129288"/>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Jusqu'à 36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48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Anjou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François Reverdy – Schistes Vert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Grange Jaumain – Chenin Blanc</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Saumur</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François Reverdy – Tuffeau</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Quincy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François Reverdy – Graves Argileuses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François Reverdy – Les Villaudes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2264">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Grange Jaumain – Grolleau Noir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Chinon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François Reverdy – Franc / Graves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Chinon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Cravant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612000" y="7470857"/>
            <a:ext cx="0" cy="288349"/>
          </a:xfrm>
          <a:prstGeom prst="line">
            <a:avLst/>
          </a:prstGeom>
          <a:noFill/>
          <a:ln w="17780">
            <a:solidFill>
              <a:srgbClr val="67067C"/>
            </a:solidFill>
            <a:prstDash val="solid"/>
          </a:ln>
        </p:spPr>
      </p:sp>
      <p:sp>
        <p:nvSpPr>
          <p:cNvPr id="22" name="Text 15"/>
          <p:cNvSpPr/>
          <p:nvPr/>
        </p:nvSpPr>
        <p:spPr>
          <a:xfrm>
            <a:off x="720000" y="7470857"/>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3" name="Shape 16"/>
          <p:cNvSpPr/>
          <p:nvPr/>
        </p:nvSpPr>
        <p:spPr>
          <a:xfrm>
            <a:off x="612000" y="8388000"/>
            <a:ext cx="6120000" cy="0"/>
          </a:xfrm>
          <a:prstGeom prst="line">
            <a:avLst/>
          </a:prstGeom>
          <a:noFill/>
          <a:ln w="8890">
            <a:solidFill>
              <a:srgbClr val="46606E"/>
            </a:solidFill>
            <a:prstDash val="solid"/>
          </a:ln>
        </p:spPr>
      </p:sp>
      <p:sp>
        <p:nvSpPr>
          <p:cNvPr id="24" name="Text 17"/>
          <p:cNvSpPr/>
          <p:nvPr/>
        </p:nvSpPr>
        <p:spPr>
          <a:xfrm>
            <a:off x="612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8"/>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 Autre     pictos de l’Agence SCIO, pas les logos officiels</a:t>
            </a:r>
            <a:endParaRPr lang="en-US" sz="650" dirty="0"/>
          </a:p>
        </p:txBody>
      </p:sp>
      <p:sp>
        <p:nvSpPr>
          <p:cNvPr id="26" name="Text 1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5</a:t>
            </a:r>
            <a:endParaRPr lang="en-US" sz="750" dirty="0"/>
          </a:p>
        </p:txBody>
      </p:sp>
      <p:sp>
        <p:nvSpPr>
          <p:cNvPr id="27" name="Text 2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loir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Shape 1"/>
          <p:cNvSpPr/>
          <p:nvPr/>
        </p:nvSpPr>
        <p:spPr>
          <a:xfrm>
            <a:off x="828000" y="667894"/>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67894"/>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22</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74188"/>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Domaine de la Barbinière</a:t>
            </a:r>
            <a:endParaRPr lang="en-US" sz="2000" dirty="0"/>
          </a:p>
        </p:txBody>
      </p:sp>
      <p:sp>
        <p:nvSpPr>
          <p:cNvPr id="7" name="Text 4"/>
          <p:cNvSpPr/>
          <p:nvPr/>
        </p:nvSpPr>
        <p:spPr>
          <a:xfrm>
            <a:off x="5508000" y="540000"/>
            <a:ext cx="1440000" cy="774188"/>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8" name="Shape 5"/>
          <p:cNvSpPr/>
          <p:nvPr/>
        </p:nvSpPr>
        <p:spPr>
          <a:xfrm>
            <a:off x="828000" y="1332188"/>
            <a:ext cx="6120000" cy="0"/>
          </a:xfrm>
          <a:prstGeom prst="line">
            <a:avLst/>
          </a:prstGeom>
          <a:noFill/>
          <a:ln w="17780">
            <a:solidFill>
              <a:srgbClr val="67067C"/>
            </a:solidFill>
            <a:prstDash val="solid"/>
          </a:ln>
        </p:spPr>
      </p:sp>
      <p:sp>
        <p:nvSpPr>
          <p:cNvPr id="9" name="Shape 6"/>
          <p:cNvSpPr/>
          <p:nvPr/>
        </p:nvSpPr>
        <p:spPr>
          <a:xfrm>
            <a:off x="828000" y="1425788"/>
            <a:ext cx="486451"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png">    </p:cNvPr>
          <p:cNvPicPr>
            <a:picLocks noChangeAspect="1"/>
          </p:cNvPicPr>
          <p:nvPr/>
        </p:nvPicPr>
        <p:blipFill>
          <a:blip r:embed="rId2"/>
          <a:stretch>
            <a:fillRect/>
          </a:stretch>
        </p:blipFill>
        <p:spPr>
          <a:xfrm>
            <a:off x="900000" y="1461788"/>
            <a:ext cx="108000" cy="108000"/>
          </a:xfrm>
          <a:prstGeom prst="rect">
            <a:avLst/>
          </a:prstGeom>
        </p:spPr>
      </p:pic>
      <p:sp>
        <p:nvSpPr>
          <p:cNvPr id="11" name="Text 7"/>
          <p:cNvSpPr/>
          <p:nvPr/>
        </p:nvSpPr>
        <p:spPr>
          <a:xfrm>
            <a:off x="975600" y="1425788"/>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2" name="Shape 8"/>
          <p:cNvSpPr/>
          <p:nvPr/>
        </p:nvSpPr>
        <p:spPr>
          <a:xfrm>
            <a:off x="1393651" y="1425788"/>
            <a:ext cx="630911" cy="180000"/>
          </a:xfrm>
          <a:prstGeom prst="roundRect">
            <a:avLst>
              <a:gd name="adj" fmla="val 10160"/>
            </a:avLst>
          </a:prstGeom>
          <a:solidFill>
            <a:srgbClr val="67067C"/>
          </a:solidFill>
          <a:ln w="8890">
            <a:solidFill>
              <a:srgbClr val="67067C"/>
            </a:solidFill>
            <a:prstDash val="solid"/>
          </a:ln>
        </p:spPr>
      </p:sp>
      <p:sp>
        <p:nvSpPr>
          <p:cNvPr id="13" name="Text 9"/>
          <p:cNvSpPr/>
          <p:nvPr/>
        </p:nvSpPr>
        <p:spPr>
          <a:xfrm>
            <a:off x="1393651" y="1425788"/>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4" name="Shape 10"/>
          <p:cNvSpPr/>
          <p:nvPr/>
        </p:nvSpPr>
        <p:spPr>
          <a:xfrm>
            <a:off x="2103762" y="1425788"/>
            <a:ext cx="1385474" cy="180000"/>
          </a:xfrm>
          <a:prstGeom prst="roundRect">
            <a:avLst>
              <a:gd name="adj" fmla="val 10160"/>
            </a:avLst>
          </a:prstGeom>
          <a:solidFill>
            <a:srgbClr val="F2EADA"/>
          </a:solidFill>
          <a:ln w="8890">
            <a:solidFill>
              <a:srgbClr val="A8515F"/>
            </a:solidFill>
            <a:prstDash val="solid"/>
          </a:ln>
        </p:spPr>
      </p:sp>
      <p:sp>
        <p:nvSpPr>
          <p:cNvPr id="15" name="Text 11"/>
          <p:cNvSpPr/>
          <p:nvPr/>
        </p:nvSpPr>
        <p:spPr>
          <a:xfrm>
            <a:off x="2103762" y="1425788"/>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6" name="Shape 12"/>
          <p:cNvSpPr/>
          <p:nvPr/>
        </p:nvSpPr>
        <p:spPr>
          <a:xfrm>
            <a:off x="3568436" y="1425788"/>
            <a:ext cx="1149376" cy="180000"/>
          </a:xfrm>
          <a:prstGeom prst="roundRect">
            <a:avLst>
              <a:gd name="adj" fmla="val 10160"/>
            </a:avLst>
          </a:prstGeom>
          <a:solidFill>
            <a:srgbClr val="F2EADA"/>
          </a:solidFill>
          <a:ln w="8890">
            <a:solidFill>
              <a:srgbClr val="46606E"/>
            </a:solidFill>
            <a:prstDash val="solid"/>
          </a:ln>
        </p:spPr>
      </p:sp>
      <p:sp>
        <p:nvSpPr>
          <p:cNvPr id="17" name="Text 13"/>
          <p:cNvSpPr/>
          <p:nvPr/>
        </p:nvSpPr>
        <p:spPr>
          <a:xfrm>
            <a:off x="3568436" y="1425788"/>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7 vins à la dégustation</a:t>
            </a:r>
            <a:endParaRPr lang="en-US" sz="720" dirty="0"/>
          </a:p>
        </p:txBody>
      </p:sp>
      <p:pic>
        <p:nvPicPr>
          <p:cNvPr id="18" name="Image 2" descr="vendanges dans les vignes du domaine — Domaine de la Barbinière">    </p:cNvPr>
          <p:cNvPicPr>
            <a:picLocks noChangeAspect="1"/>
          </p:cNvPicPr>
          <p:nvPr/>
        </p:nvPicPr>
        <p:blipFill>
          <a:blip r:embed="rId3"/>
          <a:stretch>
            <a:fillRect/>
          </a:stretch>
        </p:blipFill>
        <p:spPr>
          <a:xfrm>
            <a:off x="828000" y="1735388"/>
            <a:ext cx="1440000" cy="1440000"/>
          </a:xfrm>
          <a:prstGeom prst="rect">
            <a:avLst/>
          </a:prstGeom>
        </p:spPr>
      </p:pic>
      <p:pic>
        <p:nvPicPr>
          <p:cNvPr id="19" name="Image 3" descr="Une bouteille du domaine Domaine de la Barbinière">    </p:cNvPr>
          <p:cNvPicPr>
            <a:picLocks noChangeAspect="1"/>
          </p:cNvPicPr>
          <p:nvPr/>
        </p:nvPicPr>
        <p:blipFill>
          <a:blip r:embed="rId4"/>
          <a:stretch>
            <a:fillRect/>
          </a:stretch>
        </p:blipFill>
        <p:spPr>
          <a:xfrm>
            <a:off x="6229377" y="1735388"/>
            <a:ext cx="573246" cy="2232000"/>
          </a:xfrm>
          <a:prstGeom prst="rect">
            <a:avLst/>
          </a:prstGeom>
        </p:spPr>
      </p:pic>
      <p:sp>
        <p:nvSpPr>
          <p:cNvPr id="20" name="Text 14"/>
          <p:cNvSpPr/>
          <p:nvPr/>
        </p:nvSpPr>
        <p:spPr>
          <a:xfrm>
            <a:off x="2393960" y="1730912"/>
            <a:ext cx="251415" cy="436880"/>
          </a:xfrm>
          <a:prstGeom prst="rect">
            <a:avLst/>
          </a:prstGeom>
          <a:noFill/>
          <a:ln/>
        </p:spPr>
        <p:txBody>
          <a:bodyPr wrap="square" lIns="0" tIns="0" rIns="0" bIns="0" rtlCol="0" anchor="t"/>
          <a:lstStyle/>
          <a:p>
            <a:pPr algn="r" indent="0" marL="0">
              <a:lnSpc>
                <a:spcPct val="126100"/>
              </a:lnSpc>
              <a:buNone/>
            </a:pPr>
            <a:r>
              <a:rPr lang="en-US" sz="2150" dirty="0">
                <a:solidFill>
                  <a:srgbClr val="67067C"/>
                </a:solidFill>
                <a:latin typeface="Young Serif" pitchFamily="34" charset="0"/>
                <a:ea typeface="Young Serif" pitchFamily="34" charset="-122"/>
                <a:cs typeface="Young Serif" pitchFamily="34" charset="-120"/>
              </a:rPr>
              <a:t>S</a:t>
            </a:r>
            <a:endParaRPr lang="en-US" sz="2150" dirty="0"/>
          </a:p>
        </p:txBody>
      </p:sp>
      <p:sp>
        <p:nvSpPr>
          <p:cNvPr id="21" name="Text 15"/>
          <p:cNvSpPr/>
          <p:nvPr/>
        </p:nvSpPr>
        <p:spPr>
          <a:xfrm>
            <a:off x="2448000" y="1841123"/>
            <a:ext cx="3456000" cy="2126165"/>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ur les reliefs bocagers du Chantonnais, Vincent et Alban Orion sculptent 30 hectares reflétant la diversité des terroirs chantonnaisiens. Une démarche paysanne faite de travail manuel minutieux et d’attention à la faune et à la flore, qui porte le domaine en agriculture biologique.</a:t>
            </a:r>
            <a:endParaRPr lang="en-US" sz="13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828000" y="4129288"/>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Silex</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Gorinières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Courbes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2018</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Amphibol</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Gneiss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Val de Loire Pinot Noir</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 Bois Bouquet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Méthode Traditionnelle (Extra)</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L’O*** Brut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3" name="Shape 16"/>
          <p:cNvSpPr/>
          <p:nvPr/>
        </p:nvSpPr>
        <p:spPr>
          <a:xfrm>
            <a:off x="828000" y="7157276"/>
            <a:ext cx="0" cy="288349"/>
          </a:xfrm>
          <a:prstGeom prst="line">
            <a:avLst/>
          </a:prstGeom>
          <a:noFill/>
          <a:ln w="17780">
            <a:solidFill>
              <a:srgbClr val="67067C"/>
            </a:solidFill>
            <a:prstDash val="solid"/>
          </a:ln>
        </p:spPr>
      </p:sp>
      <p:sp>
        <p:nvSpPr>
          <p:cNvPr id="24" name="Text 17"/>
          <p:cNvSpPr/>
          <p:nvPr/>
        </p:nvSpPr>
        <p:spPr>
          <a:xfrm>
            <a:off x="936000" y="7157276"/>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5" name="Shape 18"/>
          <p:cNvSpPr/>
          <p:nvPr/>
        </p:nvSpPr>
        <p:spPr>
          <a:xfrm>
            <a:off x="828000" y="8388000"/>
            <a:ext cx="6120000" cy="0"/>
          </a:xfrm>
          <a:prstGeom prst="line">
            <a:avLst/>
          </a:prstGeom>
          <a:noFill/>
          <a:ln w="8890">
            <a:solidFill>
              <a:srgbClr val="46606E"/>
            </a:solidFill>
            <a:prstDash val="solid"/>
          </a:ln>
        </p:spPr>
      </p:sp>
      <p:sp>
        <p:nvSpPr>
          <p:cNvPr id="26" name="Text 19"/>
          <p:cNvSpPr/>
          <p:nvPr/>
        </p:nvSpPr>
        <p:spPr>
          <a:xfrm>
            <a:off x="828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16 · 35 · 44 · 49 · 53 · 56 · 85</a:t>
            </a:r>
            <a:endParaRPr lang="en-US" sz="720" dirty="0"/>
          </a:p>
        </p:txBody>
      </p:sp>
      <p:sp>
        <p:nvSpPr>
          <p:cNvPr id="27" name="Text 20"/>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Rouge     pictos de l’Agence SCIO, pas les logos officiels</a:t>
            </a:r>
            <a:endParaRPr lang="en-US" sz="650" dirty="0"/>
          </a:p>
        </p:txBody>
      </p:sp>
      <p:sp>
        <p:nvSpPr>
          <p:cNvPr id="28" name="Text 21"/>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6</a:t>
            </a:r>
            <a:endParaRPr lang="en-US" sz="750" dirty="0"/>
          </a:p>
        </p:txBody>
      </p:sp>
      <p:sp>
        <p:nvSpPr>
          <p:cNvPr id="29" name="Text 22"/>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loir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Shape 1"/>
          <p:cNvSpPr/>
          <p:nvPr/>
        </p:nvSpPr>
        <p:spPr>
          <a:xfrm>
            <a:off x="612000" y="667894"/>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612000" y="667894"/>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4</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Blanche</a:t>
            </a:r>
            <a:endParaRPr lang="en-US" sz="700" dirty="0"/>
          </a:p>
        </p:txBody>
      </p:sp>
      <p:sp>
        <p:nvSpPr>
          <p:cNvPr id="6" name="Text 3"/>
          <p:cNvSpPr/>
          <p:nvPr/>
        </p:nvSpPr>
        <p:spPr>
          <a:xfrm>
            <a:off x="1440000" y="540000"/>
            <a:ext cx="4068000" cy="774188"/>
          </a:xfrm>
          <a:prstGeom prst="rect">
            <a:avLst/>
          </a:prstGeom>
          <a:noFill/>
          <a:ln/>
        </p:spPr>
        <p:txBody>
          <a:bodyPr wrap="square" lIns="0" tIns="0" rIns="0" bIns="0" rtlCol="0" anchor="ctr"/>
          <a:lstStyle/>
          <a:p>
            <a:pPr indent="0" marL="0">
              <a:lnSpc>
                <a:spcPct val="104000"/>
              </a:lnSpc>
              <a:buNone/>
            </a:pPr>
            <a:r>
              <a:rPr lang="en-US" sz="1550" dirty="0">
                <a:solidFill>
                  <a:srgbClr val="46606E"/>
                </a:solidFill>
                <a:latin typeface="Young Serif" pitchFamily="34" charset="0"/>
                <a:ea typeface="Young Serif" pitchFamily="34" charset="-122"/>
                <a:cs typeface="Young Serif" pitchFamily="34" charset="-120"/>
              </a:rPr>
              <a:t>Domaine du Colombier / J.Y Bretaudeau</a:t>
            </a:r>
            <a:endParaRPr lang="en-US" sz="1550" dirty="0"/>
          </a:p>
        </p:txBody>
      </p:sp>
      <p:sp>
        <p:nvSpPr>
          <p:cNvPr id="7" name="Text 4"/>
          <p:cNvSpPr/>
          <p:nvPr/>
        </p:nvSpPr>
        <p:spPr>
          <a:xfrm>
            <a:off x="5292000" y="540000"/>
            <a:ext cx="1440000" cy="774188"/>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8" name="Shape 5"/>
          <p:cNvSpPr/>
          <p:nvPr/>
        </p:nvSpPr>
        <p:spPr>
          <a:xfrm>
            <a:off x="612000" y="1332188"/>
            <a:ext cx="6120000" cy="0"/>
          </a:xfrm>
          <a:prstGeom prst="line">
            <a:avLst/>
          </a:prstGeom>
          <a:noFill/>
          <a:ln w="17780">
            <a:solidFill>
              <a:srgbClr val="67067C"/>
            </a:solidFill>
            <a:prstDash val="solid"/>
          </a:ln>
        </p:spPr>
      </p:sp>
      <p:sp>
        <p:nvSpPr>
          <p:cNvPr id="9" name="Shape 6"/>
          <p:cNvSpPr/>
          <p:nvPr/>
        </p:nvSpPr>
        <p:spPr>
          <a:xfrm>
            <a:off x="612000" y="1425788"/>
            <a:ext cx="528148"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hve.png">    </p:cNvPr>
          <p:cNvPicPr>
            <a:picLocks noChangeAspect="1"/>
          </p:cNvPicPr>
          <p:nvPr/>
        </p:nvPicPr>
        <p:blipFill>
          <a:blip r:embed="rId2"/>
          <a:stretch>
            <a:fillRect/>
          </a:stretch>
        </p:blipFill>
        <p:spPr>
          <a:xfrm>
            <a:off x="684000" y="1461788"/>
            <a:ext cx="108000" cy="108000"/>
          </a:xfrm>
          <a:prstGeom prst="rect">
            <a:avLst/>
          </a:prstGeom>
        </p:spPr>
      </p:pic>
      <p:sp>
        <p:nvSpPr>
          <p:cNvPr id="11" name="Text 7"/>
          <p:cNvSpPr/>
          <p:nvPr/>
        </p:nvSpPr>
        <p:spPr>
          <a:xfrm>
            <a:off x="759600" y="1425788"/>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2" name="Shape 8"/>
          <p:cNvSpPr/>
          <p:nvPr/>
        </p:nvSpPr>
        <p:spPr>
          <a:xfrm>
            <a:off x="1219348" y="1425788"/>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219348" y="1425788"/>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2684022" y="1425788"/>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684022" y="1425788"/>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7 vins à la dégustation</a:t>
            </a:r>
            <a:endParaRPr lang="en-US" sz="720" dirty="0"/>
          </a:p>
        </p:txBody>
      </p:sp>
      <p:pic>
        <p:nvPicPr>
          <p:cNvPr id="16" name="Image 2" descr="le vigneron au chai — Domaine du Colombier / J.Y Bretaudeau">    </p:cNvPr>
          <p:cNvPicPr>
            <a:picLocks noChangeAspect="1"/>
          </p:cNvPicPr>
          <p:nvPr/>
        </p:nvPicPr>
        <p:blipFill>
          <a:blip r:embed="rId3"/>
          <a:stretch>
            <a:fillRect/>
          </a:stretch>
        </p:blipFill>
        <p:spPr>
          <a:xfrm>
            <a:off x="612000" y="1735388"/>
            <a:ext cx="1440000" cy="1440000"/>
          </a:xfrm>
          <a:prstGeom prst="rect">
            <a:avLst/>
          </a:prstGeom>
        </p:spPr>
      </p:pic>
      <p:pic>
        <p:nvPicPr>
          <p:cNvPr id="17" name="Image 3" descr="Une bouteille du domaine Domaine du Colombier / J.Y Bretaudeau">    </p:cNvPr>
          <p:cNvPicPr>
            <a:picLocks noChangeAspect="1"/>
          </p:cNvPicPr>
          <p:nvPr/>
        </p:nvPicPr>
        <p:blipFill>
          <a:blip r:embed="rId4"/>
          <a:stretch>
            <a:fillRect/>
          </a:stretch>
        </p:blipFill>
        <p:spPr>
          <a:xfrm>
            <a:off x="6002705" y="1735388"/>
            <a:ext cx="594590" cy="2232000"/>
          </a:xfrm>
          <a:prstGeom prst="rect">
            <a:avLst/>
          </a:prstGeom>
        </p:spPr>
      </p:pic>
      <p:sp>
        <p:nvSpPr>
          <p:cNvPr id="18" name="Text 12"/>
          <p:cNvSpPr/>
          <p:nvPr/>
        </p:nvSpPr>
        <p:spPr>
          <a:xfrm>
            <a:off x="2178005" y="1862164"/>
            <a:ext cx="292645" cy="464515"/>
          </a:xfrm>
          <a:prstGeom prst="rect">
            <a:avLst/>
          </a:prstGeom>
          <a:noFill/>
          <a:ln/>
        </p:spPr>
        <p:txBody>
          <a:bodyPr wrap="square" lIns="0" tIns="0" rIns="0" bIns="0" rtlCol="0" anchor="t"/>
          <a:lstStyle/>
          <a:p>
            <a:pPr algn="r" indent="0" marL="0">
              <a:lnSpc>
                <a:spcPct val="124100"/>
              </a:lnSpc>
              <a:buNone/>
            </a:pPr>
            <a:r>
              <a:rPr lang="en-US" sz="2286" dirty="0">
                <a:solidFill>
                  <a:srgbClr val="67067C"/>
                </a:solidFill>
                <a:latin typeface="Young Serif" pitchFamily="34" charset="0"/>
                <a:ea typeface="Young Serif" pitchFamily="34" charset="-122"/>
                <a:cs typeface="Young Serif" pitchFamily="34" charset="-120"/>
              </a:rPr>
              <a:t>Q</a:t>
            </a:r>
            <a:endParaRPr lang="en-US" sz="2286" dirty="0"/>
          </a:p>
        </p:txBody>
      </p:sp>
      <p:sp>
        <p:nvSpPr>
          <p:cNvPr id="19" name="Text 13"/>
          <p:cNvSpPr/>
          <p:nvPr/>
        </p:nvSpPr>
        <p:spPr>
          <a:xfrm>
            <a:off x="2232000" y="1988265"/>
            <a:ext cx="3456000" cy="1979023"/>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uatre générations de passionnés et adhérent historique des Vignerons Indépendants : Jean-Yves Bretaudeau allie bon sens paysan et précision œnologique. Certifié HVE, le domaine préserve ses paysages ligériens pour des vins friands et expressifs.</a:t>
            </a:r>
            <a:endParaRPr lang="en-US" sz="13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12000" y="4129288"/>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Muscadet Sèvre et Maine sur lie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Cuvée des deux Colombes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Muscadet Sèvre et Maine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L'envol</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Muscadet Sèvre et Maine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CRU Mouzillon – Tillières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Chardonnay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 Prestige de Beaulieu</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Sauvignon Gris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Cuvée domaine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Rouge au lèvres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Méthode traditionnelle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perle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612000" y="7157276"/>
            <a:ext cx="0" cy="288349"/>
          </a:xfrm>
          <a:prstGeom prst="line">
            <a:avLst/>
          </a:prstGeom>
          <a:noFill/>
          <a:ln w="17780">
            <a:solidFill>
              <a:srgbClr val="67067C"/>
            </a:solidFill>
            <a:prstDash val="solid"/>
          </a:ln>
        </p:spPr>
      </p:sp>
      <p:sp>
        <p:nvSpPr>
          <p:cNvPr id="22" name="Text 15"/>
          <p:cNvSpPr/>
          <p:nvPr/>
        </p:nvSpPr>
        <p:spPr>
          <a:xfrm>
            <a:off x="720000" y="7157276"/>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3" name="Shape 16"/>
          <p:cNvSpPr/>
          <p:nvPr/>
        </p:nvSpPr>
        <p:spPr>
          <a:xfrm>
            <a:off x="612000" y="8388000"/>
            <a:ext cx="6120000" cy="0"/>
          </a:xfrm>
          <a:prstGeom prst="line">
            <a:avLst/>
          </a:prstGeom>
          <a:noFill/>
          <a:ln w="8890">
            <a:solidFill>
              <a:srgbClr val="46606E"/>
            </a:solidFill>
            <a:prstDash val="solid"/>
          </a:ln>
        </p:spPr>
      </p:sp>
      <p:sp>
        <p:nvSpPr>
          <p:cNvPr id="24" name="Text 17"/>
          <p:cNvSpPr/>
          <p:nvPr/>
        </p:nvSpPr>
        <p:spPr>
          <a:xfrm>
            <a:off x="612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8"/>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Rouge    ● Autre     pictos de l’Agence SCIO, pas les logos officiels</a:t>
            </a:r>
            <a:endParaRPr lang="en-US" sz="650" dirty="0"/>
          </a:p>
        </p:txBody>
      </p:sp>
      <p:sp>
        <p:nvSpPr>
          <p:cNvPr id="26" name="Text 1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7</a:t>
            </a:r>
            <a:endParaRPr lang="en-US" sz="750" dirty="0"/>
          </a:p>
        </p:txBody>
      </p:sp>
      <p:sp>
        <p:nvSpPr>
          <p:cNvPr id="27" name="Text 2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loir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Shape 1"/>
          <p:cNvSpPr/>
          <p:nvPr/>
        </p:nvSpPr>
        <p:spPr>
          <a:xfrm>
            <a:off x="828000" y="667894"/>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67894"/>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14</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74188"/>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Domaine des Noëls</a:t>
            </a:r>
            <a:endParaRPr lang="en-US" sz="2000" dirty="0"/>
          </a:p>
        </p:txBody>
      </p:sp>
      <p:sp>
        <p:nvSpPr>
          <p:cNvPr id="7" name="Text 4"/>
          <p:cNvSpPr/>
          <p:nvPr/>
        </p:nvSpPr>
        <p:spPr>
          <a:xfrm>
            <a:off x="5508000" y="540000"/>
            <a:ext cx="1440000" cy="774188"/>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8" name="Shape 5"/>
          <p:cNvSpPr/>
          <p:nvPr/>
        </p:nvSpPr>
        <p:spPr>
          <a:xfrm>
            <a:off x="828000" y="1332188"/>
            <a:ext cx="6120000" cy="0"/>
          </a:xfrm>
          <a:prstGeom prst="line">
            <a:avLst/>
          </a:prstGeom>
          <a:noFill/>
          <a:ln w="17780">
            <a:solidFill>
              <a:srgbClr val="67067C"/>
            </a:solidFill>
            <a:prstDash val="solid"/>
          </a:ln>
        </p:spPr>
      </p:sp>
      <p:sp>
        <p:nvSpPr>
          <p:cNvPr id="9" name="Shape 6"/>
          <p:cNvSpPr/>
          <p:nvPr/>
        </p:nvSpPr>
        <p:spPr>
          <a:xfrm>
            <a:off x="828000" y="1425788"/>
            <a:ext cx="528148"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hve.png">    </p:cNvPr>
          <p:cNvPicPr>
            <a:picLocks noChangeAspect="1"/>
          </p:cNvPicPr>
          <p:nvPr/>
        </p:nvPicPr>
        <p:blipFill>
          <a:blip r:embed="rId2"/>
          <a:stretch>
            <a:fillRect/>
          </a:stretch>
        </p:blipFill>
        <p:spPr>
          <a:xfrm>
            <a:off x="900000" y="1461788"/>
            <a:ext cx="108000" cy="108000"/>
          </a:xfrm>
          <a:prstGeom prst="rect">
            <a:avLst/>
          </a:prstGeom>
        </p:spPr>
      </p:pic>
      <p:sp>
        <p:nvSpPr>
          <p:cNvPr id="11" name="Text 7"/>
          <p:cNvSpPr/>
          <p:nvPr/>
        </p:nvSpPr>
        <p:spPr>
          <a:xfrm>
            <a:off x="975600" y="1425788"/>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2" name="Shape 8"/>
          <p:cNvSpPr/>
          <p:nvPr/>
        </p:nvSpPr>
        <p:spPr>
          <a:xfrm>
            <a:off x="1435348" y="1425788"/>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435348" y="1425788"/>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2900022" y="1425788"/>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900022" y="1425788"/>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7 vins à la dégustation</a:t>
            </a:r>
            <a:endParaRPr lang="en-US" sz="720" dirty="0"/>
          </a:p>
        </p:txBody>
      </p:sp>
      <p:pic>
        <p:nvPicPr>
          <p:cNvPr id="16" name="Image 2" descr="portrait — Domaine des Noëls">    </p:cNvPr>
          <p:cNvPicPr>
            <a:picLocks noChangeAspect="1"/>
          </p:cNvPicPr>
          <p:nvPr/>
        </p:nvPicPr>
        <p:blipFill>
          <a:blip r:embed="rId3"/>
          <a:stretch>
            <a:fillRect/>
          </a:stretch>
        </p:blipFill>
        <p:spPr>
          <a:xfrm>
            <a:off x="828000" y="1735388"/>
            <a:ext cx="1440000" cy="1440000"/>
          </a:xfrm>
          <a:prstGeom prst="rect">
            <a:avLst/>
          </a:prstGeom>
        </p:spPr>
      </p:pic>
      <p:pic>
        <p:nvPicPr>
          <p:cNvPr id="17" name="Image 3" descr="Une bouteille du domaine Domaine des Noëls">    </p:cNvPr>
          <p:cNvPicPr>
            <a:picLocks noChangeAspect="1"/>
          </p:cNvPicPr>
          <p:nvPr/>
        </p:nvPicPr>
        <p:blipFill>
          <a:blip r:embed="rId4"/>
          <a:stretch>
            <a:fillRect/>
          </a:stretch>
        </p:blipFill>
        <p:spPr>
          <a:xfrm>
            <a:off x="6217180" y="1735388"/>
            <a:ext cx="597639" cy="2232000"/>
          </a:xfrm>
          <a:prstGeom prst="rect">
            <a:avLst/>
          </a:prstGeom>
        </p:spPr>
      </p:pic>
      <p:sp>
        <p:nvSpPr>
          <p:cNvPr id="18" name="Text 12"/>
          <p:cNvSpPr/>
          <p:nvPr/>
        </p:nvSpPr>
        <p:spPr>
          <a:xfrm>
            <a:off x="2393965" y="1855727"/>
            <a:ext cx="292685" cy="483413"/>
          </a:xfrm>
          <a:prstGeom prst="rect">
            <a:avLst/>
          </a:prstGeom>
          <a:noFill/>
          <a:ln/>
        </p:spPr>
        <p:txBody>
          <a:bodyPr wrap="square" lIns="0" tIns="0" rIns="0" bIns="0" rtlCol="0" anchor="t"/>
          <a:lstStyle/>
          <a:p>
            <a:pPr algn="r" indent="0" marL="0">
              <a:lnSpc>
                <a:spcPct val="122900"/>
              </a:lnSpc>
              <a:buNone/>
            </a:pPr>
            <a:r>
              <a:rPr lang="en-US" sz="2379" dirty="0">
                <a:solidFill>
                  <a:srgbClr val="67067C"/>
                </a:solidFill>
                <a:latin typeface="Young Serif" pitchFamily="34" charset="0"/>
                <a:ea typeface="Young Serif" pitchFamily="34" charset="-122"/>
                <a:cs typeface="Young Serif" pitchFamily="34" charset="-120"/>
              </a:rPr>
              <a:t>D</a:t>
            </a:r>
            <a:endParaRPr lang="en-US" sz="2379" dirty="0"/>
          </a:p>
        </p:txBody>
      </p:sp>
      <p:sp>
        <p:nvSpPr>
          <p:cNvPr id="19" name="Text 13"/>
          <p:cNvSpPr/>
          <p:nvPr/>
        </p:nvSpPr>
        <p:spPr>
          <a:xfrm>
            <a:off x="2448000" y="1992694"/>
            <a:ext cx="3456000" cy="1974594"/>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epuis 1921 à Faye-d’Anjou, cinq générations se transmettent 24 hectares de coteaux argilo-schisteux remarquablement exposés. Le Chenin donne aussi bien les liquoreux du Coteaux du Layon que des Anjou Blanc et Crémant de Loire d’une minéralité tactile.</a:t>
            </a:r>
            <a:endParaRPr lang="en-US" sz="13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828000" y="4129288"/>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240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360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3514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Anjou</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Anjou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Promenade des Noëls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Sauvignon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E1C853"/>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Coteaux du Layon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Coteaux du Layon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E1C853"/>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Coteaux du Layon Faye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Coteaux du Layon Faye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Crémant de Loire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Crémant de Loire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Rosé de Loire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Rosé de Loire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828000" y="7073783"/>
            <a:ext cx="0" cy="288349"/>
          </a:xfrm>
          <a:prstGeom prst="line">
            <a:avLst/>
          </a:prstGeom>
          <a:noFill/>
          <a:ln w="17780">
            <a:solidFill>
              <a:srgbClr val="67067C"/>
            </a:solidFill>
            <a:prstDash val="solid"/>
          </a:ln>
        </p:spPr>
      </p:sp>
      <p:sp>
        <p:nvSpPr>
          <p:cNvPr id="22" name="Text 15"/>
          <p:cNvSpPr/>
          <p:nvPr/>
        </p:nvSpPr>
        <p:spPr>
          <a:xfrm>
            <a:off x="936000" y="7073783"/>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3" name="Shape 16"/>
          <p:cNvSpPr/>
          <p:nvPr/>
        </p:nvSpPr>
        <p:spPr>
          <a:xfrm>
            <a:off x="828000" y="8388000"/>
            <a:ext cx="6120000" cy="0"/>
          </a:xfrm>
          <a:prstGeom prst="line">
            <a:avLst/>
          </a:prstGeom>
          <a:noFill/>
          <a:ln w="8890">
            <a:solidFill>
              <a:srgbClr val="46606E"/>
            </a:solidFill>
            <a:prstDash val="solid"/>
          </a:ln>
        </p:spPr>
      </p:sp>
      <p:sp>
        <p:nvSpPr>
          <p:cNvPr id="24" name="Text 17"/>
          <p:cNvSpPr/>
          <p:nvPr/>
        </p:nvSpPr>
        <p:spPr>
          <a:xfrm>
            <a:off x="828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8"/>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Rosé    ● Doux     pictos de l’Agence SCIO, pas les logos officiels</a:t>
            </a:r>
            <a:endParaRPr lang="en-US" sz="650" dirty="0"/>
          </a:p>
        </p:txBody>
      </p:sp>
      <p:sp>
        <p:nvSpPr>
          <p:cNvPr id="26" name="Text 19"/>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8</a:t>
            </a:r>
            <a:endParaRPr lang="en-US" sz="750" dirty="0"/>
          </a:p>
        </p:txBody>
      </p:sp>
      <p:sp>
        <p:nvSpPr>
          <p:cNvPr id="27" name="Text 20"/>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loir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Shape 1"/>
          <p:cNvSpPr/>
          <p:nvPr/>
        </p:nvSpPr>
        <p:spPr>
          <a:xfrm>
            <a:off x="612000" y="667894"/>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612000" y="667894"/>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25</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440000" y="540000"/>
            <a:ext cx="4068000" cy="774188"/>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Chai Berteaud Manceau</a:t>
            </a:r>
            <a:endParaRPr lang="en-US" sz="2000" dirty="0"/>
          </a:p>
        </p:txBody>
      </p:sp>
      <p:sp>
        <p:nvSpPr>
          <p:cNvPr id="7" name="Text 4"/>
          <p:cNvSpPr/>
          <p:nvPr/>
        </p:nvSpPr>
        <p:spPr>
          <a:xfrm>
            <a:off x="5292000" y="540000"/>
            <a:ext cx="1440000" cy="774188"/>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8" name="Shape 5"/>
          <p:cNvSpPr/>
          <p:nvPr/>
        </p:nvSpPr>
        <p:spPr>
          <a:xfrm>
            <a:off x="612000" y="1332188"/>
            <a:ext cx="6120000" cy="0"/>
          </a:xfrm>
          <a:prstGeom prst="line">
            <a:avLst/>
          </a:prstGeom>
          <a:noFill/>
          <a:ln w="17780">
            <a:solidFill>
              <a:srgbClr val="67067C"/>
            </a:solidFill>
            <a:prstDash val="solid"/>
          </a:ln>
        </p:spPr>
      </p:sp>
      <p:sp>
        <p:nvSpPr>
          <p:cNvPr id="9" name="Shape 6"/>
          <p:cNvSpPr/>
          <p:nvPr/>
        </p:nvSpPr>
        <p:spPr>
          <a:xfrm>
            <a:off x="612000" y="1425788"/>
            <a:ext cx="486451"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png">    </p:cNvPr>
          <p:cNvPicPr>
            <a:picLocks noChangeAspect="1"/>
          </p:cNvPicPr>
          <p:nvPr/>
        </p:nvPicPr>
        <p:blipFill>
          <a:blip r:embed="rId2"/>
          <a:stretch>
            <a:fillRect/>
          </a:stretch>
        </p:blipFill>
        <p:spPr>
          <a:xfrm>
            <a:off x="684000" y="1461788"/>
            <a:ext cx="108000" cy="108000"/>
          </a:xfrm>
          <a:prstGeom prst="rect">
            <a:avLst/>
          </a:prstGeom>
        </p:spPr>
      </p:pic>
      <p:sp>
        <p:nvSpPr>
          <p:cNvPr id="11" name="Text 7"/>
          <p:cNvSpPr/>
          <p:nvPr/>
        </p:nvSpPr>
        <p:spPr>
          <a:xfrm>
            <a:off x="759600" y="1425788"/>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2" name="Shape 8"/>
          <p:cNvSpPr/>
          <p:nvPr/>
        </p:nvSpPr>
        <p:spPr>
          <a:xfrm>
            <a:off x="1177651" y="1425788"/>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177651" y="1425788"/>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2642325" y="1425788"/>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642325" y="1425788"/>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4 vins à la dégustation</a:t>
            </a:r>
            <a:endParaRPr lang="en-US" sz="720" dirty="0"/>
          </a:p>
        </p:txBody>
      </p:sp>
      <p:pic>
        <p:nvPicPr>
          <p:cNvPr id="16" name="Image 2" descr="les deux fondateurs du chai — Chai Berteaud Manceau">    </p:cNvPr>
          <p:cNvPicPr>
            <a:picLocks noChangeAspect="1"/>
          </p:cNvPicPr>
          <p:nvPr/>
        </p:nvPicPr>
        <p:blipFill>
          <a:blip r:embed="rId3"/>
          <a:stretch>
            <a:fillRect/>
          </a:stretch>
        </p:blipFill>
        <p:spPr>
          <a:xfrm>
            <a:off x="612000" y="1735388"/>
            <a:ext cx="1440000" cy="1440000"/>
          </a:xfrm>
          <a:prstGeom prst="rect">
            <a:avLst/>
          </a:prstGeom>
        </p:spPr>
      </p:pic>
      <p:pic>
        <p:nvPicPr>
          <p:cNvPr id="17" name="Image 3" descr="Une bouteille du domaine Chai Berteaud Manceau">    </p:cNvPr>
          <p:cNvPicPr>
            <a:picLocks noChangeAspect="1"/>
          </p:cNvPicPr>
          <p:nvPr/>
        </p:nvPicPr>
        <p:blipFill>
          <a:blip r:embed="rId4"/>
          <a:stretch>
            <a:fillRect/>
          </a:stretch>
        </p:blipFill>
        <p:spPr>
          <a:xfrm>
            <a:off x="5998131" y="1735388"/>
            <a:ext cx="603738" cy="2232000"/>
          </a:xfrm>
          <a:prstGeom prst="rect">
            <a:avLst/>
          </a:prstGeom>
        </p:spPr>
      </p:pic>
      <p:sp>
        <p:nvSpPr>
          <p:cNvPr id="18" name="Text 12"/>
          <p:cNvSpPr/>
          <p:nvPr/>
        </p:nvSpPr>
        <p:spPr>
          <a:xfrm>
            <a:off x="2178017" y="1866732"/>
            <a:ext cx="251358" cy="451104"/>
          </a:xfrm>
          <a:prstGeom prst="rect">
            <a:avLst/>
          </a:prstGeom>
          <a:noFill/>
          <a:ln/>
        </p:spPr>
        <p:txBody>
          <a:bodyPr wrap="square" lIns="0" tIns="0" rIns="0" bIns="0" rtlCol="0" anchor="t"/>
          <a:lstStyle/>
          <a:p>
            <a:pPr algn="r" indent="0" marL="0">
              <a:lnSpc>
                <a:spcPct val="125000"/>
              </a:lnSpc>
              <a:buNone/>
            </a:pPr>
            <a:r>
              <a:rPr lang="en-US" sz="2220" dirty="0">
                <a:solidFill>
                  <a:srgbClr val="67067C"/>
                </a:solidFill>
                <a:latin typeface="Young Serif" pitchFamily="34" charset="0"/>
                <a:ea typeface="Young Serif" pitchFamily="34" charset="-122"/>
                <a:cs typeface="Young Serif" pitchFamily="34" charset="-120"/>
              </a:rPr>
              <a:t>P</a:t>
            </a:r>
            <a:endParaRPr lang="en-US" sz="2220" dirty="0"/>
          </a:p>
        </p:txBody>
      </p:sp>
      <p:sp>
        <p:nvSpPr>
          <p:cNvPr id="19" name="Text 13"/>
          <p:cNvSpPr/>
          <p:nvPr/>
        </p:nvSpPr>
        <p:spPr>
          <a:xfrm>
            <a:off x="2232000" y="1985121"/>
            <a:ext cx="3456000" cy="1982166"/>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remier chai urbain de La Roche-sur-Yon, à Mouilleron-le-Captif, fondé par deux amis d’enfance vendéens diplômés en ingénierie agricole à Angers. Les raisins proviennent de 8 domaines partenaires du Val de Loire. Levures indigènes : des jus digestes et éclatants.</a:t>
            </a:r>
            <a:endParaRPr lang="en-US" sz="13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612000" y="4129288"/>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60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240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Courant – Chenin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Source – Melon B.</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Reflet – Gamay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L'Eberluant – Chardonnay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612000" y="6064431"/>
            <a:ext cx="0" cy="288349"/>
          </a:xfrm>
          <a:prstGeom prst="line">
            <a:avLst/>
          </a:prstGeom>
          <a:noFill/>
          <a:ln w="17780">
            <a:solidFill>
              <a:srgbClr val="67067C"/>
            </a:solidFill>
            <a:prstDash val="solid"/>
          </a:ln>
        </p:spPr>
      </p:sp>
      <p:sp>
        <p:nvSpPr>
          <p:cNvPr id="22" name="Text 15"/>
          <p:cNvSpPr/>
          <p:nvPr/>
        </p:nvSpPr>
        <p:spPr>
          <a:xfrm>
            <a:off x="720000" y="6064431"/>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3" name="Text 16"/>
          <p:cNvSpPr/>
          <p:nvPr/>
        </p:nvSpPr>
        <p:spPr>
          <a:xfrm>
            <a:off x="612000" y="6496780"/>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LOIRE — SCHISTES ET TUFFEAU</a:t>
            </a:r>
            <a:endParaRPr lang="en-US" sz="720" dirty="0"/>
          </a:p>
        </p:txBody>
      </p:sp>
      <p:pic>
        <p:nvPicPr>
          <p:cNvPr id="24" name="Image 4" descr="/home/user/philippe1/build/deco-salon-prive-2026/sol-loire.png">    </p:cNvPr>
          <p:cNvPicPr>
            <a:picLocks noChangeAspect="1"/>
          </p:cNvPicPr>
          <p:nvPr/>
        </p:nvPicPr>
        <p:blipFill>
          <a:blip r:embed="rId5"/>
          <a:stretch>
            <a:fillRect/>
          </a:stretch>
        </p:blipFill>
        <p:spPr>
          <a:xfrm>
            <a:off x="612000" y="6644380"/>
            <a:ext cx="6120000" cy="1148400"/>
          </a:xfrm>
          <a:prstGeom prst="rect">
            <a:avLst/>
          </a:prstGeom>
        </p:spPr>
      </p:pic>
      <p:sp>
        <p:nvSpPr>
          <p:cNvPr id="25" name="Shape 17"/>
          <p:cNvSpPr/>
          <p:nvPr/>
        </p:nvSpPr>
        <p:spPr>
          <a:xfrm>
            <a:off x="612000" y="8388000"/>
            <a:ext cx="6120000" cy="0"/>
          </a:xfrm>
          <a:prstGeom prst="line">
            <a:avLst/>
          </a:prstGeom>
          <a:noFill/>
          <a:ln w="8890">
            <a:solidFill>
              <a:srgbClr val="46606E"/>
            </a:solidFill>
            <a:prstDash val="solid"/>
          </a:ln>
        </p:spPr>
      </p:sp>
      <p:sp>
        <p:nvSpPr>
          <p:cNvPr id="26" name="Text 18"/>
          <p:cNvSpPr/>
          <p:nvPr/>
        </p:nvSpPr>
        <p:spPr>
          <a:xfrm>
            <a:off x="612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7" name="Text 19"/>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 Autre     pictos de l’Agence SCIO, pas les logos officiels</a:t>
            </a:r>
            <a:endParaRPr lang="en-US" sz="650" dirty="0"/>
          </a:p>
        </p:txBody>
      </p:sp>
      <p:sp>
        <p:nvSpPr>
          <p:cNvPr id="28" name="Text 20"/>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9</a:t>
            </a:r>
            <a:endParaRPr lang="en-US" sz="750" dirty="0"/>
          </a:p>
        </p:txBody>
      </p:sp>
      <p:sp>
        <p:nvSpPr>
          <p:cNvPr id="29" name="Text 21"/>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loir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Shape 1"/>
          <p:cNvSpPr/>
          <p:nvPr/>
        </p:nvSpPr>
        <p:spPr>
          <a:xfrm>
            <a:off x="828000" y="667894"/>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67894"/>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17</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74188"/>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Domaine Jean de Villebois</a:t>
            </a:r>
            <a:endParaRPr lang="en-US" sz="2000" dirty="0"/>
          </a:p>
        </p:txBody>
      </p:sp>
      <p:sp>
        <p:nvSpPr>
          <p:cNvPr id="7" name="Text 4"/>
          <p:cNvSpPr/>
          <p:nvPr/>
        </p:nvSpPr>
        <p:spPr>
          <a:xfrm>
            <a:off x="5508000" y="540000"/>
            <a:ext cx="1440000" cy="774188"/>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8" name="Shape 5"/>
          <p:cNvSpPr/>
          <p:nvPr/>
        </p:nvSpPr>
        <p:spPr>
          <a:xfrm>
            <a:off x="828000" y="1332188"/>
            <a:ext cx="6120000" cy="0"/>
          </a:xfrm>
          <a:prstGeom prst="line">
            <a:avLst/>
          </a:prstGeom>
          <a:noFill/>
          <a:ln w="17780">
            <a:solidFill>
              <a:srgbClr val="67067C"/>
            </a:solidFill>
            <a:prstDash val="solid"/>
          </a:ln>
        </p:spPr>
      </p:sp>
      <p:sp>
        <p:nvSpPr>
          <p:cNvPr id="9" name="Shape 6"/>
          <p:cNvSpPr/>
          <p:nvPr/>
        </p:nvSpPr>
        <p:spPr>
          <a:xfrm>
            <a:off x="828000" y="1425788"/>
            <a:ext cx="804754"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iso.png">    </p:cNvPr>
          <p:cNvPicPr>
            <a:picLocks noChangeAspect="1"/>
          </p:cNvPicPr>
          <p:nvPr/>
        </p:nvPicPr>
        <p:blipFill>
          <a:blip r:embed="rId2"/>
          <a:stretch>
            <a:fillRect/>
          </a:stretch>
        </p:blipFill>
        <p:spPr>
          <a:xfrm>
            <a:off x="900000" y="1461788"/>
            <a:ext cx="108000" cy="108000"/>
          </a:xfrm>
          <a:prstGeom prst="rect">
            <a:avLst/>
          </a:prstGeom>
        </p:spPr>
      </p:pic>
      <p:sp>
        <p:nvSpPr>
          <p:cNvPr id="11" name="Text 7"/>
          <p:cNvSpPr/>
          <p:nvPr/>
        </p:nvSpPr>
        <p:spPr>
          <a:xfrm>
            <a:off x="975600" y="1425788"/>
            <a:ext cx="65715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ISO 26000</a:t>
            </a:r>
            <a:endParaRPr lang="en-US" sz="720" dirty="0"/>
          </a:p>
        </p:txBody>
      </p:sp>
      <p:sp>
        <p:nvSpPr>
          <p:cNvPr id="12" name="Shape 8"/>
          <p:cNvSpPr/>
          <p:nvPr/>
        </p:nvSpPr>
        <p:spPr>
          <a:xfrm>
            <a:off x="1711954" y="1425788"/>
            <a:ext cx="1352190"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711954" y="1425788"/>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4" name="Shape 10"/>
          <p:cNvSpPr/>
          <p:nvPr/>
        </p:nvSpPr>
        <p:spPr>
          <a:xfrm>
            <a:off x="3143344" y="1425788"/>
            <a:ext cx="864357" cy="180000"/>
          </a:xfrm>
          <a:prstGeom prst="roundRect">
            <a:avLst>
              <a:gd name="adj" fmla="val 10160"/>
            </a:avLst>
          </a:prstGeom>
          <a:solidFill>
            <a:srgbClr val="D08C3C"/>
          </a:solidFill>
          <a:ln w="8890">
            <a:solidFill>
              <a:srgbClr val="D08C3C"/>
            </a:solidFill>
            <a:prstDash val="solid"/>
          </a:ln>
        </p:spPr>
      </p:sp>
      <p:sp>
        <p:nvSpPr>
          <p:cNvPr id="15" name="Text 11"/>
          <p:cNvSpPr/>
          <p:nvPr/>
        </p:nvSpPr>
        <p:spPr>
          <a:xfrm>
            <a:off x="3143344" y="1425788"/>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6" name="Shape 12"/>
          <p:cNvSpPr/>
          <p:nvPr/>
        </p:nvSpPr>
        <p:spPr>
          <a:xfrm>
            <a:off x="4086901" y="1425788"/>
            <a:ext cx="1204240" cy="180000"/>
          </a:xfrm>
          <a:prstGeom prst="roundRect">
            <a:avLst>
              <a:gd name="adj" fmla="val 10160"/>
            </a:avLst>
          </a:prstGeom>
          <a:solidFill>
            <a:srgbClr val="F2EADA"/>
          </a:solidFill>
          <a:ln w="8890">
            <a:solidFill>
              <a:srgbClr val="46606E"/>
            </a:solidFill>
            <a:prstDash val="solid"/>
          </a:ln>
        </p:spPr>
      </p:sp>
      <p:sp>
        <p:nvSpPr>
          <p:cNvPr id="17" name="Text 13"/>
          <p:cNvSpPr/>
          <p:nvPr/>
        </p:nvSpPr>
        <p:spPr>
          <a:xfrm>
            <a:off x="4086901" y="1425788"/>
            <a:ext cx="1204240"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12 vins à la dégustation</a:t>
            </a:r>
            <a:endParaRPr lang="en-US" sz="720" dirty="0"/>
          </a:p>
        </p:txBody>
      </p:sp>
      <p:pic>
        <p:nvPicPr>
          <p:cNvPr id="18" name="Image 2" descr="dans les vignes — Domaine Jean de Villebois">    </p:cNvPr>
          <p:cNvPicPr>
            <a:picLocks noChangeAspect="1"/>
          </p:cNvPicPr>
          <p:nvPr/>
        </p:nvPicPr>
        <p:blipFill>
          <a:blip r:embed="rId3"/>
          <a:stretch>
            <a:fillRect/>
          </a:stretch>
        </p:blipFill>
        <p:spPr>
          <a:xfrm>
            <a:off x="828000" y="1735388"/>
            <a:ext cx="1440000" cy="1440000"/>
          </a:xfrm>
          <a:prstGeom prst="rect">
            <a:avLst/>
          </a:prstGeom>
        </p:spPr>
      </p:pic>
      <p:pic>
        <p:nvPicPr>
          <p:cNvPr id="19" name="Image 3" descr="Une bouteille du domaine Domaine Jean de Villebois">    </p:cNvPr>
          <p:cNvPicPr>
            <a:picLocks noChangeAspect="1"/>
          </p:cNvPicPr>
          <p:nvPr/>
        </p:nvPicPr>
        <p:blipFill>
          <a:blip r:embed="rId4"/>
          <a:stretch>
            <a:fillRect/>
          </a:stretch>
        </p:blipFill>
        <p:spPr>
          <a:xfrm>
            <a:off x="6209557" y="1735388"/>
            <a:ext cx="612885" cy="2232000"/>
          </a:xfrm>
          <a:prstGeom prst="rect">
            <a:avLst/>
          </a:prstGeom>
        </p:spPr>
      </p:pic>
      <p:sp>
        <p:nvSpPr>
          <p:cNvPr id="20" name="Text 14"/>
          <p:cNvSpPr/>
          <p:nvPr/>
        </p:nvSpPr>
        <p:spPr>
          <a:xfrm>
            <a:off x="2393960" y="1871577"/>
            <a:ext cx="251415" cy="436880"/>
          </a:xfrm>
          <a:prstGeom prst="rect">
            <a:avLst/>
          </a:prstGeom>
          <a:noFill/>
          <a:ln/>
        </p:spPr>
        <p:txBody>
          <a:bodyPr wrap="square" lIns="0" tIns="0" rIns="0" bIns="0" rtlCol="0" anchor="t"/>
          <a:lstStyle/>
          <a:p>
            <a:pPr algn="r" indent="0" marL="0">
              <a:lnSpc>
                <a:spcPct val="126100"/>
              </a:lnSpc>
              <a:buNone/>
            </a:pPr>
            <a:r>
              <a:rPr lang="en-US" sz="2150" dirty="0">
                <a:solidFill>
                  <a:srgbClr val="67067C"/>
                </a:solidFill>
                <a:latin typeface="Young Serif" pitchFamily="34" charset="0"/>
                <a:ea typeface="Young Serif" pitchFamily="34" charset="-122"/>
                <a:cs typeface="Young Serif" pitchFamily="34" charset="-120"/>
              </a:rPr>
              <a:t>S</a:t>
            </a:r>
            <a:endParaRPr lang="en-US" sz="2150" dirty="0"/>
          </a:p>
        </p:txBody>
      </p:sp>
      <p:sp>
        <p:nvSpPr>
          <p:cNvPr id="21" name="Text 15"/>
          <p:cNvSpPr/>
          <p:nvPr/>
        </p:nvSpPr>
        <p:spPr>
          <a:xfrm>
            <a:off x="2448000" y="1981788"/>
            <a:ext cx="3456000" cy="1985500"/>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pécialiste du Sauvignon Blanc ligérien, le domaine explore les plus beaux terroirs de Loire (Sancerre, Pouilly-Fumé, Menetou-Salon, Touraine). Techniques modernes et respect de la typicité des sols calcaires et de silex pour des blancs d’une grande pureté.</a:t>
            </a:r>
            <a:endParaRPr lang="en-US" sz="13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828000" y="4129288"/>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35148">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Menetou-Salon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3991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Menetou-Salon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3991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Quincy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Sancerre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Beltins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3" name="Text 16"/>
          <p:cNvSpPr/>
          <p:nvPr/>
        </p:nvSpPr>
        <p:spPr>
          <a:xfrm>
            <a:off x="828000" y="5626284"/>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LOIRE — SCHISTES ET TUFFEAU</a:t>
            </a:r>
            <a:endParaRPr lang="en-US" sz="720" dirty="0"/>
          </a:p>
        </p:txBody>
      </p:sp>
      <p:pic>
        <p:nvPicPr>
          <p:cNvPr id="24" name="Image 4" descr="/home/user/philippe1/build/deco-salon-prive-2026/sol-loire.png">    </p:cNvPr>
          <p:cNvPicPr>
            <a:picLocks noChangeAspect="1"/>
          </p:cNvPicPr>
          <p:nvPr/>
        </p:nvPicPr>
        <p:blipFill>
          <a:blip r:embed="rId5"/>
          <a:stretch>
            <a:fillRect/>
          </a:stretch>
        </p:blipFill>
        <p:spPr>
          <a:xfrm>
            <a:off x="828000" y="5773884"/>
            <a:ext cx="6120000" cy="1152745"/>
          </a:xfrm>
          <a:prstGeom prst="rect">
            <a:avLst/>
          </a:prstGeom>
        </p:spPr>
      </p:pic>
      <p:sp>
        <p:nvSpPr>
          <p:cNvPr id="25" name="Text 17"/>
          <p:cNvSpPr/>
          <p:nvPr/>
        </p:nvSpPr>
        <p:spPr>
          <a:xfrm>
            <a:off x="828000" y="8136000"/>
            <a:ext cx="6120000" cy="1980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Domaine Jean de Villebois et Divin No Low</a:t>
            </a:r>
            <a:endParaRPr lang="en-US" sz="740" dirty="0"/>
          </a:p>
        </p:txBody>
      </p:sp>
      <p:sp>
        <p:nvSpPr>
          <p:cNvPr id="26" name="Shape 18"/>
          <p:cNvSpPr/>
          <p:nvPr/>
        </p:nvSpPr>
        <p:spPr>
          <a:xfrm>
            <a:off x="828000" y="8388000"/>
            <a:ext cx="6120000" cy="0"/>
          </a:xfrm>
          <a:prstGeom prst="line">
            <a:avLst/>
          </a:prstGeom>
          <a:noFill/>
          <a:ln w="8890">
            <a:solidFill>
              <a:srgbClr val="46606E"/>
            </a:solidFill>
            <a:prstDash val="solid"/>
          </a:ln>
        </p:spPr>
      </p:sp>
      <p:sp>
        <p:nvSpPr>
          <p:cNvPr id="27" name="Text 19"/>
          <p:cNvSpPr/>
          <p:nvPr/>
        </p:nvSpPr>
        <p:spPr>
          <a:xfrm>
            <a:off x="828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56 · 85</a:t>
            </a:r>
            <a:endParaRPr lang="en-US" sz="720" dirty="0"/>
          </a:p>
        </p:txBody>
      </p:sp>
      <p:sp>
        <p:nvSpPr>
          <p:cNvPr id="28" name="Text 20"/>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 Autre     pictos de l’Agence SCIO, pas les logos officiels</a:t>
            </a:r>
            <a:endParaRPr lang="en-US" sz="650" dirty="0"/>
          </a:p>
        </p:txBody>
      </p:sp>
      <p:sp>
        <p:nvSpPr>
          <p:cNvPr id="29" name="Text 21"/>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10</a:t>
            </a:r>
            <a:endParaRPr lang="en-US" sz="750" dirty="0"/>
          </a:p>
        </p:txBody>
      </p:sp>
      <p:sp>
        <p:nvSpPr>
          <p:cNvPr id="30" name="Text 22"/>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loir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Shape 1"/>
          <p:cNvSpPr/>
          <p:nvPr/>
        </p:nvSpPr>
        <p:spPr>
          <a:xfrm>
            <a:off x="612000" y="667894"/>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612000" y="667894"/>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17</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440000" y="540000"/>
            <a:ext cx="4068000" cy="774188"/>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Domaine Jean de Villebois</a:t>
            </a:r>
            <a:r>
              <a:rPr lang="en-US" sz="1100" i="1" dirty="0">
                <a:solidFill>
                  <a:srgbClr val="A8515F"/>
                </a:solidFill>
                <a:latin typeface="Spectral" pitchFamily="34" charset="0"/>
                <a:ea typeface="Spectral" pitchFamily="34" charset="-122"/>
                <a:cs typeface="Spectral" pitchFamily="34" charset="-120"/>
              </a:rPr>
              <a:t>  (suite)</a:t>
            </a:r>
            <a:endParaRPr lang="en-US" sz="2000" dirty="0"/>
          </a:p>
        </p:txBody>
      </p:sp>
      <p:sp>
        <p:nvSpPr>
          <p:cNvPr id="7" name="Text 4"/>
          <p:cNvSpPr/>
          <p:nvPr/>
        </p:nvSpPr>
        <p:spPr>
          <a:xfrm>
            <a:off x="5292000" y="540000"/>
            <a:ext cx="1440000" cy="774188"/>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8" name="Shape 5"/>
          <p:cNvSpPr/>
          <p:nvPr/>
        </p:nvSpPr>
        <p:spPr>
          <a:xfrm>
            <a:off x="612000" y="1332188"/>
            <a:ext cx="6120000" cy="0"/>
          </a:xfrm>
          <a:prstGeom prst="line">
            <a:avLst/>
          </a:prstGeom>
          <a:noFill/>
          <a:ln w="17780">
            <a:solidFill>
              <a:srgbClr val="67067C"/>
            </a:solidFill>
            <a:prstDash val="solid"/>
          </a:ln>
        </p:spPr>
      </p:sp>
      <p:sp>
        <p:nvSpPr>
          <p:cNvPr id="9" name="Shape 6"/>
          <p:cNvSpPr/>
          <p:nvPr/>
        </p:nvSpPr>
        <p:spPr>
          <a:xfrm>
            <a:off x="612000" y="1425788"/>
            <a:ext cx="804754"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iso.png">    </p:cNvPr>
          <p:cNvPicPr>
            <a:picLocks noChangeAspect="1"/>
          </p:cNvPicPr>
          <p:nvPr/>
        </p:nvPicPr>
        <p:blipFill>
          <a:blip r:embed="rId2"/>
          <a:stretch>
            <a:fillRect/>
          </a:stretch>
        </p:blipFill>
        <p:spPr>
          <a:xfrm>
            <a:off x="684000" y="1461788"/>
            <a:ext cx="108000" cy="108000"/>
          </a:xfrm>
          <a:prstGeom prst="rect">
            <a:avLst/>
          </a:prstGeom>
        </p:spPr>
      </p:pic>
      <p:sp>
        <p:nvSpPr>
          <p:cNvPr id="11" name="Text 7"/>
          <p:cNvSpPr/>
          <p:nvPr/>
        </p:nvSpPr>
        <p:spPr>
          <a:xfrm>
            <a:off x="759600" y="1425788"/>
            <a:ext cx="65715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ISO 26000</a:t>
            </a:r>
            <a:endParaRPr lang="en-US" sz="720" dirty="0"/>
          </a:p>
        </p:txBody>
      </p:sp>
      <p:sp>
        <p:nvSpPr>
          <p:cNvPr id="12" name="Shape 8"/>
          <p:cNvSpPr/>
          <p:nvPr/>
        </p:nvSpPr>
        <p:spPr>
          <a:xfrm>
            <a:off x="1495954" y="1425788"/>
            <a:ext cx="1352190"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495954" y="1425788"/>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4" name="Shape 10"/>
          <p:cNvSpPr/>
          <p:nvPr/>
        </p:nvSpPr>
        <p:spPr>
          <a:xfrm>
            <a:off x="2927344" y="1425788"/>
            <a:ext cx="864357" cy="180000"/>
          </a:xfrm>
          <a:prstGeom prst="roundRect">
            <a:avLst>
              <a:gd name="adj" fmla="val 10160"/>
            </a:avLst>
          </a:prstGeom>
          <a:solidFill>
            <a:srgbClr val="D08C3C"/>
          </a:solidFill>
          <a:ln w="8890">
            <a:solidFill>
              <a:srgbClr val="D08C3C"/>
            </a:solidFill>
            <a:prstDash val="solid"/>
          </a:ln>
        </p:spPr>
      </p:sp>
      <p:sp>
        <p:nvSpPr>
          <p:cNvPr id="15" name="Text 11"/>
          <p:cNvSpPr/>
          <p:nvPr/>
        </p:nvSpPr>
        <p:spPr>
          <a:xfrm>
            <a:off x="2927344" y="1425788"/>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6" name="Shape 12"/>
          <p:cNvSpPr/>
          <p:nvPr/>
        </p:nvSpPr>
        <p:spPr>
          <a:xfrm>
            <a:off x="3870901" y="1425788"/>
            <a:ext cx="1204240" cy="180000"/>
          </a:xfrm>
          <a:prstGeom prst="roundRect">
            <a:avLst>
              <a:gd name="adj" fmla="val 10160"/>
            </a:avLst>
          </a:prstGeom>
          <a:solidFill>
            <a:srgbClr val="F2EADA"/>
          </a:solidFill>
          <a:ln w="8890">
            <a:solidFill>
              <a:srgbClr val="46606E"/>
            </a:solidFill>
            <a:prstDash val="solid"/>
          </a:ln>
        </p:spPr>
      </p:sp>
      <p:sp>
        <p:nvSpPr>
          <p:cNvPr id="17" name="Text 13"/>
          <p:cNvSpPr/>
          <p:nvPr/>
        </p:nvSpPr>
        <p:spPr>
          <a:xfrm>
            <a:off x="3870901" y="1425788"/>
            <a:ext cx="1204240"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12 vins à la dégustation</a:t>
            </a:r>
            <a:endParaRPr lang="en-US" sz="72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12000" y="1735388"/>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Chêne à la Rouline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Pouilly-Fumé</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Vignes de Tréleau</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Louisonne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3991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Pouilly-Fumé</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3991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Touraine Chenonceaux</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3991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Val de Loire Sauvignon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3991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 Pinot Noir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3991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 Pinot Noir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Shape 14"/>
          <p:cNvSpPr/>
          <p:nvPr/>
        </p:nvSpPr>
        <p:spPr>
          <a:xfrm>
            <a:off x="612000" y="4428810"/>
            <a:ext cx="0" cy="288349"/>
          </a:xfrm>
          <a:prstGeom prst="line">
            <a:avLst/>
          </a:prstGeom>
          <a:noFill/>
          <a:ln w="17780">
            <a:solidFill>
              <a:srgbClr val="67067C"/>
            </a:solidFill>
            <a:prstDash val="solid"/>
          </a:ln>
        </p:spPr>
      </p:sp>
      <p:sp>
        <p:nvSpPr>
          <p:cNvPr id="20" name="Text 15"/>
          <p:cNvSpPr/>
          <p:nvPr/>
        </p:nvSpPr>
        <p:spPr>
          <a:xfrm>
            <a:off x="720000" y="4428810"/>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6"/>
          <p:cNvSpPr/>
          <p:nvPr/>
        </p:nvSpPr>
        <p:spPr>
          <a:xfrm>
            <a:off x="612000" y="4861159"/>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LOIRE — SCHISTES ET TUFFEAU</a:t>
            </a:r>
            <a:endParaRPr lang="en-US" sz="720" dirty="0"/>
          </a:p>
        </p:txBody>
      </p:sp>
      <p:pic>
        <p:nvPicPr>
          <p:cNvPr id="22" name="Image 2" descr="/home/user/philippe1/build/deco-salon-prive-2026/sol-loire.png">    </p:cNvPr>
          <p:cNvPicPr>
            <a:picLocks noChangeAspect="1"/>
          </p:cNvPicPr>
          <p:nvPr/>
        </p:nvPicPr>
        <p:blipFill>
          <a:blip r:embed="rId3"/>
          <a:stretch>
            <a:fillRect/>
          </a:stretch>
        </p:blipFill>
        <p:spPr>
          <a:xfrm>
            <a:off x="612000" y="5008759"/>
            <a:ext cx="6120000" cy="1611821"/>
          </a:xfrm>
          <a:prstGeom prst="rect">
            <a:avLst/>
          </a:prstGeom>
        </p:spPr>
      </p:pic>
      <p:sp>
        <p:nvSpPr>
          <p:cNvPr id="23" name="Text 17"/>
          <p:cNvSpPr/>
          <p:nvPr/>
        </p:nvSpPr>
        <p:spPr>
          <a:xfrm>
            <a:off x="612000" y="8136000"/>
            <a:ext cx="6120000" cy="1980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Domaine Jean de Villebois et Divin No Low</a:t>
            </a:r>
            <a:endParaRPr lang="en-US" sz="740" dirty="0"/>
          </a:p>
        </p:txBody>
      </p:sp>
      <p:sp>
        <p:nvSpPr>
          <p:cNvPr id="24" name="Shape 18"/>
          <p:cNvSpPr/>
          <p:nvPr/>
        </p:nvSpPr>
        <p:spPr>
          <a:xfrm>
            <a:off x="612000" y="8388000"/>
            <a:ext cx="6120000" cy="0"/>
          </a:xfrm>
          <a:prstGeom prst="line">
            <a:avLst/>
          </a:prstGeom>
          <a:noFill/>
          <a:ln w="8890">
            <a:solidFill>
              <a:srgbClr val="46606E"/>
            </a:solidFill>
            <a:prstDash val="solid"/>
          </a:ln>
        </p:spPr>
      </p:sp>
      <p:sp>
        <p:nvSpPr>
          <p:cNvPr id="25" name="Text 19"/>
          <p:cNvSpPr/>
          <p:nvPr/>
        </p:nvSpPr>
        <p:spPr>
          <a:xfrm>
            <a:off x="612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56 · 85</a:t>
            </a:r>
            <a:endParaRPr lang="en-US" sz="720" dirty="0"/>
          </a:p>
        </p:txBody>
      </p:sp>
      <p:sp>
        <p:nvSpPr>
          <p:cNvPr id="26" name="Text 20"/>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 Autre     pictos de l’Agence SCIO, pas les logos officiels</a:t>
            </a:r>
            <a:endParaRPr lang="en-US" sz="650" dirty="0"/>
          </a:p>
        </p:txBody>
      </p:sp>
      <p:sp>
        <p:nvSpPr>
          <p:cNvPr id="27" name="Text 21"/>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11</a:t>
            </a:r>
            <a:endParaRPr lang="en-US" sz="750" dirty="0"/>
          </a:p>
        </p:txBody>
      </p:sp>
      <p:sp>
        <p:nvSpPr>
          <p:cNvPr id="28" name="Text 22"/>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46606E"/>
        </a:solidFill>
      </p:bgPr>
    </p:bg>
    <p:spTree>
      <p:nvGrpSpPr>
        <p:cNvPr id="1" name=""/>
        <p:cNvGrpSpPr/>
        <p:nvPr/>
      </p:nvGrpSpPr>
      <p:grpSpPr>
        <a:xfrm>
          <a:off x="0" y="0"/>
          <a:ext cx="0" cy="0"/>
          <a:chOff x="0" y="0"/>
          <a:chExt cx="0" cy="0"/>
        </a:xfrm>
      </p:grpSpPr>
      <p:pic>
        <p:nvPicPr>
          <p:cNvPr id="2" name="Image 0" descr="/home/user/philippe1/build/deco-salon-prive-2026/ouverture-alsace.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salon-prive-2026/carotte-alsace.png">    </p:cNvPr>
          <p:cNvPicPr>
            <a:picLocks noChangeAspect="1"/>
          </p:cNvPicPr>
          <p:nvPr/>
        </p:nvPicPr>
        <p:blipFill>
          <a:blip r:embed="rId2"/>
          <a:stretch>
            <a:fillRect/>
          </a:stretch>
        </p:blipFill>
        <p:spPr>
          <a:xfrm>
            <a:off x="0" y="0"/>
            <a:ext cx="324000" cy="9360000"/>
          </a:xfrm>
          <a:prstGeom prst="rect">
            <a:avLst/>
          </a:prstGeom>
        </p:spPr>
      </p:pic>
      <p:sp>
        <p:nvSpPr>
          <p:cNvPr id="4"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ALSACE</a:t>
            </a:r>
            <a:endParaRPr lang="en-US" sz="660" dirty="0"/>
          </a:p>
        </p:txBody>
      </p:sp>
      <p:sp>
        <p:nvSpPr>
          <p:cNvPr id="5" name="Text 1"/>
          <p:cNvSpPr/>
          <p:nvPr/>
        </p:nvSpPr>
        <p:spPr>
          <a:xfrm>
            <a:off x="828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2 / 9</a:t>
            </a:r>
            <a:endParaRPr lang="en-US" sz="800" dirty="0"/>
          </a:p>
        </p:txBody>
      </p:sp>
      <p:sp>
        <p:nvSpPr>
          <p:cNvPr id="6" name="Text 2"/>
          <p:cNvSpPr/>
          <p:nvPr/>
        </p:nvSpPr>
        <p:spPr>
          <a:xfrm>
            <a:off x="828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Alsace</a:t>
            </a:r>
            <a:endParaRPr lang="en-US" sz="4600" dirty="0"/>
          </a:p>
        </p:txBody>
      </p:sp>
      <p:sp>
        <p:nvSpPr>
          <p:cNvPr id="7" name="Text 3"/>
          <p:cNvSpPr/>
          <p:nvPr/>
        </p:nvSpPr>
        <p:spPr>
          <a:xfrm>
            <a:off x="828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coteaux du Bruderthal</a:t>
            </a:r>
            <a:endParaRPr lang="en-US" sz="1200" dirty="0"/>
          </a:p>
        </p:txBody>
      </p:sp>
      <p:sp>
        <p:nvSpPr>
          <p:cNvPr id="8" name="Text 4"/>
          <p:cNvSpPr/>
          <p:nvPr/>
        </p:nvSpPr>
        <p:spPr>
          <a:xfrm>
            <a:off x="828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1</a:t>
            </a:r>
            <a:endParaRPr lang="en-US" sz="2000" dirty="0"/>
          </a:p>
        </p:txBody>
      </p:sp>
      <p:sp>
        <p:nvSpPr>
          <p:cNvPr id="9" name="Text 5"/>
          <p:cNvSpPr/>
          <p:nvPr/>
        </p:nvSpPr>
        <p:spPr>
          <a:xfrm>
            <a:off x="828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a:t>
            </a:r>
            <a:endParaRPr lang="en-US" sz="850" dirty="0"/>
          </a:p>
        </p:txBody>
      </p:sp>
      <p:sp>
        <p:nvSpPr>
          <p:cNvPr id="10" name="Text 6"/>
          <p:cNvSpPr/>
          <p:nvPr/>
        </p:nvSpPr>
        <p:spPr>
          <a:xfrm>
            <a:off x="1836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7</a:t>
            </a:r>
            <a:endParaRPr lang="en-US" sz="2000" dirty="0"/>
          </a:p>
        </p:txBody>
      </p:sp>
      <p:sp>
        <p:nvSpPr>
          <p:cNvPr id="11" name="Text 7"/>
          <p:cNvSpPr/>
          <p:nvPr/>
        </p:nvSpPr>
        <p:spPr>
          <a:xfrm>
            <a:off x="1836000" y="6660000"/>
            <a:ext cx="1620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vins à la dégustation</a:t>
            </a:r>
            <a:endParaRPr lang="en-US" sz="850" dirty="0"/>
          </a:p>
        </p:txBody>
      </p:sp>
      <p:sp>
        <p:nvSpPr>
          <p:cNvPr id="12" name="Text 8"/>
          <p:cNvSpPr/>
          <p:nvPr/>
        </p:nvSpPr>
        <p:spPr>
          <a:xfrm>
            <a:off x="828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9   </a:t>
            </a:r>
            <a:r>
              <a:rPr lang="en-US" sz="860" dirty="0">
                <a:solidFill>
                  <a:srgbClr val="FBF8F1"/>
                </a:solidFill>
                <a:latin typeface="IBM Plex Sans" pitchFamily="34" charset="0"/>
                <a:ea typeface="IBM Plex Sans" pitchFamily="34" charset="-122"/>
                <a:cs typeface="IBM Plex Sans" pitchFamily="34" charset="-120"/>
              </a:rPr>
              <a:t>Domaine Boehler</a:t>
            </a:r>
            <a:r>
              <a:rPr lang="en-US" sz="860" b="1" dirty="0">
                <a:solidFill>
                  <a:srgbClr val="FBF8F1"/>
                </a:solidFill>
                <a:latin typeface="IBM Plex Sans" pitchFamily="34" charset="0"/>
                <a:ea typeface="IBM Plex Sans" pitchFamily="34" charset="-122"/>
                <a:cs typeface="IBM Plex Sans" pitchFamily="34" charset="-120"/>
              </a:rPr>
              <a:t>   13</a:t>
            </a:r>
            <a:endParaRPr lang="en-US" sz="860" dirty="0"/>
          </a:p>
        </p:txBody>
      </p:sp>
      <p:sp>
        <p:nvSpPr>
          <p:cNvPr id="13" name="Text 9"/>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12</a:t>
            </a:r>
            <a:endParaRPr lang="en-US" sz="750" dirty="0"/>
          </a:p>
        </p:txBody>
      </p:sp>
      <p:sp>
        <p:nvSpPr>
          <p:cNvPr id="14" name="Text 10"/>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alsac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ALSACE</a:t>
            </a:r>
            <a:endParaRPr lang="en-US" sz="660" dirty="0"/>
          </a:p>
        </p:txBody>
      </p:sp>
      <p:sp>
        <p:nvSpPr>
          <p:cNvPr id="4" name="Shape 1"/>
          <p:cNvSpPr/>
          <p:nvPr/>
        </p:nvSpPr>
        <p:spPr>
          <a:xfrm>
            <a:off x="612000" y="667894"/>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612000" y="667894"/>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9</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440000" y="540000"/>
            <a:ext cx="4068000" cy="774188"/>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Domaine Boehler</a:t>
            </a:r>
            <a:endParaRPr lang="en-US" sz="2000" dirty="0"/>
          </a:p>
        </p:txBody>
      </p:sp>
      <p:sp>
        <p:nvSpPr>
          <p:cNvPr id="7" name="Text 4"/>
          <p:cNvSpPr/>
          <p:nvPr/>
        </p:nvSpPr>
        <p:spPr>
          <a:xfrm>
            <a:off x="5292000" y="540000"/>
            <a:ext cx="1440000" cy="774188"/>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ALSACE</a:t>
            </a:r>
            <a:endParaRPr lang="en-US" sz="800" dirty="0"/>
          </a:p>
        </p:txBody>
      </p:sp>
      <p:sp>
        <p:nvSpPr>
          <p:cNvPr id="8" name="Shape 5"/>
          <p:cNvSpPr/>
          <p:nvPr/>
        </p:nvSpPr>
        <p:spPr>
          <a:xfrm>
            <a:off x="612000" y="1332188"/>
            <a:ext cx="6120000" cy="0"/>
          </a:xfrm>
          <a:prstGeom prst="line">
            <a:avLst/>
          </a:prstGeom>
          <a:noFill/>
          <a:ln w="17780">
            <a:solidFill>
              <a:srgbClr val="67067C"/>
            </a:solidFill>
            <a:prstDash val="solid"/>
          </a:ln>
        </p:spPr>
      </p:sp>
      <p:sp>
        <p:nvSpPr>
          <p:cNvPr id="9" name="Shape 6"/>
          <p:cNvSpPr/>
          <p:nvPr/>
        </p:nvSpPr>
        <p:spPr>
          <a:xfrm>
            <a:off x="612000" y="1425788"/>
            <a:ext cx="486451"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png">    </p:cNvPr>
          <p:cNvPicPr>
            <a:picLocks noChangeAspect="1"/>
          </p:cNvPicPr>
          <p:nvPr/>
        </p:nvPicPr>
        <p:blipFill>
          <a:blip r:embed="rId2"/>
          <a:stretch>
            <a:fillRect/>
          </a:stretch>
        </p:blipFill>
        <p:spPr>
          <a:xfrm>
            <a:off x="684000" y="1461788"/>
            <a:ext cx="108000" cy="108000"/>
          </a:xfrm>
          <a:prstGeom prst="rect">
            <a:avLst/>
          </a:prstGeom>
        </p:spPr>
      </p:pic>
      <p:sp>
        <p:nvSpPr>
          <p:cNvPr id="11" name="Text 7"/>
          <p:cNvSpPr/>
          <p:nvPr/>
        </p:nvSpPr>
        <p:spPr>
          <a:xfrm>
            <a:off x="759600" y="1425788"/>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2" name="Shape 8"/>
          <p:cNvSpPr/>
          <p:nvPr/>
        </p:nvSpPr>
        <p:spPr>
          <a:xfrm>
            <a:off x="1177651" y="1425788"/>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177651" y="1425788"/>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2642325" y="1425788"/>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642325" y="1425788"/>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7 vins à la dégustation</a:t>
            </a:r>
            <a:endParaRPr lang="en-US" sz="720" dirty="0"/>
          </a:p>
        </p:txBody>
      </p:sp>
      <p:pic>
        <p:nvPicPr>
          <p:cNvPr id="16" name="Image 2" descr="logo du domaine — Domaine Boehler">    </p:cNvPr>
          <p:cNvPicPr>
            <a:picLocks noChangeAspect="1"/>
          </p:cNvPicPr>
          <p:nvPr/>
        </p:nvPicPr>
        <p:blipFill>
          <a:blip r:embed="rId3"/>
          <a:stretch>
            <a:fillRect/>
          </a:stretch>
        </p:blipFill>
        <p:spPr>
          <a:xfrm>
            <a:off x="612000" y="1735388"/>
            <a:ext cx="1440000" cy="1440000"/>
          </a:xfrm>
          <a:prstGeom prst="rect">
            <a:avLst/>
          </a:prstGeom>
        </p:spPr>
      </p:pic>
      <p:pic>
        <p:nvPicPr>
          <p:cNvPr id="17" name="Image 3" descr="Une bouteille du domaine Domaine Boehler">    </p:cNvPr>
          <p:cNvPicPr>
            <a:picLocks noChangeAspect="1"/>
          </p:cNvPicPr>
          <p:nvPr/>
        </p:nvPicPr>
        <p:blipFill>
          <a:blip r:embed="rId4"/>
          <a:stretch>
            <a:fillRect/>
          </a:stretch>
        </p:blipFill>
        <p:spPr>
          <a:xfrm>
            <a:off x="6056066" y="1735388"/>
            <a:ext cx="487869" cy="2232000"/>
          </a:xfrm>
          <a:prstGeom prst="rect">
            <a:avLst/>
          </a:prstGeom>
        </p:spPr>
      </p:pic>
      <p:sp>
        <p:nvSpPr>
          <p:cNvPr id="18" name="Text 12"/>
          <p:cNvSpPr/>
          <p:nvPr/>
        </p:nvSpPr>
        <p:spPr>
          <a:xfrm>
            <a:off x="2177956" y="1730081"/>
            <a:ext cx="251419" cy="439318"/>
          </a:xfrm>
          <a:prstGeom prst="rect">
            <a:avLst/>
          </a:prstGeom>
          <a:noFill/>
          <a:ln/>
        </p:spPr>
        <p:txBody>
          <a:bodyPr wrap="square" lIns="0" tIns="0" rIns="0" bIns="0" rtlCol="0" anchor="t"/>
          <a:lstStyle/>
          <a:p>
            <a:pPr algn="r" indent="0" marL="0">
              <a:lnSpc>
                <a:spcPct val="125900"/>
              </a:lnSpc>
              <a:buNone/>
            </a:pPr>
            <a:r>
              <a:rPr lang="en-US" sz="2162" dirty="0">
                <a:solidFill>
                  <a:srgbClr val="67067C"/>
                </a:solidFill>
                <a:latin typeface="Young Serif" pitchFamily="34" charset="0"/>
                <a:ea typeface="Young Serif" pitchFamily="34" charset="-122"/>
                <a:cs typeface="Young Serif" pitchFamily="34" charset="-120"/>
              </a:rPr>
              <a:t>B</a:t>
            </a:r>
            <a:endParaRPr lang="en-US" sz="2162" dirty="0"/>
          </a:p>
        </p:txBody>
      </p:sp>
      <p:sp>
        <p:nvSpPr>
          <p:cNvPr id="19" name="Text 13"/>
          <p:cNvSpPr/>
          <p:nvPr/>
        </p:nvSpPr>
        <p:spPr>
          <a:xfrm>
            <a:off x="2232000" y="1841694"/>
            <a:ext cx="3456000" cy="2125594"/>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erceau de tradition vigneronne à Molsheim, le Domaine Boehler aborde une nouvelle ère sous l’impulsion de Julien et Aurélie. Converti à l’agriculture biologique, le tandem explore ses coteaux et le prestigieux Grand Cru Bruderthal pour des vins verticaux, précis et profonds.</a:t>
            </a:r>
            <a:endParaRPr lang="en-US" sz="13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12000" y="4129288"/>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De 60 à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De 120 à 300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Plus de 300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Crémant d’Alsace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Brut Nature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Molse Blanc (Assemblage)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Leimen (Sylvaner)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Holderhurst (Riesling)</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Hahnenberg (Riesling)</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Alsace Grand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Bruderthal (Gewurztraminer)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Alsace Grand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Bruderthal (Riesling)</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612000" y="7218593"/>
            <a:ext cx="0" cy="288349"/>
          </a:xfrm>
          <a:prstGeom prst="line">
            <a:avLst/>
          </a:prstGeom>
          <a:noFill/>
          <a:ln w="17780">
            <a:solidFill>
              <a:srgbClr val="67067C"/>
            </a:solidFill>
            <a:prstDash val="solid"/>
          </a:ln>
        </p:spPr>
      </p:sp>
      <p:sp>
        <p:nvSpPr>
          <p:cNvPr id="22" name="Text 15"/>
          <p:cNvSpPr/>
          <p:nvPr/>
        </p:nvSpPr>
        <p:spPr>
          <a:xfrm>
            <a:off x="720000" y="7218593"/>
            <a:ext cx="6012000" cy="288349"/>
          </a:xfrm>
          <a:prstGeom prst="rect">
            <a:avLst/>
          </a:prstGeom>
          <a:noFill/>
          <a:ln/>
        </p:spPr>
        <p:txBody>
          <a:bodyPr wrap="square" lIns="0" tIns="0" rIns="0" bIns="0" rtlCol="0" anchor="ctr"/>
          <a:lstStyle/>
          <a:p>
            <a:pPr indent="0" marL="0">
              <a:lnSpc>
                <a:spcPct val="110000"/>
              </a:lnSpc>
              <a:buNone/>
            </a:pPr>
            <a:r>
              <a:rPr lang="en-US" sz="1050" i="1" dirty="0">
                <a:solidFill>
                  <a:srgbClr val="2A3942"/>
                </a:solidFill>
                <a:latin typeface="IBM Plex Sans" pitchFamily="34" charset="0"/>
                <a:ea typeface="IBM Plex Sans" pitchFamily="34" charset="-122"/>
                <a:cs typeface="IBM Plex Sans" pitchFamily="34" charset="-120"/>
              </a:rPr>
              <a:t>Conditions de port non précisées par le domaine — nous consulter.</a:t>
            </a:r>
            <a:endParaRPr lang="en-US" sz="1050" dirty="0"/>
          </a:p>
        </p:txBody>
      </p:sp>
      <p:sp>
        <p:nvSpPr>
          <p:cNvPr id="23" name="Shape 16"/>
          <p:cNvSpPr/>
          <p:nvPr/>
        </p:nvSpPr>
        <p:spPr>
          <a:xfrm>
            <a:off x="612000" y="8388000"/>
            <a:ext cx="6120000" cy="0"/>
          </a:xfrm>
          <a:prstGeom prst="line">
            <a:avLst/>
          </a:prstGeom>
          <a:noFill/>
          <a:ln w="8890">
            <a:solidFill>
              <a:srgbClr val="46606E"/>
            </a:solidFill>
            <a:prstDash val="solid"/>
          </a:ln>
        </p:spPr>
      </p:sp>
      <p:sp>
        <p:nvSpPr>
          <p:cNvPr id="24" name="Text 17"/>
          <p:cNvSpPr/>
          <p:nvPr/>
        </p:nvSpPr>
        <p:spPr>
          <a:xfrm>
            <a:off x="612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non précisés par le domaine — nous consulter</a:t>
            </a:r>
            <a:endParaRPr lang="en-US" sz="720" dirty="0"/>
          </a:p>
        </p:txBody>
      </p:sp>
      <p:sp>
        <p:nvSpPr>
          <p:cNvPr id="25" name="Text 18"/>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pictos de l’Agence SCIO, pas les logos officiels</a:t>
            </a:r>
            <a:endParaRPr lang="en-US" sz="650" dirty="0"/>
          </a:p>
        </p:txBody>
      </p:sp>
      <p:sp>
        <p:nvSpPr>
          <p:cNvPr id="26" name="Text 1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13</a:t>
            </a:r>
            <a:endParaRPr lang="en-US" sz="750" dirty="0"/>
          </a:p>
        </p:txBody>
      </p:sp>
      <p:sp>
        <p:nvSpPr>
          <p:cNvPr id="27" name="Text 2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46606E"/>
        </a:solidFill>
      </p:bgPr>
    </p:bg>
    <p:spTree>
      <p:nvGrpSpPr>
        <p:cNvPr id="1" name=""/>
        <p:cNvGrpSpPr/>
        <p:nvPr/>
      </p:nvGrpSpPr>
      <p:grpSpPr>
        <a:xfrm>
          <a:off x="0" y="0"/>
          <a:ext cx="0" cy="0"/>
          <a:chOff x="0" y="0"/>
          <a:chExt cx="0" cy="0"/>
        </a:xfrm>
      </p:grpSpPr>
      <p:pic>
        <p:nvPicPr>
          <p:cNvPr id="2" name="Image 0" descr="/home/user/philippe1/build/deco-salon-prive-2026/ouverture-bourgogne.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salon-prive-2026/carotte-bourgogne.png">    </p:cNvPr>
          <p:cNvPicPr>
            <a:picLocks noChangeAspect="1"/>
          </p:cNvPicPr>
          <p:nvPr/>
        </p:nvPicPr>
        <p:blipFill>
          <a:blip r:embed="rId2"/>
          <a:stretch>
            <a:fillRect/>
          </a:stretch>
        </p:blipFill>
        <p:spPr>
          <a:xfrm>
            <a:off x="0" y="0"/>
            <a:ext cx="324000" cy="9360000"/>
          </a:xfrm>
          <a:prstGeom prst="rect">
            <a:avLst/>
          </a:prstGeom>
        </p:spPr>
      </p:pic>
      <p:sp>
        <p:nvSpPr>
          <p:cNvPr id="4"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5" name="Text 1"/>
          <p:cNvSpPr/>
          <p:nvPr/>
        </p:nvSpPr>
        <p:spPr>
          <a:xfrm>
            <a:off x="828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3 / 9</a:t>
            </a:r>
            <a:endParaRPr lang="en-US" sz="800" dirty="0"/>
          </a:p>
        </p:txBody>
      </p:sp>
      <p:sp>
        <p:nvSpPr>
          <p:cNvPr id="6" name="Text 2"/>
          <p:cNvSpPr/>
          <p:nvPr/>
        </p:nvSpPr>
        <p:spPr>
          <a:xfrm>
            <a:off x="828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Bourgogne</a:t>
            </a:r>
            <a:endParaRPr lang="en-US" sz="4600" dirty="0"/>
          </a:p>
        </p:txBody>
      </p:sp>
      <p:sp>
        <p:nvSpPr>
          <p:cNvPr id="7" name="Text 3"/>
          <p:cNvSpPr/>
          <p:nvPr/>
        </p:nvSpPr>
        <p:spPr>
          <a:xfrm>
            <a:off x="828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climats et terrasses</a:t>
            </a:r>
            <a:endParaRPr lang="en-US" sz="1200" dirty="0"/>
          </a:p>
        </p:txBody>
      </p:sp>
      <p:sp>
        <p:nvSpPr>
          <p:cNvPr id="8" name="Text 4"/>
          <p:cNvSpPr/>
          <p:nvPr/>
        </p:nvSpPr>
        <p:spPr>
          <a:xfrm>
            <a:off x="828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5</a:t>
            </a:r>
            <a:endParaRPr lang="en-US" sz="2000" dirty="0"/>
          </a:p>
        </p:txBody>
      </p:sp>
      <p:sp>
        <p:nvSpPr>
          <p:cNvPr id="9" name="Text 5"/>
          <p:cNvSpPr/>
          <p:nvPr/>
        </p:nvSpPr>
        <p:spPr>
          <a:xfrm>
            <a:off x="828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domaines</a:t>
            </a:r>
            <a:endParaRPr lang="en-US" sz="850" dirty="0"/>
          </a:p>
        </p:txBody>
      </p:sp>
      <p:sp>
        <p:nvSpPr>
          <p:cNvPr id="10" name="Text 6"/>
          <p:cNvSpPr/>
          <p:nvPr/>
        </p:nvSpPr>
        <p:spPr>
          <a:xfrm>
            <a:off x="1836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23</a:t>
            </a:r>
            <a:endParaRPr lang="en-US" sz="2000" dirty="0"/>
          </a:p>
        </p:txBody>
      </p:sp>
      <p:sp>
        <p:nvSpPr>
          <p:cNvPr id="11" name="Text 7"/>
          <p:cNvSpPr/>
          <p:nvPr/>
        </p:nvSpPr>
        <p:spPr>
          <a:xfrm>
            <a:off x="1836000" y="6660000"/>
            <a:ext cx="1620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vins à la dégustation</a:t>
            </a:r>
            <a:endParaRPr lang="en-US" sz="850" dirty="0"/>
          </a:p>
        </p:txBody>
      </p:sp>
      <p:sp>
        <p:nvSpPr>
          <p:cNvPr id="12" name="Text 8"/>
          <p:cNvSpPr/>
          <p:nvPr/>
        </p:nvSpPr>
        <p:spPr>
          <a:xfrm>
            <a:off x="828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18   </a:t>
            </a:r>
            <a:r>
              <a:rPr lang="en-US" sz="860" dirty="0">
                <a:solidFill>
                  <a:srgbClr val="FBF8F1"/>
                </a:solidFill>
                <a:latin typeface="IBM Plex Sans" pitchFamily="34" charset="0"/>
                <a:ea typeface="IBM Plex Sans" pitchFamily="34" charset="-122"/>
                <a:cs typeface="IBM Plex Sans" pitchFamily="34" charset="-120"/>
              </a:rPr>
              <a:t>Domaine Sébastien Magnien</a:t>
            </a:r>
            <a:r>
              <a:rPr lang="en-US" sz="860" b="1" dirty="0">
                <a:solidFill>
                  <a:srgbClr val="FBF8F1"/>
                </a:solidFill>
                <a:latin typeface="IBM Plex Sans" pitchFamily="34" charset="0"/>
                <a:ea typeface="IBM Plex Sans" pitchFamily="34" charset="-122"/>
                <a:cs typeface="IBM Plex Sans" pitchFamily="34" charset="-120"/>
              </a:rPr>
              <a:t>   15</a:t>
            </a:r>
            <a:endParaRPr lang="en-US" sz="860" dirty="0"/>
          </a:p>
        </p:txBody>
      </p:sp>
      <p:sp>
        <p:nvSpPr>
          <p:cNvPr id="13" name="Text 9"/>
          <p:cNvSpPr/>
          <p:nvPr/>
        </p:nvSpPr>
        <p:spPr>
          <a:xfrm>
            <a:off x="3888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26   </a:t>
            </a:r>
            <a:r>
              <a:rPr lang="en-US" sz="860" dirty="0">
                <a:solidFill>
                  <a:srgbClr val="FBF8F1"/>
                </a:solidFill>
                <a:latin typeface="IBM Plex Sans" pitchFamily="34" charset="0"/>
                <a:ea typeface="IBM Plex Sans" pitchFamily="34" charset="-122"/>
                <a:cs typeface="IBM Plex Sans" pitchFamily="34" charset="-120"/>
              </a:rPr>
              <a:t>Maison et Domaine André Goichot</a:t>
            </a:r>
            <a:r>
              <a:rPr lang="en-US" sz="860" b="1" dirty="0">
                <a:solidFill>
                  <a:srgbClr val="FBF8F1"/>
                </a:solidFill>
                <a:latin typeface="IBM Plex Sans" pitchFamily="34" charset="0"/>
                <a:ea typeface="IBM Plex Sans" pitchFamily="34" charset="-122"/>
                <a:cs typeface="IBM Plex Sans" pitchFamily="34" charset="-120"/>
              </a:rPr>
              <a:t>   16</a:t>
            </a:r>
            <a:endParaRPr lang="en-US" sz="860" dirty="0"/>
          </a:p>
        </p:txBody>
      </p:sp>
      <p:sp>
        <p:nvSpPr>
          <p:cNvPr id="14" name="Text 10"/>
          <p:cNvSpPr/>
          <p:nvPr/>
        </p:nvSpPr>
        <p:spPr>
          <a:xfrm>
            <a:off x="828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26   </a:t>
            </a:r>
            <a:r>
              <a:rPr lang="en-US" sz="860" dirty="0">
                <a:solidFill>
                  <a:srgbClr val="FBF8F1"/>
                </a:solidFill>
                <a:latin typeface="IBM Plex Sans" pitchFamily="34" charset="0"/>
                <a:ea typeface="IBM Plex Sans" pitchFamily="34" charset="-122"/>
                <a:cs typeface="IBM Plex Sans" pitchFamily="34" charset="-120"/>
              </a:rPr>
              <a:t>Château du Cray</a:t>
            </a:r>
            <a:r>
              <a:rPr lang="en-US" sz="860" b="1" dirty="0">
                <a:solidFill>
                  <a:srgbClr val="FBF8F1"/>
                </a:solidFill>
                <a:latin typeface="IBM Plex Sans" pitchFamily="34" charset="0"/>
                <a:ea typeface="IBM Plex Sans" pitchFamily="34" charset="-122"/>
                <a:cs typeface="IBM Plex Sans" pitchFamily="34" charset="-120"/>
              </a:rPr>
              <a:t>   17</a:t>
            </a:r>
            <a:endParaRPr lang="en-US" sz="860" dirty="0"/>
          </a:p>
        </p:txBody>
      </p:sp>
      <p:sp>
        <p:nvSpPr>
          <p:cNvPr id="15" name="Text 11"/>
          <p:cNvSpPr/>
          <p:nvPr/>
        </p:nvSpPr>
        <p:spPr>
          <a:xfrm>
            <a:off x="3888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26   </a:t>
            </a:r>
            <a:r>
              <a:rPr lang="en-US" sz="860" dirty="0">
                <a:solidFill>
                  <a:srgbClr val="FBF8F1"/>
                </a:solidFill>
                <a:latin typeface="IBM Plex Sans" pitchFamily="34" charset="0"/>
                <a:ea typeface="IBM Plex Sans" pitchFamily="34" charset="-122"/>
                <a:cs typeface="IBM Plex Sans" pitchFamily="34" charset="-120"/>
              </a:rPr>
              <a:t>Domaine Les Guignottes</a:t>
            </a:r>
            <a:r>
              <a:rPr lang="en-US" sz="860" b="1" dirty="0">
                <a:solidFill>
                  <a:srgbClr val="FBF8F1"/>
                </a:solidFill>
                <a:latin typeface="IBM Plex Sans" pitchFamily="34" charset="0"/>
                <a:ea typeface="IBM Plex Sans" pitchFamily="34" charset="-122"/>
                <a:cs typeface="IBM Plex Sans" pitchFamily="34" charset="-120"/>
              </a:rPr>
              <a:t>   18</a:t>
            </a:r>
            <a:endParaRPr lang="en-US" sz="860" dirty="0"/>
          </a:p>
        </p:txBody>
      </p:sp>
      <p:sp>
        <p:nvSpPr>
          <p:cNvPr id="16" name="Text 12"/>
          <p:cNvSpPr/>
          <p:nvPr/>
        </p:nvSpPr>
        <p:spPr>
          <a:xfrm>
            <a:off x="828000" y="7632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5   </a:t>
            </a:r>
            <a:r>
              <a:rPr lang="en-US" sz="860" dirty="0">
                <a:solidFill>
                  <a:srgbClr val="FBF8F1"/>
                </a:solidFill>
                <a:latin typeface="IBM Plex Sans" pitchFamily="34" charset="0"/>
                <a:ea typeface="IBM Plex Sans" pitchFamily="34" charset="-122"/>
                <a:cs typeface="IBM Plex Sans" pitchFamily="34" charset="-120"/>
              </a:rPr>
              <a:t>Domaine des Verchères</a:t>
            </a:r>
            <a:r>
              <a:rPr lang="en-US" sz="860" b="1" dirty="0">
                <a:solidFill>
                  <a:srgbClr val="FBF8F1"/>
                </a:solidFill>
                <a:latin typeface="IBM Plex Sans" pitchFamily="34" charset="0"/>
                <a:ea typeface="IBM Plex Sans" pitchFamily="34" charset="-122"/>
                <a:cs typeface="IBM Plex Sans" pitchFamily="34" charset="-120"/>
              </a:rPr>
              <a:t>   19</a:t>
            </a:r>
            <a:endParaRPr lang="en-US" sz="860" dirty="0"/>
          </a:p>
        </p:txBody>
      </p:sp>
      <p:sp>
        <p:nvSpPr>
          <p:cNvPr id="17" name="Text 13"/>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14</a:t>
            </a:r>
            <a:endParaRPr lang="en-US" sz="750" dirty="0"/>
          </a:p>
        </p:txBody>
      </p:sp>
      <p:sp>
        <p:nvSpPr>
          <p:cNvPr id="18" name="Text 14"/>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bourgo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Shape 1"/>
          <p:cNvSpPr/>
          <p:nvPr/>
        </p:nvSpPr>
        <p:spPr>
          <a:xfrm>
            <a:off x="612000" y="667894"/>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612000" y="667894"/>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18</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440000" y="540000"/>
            <a:ext cx="4068000" cy="774188"/>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Domaine Sébastien Magnien</a:t>
            </a:r>
            <a:endParaRPr lang="en-US" sz="2000" dirty="0"/>
          </a:p>
        </p:txBody>
      </p:sp>
      <p:sp>
        <p:nvSpPr>
          <p:cNvPr id="7" name="Text 4"/>
          <p:cNvSpPr/>
          <p:nvPr/>
        </p:nvSpPr>
        <p:spPr>
          <a:xfrm>
            <a:off x="5292000" y="540000"/>
            <a:ext cx="1440000" cy="774188"/>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8" name="Shape 5"/>
          <p:cNvSpPr/>
          <p:nvPr/>
        </p:nvSpPr>
        <p:spPr>
          <a:xfrm>
            <a:off x="612000" y="1332188"/>
            <a:ext cx="6120000" cy="0"/>
          </a:xfrm>
          <a:prstGeom prst="line">
            <a:avLst/>
          </a:prstGeom>
          <a:noFill/>
          <a:ln w="17780">
            <a:solidFill>
              <a:srgbClr val="67067C"/>
            </a:solidFill>
            <a:prstDash val="solid"/>
          </a:ln>
        </p:spPr>
      </p:sp>
      <p:sp>
        <p:nvSpPr>
          <p:cNvPr id="9" name="Shape 6"/>
          <p:cNvSpPr/>
          <p:nvPr/>
        </p:nvSpPr>
        <p:spPr>
          <a:xfrm>
            <a:off x="612000" y="1425788"/>
            <a:ext cx="1264514"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raisonnee.png">    </p:cNvPr>
          <p:cNvPicPr>
            <a:picLocks noChangeAspect="1"/>
          </p:cNvPicPr>
          <p:nvPr/>
        </p:nvPicPr>
        <p:blipFill>
          <a:blip r:embed="rId2"/>
          <a:stretch>
            <a:fillRect/>
          </a:stretch>
        </p:blipFill>
        <p:spPr>
          <a:xfrm>
            <a:off x="684000" y="1461788"/>
            <a:ext cx="108000" cy="108000"/>
          </a:xfrm>
          <a:prstGeom prst="rect">
            <a:avLst/>
          </a:prstGeom>
        </p:spPr>
      </p:pic>
      <p:sp>
        <p:nvSpPr>
          <p:cNvPr id="11" name="Text 7"/>
          <p:cNvSpPr/>
          <p:nvPr/>
        </p:nvSpPr>
        <p:spPr>
          <a:xfrm>
            <a:off x="759600" y="1425788"/>
            <a:ext cx="111691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Agriculture raisonnée</a:t>
            </a:r>
            <a:endParaRPr lang="en-US" sz="720" dirty="0"/>
          </a:p>
        </p:txBody>
      </p:sp>
      <p:sp>
        <p:nvSpPr>
          <p:cNvPr id="12" name="Shape 8"/>
          <p:cNvSpPr/>
          <p:nvPr/>
        </p:nvSpPr>
        <p:spPr>
          <a:xfrm>
            <a:off x="1955714" y="1425788"/>
            <a:ext cx="630911" cy="180000"/>
          </a:xfrm>
          <a:prstGeom prst="roundRect">
            <a:avLst>
              <a:gd name="adj" fmla="val 10160"/>
            </a:avLst>
          </a:prstGeom>
          <a:solidFill>
            <a:srgbClr val="67067C"/>
          </a:solidFill>
          <a:ln w="8890">
            <a:solidFill>
              <a:srgbClr val="67067C"/>
            </a:solidFill>
            <a:prstDash val="solid"/>
          </a:ln>
        </p:spPr>
      </p:sp>
      <p:sp>
        <p:nvSpPr>
          <p:cNvPr id="13" name="Text 9"/>
          <p:cNvSpPr/>
          <p:nvPr/>
        </p:nvSpPr>
        <p:spPr>
          <a:xfrm>
            <a:off x="1955714" y="1425788"/>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4" name="Shape 10"/>
          <p:cNvSpPr/>
          <p:nvPr/>
        </p:nvSpPr>
        <p:spPr>
          <a:xfrm>
            <a:off x="2665825" y="1425788"/>
            <a:ext cx="1385474" cy="180000"/>
          </a:xfrm>
          <a:prstGeom prst="roundRect">
            <a:avLst>
              <a:gd name="adj" fmla="val 10160"/>
            </a:avLst>
          </a:prstGeom>
          <a:solidFill>
            <a:srgbClr val="F2EADA"/>
          </a:solidFill>
          <a:ln w="8890">
            <a:solidFill>
              <a:srgbClr val="A8515F"/>
            </a:solidFill>
            <a:prstDash val="solid"/>
          </a:ln>
        </p:spPr>
      </p:sp>
      <p:sp>
        <p:nvSpPr>
          <p:cNvPr id="15" name="Text 11"/>
          <p:cNvSpPr/>
          <p:nvPr/>
        </p:nvSpPr>
        <p:spPr>
          <a:xfrm>
            <a:off x="2665825" y="1425788"/>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6" name="Shape 12"/>
          <p:cNvSpPr/>
          <p:nvPr/>
        </p:nvSpPr>
        <p:spPr>
          <a:xfrm>
            <a:off x="4130499" y="1425788"/>
            <a:ext cx="1149376" cy="180000"/>
          </a:xfrm>
          <a:prstGeom prst="roundRect">
            <a:avLst>
              <a:gd name="adj" fmla="val 10160"/>
            </a:avLst>
          </a:prstGeom>
          <a:solidFill>
            <a:srgbClr val="F2EADA"/>
          </a:solidFill>
          <a:ln w="8890">
            <a:solidFill>
              <a:srgbClr val="46606E"/>
            </a:solidFill>
            <a:prstDash val="solid"/>
          </a:ln>
        </p:spPr>
      </p:sp>
      <p:sp>
        <p:nvSpPr>
          <p:cNvPr id="17" name="Text 13"/>
          <p:cNvSpPr/>
          <p:nvPr/>
        </p:nvSpPr>
        <p:spPr>
          <a:xfrm>
            <a:off x="4130499" y="1425788"/>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6 vins à la dégustation</a:t>
            </a:r>
            <a:endParaRPr lang="en-US" sz="720" dirty="0"/>
          </a:p>
        </p:txBody>
      </p:sp>
      <p:pic>
        <p:nvPicPr>
          <p:cNvPr id="18" name="Image 2" descr="portrait au chai, recadré au-dessus du verre — Domaine Sébastien Magnien">    </p:cNvPr>
          <p:cNvPicPr>
            <a:picLocks noChangeAspect="1"/>
          </p:cNvPicPr>
          <p:nvPr/>
        </p:nvPicPr>
        <p:blipFill>
          <a:blip r:embed="rId3"/>
          <a:stretch>
            <a:fillRect/>
          </a:stretch>
        </p:blipFill>
        <p:spPr>
          <a:xfrm>
            <a:off x="612000" y="1735388"/>
            <a:ext cx="1440000" cy="1440000"/>
          </a:xfrm>
          <a:prstGeom prst="rect">
            <a:avLst/>
          </a:prstGeom>
        </p:spPr>
      </p:pic>
      <p:pic>
        <p:nvPicPr>
          <p:cNvPr id="19" name="Image 3" descr="Une bouteille du domaine Domaine Sébastien Magnien">    </p:cNvPr>
          <p:cNvPicPr>
            <a:picLocks noChangeAspect="1"/>
          </p:cNvPicPr>
          <p:nvPr/>
        </p:nvPicPr>
        <p:blipFill>
          <a:blip r:embed="rId4"/>
          <a:stretch>
            <a:fillRect/>
          </a:stretch>
        </p:blipFill>
        <p:spPr>
          <a:xfrm>
            <a:off x="6007279" y="1735388"/>
            <a:ext cx="585443" cy="2232000"/>
          </a:xfrm>
          <a:prstGeom prst="rect">
            <a:avLst/>
          </a:prstGeom>
        </p:spPr>
      </p:pic>
      <p:sp>
        <p:nvSpPr>
          <p:cNvPr id="20" name="Text 14"/>
          <p:cNvSpPr/>
          <p:nvPr/>
        </p:nvSpPr>
        <p:spPr>
          <a:xfrm>
            <a:off x="2178024" y="1725998"/>
            <a:ext cx="168801" cy="451307"/>
          </a:xfrm>
          <a:prstGeom prst="rect">
            <a:avLst/>
          </a:prstGeom>
          <a:noFill/>
          <a:ln/>
        </p:spPr>
        <p:txBody>
          <a:bodyPr wrap="square" lIns="0" tIns="0" rIns="0" bIns="0" rtlCol="0" anchor="t"/>
          <a:lstStyle/>
          <a:p>
            <a:pPr algn="r" indent="0" marL="0">
              <a:lnSpc>
                <a:spcPct val="125000"/>
              </a:lnSpc>
              <a:buNone/>
            </a:pPr>
            <a:r>
              <a:rPr lang="en-US" sz="2221" dirty="0">
                <a:solidFill>
                  <a:srgbClr val="67067C"/>
                </a:solidFill>
                <a:latin typeface="Young Serif" pitchFamily="34" charset="0"/>
                <a:ea typeface="Young Serif" pitchFamily="34" charset="-122"/>
                <a:cs typeface="Young Serif" pitchFamily="34" charset="-120"/>
              </a:rPr>
              <a:t>I</a:t>
            </a:r>
            <a:endParaRPr lang="en-US" sz="2221" dirty="0"/>
          </a:p>
        </p:txBody>
      </p:sp>
      <p:sp>
        <p:nvSpPr>
          <p:cNvPr id="21" name="Text 15"/>
          <p:cNvSpPr/>
          <p:nvPr/>
        </p:nvSpPr>
        <p:spPr>
          <a:xfrm>
            <a:off x="2232000" y="1844504"/>
            <a:ext cx="3456000" cy="2122784"/>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nstallé à Meursault depuis 2004, Sébastien Magnien conduit 12 hectares sur les terroirs d’élite de la Côte de Beaune et des Hautes-Côtes (Pommard, Volnay, Puligny, Saint-Romain). Vendanges manuelles et élevages en fûts de chêne signent des Pinots et Chardonnays d’élégance et de tension.</a:t>
            </a:r>
            <a:endParaRPr lang="en-US" sz="13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612000" y="4129288"/>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Hautes-Côtes de Beaune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Hautes-Côtes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3991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Meursault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Hautes-Côtes de Beaune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Clos de la Perrière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Beaune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Bons Feuvres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Beaune 1er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Aigrots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Pommard</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Perrières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3" name="Shape 16"/>
          <p:cNvSpPr/>
          <p:nvPr/>
        </p:nvSpPr>
        <p:spPr>
          <a:xfrm>
            <a:off x="612000" y="6627745"/>
            <a:ext cx="0" cy="288349"/>
          </a:xfrm>
          <a:prstGeom prst="line">
            <a:avLst/>
          </a:prstGeom>
          <a:noFill/>
          <a:ln w="17780">
            <a:solidFill>
              <a:srgbClr val="67067C"/>
            </a:solidFill>
            <a:prstDash val="solid"/>
          </a:ln>
        </p:spPr>
      </p:sp>
      <p:sp>
        <p:nvSpPr>
          <p:cNvPr id="24" name="Text 17"/>
          <p:cNvSpPr/>
          <p:nvPr/>
        </p:nvSpPr>
        <p:spPr>
          <a:xfrm>
            <a:off x="720000" y="6627745"/>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5" name="Text 18"/>
          <p:cNvSpPr/>
          <p:nvPr/>
        </p:nvSpPr>
        <p:spPr>
          <a:xfrm>
            <a:off x="612000" y="7060095"/>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26" name="Image 4" descr="/home/user/philippe1/build/deco-salon-prive-2026/sol-bourgogne.png">    </p:cNvPr>
          <p:cNvPicPr>
            <a:picLocks noChangeAspect="1"/>
          </p:cNvPicPr>
          <p:nvPr/>
        </p:nvPicPr>
        <p:blipFill>
          <a:blip r:embed="rId5"/>
          <a:stretch>
            <a:fillRect/>
          </a:stretch>
        </p:blipFill>
        <p:spPr>
          <a:xfrm>
            <a:off x="612000" y="7207695"/>
            <a:ext cx="6120000" cy="906347"/>
          </a:xfrm>
          <a:prstGeom prst="rect">
            <a:avLst/>
          </a:prstGeom>
        </p:spPr>
      </p:pic>
      <p:sp>
        <p:nvSpPr>
          <p:cNvPr id="27" name="Shape 19"/>
          <p:cNvSpPr/>
          <p:nvPr/>
        </p:nvSpPr>
        <p:spPr>
          <a:xfrm>
            <a:off x="612000" y="8388000"/>
            <a:ext cx="6120000" cy="0"/>
          </a:xfrm>
          <a:prstGeom prst="line">
            <a:avLst/>
          </a:prstGeom>
          <a:noFill/>
          <a:ln w="8890">
            <a:solidFill>
              <a:srgbClr val="46606E"/>
            </a:solidFill>
            <a:prstDash val="solid"/>
          </a:ln>
        </p:spPr>
      </p:sp>
      <p:sp>
        <p:nvSpPr>
          <p:cNvPr id="28" name="Text 20"/>
          <p:cNvSpPr/>
          <p:nvPr/>
        </p:nvSpPr>
        <p:spPr>
          <a:xfrm>
            <a:off x="612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9" name="Text 21"/>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30" name="Text 22"/>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15</a:t>
            </a:r>
            <a:endParaRPr lang="en-US" sz="750" dirty="0"/>
          </a:p>
        </p:txBody>
      </p:sp>
      <p:sp>
        <p:nvSpPr>
          <p:cNvPr id="31" name="Text 23"/>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bourgo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Shape 1"/>
          <p:cNvSpPr/>
          <p:nvPr/>
        </p:nvSpPr>
        <p:spPr>
          <a:xfrm>
            <a:off x="828000" y="667894"/>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67894"/>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26</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74188"/>
          </a:xfrm>
          <a:prstGeom prst="rect">
            <a:avLst/>
          </a:prstGeom>
          <a:noFill/>
          <a:ln/>
        </p:spPr>
        <p:txBody>
          <a:bodyPr wrap="square" lIns="0" tIns="0" rIns="0" bIns="0" rtlCol="0" anchor="ctr"/>
          <a:lstStyle/>
          <a:p>
            <a:pPr indent="0" marL="0">
              <a:lnSpc>
                <a:spcPct val="104000"/>
              </a:lnSpc>
              <a:buNone/>
            </a:pPr>
            <a:r>
              <a:rPr lang="en-US" sz="1850" dirty="0">
                <a:solidFill>
                  <a:srgbClr val="46606E"/>
                </a:solidFill>
                <a:latin typeface="Young Serif" pitchFamily="34" charset="0"/>
                <a:ea typeface="Young Serif" pitchFamily="34" charset="-122"/>
                <a:cs typeface="Young Serif" pitchFamily="34" charset="-120"/>
              </a:rPr>
              <a:t>Maison et Domaine André Goichot</a:t>
            </a:r>
            <a:endParaRPr lang="en-US" sz="1850" dirty="0"/>
          </a:p>
        </p:txBody>
      </p:sp>
      <p:sp>
        <p:nvSpPr>
          <p:cNvPr id="7" name="Text 4"/>
          <p:cNvSpPr/>
          <p:nvPr/>
        </p:nvSpPr>
        <p:spPr>
          <a:xfrm>
            <a:off x="5508000" y="540000"/>
            <a:ext cx="1440000" cy="774188"/>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8" name="Shape 5"/>
          <p:cNvSpPr/>
          <p:nvPr/>
        </p:nvSpPr>
        <p:spPr>
          <a:xfrm>
            <a:off x="828000" y="1332188"/>
            <a:ext cx="6120000" cy="0"/>
          </a:xfrm>
          <a:prstGeom prst="line">
            <a:avLst/>
          </a:prstGeom>
          <a:noFill/>
          <a:ln w="17780">
            <a:solidFill>
              <a:srgbClr val="67067C"/>
            </a:solidFill>
            <a:prstDash val="solid"/>
          </a:ln>
        </p:spPr>
      </p:sp>
      <p:sp>
        <p:nvSpPr>
          <p:cNvPr id="9" name="Shape 6"/>
          <p:cNvSpPr/>
          <p:nvPr/>
        </p:nvSpPr>
        <p:spPr>
          <a:xfrm>
            <a:off x="828000" y="1425788"/>
            <a:ext cx="528148"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hve.png">    </p:cNvPr>
          <p:cNvPicPr>
            <a:picLocks noChangeAspect="1"/>
          </p:cNvPicPr>
          <p:nvPr/>
        </p:nvPicPr>
        <p:blipFill>
          <a:blip r:embed="rId2"/>
          <a:stretch>
            <a:fillRect/>
          </a:stretch>
        </p:blipFill>
        <p:spPr>
          <a:xfrm>
            <a:off x="900000" y="1461788"/>
            <a:ext cx="108000" cy="108000"/>
          </a:xfrm>
          <a:prstGeom prst="rect">
            <a:avLst/>
          </a:prstGeom>
        </p:spPr>
      </p:pic>
      <p:sp>
        <p:nvSpPr>
          <p:cNvPr id="11" name="Text 7"/>
          <p:cNvSpPr/>
          <p:nvPr/>
        </p:nvSpPr>
        <p:spPr>
          <a:xfrm>
            <a:off x="975600" y="1425788"/>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2" name="Shape 8"/>
          <p:cNvSpPr/>
          <p:nvPr/>
        </p:nvSpPr>
        <p:spPr>
          <a:xfrm>
            <a:off x="1435348" y="1425788"/>
            <a:ext cx="630911" cy="180000"/>
          </a:xfrm>
          <a:prstGeom prst="roundRect">
            <a:avLst>
              <a:gd name="adj" fmla="val 10160"/>
            </a:avLst>
          </a:prstGeom>
          <a:solidFill>
            <a:srgbClr val="67067C"/>
          </a:solidFill>
          <a:ln w="8890">
            <a:solidFill>
              <a:srgbClr val="67067C"/>
            </a:solidFill>
            <a:prstDash val="solid"/>
          </a:ln>
        </p:spPr>
      </p:sp>
      <p:sp>
        <p:nvSpPr>
          <p:cNvPr id="13" name="Text 9"/>
          <p:cNvSpPr/>
          <p:nvPr/>
        </p:nvSpPr>
        <p:spPr>
          <a:xfrm>
            <a:off x="1435348" y="1425788"/>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4" name="Shape 10"/>
          <p:cNvSpPr/>
          <p:nvPr/>
        </p:nvSpPr>
        <p:spPr>
          <a:xfrm>
            <a:off x="2145459" y="1425788"/>
            <a:ext cx="1352190" cy="180000"/>
          </a:xfrm>
          <a:prstGeom prst="roundRect">
            <a:avLst>
              <a:gd name="adj" fmla="val 10160"/>
            </a:avLst>
          </a:prstGeom>
          <a:solidFill>
            <a:srgbClr val="F2EADA"/>
          </a:solidFill>
          <a:ln w="8890">
            <a:solidFill>
              <a:srgbClr val="A8515F"/>
            </a:solidFill>
            <a:prstDash val="solid"/>
          </a:ln>
        </p:spPr>
      </p:sp>
      <p:sp>
        <p:nvSpPr>
          <p:cNvPr id="15" name="Text 11"/>
          <p:cNvSpPr/>
          <p:nvPr/>
        </p:nvSpPr>
        <p:spPr>
          <a:xfrm>
            <a:off x="2145459" y="1425788"/>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6" name="Shape 12"/>
          <p:cNvSpPr/>
          <p:nvPr/>
        </p:nvSpPr>
        <p:spPr>
          <a:xfrm>
            <a:off x="3576848" y="1425788"/>
            <a:ext cx="1204240" cy="180000"/>
          </a:xfrm>
          <a:prstGeom prst="roundRect">
            <a:avLst>
              <a:gd name="adj" fmla="val 10160"/>
            </a:avLst>
          </a:prstGeom>
          <a:solidFill>
            <a:srgbClr val="F2EADA"/>
          </a:solidFill>
          <a:ln w="8890">
            <a:solidFill>
              <a:srgbClr val="46606E"/>
            </a:solidFill>
            <a:prstDash val="solid"/>
          </a:ln>
        </p:spPr>
      </p:sp>
      <p:sp>
        <p:nvSpPr>
          <p:cNvPr id="17" name="Text 13"/>
          <p:cNvSpPr/>
          <p:nvPr/>
        </p:nvSpPr>
        <p:spPr>
          <a:xfrm>
            <a:off x="3576848" y="1425788"/>
            <a:ext cx="1204240"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10 vins à la dégustation</a:t>
            </a:r>
            <a:endParaRPr lang="en-US" sz="720" dirty="0"/>
          </a:p>
        </p:txBody>
      </p:sp>
      <p:pic>
        <p:nvPicPr>
          <p:cNvPr id="18" name="Image 2" descr="deux portraits de la maison, côte à côte — Maison et Domaine André Goichot">    </p:cNvPr>
          <p:cNvPicPr>
            <a:picLocks noChangeAspect="1"/>
          </p:cNvPicPr>
          <p:nvPr/>
        </p:nvPicPr>
        <p:blipFill>
          <a:blip r:embed="rId3"/>
          <a:stretch>
            <a:fillRect/>
          </a:stretch>
        </p:blipFill>
        <p:spPr>
          <a:xfrm>
            <a:off x="828000" y="1735388"/>
            <a:ext cx="1440000" cy="1440000"/>
          </a:xfrm>
          <a:prstGeom prst="rect">
            <a:avLst/>
          </a:prstGeom>
        </p:spPr>
      </p:pic>
      <p:pic>
        <p:nvPicPr>
          <p:cNvPr id="19" name="Image 3" descr="Une bouteille du domaine Maison et Domaine André Goichot">    </p:cNvPr>
          <p:cNvPicPr>
            <a:picLocks noChangeAspect="1"/>
          </p:cNvPicPr>
          <p:nvPr/>
        </p:nvPicPr>
        <p:blipFill>
          <a:blip r:embed="rId4"/>
          <a:stretch>
            <a:fillRect/>
          </a:stretch>
        </p:blipFill>
        <p:spPr>
          <a:xfrm>
            <a:off x="6235475" y="1735388"/>
            <a:ext cx="561049" cy="2232000"/>
          </a:xfrm>
          <a:prstGeom prst="rect">
            <a:avLst/>
          </a:prstGeom>
        </p:spPr>
      </p:pic>
      <p:sp>
        <p:nvSpPr>
          <p:cNvPr id="20" name="Text 14"/>
          <p:cNvSpPr/>
          <p:nvPr/>
        </p:nvSpPr>
        <p:spPr>
          <a:xfrm>
            <a:off x="2394034" y="2006082"/>
            <a:ext cx="251341" cy="454965"/>
          </a:xfrm>
          <a:prstGeom prst="rect">
            <a:avLst/>
          </a:prstGeom>
          <a:noFill/>
          <a:ln/>
        </p:spPr>
        <p:txBody>
          <a:bodyPr wrap="square" lIns="0" tIns="0" rIns="0" bIns="0" rtlCol="0" anchor="t"/>
          <a:lstStyle/>
          <a:p>
            <a:pPr algn="r" indent="0" marL="0">
              <a:lnSpc>
                <a:spcPct val="124800"/>
              </a:lnSpc>
              <a:buNone/>
            </a:pPr>
            <a:r>
              <a:rPr lang="en-US" sz="2239" dirty="0">
                <a:solidFill>
                  <a:srgbClr val="67067C"/>
                </a:solidFill>
                <a:latin typeface="Young Serif" pitchFamily="34" charset="0"/>
                <a:ea typeface="Young Serif" pitchFamily="34" charset="-122"/>
                <a:cs typeface="Young Serif" pitchFamily="34" charset="-120"/>
              </a:rPr>
              <a:t>F</a:t>
            </a:r>
            <a:endParaRPr lang="en-US" sz="2239" dirty="0"/>
          </a:p>
        </p:txBody>
      </p:sp>
      <p:sp>
        <p:nvSpPr>
          <p:cNvPr id="21" name="Text 15"/>
          <p:cNvSpPr/>
          <p:nvPr/>
        </p:nvSpPr>
        <p:spPr>
          <a:xfrm>
            <a:off x="2448000" y="2126692"/>
            <a:ext cx="3456000" cy="1840596"/>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leuron familial et indépendant fondé en 1947, la Maison André Goichot porte l’exigence des grands climats de Bourgogne. Sélections parcellaires méticuleuses et cuverie d’élevage de pointe inaugurée en 2020.</a:t>
            </a:r>
            <a:endParaRPr lang="en-US" sz="13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828000" y="4129288"/>
          <a:ext cx="6120000" cy="914400"/>
        </p:xfrm>
        <a:graphic>
          <a:graphicData uri="http://schemas.openxmlformats.org/drawingml/2006/table">
            <a:tbl>
              <a:tblPr/>
              <a:tblGrid>
                <a:gridCol w="216000"/>
                <a:gridCol w="2988000"/>
                <a:gridCol w="540000"/>
                <a:gridCol w="504000"/>
                <a:gridCol w="936000"/>
                <a:gridCol w="936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78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126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3514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Pouilly-Vinzelles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3991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Auxey-Duresses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Crémant de Bourgogne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Baron Auguste Blanc</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Crémant de Bourgogne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Baron Auguste Rosé</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3991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Chassagne-Montrachet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Nuits-Saint-Georges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Aux Allots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3991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Mercurey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3991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Mercurey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3991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Givry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3991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Gevrey-Chambertin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3" name="Shape 16"/>
          <p:cNvSpPr/>
          <p:nvPr/>
        </p:nvSpPr>
        <p:spPr>
          <a:xfrm>
            <a:off x="828000" y="7297770"/>
            <a:ext cx="0" cy="288349"/>
          </a:xfrm>
          <a:prstGeom prst="line">
            <a:avLst/>
          </a:prstGeom>
          <a:noFill/>
          <a:ln w="17780">
            <a:solidFill>
              <a:srgbClr val="67067C"/>
            </a:solidFill>
            <a:prstDash val="solid"/>
          </a:ln>
        </p:spPr>
      </p:sp>
      <p:sp>
        <p:nvSpPr>
          <p:cNvPr id="24" name="Text 17"/>
          <p:cNvSpPr/>
          <p:nvPr/>
        </p:nvSpPr>
        <p:spPr>
          <a:xfrm>
            <a:off x="936000" y="7297770"/>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5" name="Text 18"/>
          <p:cNvSpPr/>
          <p:nvPr/>
        </p:nvSpPr>
        <p:spPr>
          <a:xfrm>
            <a:off x="828000" y="8136000"/>
            <a:ext cx="6120000" cy="1980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Maison André Goichot, Château du Cray et Domaine Les Guignottes — Château du Cray, stand 26 p. 17 · Domaine Les Guignottes, stand 26 p. 18</a:t>
            </a:r>
            <a:endParaRPr lang="en-US" sz="740" dirty="0"/>
          </a:p>
        </p:txBody>
      </p:sp>
      <p:sp>
        <p:nvSpPr>
          <p:cNvPr id="26" name="Shape 19"/>
          <p:cNvSpPr/>
          <p:nvPr/>
        </p:nvSpPr>
        <p:spPr>
          <a:xfrm>
            <a:off x="828000" y="8388000"/>
            <a:ext cx="6120000" cy="0"/>
          </a:xfrm>
          <a:prstGeom prst="line">
            <a:avLst/>
          </a:prstGeom>
          <a:noFill/>
          <a:ln w="8890">
            <a:solidFill>
              <a:srgbClr val="46606E"/>
            </a:solidFill>
            <a:prstDash val="solid"/>
          </a:ln>
        </p:spPr>
      </p:sp>
      <p:sp>
        <p:nvSpPr>
          <p:cNvPr id="27" name="Text 20"/>
          <p:cNvSpPr/>
          <p:nvPr/>
        </p:nvSpPr>
        <p:spPr>
          <a:xfrm>
            <a:off x="828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8" name="Text 21"/>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Rouge     pictos de l’Agence SCIO, pas les logos officiels</a:t>
            </a:r>
            <a:endParaRPr lang="en-US" sz="650" dirty="0"/>
          </a:p>
        </p:txBody>
      </p:sp>
      <p:sp>
        <p:nvSpPr>
          <p:cNvPr id="29" name="Text 22"/>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16</a:t>
            </a:r>
            <a:endParaRPr lang="en-US" sz="750" dirty="0"/>
          </a:p>
        </p:txBody>
      </p:sp>
      <p:sp>
        <p:nvSpPr>
          <p:cNvPr id="30" name="Text 23"/>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bourgo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Shape 1"/>
          <p:cNvSpPr/>
          <p:nvPr/>
        </p:nvSpPr>
        <p:spPr>
          <a:xfrm>
            <a:off x="612000" y="667894"/>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612000" y="667894"/>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26</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440000" y="540000"/>
            <a:ext cx="4068000" cy="774188"/>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Château du Cray</a:t>
            </a:r>
            <a:endParaRPr lang="en-US" sz="2000" dirty="0"/>
          </a:p>
        </p:txBody>
      </p:sp>
      <p:sp>
        <p:nvSpPr>
          <p:cNvPr id="7" name="Text 4"/>
          <p:cNvSpPr/>
          <p:nvPr/>
        </p:nvSpPr>
        <p:spPr>
          <a:xfrm>
            <a:off x="5292000" y="540000"/>
            <a:ext cx="1440000" cy="774188"/>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8" name="Shape 5"/>
          <p:cNvSpPr/>
          <p:nvPr/>
        </p:nvSpPr>
        <p:spPr>
          <a:xfrm>
            <a:off x="612000" y="1332188"/>
            <a:ext cx="6120000" cy="0"/>
          </a:xfrm>
          <a:prstGeom prst="line">
            <a:avLst/>
          </a:prstGeom>
          <a:noFill/>
          <a:ln w="17780">
            <a:solidFill>
              <a:srgbClr val="67067C"/>
            </a:solidFill>
            <a:prstDash val="solid"/>
          </a:ln>
        </p:spPr>
      </p:sp>
      <p:sp>
        <p:nvSpPr>
          <p:cNvPr id="9" name="Shape 6"/>
          <p:cNvSpPr/>
          <p:nvPr/>
        </p:nvSpPr>
        <p:spPr>
          <a:xfrm>
            <a:off x="612000" y="1425788"/>
            <a:ext cx="1352190"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612000" y="1425788"/>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1" name="Shape 8"/>
          <p:cNvSpPr/>
          <p:nvPr/>
        </p:nvSpPr>
        <p:spPr>
          <a:xfrm>
            <a:off x="2043390" y="1425788"/>
            <a:ext cx="1103747"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043390" y="1425788"/>
            <a:ext cx="1103747"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 vin à la dégustation</a:t>
            </a:r>
            <a:endParaRPr lang="en-US" sz="720" dirty="0"/>
          </a:p>
        </p:txBody>
      </p:sp>
      <p:pic>
        <p:nvPicPr>
          <p:cNvPr id="13" name="Image 1" descr="le vignoble du Château du Cray (bannière de sa page) — Château du Cray">    </p:cNvPr>
          <p:cNvPicPr>
            <a:picLocks noChangeAspect="1"/>
          </p:cNvPicPr>
          <p:nvPr/>
        </p:nvPicPr>
        <p:blipFill>
          <a:blip r:embed="rId2"/>
          <a:stretch>
            <a:fillRect/>
          </a:stretch>
        </p:blipFill>
        <p:spPr>
          <a:xfrm>
            <a:off x="612000" y="1735388"/>
            <a:ext cx="1440000" cy="1440000"/>
          </a:xfrm>
          <a:prstGeom prst="rect">
            <a:avLst/>
          </a:prstGeom>
        </p:spPr>
      </p:pic>
      <p:pic>
        <p:nvPicPr>
          <p:cNvPr id="14" name="Image 2" descr="Une bouteille du domaine Château du Cray">    </p:cNvPr>
          <p:cNvPicPr>
            <a:picLocks noChangeAspect="1"/>
          </p:cNvPicPr>
          <p:nvPr/>
        </p:nvPicPr>
        <p:blipFill>
          <a:blip r:embed="rId3"/>
          <a:stretch>
            <a:fillRect/>
          </a:stretch>
        </p:blipFill>
        <p:spPr>
          <a:xfrm>
            <a:off x="6000831" y="1735388"/>
            <a:ext cx="598337" cy="2232000"/>
          </a:xfrm>
          <a:prstGeom prst="rect">
            <a:avLst/>
          </a:prstGeom>
        </p:spPr>
      </p:pic>
      <p:sp>
        <p:nvSpPr>
          <p:cNvPr id="15" name="Text 10"/>
          <p:cNvSpPr/>
          <p:nvPr/>
        </p:nvSpPr>
        <p:spPr>
          <a:xfrm>
            <a:off x="2177990" y="1771818"/>
            <a:ext cx="254560" cy="406197"/>
          </a:xfrm>
          <a:prstGeom prst="rect">
            <a:avLst/>
          </a:prstGeom>
          <a:noFill/>
          <a:ln/>
        </p:spPr>
        <p:txBody>
          <a:bodyPr wrap="square" lIns="0" tIns="0" rIns="0" bIns="0" rtlCol="0" anchor="t"/>
          <a:lstStyle/>
          <a:p>
            <a:pPr algn="r" indent="0" marL="0">
              <a:lnSpc>
                <a:spcPct val="123100"/>
              </a:lnSpc>
              <a:buNone/>
            </a:pPr>
            <a:r>
              <a:rPr lang="en-US" sz="1999" dirty="0">
                <a:solidFill>
                  <a:srgbClr val="67067C"/>
                </a:solidFill>
                <a:latin typeface="Young Serif" pitchFamily="34" charset="0"/>
                <a:ea typeface="Young Serif" pitchFamily="34" charset="-122"/>
                <a:cs typeface="Young Serif" pitchFamily="34" charset="-120"/>
              </a:rPr>
              <a:t>D</a:t>
            </a:r>
            <a:endParaRPr lang="en-US" sz="1999" dirty="0"/>
          </a:p>
        </p:txBody>
      </p:sp>
      <p:sp>
        <p:nvSpPr>
          <p:cNvPr id="16" name="Text 11"/>
          <p:cNvSpPr/>
          <p:nvPr/>
        </p:nvSpPr>
        <p:spPr>
          <a:xfrm>
            <a:off x="2232000" y="1886077"/>
            <a:ext cx="3456000" cy="2081211"/>
          </a:xfrm>
          <a:prstGeom prst="rect">
            <a:avLst/>
          </a:prstGeom>
          <a:noFill/>
          <a:ln/>
        </p:spPr>
        <p:txBody>
          <a:bodyPr wrap="square" lIns="0" tIns="0" rIns="0" bIns="0" rtlCol="0" anchor="t"/>
          <a:lstStyle/>
          <a:p>
            <a:pPr indent="0" marL="0">
              <a:lnSpc>
                <a:spcPct val="142000"/>
              </a:lnSpc>
              <a:buNone/>
            </a:pPr>
            <a:r>
              <a:rPr lang="en-US" sz="1100" dirty="0">
                <a:solidFill>
                  <a:srgbClr val="46606E"/>
                </a:solidFill>
                <a:latin typeface="Spectral" pitchFamily="34" charset="0"/>
                <a:ea typeface="Spectral" pitchFamily="34" charset="-122"/>
                <a:cs typeface="Spectral" pitchFamily="34" charset="-120"/>
              </a:rPr>
              <a:t>      epuis 2016, la famille Goichot est aux commandes de ce charmant domaine, précieuse propriété de la famille Perret du Cray depuis 1798. Situé au nord de Buxy, en Saône-et-Loire, le Château du Cray s’étend sur un domaine viticole de 22 hectares. Les vignes s’étendent autour du château, au milieu du coteau et bénéficient d’une exposition privilégiée Est-Sud-Est. Le domaine bénéficie d’un MONOPOLE : Le Cornevent</a:t>
            </a:r>
            <a:endParaRPr lang="en-US" sz="11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612000" y="4129288"/>
          <a:ext cx="6120000" cy="914400"/>
        </p:xfrm>
        <a:graphic>
          <a:graphicData uri="http://schemas.openxmlformats.org/drawingml/2006/table">
            <a:tbl>
              <a:tblPr/>
              <a:tblGrid>
                <a:gridCol w="216000"/>
                <a:gridCol w="2988000"/>
                <a:gridCol w="540000"/>
                <a:gridCol w="504000"/>
                <a:gridCol w="936000"/>
                <a:gridCol w="936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78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126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3514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Bourgogne Chardonnay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8" name="Shape 12"/>
          <p:cNvSpPr/>
          <p:nvPr/>
        </p:nvSpPr>
        <p:spPr>
          <a:xfrm>
            <a:off x="612000" y="4704142"/>
            <a:ext cx="0" cy="288349"/>
          </a:xfrm>
          <a:prstGeom prst="line">
            <a:avLst/>
          </a:prstGeom>
          <a:noFill/>
          <a:ln w="17780">
            <a:solidFill>
              <a:srgbClr val="67067C"/>
            </a:solidFill>
            <a:prstDash val="solid"/>
          </a:ln>
        </p:spPr>
      </p:sp>
      <p:sp>
        <p:nvSpPr>
          <p:cNvPr id="19" name="Text 13"/>
          <p:cNvSpPr/>
          <p:nvPr/>
        </p:nvSpPr>
        <p:spPr>
          <a:xfrm>
            <a:off x="720000" y="4704142"/>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0" name="Text 14"/>
          <p:cNvSpPr/>
          <p:nvPr/>
        </p:nvSpPr>
        <p:spPr>
          <a:xfrm>
            <a:off x="612000" y="5136491"/>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21" name="Image 3" descr="/home/user/philippe1/build/deco-salon-prive-2026/sol-bourgogne.png">    </p:cNvPr>
          <p:cNvPicPr>
            <a:picLocks noChangeAspect="1"/>
          </p:cNvPicPr>
          <p:nvPr/>
        </p:nvPicPr>
        <p:blipFill>
          <a:blip r:embed="rId4"/>
          <a:stretch>
            <a:fillRect/>
          </a:stretch>
        </p:blipFill>
        <p:spPr>
          <a:xfrm>
            <a:off x="612000" y="5284091"/>
            <a:ext cx="6120000" cy="1372326"/>
          </a:xfrm>
          <a:prstGeom prst="rect">
            <a:avLst/>
          </a:prstGeom>
        </p:spPr>
      </p:pic>
      <p:sp>
        <p:nvSpPr>
          <p:cNvPr id="22" name="Text 15"/>
          <p:cNvSpPr/>
          <p:nvPr/>
        </p:nvSpPr>
        <p:spPr>
          <a:xfrm>
            <a:off x="612000" y="8136000"/>
            <a:ext cx="6120000" cy="1980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Maison André Goichot, Château du Cray et Domaine Les Guignottes — Maison et Domaine André Goichot, stand 26 p. 16 · Domaine Les Guignottes, stand 26 p. 18</a:t>
            </a:r>
            <a:endParaRPr lang="en-US" sz="740" dirty="0"/>
          </a:p>
        </p:txBody>
      </p:sp>
      <p:sp>
        <p:nvSpPr>
          <p:cNvPr id="23" name="Shape 16"/>
          <p:cNvSpPr/>
          <p:nvPr/>
        </p:nvSpPr>
        <p:spPr>
          <a:xfrm>
            <a:off x="612000" y="8388000"/>
            <a:ext cx="6120000" cy="0"/>
          </a:xfrm>
          <a:prstGeom prst="line">
            <a:avLst/>
          </a:prstGeom>
          <a:noFill/>
          <a:ln w="8890">
            <a:solidFill>
              <a:srgbClr val="46606E"/>
            </a:solidFill>
            <a:prstDash val="solid"/>
          </a:ln>
        </p:spPr>
      </p:sp>
      <p:sp>
        <p:nvSpPr>
          <p:cNvPr id="24" name="Text 17"/>
          <p:cNvSpPr/>
          <p:nvPr/>
        </p:nvSpPr>
        <p:spPr>
          <a:xfrm>
            <a:off x="612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8"/>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pictos de l’Agence SCIO, pas les logos officiels</a:t>
            </a:r>
            <a:endParaRPr lang="en-US" sz="650" dirty="0"/>
          </a:p>
        </p:txBody>
      </p:sp>
      <p:sp>
        <p:nvSpPr>
          <p:cNvPr id="26" name="Text 1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17</a:t>
            </a:r>
            <a:endParaRPr lang="en-US" sz="750" dirty="0"/>
          </a:p>
        </p:txBody>
      </p:sp>
      <p:sp>
        <p:nvSpPr>
          <p:cNvPr id="27" name="Text 2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bourgo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Shape 1"/>
          <p:cNvSpPr/>
          <p:nvPr/>
        </p:nvSpPr>
        <p:spPr>
          <a:xfrm>
            <a:off x="828000" y="667894"/>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67894"/>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26</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74188"/>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Domaine Les Guignottes</a:t>
            </a:r>
            <a:endParaRPr lang="en-US" sz="2000" dirty="0"/>
          </a:p>
        </p:txBody>
      </p:sp>
      <p:sp>
        <p:nvSpPr>
          <p:cNvPr id="7" name="Text 4"/>
          <p:cNvSpPr/>
          <p:nvPr/>
        </p:nvSpPr>
        <p:spPr>
          <a:xfrm>
            <a:off x="5508000" y="540000"/>
            <a:ext cx="1440000" cy="774188"/>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8" name="Shape 5"/>
          <p:cNvSpPr/>
          <p:nvPr/>
        </p:nvSpPr>
        <p:spPr>
          <a:xfrm>
            <a:off x="828000" y="1332188"/>
            <a:ext cx="6120000" cy="0"/>
          </a:xfrm>
          <a:prstGeom prst="line">
            <a:avLst/>
          </a:prstGeom>
          <a:noFill/>
          <a:ln w="17780">
            <a:solidFill>
              <a:srgbClr val="67067C"/>
            </a:solidFill>
            <a:prstDash val="solid"/>
          </a:ln>
        </p:spPr>
      </p:sp>
      <p:sp>
        <p:nvSpPr>
          <p:cNvPr id="9" name="Shape 6"/>
          <p:cNvSpPr/>
          <p:nvPr/>
        </p:nvSpPr>
        <p:spPr>
          <a:xfrm>
            <a:off x="828000" y="1425788"/>
            <a:ext cx="1352190"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828000" y="1425788"/>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1" name="Shape 8"/>
          <p:cNvSpPr/>
          <p:nvPr/>
        </p:nvSpPr>
        <p:spPr>
          <a:xfrm>
            <a:off x="2259390" y="1425788"/>
            <a:ext cx="1103747"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259390" y="1425788"/>
            <a:ext cx="1103747"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 vin à la dégustation</a:t>
            </a:r>
            <a:endParaRPr lang="en-US" sz="720" dirty="0"/>
          </a:p>
        </p:txBody>
      </p:sp>
      <p:pic>
        <p:nvPicPr>
          <p:cNvPr id="13" name="Image 1" descr="nom du domaine sur ses vignes — Domaine Les Guignottes">    </p:cNvPr>
          <p:cNvPicPr>
            <a:picLocks noChangeAspect="1"/>
          </p:cNvPicPr>
          <p:nvPr/>
        </p:nvPicPr>
        <p:blipFill>
          <a:blip r:embed="rId2"/>
          <a:stretch>
            <a:fillRect/>
          </a:stretch>
        </p:blipFill>
        <p:spPr>
          <a:xfrm>
            <a:off x="828000" y="1735388"/>
            <a:ext cx="1440000" cy="1440000"/>
          </a:xfrm>
          <a:prstGeom prst="rect">
            <a:avLst/>
          </a:prstGeom>
        </p:spPr>
      </p:pic>
      <p:pic>
        <p:nvPicPr>
          <p:cNvPr id="14" name="Image 2" descr="Une bouteille du domaine Domaine Les Guignottes">    </p:cNvPr>
          <p:cNvPicPr>
            <a:picLocks noChangeAspect="1"/>
          </p:cNvPicPr>
          <p:nvPr/>
        </p:nvPicPr>
        <p:blipFill>
          <a:blip r:embed="rId3"/>
          <a:stretch>
            <a:fillRect/>
          </a:stretch>
        </p:blipFill>
        <p:spPr>
          <a:xfrm>
            <a:off x="6230902" y="1735388"/>
            <a:ext cx="570197" cy="2232000"/>
          </a:xfrm>
          <a:prstGeom prst="rect">
            <a:avLst/>
          </a:prstGeom>
        </p:spPr>
      </p:pic>
      <p:sp>
        <p:nvSpPr>
          <p:cNvPr id="15" name="Text 10"/>
          <p:cNvSpPr/>
          <p:nvPr/>
        </p:nvSpPr>
        <p:spPr>
          <a:xfrm>
            <a:off x="2393990" y="1652794"/>
            <a:ext cx="254560" cy="406197"/>
          </a:xfrm>
          <a:prstGeom prst="rect">
            <a:avLst/>
          </a:prstGeom>
          <a:noFill/>
          <a:ln/>
        </p:spPr>
        <p:txBody>
          <a:bodyPr wrap="square" lIns="0" tIns="0" rIns="0" bIns="0" rtlCol="0" anchor="t"/>
          <a:lstStyle/>
          <a:p>
            <a:pPr algn="r" indent="0" marL="0">
              <a:lnSpc>
                <a:spcPct val="123100"/>
              </a:lnSpc>
              <a:buNone/>
            </a:pPr>
            <a:r>
              <a:rPr lang="en-US" sz="1999" dirty="0">
                <a:solidFill>
                  <a:srgbClr val="67067C"/>
                </a:solidFill>
                <a:latin typeface="Young Serif" pitchFamily="34" charset="0"/>
                <a:ea typeface="Young Serif" pitchFamily="34" charset="-122"/>
                <a:cs typeface="Young Serif" pitchFamily="34" charset="-120"/>
              </a:rPr>
              <a:t>D</a:t>
            </a:r>
            <a:endParaRPr lang="en-US" sz="1999" dirty="0"/>
          </a:p>
        </p:txBody>
      </p:sp>
      <p:sp>
        <p:nvSpPr>
          <p:cNvPr id="16" name="Text 11"/>
          <p:cNvSpPr/>
          <p:nvPr/>
        </p:nvSpPr>
        <p:spPr>
          <a:xfrm>
            <a:off x="2448000" y="1767053"/>
            <a:ext cx="3456000" cy="2200235"/>
          </a:xfrm>
          <a:prstGeom prst="rect">
            <a:avLst/>
          </a:prstGeom>
          <a:noFill/>
          <a:ln/>
        </p:spPr>
        <p:txBody>
          <a:bodyPr wrap="square" lIns="0" tIns="0" rIns="0" bIns="0" rtlCol="0" anchor="t"/>
          <a:lstStyle/>
          <a:p>
            <a:pPr indent="0" marL="0">
              <a:lnSpc>
                <a:spcPct val="142000"/>
              </a:lnSpc>
              <a:buNone/>
            </a:pPr>
            <a:r>
              <a:rPr lang="en-US" sz="1100" dirty="0">
                <a:solidFill>
                  <a:srgbClr val="46606E"/>
                </a:solidFill>
                <a:latin typeface="Spectral" pitchFamily="34" charset="0"/>
                <a:ea typeface="Spectral" pitchFamily="34" charset="-122"/>
                <a:cs typeface="Spectral" pitchFamily="34" charset="-120"/>
              </a:rPr>
              <a:t>      epuis 2015, la famille Goichot est fière de diriger la distribution exclusive du Domaine Les Guignottes, une propriété de 10 hectares à Saint-Valérien en Côte Châlonnaise. Avec une palette de cépage incluant l’Aligoté, Le Pinot Noir et le Chardonnay, les vins du domaine reflètent avec élégance leur terroir d’origine. En harmonie avec les tendances actuelles, ils mettent en valeur la minéralité et la légèreté, une expérience qui célèbre la tradition et la qualité de la Côte Châlonnaise.</a:t>
            </a:r>
            <a:endParaRPr lang="en-US" sz="11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828000" y="4129288"/>
          <a:ext cx="6120000" cy="914400"/>
        </p:xfrm>
        <a:graphic>
          <a:graphicData uri="http://schemas.openxmlformats.org/drawingml/2006/table">
            <a:tbl>
              <a:tblPr/>
              <a:tblGrid>
                <a:gridCol w="216000"/>
                <a:gridCol w="2988000"/>
                <a:gridCol w="540000"/>
                <a:gridCol w="504000"/>
                <a:gridCol w="936000"/>
                <a:gridCol w="936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78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126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35148">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Bourgogne Pinot Noir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8" name="Shape 12"/>
          <p:cNvSpPr/>
          <p:nvPr/>
        </p:nvSpPr>
        <p:spPr>
          <a:xfrm>
            <a:off x="828000" y="4704142"/>
            <a:ext cx="0" cy="288349"/>
          </a:xfrm>
          <a:prstGeom prst="line">
            <a:avLst/>
          </a:prstGeom>
          <a:noFill/>
          <a:ln w="17780">
            <a:solidFill>
              <a:srgbClr val="67067C"/>
            </a:solidFill>
            <a:prstDash val="solid"/>
          </a:ln>
        </p:spPr>
      </p:sp>
      <p:sp>
        <p:nvSpPr>
          <p:cNvPr id="19" name="Text 13"/>
          <p:cNvSpPr/>
          <p:nvPr/>
        </p:nvSpPr>
        <p:spPr>
          <a:xfrm>
            <a:off x="936000" y="4704142"/>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Prix de la bouteille H.T. Franco de port.</a:t>
            </a:r>
            <a:endParaRPr lang="en-US" sz="1050" dirty="0"/>
          </a:p>
        </p:txBody>
      </p:sp>
      <p:sp>
        <p:nvSpPr>
          <p:cNvPr id="20" name="Text 14"/>
          <p:cNvSpPr/>
          <p:nvPr/>
        </p:nvSpPr>
        <p:spPr>
          <a:xfrm>
            <a:off x="828000" y="5136491"/>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21" name="Image 3" descr="/home/user/philippe1/build/deco-salon-prive-2026/sol-bourgogne.png">    </p:cNvPr>
          <p:cNvPicPr>
            <a:picLocks noChangeAspect="1"/>
          </p:cNvPicPr>
          <p:nvPr/>
        </p:nvPicPr>
        <p:blipFill>
          <a:blip r:embed="rId4"/>
          <a:stretch>
            <a:fillRect/>
          </a:stretch>
        </p:blipFill>
        <p:spPr>
          <a:xfrm>
            <a:off x="828000" y="5284091"/>
            <a:ext cx="6120000" cy="1372326"/>
          </a:xfrm>
          <a:prstGeom prst="rect">
            <a:avLst/>
          </a:prstGeom>
        </p:spPr>
      </p:pic>
      <p:sp>
        <p:nvSpPr>
          <p:cNvPr id="22" name="Text 15"/>
          <p:cNvSpPr/>
          <p:nvPr/>
        </p:nvSpPr>
        <p:spPr>
          <a:xfrm>
            <a:off x="828000" y="8136000"/>
            <a:ext cx="6120000" cy="1980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Maison André Goichot, Château du Cray et Domaine Les Guignottes — Maison et Domaine André Goichot, stand 26 p. 16 · Château du Cray, stand 26 p. 17</a:t>
            </a:r>
            <a:endParaRPr lang="en-US" sz="740" dirty="0"/>
          </a:p>
        </p:txBody>
      </p:sp>
      <p:sp>
        <p:nvSpPr>
          <p:cNvPr id="23" name="Shape 16"/>
          <p:cNvSpPr/>
          <p:nvPr/>
        </p:nvSpPr>
        <p:spPr>
          <a:xfrm>
            <a:off x="828000" y="8388000"/>
            <a:ext cx="6120000" cy="0"/>
          </a:xfrm>
          <a:prstGeom prst="line">
            <a:avLst/>
          </a:prstGeom>
          <a:noFill/>
          <a:ln w="8890">
            <a:solidFill>
              <a:srgbClr val="46606E"/>
            </a:solidFill>
            <a:prstDash val="solid"/>
          </a:ln>
        </p:spPr>
      </p:sp>
      <p:sp>
        <p:nvSpPr>
          <p:cNvPr id="24" name="Text 17"/>
          <p:cNvSpPr/>
          <p:nvPr/>
        </p:nvSpPr>
        <p:spPr>
          <a:xfrm>
            <a:off x="828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56 · 85</a:t>
            </a:r>
            <a:endParaRPr lang="en-US" sz="720" dirty="0"/>
          </a:p>
        </p:txBody>
      </p:sp>
      <p:sp>
        <p:nvSpPr>
          <p:cNvPr id="25" name="Text 18"/>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Rouge     pictos de l’Agence SCIO, pas les logos officiels</a:t>
            </a:r>
            <a:endParaRPr lang="en-US" sz="650" dirty="0"/>
          </a:p>
        </p:txBody>
      </p:sp>
      <p:sp>
        <p:nvSpPr>
          <p:cNvPr id="26" name="Text 19"/>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18</a:t>
            </a:r>
            <a:endParaRPr lang="en-US" sz="750" dirty="0"/>
          </a:p>
        </p:txBody>
      </p:sp>
      <p:sp>
        <p:nvSpPr>
          <p:cNvPr id="27" name="Text 20"/>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bourgo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Shape 1"/>
          <p:cNvSpPr/>
          <p:nvPr/>
        </p:nvSpPr>
        <p:spPr>
          <a:xfrm>
            <a:off x="612000" y="667894"/>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612000" y="667894"/>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5</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Blanche</a:t>
            </a:r>
            <a:endParaRPr lang="en-US" sz="700" dirty="0"/>
          </a:p>
        </p:txBody>
      </p:sp>
      <p:sp>
        <p:nvSpPr>
          <p:cNvPr id="6" name="Text 3"/>
          <p:cNvSpPr/>
          <p:nvPr/>
        </p:nvSpPr>
        <p:spPr>
          <a:xfrm>
            <a:off x="1440000" y="540000"/>
            <a:ext cx="4068000" cy="774188"/>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Domaine des Verchères</a:t>
            </a:r>
            <a:endParaRPr lang="en-US" sz="2000" dirty="0"/>
          </a:p>
        </p:txBody>
      </p:sp>
      <p:sp>
        <p:nvSpPr>
          <p:cNvPr id="7" name="Text 4"/>
          <p:cNvSpPr/>
          <p:nvPr/>
        </p:nvSpPr>
        <p:spPr>
          <a:xfrm>
            <a:off x="5292000" y="540000"/>
            <a:ext cx="1440000" cy="774188"/>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8" name="Shape 5"/>
          <p:cNvSpPr/>
          <p:nvPr/>
        </p:nvSpPr>
        <p:spPr>
          <a:xfrm>
            <a:off x="612000" y="1332188"/>
            <a:ext cx="6120000" cy="0"/>
          </a:xfrm>
          <a:prstGeom prst="line">
            <a:avLst/>
          </a:prstGeom>
          <a:noFill/>
          <a:ln w="17780">
            <a:solidFill>
              <a:srgbClr val="67067C"/>
            </a:solidFill>
            <a:prstDash val="solid"/>
          </a:ln>
        </p:spPr>
      </p:sp>
      <p:sp>
        <p:nvSpPr>
          <p:cNvPr id="9" name="Shape 6"/>
          <p:cNvSpPr/>
          <p:nvPr/>
        </p:nvSpPr>
        <p:spPr>
          <a:xfrm>
            <a:off x="612000" y="1425788"/>
            <a:ext cx="528148"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hve.png">    </p:cNvPr>
          <p:cNvPicPr>
            <a:picLocks noChangeAspect="1"/>
          </p:cNvPicPr>
          <p:nvPr/>
        </p:nvPicPr>
        <p:blipFill>
          <a:blip r:embed="rId2"/>
          <a:stretch>
            <a:fillRect/>
          </a:stretch>
        </p:blipFill>
        <p:spPr>
          <a:xfrm>
            <a:off x="684000" y="1461788"/>
            <a:ext cx="108000" cy="108000"/>
          </a:xfrm>
          <a:prstGeom prst="rect">
            <a:avLst/>
          </a:prstGeom>
        </p:spPr>
      </p:pic>
      <p:sp>
        <p:nvSpPr>
          <p:cNvPr id="11" name="Text 7"/>
          <p:cNvSpPr/>
          <p:nvPr/>
        </p:nvSpPr>
        <p:spPr>
          <a:xfrm>
            <a:off x="759600" y="1425788"/>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2" name="Shape 8"/>
          <p:cNvSpPr/>
          <p:nvPr/>
        </p:nvSpPr>
        <p:spPr>
          <a:xfrm>
            <a:off x="1219348" y="1425788"/>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219348" y="1425788"/>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2684022" y="1425788"/>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684022" y="1425788"/>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5 vins à la dégustation</a:t>
            </a:r>
            <a:endParaRPr lang="en-US" sz="720" dirty="0"/>
          </a:p>
        </p:txBody>
      </p:sp>
      <p:pic>
        <p:nvPicPr>
          <p:cNvPr id="16" name="Image 2" descr="portrait du vigneron — Domaine des Verchères">    </p:cNvPr>
          <p:cNvPicPr>
            <a:picLocks noChangeAspect="1"/>
          </p:cNvPicPr>
          <p:nvPr/>
        </p:nvPicPr>
        <p:blipFill>
          <a:blip r:embed="rId3"/>
          <a:stretch>
            <a:fillRect/>
          </a:stretch>
        </p:blipFill>
        <p:spPr>
          <a:xfrm>
            <a:off x="612000" y="1735388"/>
            <a:ext cx="1440000" cy="1440000"/>
          </a:xfrm>
          <a:prstGeom prst="rect">
            <a:avLst/>
          </a:prstGeom>
        </p:spPr>
      </p:pic>
      <p:pic>
        <p:nvPicPr>
          <p:cNvPr id="17" name="Image 3" descr="Une bouteille du domaine Domaine des Verchères">    </p:cNvPr>
          <p:cNvPicPr>
            <a:picLocks noChangeAspect="1"/>
          </p:cNvPicPr>
          <p:nvPr/>
        </p:nvPicPr>
        <p:blipFill>
          <a:blip r:embed="rId4"/>
          <a:stretch>
            <a:fillRect/>
          </a:stretch>
        </p:blipFill>
        <p:spPr>
          <a:xfrm>
            <a:off x="6024049" y="1735388"/>
            <a:ext cx="551902" cy="2232000"/>
          </a:xfrm>
          <a:prstGeom prst="rect">
            <a:avLst/>
          </a:prstGeom>
        </p:spPr>
      </p:pic>
      <p:sp>
        <p:nvSpPr>
          <p:cNvPr id="18" name="Text 12"/>
          <p:cNvSpPr/>
          <p:nvPr/>
        </p:nvSpPr>
        <p:spPr>
          <a:xfrm>
            <a:off x="2178017" y="1726067"/>
            <a:ext cx="251358" cy="451104"/>
          </a:xfrm>
          <a:prstGeom prst="rect">
            <a:avLst/>
          </a:prstGeom>
          <a:noFill/>
          <a:ln/>
        </p:spPr>
        <p:txBody>
          <a:bodyPr wrap="square" lIns="0" tIns="0" rIns="0" bIns="0" rtlCol="0" anchor="t"/>
          <a:lstStyle/>
          <a:p>
            <a:pPr algn="r" indent="0" marL="0">
              <a:lnSpc>
                <a:spcPct val="125000"/>
              </a:lnSpc>
              <a:buNone/>
            </a:pPr>
            <a:r>
              <a:rPr lang="en-US" sz="2220" dirty="0">
                <a:solidFill>
                  <a:srgbClr val="67067C"/>
                </a:solidFill>
                <a:latin typeface="Young Serif" pitchFamily="34" charset="0"/>
                <a:ea typeface="Young Serif" pitchFamily="34" charset="-122"/>
                <a:cs typeface="Young Serif" pitchFamily="34" charset="-120"/>
              </a:rPr>
              <a:t>P</a:t>
            </a:r>
            <a:endParaRPr lang="en-US" sz="2220" dirty="0"/>
          </a:p>
        </p:txBody>
      </p:sp>
      <p:sp>
        <p:nvSpPr>
          <p:cNvPr id="19" name="Text 13"/>
          <p:cNvSpPr/>
          <p:nvPr/>
        </p:nvSpPr>
        <p:spPr>
          <a:xfrm>
            <a:off x="2232000" y="1844456"/>
            <a:ext cx="3456000" cy="2122832"/>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ropriété familiale transmise depuis sept générations, établie à Mancey au cœur du Mâconnais. Certifié HVE, le domaine limite rigoureusement ses intrants pour préserver la vie des sols et alimente sa cave en énergie solaire, pour des vins purs, gourmands et équilibrés.</a:t>
            </a:r>
            <a:endParaRPr lang="en-US" sz="13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612000" y="4129288"/>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180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Mâcon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Mâcon Chardonnay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Mâcon Mancey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Mâcon Mancey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Mâcon Mancey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Mâcon Mancey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3991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Bourgogne Passe-Tout-Grain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2264">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Bulles du Puits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612000" y="6171885"/>
            <a:ext cx="0" cy="288349"/>
          </a:xfrm>
          <a:prstGeom prst="line">
            <a:avLst/>
          </a:prstGeom>
          <a:noFill/>
          <a:ln w="17780">
            <a:solidFill>
              <a:srgbClr val="67067C"/>
            </a:solidFill>
            <a:prstDash val="solid"/>
          </a:ln>
        </p:spPr>
      </p:sp>
      <p:sp>
        <p:nvSpPr>
          <p:cNvPr id="22" name="Text 15"/>
          <p:cNvSpPr/>
          <p:nvPr/>
        </p:nvSpPr>
        <p:spPr>
          <a:xfrm>
            <a:off x="720000" y="6171885"/>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départ chai.</a:t>
            </a:r>
            <a:endParaRPr lang="en-US" sz="1050" dirty="0"/>
          </a:p>
        </p:txBody>
      </p:sp>
      <p:sp>
        <p:nvSpPr>
          <p:cNvPr id="23" name="Text 16"/>
          <p:cNvSpPr/>
          <p:nvPr/>
        </p:nvSpPr>
        <p:spPr>
          <a:xfrm>
            <a:off x="612000" y="6604234"/>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24" name="Image 4" descr="/home/user/philippe1/build/deco-salon-prive-2026/sol-bourgogne.png">    </p:cNvPr>
          <p:cNvPicPr>
            <a:picLocks noChangeAspect="1"/>
          </p:cNvPicPr>
          <p:nvPr/>
        </p:nvPicPr>
        <p:blipFill>
          <a:blip r:embed="rId5"/>
          <a:stretch>
            <a:fillRect/>
          </a:stretch>
        </p:blipFill>
        <p:spPr>
          <a:xfrm>
            <a:off x="612000" y="6751834"/>
            <a:ext cx="6120000" cy="1148400"/>
          </a:xfrm>
          <a:prstGeom prst="rect">
            <a:avLst/>
          </a:prstGeom>
        </p:spPr>
      </p:pic>
      <p:sp>
        <p:nvSpPr>
          <p:cNvPr id="25" name="Shape 17"/>
          <p:cNvSpPr/>
          <p:nvPr/>
        </p:nvSpPr>
        <p:spPr>
          <a:xfrm>
            <a:off x="612000" y="8388000"/>
            <a:ext cx="6120000" cy="0"/>
          </a:xfrm>
          <a:prstGeom prst="line">
            <a:avLst/>
          </a:prstGeom>
          <a:noFill/>
          <a:ln w="8890">
            <a:solidFill>
              <a:srgbClr val="46606E"/>
            </a:solidFill>
            <a:prstDash val="solid"/>
          </a:ln>
        </p:spPr>
      </p:sp>
      <p:sp>
        <p:nvSpPr>
          <p:cNvPr id="26" name="Text 18"/>
          <p:cNvSpPr/>
          <p:nvPr/>
        </p:nvSpPr>
        <p:spPr>
          <a:xfrm>
            <a:off x="612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7" name="Text 19"/>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 Autre     pictos de l’Agence SCIO, pas les logos officiels</a:t>
            </a:r>
            <a:endParaRPr lang="en-US" sz="650" dirty="0"/>
          </a:p>
        </p:txBody>
      </p:sp>
      <p:sp>
        <p:nvSpPr>
          <p:cNvPr id="28" name="Text 20"/>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19</a:t>
            </a:r>
            <a:endParaRPr lang="en-US" sz="750" dirty="0"/>
          </a:p>
        </p:txBody>
      </p:sp>
      <p:sp>
        <p:nvSpPr>
          <p:cNvPr id="29" name="Text 21"/>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46606E"/>
        </a:solidFill>
      </p:bgPr>
    </p:bg>
    <p:spTree>
      <p:nvGrpSpPr>
        <p:cNvPr id="1" name=""/>
        <p:cNvGrpSpPr/>
        <p:nvPr/>
      </p:nvGrpSpPr>
      <p:grpSpPr>
        <a:xfrm>
          <a:off x="0" y="0"/>
          <a:ext cx="0" cy="0"/>
          <a:chOff x="0" y="0"/>
          <a:chExt cx="0" cy="0"/>
        </a:xfrm>
      </p:grpSpPr>
      <p:pic>
        <p:nvPicPr>
          <p:cNvPr id="2" name="Image 0" descr="/home/user/philippe1/build/deco-salon-prive-2026/ouverture-rhone.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salon-prive-2026/carotte-rhone.png">    </p:cNvPr>
          <p:cNvPicPr>
            <a:picLocks noChangeAspect="1"/>
          </p:cNvPicPr>
          <p:nvPr/>
        </p:nvPicPr>
        <p:blipFill>
          <a:blip r:embed="rId2"/>
          <a:stretch>
            <a:fillRect/>
          </a:stretch>
        </p:blipFill>
        <p:spPr>
          <a:xfrm>
            <a:off x="0" y="0"/>
            <a:ext cx="324000" cy="9360000"/>
          </a:xfrm>
          <a:prstGeom prst="rect">
            <a:avLst/>
          </a:prstGeom>
        </p:spPr>
      </p:pic>
      <p:sp>
        <p:nvSpPr>
          <p:cNvPr id="4"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5" name="Text 1"/>
          <p:cNvSpPr/>
          <p:nvPr/>
        </p:nvSpPr>
        <p:spPr>
          <a:xfrm>
            <a:off x="828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4 / 9</a:t>
            </a:r>
            <a:endParaRPr lang="en-US" sz="800" dirty="0"/>
          </a:p>
        </p:txBody>
      </p:sp>
      <p:sp>
        <p:nvSpPr>
          <p:cNvPr id="6" name="Text 2"/>
          <p:cNvSpPr/>
          <p:nvPr/>
        </p:nvSpPr>
        <p:spPr>
          <a:xfrm>
            <a:off x="828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Rhône</a:t>
            </a:r>
            <a:endParaRPr lang="en-US" sz="4600" dirty="0"/>
          </a:p>
        </p:txBody>
      </p:sp>
      <p:sp>
        <p:nvSpPr>
          <p:cNvPr id="7" name="Text 3"/>
          <p:cNvSpPr/>
          <p:nvPr/>
        </p:nvSpPr>
        <p:spPr>
          <a:xfrm>
            <a:off x="828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sables, grès et Trias</a:t>
            </a:r>
            <a:endParaRPr lang="en-US" sz="1200" dirty="0"/>
          </a:p>
        </p:txBody>
      </p:sp>
      <p:sp>
        <p:nvSpPr>
          <p:cNvPr id="8" name="Text 4"/>
          <p:cNvSpPr/>
          <p:nvPr/>
        </p:nvSpPr>
        <p:spPr>
          <a:xfrm>
            <a:off x="828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5</a:t>
            </a:r>
            <a:endParaRPr lang="en-US" sz="2000" dirty="0"/>
          </a:p>
        </p:txBody>
      </p:sp>
      <p:sp>
        <p:nvSpPr>
          <p:cNvPr id="9" name="Text 5"/>
          <p:cNvSpPr/>
          <p:nvPr/>
        </p:nvSpPr>
        <p:spPr>
          <a:xfrm>
            <a:off x="828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domaines</a:t>
            </a:r>
            <a:endParaRPr lang="en-US" sz="850" dirty="0"/>
          </a:p>
        </p:txBody>
      </p:sp>
      <p:sp>
        <p:nvSpPr>
          <p:cNvPr id="10" name="Text 6"/>
          <p:cNvSpPr/>
          <p:nvPr/>
        </p:nvSpPr>
        <p:spPr>
          <a:xfrm>
            <a:off x="1836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22</a:t>
            </a:r>
            <a:endParaRPr lang="en-US" sz="2000" dirty="0"/>
          </a:p>
        </p:txBody>
      </p:sp>
      <p:sp>
        <p:nvSpPr>
          <p:cNvPr id="11" name="Text 7"/>
          <p:cNvSpPr/>
          <p:nvPr/>
        </p:nvSpPr>
        <p:spPr>
          <a:xfrm>
            <a:off x="1836000" y="6660000"/>
            <a:ext cx="1620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vins à la dégustation</a:t>
            </a:r>
            <a:endParaRPr lang="en-US" sz="850" dirty="0"/>
          </a:p>
        </p:txBody>
      </p:sp>
      <p:sp>
        <p:nvSpPr>
          <p:cNvPr id="12" name="Text 8"/>
          <p:cNvSpPr/>
          <p:nvPr/>
        </p:nvSpPr>
        <p:spPr>
          <a:xfrm>
            <a:off x="828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7   </a:t>
            </a:r>
            <a:r>
              <a:rPr lang="en-US" sz="860" dirty="0">
                <a:solidFill>
                  <a:srgbClr val="FBF8F1"/>
                </a:solidFill>
                <a:latin typeface="IBM Plex Sans" pitchFamily="34" charset="0"/>
                <a:ea typeface="IBM Plex Sans" pitchFamily="34" charset="-122"/>
                <a:cs typeface="IBM Plex Sans" pitchFamily="34" charset="-120"/>
              </a:rPr>
              <a:t>Domaine Le Prieuré des Papes</a:t>
            </a:r>
            <a:r>
              <a:rPr lang="en-US" sz="860" b="1" dirty="0">
                <a:solidFill>
                  <a:srgbClr val="FBF8F1"/>
                </a:solidFill>
                <a:latin typeface="IBM Plex Sans" pitchFamily="34" charset="0"/>
                <a:ea typeface="IBM Plex Sans" pitchFamily="34" charset="-122"/>
                <a:cs typeface="IBM Plex Sans" pitchFamily="34" charset="-120"/>
              </a:rPr>
              <a:t>   21</a:t>
            </a:r>
            <a:endParaRPr lang="en-US" sz="860" dirty="0"/>
          </a:p>
        </p:txBody>
      </p:sp>
      <p:sp>
        <p:nvSpPr>
          <p:cNvPr id="13" name="Text 9"/>
          <p:cNvSpPr/>
          <p:nvPr/>
        </p:nvSpPr>
        <p:spPr>
          <a:xfrm>
            <a:off x="3888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7   </a:t>
            </a:r>
            <a:r>
              <a:rPr lang="en-US" sz="860" dirty="0">
                <a:solidFill>
                  <a:srgbClr val="FBF8F1"/>
                </a:solidFill>
                <a:latin typeface="IBM Plex Sans" pitchFamily="34" charset="0"/>
                <a:ea typeface="IBM Plex Sans" pitchFamily="34" charset="-122"/>
                <a:cs typeface="IBM Plex Sans" pitchFamily="34" charset="-120"/>
              </a:rPr>
              <a:t>Domaine de Coyeux</a:t>
            </a:r>
            <a:r>
              <a:rPr lang="en-US" sz="860" b="1" dirty="0">
                <a:solidFill>
                  <a:srgbClr val="FBF8F1"/>
                </a:solidFill>
                <a:latin typeface="IBM Plex Sans" pitchFamily="34" charset="0"/>
                <a:ea typeface="IBM Plex Sans" pitchFamily="34" charset="-122"/>
                <a:cs typeface="IBM Plex Sans" pitchFamily="34" charset="-120"/>
              </a:rPr>
              <a:t>   22</a:t>
            </a:r>
            <a:endParaRPr lang="en-US" sz="860" dirty="0"/>
          </a:p>
        </p:txBody>
      </p:sp>
      <p:sp>
        <p:nvSpPr>
          <p:cNvPr id="14" name="Text 10"/>
          <p:cNvSpPr/>
          <p:nvPr/>
        </p:nvSpPr>
        <p:spPr>
          <a:xfrm>
            <a:off x="828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7   </a:t>
            </a:r>
            <a:r>
              <a:rPr lang="en-US" sz="860" dirty="0">
                <a:solidFill>
                  <a:srgbClr val="FBF8F1"/>
                </a:solidFill>
                <a:latin typeface="IBM Plex Sans" pitchFamily="34" charset="0"/>
                <a:ea typeface="IBM Plex Sans" pitchFamily="34" charset="-122"/>
                <a:cs typeface="IBM Plex Sans" pitchFamily="34" charset="-120"/>
              </a:rPr>
              <a:t>Domaine du Moulin Blanc</a:t>
            </a:r>
            <a:r>
              <a:rPr lang="en-US" sz="860" b="1" dirty="0">
                <a:solidFill>
                  <a:srgbClr val="FBF8F1"/>
                </a:solidFill>
                <a:latin typeface="IBM Plex Sans" pitchFamily="34" charset="0"/>
                <a:ea typeface="IBM Plex Sans" pitchFamily="34" charset="-122"/>
                <a:cs typeface="IBM Plex Sans" pitchFamily="34" charset="-120"/>
              </a:rPr>
              <a:t>   23</a:t>
            </a:r>
            <a:endParaRPr lang="en-US" sz="860" dirty="0"/>
          </a:p>
        </p:txBody>
      </p:sp>
      <p:sp>
        <p:nvSpPr>
          <p:cNvPr id="15" name="Text 11"/>
          <p:cNvSpPr/>
          <p:nvPr/>
        </p:nvSpPr>
        <p:spPr>
          <a:xfrm>
            <a:off x="3888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7   </a:t>
            </a:r>
            <a:r>
              <a:rPr lang="en-US" sz="860" dirty="0">
                <a:solidFill>
                  <a:srgbClr val="FBF8F1"/>
                </a:solidFill>
                <a:latin typeface="IBM Plex Sans" pitchFamily="34" charset="0"/>
                <a:ea typeface="IBM Plex Sans" pitchFamily="34" charset="-122"/>
                <a:cs typeface="IBM Plex Sans" pitchFamily="34" charset="-120"/>
              </a:rPr>
              <a:t>Domaine de la Pousterle</a:t>
            </a:r>
            <a:r>
              <a:rPr lang="en-US" sz="860" b="1" dirty="0">
                <a:solidFill>
                  <a:srgbClr val="FBF8F1"/>
                </a:solidFill>
                <a:latin typeface="IBM Plex Sans" pitchFamily="34" charset="0"/>
                <a:ea typeface="IBM Plex Sans" pitchFamily="34" charset="-122"/>
                <a:cs typeface="IBM Plex Sans" pitchFamily="34" charset="-120"/>
              </a:rPr>
              <a:t>   24</a:t>
            </a:r>
            <a:endParaRPr lang="en-US" sz="860" dirty="0"/>
          </a:p>
        </p:txBody>
      </p:sp>
      <p:sp>
        <p:nvSpPr>
          <p:cNvPr id="16" name="Text 12"/>
          <p:cNvSpPr/>
          <p:nvPr/>
        </p:nvSpPr>
        <p:spPr>
          <a:xfrm>
            <a:off x="828000" y="7632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12   </a:t>
            </a:r>
            <a:r>
              <a:rPr lang="en-US" sz="860" dirty="0">
                <a:solidFill>
                  <a:srgbClr val="FBF8F1"/>
                </a:solidFill>
                <a:latin typeface="IBM Plex Sans" pitchFamily="34" charset="0"/>
                <a:ea typeface="IBM Plex Sans" pitchFamily="34" charset="-122"/>
                <a:cs typeface="IBM Plex Sans" pitchFamily="34" charset="-120"/>
              </a:rPr>
              <a:t>Domaine Trichon</a:t>
            </a:r>
            <a:r>
              <a:rPr lang="en-US" sz="860" b="1" dirty="0">
                <a:solidFill>
                  <a:srgbClr val="FBF8F1"/>
                </a:solidFill>
                <a:latin typeface="IBM Plex Sans" pitchFamily="34" charset="0"/>
                <a:ea typeface="IBM Plex Sans" pitchFamily="34" charset="-122"/>
                <a:cs typeface="IBM Plex Sans" pitchFamily="34" charset="-120"/>
              </a:rPr>
              <a:t>   25</a:t>
            </a:r>
            <a:endParaRPr lang="en-US" sz="860" dirty="0"/>
          </a:p>
        </p:txBody>
      </p:sp>
      <p:sp>
        <p:nvSpPr>
          <p:cNvPr id="17" name="Text 13"/>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20</a:t>
            </a:r>
            <a:endParaRPr lang="en-US" sz="750" dirty="0"/>
          </a:p>
        </p:txBody>
      </p:sp>
      <p:sp>
        <p:nvSpPr>
          <p:cNvPr id="18" name="Text 14"/>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rho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Shape 1"/>
          <p:cNvSpPr/>
          <p:nvPr/>
        </p:nvSpPr>
        <p:spPr>
          <a:xfrm>
            <a:off x="612000" y="667894"/>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612000" y="667894"/>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7</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440000" y="540000"/>
            <a:ext cx="4068000" cy="774188"/>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Domaine Le Prieuré des Papes</a:t>
            </a:r>
            <a:endParaRPr lang="en-US" sz="2000" dirty="0"/>
          </a:p>
        </p:txBody>
      </p:sp>
      <p:sp>
        <p:nvSpPr>
          <p:cNvPr id="7" name="Text 4"/>
          <p:cNvSpPr/>
          <p:nvPr/>
        </p:nvSpPr>
        <p:spPr>
          <a:xfrm>
            <a:off x="5292000" y="540000"/>
            <a:ext cx="1440000" cy="774188"/>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8" name="Shape 5"/>
          <p:cNvSpPr/>
          <p:nvPr/>
        </p:nvSpPr>
        <p:spPr>
          <a:xfrm>
            <a:off x="612000" y="1332188"/>
            <a:ext cx="6120000" cy="0"/>
          </a:xfrm>
          <a:prstGeom prst="line">
            <a:avLst/>
          </a:prstGeom>
          <a:noFill/>
          <a:ln w="17780">
            <a:solidFill>
              <a:srgbClr val="67067C"/>
            </a:solidFill>
            <a:prstDash val="solid"/>
          </a:ln>
        </p:spPr>
      </p:sp>
      <p:sp>
        <p:nvSpPr>
          <p:cNvPr id="9" name="Shape 6"/>
          <p:cNvSpPr/>
          <p:nvPr/>
        </p:nvSpPr>
        <p:spPr>
          <a:xfrm>
            <a:off x="612000" y="1425788"/>
            <a:ext cx="1101294"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conversion.png">    </p:cNvPr>
          <p:cNvPicPr>
            <a:picLocks noChangeAspect="1"/>
          </p:cNvPicPr>
          <p:nvPr/>
        </p:nvPicPr>
        <p:blipFill>
          <a:blip r:embed="rId2"/>
          <a:stretch>
            <a:fillRect/>
          </a:stretch>
        </p:blipFill>
        <p:spPr>
          <a:xfrm>
            <a:off x="684000" y="1461788"/>
            <a:ext cx="108000" cy="108000"/>
          </a:xfrm>
          <a:prstGeom prst="rect">
            <a:avLst/>
          </a:prstGeom>
        </p:spPr>
      </p:pic>
      <p:sp>
        <p:nvSpPr>
          <p:cNvPr id="11" name="Text 7"/>
          <p:cNvSpPr/>
          <p:nvPr/>
        </p:nvSpPr>
        <p:spPr>
          <a:xfrm>
            <a:off x="759600" y="1425788"/>
            <a:ext cx="95369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En conversion Bio</a:t>
            </a:r>
            <a:endParaRPr lang="en-US" sz="720" dirty="0"/>
          </a:p>
        </p:txBody>
      </p:sp>
      <p:sp>
        <p:nvSpPr>
          <p:cNvPr id="12" name="Shape 8"/>
          <p:cNvSpPr/>
          <p:nvPr/>
        </p:nvSpPr>
        <p:spPr>
          <a:xfrm>
            <a:off x="1792494" y="1425788"/>
            <a:ext cx="1352190"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792494" y="1425788"/>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4" name="Shape 10"/>
          <p:cNvSpPr/>
          <p:nvPr/>
        </p:nvSpPr>
        <p:spPr>
          <a:xfrm>
            <a:off x="3223884" y="1425788"/>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223884" y="1425788"/>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4 vins à la dégustation</a:t>
            </a:r>
            <a:endParaRPr lang="en-US" sz="720" dirty="0"/>
          </a:p>
        </p:txBody>
      </p:sp>
      <p:pic>
        <p:nvPicPr>
          <p:cNvPr id="16" name="Image 2" descr="logo du domaine — Domaine Le Prieuré des Papes">    </p:cNvPr>
          <p:cNvPicPr>
            <a:picLocks noChangeAspect="1"/>
          </p:cNvPicPr>
          <p:nvPr/>
        </p:nvPicPr>
        <p:blipFill>
          <a:blip r:embed="rId3"/>
          <a:stretch>
            <a:fillRect/>
          </a:stretch>
        </p:blipFill>
        <p:spPr>
          <a:xfrm>
            <a:off x="612000" y="1735388"/>
            <a:ext cx="1440000" cy="1440000"/>
          </a:xfrm>
          <a:prstGeom prst="rect">
            <a:avLst/>
          </a:prstGeom>
        </p:spPr>
      </p:pic>
      <p:pic>
        <p:nvPicPr>
          <p:cNvPr id="17" name="Image 3" descr="Une bouteille du domaine Domaine Le Prieuré des Papes">    </p:cNvPr>
          <p:cNvPicPr>
            <a:picLocks noChangeAspect="1"/>
          </p:cNvPicPr>
          <p:nvPr/>
        </p:nvPicPr>
        <p:blipFill>
          <a:blip r:embed="rId4"/>
          <a:stretch>
            <a:fillRect/>
          </a:stretch>
        </p:blipFill>
        <p:spPr>
          <a:xfrm>
            <a:off x="6011852" y="1735388"/>
            <a:ext cx="576295" cy="2232000"/>
          </a:xfrm>
          <a:prstGeom prst="rect">
            <a:avLst/>
          </a:prstGeom>
        </p:spPr>
      </p:pic>
      <p:sp>
        <p:nvSpPr>
          <p:cNvPr id="18" name="Text 12"/>
          <p:cNvSpPr/>
          <p:nvPr/>
        </p:nvSpPr>
        <p:spPr>
          <a:xfrm>
            <a:off x="2178049" y="1568325"/>
            <a:ext cx="165601" cy="227178"/>
          </a:xfrm>
          <a:prstGeom prst="rect">
            <a:avLst/>
          </a:prstGeom>
          <a:noFill/>
          <a:ln/>
        </p:spPr>
        <p:txBody>
          <a:bodyPr wrap="square" lIns="0" tIns="0" rIns="0" bIns="0" rtlCol="0" anchor="t"/>
          <a:lstStyle/>
          <a:p>
            <a:pPr algn="r" indent="0" marL="0">
              <a:lnSpc>
                <a:spcPct val="134200"/>
              </a:lnSpc>
              <a:buNone/>
            </a:pPr>
            <a:r>
              <a:rPr lang="en-US" sz="1118" dirty="0">
                <a:solidFill>
                  <a:srgbClr val="67067C"/>
                </a:solidFill>
                <a:latin typeface="Young Serif" pitchFamily="34" charset="0"/>
                <a:ea typeface="Young Serif" pitchFamily="34" charset="-122"/>
                <a:cs typeface="Young Serif" pitchFamily="34" charset="-120"/>
              </a:rPr>
              <a:t>A</a:t>
            </a:r>
            <a:endParaRPr lang="en-US" sz="1118" dirty="0"/>
          </a:p>
        </p:txBody>
      </p:sp>
      <p:sp>
        <p:nvSpPr>
          <p:cNvPr id="19" name="Text 13"/>
          <p:cNvSpPr/>
          <p:nvPr/>
        </p:nvSpPr>
        <p:spPr>
          <a:xfrm>
            <a:off x="2232000" y="1595917"/>
            <a:ext cx="3456000" cy="2492071"/>
          </a:xfrm>
          <a:prstGeom prst="rect">
            <a:avLst/>
          </a:prstGeom>
          <a:noFill/>
          <a:ln/>
        </p:spPr>
        <p:txBody>
          <a:bodyPr wrap="square" lIns="0" tIns="0" rIns="0" bIns="0" rtlCol="0" anchor="t"/>
          <a:lstStyle/>
          <a:p>
            <a:pPr indent="0" marL="0">
              <a:lnSpc>
                <a:spcPct val="136000"/>
              </a:lnSpc>
              <a:buNone/>
            </a:pPr>
            <a:r>
              <a:rPr lang="en-US" sz="950" dirty="0">
                <a:solidFill>
                  <a:srgbClr val="46606E"/>
                </a:solidFill>
                <a:latin typeface="Spectral" pitchFamily="34" charset="0"/>
                <a:ea typeface="Spectral" pitchFamily="34" charset="-122"/>
                <a:cs typeface="Spectral" pitchFamily="34" charset="-120"/>
              </a:rPr>
              <a:t>    u nord de l’appellation Châteauneuf-du-Pape, dans le quartier de Cabrières, le domaine du Prieuré des Papes compte 12 hectares de vignes étendues sur des sols de sable. S’ajoutent à cela, 8 hectares répartis entre Côtes du Rhône sur le terroir du Grès. Le nom de domaine a été choisi en référence au bâtiment emblématique du village de Châteauneuf du Pape situé au pied du Château et ancienne résidence papale. La majorité de nos vins sont des vins rouges avec une dominance de grenache. Nous produisons un Châteauneuf du Pape blanc confidentiel sur une parcelle de moins d’un hectare. Notre vignoble, certifié Agriculture Biologique, bénéficie d’un environnement doux et préservé offrant aux vins une chair déliée et de grand raffinement.</a:t>
            </a:r>
            <a:endParaRPr lang="en-US" sz="95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612000" y="4249988"/>
          <a:ext cx="6120000" cy="914400"/>
        </p:xfrm>
        <a:graphic>
          <a:graphicData uri="http://schemas.openxmlformats.org/drawingml/2006/table">
            <a:tbl>
              <a:tblPr/>
              <a:tblGrid>
                <a:gridCol w="216000"/>
                <a:gridCol w="2988000"/>
                <a:gridCol w="540000"/>
                <a:gridCol w="504000"/>
                <a:gridCol w="936000"/>
                <a:gridCol w="936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Palette</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Côtes du Rhône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 Prieuré</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Châteauneuf-du-Pape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Vieilles Vignes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Châteauneuf-du-Pape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Vieilles Vignes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Châteauneuf-du-Pape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 Couchant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612000" y="6123813"/>
            <a:ext cx="0" cy="288349"/>
          </a:xfrm>
          <a:prstGeom prst="line">
            <a:avLst/>
          </a:prstGeom>
          <a:noFill/>
          <a:ln w="17780">
            <a:solidFill>
              <a:srgbClr val="67067C"/>
            </a:solidFill>
            <a:prstDash val="solid"/>
          </a:ln>
        </p:spPr>
      </p:sp>
      <p:sp>
        <p:nvSpPr>
          <p:cNvPr id="22" name="Text 15"/>
          <p:cNvSpPr/>
          <p:nvPr/>
        </p:nvSpPr>
        <p:spPr>
          <a:xfrm>
            <a:off x="720000" y="6123813"/>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3" name="Text 16"/>
          <p:cNvSpPr/>
          <p:nvPr/>
        </p:nvSpPr>
        <p:spPr>
          <a:xfrm>
            <a:off x="612000" y="6556163"/>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24" name="Image 4" descr="/home/user/philippe1/build/deco-salon-prive-2026/sol-rhone.png">    </p:cNvPr>
          <p:cNvPicPr>
            <a:picLocks noChangeAspect="1"/>
          </p:cNvPicPr>
          <p:nvPr/>
        </p:nvPicPr>
        <p:blipFill>
          <a:blip r:embed="rId5"/>
          <a:stretch>
            <a:fillRect/>
          </a:stretch>
        </p:blipFill>
        <p:spPr>
          <a:xfrm>
            <a:off x="612000" y="6703762"/>
            <a:ext cx="6120000" cy="881939"/>
          </a:xfrm>
          <a:prstGeom prst="rect">
            <a:avLst/>
          </a:prstGeom>
        </p:spPr>
      </p:pic>
      <p:sp>
        <p:nvSpPr>
          <p:cNvPr id="25" name="Text 17"/>
          <p:cNvSpPr/>
          <p:nvPr/>
        </p:nvSpPr>
        <p:spPr>
          <a:xfrm>
            <a:off x="612000" y="8136000"/>
            <a:ext cx="6120000" cy="1980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Les quatre domaines Strasser Radziwill — Domaine de Coyeux, stand 7 p. 22 · Domaine du Moulin Blanc, stand 7 p. 23 · Domaine de la Pousterle, stand 7 p. 24</a:t>
            </a:r>
            <a:endParaRPr lang="en-US" sz="740" dirty="0"/>
          </a:p>
        </p:txBody>
      </p:sp>
      <p:sp>
        <p:nvSpPr>
          <p:cNvPr id="26" name="Shape 18"/>
          <p:cNvSpPr/>
          <p:nvPr/>
        </p:nvSpPr>
        <p:spPr>
          <a:xfrm>
            <a:off x="612000" y="8388000"/>
            <a:ext cx="6120000" cy="0"/>
          </a:xfrm>
          <a:prstGeom prst="line">
            <a:avLst/>
          </a:prstGeom>
          <a:noFill/>
          <a:ln w="8890">
            <a:solidFill>
              <a:srgbClr val="46606E"/>
            </a:solidFill>
            <a:prstDash val="solid"/>
          </a:ln>
        </p:spPr>
      </p:sp>
      <p:sp>
        <p:nvSpPr>
          <p:cNvPr id="27" name="Text 19"/>
          <p:cNvSpPr/>
          <p:nvPr/>
        </p:nvSpPr>
        <p:spPr>
          <a:xfrm>
            <a:off x="612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8" name="Text 20"/>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Rouge     pictos de l’Agence SCIO, pas les logos officiels</a:t>
            </a:r>
            <a:endParaRPr lang="en-US" sz="650" dirty="0"/>
          </a:p>
        </p:txBody>
      </p:sp>
      <p:sp>
        <p:nvSpPr>
          <p:cNvPr id="29" name="Text 21"/>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21</a:t>
            </a:r>
            <a:endParaRPr lang="en-US" sz="750" dirty="0"/>
          </a:p>
        </p:txBody>
      </p:sp>
      <p:sp>
        <p:nvSpPr>
          <p:cNvPr id="30" name="Text 22"/>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rho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Shape 1"/>
          <p:cNvSpPr/>
          <p:nvPr/>
        </p:nvSpPr>
        <p:spPr>
          <a:xfrm>
            <a:off x="828000" y="667894"/>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67894"/>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7</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74188"/>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Domaine de Coyeux</a:t>
            </a:r>
            <a:endParaRPr lang="en-US" sz="2000" dirty="0"/>
          </a:p>
        </p:txBody>
      </p:sp>
      <p:sp>
        <p:nvSpPr>
          <p:cNvPr id="7" name="Text 4"/>
          <p:cNvSpPr/>
          <p:nvPr/>
        </p:nvSpPr>
        <p:spPr>
          <a:xfrm>
            <a:off x="5508000" y="540000"/>
            <a:ext cx="1440000" cy="774188"/>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8" name="Shape 5"/>
          <p:cNvSpPr/>
          <p:nvPr/>
        </p:nvSpPr>
        <p:spPr>
          <a:xfrm>
            <a:off x="828000" y="1332188"/>
            <a:ext cx="6120000" cy="0"/>
          </a:xfrm>
          <a:prstGeom prst="line">
            <a:avLst/>
          </a:prstGeom>
          <a:noFill/>
          <a:ln w="17780">
            <a:solidFill>
              <a:srgbClr val="67067C"/>
            </a:solidFill>
            <a:prstDash val="solid"/>
          </a:ln>
        </p:spPr>
      </p:sp>
      <p:sp>
        <p:nvSpPr>
          <p:cNvPr id="9" name="Shape 6"/>
          <p:cNvSpPr/>
          <p:nvPr/>
        </p:nvSpPr>
        <p:spPr>
          <a:xfrm>
            <a:off x="828000" y="1425788"/>
            <a:ext cx="1101294"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conversion.png">    </p:cNvPr>
          <p:cNvPicPr>
            <a:picLocks noChangeAspect="1"/>
          </p:cNvPicPr>
          <p:nvPr/>
        </p:nvPicPr>
        <p:blipFill>
          <a:blip r:embed="rId2"/>
          <a:stretch>
            <a:fillRect/>
          </a:stretch>
        </p:blipFill>
        <p:spPr>
          <a:xfrm>
            <a:off x="900000" y="1461788"/>
            <a:ext cx="108000" cy="108000"/>
          </a:xfrm>
          <a:prstGeom prst="rect">
            <a:avLst/>
          </a:prstGeom>
        </p:spPr>
      </p:pic>
      <p:sp>
        <p:nvSpPr>
          <p:cNvPr id="11" name="Text 7"/>
          <p:cNvSpPr/>
          <p:nvPr/>
        </p:nvSpPr>
        <p:spPr>
          <a:xfrm>
            <a:off x="975600" y="1425788"/>
            <a:ext cx="95369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En conversion Bio</a:t>
            </a:r>
            <a:endParaRPr lang="en-US" sz="720" dirty="0"/>
          </a:p>
        </p:txBody>
      </p:sp>
      <p:sp>
        <p:nvSpPr>
          <p:cNvPr id="12" name="Shape 8"/>
          <p:cNvSpPr/>
          <p:nvPr/>
        </p:nvSpPr>
        <p:spPr>
          <a:xfrm>
            <a:off x="2008494" y="1425788"/>
            <a:ext cx="1352190"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2008494" y="1425788"/>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4" name="Shape 10"/>
          <p:cNvSpPr/>
          <p:nvPr/>
        </p:nvSpPr>
        <p:spPr>
          <a:xfrm>
            <a:off x="3439884" y="1425788"/>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439884" y="1425788"/>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4 vins à la dégustation</a:t>
            </a:r>
            <a:endParaRPr lang="en-US" sz="720" dirty="0"/>
          </a:p>
        </p:txBody>
      </p:sp>
      <p:pic>
        <p:nvPicPr>
          <p:cNvPr id="16" name="Image 2" descr="le domaine — Domaine de Coyeux">    </p:cNvPr>
          <p:cNvPicPr>
            <a:picLocks noChangeAspect="1"/>
          </p:cNvPicPr>
          <p:nvPr/>
        </p:nvPicPr>
        <p:blipFill>
          <a:blip r:embed="rId3"/>
          <a:stretch>
            <a:fillRect/>
          </a:stretch>
        </p:blipFill>
        <p:spPr>
          <a:xfrm>
            <a:off x="828000" y="1735388"/>
            <a:ext cx="1440000" cy="1440000"/>
          </a:xfrm>
          <a:prstGeom prst="rect">
            <a:avLst/>
          </a:prstGeom>
        </p:spPr>
      </p:pic>
      <p:pic>
        <p:nvPicPr>
          <p:cNvPr id="17" name="Image 3" descr="Une bouteille du domaine Domaine de Coyeux">    </p:cNvPr>
          <p:cNvPicPr>
            <a:picLocks noChangeAspect="1"/>
          </p:cNvPicPr>
          <p:nvPr/>
        </p:nvPicPr>
        <p:blipFill>
          <a:blip r:embed="rId4"/>
          <a:stretch>
            <a:fillRect/>
          </a:stretch>
        </p:blipFill>
        <p:spPr>
          <a:xfrm>
            <a:off x="6217180" y="1735388"/>
            <a:ext cx="597639" cy="2232000"/>
          </a:xfrm>
          <a:prstGeom prst="rect">
            <a:avLst/>
          </a:prstGeom>
        </p:spPr>
      </p:pic>
      <p:sp>
        <p:nvSpPr>
          <p:cNvPr id="18" name="Text 12"/>
          <p:cNvSpPr/>
          <p:nvPr/>
        </p:nvSpPr>
        <p:spPr>
          <a:xfrm>
            <a:off x="2394017" y="1552683"/>
            <a:ext cx="195795" cy="324104"/>
          </a:xfrm>
          <a:prstGeom prst="rect">
            <a:avLst/>
          </a:prstGeom>
          <a:noFill/>
          <a:ln/>
        </p:spPr>
        <p:txBody>
          <a:bodyPr wrap="square" lIns="0" tIns="0" rIns="0" bIns="0" rtlCol="0" anchor="t"/>
          <a:lstStyle/>
          <a:p>
            <a:pPr algn="r" indent="0" marL="0">
              <a:lnSpc>
                <a:spcPct val="125600"/>
              </a:lnSpc>
              <a:buNone/>
            </a:pPr>
            <a:r>
              <a:rPr lang="en-US" sz="1595" dirty="0">
                <a:solidFill>
                  <a:srgbClr val="67067C"/>
                </a:solidFill>
                <a:latin typeface="Young Serif" pitchFamily="34" charset="0"/>
                <a:ea typeface="Young Serif" pitchFamily="34" charset="-122"/>
                <a:cs typeface="Young Serif" pitchFamily="34" charset="-120"/>
              </a:rPr>
              <a:t>P</a:t>
            </a:r>
            <a:endParaRPr lang="en-US" sz="1595" dirty="0"/>
          </a:p>
        </p:txBody>
      </p:sp>
      <p:sp>
        <p:nvSpPr>
          <p:cNvPr id="19" name="Text 13"/>
          <p:cNvSpPr/>
          <p:nvPr/>
        </p:nvSpPr>
        <p:spPr>
          <a:xfrm>
            <a:off x="2448000" y="1636007"/>
            <a:ext cx="3456000" cy="2813930"/>
          </a:xfrm>
          <a:prstGeom prst="rect">
            <a:avLst/>
          </a:prstGeom>
          <a:noFill/>
          <a:ln/>
        </p:spPr>
        <p:txBody>
          <a:bodyPr wrap="square" lIns="0" tIns="0" rIns="0" bIns="0" rtlCol="0" anchor="t"/>
          <a:lstStyle/>
          <a:p>
            <a:pPr indent="0" marL="0">
              <a:lnSpc>
                <a:spcPct val="142000"/>
              </a:lnSpc>
              <a:buNone/>
            </a:pPr>
            <a:r>
              <a:rPr lang="en-US" sz="950" dirty="0">
                <a:solidFill>
                  <a:srgbClr val="46606E"/>
                </a:solidFill>
                <a:latin typeface="Spectral" pitchFamily="34" charset="0"/>
                <a:ea typeface="Spectral" pitchFamily="34" charset="-122"/>
                <a:cs typeface="Spectral" pitchFamily="34" charset="-120"/>
              </a:rPr>
              <a:t>     ropriété du groupe Maisons &amp; Vignobles Strasser-Radziwill depuis 2022, le Domaine de Coyeux niché au pied des Dentelles de Montmirail s’étend sur 120 hectares d’un seul tenant, au sein de l’aire de l’appellation viticole Beaumes-de-Venise. Dans ce superbe environnement naturel, le domaine est constitué de bois, de garrigue et de vignes. Le vignoble du Domaine de Coyeux s’étend sur la formation géologique du Trias, un sol très ancien qui confère aux vins une qualité exceptionnelle. Les premières vignes du domaine de Coyeux datent des années 1950. Aujourd’hui, les vins sont issus d’un vignoble âgé de 40 à 70 ans et de parcelles plus récentes. Le domaine bénéficie de l’abri naturel de la colline. Son exposition au sud favorise un ensoleillement idéal. À 300 mètres d’altitude, la température est plus fraîche et participe à l’élégance des vins de Coyeux.</a:t>
            </a:r>
            <a:endParaRPr lang="en-US" sz="95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828000" y="4611938"/>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198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Palette</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Méditerranée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Première Fleur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Méditerranée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Premières Fleurs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Muscat BDV</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Or des Dentelles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Muscat BDV</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Or des Dentelles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828000" y="6547080"/>
            <a:ext cx="0" cy="288349"/>
          </a:xfrm>
          <a:prstGeom prst="line">
            <a:avLst/>
          </a:prstGeom>
          <a:noFill/>
          <a:ln w="17780">
            <a:solidFill>
              <a:srgbClr val="67067C"/>
            </a:solidFill>
            <a:prstDash val="solid"/>
          </a:ln>
        </p:spPr>
      </p:sp>
      <p:sp>
        <p:nvSpPr>
          <p:cNvPr id="22" name="Text 15"/>
          <p:cNvSpPr/>
          <p:nvPr/>
        </p:nvSpPr>
        <p:spPr>
          <a:xfrm>
            <a:off x="936000" y="6547080"/>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3" name="Text 16"/>
          <p:cNvSpPr/>
          <p:nvPr/>
        </p:nvSpPr>
        <p:spPr>
          <a:xfrm>
            <a:off x="828000" y="8136000"/>
            <a:ext cx="6120000" cy="1980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Les quatre domaines Strasser Radziwill — Domaine Le Prieuré des Papes, stand 7 p. 21 · Domaine du Moulin Blanc, stand 7 p. 23 · Domaine de la Pousterle, stand 7 p. 24</a:t>
            </a:r>
            <a:endParaRPr lang="en-US" sz="740" dirty="0"/>
          </a:p>
        </p:txBody>
      </p:sp>
      <p:sp>
        <p:nvSpPr>
          <p:cNvPr id="24" name="Shape 17"/>
          <p:cNvSpPr/>
          <p:nvPr/>
        </p:nvSpPr>
        <p:spPr>
          <a:xfrm>
            <a:off x="828000" y="8388000"/>
            <a:ext cx="6120000" cy="0"/>
          </a:xfrm>
          <a:prstGeom prst="line">
            <a:avLst/>
          </a:prstGeom>
          <a:noFill/>
          <a:ln w="8890">
            <a:solidFill>
              <a:srgbClr val="46606E"/>
            </a:solidFill>
            <a:prstDash val="solid"/>
          </a:ln>
        </p:spPr>
      </p:sp>
      <p:sp>
        <p:nvSpPr>
          <p:cNvPr id="25" name="Text 18"/>
          <p:cNvSpPr/>
          <p:nvPr/>
        </p:nvSpPr>
        <p:spPr>
          <a:xfrm>
            <a:off x="828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6" name="Text 19"/>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Autre     pictos de l’Agence SCIO, pas les logos officiels</a:t>
            </a:r>
            <a:endParaRPr lang="en-US" sz="650" dirty="0"/>
          </a:p>
        </p:txBody>
      </p:sp>
      <p:sp>
        <p:nvSpPr>
          <p:cNvPr id="27" name="Text 20"/>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22</a:t>
            </a:r>
            <a:endParaRPr lang="en-US" sz="750" dirty="0"/>
          </a:p>
        </p:txBody>
      </p:sp>
      <p:sp>
        <p:nvSpPr>
          <p:cNvPr id="28" name="Text 21"/>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rho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Shape 1"/>
          <p:cNvSpPr/>
          <p:nvPr/>
        </p:nvSpPr>
        <p:spPr>
          <a:xfrm>
            <a:off x="612000" y="667894"/>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612000" y="667894"/>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7</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440000" y="540000"/>
            <a:ext cx="4068000" cy="774188"/>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Domaine du Moulin Blanc</a:t>
            </a:r>
            <a:endParaRPr lang="en-US" sz="2000" dirty="0"/>
          </a:p>
        </p:txBody>
      </p:sp>
      <p:sp>
        <p:nvSpPr>
          <p:cNvPr id="7" name="Text 4"/>
          <p:cNvSpPr/>
          <p:nvPr/>
        </p:nvSpPr>
        <p:spPr>
          <a:xfrm>
            <a:off x="5292000" y="540000"/>
            <a:ext cx="1440000" cy="774188"/>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8" name="Shape 5"/>
          <p:cNvSpPr/>
          <p:nvPr/>
        </p:nvSpPr>
        <p:spPr>
          <a:xfrm>
            <a:off x="612000" y="1332188"/>
            <a:ext cx="6120000" cy="0"/>
          </a:xfrm>
          <a:prstGeom prst="line">
            <a:avLst/>
          </a:prstGeom>
          <a:noFill/>
          <a:ln w="17780">
            <a:solidFill>
              <a:srgbClr val="67067C"/>
            </a:solidFill>
            <a:prstDash val="solid"/>
          </a:ln>
        </p:spPr>
      </p:sp>
      <p:sp>
        <p:nvSpPr>
          <p:cNvPr id="9" name="Shape 6"/>
          <p:cNvSpPr/>
          <p:nvPr/>
        </p:nvSpPr>
        <p:spPr>
          <a:xfrm>
            <a:off x="612000" y="1425788"/>
            <a:ext cx="1101294"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conversion.png">    </p:cNvPr>
          <p:cNvPicPr>
            <a:picLocks noChangeAspect="1"/>
          </p:cNvPicPr>
          <p:nvPr/>
        </p:nvPicPr>
        <p:blipFill>
          <a:blip r:embed="rId2"/>
          <a:stretch>
            <a:fillRect/>
          </a:stretch>
        </p:blipFill>
        <p:spPr>
          <a:xfrm>
            <a:off x="684000" y="1461788"/>
            <a:ext cx="108000" cy="108000"/>
          </a:xfrm>
          <a:prstGeom prst="rect">
            <a:avLst/>
          </a:prstGeom>
        </p:spPr>
      </p:pic>
      <p:sp>
        <p:nvSpPr>
          <p:cNvPr id="11" name="Text 7"/>
          <p:cNvSpPr/>
          <p:nvPr/>
        </p:nvSpPr>
        <p:spPr>
          <a:xfrm>
            <a:off x="759600" y="1425788"/>
            <a:ext cx="95369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En conversion Bio</a:t>
            </a:r>
            <a:endParaRPr lang="en-US" sz="720" dirty="0"/>
          </a:p>
        </p:txBody>
      </p:sp>
      <p:sp>
        <p:nvSpPr>
          <p:cNvPr id="12" name="Shape 8"/>
          <p:cNvSpPr/>
          <p:nvPr/>
        </p:nvSpPr>
        <p:spPr>
          <a:xfrm>
            <a:off x="1792494" y="1425788"/>
            <a:ext cx="1352190"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792494" y="1425788"/>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4" name="Shape 10"/>
          <p:cNvSpPr/>
          <p:nvPr/>
        </p:nvSpPr>
        <p:spPr>
          <a:xfrm>
            <a:off x="3223884" y="1425788"/>
            <a:ext cx="1103747"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223884" y="1425788"/>
            <a:ext cx="1103747"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 vin à la dégustation</a:t>
            </a:r>
            <a:endParaRPr lang="en-US" sz="720" dirty="0"/>
          </a:p>
        </p:txBody>
      </p:sp>
      <p:pic>
        <p:nvPicPr>
          <p:cNvPr id="16" name="Image 2" descr="le couple, recadré au-dessus du verre — Domaine du Moulin Blanc">    </p:cNvPr>
          <p:cNvPicPr>
            <a:picLocks noChangeAspect="1"/>
          </p:cNvPicPr>
          <p:nvPr/>
        </p:nvPicPr>
        <p:blipFill>
          <a:blip r:embed="rId3"/>
          <a:stretch>
            <a:fillRect/>
          </a:stretch>
        </p:blipFill>
        <p:spPr>
          <a:xfrm>
            <a:off x="612000" y="1735388"/>
            <a:ext cx="1440000" cy="1440000"/>
          </a:xfrm>
          <a:prstGeom prst="rect">
            <a:avLst/>
          </a:prstGeom>
        </p:spPr>
      </p:pic>
      <p:sp>
        <p:nvSpPr>
          <p:cNvPr id="17" name="Shape 12"/>
          <p:cNvSpPr/>
          <p:nvPr/>
        </p:nvSpPr>
        <p:spPr>
          <a:xfrm>
            <a:off x="5868000" y="1735388"/>
            <a:ext cx="864000" cy="2232000"/>
          </a:xfrm>
          <a:prstGeom prst="roundRect">
            <a:avLst>
              <a:gd name="adj" fmla="val 2117"/>
            </a:avLst>
          </a:prstGeom>
          <a:solidFill>
            <a:srgbClr val="F2EADA"/>
          </a:solidFill>
          <a:ln w="12700">
            <a:solidFill>
              <a:srgbClr val="46606E"/>
            </a:solidFill>
            <a:prstDash val="dash"/>
          </a:ln>
        </p:spPr>
      </p:sp>
      <p:sp>
        <p:nvSpPr>
          <p:cNvPr id="18" name="Text 13"/>
          <p:cNvSpPr/>
          <p:nvPr/>
        </p:nvSpPr>
        <p:spPr>
          <a:xfrm>
            <a:off x="5868000" y="1735388"/>
            <a:ext cx="864000" cy="2232000"/>
          </a:xfrm>
          <a:prstGeom prst="rect">
            <a:avLst/>
          </a:prstGeom>
          <a:noFill/>
          <a:ln/>
        </p:spPr>
        <p:txBody>
          <a:bodyPr wrap="square" lIns="0" tIns="0" rIns="0" bIns="0" rtlCol="0" anchor="ctr"/>
          <a:lstStyle/>
          <a:p>
            <a:pPr algn="ctr" indent="0" marL="0">
              <a:buNone/>
            </a:pPr>
            <a:r>
              <a:rPr lang="en-US" sz="620" b="1" dirty="0">
                <a:solidFill>
                  <a:srgbClr val="46606E">
                    <a:alpha val="50000"/>
                  </a:srgbClr>
                </a:solidFill>
                <a:latin typeface="IBM Plex Sans" pitchFamily="34" charset="0"/>
                <a:ea typeface="IBM Plex Sans" pitchFamily="34" charset="-122"/>
                <a:cs typeface="IBM Plex Sans" pitchFamily="34" charset="-120"/>
              </a:rPr>
              <a:t>BOUTEILLE</a:t>
            </a:r>
            <a:endParaRPr lang="en-US" sz="620" dirty="0"/>
          </a:p>
        </p:txBody>
      </p:sp>
      <p:sp>
        <p:nvSpPr>
          <p:cNvPr id="19" name="Text 14"/>
          <p:cNvSpPr/>
          <p:nvPr/>
        </p:nvSpPr>
        <p:spPr>
          <a:xfrm>
            <a:off x="2177970" y="1696217"/>
            <a:ext cx="199812" cy="322682"/>
          </a:xfrm>
          <a:prstGeom prst="rect">
            <a:avLst/>
          </a:prstGeom>
          <a:noFill/>
          <a:ln/>
        </p:spPr>
        <p:txBody>
          <a:bodyPr wrap="square" lIns="0" tIns="0" rIns="0" bIns="0" rtlCol="0" anchor="t"/>
          <a:lstStyle/>
          <a:p>
            <a:pPr algn="r" indent="0" marL="0">
              <a:lnSpc>
                <a:spcPct val="126600"/>
              </a:lnSpc>
              <a:buNone/>
            </a:pPr>
            <a:r>
              <a:rPr lang="en-US" sz="1588" dirty="0">
                <a:solidFill>
                  <a:srgbClr val="67067C"/>
                </a:solidFill>
                <a:latin typeface="Young Serif" pitchFamily="34" charset="0"/>
                <a:ea typeface="Young Serif" pitchFamily="34" charset="-122"/>
                <a:cs typeface="Young Serif" pitchFamily="34" charset="-120"/>
              </a:rPr>
              <a:t>S</a:t>
            </a:r>
            <a:endParaRPr lang="en-US" sz="1588" dirty="0"/>
          </a:p>
        </p:txBody>
      </p:sp>
      <p:sp>
        <p:nvSpPr>
          <p:cNvPr id="20" name="Text 15"/>
          <p:cNvSpPr/>
          <p:nvPr/>
        </p:nvSpPr>
        <p:spPr>
          <a:xfrm>
            <a:off x="2232000" y="1776013"/>
            <a:ext cx="3456000" cy="2191275"/>
          </a:xfrm>
          <a:prstGeom prst="rect">
            <a:avLst/>
          </a:prstGeom>
          <a:noFill/>
          <a:ln/>
        </p:spPr>
        <p:txBody>
          <a:bodyPr wrap="square" lIns="0" tIns="0" rIns="0" bIns="0" rtlCol="0" anchor="t"/>
          <a:lstStyle/>
          <a:p>
            <a:pPr indent="0" marL="0">
              <a:lnSpc>
                <a:spcPct val="142000"/>
              </a:lnSpc>
              <a:buNone/>
            </a:pPr>
            <a:r>
              <a:rPr lang="en-US" sz="975" dirty="0">
                <a:solidFill>
                  <a:srgbClr val="46606E"/>
                </a:solidFill>
                <a:latin typeface="Spectral" pitchFamily="34" charset="0"/>
                <a:ea typeface="Spectral" pitchFamily="34" charset="-122"/>
                <a:cs typeface="Spectral" pitchFamily="34" charset="-120"/>
              </a:rPr>
              <a:t>     itué au cœur d’un terroir d’exception, le Domaine du Moulin Blanc incarne l’authenticité et le savoir-faire viticole transmis de génération en génération. Alliant tradition et modernité, le domaine cultive ses vignes avec passion et rigueur pour produire des vins reflétant toute la richesse de leurs origines. Le vignoble s’étend sur un sol généreux, bénéficiant d’un climat idéal, propice à l’expression de cépages nobles et typiques. Chaque cuvée est élaborée avec soin, dans le respect de l’environnement et du cycle naturel de la vigne, pour offrir des vins équilibrés, élégants et sincères.</a:t>
            </a:r>
            <a:endParaRPr lang="en-US" sz="975"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612000" y="4129288"/>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198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Palette</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35148">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Côtes du Rhône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2" name="Shape 16"/>
          <p:cNvSpPr/>
          <p:nvPr/>
        </p:nvSpPr>
        <p:spPr>
          <a:xfrm>
            <a:off x="612000" y="4765459"/>
            <a:ext cx="0" cy="288349"/>
          </a:xfrm>
          <a:prstGeom prst="line">
            <a:avLst/>
          </a:prstGeom>
          <a:noFill/>
          <a:ln w="17780">
            <a:solidFill>
              <a:srgbClr val="67067C"/>
            </a:solidFill>
            <a:prstDash val="solid"/>
          </a:ln>
        </p:spPr>
      </p:sp>
      <p:sp>
        <p:nvSpPr>
          <p:cNvPr id="23" name="Text 17"/>
          <p:cNvSpPr/>
          <p:nvPr/>
        </p:nvSpPr>
        <p:spPr>
          <a:xfrm>
            <a:off x="720000" y="4765459"/>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4" name="Text 18"/>
          <p:cNvSpPr/>
          <p:nvPr/>
        </p:nvSpPr>
        <p:spPr>
          <a:xfrm>
            <a:off x="612000" y="5197808"/>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25" name="Image 3" descr="/home/user/philippe1/build/deco-salon-prive-2026/sol-rhone.png">    </p:cNvPr>
          <p:cNvPicPr>
            <a:picLocks noChangeAspect="1"/>
          </p:cNvPicPr>
          <p:nvPr/>
        </p:nvPicPr>
        <p:blipFill>
          <a:blip r:embed="rId4"/>
          <a:stretch>
            <a:fillRect/>
          </a:stretch>
        </p:blipFill>
        <p:spPr>
          <a:xfrm>
            <a:off x="612000" y="5345408"/>
            <a:ext cx="6120000" cy="1335536"/>
          </a:xfrm>
          <a:prstGeom prst="rect">
            <a:avLst/>
          </a:prstGeom>
        </p:spPr>
      </p:pic>
      <p:sp>
        <p:nvSpPr>
          <p:cNvPr id="26" name="Text 19"/>
          <p:cNvSpPr/>
          <p:nvPr/>
        </p:nvSpPr>
        <p:spPr>
          <a:xfrm>
            <a:off x="612000" y="8136000"/>
            <a:ext cx="6120000" cy="1980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Les quatre domaines Strasser Radziwill — Domaine Le Prieuré des Papes, stand 7 p. 21 · Domaine de Coyeux, stand 7 p. 22 · Domaine de la Pousterle, stand 7 p. 24</a:t>
            </a:r>
            <a:endParaRPr lang="en-US" sz="740" dirty="0"/>
          </a:p>
        </p:txBody>
      </p:sp>
      <p:sp>
        <p:nvSpPr>
          <p:cNvPr id="27" name="Shape 20"/>
          <p:cNvSpPr/>
          <p:nvPr/>
        </p:nvSpPr>
        <p:spPr>
          <a:xfrm>
            <a:off x="612000" y="8388000"/>
            <a:ext cx="6120000" cy="0"/>
          </a:xfrm>
          <a:prstGeom prst="line">
            <a:avLst/>
          </a:prstGeom>
          <a:noFill/>
          <a:ln w="8890">
            <a:solidFill>
              <a:srgbClr val="46606E"/>
            </a:solidFill>
            <a:prstDash val="solid"/>
          </a:ln>
        </p:spPr>
      </p:sp>
      <p:sp>
        <p:nvSpPr>
          <p:cNvPr id="28" name="Text 21"/>
          <p:cNvSpPr/>
          <p:nvPr/>
        </p:nvSpPr>
        <p:spPr>
          <a:xfrm>
            <a:off x="612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9" name="Text 22"/>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Rouge     pictos de l’Agence SCIO, pas les logos officiels</a:t>
            </a:r>
            <a:endParaRPr lang="en-US" sz="650" dirty="0"/>
          </a:p>
        </p:txBody>
      </p:sp>
      <p:sp>
        <p:nvSpPr>
          <p:cNvPr id="30" name="Text 23"/>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23</a:t>
            </a:r>
            <a:endParaRPr lang="en-US" sz="750" dirty="0"/>
          </a:p>
        </p:txBody>
      </p:sp>
      <p:sp>
        <p:nvSpPr>
          <p:cNvPr id="31" name="Text 24"/>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rho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Shape 1"/>
          <p:cNvSpPr/>
          <p:nvPr/>
        </p:nvSpPr>
        <p:spPr>
          <a:xfrm>
            <a:off x="828000" y="667894"/>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67894"/>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7</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74188"/>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Domaine de la Pousterle</a:t>
            </a:r>
            <a:endParaRPr lang="en-US" sz="2000" dirty="0"/>
          </a:p>
        </p:txBody>
      </p:sp>
      <p:sp>
        <p:nvSpPr>
          <p:cNvPr id="7" name="Text 4"/>
          <p:cNvSpPr/>
          <p:nvPr/>
        </p:nvSpPr>
        <p:spPr>
          <a:xfrm>
            <a:off x="5508000" y="540000"/>
            <a:ext cx="1440000" cy="774188"/>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8" name="Shape 5"/>
          <p:cNvSpPr/>
          <p:nvPr/>
        </p:nvSpPr>
        <p:spPr>
          <a:xfrm>
            <a:off x="828000" y="1332188"/>
            <a:ext cx="6120000" cy="0"/>
          </a:xfrm>
          <a:prstGeom prst="line">
            <a:avLst/>
          </a:prstGeom>
          <a:noFill/>
          <a:ln w="17780">
            <a:solidFill>
              <a:srgbClr val="67067C"/>
            </a:solidFill>
            <a:prstDash val="solid"/>
          </a:ln>
        </p:spPr>
      </p:sp>
      <p:sp>
        <p:nvSpPr>
          <p:cNvPr id="9" name="Shape 6"/>
          <p:cNvSpPr/>
          <p:nvPr/>
        </p:nvSpPr>
        <p:spPr>
          <a:xfrm>
            <a:off x="828000" y="1425788"/>
            <a:ext cx="1101294"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conversion.png">    </p:cNvPr>
          <p:cNvPicPr>
            <a:picLocks noChangeAspect="1"/>
          </p:cNvPicPr>
          <p:nvPr/>
        </p:nvPicPr>
        <p:blipFill>
          <a:blip r:embed="rId2"/>
          <a:stretch>
            <a:fillRect/>
          </a:stretch>
        </p:blipFill>
        <p:spPr>
          <a:xfrm>
            <a:off x="900000" y="1461788"/>
            <a:ext cx="108000" cy="108000"/>
          </a:xfrm>
          <a:prstGeom prst="rect">
            <a:avLst/>
          </a:prstGeom>
        </p:spPr>
      </p:pic>
      <p:sp>
        <p:nvSpPr>
          <p:cNvPr id="11" name="Text 7"/>
          <p:cNvSpPr/>
          <p:nvPr/>
        </p:nvSpPr>
        <p:spPr>
          <a:xfrm>
            <a:off x="975600" y="1425788"/>
            <a:ext cx="95369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En conversion Bio</a:t>
            </a:r>
            <a:endParaRPr lang="en-US" sz="720" dirty="0"/>
          </a:p>
        </p:txBody>
      </p:sp>
      <p:sp>
        <p:nvSpPr>
          <p:cNvPr id="12" name="Shape 8"/>
          <p:cNvSpPr/>
          <p:nvPr/>
        </p:nvSpPr>
        <p:spPr>
          <a:xfrm>
            <a:off x="2008494" y="1425788"/>
            <a:ext cx="1352190"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2008494" y="1425788"/>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4" name="Shape 10"/>
          <p:cNvSpPr/>
          <p:nvPr/>
        </p:nvSpPr>
        <p:spPr>
          <a:xfrm>
            <a:off x="3439884" y="1425788"/>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439884" y="1425788"/>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vins à la dégustation</a:t>
            </a:r>
            <a:endParaRPr lang="en-US" sz="720" dirty="0"/>
          </a:p>
        </p:txBody>
      </p:sp>
      <p:pic>
        <p:nvPicPr>
          <p:cNvPr id="16" name="Image 2" descr="vendanges dans les vignes — Domaine de la Pousterle">    </p:cNvPr>
          <p:cNvPicPr>
            <a:picLocks noChangeAspect="1"/>
          </p:cNvPicPr>
          <p:nvPr/>
        </p:nvPicPr>
        <p:blipFill>
          <a:blip r:embed="rId3"/>
          <a:stretch>
            <a:fillRect/>
          </a:stretch>
        </p:blipFill>
        <p:spPr>
          <a:xfrm>
            <a:off x="828000" y="1735388"/>
            <a:ext cx="1440000" cy="1440000"/>
          </a:xfrm>
          <a:prstGeom prst="rect">
            <a:avLst/>
          </a:prstGeom>
        </p:spPr>
      </p:pic>
      <p:pic>
        <p:nvPicPr>
          <p:cNvPr id="17" name="Image 3" descr="Une bouteille du domaine Domaine de la Pousterle">    </p:cNvPr>
          <p:cNvPicPr>
            <a:picLocks noChangeAspect="1"/>
          </p:cNvPicPr>
          <p:nvPr/>
        </p:nvPicPr>
        <p:blipFill>
          <a:blip r:embed="rId4"/>
          <a:stretch>
            <a:fillRect/>
          </a:stretch>
        </p:blipFill>
        <p:spPr>
          <a:xfrm>
            <a:off x="6223279" y="1735388"/>
            <a:ext cx="585443" cy="2232000"/>
          </a:xfrm>
          <a:prstGeom prst="rect">
            <a:avLst/>
          </a:prstGeom>
        </p:spPr>
      </p:pic>
      <p:sp>
        <p:nvSpPr>
          <p:cNvPr id="18" name="Text 12"/>
          <p:cNvSpPr/>
          <p:nvPr/>
        </p:nvSpPr>
        <p:spPr>
          <a:xfrm>
            <a:off x="2393990" y="1666441"/>
            <a:ext cx="203760" cy="331419"/>
          </a:xfrm>
          <a:prstGeom prst="rect">
            <a:avLst/>
          </a:prstGeom>
          <a:noFill/>
          <a:ln/>
        </p:spPr>
        <p:txBody>
          <a:bodyPr wrap="square" lIns="0" tIns="0" rIns="0" bIns="0" rtlCol="0" anchor="t"/>
          <a:lstStyle/>
          <a:p>
            <a:pPr algn="r" indent="0" marL="0">
              <a:lnSpc>
                <a:spcPct val="126500"/>
              </a:lnSpc>
              <a:buNone/>
            </a:pPr>
            <a:r>
              <a:rPr lang="en-US" sz="1631" dirty="0">
                <a:solidFill>
                  <a:srgbClr val="67067C"/>
                </a:solidFill>
                <a:latin typeface="Young Serif" pitchFamily="34" charset="0"/>
                <a:ea typeface="Young Serif" pitchFamily="34" charset="-122"/>
                <a:cs typeface="Young Serif" pitchFamily="34" charset="-120"/>
              </a:rPr>
              <a:t>S</a:t>
            </a:r>
            <a:endParaRPr lang="en-US" sz="1631" dirty="0"/>
          </a:p>
        </p:txBody>
      </p:sp>
      <p:sp>
        <p:nvSpPr>
          <p:cNvPr id="19" name="Text 13"/>
          <p:cNvSpPr/>
          <p:nvPr/>
        </p:nvSpPr>
        <p:spPr>
          <a:xfrm>
            <a:off x="2448000" y="1748549"/>
            <a:ext cx="3456000" cy="2218739"/>
          </a:xfrm>
          <a:prstGeom prst="rect">
            <a:avLst/>
          </a:prstGeom>
          <a:noFill/>
          <a:ln/>
        </p:spPr>
        <p:txBody>
          <a:bodyPr wrap="square" lIns="0" tIns="0" rIns="0" bIns="0" rtlCol="0" anchor="t"/>
          <a:lstStyle/>
          <a:p>
            <a:pPr indent="0" marL="0">
              <a:lnSpc>
                <a:spcPct val="142000"/>
              </a:lnSpc>
              <a:buNone/>
            </a:pPr>
            <a:r>
              <a:rPr lang="en-US" sz="1000" dirty="0">
                <a:solidFill>
                  <a:srgbClr val="46606E"/>
                </a:solidFill>
                <a:latin typeface="Spectral" pitchFamily="34" charset="0"/>
                <a:ea typeface="Spectral" pitchFamily="34" charset="-122"/>
                <a:cs typeface="Spectral" pitchFamily="34" charset="-120"/>
              </a:rPr>
              <a:t>     itué au cœur de la vallée du Rhône le Domaine de la Pousterle est un domaine viticole familial qui incarne l’authenticité et la diversité de cette région emblématique. Entouré de collines baignées de soleil et bercé par le mistral, le vignoble bénéficie de conditions idéales pour l’élaboration de vins généreux, expressifs et empreints de caractère. Le domaine cultive avec soins des cépages typiques de la région en alliant traditions viticoles et pratiques respectueuses de l’environnement. Chaque cuvée reflète l’identité du terroir et le savoir faire transmis au fil des générations.</a:t>
            </a:r>
            <a:endParaRPr lang="en-US" sz="10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828000" y="4129288"/>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198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Palette</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Chardonnay-Viognier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France-Syrah</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Pousterle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Luberon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Terroir d'Ansouis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828000" y="5679710"/>
            <a:ext cx="0" cy="288349"/>
          </a:xfrm>
          <a:prstGeom prst="line">
            <a:avLst/>
          </a:prstGeom>
          <a:noFill/>
          <a:ln w="17780">
            <a:solidFill>
              <a:srgbClr val="67067C"/>
            </a:solidFill>
            <a:prstDash val="solid"/>
          </a:ln>
        </p:spPr>
      </p:sp>
      <p:sp>
        <p:nvSpPr>
          <p:cNvPr id="22" name="Text 15"/>
          <p:cNvSpPr/>
          <p:nvPr/>
        </p:nvSpPr>
        <p:spPr>
          <a:xfrm>
            <a:off x="936000" y="5679710"/>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3" name="Text 16"/>
          <p:cNvSpPr/>
          <p:nvPr/>
        </p:nvSpPr>
        <p:spPr>
          <a:xfrm>
            <a:off x="828000" y="6112059"/>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24" name="Image 4" descr="/home/user/philippe1/build/deco-salon-prive-2026/sol-rhone.png">    </p:cNvPr>
          <p:cNvPicPr>
            <a:picLocks noChangeAspect="1"/>
          </p:cNvPicPr>
          <p:nvPr/>
        </p:nvPicPr>
        <p:blipFill>
          <a:blip r:embed="rId5"/>
          <a:stretch>
            <a:fillRect/>
          </a:stretch>
        </p:blipFill>
        <p:spPr>
          <a:xfrm>
            <a:off x="828000" y="6259659"/>
            <a:ext cx="6120000" cy="1148400"/>
          </a:xfrm>
          <a:prstGeom prst="rect">
            <a:avLst/>
          </a:prstGeom>
        </p:spPr>
      </p:pic>
      <p:sp>
        <p:nvSpPr>
          <p:cNvPr id="25" name="Text 17"/>
          <p:cNvSpPr/>
          <p:nvPr/>
        </p:nvSpPr>
        <p:spPr>
          <a:xfrm>
            <a:off x="828000" y="8136000"/>
            <a:ext cx="6120000" cy="1980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Les quatre domaines Strasser Radziwill — Domaine Le Prieuré des Papes, stand 7 p. 21 · Domaine de Coyeux, stand 7 p. 22 · Domaine du Moulin Blanc, stand 7 p. 23</a:t>
            </a:r>
            <a:endParaRPr lang="en-US" sz="740" dirty="0"/>
          </a:p>
        </p:txBody>
      </p:sp>
      <p:sp>
        <p:nvSpPr>
          <p:cNvPr id="26" name="Shape 18"/>
          <p:cNvSpPr/>
          <p:nvPr/>
        </p:nvSpPr>
        <p:spPr>
          <a:xfrm>
            <a:off x="828000" y="8388000"/>
            <a:ext cx="6120000" cy="0"/>
          </a:xfrm>
          <a:prstGeom prst="line">
            <a:avLst/>
          </a:prstGeom>
          <a:noFill/>
          <a:ln w="8890">
            <a:solidFill>
              <a:srgbClr val="46606E"/>
            </a:solidFill>
            <a:prstDash val="solid"/>
          </a:ln>
        </p:spPr>
      </p:sp>
      <p:sp>
        <p:nvSpPr>
          <p:cNvPr id="27" name="Text 19"/>
          <p:cNvSpPr/>
          <p:nvPr/>
        </p:nvSpPr>
        <p:spPr>
          <a:xfrm>
            <a:off x="828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8" name="Text 20"/>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9" name="Text 21"/>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24</a:t>
            </a:r>
            <a:endParaRPr lang="en-US" sz="750" dirty="0"/>
          </a:p>
        </p:txBody>
      </p:sp>
      <p:sp>
        <p:nvSpPr>
          <p:cNvPr id="30" name="Text 22"/>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rho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Shape 1"/>
          <p:cNvSpPr/>
          <p:nvPr/>
        </p:nvSpPr>
        <p:spPr>
          <a:xfrm>
            <a:off x="612000" y="667894"/>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612000" y="667894"/>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12</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440000" y="540000"/>
            <a:ext cx="4068000" cy="774188"/>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Domaine Trichon</a:t>
            </a:r>
            <a:endParaRPr lang="en-US" sz="2000" dirty="0"/>
          </a:p>
        </p:txBody>
      </p:sp>
      <p:sp>
        <p:nvSpPr>
          <p:cNvPr id="7" name="Text 4"/>
          <p:cNvSpPr/>
          <p:nvPr/>
        </p:nvSpPr>
        <p:spPr>
          <a:xfrm>
            <a:off x="5292000" y="540000"/>
            <a:ext cx="1440000" cy="774188"/>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8" name="Shape 5"/>
          <p:cNvSpPr/>
          <p:nvPr/>
        </p:nvSpPr>
        <p:spPr>
          <a:xfrm>
            <a:off x="612000" y="1332188"/>
            <a:ext cx="6120000" cy="0"/>
          </a:xfrm>
          <a:prstGeom prst="line">
            <a:avLst/>
          </a:prstGeom>
          <a:noFill/>
          <a:ln w="17780">
            <a:solidFill>
              <a:srgbClr val="67067C"/>
            </a:solidFill>
            <a:prstDash val="solid"/>
          </a:ln>
        </p:spPr>
      </p:sp>
      <p:sp>
        <p:nvSpPr>
          <p:cNvPr id="9" name="Shape 6"/>
          <p:cNvSpPr/>
          <p:nvPr/>
        </p:nvSpPr>
        <p:spPr>
          <a:xfrm>
            <a:off x="612000" y="1425788"/>
            <a:ext cx="486451"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png">    </p:cNvPr>
          <p:cNvPicPr>
            <a:picLocks noChangeAspect="1"/>
          </p:cNvPicPr>
          <p:nvPr/>
        </p:nvPicPr>
        <p:blipFill>
          <a:blip r:embed="rId2"/>
          <a:stretch>
            <a:fillRect/>
          </a:stretch>
        </p:blipFill>
        <p:spPr>
          <a:xfrm>
            <a:off x="684000" y="1461788"/>
            <a:ext cx="108000" cy="108000"/>
          </a:xfrm>
          <a:prstGeom prst="rect">
            <a:avLst/>
          </a:prstGeom>
        </p:spPr>
      </p:pic>
      <p:sp>
        <p:nvSpPr>
          <p:cNvPr id="11" name="Text 7"/>
          <p:cNvSpPr/>
          <p:nvPr/>
        </p:nvSpPr>
        <p:spPr>
          <a:xfrm>
            <a:off x="759600" y="1425788"/>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2" name="Shape 8"/>
          <p:cNvSpPr/>
          <p:nvPr/>
        </p:nvSpPr>
        <p:spPr>
          <a:xfrm>
            <a:off x="1177651" y="1425788"/>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177651" y="1425788"/>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2642325" y="1425788"/>
            <a:ext cx="1204240"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642325" y="1425788"/>
            <a:ext cx="1204240"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10 vins à la dégustation</a:t>
            </a:r>
            <a:endParaRPr lang="en-US" sz="720" dirty="0"/>
          </a:p>
        </p:txBody>
      </p:sp>
      <p:pic>
        <p:nvPicPr>
          <p:cNvPr id="16" name="Image 2" descr="les deux vignerons, recadrés sur leurs visages — Domaine Trichon">    </p:cNvPr>
          <p:cNvPicPr>
            <a:picLocks noChangeAspect="1"/>
          </p:cNvPicPr>
          <p:nvPr/>
        </p:nvPicPr>
        <p:blipFill>
          <a:blip r:embed="rId3"/>
          <a:stretch>
            <a:fillRect/>
          </a:stretch>
        </p:blipFill>
        <p:spPr>
          <a:xfrm>
            <a:off x="612000" y="1735388"/>
            <a:ext cx="1440000" cy="1440000"/>
          </a:xfrm>
          <a:prstGeom prst="rect">
            <a:avLst/>
          </a:prstGeom>
        </p:spPr>
      </p:pic>
      <p:pic>
        <p:nvPicPr>
          <p:cNvPr id="17" name="Image 3" descr="Une bouteille du domaine Domaine Trichon">    </p:cNvPr>
          <p:cNvPicPr>
            <a:picLocks noChangeAspect="1"/>
          </p:cNvPicPr>
          <p:nvPr/>
        </p:nvPicPr>
        <p:blipFill>
          <a:blip r:embed="rId4"/>
          <a:stretch>
            <a:fillRect/>
          </a:stretch>
        </p:blipFill>
        <p:spPr>
          <a:xfrm>
            <a:off x="5983083" y="1735388"/>
            <a:ext cx="633834" cy="2232000"/>
          </a:xfrm>
          <a:prstGeom prst="rect">
            <a:avLst/>
          </a:prstGeom>
        </p:spPr>
      </p:pic>
      <p:sp>
        <p:nvSpPr>
          <p:cNvPr id="18" name="Text 12"/>
          <p:cNvSpPr/>
          <p:nvPr/>
        </p:nvSpPr>
        <p:spPr>
          <a:xfrm>
            <a:off x="2177985" y="1707579"/>
            <a:ext cx="231546" cy="406400"/>
          </a:xfrm>
          <a:prstGeom prst="rect">
            <a:avLst/>
          </a:prstGeom>
          <a:noFill/>
          <a:ln/>
        </p:spPr>
        <p:txBody>
          <a:bodyPr wrap="square" lIns="0" tIns="0" rIns="0" bIns="0" rtlCol="0" anchor="t"/>
          <a:lstStyle/>
          <a:p>
            <a:pPr algn="r" indent="0" marL="0">
              <a:lnSpc>
                <a:spcPct val="125100"/>
              </a:lnSpc>
              <a:buNone/>
            </a:pPr>
            <a:r>
              <a:rPr lang="en-US" sz="2000" dirty="0">
                <a:solidFill>
                  <a:srgbClr val="67067C"/>
                </a:solidFill>
                <a:latin typeface="Young Serif" pitchFamily="34" charset="0"/>
                <a:ea typeface="Young Serif" pitchFamily="34" charset="-122"/>
                <a:cs typeface="Young Serif" pitchFamily="34" charset="-120"/>
              </a:rPr>
              <a:t>L</a:t>
            </a:r>
            <a:endParaRPr lang="en-US" sz="2000" dirty="0"/>
          </a:p>
        </p:txBody>
      </p:sp>
      <p:sp>
        <p:nvSpPr>
          <p:cNvPr id="19" name="Text 13"/>
          <p:cNvSpPr/>
          <p:nvPr/>
        </p:nvSpPr>
        <p:spPr>
          <a:xfrm>
            <a:off x="2232000" y="1813821"/>
            <a:ext cx="3456000" cy="2153467"/>
          </a:xfrm>
          <a:prstGeom prst="rect">
            <a:avLst/>
          </a:prstGeom>
          <a:noFill/>
          <a:ln/>
        </p:spPr>
        <p:txBody>
          <a:bodyPr wrap="square" lIns="0" tIns="0" rIns="0" bIns="0" rtlCol="0" anchor="t"/>
          <a:lstStyle/>
          <a:p>
            <a:pPr indent="0" marL="0">
              <a:lnSpc>
                <a:spcPct val="142000"/>
              </a:lnSpc>
              <a:buNone/>
            </a:pPr>
            <a:r>
              <a:rPr lang="en-US" sz="1175" dirty="0">
                <a:solidFill>
                  <a:srgbClr val="46606E"/>
                </a:solidFill>
                <a:latin typeface="Spectral" pitchFamily="34" charset="0"/>
                <a:ea typeface="Spectral" pitchFamily="34" charset="-122"/>
                <a:cs typeface="Spectral" pitchFamily="34" charset="-120"/>
              </a:rPr>
              <a:t>     es Vignobles Trichon-Bernard réunissent deux terroirs certifiés en agriculture biologique. Les Côtes du Rhône méridionales donnent le Grenache, la Syrah, le Mourvèdre, la Clairette, le Muscat et le Viognier ; le Bugey donne le Chardonnay, l’Altesse, le Gamay, le Pinot Noir et la Mondeuse. Claire et Stéphane allient leurs savoir-faire à la vigne et dans la création des cuvées.</a:t>
            </a:r>
            <a:endParaRPr lang="en-US" sz="1175"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612000" y="4129288"/>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cols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300 cols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600 cols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Bugey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Mas de Lusanne Brut Blanc</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Bugey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Mas de Lusanne Extra-Brut Blanc</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Bugey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Mas de Lusanne Mondeuse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Bugey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Mas de Lusanne Pinot Noir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Text 14"/>
          <p:cNvSpPr/>
          <p:nvPr/>
        </p:nvSpPr>
        <p:spPr>
          <a:xfrm>
            <a:off x="612000" y="6122031"/>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22" name="Image 4" descr="/home/user/philippe1/build/deco-salon-prive-2026/sol-rhone.png">    </p:cNvPr>
          <p:cNvPicPr>
            <a:picLocks noChangeAspect="1"/>
          </p:cNvPicPr>
          <p:nvPr/>
        </p:nvPicPr>
        <p:blipFill>
          <a:blip r:embed="rId5"/>
          <a:stretch>
            <a:fillRect/>
          </a:stretch>
        </p:blipFill>
        <p:spPr>
          <a:xfrm>
            <a:off x="612000" y="6269631"/>
            <a:ext cx="6120000" cy="1148400"/>
          </a:xfrm>
          <a:prstGeom prst="rect">
            <a:avLst/>
          </a:prstGeom>
        </p:spPr>
      </p:pic>
      <p:sp>
        <p:nvSpPr>
          <p:cNvPr id="23" name="Shape 15"/>
          <p:cNvSpPr/>
          <p:nvPr/>
        </p:nvSpPr>
        <p:spPr>
          <a:xfrm>
            <a:off x="612000" y="8388000"/>
            <a:ext cx="6120000" cy="0"/>
          </a:xfrm>
          <a:prstGeom prst="line">
            <a:avLst/>
          </a:prstGeom>
          <a:noFill/>
          <a:ln w="8890">
            <a:solidFill>
              <a:srgbClr val="46606E"/>
            </a:solidFill>
            <a:prstDash val="solid"/>
          </a:ln>
        </p:spPr>
      </p:sp>
      <p:sp>
        <p:nvSpPr>
          <p:cNvPr id="24" name="Text 16"/>
          <p:cNvSpPr/>
          <p:nvPr/>
        </p:nvSpPr>
        <p:spPr>
          <a:xfrm>
            <a:off x="612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Rouge    ● Jus de cépages    ● Autre     pictos de l’Agence SCIO, pas les logos officiels</a:t>
            </a:r>
            <a:endParaRPr lang="en-US" sz="650" dirty="0"/>
          </a:p>
        </p:txBody>
      </p:sp>
      <p:sp>
        <p:nvSpPr>
          <p:cNvPr id="26"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25</a:t>
            </a:r>
            <a:endParaRPr lang="en-US" sz="750" dirty="0"/>
          </a:p>
        </p:txBody>
      </p:sp>
      <p:sp>
        <p:nvSpPr>
          <p:cNvPr id="27"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rho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Shape 1"/>
          <p:cNvSpPr/>
          <p:nvPr/>
        </p:nvSpPr>
        <p:spPr>
          <a:xfrm>
            <a:off x="828000" y="667894"/>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67894"/>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12</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74188"/>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Domaine Trichon</a:t>
            </a:r>
            <a:r>
              <a:rPr lang="en-US" sz="1100" i="1" dirty="0">
                <a:solidFill>
                  <a:srgbClr val="A8515F"/>
                </a:solidFill>
                <a:latin typeface="Spectral" pitchFamily="34" charset="0"/>
                <a:ea typeface="Spectral" pitchFamily="34" charset="-122"/>
                <a:cs typeface="Spectral" pitchFamily="34" charset="-120"/>
              </a:rPr>
              <a:t>  (suite)</a:t>
            </a:r>
            <a:endParaRPr lang="en-US" sz="2000" dirty="0"/>
          </a:p>
        </p:txBody>
      </p:sp>
      <p:sp>
        <p:nvSpPr>
          <p:cNvPr id="7" name="Text 4"/>
          <p:cNvSpPr/>
          <p:nvPr/>
        </p:nvSpPr>
        <p:spPr>
          <a:xfrm>
            <a:off x="5508000" y="540000"/>
            <a:ext cx="1440000" cy="774188"/>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8" name="Shape 5"/>
          <p:cNvSpPr/>
          <p:nvPr/>
        </p:nvSpPr>
        <p:spPr>
          <a:xfrm>
            <a:off x="828000" y="1332188"/>
            <a:ext cx="6120000" cy="0"/>
          </a:xfrm>
          <a:prstGeom prst="line">
            <a:avLst/>
          </a:prstGeom>
          <a:noFill/>
          <a:ln w="17780">
            <a:solidFill>
              <a:srgbClr val="67067C"/>
            </a:solidFill>
            <a:prstDash val="solid"/>
          </a:ln>
        </p:spPr>
      </p:sp>
      <p:sp>
        <p:nvSpPr>
          <p:cNvPr id="9" name="Shape 6"/>
          <p:cNvSpPr/>
          <p:nvPr/>
        </p:nvSpPr>
        <p:spPr>
          <a:xfrm>
            <a:off x="828000" y="1425788"/>
            <a:ext cx="486451"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png">    </p:cNvPr>
          <p:cNvPicPr>
            <a:picLocks noChangeAspect="1"/>
          </p:cNvPicPr>
          <p:nvPr/>
        </p:nvPicPr>
        <p:blipFill>
          <a:blip r:embed="rId2"/>
          <a:stretch>
            <a:fillRect/>
          </a:stretch>
        </p:blipFill>
        <p:spPr>
          <a:xfrm>
            <a:off x="900000" y="1461788"/>
            <a:ext cx="108000" cy="108000"/>
          </a:xfrm>
          <a:prstGeom prst="rect">
            <a:avLst/>
          </a:prstGeom>
        </p:spPr>
      </p:pic>
      <p:sp>
        <p:nvSpPr>
          <p:cNvPr id="11" name="Text 7"/>
          <p:cNvSpPr/>
          <p:nvPr/>
        </p:nvSpPr>
        <p:spPr>
          <a:xfrm>
            <a:off x="975600" y="1425788"/>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2" name="Shape 8"/>
          <p:cNvSpPr/>
          <p:nvPr/>
        </p:nvSpPr>
        <p:spPr>
          <a:xfrm>
            <a:off x="1393651" y="1425788"/>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393651" y="1425788"/>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2858325" y="1425788"/>
            <a:ext cx="1204240"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858325" y="1425788"/>
            <a:ext cx="1204240"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10 vins à la dégustation</a:t>
            </a:r>
            <a:endParaRPr lang="en-US" sz="72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828000" y="1735388"/>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cols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300 cols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600 cols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Côtes du Rhône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Côtes du Rhône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2264">
                <a:tc>
                  <a:txBody>
                    <a:bodyPr/>
                    <a:lstStyle/>
                    <a:p>
                      <a:pPr algn="ctr" indent="0" marL="0">
                        <a:buNone/>
                      </a:pPr>
                      <a:r>
                        <a:rPr lang="en-US" sz="900" dirty="0">
                          <a:solidFill>
                            <a:srgbClr val="3C5B47"/>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Mas de Lusanne Pétillant de Jus de Raisin 0 %</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Bugey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Mas de Lusanne Gamay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Bugey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Mas de Lusanne Chardonnay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Vacqueyras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Vacqueyras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Vacqueyras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Vacqueyras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7" name="Shape 12"/>
          <p:cNvSpPr/>
          <p:nvPr/>
        </p:nvSpPr>
        <p:spPr>
          <a:xfrm>
            <a:off x="828000" y="4312277"/>
            <a:ext cx="0" cy="288349"/>
          </a:xfrm>
          <a:prstGeom prst="line">
            <a:avLst/>
          </a:prstGeom>
          <a:noFill/>
          <a:ln w="17780">
            <a:solidFill>
              <a:srgbClr val="67067C"/>
            </a:solidFill>
            <a:prstDash val="solid"/>
          </a:ln>
        </p:spPr>
      </p:sp>
      <p:sp>
        <p:nvSpPr>
          <p:cNvPr id="18" name="Text 13"/>
          <p:cNvSpPr/>
          <p:nvPr/>
        </p:nvSpPr>
        <p:spPr>
          <a:xfrm>
            <a:off x="936000" y="4312277"/>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départ cave.</a:t>
            </a:r>
            <a:endParaRPr lang="en-US" sz="1050" dirty="0"/>
          </a:p>
        </p:txBody>
      </p:sp>
      <p:sp>
        <p:nvSpPr>
          <p:cNvPr id="19" name="Text 14"/>
          <p:cNvSpPr/>
          <p:nvPr/>
        </p:nvSpPr>
        <p:spPr>
          <a:xfrm>
            <a:off x="828000" y="4744627"/>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20" name="Image 2" descr="/home/user/philippe1/build/deco-salon-prive-2026/sol-rhone.png">    </p:cNvPr>
          <p:cNvPicPr>
            <a:picLocks noChangeAspect="1"/>
          </p:cNvPicPr>
          <p:nvPr/>
        </p:nvPicPr>
        <p:blipFill>
          <a:blip r:embed="rId3"/>
          <a:stretch>
            <a:fillRect/>
          </a:stretch>
        </p:blipFill>
        <p:spPr>
          <a:xfrm>
            <a:off x="828000" y="4892227"/>
            <a:ext cx="6120000" cy="1924449"/>
          </a:xfrm>
          <a:prstGeom prst="rect">
            <a:avLst/>
          </a:prstGeom>
        </p:spPr>
      </p:pic>
      <p:sp>
        <p:nvSpPr>
          <p:cNvPr id="21" name="Shape 15"/>
          <p:cNvSpPr/>
          <p:nvPr/>
        </p:nvSpPr>
        <p:spPr>
          <a:xfrm>
            <a:off x="828000" y="8388000"/>
            <a:ext cx="6120000" cy="0"/>
          </a:xfrm>
          <a:prstGeom prst="line">
            <a:avLst/>
          </a:prstGeom>
          <a:noFill/>
          <a:ln w="8890">
            <a:solidFill>
              <a:srgbClr val="46606E"/>
            </a:solidFill>
            <a:prstDash val="solid"/>
          </a:ln>
        </p:spPr>
      </p:sp>
      <p:sp>
        <p:nvSpPr>
          <p:cNvPr id="22" name="Text 16"/>
          <p:cNvSpPr/>
          <p:nvPr/>
        </p:nvSpPr>
        <p:spPr>
          <a:xfrm>
            <a:off x="828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3" name="Text 17"/>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Rouge    ● Jus de cépages    ● Autre     pictos de l’Agence SCIO, pas les logos officiels</a:t>
            </a:r>
            <a:endParaRPr lang="en-US" sz="650" dirty="0"/>
          </a:p>
        </p:txBody>
      </p:sp>
      <p:sp>
        <p:nvSpPr>
          <p:cNvPr id="24" name="Text 18"/>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26</a:t>
            </a:r>
            <a:endParaRPr lang="en-US" sz="750" dirty="0"/>
          </a:p>
        </p:txBody>
      </p:sp>
      <p:sp>
        <p:nvSpPr>
          <p:cNvPr id="25" name="Text 19"/>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46606E"/>
        </a:solidFill>
      </p:bgPr>
    </p:bg>
    <p:spTree>
      <p:nvGrpSpPr>
        <p:cNvPr id="1" name=""/>
        <p:cNvGrpSpPr/>
        <p:nvPr/>
      </p:nvGrpSpPr>
      <p:grpSpPr>
        <a:xfrm>
          <a:off x="0" y="0"/>
          <a:ext cx="0" cy="0"/>
          <a:chOff x="0" y="0"/>
          <a:chExt cx="0" cy="0"/>
        </a:xfrm>
      </p:grpSpPr>
      <p:pic>
        <p:nvPicPr>
          <p:cNvPr id="2" name="Image 0" descr="/home/user/philippe1/build/deco-salon-prive-2026/ouverture-sud-ouest.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salon-prive-2026/carotte-sud-ouest.png">    </p:cNvPr>
          <p:cNvPicPr>
            <a:picLocks noChangeAspect="1"/>
          </p:cNvPicPr>
          <p:nvPr/>
        </p:nvPicPr>
        <p:blipFill>
          <a:blip r:embed="rId2"/>
          <a:stretch>
            <a:fillRect/>
          </a:stretch>
        </p:blipFill>
        <p:spPr>
          <a:xfrm>
            <a:off x="7236000" y="0"/>
            <a:ext cx="324000" cy="9360000"/>
          </a:xfrm>
          <a:prstGeom prst="rect">
            <a:avLst/>
          </a:prstGeom>
        </p:spPr>
      </p:pic>
      <p:sp>
        <p:nvSpPr>
          <p:cNvPr id="4"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SUD-OUEST</a:t>
            </a:r>
            <a:endParaRPr lang="en-US" sz="660" dirty="0"/>
          </a:p>
        </p:txBody>
      </p:sp>
      <p:sp>
        <p:nvSpPr>
          <p:cNvPr id="5" name="Text 1"/>
          <p:cNvSpPr/>
          <p:nvPr/>
        </p:nvSpPr>
        <p:spPr>
          <a:xfrm>
            <a:off x="612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5 / 9</a:t>
            </a:r>
            <a:endParaRPr lang="en-US" sz="800" dirty="0"/>
          </a:p>
        </p:txBody>
      </p:sp>
      <p:sp>
        <p:nvSpPr>
          <p:cNvPr id="6" name="Text 2"/>
          <p:cNvSpPr/>
          <p:nvPr/>
        </p:nvSpPr>
        <p:spPr>
          <a:xfrm>
            <a:off x="612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Sud-Ouest</a:t>
            </a:r>
            <a:endParaRPr lang="en-US" sz="4600" dirty="0"/>
          </a:p>
        </p:txBody>
      </p:sp>
      <p:sp>
        <p:nvSpPr>
          <p:cNvPr id="7" name="Text 3"/>
          <p:cNvSpPr/>
          <p:nvPr/>
        </p:nvSpPr>
        <p:spPr>
          <a:xfrm>
            <a:off x="612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sables fauves et fossiles marins</a:t>
            </a:r>
            <a:endParaRPr lang="en-US" sz="1200" dirty="0"/>
          </a:p>
        </p:txBody>
      </p:sp>
      <p:sp>
        <p:nvSpPr>
          <p:cNvPr id="8" name="Text 4"/>
          <p:cNvSpPr/>
          <p:nvPr/>
        </p:nvSpPr>
        <p:spPr>
          <a:xfrm>
            <a:off x="612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2</a:t>
            </a:r>
            <a:endParaRPr lang="en-US" sz="2000" dirty="0"/>
          </a:p>
        </p:txBody>
      </p:sp>
      <p:sp>
        <p:nvSpPr>
          <p:cNvPr id="9" name="Text 5"/>
          <p:cNvSpPr/>
          <p:nvPr/>
        </p:nvSpPr>
        <p:spPr>
          <a:xfrm>
            <a:off x="612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domaines</a:t>
            </a:r>
            <a:endParaRPr lang="en-US" sz="850" dirty="0"/>
          </a:p>
        </p:txBody>
      </p:sp>
      <p:sp>
        <p:nvSpPr>
          <p:cNvPr id="10" name="Text 6"/>
          <p:cNvSpPr/>
          <p:nvPr/>
        </p:nvSpPr>
        <p:spPr>
          <a:xfrm>
            <a:off x="1620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13</a:t>
            </a:r>
            <a:endParaRPr lang="en-US" sz="2000" dirty="0"/>
          </a:p>
        </p:txBody>
      </p:sp>
      <p:sp>
        <p:nvSpPr>
          <p:cNvPr id="11" name="Text 7"/>
          <p:cNvSpPr/>
          <p:nvPr/>
        </p:nvSpPr>
        <p:spPr>
          <a:xfrm>
            <a:off x="1620000" y="6660000"/>
            <a:ext cx="1620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vins à la dégustation</a:t>
            </a:r>
            <a:endParaRPr lang="en-US" sz="850" dirty="0"/>
          </a:p>
        </p:txBody>
      </p:sp>
      <p:sp>
        <p:nvSpPr>
          <p:cNvPr id="12" name="Text 8"/>
          <p:cNvSpPr/>
          <p:nvPr/>
        </p:nvSpPr>
        <p:spPr>
          <a:xfrm>
            <a:off x="61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20   </a:t>
            </a:r>
            <a:r>
              <a:rPr lang="en-US" sz="860" dirty="0">
                <a:solidFill>
                  <a:srgbClr val="FBF8F1"/>
                </a:solidFill>
                <a:latin typeface="IBM Plex Sans" pitchFamily="34" charset="0"/>
                <a:ea typeface="IBM Plex Sans" pitchFamily="34" charset="-122"/>
                <a:cs typeface="IBM Plex Sans" pitchFamily="34" charset="-120"/>
              </a:rPr>
              <a:t>Domaine Stratéus</a:t>
            </a:r>
            <a:r>
              <a:rPr lang="en-US" sz="860" b="1" dirty="0">
                <a:solidFill>
                  <a:srgbClr val="FBF8F1"/>
                </a:solidFill>
                <a:latin typeface="IBM Plex Sans" pitchFamily="34" charset="0"/>
                <a:ea typeface="IBM Plex Sans" pitchFamily="34" charset="-122"/>
                <a:cs typeface="IBM Plex Sans" pitchFamily="34" charset="-120"/>
              </a:rPr>
              <a:t>   28</a:t>
            </a:r>
            <a:endParaRPr lang="en-US" sz="860" dirty="0"/>
          </a:p>
        </p:txBody>
      </p:sp>
      <p:sp>
        <p:nvSpPr>
          <p:cNvPr id="13" name="Text 9"/>
          <p:cNvSpPr/>
          <p:nvPr/>
        </p:nvSpPr>
        <p:spPr>
          <a:xfrm>
            <a:off x="367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6   </a:t>
            </a:r>
            <a:r>
              <a:rPr lang="en-US" sz="860" dirty="0">
                <a:solidFill>
                  <a:srgbClr val="FBF8F1"/>
                </a:solidFill>
                <a:latin typeface="IBM Plex Sans" pitchFamily="34" charset="0"/>
                <a:ea typeface="IBM Plex Sans" pitchFamily="34" charset="-122"/>
                <a:cs typeface="IBM Plex Sans" pitchFamily="34" charset="-120"/>
              </a:rPr>
              <a:t>Domaine Haut Marin</a:t>
            </a:r>
            <a:r>
              <a:rPr lang="en-US" sz="860" b="1" dirty="0">
                <a:solidFill>
                  <a:srgbClr val="FBF8F1"/>
                </a:solidFill>
                <a:latin typeface="IBM Plex Sans" pitchFamily="34" charset="0"/>
                <a:ea typeface="IBM Plex Sans" pitchFamily="34" charset="-122"/>
                <a:cs typeface="IBM Plex Sans" pitchFamily="34" charset="-120"/>
              </a:rPr>
              <a:t>   29</a:t>
            </a:r>
            <a:endParaRPr lang="en-US" sz="860" dirty="0"/>
          </a:p>
        </p:txBody>
      </p:sp>
      <p:sp>
        <p:nvSpPr>
          <p:cNvPr id="14" name="Text 10"/>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27</a:t>
            </a:r>
            <a:endParaRPr lang="en-US" sz="750" dirty="0"/>
          </a:p>
        </p:txBody>
      </p:sp>
      <p:sp>
        <p:nvSpPr>
          <p:cNvPr id="15" name="Text 11"/>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sud-ouest.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SUD-OUEST</a:t>
            </a:r>
            <a:endParaRPr lang="en-US" sz="660" dirty="0"/>
          </a:p>
        </p:txBody>
      </p:sp>
      <p:sp>
        <p:nvSpPr>
          <p:cNvPr id="4" name="Shape 1"/>
          <p:cNvSpPr/>
          <p:nvPr/>
        </p:nvSpPr>
        <p:spPr>
          <a:xfrm>
            <a:off x="828000" y="667894"/>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67894"/>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20</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74188"/>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Domaine Stratéus</a:t>
            </a:r>
            <a:endParaRPr lang="en-US" sz="2000" dirty="0"/>
          </a:p>
        </p:txBody>
      </p:sp>
      <p:sp>
        <p:nvSpPr>
          <p:cNvPr id="7" name="Text 4"/>
          <p:cNvSpPr/>
          <p:nvPr/>
        </p:nvSpPr>
        <p:spPr>
          <a:xfrm>
            <a:off x="5508000" y="540000"/>
            <a:ext cx="1440000" cy="774188"/>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SUD-OUEST</a:t>
            </a:r>
            <a:endParaRPr lang="en-US" sz="800" dirty="0"/>
          </a:p>
        </p:txBody>
      </p:sp>
      <p:sp>
        <p:nvSpPr>
          <p:cNvPr id="8" name="Shape 5"/>
          <p:cNvSpPr/>
          <p:nvPr/>
        </p:nvSpPr>
        <p:spPr>
          <a:xfrm>
            <a:off x="828000" y="1332188"/>
            <a:ext cx="6120000" cy="0"/>
          </a:xfrm>
          <a:prstGeom prst="line">
            <a:avLst/>
          </a:prstGeom>
          <a:noFill/>
          <a:ln w="17780">
            <a:solidFill>
              <a:srgbClr val="67067C"/>
            </a:solidFill>
            <a:prstDash val="solid"/>
          </a:ln>
        </p:spPr>
      </p:sp>
      <p:sp>
        <p:nvSpPr>
          <p:cNvPr id="9" name="Shape 6"/>
          <p:cNvSpPr/>
          <p:nvPr/>
        </p:nvSpPr>
        <p:spPr>
          <a:xfrm>
            <a:off x="828000" y="1425788"/>
            <a:ext cx="1101294"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conversion.png">    </p:cNvPr>
          <p:cNvPicPr>
            <a:picLocks noChangeAspect="1"/>
          </p:cNvPicPr>
          <p:nvPr/>
        </p:nvPicPr>
        <p:blipFill>
          <a:blip r:embed="rId2"/>
          <a:stretch>
            <a:fillRect/>
          </a:stretch>
        </p:blipFill>
        <p:spPr>
          <a:xfrm>
            <a:off x="900000" y="1461788"/>
            <a:ext cx="108000" cy="108000"/>
          </a:xfrm>
          <a:prstGeom prst="rect">
            <a:avLst/>
          </a:prstGeom>
        </p:spPr>
      </p:pic>
      <p:sp>
        <p:nvSpPr>
          <p:cNvPr id="11" name="Text 7"/>
          <p:cNvSpPr/>
          <p:nvPr/>
        </p:nvSpPr>
        <p:spPr>
          <a:xfrm>
            <a:off x="975600" y="1425788"/>
            <a:ext cx="95369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En conversion Bio</a:t>
            </a:r>
            <a:endParaRPr lang="en-US" sz="720" dirty="0"/>
          </a:p>
        </p:txBody>
      </p:sp>
      <p:sp>
        <p:nvSpPr>
          <p:cNvPr id="12" name="Shape 8"/>
          <p:cNvSpPr/>
          <p:nvPr/>
        </p:nvSpPr>
        <p:spPr>
          <a:xfrm>
            <a:off x="2008494" y="1425788"/>
            <a:ext cx="630911" cy="180000"/>
          </a:xfrm>
          <a:prstGeom prst="roundRect">
            <a:avLst>
              <a:gd name="adj" fmla="val 10160"/>
            </a:avLst>
          </a:prstGeom>
          <a:solidFill>
            <a:srgbClr val="67067C"/>
          </a:solidFill>
          <a:ln w="8890">
            <a:solidFill>
              <a:srgbClr val="67067C"/>
            </a:solidFill>
            <a:prstDash val="solid"/>
          </a:ln>
        </p:spPr>
      </p:sp>
      <p:sp>
        <p:nvSpPr>
          <p:cNvPr id="13" name="Text 9"/>
          <p:cNvSpPr/>
          <p:nvPr/>
        </p:nvSpPr>
        <p:spPr>
          <a:xfrm>
            <a:off x="2008494" y="1425788"/>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4" name="Shape 10"/>
          <p:cNvSpPr/>
          <p:nvPr/>
        </p:nvSpPr>
        <p:spPr>
          <a:xfrm>
            <a:off x="2718605" y="1425788"/>
            <a:ext cx="1385474" cy="180000"/>
          </a:xfrm>
          <a:prstGeom prst="roundRect">
            <a:avLst>
              <a:gd name="adj" fmla="val 10160"/>
            </a:avLst>
          </a:prstGeom>
          <a:solidFill>
            <a:srgbClr val="F2EADA"/>
          </a:solidFill>
          <a:ln w="8890">
            <a:solidFill>
              <a:srgbClr val="A8515F"/>
            </a:solidFill>
            <a:prstDash val="solid"/>
          </a:ln>
        </p:spPr>
      </p:sp>
      <p:sp>
        <p:nvSpPr>
          <p:cNvPr id="15" name="Text 11"/>
          <p:cNvSpPr/>
          <p:nvPr/>
        </p:nvSpPr>
        <p:spPr>
          <a:xfrm>
            <a:off x="2718605" y="1425788"/>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6" name="Shape 12"/>
          <p:cNvSpPr/>
          <p:nvPr/>
        </p:nvSpPr>
        <p:spPr>
          <a:xfrm>
            <a:off x="4183278" y="1425788"/>
            <a:ext cx="1149376" cy="180000"/>
          </a:xfrm>
          <a:prstGeom prst="roundRect">
            <a:avLst>
              <a:gd name="adj" fmla="val 10160"/>
            </a:avLst>
          </a:prstGeom>
          <a:solidFill>
            <a:srgbClr val="F2EADA"/>
          </a:solidFill>
          <a:ln w="8890">
            <a:solidFill>
              <a:srgbClr val="46606E"/>
            </a:solidFill>
            <a:prstDash val="solid"/>
          </a:ln>
        </p:spPr>
      </p:sp>
      <p:sp>
        <p:nvSpPr>
          <p:cNvPr id="17" name="Text 13"/>
          <p:cNvSpPr/>
          <p:nvPr/>
        </p:nvSpPr>
        <p:spPr>
          <a:xfrm>
            <a:off x="4183278" y="1425788"/>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6 vins à la dégustation</a:t>
            </a:r>
            <a:endParaRPr lang="en-US" sz="720" dirty="0"/>
          </a:p>
        </p:txBody>
      </p:sp>
      <p:pic>
        <p:nvPicPr>
          <p:cNvPr id="18" name="Image 2" descr="logo du domaine — Domaine Stratéus">    </p:cNvPr>
          <p:cNvPicPr>
            <a:picLocks noChangeAspect="1"/>
          </p:cNvPicPr>
          <p:nvPr/>
        </p:nvPicPr>
        <p:blipFill>
          <a:blip r:embed="rId3"/>
          <a:stretch>
            <a:fillRect/>
          </a:stretch>
        </p:blipFill>
        <p:spPr>
          <a:xfrm>
            <a:off x="828000" y="1735388"/>
            <a:ext cx="1440000" cy="1440000"/>
          </a:xfrm>
          <a:prstGeom prst="rect">
            <a:avLst/>
          </a:prstGeom>
        </p:spPr>
      </p:pic>
      <p:pic>
        <p:nvPicPr>
          <p:cNvPr id="19" name="Image 3" descr="Une bouteille du domaine Domaine Stratéus">    </p:cNvPr>
          <p:cNvPicPr>
            <a:picLocks noChangeAspect="1"/>
          </p:cNvPicPr>
          <p:nvPr/>
        </p:nvPicPr>
        <p:blipFill>
          <a:blip r:embed="rId4"/>
          <a:stretch>
            <a:fillRect/>
          </a:stretch>
        </p:blipFill>
        <p:spPr>
          <a:xfrm>
            <a:off x="6272066" y="1735388"/>
            <a:ext cx="487869" cy="2232000"/>
          </a:xfrm>
          <a:prstGeom prst="rect">
            <a:avLst/>
          </a:prstGeom>
        </p:spPr>
      </p:pic>
      <p:sp>
        <p:nvSpPr>
          <p:cNvPr id="20" name="Text 14"/>
          <p:cNvSpPr/>
          <p:nvPr/>
        </p:nvSpPr>
        <p:spPr>
          <a:xfrm>
            <a:off x="2393975" y="1849151"/>
            <a:ext cx="333950" cy="502717"/>
          </a:xfrm>
          <a:prstGeom prst="rect">
            <a:avLst/>
          </a:prstGeom>
          <a:noFill/>
          <a:ln/>
        </p:spPr>
        <p:txBody>
          <a:bodyPr wrap="square" lIns="0" tIns="0" rIns="0" bIns="0" rtlCol="0" anchor="t"/>
          <a:lstStyle/>
          <a:p>
            <a:pPr algn="r" indent="0" marL="0">
              <a:lnSpc>
                <a:spcPct val="121800"/>
              </a:lnSpc>
              <a:buNone/>
            </a:pPr>
            <a:r>
              <a:rPr lang="en-US" sz="2474" dirty="0">
                <a:solidFill>
                  <a:srgbClr val="67067C"/>
                </a:solidFill>
                <a:latin typeface="Young Serif" pitchFamily="34" charset="0"/>
                <a:ea typeface="Young Serif" pitchFamily="34" charset="-122"/>
                <a:cs typeface="Young Serif" pitchFamily="34" charset="-120"/>
              </a:rPr>
              <a:t>N</a:t>
            </a:r>
            <a:endParaRPr lang="en-US" sz="2474" dirty="0"/>
          </a:p>
        </p:txBody>
      </p:sp>
      <p:sp>
        <p:nvSpPr>
          <p:cNvPr id="21" name="Text 15"/>
          <p:cNvSpPr/>
          <p:nvPr/>
        </p:nvSpPr>
        <p:spPr>
          <a:xfrm>
            <a:off x="2448000" y="1997218"/>
            <a:ext cx="3456000" cy="1970070"/>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é de la transmission d’une vigne de 80 ans en Madiran par son grand-père, le projet de Simon cultive la rareté : produire peu pour produire sain. Environ six hectares en Madiran et Pacherenc-du-Vic-Bilh, en symbiose avec un élevage de bœufs Angus sur la ferme.</a:t>
            </a:r>
            <a:endParaRPr lang="en-US" sz="13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828000" y="4129288"/>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36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60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Madiran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Strateus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Madiran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Néolitik</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Madiran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Koloss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E1C853"/>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Koloss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Pacherenc du Vic-Bilh Sec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Strateus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Pacherenc du Vic-Bilh Sec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Néolitik</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3" name="Shape 16"/>
          <p:cNvSpPr/>
          <p:nvPr/>
        </p:nvSpPr>
        <p:spPr>
          <a:xfrm>
            <a:off x="828000" y="6833872"/>
            <a:ext cx="0" cy="288349"/>
          </a:xfrm>
          <a:prstGeom prst="line">
            <a:avLst/>
          </a:prstGeom>
          <a:noFill/>
          <a:ln w="17780">
            <a:solidFill>
              <a:srgbClr val="67067C"/>
            </a:solidFill>
            <a:prstDash val="solid"/>
          </a:ln>
        </p:spPr>
      </p:sp>
      <p:sp>
        <p:nvSpPr>
          <p:cNvPr id="24" name="Text 17"/>
          <p:cNvSpPr/>
          <p:nvPr/>
        </p:nvSpPr>
        <p:spPr>
          <a:xfrm>
            <a:off x="936000" y="6833872"/>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5" name="Text 18"/>
          <p:cNvSpPr/>
          <p:nvPr/>
        </p:nvSpPr>
        <p:spPr>
          <a:xfrm>
            <a:off x="828000" y="7266221"/>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SUD-OUEST — SABLES FAUVES ET FOSSILES MARINS</a:t>
            </a:r>
            <a:endParaRPr lang="en-US" sz="720" dirty="0"/>
          </a:p>
        </p:txBody>
      </p:sp>
      <p:pic>
        <p:nvPicPr>
          <p:cNvPr id="26" name="Image 4" descr="/home/user/philippe1/build/deco-salon-prive-2026/sol-sud-ouest.png">    </p:cNvPr>
          <p:cNvPicPr>
            <a:picLocks noChangeAspect="1"/>
          </p:cNvPicPr>
          <p:nvPr/>
        </p:nvPicPr>
        <p:blipFill>
          <a:blip r:embed="rId5"/>
          <a:stretch>
            <a:fillRect/>
          </a:stretch>
        </p:blipFill>
        <p:spPr>
          <a:xfrm>
            <a:off x="828000" y="7413821"/>
            <a:ext cx="6120000" cy="700220"/>
          </a:xfrm>
          <a:prstGeom prst="rect">
            <a:avLst/>
          </a:prstGeom>
        </p:spPr>
      </p:pic>
      <p:sp>
        <p:nvSpPr>
          <p:cNvPr id="27" name="Shape 19"/>
          <p:cNvSpPr/>
          <p:nvPr/>
        </p:nvSpPr>
        <p:spPr>
          <a:xfrm>
            <a:off x="828000" y="8388000"/>
            <a:ext cx="6120000" cy="0"/>
          </a:xfrm>
          <a:prstGeom prst="line">
            <a:avLst/>
          </a:prstGeom>
          <a:noFill/>
          <a:ln w="8890">
            <a:solidFill>
              <a:srgbClr val="46606E"/>
            </a:solidFill>
            <a:prstDash val="solid"/>
          </a:ln>
        </p:spPr>
      </p:sp>
      <p:sp>
        <p:nvSpPr>
          <p:cNvPr id="28" name="Text 20"/>
          <p:cNvSpPr/>
          <p:nvPr/>
        </p:nvSpPr>
        <p:spPr>
          <a:xfrm>
            <a:off x="828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9" name="Text 21"/>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 Doux     pictos de l’Agence SCIO, pas les logos officiels</a:t>
            </a:r>
            <a:endParaRPr lang="en-US" sz="650" dirty="0"/>
          </a:p>
        </p:txBody>
      </p:sp>
      <p:sp>
        <p:nvSpPr>
          <p:cNvPr id="30" name="Text 22"/>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28</a:t>
            </a:r>
            <a:endParaRPr lang="en-US" sz="750" dirty="0"/>
          </a:p>
        </p:txBody>
      </p:sp>
      <p:sp>
        <p:nvSpPr>
          <p:cNvPr id="31" name="Text 23"/>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sud-ouest.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SUD-OUEST</a:t>
            </a:r>
            <a:endParaRPr lang="en-US" sz="660" dirty="0"/>
          </a:p>
        </p:txBody>
      </p:sp>
      <p:sp>
        <p:nvSpPr>
          <p:cNvPr id="4" name="Shape 1"/>
          <p:cNvSpPr/>
          <p:nvPr/>
        </p:nvSpPr>
        <p:spPr>
          <a:xfrm>
            <a:off x="612000" y="667894"/>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612000" y="667894"/>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6</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Blanche</a:t>
            </a:r>
            <a:endParaRPr lang="en-US" sz="700" dirty="0"/>
          </a:p>
        </p:txBody>
      </p:sp>
      <p:sp>
        <p:nvSpPr>
          <p:cNvPr id="6" name="Text 3"/>
          <p:cNvSpPr/>
          <p:nvPr/>
        </p:nvSpPr>
        <p:spPr>
          <a:xfrm>
            <a:off x="1440000" y="540000"/>
            <a:ext cx="4068000" cy="774188"/>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Domaine Haut Marin</a:t>
            </a:r>
            <a:endParaRPr lang="en-US" sz="2000" dirty="0"/>
          </a:p>
        </p:txBody>
      </p:sp>
      <p:sp>
        <p:nvSpPr>
          <p:cNvPr id="7" name="Text 4"/>
          <p:cNvSpPr/>
          <p:nvPr/>
        </p:nvSpPr>
        <p:spPr>
          <a:xfrm>
            <a:off x="5292000" y="540000"/>
            <a:ext cx="1440000" cy="774188"/>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SUD-OUEST</a:t>
            </a:r>
            <a:endParaRPr lang="en-US" sz="800" dirty="0"/>
          </a:p>
        </p:txBody>
      </p:sp>
      <p:sp>
        <p:nvSpPr>
          <p:cNvPr id="8" name="Shape 5"/>
          <p:cNvSpPr/>
          <p:nvPr/>
        </p:nvSpPr>
        <p:spPr>
          <a:xfrm>
            <a:off x="612000" y="1332188"/>
            <a:ext cx="6120000" cy="0"/>
          </a:xfrm>
          <a:prstGeom prst="line">
            <a:avLst/>
          </a:prstGeom>
          <a:noFill/>
          <a:ln w="17780">
            <a:solidFill>
              <a:srgbClr val="67067C"/>
            </a:solidFill>
            <a:prstDash val="solid"/>
          </a:ln>
        </p:spPr>
      </p:sp>
      <p:sp>
        <p:nvSpPr>
          <p:cNvPr id="9" name="Shape 6"/>
          <p:cNvSpPr/>
          <p:nvPr/>
        </p:nvSpPr>
        <p:spPr>
          <a:xfrm>
            <a:off x="612000" y="1425788"/>
            <a:ext cx="604592"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hve.png">    </p:cNvPr>
          <p:cNvPicPr>
            <a:picLocks noChangeAspect="1"/>
          </p:cNvPicPr>
          <p:nvPr/>
        </p:nvPicPr>
        <p:blipFill>
          <a:blip r:embed="rId2"/>
          <a:stretch>
            <a:fillRect/>
          </a:stretch>
        </p:blipFill>
        <p:spPr>
          <a:xfrm>
            <a:off x="684000" y="1461788"/>
            <a:ext cx="108000" cy="108000"/>
          </a:xfrm>
          <a:prstGeom prst="rect">
            <a:avLst/>
          </a:prstGeom>
        </p:spPr>
      </p:pic>
      <p:sp>
        <p:nvSpPr>
          <p:cNvPr id="11" name="Text 7"/>
          <p:cNvSpPr/>
          <p:nvPr/>
        </p:nvSpPr>
        <p:spPr>
          <a:xfrm>
            <a:off x="759600" y="1425788"/>
            <a:ext cx="456992"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 3</a:t>
            </a:r>
            <a:endParaRPr lang="en-US" sz="720" dirty="0"/>
          </a:p>
        </p:txBody>
      </p:sp>
      <p:sp>
        <p:nvSpPr>
          <p:cNvPr id="12" name="Shape 8"/>
          <p:cNvSpPr/>
          <p:nvPr/>
        </p:nvSpPr>
        <p:spPr>
          <a:xfrm>
            <a:off x="1295792" y="1425788"/>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295792" y="1425788"/>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2760466" y="1425788"/>
            <a:ext cx="864357" cy="180000"/>
          </a:xfrm>
          <a:prstGeom prst="roundRect">
            <a:avLst>
              <a:gd name="adj" fmla="val 10160"/>
            </a:avLst>
          </a:prstGeom>
          <a:solidFill>
            <a:srgbClr val="D08C3C"/>
          </a:solidFill>
          <a:ln w="8890">
            <a:solidFill>
              <a:srgbClr val="D08C3C"/>
            </a:solidFill>
            <a:prstDash val="solid"/>
          </a:ln>
        </p:spPr>
      </p:sp>
      <p:sp>
        <p:nvSpPr>
          <p:cNvPr id="15" name="Text 11"/>
          <p:cNvSpPr/>
          <p:nvPr/>
        </p:nvSpPr>
        <p:spPr>
          <a:xfrm>
            <a:off x="2760466" y="1425788"/>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6" name="Shape 12"/>
          <p:cNvSpPr/>
          <p:nvPr/>
        </p:nvSpPr>
        <p:spPr>
          <a:xfrm>
            <a:off x="3704023" y="1425788"/>
            <a:ext cx="1149376" cy="180000"/>
          </a:xfrm>
          <a:prstGeom prst="roundRect">
            <a:avLst>
              <a:gd name="adj" fmla="val 10160"/>
            </a:avLst>
          </a:prstGeom>
          <a:solidFill>
            <a:srgbClr val="F2EADA"/>
          </a:solidFill>
          <a:ln w="8890">
            <a:solidFill>
              <a:srgbClr val="46606E"/>
            </a:solidFill>
            <a:prstDash val="solid"/>
          </a:ln>
        </p:spPr>
      </p:sp>
      <p:sp>
        <p:nvSpPr>
          <p:cNvPr id="17" name="Text 13"/>
          <p:cNvSpPr/>
          <p:nvPr/>
        </p:nvSpPr>
        <p:spPr>
          <a:xfrm>
            <a:off x="3704023" y="1425788"/>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7 vins à la dégustation</a:t>
            </a:r>
            <a:endParaRPr lang="en-US" sz="720" dirty="0"/>
          </a:p>
        </p:txBody>
      </p:sp>
      <p:pic>
        <p:nvPicPr>
          <p:cNvPr id="18" name="Image 2" descr="logo du domaine — Domaine Haut Marin">    </p:cNvPr>
          <p:cNvPicPr>
            <a:picLocks noChangeAspect="1"/>
          </p:cNvPicPr>
          <p:nvPr/>
        </p:nvPicPr>
        <p:blipFill>
          <a:blip r:embed="rId3"/>
          <a:stretch>
            <a:fillRect/>
          </a:stretch>
        </p:blipFill>
        <p:spPr>
          <a:xfrm>
            <a:off x="612000" y="1735388"/>
            <a:ext cx="1440000" cy="1440000"/>
          </a:xfrm>
          <a:prstGeom prst="rect">
            <a:avLst/>
          </a:prstGeom>
        </p:spPr>
      </p:pic>
      <p:pic>
        <p:nvPicPr>
          <p:cNvPr id="19" name="Image 3" descr="Une bouteille du domaine Domaine Haut Marin">    </p:cNvPr>
          <p:cNvPicPr>
            <a:picLocks noChangeAspect="1"/>
          </p:cNvPicPr>
          <p:nvPr/>
        </p:nvPicPr>
        <p:blipFill>
          <a:blip r:embed="rId4"/>
          <a:stretch>
            <a:fillRect/>
          </a:stretch>
        </p:blipFill>
        <p:spPr>
          <a:xfrm>
            <a:off x="6028623" y="1735388"/>
            <a:ext cx="542754" cy="2232000"/>
          </a:xfrm>
          <a:prstGeom prst="rect">
            <a:avLst/>
          </a:prstGeom>
        </p:spPr>
      </p:pic>
      <p:sp>
        <p:nvSpPr>
          <p:cNvPr id="20" name="Text 14"/>
          <p:cNvSpPr/>
          <p:nvPr/>
        </p:nvSpPr>
        <p:spPr>
          <a:xfrm>
            <a:off x="2177992" y="1707448"/>
            <a:ext cx="292658" cy="505765"/>
          </a:xfrm>
          <a:prstGeom prst="rect">
            <a:avLst/>
          </a:prstGeom>
          <a:noFill/>
          <a:ln/>
        </p:spPr>
        <p:txBody>
          <a:bodyPr wrap="square" lIns="0" tIns="0" rIns="0" bIns="0" rtlCol="0" anchor="t"/>
          <a:lstStyle/>
          <a:p>
            <a:pPr algn="r" indent="0" marL="0">
              <a:lnSpc>
                <a:spcPct val="121600"/>
              </a:lnSpc>
              <a:buNone/>
            </a:pPr>
            <a:r>
              <a:rPr lang="en-US" sz="2489" dirty="0">
                <a:solidFill>
                  <a:srgbClr val="67067C"/>
                </a:solidFill>
                <a:latin typeface="Young Serif" pitchFamily="34" charset="0"/>
                <a:ea typeface="Young Serif" pitchFamily="34" charset="-122"/>
                <a:cs typeface="Young Serif" pitchFamily="34" charset="-120"/>
              </a:rPr>
              <a:t>E</a:t>
            </a:r>
            <a:endParaRPr lang="en-US" sz="2489" dirty="0"/>
          </a:p>
        </p:txBody>
      </p:sp>
      <p:sp>
        <p:nvSpPr>
          <p:cNvPr id="21" name="Text 15"/>
          <p:cNvSpPr/>
          <p:nvPr/>
        </p:nvSpPr>
        <p:spPr>
          <a:xfrm>
            <a:off x="2232000" y="1857267"/>
            <a:ext cx="3456000" cy="2110020"/>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n plein cœur de la Gascogne à Gondrin, les familles Jegerlehner et Prataviera subliment sables fauves et sous-sols argilo-calcaires riches en fossiles marins. Cette fraîcheur insuffle aux cépages gascons éclat aromatique et vivacité saline. IGP Côtes de Gascogne et Bas-Armagnacs.</a:t>
            </a:r>
            <a:endParaRPr lang="en-US" sz="13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612000" y="4129288"/>
          <a:ext cx="6120000" cy="914400"/>
        </p:xfrm>
        <a:graphic>
          <a:graphicData uri="http://schemas.openxmlformats.org/drawingml/2006/table">
            <a:tbl>
              <a:tblPr/>
              <a:tblGrid>
                <a:gridCol w="216000"/>
                <a:gridCol w="2988000"/>
                <a:gridCol w="540000"/>
                <a:gridCol w="504000"/>
                <a:gridCol w="624000"/>
                <a:gridCol w="624000"/>
                <a:gridCol w="624000"/>
              </a:tblGrid>
              <a:tr h="407194">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72 bouteilles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300 bouteilles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600 bouteilles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N°1 Littorine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N°6 Fossiles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N°3 Gulf Stream</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N°4 Triton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E1C853"/>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N°8 Grand Pavois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E1C853"/>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N°7 Venus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Côtes de Gascogne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N°10</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3" name="Shape 16"/>
          <p:cNvSpPr/>
          <p:nvPr/>
        </p:nvSpPr>
        <p:spPr>
          <a:xfrm>
            <a:off x="612000" y="7311164"/>
            <a:ext cx="0" cy="288349"/>
          </a:xfrm>
          <a:prstGeom prst="line">
            <a:avLst/>
          </a:prstGeom>
          <a:noFill/>
          <a:ln w="17780">
            <a:solidFill>
              <a:srgbClr val="67067C"/>
            </a:solidFill>
            <a:prstDash val="solid"/>
          </a:ln>
        </p:spPr>
      </p:sp>
      <p:sp>
        <p:nvSpPr>
          <p:cNvPr id="24" name="Text 17"/>
          <p:cNvSpPr/>
          <p:nvPr/>
        </p:nvSpPr>
        <p:spPr>
          <a:xfrm>
            <a:off x="720000" y="7311164"/>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5" name="Shape 18"/>
          <p:cNvSpPr/>
          <p:nvPr/>
        </p:nvSpPr>
        <p:spPr>
          <a:xfrm>
            <a:off x="612000" y="8388000"/>
            <a:ext cx="6120000" cy="0"/>
          </a:xfrm>
          <a:prstGeom prst="line">
            <a:avLst/>
          </a:prstGeom>
          <a:noFill/>
          <a:ln w="8890">
            <a:solidFill>
              <a:srgbClr val="46606E"/>
            </a:solidFill>
            <a:prstDash val="solid"/>
          </a:ln>
        </p:spPr>
      </p:sp>
      <p:sp>
        <p:nvSpPr>
          <p:cNvPr id="26" name="Text 19"/>
          <p:cNvSpPr/>
          <p:nvPr/>
        </p:nvSpPr>
        <p:spPr>
          <a:xfrm>
            <a:off x="612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16 · 17 · 44 · 79 · 85</a:t>
            </a:r>
            <a:endParaRPr lang="en-US" sz="720" dirty="0"/>
          </a:p>
        </p:txBody>
      </p:sp>
      <p:sp>
        <p:nvSpPr>
          <p:cNvPr id="27" name="Text 20"/>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Rosé    ● Rouge    ● Doux     pictos de l’Agence SCIO, pas les logos officiels</a:t>
            </a:r>
            <a:endParaRPr lang="en-US" sz="650" dirty="0"/>
          </a:p>
        </p:txBody>
      </p:sp>
      <p:sp>
        <p:nvSpPr>
          <p:cNvPr id="28" name="Text 21"/>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29</a:t>
            </a:r>
            <a:endParaRPr lang="en-US" sz="750" dirty="0"/>
          </a:p>
        </p:txBody>
      </p:sp>
      <p:sp>
        <p:nvSpPr>
          <p:cNvPr id="29" name="Text 22"/>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46606E"/>
        </a:solidFill>
      </p:bgPr>
    </p:bg>
    <p:spTree>
      <p:nvGrpSpPr>
        <p:cNvPr id="1" name=""/>
        <p:cNvGrpSpPr/>
        <p:nvPr/>
      </p:nvGrpSpPr>
      <p:grpSpPr>
        <a:xfrm>
          <a:off x="0" y="0"/>
          <a:ext cx="0" cy="0"/>
          <a:chOff x="0" y="0"/>
          <a:chExt cx="0" cy="0"/>
        </a:xfrm>
      </p:grpSpPr>
      <p:pic>
        <p:nvPicPr>
          <p:cNvPr id="2" name="Image 0" descr="/home/user/philippe1/build/deco-salon-prive-2026/ouverture-bordeaux.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salon-prive-2026/carotte-bordeaux.png">    </p:cNvPr>
          <p:cNvPicPr>
            <a:picLocks noChangeAspect="1"/>
          </p:cNvPicPr>
          <p:nvPr/>
        </p:nvPicPr>
        <p:blipFill>
          <a:blip r:embed="rId2"/>
          <a:stretch>
            <a:fillRect/>
          </a:stretch>
        </p:blipFill>
        <p:spPr>
          <a:xfrm>
            <a:off x="0" y="0"/>
            <a:ext cx="324000" cy="9360000"/>
          </a:xfrm>
          <a:prstGeom prst="rect">
            <a:avLst/>
          </a:prstGeom>
        </p:spPr>
      </p:pic>
      <p:sp>
        <p:nvSpPr>
          <p:cNvPr id="4"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5" name="Text 1"/>
          <p:cNvSpPr/>
          <p:nvPr/>
        </p:nvSpPr>
        <p:spPr>
          <a:xfrm>
            <a:off x="828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6 / 9</a:t>
            </a:r>
            <a:endParaRPr lang="en-US" sz="800" dirty="0"/>
          </a:p>
        </p:txBody>
      </p:sp>
      <p:sp>
        <p:nvSpPr>
          <p:cNvPr id="6" name="Text 2"/>
          <p:cNvSpPr/>
          <p:nvPr/>
        </p:nvSpPr>
        <p:spPr>
          <a:xfrm>
            <a:off x="828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Bordeaux</a:t>
            </a:r>
            <a:endParaRPr lang="en-US" sz="4600" dirty="0"/>
          </a:p>
        </p:txBody>
      </p:sp>
      <p:sp>
        <p:nvSpPr>
          <p:cNvPr id="7" name="Text 3"/>
          <p:cNvSpPr/>
          <p:nvPr/>
        </p:nvSpPr>
        <p:spPr>
          <a:xfrm>
            <a:off x="828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graves et argilo-calcaire</a:t>
            </a:r>
            <a:endParaRPr lang="en-US" sz="1200" dirty="0"/>
          </a:p>
        </p:txBody>
      </p:sp>
      <p:sp>
        <p:nvSpPr>
          <p:cNvPr id="8" name="Text 4"/>
          <p:cNvSpPr/>
          <p:nvPr/>
        </p:nvSpPr>
        <p:spPr>
          <a:xfrm>
            <a:off x="828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4</a:t>
            </a:r>
            <a:endParaRPr lang="en-US" sz="2000" dirty="0"/>
          </a:p>
        </p:txBody>
      </p:sp>
      <p:sp>
        <p:nvSpPr>
          <p:cNvPr id="9" name="Text 5"/>
          <p:cNvSpPr/>
          <p:nvPr/>
        </p:nvSpPr>
        <p:spPr>
          <a:xfrm>
            <a:off x="828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domaines</a:t>
            </a:r>
            <a:endParaRPr lang="en-US" sz="850" dirty="0"/>
          </a:p>
        </p:txBody>
      </p:sp>
      <p:sp>
        <p:nvSpPr>
          <p:cNvPr id="10" name="Text 6"/>
          <p:cNvSpPr/>
          <p:nvPr/>
        </p:nvSpPr>
        <p:spPr>
          <a:xfrm>
            <a:off x="1836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17</a:t>
            </a:r>
            <a:endParaRPr lang="en-US" sz="2000" dirty="0"/>
          </a:p>
        </p:txBody>
      </p:sp>
      <p:sp>
        <p:nvSpPr>
          <p:cNvPr id="11" name="Text 7"/>
          <p:cNvSpPr/>
          <p:nvPr/>
        </p:nvSpPr>
        <p:spPr>
          <a:xfrm>
            <a:off x="1836000" y="6660000"/>
            <a:ext cx="1620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vins à la dégustation</a:t>
            </a:r>
            <a:endParaRPr lang="en-US" sz="850" dirty="0"/>
          </a:p>
        </p:txBody>
      </p:sp>
      <p:sp>
        <p:nvSpPr>
          <p:cNvPr id="12" name="Text 8"/>
          <p:cNvSpPr/>
          <p:nvPr/>
        </p:nvSpPr>
        <p:spPr>
          <a:xfrm>
            <a:off x="828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8   </a:t>
            </a:r>
            <a:r>
              <a:rPr lang="en-US" sz="860" dirty="0">
                <a:solidFill>
                  <a:srgbClr val="FBF8F1"/>
                </a:solidFill>
                <a:latin typeface="IBM Plex Sans" pitchFamily="34" charset="0"/>
                <a:ea typeface="IBM Plex Sans" pitchFamily="34" charset="-122"/>
                <a:cs typeface="IBM Plex Sans" pitchFamily="34" charset="-120"/>
              </a:rPr>
              <a:t>Château Falfas</a:t>
            </a:r>
            <a:r>
              <a:rPr lang="en-US" sz="860" b="1" dirty="0">
                <a:solidFill>
                  <a:srgbClr val="FBF8F1"/>
                </a:solidFill>
                <a:latin typeface="IBM Plex Sans" pitchFamily="34" charset="0"/>
                <a:ea typeface="IBM Plex Sans" pitchFamily="34" charset="-122"/>
                <a:cs typeface="IBM Plex Sans" pitchFamily="34" charset="-120"/>
              </a:rPr>
              <a:t>   31</a:t>
            </a:r>
            <a:endParaRPr lang="en-US" sz="860" dirty="0"/>
          </a:p>
        </p:txBody>
      </p:sp>
      <p:sp>
        <p:nvSpPr>
          <p:cNvPr id="13" name="Text 9"/>
          <p:cNvSpPr/>
          <p:nvPr/>
        </p:nvSpPr>
        <p:spPr>
          <a:xfrm>
            <a:off x="3888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16   </a:t>
            </a:r>
            <a:r>
              <a:rPr lang="en-US" sz="860" dirty="0">
                <a:solidFill>
                  <a:srgbClr val="FBF8F1"/>
                </a:solidFill>
                <a:latin typeface="IBM Plex Sans" pitchFamily="34" charset="0"/>
                <a:ea typeface="IBM Plex Sans" pitchFamily="34" charset="-122"/>
                <a:cs typeface="IBM Plex Sans" pitchFamily="34" charset="-120"/>
              </a:rPr>
              <a:t>Château Pré la Lande</a:t>
            </a:r>
            <a:r>
              <a:rPr lang="en-US" sz="860" b="1" dirty="0">
                <a:solidFill>
                  <a:srgbClr val="FBF8F1"/>
                </a:solidFill>
                <a:latin typeface="IBM Plex Sans" pitchFamily="34" charset="0"/>
                <a:ea typeface="IBM Plex Sans" pitchFamily="34" charset="-122"/>
                <a:cs typeface="IBM Plex Sans" pitchFamily="34" charset="-120"/>
              </a:rPr>
              <a:t>   32</a:t>
            </a:r>
            <a:endParaRPr lang="en-US" sz="860" dirty="0"/>
          </a:p>
        </p:txBody>
      </p:sp>
      <p:sp>
        <p:nvSpPr>
          <p:cNvPr id="14" name="Text 10"/>
          <p:cNvSpPr/>
          <p:nvPr/>
        </p:nvSpPr>
        <p:spPr>
          <a:xfrm>
            <a:off x="828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   </a:t>
            </a:r>
            <a:r>
              <a:rPr lang="en-US" sz="860" dirty="0">
                <a:solidFill>
                  <a:srgbClr val="FBF8F1"/>
                </a:solidFill>
                <a:latin typeface="IBM Plex Sans" pitchFamily="34" charset="0"/>
                <a:ea typeface="IBM Plex Sans" pitchFamily="34" charset="-122"/>
                <a:cs typeface="IBM Plex Sans" pitchFamily="34" charset="-120"/>
              </a:rPr>
              <a:t>Château Balac</a:t>
            </a:r>
            <a:r>
              <a:rPr lang="en-US" sz="860" b="1" dirty="0">
                <a:solidFill>
                  <a:srgbClr val="FBF8F1"/>
                </a:solidFill>
                <a:latin typeface="IBM Plex Sans" pitchFamily="34" charset="0"/>
                <a:ea typeface="IBM Plex Sans" pitchFamily="34" charset="-122"/>
                <a:cs typeface="IBM Plex Sans" pitchFamily="34" charset="-120"/>
              </a:rPr>
              <a:t>   33</a:t>
            </a:r>
            <a:endParaRPr lang="en-US" sz="860" dirty="0"/>
          </a:p>
        </p:txBody>
      </p:sp>
      <p:sp>
        <p:nvSpPr>
          <p:cNvPr id="15" name="Text 11"/>
          <p:cNvSpPr/>
          <p:nvPr/>
        </p:nvSpPr>
        <p:spPr>
          <a:xfrm>
            <a:off x="3888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24   </a:t>
            </a:r>
            <a:r>
              <a:rPr lang="en-US" sz="860" dirty="0">
                <a:solidFill>
                  <a:srgbClr val="FBF8F1"/>
                </a:solidFill>
                <a:latin typeface="IBM Plex Sans" pitchFamily="34" charset="0"/>
                <a:ea typeface="IBM Plex Sans" pitchFamily="34" charset="-122"/>
                <a:cs typeface="IBM Plex Sans" pitchFamily="34" charset="-120"/>
              </a:rPr>
              <a:t>Château l’Escarderie</a:t>
            </a:r>
            <a:r>
              <a:rPr lang="en-US" sz="860" b="1" dirty="0">
                <a:solidFill>
                  <a:srgbClr val="FBF8F1"/>
                </a:solidFill>
                <a:latin typeface="IBM Plex Sans" pitchFamily="34" charset="0"/>
                <a:ea typeface="IBM Plex Sans" pitchFamily="34" charset="-122"/>
                <a:cs typeface="IBM Plex Sans" pitchFamily="34" charset="-120"/>
              </a:rPr>
              <a:t>   34</a:t>
            </a:r>
            <a:endParaRPr lang="en-US" sz="860" dirty="0"/>
          </a:p>
        </p:txBody>
      </p:sp>
      <p:sp>
        <p:nvSpPr>
          <p:cNvPr id="16" name="Text 12"/>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30</a:t>
            </a:r>
            <a:endParaRPr lang="en-US" sz="750" dirty="0"/>
          </a:p>
        </p:txBody>
      </p:sp>
      <p:sp>
        <p:nvSpPr>
          <p:cNvPr id="17" name="Text 13"/>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bordeaux.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Shape 1"/>
          <p:cNvSpPr/>
          <p:nvPr/>
        </p:nvSpPr>
        <p:spPr>
          <a:xfrm>
            <a:off x="612000" y="667894"/>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612000" y="667894"/>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8</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440000" y="540000"/>
            <a:ext cx="4068000" cy="774188"/>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Château Falfas</a:t>
            </a:r>
            <a:endParaRPr lang="en-US" sz="2000" dirty="0"/>
          </a:p>
        </p:txBody>
      </p:sp>
      <p:sp>
        <p:nvSpPr>
          <p:cNvPr id="7" name="Text 4"/>
          <p:cNvSpPr/>
          <p:nvPr/>
        </p:nvSpPr>
        <p:spPr>
          <a:xfrm>
            <a:off x="5292000" y="540000"/>
            <a:ext cx="1440000" cy="774188"/>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8" name="Shape 5"/>
          <p:cNvSpPr/>
          <p:nvPr/>
        </p:nvSpPr>
        <p:spPr>
          <a:xfrm>
            <a:off x="612000" y="1332188"/>
            <a:ext cx="6120000" cy="0"/>
          </a:xfrm>
          <a:prstGeom prst="line">
            <a:avLst/>
          </a:prstGeom>
          <a:noFill/>
          <a:ln w="17780">
            <a:solidFill>
              <a:srgbClr val="67067C"/>
            </a:solidFill>
            <a:prstDash val="solid"/>
          </a:ln>
        </p:spPr>
      </p:sp>
      <p:sp>
        <p:nvSpPr>
          <p:cNvPr id="9" name="Shape 6"/>
          <p:cNvSpPr/>
          <p:nvPr/>
        </p:nvSpPr>
        <p:spPr>
          <a:xfrm>
            <a:off x="612000" y="1425788"/>
            <a:ext cx="851480"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biodyn.png">    </p:cNvPr>
          <p:cNvPicPr>
            <a:picLocks noChangeAspect="1"/>
          </p:cNvPicPr>
          <p:nvPr/>
        </p:nvPicPr>
        <p:blipFill>
          <a:blip r:embed="rId2"/>
          <a:stretch>
            <a:fillRect/>
          </a:stretch>
        </p:blipFill>
        <p:spPr>
          <a:xfrm>
            <a:off x="684000" y="1461788"/>
            <a:ext cx="108000" cy="108000"/>
          </a:xfrm>
          <a:prstGeom prst="rect">
            <a:avLst/>
          </a:prstGeom>
        </p:spPr>
      </p:pic>
      <p:sp>
        <p:nvSpPr>
          <p:cNvPr id="11" name="Text 7"/>
          <p:cNvSpPr/>
          <p:nvPr/>
        </p:nvSpPr>
        <p:spPr>
          <a:xfrm>
            <a:off x="759600" y="1425788"/>
            <a:ext cx="703880"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Biodynamie</a:t>
            </a:r>
            <a:endParaRPr lang="en-US" sz="720" dirty="0"/>
          </a:p>
        </p:txBody>
      </p:sp>
      <p:sp>
        <p:nvSpPr>
          <p:cNvPr id="12" name="Shape 8"/>
          <p:cNvSpPr/>
          <p:nvPr/>
        </p:nvSpPr>
        <p:spPr>
          <a:xfrm>
            <a:off x="1542680" y="1425788"/>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542680" y="1425788"/>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3007354" y="1425788"/>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007354" y="1425788"/>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7 vins à la dégustation</a:t>
            </a:r>
            <a:endParaRPr lang="en-US" sz="720" dirty="0"/>
          </a:p>
        </p:txBody>
      </p:sp>
      <p:pic>
        <p:nvPicPr>
          <p:cNvPr id="16" name="Image 2" descr="logo du château — Château Falfas">    </p:cNvPr>
          <p:cNvPicPr>
            <a:picLocks noChangeAspect="1"/>
          </p:cNvPicPr>
          <p:nvPr/>
        </p:nvPicPr>
        <p:blipFill>
          <a:blip r:embed="rId3"/>
          <a:stretch>
            <a:fillRect/>
          </a:stretch>
        </p:blipFill>
        <p:spPr>
          <a:xfrm>
            <a:off x="612000" y="1735388"/>
            <a:ext cx="1440000" cy="1440000"/>
          </a:xfrm>
          <a:prstGeom prst="rect">
            <a:avLst/>
          </a:prstGeom>
        </p:spPr>
      </p:pic>
      <p:pic>
        <p:nvPicPr>
          <p:cNvPr id="17" name="Image 3" descr="Une bouteille du domaine Château Falfas">    </p:cNvPr>
          <p:cNvPicPr>
            <a:picLocks noChangeAspect="1"/>
          </p:cNvPicPr>
          <p:nvPr/>
        </p:nvPicPr>
        <p:blipFill>
          <a:blip r:embed="rId4"/>
          <a:stretch>
            <a:fillRect/>
          </a:stretch>
        </p:blipFill>
        <p:spPr>
          <a:xfrm>
            <a:off x="6028623" y="1735388"/>
            <a:ext cx="542754" cy="2232000"/>
          </a:xfrm>
          <a:prstGeom prst="rect">
            <a:avLst/>
          </a:prstGeom>
        </p:spPr>
      </p:pic>
      <p:sp>
        <p:nvSpPr>
          <p:cNvPr id="18" name="Text 12"/>
          <p:cNvSpPr/>
          <p:nvPr/>
        </p:nvSpPr>
        <p:spPr>
          <a:xfrm>
            <a:off x="2177960" y="1730912"/>
            <a:ext cx="251415" cy="436880"/>
          </a:xfrm>
          <a:prstGeom prst="rect">
            <a:avLst/>
          </a:prstGeom>
          <a:noFill/>
          <a:ln/>
        </p:spPr>
        <p:txBody>
          <a:bodyPr wrap="square" lIns="0" tIns="0" rIns="0" bIns="0" rtlCol="0" anchor="t"/>
          <a:lstStyle/>
          <a:p>
            <a:pPr algn="r" indent="0" marL="0">
              <a:lnSpc>
                <a:spcPct val="126100"/>
              </a:lnSpc>
              <a:buNone/>
            </a:pPr>
            <a:r>
              <a:rPr lang="en-US" sz="2150" dirty="0">
                <a:solidFill>
                  <a:srgbClr val="67067C"/>
                </a:solidFill>
                <a:latin typeface="Young Serif" pitchFamily="34" charset="0"/>
                <a:ea typeface="Young Serif" pitchFamily="34" charset="-122"/>
                <a:cs typeface="Young Serif" pitchFamily="34" charset="-120"/>
              </a:rPr>
              <a:t>S</a:t>
            </a:r>
            <a:endParaRPr lang="en-US" sz="2150" dirty="0"/>
          </a:p>
        </p:txBody>
      </p:sp>
      <p:sp>
        <p:nvSpPr>
          <p:cNvPr id="19" name="Text 13"/>
          <p:cNvSpPr/>
          <p:nvPr/>
        </p:nvSpPr>
        <p:spPr>
          <a:xfrm>
            <a:off x="2232000" y="1841123"/>
            <a:ext cx="3456000" cy="2126165"/>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entinelle édifiée en 1612 sur les coteaux argilo-calcaires de Bayon, Falfas est une référence pionnière de la biodynamie bordelaise, membre fondateur de Biodyvin sous la houlette de John et Véronique Cochran. Vingt hectares vendangés à la main pour des Côtes de Bourg racés et de longue garde.</a:t>
            </a:r>
            <a:endParaRPr lang="en-US" sz="13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612000" y="4129288"/>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Côtes de Bourg</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Demoiselles de Falfas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Côtes de Bourg</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Falfas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Côtes de Bourg</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Falfas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Côtes de Bourg</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Falfas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Côtes de Bourg</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Falfas Le Chevalier (Vieilles Vignes)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2017</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Côtes de Bourg</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Falfas Le Chevalier (Vieilles Vignes)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2019</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Côtes de Bourg</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Falfas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612000" y="7157276"/>
            <a:ext cx="0" cy="288349"/>
          </a:xfrm>
          <a:prstGeom prst="line">
            <a:avLst/>
          </a:prstGeom>
          <a:noFill/>
          <a:ln w="17780">
            <a:solidFill>
              <a:srgbClr val="67067C"/>
            </a:solidFill>
            <a:prstDash val="solid"/>
          </a:ln>
        </p:spPr>
      </p:sp>
      <p:sp>
        <p:nvSpPr>
          <p:cNvPr id="22" name="Text 15"/>
          <p:cNvSpPr/>
          <p:nvPr/>
        </p:nvSpPr>
        <p:spPr>
          <a:xfrm>
            <a:off x="720000" y="7157276"/>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3" name="Shape 16"/>
          <p:cNvSpPr/>
          <p:nvPr/>
        </p:nvSpPr>
        <p:spPr>
          <a:xfrm>
            <a:off x="612000" y="8388000"/>
            <a:ext cx="6120000" cy="0"/>
          </a:xfrm>
          <a:prstGeom prst="line">
            <a:avLst/>
          </a:prstGeom>
          <a:noFill/>
          <a:ln w="8890">
            <a:solidFill>
              <a:srgbClr val="46606E"/>
            </a:solidFill>
            <a:prstDash val="solid"/>
          </a:ln>
        </p:spPr>
      </p:sp>
      <p:sp>
        <p:nvSpPr>
          <p:cNvPr id="24" name="Text 17"/>
          <p:cNvSpPr/>
          <p:nvPr/>
        </p:nvSpPr>
        <p:spPr>
          <a:xfrm>
            <a:off x="612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8"/>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Rouge     pictos de l’Agence SCIO, pas les logos officiels</a:t>
            </a:r>
            <a:endParaRPr lang="en-US" sz="650" dirty="0"/>
          </a:p>
        </p:txBody>
      </p:sp>
      <p:sp>
        <p:nvSpPr>
          <p:cNvPr id="26" name="Text 1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31</a:t>
            </a:r>
            <a:endParaRPr lang="en-US" sz="750" dirty="0"/>
          </a:p>
        </p:txBody>
      </p:sp>
      <p:sp>
        <p:nvSpPr>
          <p:cNvPr id="27" name="Text 2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bordeaux.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Shape 1"/>
          <p:cNvSpPr/>
          <p:nvPr/>
        </p:nvSpPr>
        <p:spPr>
          <a:xfrm>
            <a:off x="828000" y="667894"/>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67894"/>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16</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74188"/>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Château Pré la Lande</a:t>
            </a:r>
            <a:endParaRPr lang="en-US" sz="2000" dirty="0"/>
          </a:p>
        </p:txBody>
      </p:sp>
      <p:sp>
        <p:nvSpPr>
          <p:cNvPr id="7" name="Text 4"/>
          <p:cNvSpPr/>
          <p:nvPr/>
        </p:nvSpPr>
        <p:spPr>
          <a:xfrm>
            <a:off x="5508000" y="540000"/>
            <a:ext cx="1440000" cy="774188"/>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8" name="Shape 5"/>
          <p:cNvSpPr/>
          <p:nvPr/>
        </p:nvSpPr>
        <p:spPr>
          <a:xfrm>
            <a:off x="828000" y="1332188"/>
            <a:ext cx="6120000" cy="0"/>
          </a:xfrm>
          <a:prstGeom prst="line">
            <a:avLst/>
          </a:prstGeom>
          <a:noFill/>
          <a:ln w="17780">
            <a:solidFill>
              <a:srgbClr val="67067C"/>
            </a:solidFill>
            <a:prstDash val="solid"/>
          </a:ln>
        </p:spPr>
      </p:sp>
      <p:sp>
        <p:nvSpPr>
          <p:cNvPr id="9" name="Shape 6"/>
          <p:cNvSpPr/>
          <p:nvPr/>
        </p:nvSpPr>
        <p:spPr>
          <a:xfrm>
            <a:off x="828000" y="1425788"/>
            <a:ext cx="851480"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biodyn.png">    </p:cNvPr>
          <p:cNvPicPr>
            <a:picLocks noChangeAspect="1"/>
          </p:cNvPicPr>
          <p:nvPr/>
        </p:nvPicPr>
        <p:blipFill>
          <a:blip r:embed="rId2"/>
          <a:stretch>
            <a:fillRect/>
          </a:stretch>
        </p:blipFill>
        <p:spPr>
          <a:xfrm>
            <a:off x="900000" y="1461788"/>
            <a:ext cx="108000" cy="108000"/>
          </a:xfrm>
          <a:prstGeom prst="rect">
            <a:avLst/>
          </a:prstGeom>
        </p:spPr>
      </p:pic>
      <p:sp>
        <p:nvSpPr>
          <p:cNvPr id="11" name="Text 7"/>
          <p:cNvSpPr/>
          <p:nvPr/>
        </p:nvSpPr>
        <p:spPr>
          <a:xfrm>
            <a:off x="975600" y="1425788"/>
            <a:ext cx="703880"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Biodynamie</a:t>
            </a:r>
            <a:endParaRPr lang="en-US" sz="720" dirty="0"/>
          </a:p>
        </p:txBody>
      </p:sp>
      <p:sp>
        <p:nvSpPr>
          <p:cNvPr id="12" name="Shape 8"/>
          <p:cNvSpPr/>
          <p:nvPr/>
        </p:nvSpPr>
        <p:spPr>
          <a:xfrm>
            <a:off x="1758680" y="1425788"/>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758680" y="1425788"/>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3223354" y="1425788"/>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223354" y="1425788"/>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vins à la dégustation</a:t>
            </a:r>
            <a:endParaRPr lang="en-US" sz="720" dirty="0"/>
          </a:p>
        </p:txBody>
      </p:sp>
      <p:pic>
        <p:nvPicPr>
          <p:cNvPr id="16" name="Image 2" descr="vendanges au domaine — Château Pré la Lande">    </p:cNvPr>
          <p:cNvPicPr>
            <a:picLocks noChangeAspect="1"/>
          </p:cNvPicPr>
          <p:nvPr/>
        </p:nvPicPr>
        <p:blipFill>
          <a:blip r:embed="rId3"/>
          <a:stretch>
            <a:fillRect/>
          </a:stretch>
        </p:blipFill>
        <p:spPr>
          <a:xfrm>
            <a:off x="828000" y="1735388"/>
            <a:ext cx="1440000" cy="1440000"/>
          </a:xfrm>
          <a:prstGeom prst="rect">
            <a:avLst/>
          </a:prstGeom>
        </p:spPr>
      </p:pic>
      <p:pic>
        <p:nvPicPr>
          <p:cNvPr id="17" name="Image 3" descr="Une bouteille du domaine Château Pré la Lande">    </p:cNvPr>
          <p:cNvPicPr>
            <a:picLocks noChangeAspect="1"/>
          </p:cNvPicPr>
          <p:nvPr/>
        </p:nvPicPr>
        <p:blipFill>
          <a:blip r:embed="rId4"/>
          <a:stretch>
            <a:fillRect/>
          </a:stretch>
        </p:blipFill>
        <p:spPr>
          <a:xfrm>
            <a:off x="6238525" y="1735388"/>
            <a:ext cx="554951" cy="2232000"/>
          </a:xfrm>
          <a:prstGeom prst="rect">
            <a:avLst/>
          </a:prstGeom>
        </p:spPr>
      </p:pic>
      <p:sp>
        <p:nvSpPr>
          <p:cNvPr id="18" name="Text 12"/>
          <p:cNvSpPr/>
          <p:nvPr/>
        </p:nvSpPr>
        <p:spPr>
          <a:xfrm>
            <a:off x="2394017" y="1726067"/>
            <a:ext cx="251358" cy="451104"/>
          </a:xfrm>
          <a:prstGeom prst="rect">
            <a:avLst/>
          </a:prstGeom>
          <a:noFill/>
          <a:ln/>
        </p:spPr>
        <p:txBody>
          <a:bodyPr wrap="square" lIns="0" tIns="0" rIns="0" bIns="0" rtlCol="0" anchor="t"/>
          <a:lstStyle/>
          <a:p>
            <a:pPr algn="r" indent="0" marL="0">
              <a:lnSpc>
                <a:spcPct val="125000"/>
              </a:lnSpc>
              <a:buNone/>
            </a:pPr>
            <a:r>
              <a:rPr lang="en-US" sz="2220" dirty="0">
                <a:solidFill>
                  <a:srgbClr val="67067C"/>
                </a:solidFill>
                <a:latin typeface="Young Serif" pitchFamily="34" charset="0"/>
                <a:ea typeface="Young Serif" pitchFamily="34" charset="-122"/>
                <a:cs typeface="Young Serif" pitchFamily="34" charset="-120"/>
              </a:rPr>
              <a:t>P</a:t>
            </a:r>
            <a:endParaRPr lang="en-US" sz="2220" dirty="0"/>
          </a:p>
        </p:txBody>
      </p:sp>
      <p:sp>
        <p:nvSpPr>
          <p:cNvPr id="19" name="Text 13"/>
          <p:cNvSpPr/>
          <p:nvPr/>
        </p:nvSpPr>
        <p:spPr>
          <a:xfrm>
            <a:off x="2448000" y="1844456"/>
            <a:ext cx="3456000" cy="2122832"/>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erchée à 120 mètres au-dessus de la vallée de la Dordogne, cette propriété de 1860 conduit une biodynamie certifiée Demeter d’une remarquable précision. Vinifications douces, sulfites au strict minimum, élevages en barriques et amphores : des vins vivants, d’une grande vibration minérale.</a:t>
            </a:r>
            <a:endParaRPr lang="en-US" sz="13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828000" y="4129288"/>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Sainte-Foy Côtes de Bordeaux</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Cuvée Diane / Le Vin Cœur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2016</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Sainte-Foy Côtes de Bordeaux</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Cuvée TerraCotta / L'An Fort des Haltères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Sainte-Foy Côtes de Bordeaux</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Cuvée des Fontenelles / Y'a Rien qui Presse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828000" y="5618393"/>
            <a:ext cx="0" cy="288349"/>
          </a:xfrm>
          <a:prstGeom prst="line">
            <a:avLst/>
          </a:prstGeom>
          <a:noFill/>
          <a:ln w="17780">
            <a:solidFill>
              <a:srgbClr val="67067C"/>
            </a:solidFill>
            <a:prstDash val="solid"/>
          </a:ln>
        </p:spPr>
      </p:sp>
      <p:sp>
        <p:nvSpPr>
          <p:cNvPr id="22" name="Text 15"/>
          <p:cNvSpPr/>
          <p:nvPr/>
        </p:nvSpPr>
        <p:spPr>
          <a:xfrm>
            <a:off x="936000" y="5618393"/>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départ chai.</a:t>
            </a:r>
            <a:endParaRPr lang="en-US" sz="1050" dirty="0"/>
          </a:p>
        </p:txBody>
      </p:sp>
      <p:sp>
        <p:nvSpPr>
          <p:cNvPr id="23" name="Text 16"/>
          <p:cNvSpPr/>
          <p:nvPr/>
        </p:nvSpPr>
        <p:spPr>
          <a:xfrm>
            <a:off x="828000" y="6050742"/>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BORDEAUX — GRAVES ET ARGILO-CALCAIRE</a:t>
            </a:r>
            <a:endParaRPr lang="en-US" sz="720" dirty="0"/>
          </a:p>
        </p:txBody>
      </p:sp>
      <p:pic>
        <p:nvPicPr>
          <p:cNvPr id="24" name="Image 4" descr="/home/user/philippe1/build/deco-salon-prive-2026/sol-bordeaux.png">    </p:cNvPr>
          <p:cNvPicPr>
            <a:picLocks noChangeAspect="1"/>
          </p:cNvPicPr>
          <p:nvPr/>
        </p:nvPicPr>
        <p:blipFill>
          <a:blip r:embed="rId5"/>
          <a:stretch>
            <a:fillRect/>
          </a:stretch>
        </p:blipFill>
        <p:spPr>
          <a:xfrm>
            <a:off x="828000" y="6198342"/>
            <a:ext cx="6120000" cy="1148400"/>
          </a:xfrm>
          <a:prstGeom prst="rect">
            <a:avLst/>
          </a:prstGeom>
        </p:spPr>
      </p:pic>
      <p:sp>
        <p:nvSpPr>
          <p:cNvPr id="25" name="Shape 17"/>
          <p:cNvSpPr/>
          <p:nvPr/>
        </p:nvSpPr>
        <p:spPr>
          <a:xfrm>
            <a:off x="828000" y="8388000"/>
            <a:ext cx="6120000" cy="0"/>
          </a:xfrm>
          <a:prstGeom prst="line">
            <a:avLst/>
          </a:prstGeom>
          <a:noFill/>
          <a:ln w="8890">
            <a:solidFill>
              <a:srgbClr val="46606E"/>
            </a:solidFill>
            <a:prstDash val="solid"/>
          </a:ln>
        </p:spPr>
      </p:sp>
      <p:sp>
        <p:nvSpPr>
          <p:cNvPr id="26" name="Text 18"/>
          <p:cNvSpPr/>
          <p:nvPr/>
        </p:nvSpPr>
        <p:spPr>
          <a:xfrm>
            <a:off x="828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7" name="Text 19"/>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Rouge     pictos de l’Agence SCIO, pas les logos officiels</a:t>
            </a:r>
            <a:endParaRPr lang="en-US" sz="650" dirty="0"/>
          </a:p>
        </p:txBody>
      </p:sp>
      <p:sp>
        <p:nvSpPr>
          <p:cNvPr id="28" name="Text 20"/>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32</a:t>
            </a:r>
            <a:endParaRPr lang="en-US" sz="750" dirty="0"/>
          </a:p>
        </p:txBody>
      </p:sp>
      <p:sp>
        <p:nvSpPr>
          <p:cNvPr id="29" name="Text 21"/>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bordeaux.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Shape 1"/>
          <p:cNvSpPr/>
          <p:nvPr/>
        </p:nvSpPr>
        <p:spPr>
          <a:xfrm>
            <a:off x="612000" y="667894"/>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612000" y="667894"/>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1</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Blanche</a:t>
            </a:r>
            <a:endParaRPr lang="en-US" sz="700" dirty="0"/>
          </a:p>
        </p:txBody>
      </p:sp>
      <p:sp>
        <p:nvSpPr>
          <p:cNvPr id="6" name="Text 3"/>
          <p:cNvSpPr/>
          <p:nvPr/>
        </p:nvSpPr>
        <p:spPr>
          <a:xfrm>
            <a:off x="1440000" y="540000"/>
            <a:ext cx="4068000" cy="774188"/>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Château Balac</a:t>
            </a:r>
            <a:endParaRPr lang="en-US" sz="2000" dirty="0"/>
          </a:p>
        </p:txBody>
      </p:sp>
      <p:sp>
        <p:nvSpPr>
          <p:cNvPr id="7" name="Text 4"/>
          <p:cNvSpPr/>
          <p:nvPr/>
        </p:nvSpPr>
        <p:spPr>
          <a:xfrm>
            <a:off x="5292000" y="540000"/>
            <a:ext cx="1440000" cy="774188"/>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8" name="Shape 5"/>
          <p:cNvSpPr/>
          <p:nvPr/>
        </p:nvSpPr>
        <p:spPr>
          <a:xfrm>
            <a:off x="612000" y="1332188"/>
            <a:ext cx="6120000" cy="0"/>
          </a:xfrm>
          <a:prstGeom prst="line">
            <a:avLst/>
          </a:prstGeom>
          <a:noFill/>
          <a:ln w="17780">
            <a:solidFill>
              <a:srgbClr val="67067C"/>
            </a:solidFill>
            <a:prstDash val="solid"/>
          </a:ln>
        </p:spPr>
      </p:sp>
      <p:sp>
        <p:nvSpPr>
          <p:cNvPr id="9" name="Shape 6"/>
          <p:cNvSpPr/>
          <p:nvPr/>
        </p:nvSpPr>
        <p:spPr>
          <a:xfrm>
            <a:off x="612000" y="1425788"/>
            <a:ext cx="486451"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png">    </p:cNvPr>
          <p:cNvPicPr>
            <a:picLocks noChangeAspect="1"/>
          </p:cNvPicPr>
          <p:nvPr/>
        </p:nvPicPr>
        <p:blipFill>
          <a:blip r:embed="rId2"/>
          <a:stretch>
            <a:fillRect/>
          </a:stretch>
        </p:blipFill>
        <p:spPr>
          <a:xfrm>
            <a:off x="684000" y="1461788"/>
            <a:ext cx="108000" cy="108000"/>
          </a:xfrm>
          <a:prstGeom prst="rect">
            <a:avLst/>
          </a:prstGeom>
        </p:spPr>
      </p:pic>
      <p:sp>
        <p:nvSpPr>
          <p:cNvPr id="11" name="Text 7"/>
          <p:cNvSpPr/>
          <p:nvPr/>
        </p:nvSpPr>
        <p:spPr>
          <a:xfrm>
            <a:off x="759600" y="1425788"/>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2" name="Shape 8"/>
          <p:cNvSpPr/>
          <p:nvPr/>
        </p:nvSpPr>
        <p:spPr>
          <a:xfrm>
            <a:off x="1177651" y="1425788"/>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177651" y="1425788"/>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2642325" y="1425788"/>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642325" y="1425788"/>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4 vins à la dégustation</a:t>
            </a:r>
            <a:endParaRPr lang="en-US" sz="720" dirty="0"/>
          </a:p>
        </p:txBody>
      </p:sp>
      <p:pic>
        <p:nvPicPr>
          <p:cNvPr id="16" name="Image 2" descr="portrait des vignerons — Château Balac">    </p:cNvPr>
          <p:cNvPicPr>
            <a:picLocks noChangeAspect="1"/>
          </p:cNvPicPr>
          <p:nvPr/>
        </p:nvPicPr>
        <p:blipFill>
          <a:blip r:embed="rId3"/>
          <a:stretch>
            <a:fillRect/>
          </a:stretch>
        </p:blipFill>
        <p:spPr>
          <a:xfrm>
            <a:off x="612000" y="1735388"/>
            <a:ext cx="1440000" cy="1440000"/>
          </a:xfrm>
          <a:prstGeom prst="rect">
            <a:avLst/>
          </a:prstGeom>
        </p:spPr>
      </p:pic>
      <p:pic>
        <p:nvPicPr>
          <p:cNvPr id="17" name="Image 3" descr="Une bouteille du domaine Château Balac">    </p:cNvPr>
          <p:cNvPicPr>
            <a:picLocks noChangeAspect="1"/>
          </p:cNvPicPr>
          <p:nvPr/>
        </p:nvPicPr>
        <p:blipFill>
          <a:blip r:embed="rId4"/>
          <a:stretch>
            <a:fillRect/>
          </a:stretch>
        </p:blipFill>
        <p:spPr>
          <a:xfrm>
            <a:off x="6030148" y="1735388"/>
            <a:ext cx="539705" cy="2232000"/>
          </a:xfrm>
          <a:prstGeom prst="rect">
            <a:avLst/>
          </a:prstGeom>
        </p:spPr>
      </p:pic>
      <p:sp>
        <p:nvSpPr>
          <p:cNvPr id="18" name="Text 12"/>
          <p:cNvSpPr/>
          <p:nvPr/>
        </p:nvSpPr>
        <p:spPr>
          <a:xfrm>
            <a:off x="2177976" y="1854896"/>
            <a:ext cx="292674" cy="485851"/>
          </a:xfrm>
          <a:prstGeom prst="rect">
            <a:avLst/>
          </a:prstGeom>
          <a:noFill/>
          <a:ln/>
        </p:spPr>
        <p:txBody>
          <a:bodyPr wrap="square" lIns="0" tIns="0" rIns="0" bIns="0" rtlCol="0" anchor="t"/>
          <a:lstStyle/>
          <a:p>
            <a:pPr algn="r" indent="0" marL="0">
              <a:lnSpc>
                <a:spcPct val="122800"/>
              </a:lnSpc>
              <a:buNone/>
            </a:pPr>
            <a:r>
              <a:rPr lang="en-US" sz="2391" dirty="0">
                <a:solidFill>
                  <a:srgbClr val="67067C"/>
                </a:solidFill>
                <a:latin typeface="Young Serif" pitchFamily="34" charset="0"/>
                <a:ea typeface="Young Serif" pitchFamily="34" charset="-122"/>
                <a:cs typeface="Young Serif" pitchFamily="34" charset="-120"/>
              </a:rPr>
              <a:t>A</a:t>
            </a:r>
            <a:endParaRPr lang="en-US" sz="2391" dirty="0"/>
          </a:p>
        </p:txBody>
      </p:sp>
      <p:sp>
        <p:nvSpPr>
          <p:cNvPr id="19" name="Text 13"/>
          <p:cNvSpPr/>
          <p:nvPr/>
        </p:nvSpPr>
        <p:spPr>
          <a:xfrm>
            <a:off x="2232000" y="1993265"/>
            <a:ext cx="3456000" cy="1974023"/>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u cœur d’une forêt de deux cents hectares, la famille Touchais veille depuis 1964 sur dix hectares de vignes à Saint-Laurent-Médoc. Classé Cru Bourgeois Supérieur et certifié bio, Balac cultive autour de sa chartreuse du XVIIIe siècle des vins de caractère et d’élégance.</a:t>
            </a:r>
            <a:endParaRPr lang="en-US" sz="13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612000" y="4129288"/>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180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Cru Bourgeois Haut-Médoc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Balac</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Balac Sans Sulfites (100 % Merlot)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Inopine (100 % Merlot)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Syrah de Balac</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612000" y="6064431"/>
            <a:ext cx="0" cy="288349"/>
          </a:xfrm>
          <a:prstGeom prst="line">
            <a:avLst/>
          </a:prstGeom>
          <a:noFill/>
          <a:ln w="17780">
            <a:solidFill>
              <a:srgbClr val="67067C"/>
            </a:solidFill>
            <a:prstDash val="solid"/>
          </a:ln>
        </p:spPr>
      </p:sp>
      <p:sp>
        <p:nvSpPr>
          <p:cNvPr id="22" name="Text 15"/>
          <p:cNvSpPr/>
          <p:nvPr/>
        </p:nvSpPr>
        <p:spPr>
          <a:xfrm>
            <a:off x="720000" y="6064431"/>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3" name="Text 16"/>
          <p:cNvSpPr/>
          <p:nvPr/>
        </p:nvSpPr>
        <p:spPr>
          <a:xfrm>
            <a:off x="612000" y="6496780"/>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BORDEAUX — GRAVES ET ARGILO-CALCAIRE</a:t>
            </a:r>
            <a:endParaRPr lang="en-US" sz="720" dirty="0"/>
          </a:p>
        </p:txBody>
      </p:sp>
      <p:pic>
        <p:nvPicPr>
          <p:cNvPr id="24" name="Image 4" descr="/home/user/philippe1/build/deco-salon-prive-2026/sol-bordeaux.png">    </p:cNvPr>
          <p:cNvPicPr>
            <a:picLocks noChangeAspect="1"/>
          </p:cNvPicPr>
          <p:nvPr/>
        </p:nvPicPr>
        <p:blipFill>
          <a:blip r:embed="rId5"/>
          <a:stretch>
            <a:fillRect/>
          </a:stretch>
        </p:blipFill>
        <p:spPr>
          <a:xfrm>
            <a:off x="612000" y="6644380"/>
            <a:ext cx="6120000" cy="1148400"/>
          </a:xfrm>
          <a:prstGeom prst="rect">
            <a:avLst/>
          </a:prstGeom>
        </p:spPr>
      </p:pic>
      <p:sp>
        <p:nvSpPr>
          <p:cNvPr id="25" name="Shape 17"/>
          <p:cNvSpPr/>
          <p:nvPr/>
        </p:nvSpPr>
        <p:spPr>
          <a:xfrm>
            <a:off x="612000" y="8388000"/>
            <a:ext cx="6120000" cy="0"/>
          </a:xfrm>
          <a:prstGeom prst="line">
            <a:avLst/>
          </a:prstGeom>
          <a:noFill/>
          <a:ln w="8890">
            <a:solidFill>
              <a:srgbClr val="46606E"/>
            </a:solidFill>
            <a:prstDash val="solid"/>
          </a:ln>
        </p:spPr>
      </p:sp>
      <p:sp>
        <p:nvSpPr>
          <p:cNvPr id="26" name="Text 18"/>
          <p:cNvSpPr/>
          <p:nvPr/>
        </p:nvSpPr>
        <p:spPr>
          <a:xfrm>
            <a:off x="612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7" name="Text 19"/>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Rouge    ● Autre     pictos de l’Agence SCIO, pas les logos officiels</a:t>
            </a:r>
            <a:endParaRPr lang="en-US" sz="650" dirty="0"/>
          </a:p>
        </p:txBody>
      </p:sp>
      <p:sp>
        <p:nvSpPr>
          <p:cNvPr id="28" name="Text 20"/>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33</a:t>
            </a:r>
            <a:endParaRPr lang="en-US" sz="750" dirty="0"/>
          </a:p>
        </p:txBody>
      </p:sp>
      <p:sp>
        <p:nvSpPr>
          <p:cNvPr id="29" name="Text 21"/>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bordeaux.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Shape 1"/>
          <p:cNvSpPr/>
          <p:nvPr/>
        </p:nvSpPr>
        <p:spPr>
          <a:xfrm>
            <a:off x="828000" y="667894"/>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67894"/>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24</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74188"/>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Château l’Escarderie</a:t>
            </a:r>
            <a:endParaRPr lang="en-US" sz="2000" dirty="0"/>
          </a:p>
        </p:txBody>
      </p:sp>
      <p:sp>
        <p:nvSpPr>
          <p:cNvPr id="7" name="Text 4"/>
          <p:cNvSpPr/>
          <p:nvPr/>
        </p:nvSpPr>
        <p:spPr>
          <a:xfrm>
            <a:off x="5508000" y="540000"/>
            <a:ext cx="1440000" cy="774188"/>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8" name="Shape 5"/>
          <p:cNvSpPr/>
          <p:nvPr/>
        </p:nvSpPr>
        <p:spPr>
          <a:xfrm>
            <a:off x="828000" y="1332188"/>
            <a:ext cx="6120000" cy="0"/>
          </a:xfrm>
          <a:prstGeom prst="line">
            <a:avLst/>
          </a:prstGeom>
          <a:noFill/>
          <a:ln w="17780">
            <a:solidFill>
              <a:srgbClr val="67067C"/>
            </a:solidFill>
            <a:prstDash val="solid"/>
          </a:ln>
        </p:spPr>
      </p:sp>
      <p:sp>
        <p:nvSpPr>
          <p:cNvPr id="9" name="Shape 6"/>
          <p:cNvSpPr/>
          <p:nvPr/>
        </p:nvSpPr>
        <p:spPr>
          <a:xfrm>
            <a:off x="828000" y="1425788"/>
            <a:ext cx="486451"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png">    </p:cNvPr>
          <p:cNvPicPr>
            <a:picLocks noChangeAspect="1"/>
          </p:cNvPicPr>
          <p:nvPr/>
        </p:nvPicPr>
        <p:blipFill>
          <a:blip r:embed="rId2"/>
          <a:stretch>
            <a:fillRect/>
          </a:stretch>
        </p:blipFill>
        <p:spPr>
          <a:xfrm>
            <a:off x="900000" y="1461788"/>
            <a:ext cx="108000" cy="108000"/>
          </a:xfrm>
          <a:prstGeom prst="rect">
            <a:avLst/>
          </a:prstGeom>
        </p:spPr>
      </p:pic>
      <p:sp>
        <p:nvSpPr>
          <p:cNvPr id="11" name="Text 7"/>
          <p:cNvSpPr/>
          <p:nvPr/>
        </p:nvSpPr>
        <p:spPr>
          <a:xfrm>
            <a:off x="975600" y="1425788"/>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2" name="Shape 8"/>
          <p:cNvSpPr/>
          <p:nvPr/>
        </p:nvSpPr>
        <p:spPr>
          <a:xfrm>
            <a:off x="1393651" y="1425788"/>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393651" y="1425788"/>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2858325" y="1425788"/>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858325" y="1425788"/>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vins à la dégustation</a:t>
            </a:r>
            <a:endParaRPr lang="en-US" sz="720" dirty="0"/>
          </a:p>
        </p:txBody>
      </p:sp>
      <p:pic>
        <p:nvPicPr>
          <p:cNvPr id="16" name="Image 2" descr="les deux vignerons, deux portraits côte à côte — Château l’Escarderie">    </p:cNvPr>
          <p:cNvPicPr>
            <a:picLocks noChangeAspect="1"/>
          </p:cNvPicPr>
          <p:nvPr/>
        </p:nvPicPr>
        <p:blipFill>
          <a:blip r:embed="rId3"/>
          <a:stretch>
            <a:fillRect/>
          </a:stretch>
        </p:blipFill>
        <p:spPr>
          <a:xfrm>
            <a:off x="828000" y="1735388"/>
            <a:ext cx="1440000" cy="1440000"/>
          </a:xfrm>
          <a:prstGeom prst="rect">
            <a:avLst/>
          </a:prstGeom>
        </p:spPr>
      </p:pic>
      <p:pic>
        <p:nvPicPr>
          <p:cNvPr id="17" name="Image 3" descr="Une bouteille du domaine Château l’Escarderie">    </p:cNvPr>
          <p:cNvPicPr>
            <a:picLocks noChangeAspect="1"/>
          </p:cNvPicPr>
          <p:nvPr/>
        </p:nvPicPr>
        <p:blipFill>
          <a:blip r:embed="rId4"/>
          <a:stretch>
            <a:fillRect/>
          </a:stretch>
        </p:blipFill>
        <p:spPr>
          <a:xfrm>
            <a:off x="6243098" y="1735388"/>
            <a:ext cx="545803" cy="2232000"/>
          </a:xfrm>
          <a:prstGeom prst="rect">
            <a:avLst/>
          </a:prstGeom>
        </p:spPr>
      </p:pic>
      <p:sp>
        <p:nvSpPr>
          <p:cNvPr id="18" name="Text 12"/>
          <p:cNvSpPr/>
          <p:nvPr/>
        </p:nvSpPr>
        <p:spPr>
          <a:xfrm>
            <a:off x="2394014" y="1717692"/>
            <a:ext cx="210086" cy="475691"/>
          </a:xfrm>
          <a:prstGeom prst="rect">
            <a:avLst/>
          </a:prstGeom>
          <a:noFill/>
          <a:ln/>
        </p:spPr>
        <p:txBody>
          <a:bodyPr wrap="square" lIns="0" tIns="0" rIns="0" bIns="0" rtlCol="0" anchor="t"/>
          <a:lstStyle/>
          <a:p>
            <a:pPr algn="r" indent="0" marL="0">
              <a:lnSpc>
                <a:spcPct val="123400"/>
              </a:lnSpc>
              <a:buNone/>
            </a:pPr>
            <a:r>
              <a:rPr lang="en-US" sz="2341" dirty="0">
                <a:solidFill>
                  <a:srgbClr val="67067C"/>
                </a:solidFill>
                <a:latin typeface="Young Serif" pitchFamily="34" charset="0"/>
                <a:ea typeface="Young Serif" pitchFamily="34" charset="-122"/>
                <a:cs typeface="Young Serif" pitchFamily="34" charset="-120"/>
              </a:rPr>
              <a:t>J</a:t>
            </a:r>
            <a:endParaRPr lang="en-US" sz="2341" dirty="0"/>
          </a:p>
        </p:txBody>
      </p:sp>
      <p:sp>
        <p:nvSpPr>
          <p:cNvPr id="19" name="Text 13"/>
          <p:cNvSpPr/>
          <p:nvPr/>
        </p:nvSpPr>
        <p:spPr>
          <a:xfrm>
            <a:off x="2448000" y="1850219"/>
            <a:ext cx="3456000" cy="2117069"/>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oyau intimiste à Saint-Germain-de-la-Rivière, en AOP Fronsac, qui renaît sous la conduite de Mélanie et Thomas. Vendanges manuelles, fermentations spontanées, sulfites mesurés et élevage sur-mesure (barriques, béton, amphores) pour des Merlots et Cabernets Francs veloutés et floraux.</a:t>
            </a:r>
            <a:endParaRPr lang="en-US" sz="13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828000" y="4129288"/>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Fronsac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Lafargue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Fronsac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Amphora de Château l'Escarderie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Confiance de l'Escarderie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828000" y="5618393"/>
            <a:ext cx="0" cy="288349"/>
          </a:xfrm>
          <a:prstGeom prst="line">
            <a:avLst/>
          </a:prstGeom>
          <a:noFill/>
          <a:ln w="17780">
            <a:solidFill>
              <a:srgbClr val="67067C"/>
            </a:solidFill>
            <a:prstDash val="solid"/>
          </a:ln>
        </p:spPr>
      </p:sp>
      <p:sp>
        <p:nvSpPr>
          <p:cNvPr id="22" name="Text 15"/>
          <p:cNvSpPr/>
          <p:nvPr/>
        </p:nvSpPr>
        <p:spPr>
          <a:xfrm>
            <a:off x="936000" y="5618393"/>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départ, franco à partir de 180 bouteilles.</a:t>
            </a:r>
            <a:endParaRPr lang="en-US" sz="1050" dirty="0"/>
          </a:p>
        </p:txBody>
      </p:sp>
      <p:sp>
        <p:nvSpPr>
          <p:cNvPr id="23" name="Text 16"/>
          <p:cNvSpPr/>
          <p:nvPr/>
        </p:nvSpPr>
        <p:spPr>
          <a:xfrm>
            <a:off x="828000" y="6050742"/>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BORDEAUX — GRAVES ET ARGILO-CALCAIRE</a:t>
            </a:r>
            <a:endParaRPr lang="en-US" sz="720" dirty="0"/>
          </a:p>
        </p:txBody>
      </p:sp>
      <p:pic>
        <p:nvPicPr>
          <p:cNvPr id="24" name="Image 4" descr="/home/user/philippe1/build/deco-salon-prive-2026/sol-bordeaux.png">    </p:cNvPr>
          <p:cNvPicPr>
            <a:picLocks noChangeAspect="1"/>
          </p:cNvPicPr>
          <p:nvPr/>
        </p:nvPicPr>
        <p:blipFill>
          <a:blip r:embed="rId5"/>
          <a:stretch>
            <a:fillRect/>
          </a:stretch>
        </p:blipFill>
        <p:spPr>
          <a:xfrm>
            <a:off x="828000" y="6198342"/>
            <a:ext cx="6120000" cy="1148400"/>
          </a:xfrm>
          <a:prstGeom prst="rect">
            <a:avLst/>
          </a:prstGeom>
        </p:spPr>
      </p:pic>
      <p:sp>
        <p:nvSpPr>
          <p:cNvPr id="25" name="Shape 17"/>
          <p:cNvSpPr/>
          <p:nvPr/>
        </p:nvSpPr>
        <p:spPr>
          <a:xfrm>
            <a:off x="828000" y="8388000"/>
            <a:ext cx="6120000" cy="0"/>
          </a:xfrm>
          <a:prstGeom prst="line">
            <a:avLst/>
          </a:prstGeom>
          <a:noFill/>
          <a:ln w="8890">
            <a:solidFill>
              <a:srgbClr val="46606E"/>
            </a:solidFill>
            <a:prstDash val="solid"/>
          </a:ln>
        </p:spPr>
      </p:sp>
      <p:sp>
        <p:nvSpPr>
          <p:cNvPr id="26" name="Text 18"/>
          <p:cNvSpPr/>
          <p:nvPr/>
        </p:nvSpPr>
        <p:spPr>
          <a:xfrm>
            <a:off x="828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7" name="Text 19"/>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Rouge    ● Autre     pictos de l’Agence SCIO, pas les logos officiels</a:t>
            </a:r>
            <a:endParaRPr lang="en-US" sz="650" dirty="0"/>
          </a:p>
        </p:txBody>
      </p:sp>
      <p:sp>
        <p:nvSpPr>
          <p:cNvPr id="28" name="Text 20"/>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34</a:t>
            </a:r>
            <a:endParaRPr lang="en-US" sz="750" dirty="0"/>
          </a:p>
        </p:txBody>
      </p:sp>
      <p:sp>
        <p:nvSpPr>
          <p:cNvPr id="29" name="Text 21"/>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46606E"/>
        </a:solidFill>
      </p:bgPr>
    </p:bg>
    <p:spTree>
      <p:nvGrpSpPr>
        <p:cNvPr id="1" name=""/>
        <p:cNvGrpSpPr/>
        <p:nvPr/>
      </p:nvGrpSpPr>
      <p:grpSpPr>
        <a:xfrm>
          <a:off x="0" y="0"/>
          <a:ext cx="0" cy="0"/>
          <a:chOff x="0" y="0"/>
          <a:chExt cx="0" cy="0"/>
        </a:xfrm>
      </p:grpSpPr>
      <p:pic>
        <p:nvPicPr>
          <p:cNvPr id="2" name="Image 0" descr="/home/user/philippe1/build/deco-salon-prive-2026/ouverture-provence.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salon-prive-2026/carotte-provence.png">    </p:cNvPr>
          <p:cNvPicPr>
            <a:picLocks noChangeAspect="1"/>
          </p:cNvPicPr>
          <p:nvPr/>
        </p:nvPicPr>
        <p:blipFill>
          <a:blip r:embed="rId2"/>
          <a:stretch>
            <a:fillRect/>
          </a:stretch>
        </p:blipFill>
        <p:spPr>
          <a:xfrm>
            <a:off x="7236000" y="0"/>
            <a:ext cx="324000" cy="9360000"/>
          </a:xfrm>
          <a:prstGeom prst="rect">
            <a:avLst/>
          </a:prstGeom>
        </p:spPr>
      </p:pic>
      <p:sp>
        <p:nvSpPr>
          <p:cNvPr id="4"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PROVENCE</a:t>
            </a:r>
            <a:endParaRPr lang="en-US" sz="660" dirty="0"/>
          </a:p>
        </p:txBody>
      </p:sp>
      <p:sp>
        <p:nvSpPr>
          <p:cNvPr id="5" name="Text 1"/>
          <p:cNvSpPr/>
          <p:nvPr/>
        </p:nvSpPr>
        <p:spPr>
          <a:xfrm>
            <a:off x="612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7 / 9</a:t>
            </a:r>
            <a:endParaRPr lang="en-US" sz="800" dirty="0"/>
          </a:p>
        </p:txBody>
      </p:sp>
      <p:sp>
        <p:nvSpPr>
          <p:cNvPr id="6" name="Text 2"/>
          <p:cNvSpPr/>
          <p:nvPr/>
        </p:nvSpPr>
        <p:spPr>
          <a:xfrm>
            <a:off x="612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Provence</a:t>
            </a:r>
            <a:endParaRPr lang="en-US" sz="4600" dirty="0"/>
          </a:p>
        </p:txBody>
      </p:sp>
      <p:sp>
        <p:nvSpPr>
          <p:cNvPr id="7" name="Text 3"/>
          <p:cNvSpPr/>
          <p:nvPr/>
        </p:nvSpPr>
        <p:spPr>
          <a:xfrm>
            <a:off x="612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la Provence Verte</a:t>
            </a:r>
            <a:endParaRPr lang="en-US" sz="1200" dirty="0"/>
          </a:p>
        </p:txBody>
      </p:sp>
      <p:sp>
        <p:nvSpPr>
          <p:cNvPr id="8" name="Text 4"/>
          <p:cNvSpPr/>
          <p:nvPr/>
        </p:nvSpPr>
        <p:spPr>
          <a:xfrm>
            <a:off x="612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1</a:t>
            </a:r>
            <a:endParaRPr lang="en-US" sz="2000" dirty="0"/>
          </a:p>
        </p:txBody>
      </p:sp>
      <p:sp>
        <p:nvSpPr>
          <p:cNvPr id="9" name="Text 5"/>
          <p:cNvSpPr/>
          <p:nvPr/>
        </p:nvSpPr>
        <p:spPr>
          <a:xfrm>
            <a:off x="612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a:t>
            </a:r>
            <a:endParaRPr lang="en-US" sz="850" dirty="0"/>
          </a:p>
        </p:txBody>
      </p:sp>
      <p:sp>
        <p:nvSpPr>
          <p:cNvPr id="10" name="Text 6"/>
          <p:cNvSpPr/>
          <p:nvPr/>
        </p:nvSpPr>
        <p:spPr>
          <a:xfrm>
            <a:off x="1620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8</a:t>
            </a:r>
            <a:endParaRPr lang="en-US" sz="2000" dirty="0"/>
          </a:p>
        </p:txBody>
      </p:sp>
      <p:sp>
        <p:nvSpPr>
          <p:cNvPr id="11" name="Text 7"/>
          <p:cNvSpPr/>
          <p:nvPr/>
        </p:nvSpPr>
        <p:spPr>
          <a:xfrm>
            <a:off x="1620000" y="6660000"/>
            <a:ext cx="1620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vins à la dégustation</a:t>
            </a:r>
            <a:endParaRPr lang="en-US" sz="850" dirty="0"/>
          </a:p>
        </p:txBody>
      </p:sp>
      <p:sp>
        <p:nvSpPr>
          <p:cNvPr id="12" name="Text 8"/>
          <p:cNvSpPr/>
          <p:nvPr/>
        </p:nvSpPr>
        <p:spPr>
          <a:xfrm>
            <a:off x="61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19   </a:t>
            </a:r>
            <a:r>
              <a:rPr lang="en-US" sz="860" dirty="0">
                <a:solidFill>
                  <a:srgbClr val="FBF8F1"/>
                </a:solidFill>
                <a:latin typeface="IBM Plex Sans" pitchFamily="34" charset="0"/>
                <a:ea typeface="IBM Plex Sans" pitchFamily="34" charset="-122"/>
                <a:cs typeface="IBM Plex Sans" pitchFamily="34" charset="-120"/>
              </a:rPr>
              <a:t>Bastide de Blacailloux</a:t>
            </a:r>
            <a:r>
              <a:rPr lang="en-US" sz="860" b="1" dirty="0">
                <a:solidFill>
                  <a:srgbClr val="FBF8F1"/>
                </a:solidFill>
                <a:latin typeface="IBM Plex Sans" pitchFamily="34" charset="0"/>
                <a:ea typeface="IBM Plex Sans" pitchFamily="34" charset="-122"/>
                <a:cs typeface="IBM Plex Sans" pitchFamily="34" charset="-120"/>
              </a:rPr>
              <a:t>   36</a:t>
            </a:r>
            <a:endParaRPr lang="en-US" sz="860" dirty="0"/>
          </a:p>
        </p:txBody>
      </p:sp>
      <p:sp>
        <p:nvSpPr>
          <p:cNvPr id="13" name="Text 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35</a:t>
            </a:r>
            <a:endParaRPr lang="en-US" sz="750" dirty="0"/>
          </a:p>
        </p:txBody>
      </p:sp>
      <p:sp>
        <p:nvSpPr>
          <p:cNvPr id="14" name="Text 1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provenc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PROVENCE</a:t>
            </a:r>
            <a:endParaRPr lang="en-US" sz="660" dirty="0"/>
          </a:p>
        </p:txBody>
      </p:sp>
      <p:sp>
        <p:nvSpPr>
          <p:cNvPr id="4" name="Shape 1"/>
          <p:cNvSpPr/>
          <p:nvPr/>
        </p:nvSpPr>
        <p:spPr>
          <a:xfrm>
            <a:off x="828000" y="667894"/>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67894"/>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19</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74188"/>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Bastide de Blacailloux</a:t>
            </a:r>
            <a:endParaRPr lang="en-US" sz="2000" dirty="0"/>
          </a:p>
        </p:txBody>
      </p:sp>
      <p:sp>
        <p:nvSpPr>
          <p:cNvPr id="7" name="Text 4"/>
          <p:cNvSpPr/>
          <p:nvPr/>
        </p:nvSpPr>
        <p:spPr>
          <a:xfrm>
            <a:off x="5508000" y="540000"/>
            <a:ext cx="1440000" cy="774188"/>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PROVENCE</a:t>
            </a:r>
            <a:endParaRPr lang="en-US" sz="800" dirty="0"/>
          </a:p>
        </p:txBody>
      </p:sp>
      <p:sp>
        <p:nvSpPr>
          <p:cNvPr id="8" name="Shape 5"/>
          <p:cNvSpPr/>
          <p:nvPr/>
        </p:nvSpPr>
        <p:spPr>
          <a:xfrm>
            <a:off x="828000" y="1332188"/>
            <a:ext cx="6120000" cy="0"/>
          </a:xfrm>
          <a:prstGeom prst="line">
            <a:avLst/>
          </a:prstGeom>
          <a:noFill/>
          <a:ln w="17780">
            <a:solidFill>
              <a:srgbClr val="67067C"/>
            </a:solidFill>
            <a:prstDash val="solid"/>
          </a:ln>
        </p:spPr>
      </p:sp>
      <p:sp>
        <p:nvSpPr>
          <p:cNvPr id="9" name="Shape 6"/>
          <p:cNvSpPr/>
          <p:nvPr/>
        </p:nvSpPr>
        <p:spPr>
          <a:xfrm>
            <a:off x="828000" y="1425788"/>
            <a:ext cx="486451"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png">    </p:cNvPr>
          <p:cNvPicPr>
            <a:picLocks noChangeAspect="1"/>
          </p:cNvPicPr>
          <p:nvPr/>
        </p:nvPicPr>
        <p:blipFill>
          <a:blip r:embed="rId2"/>
          <a:stretch>
            <a:fillRect/>
          </a:stretch>
        </p:blipFill>
        <p:spPr>
          <a:xfrm>
            <a:off x="900000" y="1461788"/>
            <a:ext cx="108000" cy="108000"/>
          </a:xfrm>
          <a:prstGeom prst="rect">
            <a:avLst/>
          </a:prstGeom>
        </p:spPr>
      </p:pic>
      <p:sp>
        <p:nvSpPr>
          <p:cNvPr id="11" name="Text 7"/>
          <p:cNvSpPr/>
          <p:nvPr/>
        </p:nvSpPr>
        <p:spPr>
          <a:xfrm>
            <a:off x="975600" y="1425788"/>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2" name="Shape 8"/>
          <p:cNvSpPr/>
          <p:nvPr/>
        </p:nvSpPr>
        <p:spPr>
          <a:xfrm>
            <a:off x="1393651" y="1425788"/>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393651" y="1425788"/>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2858325" y="1425788"/>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858325" y="1425788"/>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vins à la dégustation</a:t>
            </a:r>
            <a:endParaRPr lang="en-US" sz="720" dirty="0"/>
          </a:p>
        </p:txBody>
      </p:sp>
      <p:pic>
        <p:nvPicPr>
          <p:cNvPr id="16" name="Image 2" descr="borie en pierre sèche du domaine — Bastide de Blacailloux">    </p:cNvPr>
          <p:cNvPicPr>
            <a:picLocks noChangeAspect="1"/>
          </p:cNvPicPr>
          <p:nvPr/>
        </p:nvPicPr>
        <p:blipFill>
          <a:blip r:embed="rId3"/>
          <a:stretch>
            <a:fillRect/>
          </a:stretch>
        </p:blipFill>
        <p:spPr>
          <a:xfrm>
            <a:off x="828000" y="1735388"/>
            <a:ext cx="1440000" cy="1440000"/>
          </a:xfrm>
          <a:prstGeom prst="rect">
            <a:avLst/>
          </a:prstGeom>
        </p:spPr>
      </p:pic>
      <p:pic>
        <p:nvPicPr>
          <p:cNvPr id="17" name="Image 3" descr="Une bouteille du domaine Bastide de Blacailloux">    </p:cNvPr>
          <p:cNvPicPr>
            <a:picLocks noChangeAspect="1"/>
          </p:cNvPicPr>
          <p:nvPr/>
        </p:nvPicPr>
        <p:blipFill>
          <a:blip r:embed="rId4"/>
          <a:stretch>
            <a:fillRect/>
          </a:stretch>
        </p:blipFill>
        <p:spPr>
          <a:xfrm>
            <a:off x="6267492" y="1735388"/>
            <a:ext cx="497016" cy="2232000"/>
          </a:xfrm>
          <a:prstGeom prst="rect">
            <a:avLst/>
          </a:prstGeom>
        </p:spPr>
      </p:pic>
      <p:sp>
        <p:nvSpPr>
          <p:cNvPr id="18" name="Text 12"/>
          <p:cNvSpPr/>
          <p:nvPr/>
        </p:nvSpPr>
        <p:spPr>
          <a:xfrm>
            <a:off x="2393992" y="1707448"/>
            <a:ext cx="292658" cy="505765"/>
          </a:xfrm>
          <a:prstGeom prst="rect">
            <a:avLst/>
          </a:prstGeom>
          <a:noFill/>
          <a:ln/>
        </p:spPr>
        <p:txBody>
          <a:bodyPr wrap="square" lIns="0" tIns="0" rIns="0" bIns="0" rtlCol="0" anchor="t"/>
          <a:lstStyle/>
          <a:p>
            <a:pPr algn="r" indent="0" marL="0">
              <a:lnSpc>
                <a:spcPct val="121600"/>
              </a:lnSpc>
              <a:buNone/>
            </a:pPr>
            <a:r>
              <a:rPr lang="en-US" sz="2489" dirty="0">
                <a:solidFill>
                  <a:srgbClr val="67067C"/>
                </a:solidFill>
                <a:latin typeface="Young Serif" pitchFamily="34" charset="0"/>
                <a:ea typeface="Young Serif" pitchFamily="34" charset="-122"/>
                <a:cs typeface="Young Serif" pitchFamily="34" charset="-120"/>
              </a:rPr>
              <a:t>É</a:t>
            </a:r>
            <a:endParaRPr lang="en-US" sz="2489" dirty="0"/>
          </a:p>
        </p:txBody>
      </p:sp>
      <p:sp>
        <p:nvSpPr>
          <p:cNvPr id="19" name="Text 13"/>
          <p:cNvSpPr/>
          <p:nvPr/>
        </p:nvSpPr>
        <p:spPr>
          <a:xfrm>
            <a:off x="2448000" y="1857267"/>
            <a:ext cx="3456000" cy="2110020"/>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crin préservé à Tourves, Blacailloux incarne la Provence Verte depuis plus d’un siècle, conduit par la quatrième génération de la famille Chamoin. Chai bioclimatique à toit végétalisé et énergie photovoltaïque. Cuvées AOP Coteaux Varois et IGP Var, fraîches et aériennes.</a:t>
            </a:r>
            <a:endParaRPr lang="en-US" sz="13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828000" y="4129288"/>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60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180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Var Sainte Baume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SAINT PROBACE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Coteaux Varois en Provence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JOIO</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Coteaux Varois en Provence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JOIO</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Coteaux Varois en Provence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JOIO</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Coteaux Varois en Provence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Miraia</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Coteaux Varois en Provence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Miraia</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Coteaux Varois en Provence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Aquino</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Coteaux Varois en Provence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Aquino</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828000" y="7603314"/>
            <a:ext cx="0" cy="288349"/>
          </a:xfrm>
          <a:prstGeom prst="line">
            <a:avLst/>
          </a:prstGeom>
          <a:noFill/>
          <a:ln w="17780">
            <a:solidFill>
              <a:srgbClr val="67067C"/>
            </a:solidFill>
            <a:prstDash val="solid"/>
          </a:ln>
        </p:spPr>
      </p:sp>
      <p:sp>
        <p:nvSpPr>
          <p:cNvPr id="22" name="Text 15"/>
          <p:cNvSpPr/>
          <p:nvPr/>
        </p:nvSpPr>
        <p:spPr>
          <a:xfrm>
            <a:off x="936000" y="7603314"/>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3" name="Shape 16"/>
          <p:cNvSpPr/>
          <p:nvPr/>
        </p:nvSpPr>
        <p:spPr>
          <a:xfrm>
            <a:off x="828000" y="8388000"/>
            <a:ext cx="6120000" cy="0"/>
          </a:xfrm>
          <a:prstGeom prst="line">
            <a:avLst/>
          </a:prstGeom>
          <a:noFill/>
          <a:ln w="8890">
            <a:solidFill>
              <a:srgbClr val="46606E"/>
            </a:solidFill>
            <a:prstDash val="solid"/>
          </a:ln>
        </p:spPr>
      </p:sp>
      <p:sp>
        <p:nvSpPr>
          <p:cNvPr id="24" name="Text 17"/>
          <p:cNvSpPr/>
          <p:nvPr/>
        </p:nvSpPr>
        <p:spPr>
          <a:xfrm>
            <a:off x="828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56 · 85</a:t>
            </a:r>
            <a:endParaRPr lang="en-US" sz="720" dirty="0"/>
          </a:p>
        </p:txBody>
      </p:sp>
      <p:sp>
        <p:nvSpPr>
          <p:cNvPr id="25" name="Text 18"/>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6" name="Text 19"/>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36</a:t>
            </a:r>
            <a:endParaRPr lang="en-US" sz="750" dirty="0"/>
          </a:p>
        </p:txBody>
      </p:sp>
      <p:sp>
        <p:nvSpPr>
          <p:cNvPr id="27" name="Text 20"/>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46606E"/>
        </a:solidFill>
      </p:bgPr>
    </p:bg>
    <p:spTree>
      <p:nvGrpSpPr>
        <p:cNvPr id="1" name=""/>
        <p:cNvGrpSpPr/>
        <p:nvPr/>
      </p:nvGrpSpPr>
      <p:grpSpPr>
        <a:xfrm>
          <a:off x="0" y="0"/>
          <a:ext cx="0" cy="0"/>
          <a:chOff x="0" y="0"/>
          <a:chExt cx="0" cy="0"/>
        </a:xfrm>
      </p:grpSpPr>
      <p:pic>
        <p:nvPicPr>
          <p:cNvPr id="2" name="Image 0" descr="/home/user/philippe1/build/deco-salon-prive-2026/ouverture-languedoc.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salon-prive-2026/carotte-languedoc.png">    </p:cNvPr>
          <p:cNvPicPr>
            <a:picLocks noChangeAspect="1"/>
          </p:cNvPicPr>
          <p:nvPr/>
        </p:nvPicPr>
        <p:blipFill>
          <a:blip r:embed="rId2"/>
          <a:stretch>
            <a:fillRect/>
          </a:stretch>
        </p:blipFill>
        <p:spPr>
          <a:xfrm>
            <a:off x="7236000" y="0"/>
            <a:ext cx="324000" cy="9360000"/>
          </a:xfrm>
          <a:prstGeom prst="rect">
            <a:avLst/>
          </a:prstGeom>
        </p:spPr>
      </p:pic>
      <p:sp>
        <p:nvSpPr>
          <p:cNvPr id="4"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5" name="Text 1"/>
          <p:cNvSpPr/>
          <p:nvPr/>
        </p:nvSpPr>
        <p:spPr>
          <a:xfrm>
            <a:off x="612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8 / 9</a:t>
            </a:r>
            <a:endParaRPr lang="en-US" sz="800" dirty="0"/>
          </a:p>
        </p:txBody>
      </p:sp>
      <p:sp>
        <p:nvSpPr>
          <p:cNvPr id="6" name="Text 2"/>
          <p:cNvSpPr/>
          <p:nvPr/>
        </p:nvSpPr>
        <p:spPr>
          <a:xfrm>
            <a:off x="612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Languedoc</a:t>
            </a:r>
            <a:endParaRPr lang="en-US" sz="4600" dirty="0"/>
          </a:p>
        </p:txBody>
      </p:sp>
      <p:sp>
        <p:nvSpPr>
          <p:cNvPr id="7" name="Text 3"/>
          <p:cNvSpPr/>
          <p:nvPr/>
        </p:nvSpPr>
        <p:spPr>
          <a:xfrm>
            <a:off x="612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terrasses et garrigue</a:t>
            </a:r>
            <a:endParaRPr lang="en-US" sz="1200" dirty="0"/>
          </a:p>
        </p:txBody>
      </p:sp>
      <p:sp>
        <p:nvSpPr>
          <p:cNvPr id="8" name="Text 4"/>
          <p:cNvSpPr/>
          <p:nvPr/>
        </p:nvSpPr>
        <p:spPr>
          <a:xfrm>
            <a:off x="612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3</a:t>
            </a:r>
            <a:endParaRPr lang="en-US" sz="2000" dirty="0"/>
          </a:p>
        </p:txBody>
      </p:sp>
      <p:sp>
        <p:nvSpPr>
          <p:cNvPr id="9" name="Text 5"/>
          <p:cNvSpPr/>
          <p:nvPr/>
        </p:nvSpPr>
        <p:spPr>
          <a:xfrm>
            <a:off x="612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domaines</a:t>
            </a:r>
            <a:endParaRPr lang="en-US" sz="850" dirty="0"/>
          </a:p>
        </p:txBody>
      </p:sp>
      <p:sp>
        <p:nvSpPr>
          <p:cNvPr id="10" name="Text 6"/>
          <p:cNvSpPr/>
          <p:nvPr/>
        </p:nvSpPr>
        <p:spPr>
          <a:xfrm>
            <a:off x="1620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15</a:t>
            </a:r>
            <a:endParaRPr lang="en-US" sz="2000" dirty="0"/>
          </a:p>
        </p:txBody>
      </p:sp>
      <p:sp>
        <p:nvSpPr>
          <p:cNvPr id="11" name="Text 7"/>
          <p:cNvSpPr/>
          <p:nvPr/>
        </p:nvSpPr>
        <p:spPr>
          <a:xfrm>
            <a:off x="1620000" y="6660000"/>
            <a:ext cx="1620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vins à la dégustation</a:t>
            </a:r>
            <a:endParaRPr lang="en-US" sz="850" dirty="0"/>
          </a:p>
        </p:txBody>
      </p:sp>
      <p:sp>
        <p:nvSpPr>
          <p:cNvPr id="12" name="Text 8"/>
          <p:cNvSpPr/>
          <p:nvPr/>
        </p:nvSpPr>
        <p:spPr>
          <a:xfrm>
            <a:off x="61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21   </a:t>
            </a:r>
            <a:r>
              <a:rPr lang="en-US" sz="860" dirty="0">
                <a:solidFill>
                  <a:srgbClr val="FBF8F1"/>
                </a:solidFill>
                <a:latin typeface="IBM Plex Sans" pitchFamily="34" charset="0"/>
                <a:ea typeface="IBM Plex Sans" pitchFamily="34" charset="-122"/>
                <a:cs typeface="IBM Plex Sans" pitchFamily="34" charset="-120"/>
              </a:rPr>
              <a:t>Famille d’Exea</a:t>
            </a:r>
            <a:r>
              <a:rPr lang="en-US" sz="860" b="1" dirty="0">
                <a:solidFill>
                  <a:srgbClr val="FBF8F1"/>
                </a:solidFill>
                <a:latin typeface="IBM Plex Sans" pitchFamily="34" charset="0"/>
                <a:ea typeface="IBM Plex Sans" pitchFamily="34" charset="-122"/>
                <a:cs typeface="IBM Plex Sans" pitchFamily="34" charset="-120"/>
              </a:rPr>
              <a:t>   38</a:t>
            </a:r>
            <a:endParaRPr lang="en-US" sz="860" dirty="0"/>
          </a:p>
        </p:txBody>
      </p:sp>
      <p:sp>
        <p:nvSpPr>
          <p:cNvPr id="13" name="Text 9"/>
          <p:cNvSpPr/>
          <p:nvPr/>
        </p:nvSpPr>
        <p:spPr>
          <a:xfrm>
            <a:off x="367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13   </a:t>
            </a:r>
            <a:r>
              <a:rPr lang="en-US" sz="860" dirty="0">
                <a:solidFill>
                  <a:srgbClr val="FBF8F1"/>
                </a:solidFill>
                <a:latin typeface="IBM Plex Sans" pitchFamily="34" charset="0"/>
                <a:ea typeface="IBM Plex Sans" pitchFamily="34" charset="-122"/>
                <a:cs typeface="IBM Plex Sans" pitchFamily="34" charset="-120"/>
              </a:rPr>
              <a:t>Château de Gragnos</a:t>
            </a:r>
            <a:r>
              <a:rPr lang="en-US" sz="860" b="1" dirty="0">
                <a:solidFill>
                  <a:srgbClr val="FBF8F1"/>
                </a:solidFill>
                <a:latin typeface="IBM Plex Sans" pitchFamily="34" charset="0"/>
                <a:ea typeface="IBM Plex Sans" pitchFamily="34" charset="-122"/>
                <a:cs typeface="IBM Plex Sans" pitchFamily="34" charset="-120"/>
              </a:rPr>
              <a:t>   39</a:t>
            </a:r>
            <a:endParaRPr lang="en-US" sz="860" dirty="0"/>
          </a:p>
        </p:txBody>
      </p:sp>
      <p:sp>
        <p:nvSpPr>
          <p:cNvPr id="14" name="Text 10"/>
          <p:cNvSpPr/>
          <p:nvPr/>
        </p:nvSpPr>
        <p:spPr>
          <a:xfrm>
            <a:off x="612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3   </a:t>
            </a:r>
            <a:r>
              <a:rPr lang="en-US" sz="860" dirty="0">
                <a:solidFill>
                  <a:srgbClr val="FBF8F1"/>
                </a:solidFill>
                <a:latin typeface="IBM Plex Sans" pitchFamily="34" charset="0"/>
                <a:ea typeface="IBM Plex Sans" pitchFamily="34" charset="-122"/>
                <a:cs typeface="IBM Plex Sans" pitchFamily="34" charset="-120"/>
              </a:rPr>
              <a:t>Prieuré Sainte-Marie d’Albas</a:t>
            </a:r>
            <a:r>
              <a:rPr lang="en-US" sz="860" b="1" dirty="0">
                <a:solidFill>
                  <a:srgbClr val="FBF8F1"/>
                </a:solidFill>
                <a:latin typeface="IBM Plex Sans" pitchFamily="34" charset="0"/>
                <a:ea typeface="IBM Plex Sans" pitchFamily="34" charset="-122"/>
                <a:cs typeface="IBM Plex Sans" pitchFamily="34" charset="-120"/>
              </a:rPr>
              <a:t>   40</a:t>
            </a:r>
            <a:endParaRPr lang="en-US" sz="860" dirty="0"/>
          </a:p>
        </p:txBody>
      </p:sp>
      <p:sp>
        <p:nvSpPr>
          <p:cNvPr id="15" name="Text 11"/>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37</a:t>
            </a:r>
            <a:endParaRPr lang="en-US" sz="750" dirty="0"/>
          </a:p>
        </p:txBody>
      </p:sp>
      <p:sp>
        <p:nvSpPr>
          <p:cNvPr id="16" name="Text 12"/>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languedoc.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Shape 1"/>
          <p:cNvSpPr/>
          <p:nvPr/>
        </p:nvSpPr>
        <p:spPr>
          <a:xfrm>
            <a:off x="828000" y="667894"/>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67894"/>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21</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74188"/>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Famille d’Exea</a:t>
            </a:r>
            <a:endParaRPr lang="en-US" sz="2000" dirty="0"/>
          </a:p>
        </p:txBody>
      </p:sp>
      <p:sp>
        <p:nvSpPr>
          <p:cNvPr id="7" name="Text 4"/>
          <p:cNvSpPr/>
          <p:nvPr/>
        </p:nvSpPr>
        <p:spPr>
          <a:xfrm>
            <a:off x="5508000" y="540000"/>
            <a:ext cx="1440000" cy="774188"/>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8" name="Shape 5"/>
          <p:cNvSpPr/>
          <p:nvPr/>
        </p:nvSpPr>
        <p:spPr>
          <a:xfrm>
            <a:off x="828000" y="1332188"/>
            <a:ext cx="6120000" cy="0"/>
          </a:xfrm>
          <a:prstGeom prst="line">
            <a:avLst/>
          </a:prstGeom>
          <a:noFill/>
          <a:ln w="17780">
            <a:solidFill>
              <a:srgbClr val="67067C"/>
            </a:solidFill>
            <a:prstDash val="solid"/>
          </a:ln>
        </p:spPr>
      </p:sp>
      <p:sp>
        <p:nvSpPr>
          <p:cNvPr id="9" name="Shape 6"/>
          <p:cNvSpPr/>
          <p:nvPr/>
        </p:nvSpPr>
        <p:spPr>
          <a:xfrm>
            <a:off x="828000" y="1425788"/>
            <a:ext cx="486451"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png">    </p:cNvPr>
          <p:cNvPicPr>
            <a:picLocks noChangeAspect="1"/>
          </p:cNvPicPr>
          <p:nvPr/>
        </p:nvPicPr>
        <p:blipFill>
          <a:blip r:embed="rId2"/>
          <a:stretch>
            <a:fillRect/>
          </a:stretch>
        </p:blipFill>
        <p:spPr>
          <a:xfrm>
            <a:off x="900000" y="1461788"/>
            <a:ext cx="108000" cy="108000"/>
          </a:xfrm>
          <a:prstGeom prst="rect">
            <a:avLst/>
          </a:prstGeom>
        </p:spPr>
      </p:pic>
      <p:sp>
        <p:nvSpPr>
          <p:cNvPr id="11" name="Text 7"/>
          <p:cNvSpPr/>
          <p:nvPr/>
        </p:nvSpPr>
        <p:spPr>
          <a:xfrm>
            <a:off x="975600" y="1425788"/>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2" name="Shape 8"/>
          <p:cNvSpPr/>
          <p:nvPr/>
        </p:nvSpPr>
        <p:spPr>
          <a:xfrm>
            <a:off x="1393651" y="1425788"/>
            <a:ext cx="1352190"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393651" y="1425788"/>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4" name="Shape 10"/>
          <p:cNvSpPr/>
          <p:nvPr/>
        </p:nvSpPr>
        <p:spPr>
          <a:xfrm>
            <a:off x="2825041" y="1425788"/>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825041" y="1425788"/>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5 vins à la dégustation</a:t>
            </a:r>
            <a:endParaRPr lang="en-US" sz="720" dirty="0"/>
          </a:p>
        </p:txBody>
      </p:sp>
      <p:pic>
        <p:nvPicPr>
          <p:cNvPr id="16" name="Image 2" descr="logo de la maison — Famille d’Exea">    </p:cNvPr>
          <p:cNvPicPr>
            <a:picLocks noChangeAspect="1"/>
          </p:cNvPicPr>
          <p:nvPr/>
        </p:nvPicPr>
        <p:blipFill>
          <a:blip r:embed="rId3"/>
          <a:stretch>
            <a:fillRect/>
          </a:stretch>
        </p:blipFill>
        <p:spPr>
          <a:xfrm>
            <a:off x="828000" y="1735388"/>
            <a:ext cx="1440000" cy="1440000"/>
          </a:xfrm>
          <a:prstGeom prst="rect">
            <a:avLst/>
          </a:prstGeom>
        </p:spPr>
      </p:pic>
      <p:pic>
        <p:nvPicPr>
          <p:cNvPr id="17" name="Image 3" descr="Une bouteille du domaine Famille d’Exea">    </p:cNvPr>
          <p:cNvPicPr>
            <a:picLocks noChangeAspect="1"/>
          </p:cNvPicPr>
          <p:nvPr/>
        </p:nvPicPr>
        <p:blipFill>
          <a:blip r:embed="rId4"/>
          <a:stretch>
            <a:fillRect/>
          </a:stretch>
        </p:blipFill>
        <p:spPr>
          <a:xfrm>
            <a:off x="6223279" y="1735388"/>
            <a:ext cx="585443" cy="2232000"/>
          </a:xfrm>
          <a:prstGeom prst="rect">
            <a:avLst/>
          </a:prstGeom>
        </p:spPr>
      </p:pic>
      <p:sp>
        <p:nvSpPr>
          <p:cNvPr id="18" name="Text 12"/>
          <p:cNvSpPr/>
          <p:nvPr/>
        </p:nvSpPr>
        <p:spPr>
          <a:xfrm>
            <a:off x="2393965" y="2137057"/>
            <a:ext cx="292685" cy="483413"/>
          </a:xfrm>
          <a:prstGeom prst="rect">
            <a:avLst/>
          </a:prstGeom>
          <a:noFill/>
          <a:ln/>
        </p:spPr>
        <p:txBody>
          <a:bodyPr wrap="square" lIns="0" tIns="0" rIns="0" bIns="0" rtlCol="0" anchor="t"/>
          <a:lstStyle/>
          <a:p>
            <a:pPr algn="r" indent="0" marL="0">
              <a:lnSpc>
                <a:spcPct val="122900"/>
              </a:lnSpc>
              <a:buNone/>
            </a:pPr>
            <a:r>
              <a:rPr lang="en-US" sz="2379" dirty="0">
                <a:solidFill>
                  <a:srgbClr val="67067C"/>
                </a:solidFill>
                <a:latin typeface="Young Serif" pitchFamily="34" charset="0"/>
                <a:ea typeface="Young Serif" pitchFamily="34" charset="-122"/>
                <a:cs typeface="Young Serif" pitchFamily="34" charset="-120"/>
              </a:rPr>
              <a:t>D</a:t>
            </a:r>
            <a:endParaRPr lang="en-US" sz="2379" dirty="0"/>
          </a:p>
        </p:txBody>
      </p:sp>
      <p:sp>
        <p:nvSpPr>
          <p:cNvPr id="19" name="Text 13"/>
          <p:cNvSpPr/>
          <p:nvPr/>
        </p:nvSpPr>
        <p:spPr>
          <a:xfrm>
            <a:off x="2448000" y="2274024"/>
            <a:ext cx="3456000" cy="1693264"/>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epuis plusieurs générations, la famille d’Exea façonne sur les terroirs solaires du Languedoc des vins biologiques vibrants et sincères, alliant pureté du fruit et convivialité.</a:t>
            </a:r>
            <a:endParaRPr lang="en-US" sz="130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828000" y="4129288"/>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144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600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Minervois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CHANT DE LUNE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ROUGE SÉRAME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BLANC SÉRAME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 *</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OENA</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JARDINS DE CORBIÈRES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828000" y="6449152"/>
            <a:ext cx="0" cy="288349"/>
          </a:xfrm>
          <a:prstGeom prst="line">
            <a:avLst/>
          </a:prstGeom>
          <a:noFill/>
          <a:ln w="17780">
            <a:solidFill>
              <a:srgbClr val="67067C"/>
            </a:solidFill>
            <a:prstDash val="solid"/>
          </a:ln>
        </p:spPr>
      </p:sp>
      <p:sp>
        <p:nvSpPr>
          <p:cNvPr id="22" name="Text 15"/>
          <p:cNvSpPr/>
          <p:nvPr/>
        </p:nvSpPr>
        <p:spPr>
          <a:xfrm>
            <a:off x="936000" y="6449152"/>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Franco de port à partir de 72 bouteilles</a:t>
            </a:r>
            <a:endParaRPr lang="en-US" sz="1050" dirty="0"/>
          </a:p>
        </p:txBody>
      </p:sp>
      <p:sp>
        <p:nvSpPr>
          <p:cNvPr id="23" name="Text 16"/>
          <p:cNvSpPr/>
          <p:nvPr/>
        </p:nvSpPr>
        <p:spPr>
          <a:xfrm>
            <a:off x="828000" y="6881501"/>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LANGUEDOC — TERRASSES ET GARRIGUE</a:t>
            </a:r>
            <a:endParaRPr lang="en-US" sz="720" dirty="0"/>
          </a:p>
        </p:txBody>
      </p:sp>
      <p:pic>
        <p:nvPicPr>
          <p:cNvPr id="24" name="Image 4" descr="/home/user/philippe1/build/deco-salon-prive-2026/sol-languedoc.png">    </p:cNvPr>
          <p:cNvPicPr>
            <a:picLocks noChangeAspect="1"/>
          </p:cNvPicPr>
          <p:nvPr/>
        </p:nvPicPr>
        <p:blipFill>
          <a:blip r:embed="rId5"/>
          <a:stretch>
            <a:fillRect/>
          </a:stretch>
        </p:blipFill>
        <p:spPr>
          <a:xfrm>
            <a:off x="828000" y="7029101"/>
            <a:ext cx="6120000" cy="680426"/>
          </a:xfrm>
          <a:prstGeom prst="rect">
            <a:avLst/>
          </a:prstGeom>
        </p:spPr>
      </p:pic>
      <p:sp>
        <p:nvSpPr>
          <p:cNvPr id="25" name="Text 17"/>
          <p:cNvSpPr/>
          <p:nvPr/>
        </p:nvSpPr>
        <p:spPr>
          <a:xfrm>
            <a:off x="828000" y="8136000"/>
            <a:ext cx="6120000" cy="1980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Famille d’Exea : les vins et les jus de cépages</a:t>
            </a:r>
            <a:endParaRPr lang="en-US" sz="740" dirty="0"/>
          </a:p>
        </p:txBody>
      </p:sp>
      <p:sp>
        <p:nvSpPr>
          <p:cNvPr id="26" name="Shape 18"/>
          <p:cNvSpPr/>
          <p:nvPr/>
        </p:nvSpPr>
        <p:spPr>
          <a:xfrm>
            <a:off x="828000" y="8388000"/>
            <a:ext cx="6120000" cy="0"/>
          </a:xfrm>
          <a:prstGeom prst="line">
            <a:avLst/>
          </a:prstGeom>
          <a:noFill/>
          <a:ln w="8890">
            <a:solidFill>
              <a:srgbClr val="46606E"/>
            </a:solidFill>
            <a:prstDash val="solid"/>
          </a:ln>
        </p:spPr>
      </p:sp>
      <p:sp>
        <p:nvSpPr>
          <p:cNvPr id="27" name="Text 19"/>
          <p:cNvSpPr/>
          <p:nvPr/>
        </p:nvSpPr>
        <p:spPr>
          <a:xfrm>
            <a:off x="828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85</a:t>
            </a:r>
            <a:endParaRPr lang="en-US" sz="720" dirty="0"/>
          </a:p>
        </p:txBody>
      </p:sp>
      <p:sp>
        <p:nvSpPr>
          <p:cNvPr id="28" name="Text 20"/>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9" name="Text 21"/>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38</a:t>
            </a:r>
            <a:endParaRPr lang="en-US" sz="750" dirty="0"/>
          </a:p>
        </p:txBody>
      </p:sp>
      <p:sp>
        <p:nvSpPr>
          <p:cNvPr id="30" name="Text 22"/>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languedoc.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Shape 1"/>
          <p:cNvSpPr/>
          <p:nvPr/>
        </p:nvSpPr>
        <p:spPr>
          <a:xfrm>
            <a:off x="612000" y="667894"/>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612000" y="667894"/>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13</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440000" y="540000"/>
            <a:ext cx="4068000" cy="774188"/>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Château de Gragnos</a:t>
            </a:r>
            <a:endParaRPr lang="en-US" sz="2000" dirty="0"/>
          </a:p>
        </p:txBody>
      </p:sp>
      <p:sp>
        <p:nvSpPr>
          <p:cNvPr id="7" name="Text 4"/>
          <p:cNvSpPr/>
          <p:nvPr/>
        </p:nvSpPr>
        <p:spPr>
          <a:xfrm>
            <a:off x="5292000" y="540000"/>
            <a:ext cx="1440000" cy="774188"/>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8" name="Shape 5"/>
          <p:cNvSpPr/>
          <p:nvPr/>
        </p:nvSpPr>
        <p:spPr>
          <a:xfrm>
            <a:off x="612000" y="1332188"/>
            <a:ext cx="6120000" cy="0"/>
          </a:xfrm>
          <a:prstGeom prst="line">
            <a:avLst/>
          </a:prstGeom>
          <a:noFill/>
          <a:ln w="17780">
            <a:solidFill>
              <a:srgbClr val="67067C"/>
            </a:solidFill>
            <a:prstDash val="solid"/>
          </a:ln>
        </p:spPr>
      </p:sp>
      <p:sp>
        <p:nvSpPr>
          <p:cNvPr id="9" name="Shape 6"/>
          <p:cNvSpPr/>
          <p:nvPr/>
        </p:nvSpPr>
        <p:spPr>
          <a:xfrm>
            <a:off x="612000" y="1425788"/>
            <a:ext cx="1101294"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conversion.png">    </p:cNvPr>
          <p:cNvPicPr>
            <a:picLocks noChangeAspect="1"/>
          </p:cNvPicPr>
          <p:nvPr/>
        </p:nvPicPr>
        <p:blipFill>
          <a:blip r:embed="rId2"/>
          <a:stretch>
            <a:fillRect/>
          </a:stretch>
        </p:blipFill>
        <p:spPr>
          <a:xfrm>
            <a:off x="684000" y="1461788"/>
            <a:ext cx="108000" cy="108000"/>
          </a:xfrm>
          <a:prstGeom prst="rect">
            <a:avLst/>
          </a:prstGeom>
        </p:spPr>
      </p:pic>
      <p:sp>
        <p:nvSpPr>
          <p:cNvPr id="11" name="Text 7"/>
          <p:cNvSpPr/>
          <p:nvPr/>
        </p:nvSpPr>
        <p:spPr>
          <a:xfrm>
            <a:off x="759600" y="1425788"/>
            <a:ext cx="95369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En conversion Bio</a:t>
            </a:r>
            <a:endParaRPr lang="en-US" sz="720" dirty="0"/>
          </a:p>
        </p:txBody>
      </p:sp>
      <p:sp>
        <p:nvSpPr>
          <p:cNvPr id="12" name="Shape 8"/>
          <p:cNvSpPr/>
          <p:nvPr/>
        </p:nvSpPr>
        <p:spPr>
          <a:xfrm>
            <a:off x="1792494" y="1425788"/>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792494" y="1425788"/>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3257168" y="1425788"/>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257168" y="1425788"/>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5 vins à la dégustation</a:t>
            </a:r>
            <a:endParaRPr lang="en-US" sz="720" dirty="0"/>
          </a:p>
        </p:txBody>
      </p:sp>
      <p:pic>
        <p:nvPicPr>
          <p:cNvPr id="16" name="Image 2" descr="grappes à la vigne — Château de Gragnos">    </p:cNvPr>
          <p:cNvPicPr>
            <a:picLocks noChangeAspect="1"/>
          </p:cNvPicPr>
          <p:nvPr/>
        </p:nvPicPr>
        <p:blipFill>
          <a:blip r:embed="rId3"/>
          <a:stretch>
            <a:fillRect/>
          </a:stretch>
        </p:blipFill>
        <p:spPr>
          <a:xfrm>
            <a:off x="612000" y="1735388"/>
            <a:ext cx="1440000" cy="1440000"/>
          </a:xfrm>
          <a:prstGeom prst="rect">
            <a:avLst/>
          </a:prstGeom>
        </p:spPr>
      </p:pic>
      <p:pic>
        <p:nvPicPr>
          <p:cNvPr id="17" name="Image 3" descr="Une bouteille du domaine Château de Gragnos">    </p:cNvPr>
          <p:cNvPicPr>
            <a:picLocks noChangeAspect="1"/>
          </p:cNvPicPr>
          <p:nvPr/>
        </p:nvPicPr>
        <p:blipFill>
          <a:blip r:embed="rId4"/>
          <a:stretch>
            <a:fillRect/>
          </a:stretch>
        </p:blipFill>
        <p:spPr>
          <a:xfrm>
            <a:off x="6008803" y="1735388"/>
            <a:ext cx="582393" cy="2232000"/>
          </a:xfrm>
          <a:prstGeom prst="rect">
            <a:avLst/>
          </a:prstGeom>
        </p:spPr>
      </p:pic>
      <p:sp>
        <p:nvSpPr>
          <p:cNvPr id="18" name="Text 12"/>
          <p:cNvSpPr/>
          <p:nvPr/>
        </p:nvSpPr>
        <p:spPr>
          <a:xfrm>
            <a:off x="2177976" y="1714231"/>
            <a:ext cx="292674" cy="485851"/>
          </a:xfrm>
          <a:prstGeom prst="rect">
            <a:avLst/>
          </a:prstGeom>
          <a:noFill/>
          <a:ln/>
        </p:spPr>
        <p:txBody>
          <a:bodyPr wrap="square" lIns="0" tIns="0" rIns="0" bIns="0" rtlCol="0" anchor="t"/>
          <a:lstStyle/>
          <a:p>
            <a:pPr algn="r" indent="0" marL="0">
              <a:lnSpc>
                <a:spcPct val="122800"/>
              </a:lnSpc>
              <a:buNone/>
            </a:pPr>
            <a:r>
              <a:rPr lang="en-US" sz="2391" dirty="0">
                <a:solidFill>
                  <a:srgbClr val="67067C"/>
                </a:solidFill>
                <a:latin typeface="Young Serif" pitchFamily="34" charset="0"/>
                <a:ea typeface="Young Serif" pitchFamily="34" charset="-122"/>
                <a:cs typeface="Young Serif" pitchFamily="34" charset="-120"/>
              </a:rPr>
              <a:t>A</a:t>
            </a:r>
            <a:endParaRPr lang="en-US" sz="2391" dirty="0"/>
          </a:p>
        </p:txBody>
      </p:sp>
      <p:sp>
        <p:nvSpPr>
          <p:cNvPr id="19" name="Text 13"/>
          <p:cNvSpPr/>
          <p:nvPr/>
        </p:nvSpPr>
        <p:spPr>
          <a:xfrm>
            <a:off x="2232000" y="1852600"/>
            <a:ext cx="3456000" cy="2114688"/>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lain, Patricia et leurs fils révèlent l’âme de Gragnos par un soin méticuleux apporté à chaque pied de vigne. Engagé dans une conversion biologique, le domaine privilégie un accompagnement doux du végétal pour laisser rayonner l’identité du terroir sans le contraindre.</a:t>
            </a:r>
            <a:endParaRPr lang="en-US" sz="130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612000" y="4129288"/>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Léon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 Chinian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Lou Daro</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 Chinian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Henri</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Saint-Chinian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Juliette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 Chinian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Grain de Blanc</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612000" y="6387834"/>
            <a:ext cx="0" cy="288349"/>
          </a:xfrm>
          <a:prstGeom prst="line">
            <a:avLst/>
          </a:prstGeom>
          <a:noFill/>
          <a:ln w="17780">
            <a:solidFill>
              <a:srgbClr val="67067C"/>
            </a:solidFill>
            <a:prstDash val="solid"/>
          </a:ln>
        </p:spPr>
      </p:sp>
      <p:sp>
        <p:nvSpPr>
          <p:cNvPr id="22" name="Text 15"/>
          <p:cNvSpPr/>
          <p:nvPr/>
        </p:nvSpPr>
        <p:spPr>
          <a:xfrm>
            <a:off x="720000" y="6387834"/>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 à partir de 180 bouteilles.</a:t>
            </a:r>
            <a:endParaRPr lang="en-US" sz="1050" dirty="0"/>
          </a:p>
        </p:txBody>
      </p:sp>
      <p:sp>
        <p:nvSpPr>
          <p:cNvPr id="23" name="Text 16"/>
          <p:cNvSpPr/>
          <p:nvPr/>
        </p:nvSpPr>
        <p:spPr>
          <a:xfrm>
            <a:off x="612000" y="6820184"/>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LANGUEDOC — TERRASSES ET GARRIGUE</a:t>
            </a:r>
            <a:endParaRPr lang="en-US" sz="720" dirty="0"/>
          </a:p>
        </p:txBody>
      </p:sp>
      <p:pic>
        <p:nvPicPr>
          <p:cNvPr id="24" name="Image 4" descr="/home/user/philippe1/build/deco-salon-prive-2026/sol-languedoc.png">    </p:cNvPr>
          <p:cNvPicPr>
            <a:picLocks noChangeAspect="1"/>
          </p:cNvPicPr>
          <p:nvPr/>
        </p:nvPicPr>
        <p:blipFill>
          <a:blip r:embed="rId5"/>
          <a:stretch>
            <a:fillRect/>
          </a:stretch>
        </p:blipFill>
        <p:spPr>
          <a:xfrm>
            <a:off x="612000" y="6967784"/>
            <a:ext cx="6120000" cy="1146258"/>
          </a:xfrm>
          <a:prstGeom prst="rect">
            <a:avLst/>
          </a:prstGeom>
        </p:spPr>
      </p:pic>
      <p:sp>
        <p:nvSpPr>
          <p:cNvPr id="25" name="Shape 17"/>
          <p:cNvSpPr/>
          <p:nvPr/>
        </p:nvSpPr>
        <p:spPr>
          <a:xfrm>
            <a:off x="612000" y="8388000"/>
            <a:ext cx="6120000" cy="0"/>
          </a:xfrm>
          <a:prstGeom prst="line">
            <a:avLst/>
          </a:prstGeom>
          <a:noFill/>
          <a:ln w="8890">
            <a:solidFill>
              <a:srgbClr val="46606E"/>
            </a:solidFill>
            <a:prstDash val="solid"/>
          </a:ln>
        </p:spPr>
      </p:sp>
      <p:sp>
        <p:nvSpPr>
          <p:cNvPr id="26" name="Text 18"/>
          <p:cNvSpPr/>
          <p:nvPr/>
        </p:nvSpPr>
        <p:spPr>
          <a:xfrm>
            <a:off x="612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7" name="Text 19"/>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 Autre     pictos de l’Agence SCIO, pas les logos officiels</a:t>
            </a:r>
            <a:endParaRPr lang="en-US" sz="650" dirty="0"/>
          </a:p>
        </p:txBody>
      </p:sp>
      <p:sp>
        <p:nvSpPr>
          <p:cNvPr id="28" name="Text 20"/>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39</a:t>
            </a:r>
            <a:endParaRPr lang="en-US" sz="750" dirty="0"/>
          </a:p>
        </p:txBody>
      </p:sp>
      <p:sp>
        <p:nvSpPr>
          <p:cNvPr id="29" name="Text 21"/>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languedoc.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Shape 1"/>
          <p:cNvSpPr/>
          <p:nvPr/>
        </p:nvSpPr>
        <p:spPr>
          <a:xfrm>
            <a:off x="828000" y="667894"/>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67894"/>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3</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Blanche</a:t>
            </a:r>
            <a:endParaRPr lang="en-US" sz="700" dirty="0"/>
          </a:p>
        </p:txBody>
      </p:sp>
      <p:sp>
        <p:nvSpPr>
          <p:cNvPr id="6" name="Text 3"/>
          <p:cNvSpPr/>
          <p:nvPr/>
        </p:nvSpPr>
        <p:spPr>
          <a:xfrm>
            <a:off x="1656000" y="540000"/>
            <a:ext cx="4068000" cy="774188"/>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Prieuré Sainte-Marie d’Albas</a:t>
            </a:r>
            <a:endParaRPr lang="en-US" sz="2000" dirty="0"/>
          </a:p>
        </p:txBody>
      </p:sp>
      <p:sp>
        <p:nvSpPr>
          <p:cNvPr id="7" name="Text 4"/>
          <p:cNvSpPr/>
          <p:nvPr/>
        </p:nvSpPr>
        <p:spPr>
          <a:xfrm>
            <a:off x="5508000" y="540000"/>
            <a:ext cx="1440000" cy="774188"/>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8" name="Shape 5"/>
          <p:cNvSpPr/>
          <p:nvPr/>
        </p:nvSpPr>
        <p:spPr>
          <a:xfrm>
            <a:off x="828000" y="1332188"/>
            <a:ext cx="6120000" cy="0"/>
          </a:xfrm>
          <a:prstGeom prst="line">
            <a:avLst/>
          </a:prstGeom>
          <a:noFill/>
          <a:ln w="17780">
            <a:solidFill>
              <a:srgbClr val="67067C"/>
            </a:solidFill>
            <a:prstDash val="solid"/>
          </a:ln>
        </p:spPr>
      </p:sp>
      <p:sp>
        <p:nvSpPr>
          <p:cNvPr id="9" name="Shape 6"/>
          <p:cNvSpPr/>
          <p:nvPr/>
        </p:nvSpPr>
        <p:spPr>
          <a:xfrm>
            <a:off x="828000" y="1425788"/>
            <a:ext cx="528148"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hve.png">    </p:cNvPr>
          <p:cNvPicPr>
            <a:picLocks noChangeAspect="1"/>
          </p:cNvPicPr>
          <p:nvPr/>
        </p:nvPicPr>
        <p:blipFill>
          <a:blip r:embed="rId2"/>
          <a:stretch>
            <a:fillRect/>
          </a:stretch>
        </p:blipFill>
        <p:spPr>
          <a:xfrm>
            <a:off x="900000" y="1461788"/>
            <a:ext cx="108000" cy="108000"/>
          </a:xfrm>
          <a:prstGeom prst="rect">
            <a:avLst/>
          </a:prstGeom>
        </p:spPr>
      </p:pic>
      <p:sp>
        <p:nvSpPr>
          <p:cNvPr id="11" name="Text 7"/>
          <p:cNvSpPr/>
          <p:nvPr/>
        </p:nvSpPr>
        <p:spPr>
          <a:xfrm>
            <a:off x="975600" y="1425788"/>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2" name="Shape 8"/>
          <p:cNvSpPr/>
          <p:nvPr/>
        </p:nvSpPr>
        <p:spPr>
          <a:xfrm>
            <a:off x="1435348" y="1425788"/>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435348" y="1425788"/>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2900022" y="1425788"/>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900022" y="1425788"/>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5 vins à la dégustation</a:t>
            </a:r>
            <a:endParaRPr lang="en-US" sz="720" dirty="0"/>
          </a:p>
        </p:txBody>
      </p:sp>
      <p:pic>
        <p:nvPicPr>
          <p:cNvPr id="16" name="Image 2" descr="les deux vignerons et leur rosé, noir et blanc — Prieuré Sainte-Marie d’Albas">    </p:cNvPr>
          <p:cNvPicPr>
            <a:picLocks noChangeAspect="1"/>
          </p:cNvPicPr>
          <p:nvPr/>
        </p:nvPicPr>
        <p:blipFill>
          <a:blip r:embed="rId3"/>
          <a:stretch>
            <a:fillRect/>
          </a:stretch>
        </p:blipFill>
        <p:spPr>
          <a:xfrm>
            <a:off x="828000" y="1735388"/>
            <a:ext cx="1440000" cy="1440000"/>
          </a:xfrm>
          <a:prstGeom prst="rect">
            <a:avLst/>
          </a:prstGeom>
        </p:spPr>
      </p:pic>
      <p:pic>
        <p:nvPicPr>
          <p:cNvPr id="17" name="Image 3" descr="Une bouteille du domaine Prieuré Sainte-Marie d’Albas">    </p:cNvPr>
          <p:cNvPicPr>
            <a:picLocks noChangeAspect="1"/>
          </p:cNvPicPr>
          <p:nvPr/>
        </p:nvPicPr>
        <p:blipFill>
          <a:blip r:embed="rId4"/>
          <a:stretch>
            <a:fillRect/>
          </a:stretch>
        </p:blipFill>
        <p:spPr>
          <a:xfrm>
            <a:off x="6272066" y="1735388"/>
            <a:ext cx="487869" cy="2232000"/>
          </a:xfrm>
          <a:prstGeom prst="rect">
            <a:avLst/>
          </a:prstGeom>
        </p:spPr>
      </p:pic>
      <p:sp>
        <p:nvSpPr>
          <p:cNvPr id="18" name="Text 12"/>
          <p:cNvSpPr/>
          <p:nvPr/>
        </p:nvSpPr>
        <p:spPr>
          <a:xfrm>
            <a:off x="2393963" y="1647634"/>
            <a:ext cx="278400" cy="456794"/>
          </a:xfrm>
          <a:prstGeom prst="rect">
            <a:avLst/>
          </a:prstGeom>
          <a:noFill/>
          <a:ln/>
        </p:spPr>
        <p:txBody>
          <a:bodyPr wrap="square" lIns="0" tIns="0" rIns="0" bIns="0" rtlCol="0" anchor="t"/>
          <a:lstStyle/>
          <a:p>
            <a:pPr algn="r" indent="0" marL="0">
              <a:lnSpc>
                <a:spcPct val="122800"/>
              </a:lnSpc>
              <a:buNone/>
            </a:pPr>
            <a:r>
              <a:rPr lang="en-US" sz="2248" dirty="0">
                <a:solidFill>
                  <a:srgbClr val="67067C"/>
                </a:solidFill>
                <a:latin typeface="Young Serif" pitchFamily="34" charset="0"/>
                <a:ea typeface="Young Serif" pitchFamily="34" charset="-122"/>
                <a:cs typeface="Young Serif" pitchFamily="34" charset="-120"/>
              </a:rPr>
              <a:t>A</a:t>
            </a:r>
            <a:endParaRPr lang="en-US" sz="2248" dirty="0"/>
          </a:p>
        </p:txBody>
      </p:sp>
      <p:sp>
        <p:nvSpPr>
          <p:cNvPr id="19" name="Text 13"/>
          <p:cNvSpPr/>
          <p:nvPr/>
        </p:nvSpPr>
        <p:spPr>
          <a:xfrm>
            <a:off x="2448000" y="1777429"/>
            <a:ext cx="3456000" cy="2189859"/>
          </a:xfrm>
          <a:prstGeom prst="rect">
            <a:avLst/>
          </a:prstGeom>
          <a:noFill/>
          <a:ln/>
        </p:spPr>
        <p:txBody>
          <a:bodyPr wrap="square" lIns="0" tIns="0" rIns="0" bIns="0" rtlCol="0" anchor="t"/>
          <a:lstStyle/>
          <a:p>
            <a:pPr indent="0" marL="0">
              <a:lnSpc>
                <a:spcPct val="142000"/>
              </a:lnSpc>
              <a:buNone/>
            </a:pPr>
            <a:r>
              <a:rPr lang="en-US" sz="1225" dirty="0">
                <a:solidFill>
                  <a:srgbClr val="46606E"/>
                </a:solidFill>
                <a:latin typeface="Spectral" pitchFamily="34" charset="0"/>
                <a:ea typeface="Spectral" pitchFamily="34" charset="-122"/>
                <a:cs typeface="Spectral" pitchFamily="34" charset="-120"/>
              </a:rPr>
              <a:t>      u pied de la Montagne d’Alaric, au cœur des Corbières, Laurence et Vincent Licciardi-Pirot cultivent des vignes plantées en terrasses et balayées par le vent du Cers. Les vins sont élevés dans une ancienne cave de village à demi enterrée : des rouges chaleureux du Midi, des blancs et des rosés tout en fraîcheur. AOP Corbières et IGP Pays d’Oc.</a:t>
            </a:r>
            <a:endParaRPr lang="en-US" sz="1225"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828000" y="4129288"/>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Terre Rouge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4 Saisons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Potion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Clos de Cassis – élevé en fûts de chêne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Blanc Albas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828000" y="6387834"/>
            <a:ext cx="0" cy="288349"/>
          </a:xfrm>
          <a:prstGeom prst="line">
            <a:avLst/>
          </a:prstGeom>
          <a:noFill/>
          <a:ln w="17780">
            <a:solidFill>
              <a:srgbClr val="67067C"/>
            </a:solidFill>
            <a:prstDash val="solid"/>
          </a:ln>
        </p:spPr>
      </p:sp>
      <p:sp>
        <p:nvSpPr>
          <p:cNvPr id="22" name="Text 15"/>
          <p:cNvSpPr/>
          <p:nvPr/>
        </p:nvSpPr>
        <p:spPr>
          <a:xfrm>
            <a:off x="936000" y="6387834"/>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départ cave.</a:t>
            </a:r>
            <a:endParaRPr lang="en-US" sz="1050" dirty="0"/>
          </a:p>
        </p:txBody>
      </p:sp>
      <p:sp>
        <p:nvSpPr>
          <p:cNvPr id="23" name="Text 16"/>
          <p:cNvSpPr/>
          <p:nvPr/>
        </p:nvSpPr>
        <p:spPr>
          <a:xfrm>
            <a:off x="828000" y="6820184"/>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LANGUEDOC — TERRASSES ET GARRIGUE</a:t>
            </a:r>
            <a:endParaRPr lang="en-US" sz="720" dirty="0"/>
          </a:p>
        </p:txBody>
      </p:sp>
      <p:pic>
        <p:nvPicPr>
          <p:cNvPr id="24" name="Image 4" descr="/home/user/philippe1/build/deco-salon-prive-2026/sol-languedoc.png">    </p:cNvPr>
          <p:cNvPicPr>
            <a:picLocks noChangeAspect="1"/>
          </p:cNvPicPr>
          <p:nvPr/>
        </p:nvPicPr>
        <p:blipFill>
          <a:blip r:embed="rId5"/>
          <a:stretch>
            <a:fillRect/>
          </a:stretch>
        </p:blipFill>
        <p:spPr>
          <a:xfrm>
            <a:off x="828000" y="6967784"/>
            <a:ext cx="6120000" cy="1146258"/>
          </a:xfrm>
          <a:prstGeom prst="rect">
            <a:avLst/>
          </a:prstGeom>
        </p:spPr>
      </p:pic>
      <p:sp>
        <p:nvSpPr>
          <p:cNvPr id="25" name="Shape 17"/>
          <p:cNvSpPr/>
          <p:nvPr/>
        </p:nvSpPr>
        <p:spPr>
          <a:xfrm>
            <a:off x="828000" y="8388000"/>
            <a:ext cx="6120000" cy="0"/>
          </a:xfrm>
          <a:prstGeom prst="line">
            <a:avLst/>
          </a:prstGeom>
          <a:noFill/>
          <a:ln w="8890">
            <a:solidFill>
              <a:srgbClr val="46606E"/>
            </a:solidFill>
            <a:prstDash val="solid"/>
          </a:ln>
        </p:spPr>
      </p:sp>
      <p:sp>
        <p:nvSpPr>
          <p:cNvPr id="26" name="Text 18"/>
          <p:cNvSpPr/>
          <p:nvPr/>
        </p:nvSpPr>
        <p:spPr>
          <a:xfrm>
            <a:off x="828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7" name="Text 19"/>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8" name="Text 20"/>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40</a:t>
            </a:r>
            <a:endParaRPr lang="en-US" sz="750" dirty="0"/>
          </a:p>
        </p:txBody>
      </p:sp>
      <p:sp>
        <p:nvSpPr>
          <p:cNvPr id="29" name="Text 21"/>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46606E"/>
        </a:solidFill>
      </p:bgPr>
    </p:bg>
    <p:spTree>
      <p:nvGrpSpPr>
        <p:cNvPr id="1" name=""/>
        <p:cNvGrpSpPr/>
        <p:nvPr/>
      </p:nvGrpSpPr>
      <p:grpSpPr>
        <a:xfrm>
          <a:off x="0" y="0"/>
          <a:ext cx="0" cy="0"/>
          <a:chOff x="0" y="0"/>
          <a:chExt cx="0" cy="0"/>
        </a:xfrm>
      </p:grpSpPr>
      <p:pic>
        <p:nvPicPr>
          <p:cNvPr id="2" name="Image 0" descr="/home/user/philippe1/build/deco-salon-prive-2026/ouverture-champagne.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salon-prive-2026/carotte-champagne.png">    </p:cNvPr>
          <p:cNvPicPr>
            <a:picLocks noChangeAspect="1"/>
          </p:cNvPicPr>
          <p:nvPr/>
        </p:nvPicPr>
        <p:blipFill>
          <a:blip r:embed="rId2"/>
          <a:stretch>
            <a:fillRect/>
          </a:stretch>
        </p:blipFill>
        <p:spPr>
          <a:xfrm>
            <a:off x="7236000" y="0"/>
            <a:ext cx="324000" cy="9360000"/>
          </a:xfrm>
          <a:prstGeom prst="rect">
            <a:avLst/>
          </a:prstGeom>
        </p:spPr>
      </p:pic>
      <p:sp>
        <p:nvSpPr>
          <p:cNvPr id="4"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CHAMPAGNE</a:t>
            </a:r>
            <a:endParaRPr lang="en-US" sz="660" dirty="0"/>
          </a:p>
        </p:txBody>
      </p:sp>
      <p:sp>
        <p:nvSpPr>
          <p:cNvPr id="5" name="Text 1"/>
          <p:cNvSpPr/>
          <p:nvPr/>
        </p:nvSpPr>
        <p:spPr>
          <a:xfrm>
            <a:off x="612000" y="540000"/>
            <a:ext cx="792000" cy="216000"/>
          </a:xfrm>
          <a:prstGeom prst="rect">
            <a:avLst/>
          </a:prstGeom>
          <a:noFill/>
          <a:ln/>
        </p:spPr>
        <p:txBody>
          <a:bodyPr wrap="square" lIns="0" tIns="0" rIns="0" bIns="0" rtlCol="0" anchor="ctr"/>
          <a:lstStyle/>
          <a:p>
            <a:pPr algn="ctr" indent="0" marL="0">
              <a:buNone/>
            </a:pPr>
            <a:r>
              <a:rPr lang="en-US" sz="800" b="1" dirty="0">
                <a:solidFill>
                  <a:srgbClr val="46606E"/>
                </a:solidFill>
                <a:latin typeface="IBM Plex Sans" pitchFamily="34" charset="0"/>
                <a:ea typeface="IBM Plex Sans" pitchFamily="34" charset="-122"/>
                <a:cs typeface="IBM Plex Sans" pitchFamily="34" charset="-120"/>
              </a:rPr>
              <a:t>9 / 9</a:t>
            </a:r>
            <a:endParaRPr lang="en-US" sz="800" dirty="0"/>
          </a:p>
        </p:txBody>
      </p:sp>
      <p:sp>
        <p:nvSpPr>
          <p:cNvPr id="6" name="Text 2"/>
          <p:cNvSpPr/>
          <p:nvPr/>
        </p:nvSpPr>
        <p:spPr>
          <a:xfrm>
            <a:off x="612000" y="5112000"/>
            <a:ext cx="5040000" cy="792000"/>
          </a:xfrm>
          <a:prstGeom prst="rect">
            <a:avLst/>
          </a:prstGeom>
          <a:noFill/>
          <a:ln/>
        </p:spPr>
        <p:txBody>
          <a:bodyPr wrap="square" lIns="0" tIns="0" rIns="0" bIns="0" rtlCol="0" anchor="ctr"/>
          <a:lstStyle/>
          <a:p>
            <a:pPr indent="0" marL="0">
              <a:buNone/>
            </a:pPr>
            <a:r>
              <a:rPr lang="en-US" sz="4600" dirty="0">
                <a:solidFill>
                  <a:srgbClr val="46606E"/>
                </a:solidFill>
                <a:latin typeface="Young Serif" pitchFamily="34" charset="0"/>
                <a:ea typeface="Young Serif" pitchFamily="34" charset="-122"/>
                <a:cs typeface="Young Serif" pitchFamily="34" charset="-120"/>
              </a:rPr>
              <a:t>Champagne</a:t>
            </a:r>
            <a:endParaRPr lang="en-US" sz="4600" dirty="0"/>
          </a:p>
        </p:txBody>
      </p:sp>
      <p:sp>
        <p:nvSpPr>
          <p:cNvPr id="7" name="Text 3"/>
          <p:cNvSpPr/>
          <p:nvPr/>
        </p:nvSpPr>
        <p:spPr>
          <a:xfrm>
            <a:off x="612000" y="5976000"/>
            <a:ext cx="4320000" cy="252000"/>
          </a:xfrm>
          <a:prstGeom prst="rect">
            <a:avLst/>
          </a:prstGeom>
          <a:noFill/>
          <a:ln/>
        </p:spPr>
        <p:txBody>
          <a:bodyPr wrap="square" lIns="0" tIns="0" rIns="0" bIns="0" rtlCol="0" anchor="ctr"/>
          <a:lstStyle/>
          <a:p>
            <a:pPr indent="0" marL="0">
              <a:buNone/>
            </a:pPr>
            <a:r>
              <a:rPr lang="en-US" sz="1200" i="1" dirty="0">
                <a:solidFill>
                  <a:srgbClr val="46606E"/>
                </a:solidFill>
                <a:latin typeface="Spectral" pitchFamily="34" charset="0"/>
                <a:ea typeface="Spectral" pitchFamily="34" charset="-122"/>
                <a:cs typeface="Spectral" pitchFamily="34" charset="-120"/>
              </a:rPr>
              <a:t>la craie</a:t>
            </a:r>
            <a:endParaRPr lang="en-US" sz="1200" dirty="0"/>
          </a:p>
        </p:txBody>
      </p:sp>
      <p:sp>
        <p:nvSpPr>
          <p:cNvPr id="8" name="Text 4"/>
          <p:cNvSpPr/>
          <p:nvPr/>
        </p:nvSpPr>
        <p:spPr>
          <a:xfrm>
            <a:off x="612000" y="6336000"/>
            <a:ext cx="864000" cy="324000"/>
          </a:xfrm>
          <a:prstGeom prst="rect">
            <a:avLst/>
          </a:prstGeom>
          <a:noFill/>
          <a:ln/>
        </p:spPr>
        <p:txBody>
          <a:bodyPr wrap="square" lIns="0" tIns="0" rIns="0" bIns="0" rtlCol="0" anchor="ctr"/>
          <a:lstStyle/>
          <a:p>
            <a:pPr indent="0" marL="0">
              <a:buNone/>
            </a:pPr>
            <a:r>
              <a:rPr lang="en-US" sz="2000" dirty="0">
                <a:solidFill>
                  <a:srgbClr val="46606E"/>
                </a:solidFill>
                <a:latin typeface="Young Serif" pitchFamily="34" charset="0"/>
                <a:ea typeface="Young Serif" pitchFamily="34" charset="-122"/>
                <a:cs typeface="Young Serif" pitchFamily="34" charset="-120"/>
              </a:rPr>
              <a:t>4</a:t>
            </a:r>
            <a:endParaRPr lang="en-US" sz="2000" dirty="0"/>
          </a:p>
        </p:txBody>
      </p:sp>
      <p:sp>
        <p:nvSpPr>
          <p:cNvPr id="9" name="Text 5"/>
          <p:cNvSpPr/>
          <p:nvPr/>
        </p:nvSpPr>
        <p:spPr>
          <a:xfrm>
            <a:off x="612000" y="6660000"/>
            <a:ext cx="864000" cy="180000"/>
          </a:xfrm>
          <a:prstGeom prst="rect">
            <a:avLst/>
          </a:prstGeom>
          <a:noFill/>
          <a:ln/>
        </p:spPr>
        <p:txBody>
          <a:bodyPr wrap="square" lIns="0" tIns="0" rIns="0" bIns="0" rtlCol="0" anchor="ctr"/>
          <a:lstStyle/>
          <a:p>
            <a:pPr indent="0" marL="0">
              <a:buNone/>
            </a:pPr>
            <a:r>
              <a:rPr lang="en-US" sz="850" dirty="0">
                <a:solidFill>
                  <a:srgbClr val="46606E"/>
                </a:solidFill>
                <a:latin typeface="IBM Plex Sans" pitchFamily="34" charset="0"/>
                <a:ea typeface="IBM Plex Sans" pitchFamily="34" charset="-122"/>
                <a:cs typeface="IBM Plex Sans" pitchFamily="34" charset="-120"/>
              </a:rPr>
              <a:t>domaines</a:t>
            </a:r>
            <a:endParaRPr lang="en-US" sz="850" dirty="0"/>
          </a:p>
        </p:txBody>
      </p:sp>
      <p:sp>
        <p:nvSpPr>
          <p:cNvPr id="10" name="Text 6"/>
          <p:cNvSpPr/>
          <p:nvPr/>
        </p:nvSpPr>
        <p:spPr>
          <a:xfrm>
            <a:off x="1620000" y="6336000"/>
            <a:ext cx="864000" cy="324000"/>
          </a:xfrm>
          <a:prstGeom prst="rect">
            <a:avLst/>
          </a:prstGeom>
          <a:noFill/>
          <a:ln/>
        </p:spPr>
        <p:txBody>
          <a:bodyPr wrap="square" lIns="0" tIns="0" rIns="0" bIns="0" rtlCol="0" anchor="ctr"/>
          <a:lstStyle/>
          <a:p>
            <a:pPr indent="0" marL="0">
              <a:buNone/>
            </a:pPr>
            <a:r>
              <a:rPr lang="en-US" sz="2000" dirty="0">
                <a:solidFill>
                  <a:srgbClr val="46606E"/>
                </a:solidFill>
                <a:latin typeface="Young Serif" pitchFamily="34" charset="0"/>
                <a:ea typeface="Young Serif" pitchFamily="34" charset="-122"/>
                <a:cs typeface="Young Serif" pitchFamily="34" charset="-120"/>
              </a:rPr>
              <a:t>21</a:t>
            </a:r>
            <a:endParaRPr lang="en-US" sz="2000" dirty="0"/>
          </a:p>
        </p:txBody>
      </p:sp>
      <p:sp>
        <p:nvSpPr>
          <p:cNvPr id="11" name="Text 7"/>
          <p:cNvSpPr/>
          <p:nvPr/>
        </p:nvSpPr>
        <p:spPr>
          <a:xfrm>
            <a:off x="1620000" y="6660000"/>
            <a:ext cx="1620000" cy="180000"/>
          </a:xfrm>
          <a:prstGeom prst="rect">
            <a:avLst/>
          </a:prstGeom>
          <a:noFill/>
          <a:ln/>
        </p:spPr>
        <p:txBody>
          <a:bodyPr wrap="square" lIns="0" tIns="0" rIns="0" bIns="0" rtlCol="0" anchor="ctr"/>
          <a:lstStyle/>
          <a:p>
            <a:pPr indent="0" marL="0">
              <a:buNone/>
            </a:pPr>
            <a:r>
              <a:rPr lang="en-US" sz="850" dirty="0">
                <a:solidFill>
                  <a:srgbClr val="46606E"/>
                </a:solidFill>
                <a:latin typeface="IBM Plex Sans" pitchFamily="34" charset="0"/>
                <a:ea typeface="IBM Plex Sans" pitchFamily="34" charset="-122"/>
                <a:cs typeface="IBM Plex Sans" pitchFamily="34" charset="-120"/>
              </a:rPr>
              <a:t>vins à la dégustation</a:t>
            </a:r>
            <a:endParaRPr lang="en-US" sz="850" dirty="0"/>
          </a:p>
        </p:txBody>
      </p:sp>
      <p:sp>
        <p:nvSpPr>
          <p:cNvPr id="12" name="Text 8"/>
          <p:cNvSpPr/>
          <p:nvPr/>
        </p:nvSpPr>
        <p:spPr>
          <a:xfrm>
            <a:off x="612000" y="7128000"/>
            <a:ext cx="2916000" cy="216000"/>
          </a:xfrm>
          <a:prstGeom prst="rect">
            <a:avLst/>
          </a:prstGeom>
          <a:noFill/>
          <a:ln/>
        </p:spPr>
        <p:txBody>
          <a:bodyPr wrap="square" lIns="0" tIns="0" rIns="0" bIns="0" rtlCol="0" anchor="ctr"/>
          <a:lstStyle/>
          <a:p>
            <a:pPr indent="0" marL="0">
              <a:buNone/>
            </a:pPr>
            <a:r>
              <a:rPr lang="en-US" sz="1100" dirty="0">
                <a:solidFill>
                  <a:srgbClr val="46606E"/>
                </a:solidFill>
                <a:latin typeface="Young Serif" pitchFamily="34" charset="0"/>
                <a:ea typeface="Young Serif" pitchFamily="34" charset="-122"/>
                <a:cs typeface="Young Serif" pitchFamily="34" charset="-120"/>
              </a:rPr>
              <a:t>11   </a:t>
            </a:r>
            <a:r>
              <a:rPr lang="en-US" sz="860" dirty="0">
                <a:solidFill>
                  <a:srgbClr val="46606E"/>
                </a:solidFill>
                <a:latin typeface="IBM Plex Sans" pitchFamily="34" charset="0"/>
                <a:ea typeface="IBM Plex Sans" pitchFamily="34" charset="-122"/>
                <a:cs typeface="IBM Plex Sans" pitchFamily="34" charset="-120"/>
              </a:rPr>
              <a:t>Champagne Dekeyne</a:t>
            </a:r>
            <a:r>
              <a:rPr lang="en-US" sz="860" b="1" dirty="0">
                <a:solidFill>
                  <a:srgbClr val="46606E"/>
                </a:solidFill>
                <a:latin typeface="IBM Plex Sans" pitchFamily="34" charset="0"/>
                <a:ea typeface="IBM Plex Sans" pitchFamily="34" charset="-122"/>
                <a:cs typeface="IBM Plex Sans" pitchFamily="34" charset="-120"/>
              </a:rPr>
              <a:t>   42</a:t>
            </a:r>
            <a:endParaRPr lang="en-US" sz="860" dirty="0"/>
          </a:p>
        </p:txBody>
      </p:sp>
      <p:sp>
        <p:nvSpPr>
          <p:cNvPr id="13" name="Text 9"/>
          <p:cNvSpPr/>
          <p:nvPr/>
        </p:nvSpPr>
        <p:spPr>
          <a:xfrm>
            <a:off x="3672000" y="7128000"/>
            <a:ext cx="2916000" cy="216000"/>
          </a:xfrm>
          <a:prstGeom prst="rect">
            <a:avLst/>
          </a:prstGeom>
          <a:noFill/>
          <a:ln/>
        </p:spPr>
        <p:txBody>
          <a:bodyPr wrap="square" lIns="0" tIns="0" rIns="0" bIns="0" rtlCol="0" anchor="ctr"/>
          <a:lstStyle/>
          <a:p>
            <a:pPr indent="0" marL="0">
              <a:buNone/>
            </a:pPr>
            <a:r>
              <a:rPr lang="en-US" sz="1100" dirty="0">
                <a:solidFill>
                  <a:srgbClr val="46606E"/>
                </a:solidFill>
                <a:latin typeface="Young Serif" pitchFamily="34" charset="0"/>
                <a:ea typeface="Young Serif" pitchFamily="34" charset="-122"/>
                <a:cs typeface="Young Serif" pitchFamily="34" charset="-120"/>
              </a:rPr>
              <a:t>2   </a:t>
            </a:r>
            <a:r>
              <a:rPr lang="en-US" sz="860" dirty="0">
                <a:solidFill>
                  <a:srgbClr val="46606E"/>
                </a:solidFill>
                <a:latin typeface="IBM Plex Sans" pitchFamily="34" charset="0"/>
                <a:ea typeface="IBM Plex Sans" pitchFamily="34" charset="-122"/>
                <a:cs typeface="IBM Plex Sans" pitchFamily="34" charset="-120"/>
              </a:rPr>
              <a:t>Champagne Denis Frézier</a:t>
            </a:r>
            <a:r>
              <a:rPr lang="en-US" sz="860" b="1" dirty="0">
                <a:solidFill>
                  <a:srgbClr val="46606E"/>
                </a:solidFill>
                <a:latin typeface="IBM Plex Sans" pitchFamily="34" charset="0"/>
                <a:ea typeface="IBM Plex Sans" pitchFamily="34" charset="-122"/>
                <a:cs typeface="IBM Plex Sans" pitchFamily="34" charset="-120"/>
              </a:rPr>
              <a:t>   43</a:t>
            </a:r>
            <a:endParaRPr lang="en-US" sz="860" dirty="0"/>
          </a:p>
        </p:txBody>
      </p:sp>
      <p:sp>
        <p:nvSpPr>
          <p:cNvPr id="14" name="Text 10"/>
          <p:cNvSpPr/>
          <p:nvPr/>
        </p:nvSpPr>
        <p:spPr>
          <a:xfrm>
            <a:off x="612000" y="7380000"/>
            <a:ext cx="2916000" cy="216000"/>
          </a:xfrm>
          <a:prstGeom prst="rect">
            <a:avLst/>
          </a:prstGeom>
          <a:noFill/>
          <a:ln/>
        </p:spPr>
        <p:txBody>
          <a:bodyPr wrap="square" lIns="0" tIns="0" rIns="0" bIns="0" rtlCol="0" anchor="ctr"/>
          <a:lstStyle/>
          <a:p>
            <a:pPr indent="0" marL="0">
              <a:buNone/>
            </a:pPr>
            <a:r>
              <a:rPr lang="en-US" sz="1100" dirty="0">
                <a:solidFill>
                  <a:srgbClr val="46606E"/>
                </a:solidFill>
                <a:latin typeface="Young Serif" pitchFamily="34" charset="0"/>
                <a:ea typeface="Young Serif" pitchFamily="34" charset="-122"/>
                <a:cs typeface="Young Serif" pitchFamily="34" charset="-120"/>
              </a:rPr>
              <a:t>23   </a:t>
            </a:r>
            <a:r>
              <a:rPr lang="en-US" sz="860" dirty="0">
                <a:solidFill>
                  <a:srgbClr val="46606E"/>
                </a:solidFill>
                <a:latin typeface="IBM Plex Sans" pitchFamily="34" charset="0"/>
                <a:ea typeface="IBM Plex Sans" pitchFamily="34" charset="-122"/>
                <a:cs typeface="IBM Plex Sans" pitchFamily="34" charset="-120"/>
              </a:rPr>
              <a:t>Champagne Solemme</a:t>
            </a:r>
            <a:r>
              <a:rPr lang="en-US" sz="860" b="1" dirty="0">
                <a:solidFill>
                  <a:srgbClr val="46606E"/>
                </a:solidFill>
                <a:latin typeface="IBM Plex Sans" pitchFamily="34" charset="0"/>
                <a:ea typeface="IBM Plex Sans" pitchFamily="34" charset="-122"/>
                <a:cs typeface="IBM Plex Sans" pitchFamily="34" charset="-120"/>
              </a:rPr>
              <a:t>   44</a:t>
            </a:r>
            <a:endParaRPr lang="en-US" sz="860" dirty="0"/>
          </a:p>
        </p:txBody>
      </p:sp>
      <p:sp>
        <p:nvSpPr>
          <p:cNvPr id="15" name="Text 11"/>
          <p:cNvSpPr/>
          <p:nvPr/>
        </p:nvSpPr>
        <p:spPr>
          <a:xfrm>
            <a:off x="3672000" y="7380000"/>
            <a:ext cx="2916000" cy="216000"/>
          </a:xfrm>
          <a:prstGeom prst="rect">
            <a:avLst/>
          </a:prstGeom>
          <a:noFill/>
          <a:ln/>
        </p:spPr>
        <p:txBody>
          <a:bodyPr wrap="square" lIns="0" tIns="0" rIns="0" bIns="0" rtlCol="0" anchor="ctr"/>
          <a:lstStyle/>
          <a:p>
            <a:pPr indent="0" marL="0">
              <a:buNone/>
            </a:pPr>
            <a:r>
              <a:rPr lang="en-US" sz="1100" dirty="0">
                <a:solidFill>
                  <a:srgbClr val="46606E"/>
                </a:solidFill>
                <a:latin typeface="Young Serif" pitchFamily="34" charset="0"/>
                <a:ea typeface="Young Serif" pitchFamily="34" charset="-122"/>
                <a:cs typeface="Young Serif" pitchFamily="34" charset="-120"/>
              </a:rPr>
              <a:t>15   </a:t>
            </a:r>
            <a:r>
              <a:rPr lang="en-US" sz="860" dirty="0">
                <a:solidFill>
                  <a:srgbClr val="46606E"/>
                </a:solidFill>
                <a:latin typeface="IBM Plex Sans" pitchFamily="34" charset="0"/>
                <a:ea typeface="IBM Plex Sans" pitchFamily="34" charset="-122"/>
                <a:cs typeface="IBM Plex Sans" pitchFamily="34" charset="-120"/>
              </a:rPr>
              <a:t>Vazart-Coquart &amp; Fils</a:t>
            </a:r>
            <a:r>
              <a:rPr lang="en-US" sz="860" b="1" dirty="0">
                <a:solidFill>
                  <a:srgbClr val="46606E"/>
                </a:solidFill>
                <a:latin typeface="IBM Plex Sans" pitchFamily="34" charset="0"/>
                <a:ea typeface="IBM Plex Sans" pitchFamily="34" charset="-122"/>
                <a:cs typeface="IBM Plex Sans" pitchFamily="34" charset="-120"/>
              </a:rPr>
              <a:t>   45</a:t>
            </a:r>
            <a:endParaRPr lang="en-US" sz="860" dirty="0"/>
          </a:p>
        </p:txBody>
      </p:sp>
      <p:sp>
        <p:nvSpPr>
          <p:cNvPr id="16" name="Text 12"/>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41</a:t>
            </a:r>
            <a:endParaRPr lang="en-US" sz="750" dirty="0"/>
          </a:p>
        </p:txBody>
      </p:sp>
      <p:sp>
        <p:nvSpPr>
          <p:cNvPr id="17" name="Text 13"/>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champa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CHAMPAGNE</a:t>
            </a:r>
            <a:endParaRPr lang="en-US" sz="660" dirty="0"/>
          </a:p>
        </p:txBody>
      </p:sp>
      <p:sp>
        <p:nvSpPr>
          <p:cNvPr id="4" name="Shape 1"/>
          <p:cNvSpPr/>
          <p:nvPr/>
        </p:nvSpPr>
        <p:spPr>
          <a:xfrm>
            <a:off x="828000" y="667894"/>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67894"/>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11</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74188"/>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Champagne Dekeyne</a:t>
            </a:r>
            <a:endParaRPr lang="en-US" sz="2000" dirty="0"/>
          </a:p>
        </p:txBody>
      </p:sp>
      <p:sp>
        <p:nvSpPr>
          <p:cNvPr id="7" name="Text 4"/>
          <p:cNvSpPr/>
          <p:nvPr/>
        </p:nvSpPr>
        <p:spPr>
          <a:xfrm>
            <a:off x="5508000" y="540000"/>
            <a:ext cx="1440000" cy="774188"/>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CHAMPAGNE</a:t>
            </a:r>
            <a:endParaRPr lang="en-US" sz="800" dirty="0"/>
          </a:p>
        </p:txBody>
      </p:sp>
      <p:sp>
        <p:nvSpPr>
          <p:cNvPr id="8" name="Shape 5"/>
          <p:cNvSpPr/>
          <p:nvPr/>
        </p:nvSpPr>
        <p:spPr>
          <a:xfrm>
            <a:off x="828000" y="1332188"/>
            <a:ext cx="6120000" cy="0"/>
          </a:xfrm>
          <a:prstGeom prst="line">
            <a:avLst/>
          </a:prstGeom>
          <a:noFill/>
          <a:ln w="17780">
            <a:solidFill>
              <a:srgbClr val="67067C"/>
            </a:solidFill>
            <a:prstDash val="solid"/>
          </a:ln>
        </p:spPr>
      </p:sp>
      <p:sp>
        <p:nvSpPr>
          <p:cNvPr id="9" name="Shape 6"/>
          <p:cNvSpPr/>
          <p:nvPr/>
        </p:nvSpPr>
        <p:spPr>
          <a:xfrm>
            <a:off x="828000" y="1425788"/>
            <a:ext cx="1101294"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conversion.png">    </p:cNvPr>
          <p:cNvPicPr>
            <a:picLocks noChangeAspect="1"/>
          </p:cNvPicPr>
          <p:nvPr/>
        </p:nvPicPr>
        <p:blipFill>
          <a:blip r:embed="rId2"/>
          <a:stretch>
            <a:fillRect/>
          </a:stretch>
        </p:blipFill>
        <p:spPr>
          <a:xfrm>
            <a:off x="900000" y="1461788"/>
            <a:ext cx="108000" cy="108000"/>
          </a:xfrm>
          <a:prstGeom prst="rect">
            <a:avLst/>
          </a:prstGeom>
        </p:spPr>
      </p:pic>
      <p:sp>
        <p:nvSpPr>
          <p:cNvPr id="11" name="Text 7"/>
          <p:cNvSpPr/>
          <p:nvPr/>
        </p:nvSpPr>
        <p:spPr>
          <a:xfrm>
            <a:off x="975600" y="1425788"/>
            <a:ext cx="95369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En conversion Bio</a:t>
            </a:r>
            <a:endParaRPr lang="en-US" sz="720" dirty="0"/>
          </a:p>
        </p:txBody>
      </p:sp>
      <p:sp>
        <p:nvSpPr>
          <p:cNvPr id="12" name="Shape 8"/>
          <p:cNvSpPr/>
          <p:nvPr/>
        </p:nvSpPr>
        <p:spPr>
          <a:xfrm>
            <a:off x="2008494" y="1425788"/>
            <a:ext cx="630911" cy="180000"/>
          </a:xfrm>
          <a:prstGeom prst="roundRect">
            <a:avLst>
              <a:gd name="adj" fmla="val 10160"/>
            </a:avLst>
          </a:prstGeom>
          <a:solidFill>
            <a:srgbClr val="67067C"/>
          </a:solidFill>
          <a:ln w="8890">
            <a:solidFill>
              <a:srgbClr val="67067C"/>
            </a:solidFill>
            <a:prstDash val="solid"/>
          </a:ln>
        </p:spPr>
      </p:sp>
      <p:sp>
        <p:nvSpPr>
          <p:cNvPr id="13" name="Text 9"/>
          <p:cNvSpPr/>
          <p:nvPr/>
        </p:nvSpPr>
        <p:spPr>
          <a:xfrm>
            <a:off x="2008494" y="1425788"/>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4" name="Shape 10"/>
          <p:cNvSpPr/>
          <p:nvPr/>
        </p:nvSpPr>
        <p:spPr>
          <a:xfrm>
            <a:off x="2718605" y="1425788"/>
            <a:ext cx="1385474" cy="180000"/>
          </a:xfrm>
          <a:prstGeom prst="roundRect">
            <a:avLst>
              <a:gd name="adj" fmla="val 10160"/>
            </a:avLst>
          </a:prstGeom>
          <a:solidFill>
            <a:srgbClr val="F2EADA"/>
          </a:solidFill>
          <a:ln w="8890">
            <a:solidFill>
              <a:srgbClr val="A8515F"/>
            </a:solidFill>
            <a:prstDash val="solid"/>
          </a:ln>
        </p:spPr>
      </p:sp>
      <p:sp>
        <p:nvSpPr>
          <p:cNvPr id="15" name="Text 11"/>
          <p:cNvSpPr/>
          <p:nvPr/>
        </p:nvSpPr>
        <p:spPr>
          <a:xfrm>
            <a:off x="2718605" y="1425788"/>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6" name="Shape 12"/>
          <p:cNvSpPr/>
          <p:nvPr/>
        </p:nvSpPr>
        <p:spPr>
          <a:xfrm>
            <a:off x="4183278" y="1425788"/>
            <a:ext cx="1149376" cy="180000"/>
          </a:xfrm>
          <a:prstGeom prst="roundRect">
            <a:avLst>
              <a:gd name="adj" fmla="val 10160"/>
            </a:avLst>
          </a:prstGeom>
          <a:solidFill>
            <a:srgbClr val="F2EADA"/>
          </a:solidFill>
          <a:ln w="8890">
            <a:solidFill>
              <a:srgbClr val="46606E"/>
            </a:solidFill>
            <a:prstDash val="solid"/>
          </a:ln>
        </p:spPr>
      </p:sp>
      <p:sp>
        <p:nvSpPr>
          <p:cNvPr id="17" name="Text 13"/>
          <p:cNvSpPr/>
          <p:nvPr/>
        </p:nvSpPr>
        <p:spPr>
          <a:xfrm>
            <a:off x="4183278" y="1425788"/>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4 vins à la dégustation</a:t>
            </a:r>
            <a:endParaRPr lang="en-US" sz="720" dirty="0"/>
          </a:p>
        </p:txBody>
      </p:sp>
      <p:pic>
        <p:nvPicPr>
          <p:cNvPr id="18" name="Image 2" descr="les deux frères dans les vignes — Champagne Dekeyne">    </p:cNvPr>
          <p:cNvPicPr>
            <a:picLocks noChangeAspect="1"/>
          </p:cNvPicPr>
          <p:nvPr/>
        </p:nvPicPr>
        <p:blipFill>
          <a:blip r:embed="rId3"/>
          <a:stretch>
            <a:fillRect/>
          </a:stretch>
        </p:blipFill>
        <p:spPr>
          <a:xfrm>
            <a:off x="828000" y="1735388"/>
            <a:ext cx="1440000" cy="1440000"/>
          </a:xfrm>
          <a:prstGeom prst="rect">
            <a:avLst/>
          </a:prstGeom>
        </p:spPr>
      </p:pic>
      <p:pic>
        <p:nvPicPr>
          <p:cNvPr id="19" name="Image 3" descr="Une bouteille du domaine Champagne Dekeyne">    </p:cNvPr>
          <p:cNvPicPr>
            <a:picLocks noChangeAspect="1"/>
          </p:cNvPicPr>
          <p:nvPr/>
        </p:nvPicPr>
        <p:blipFill>
          <a:blip r:embed="rId4"/>
          <a:stretch>
            <a:fillRect/>
          </a:stretch>
        </p:blipFill>
        <p:spPr>
          <a:xfrm>
            <a:off x="6221754" y="1735388"/>
            <a:ext cx="588492" cy="2232000"/>
          </a:xfrm>
          <a:prstGeom prst="rect">
            <a:avLst/>
          </a:prstGeom>
        </p:spPr>
      </p:pic>
      <p:sp>
        <p:nvSpPr>
          <p:cNvPr id="20" name="Text 14"/>
          <p:cNvSpPr/>
          <p:nvPr/>
        </p:nvSpPr>
        <p:spPr>
          <a:xfrm>
            <a:off x="2394034" y="1865417"/>
            <a:ext cx="251341" cy="454965"/>
          </a:xfrm>
          <a:prstGeom prst="rect">
            <a:avLst/>
          </a:prstGeom>
          <a:noFill/>
          <a:ln/>
        </p:spPr>
        <p:txBody>
          <a:bodyPr wrap="square" lIns="0" tIns="0" rIns="0" bIns="0" rtlCol="0" anchor="t"/>
          <a:lstStyle/>
          <a:p>
            <a:pPr algn="r" indent="0" marL="0">
              <a:lnSpc>
                <a:spcPct val="124800"/>
              </a:lnSpc>
              <a:buNone/>
            </a:pPr>
            <a:r>
              <a:rPr lang="en-US" sz="2239" dirty="0">
                <a:solidFill>
                  <a:srgbClr val="67067C"/>
                </a:solidFill>
                <a:latin typeface="Young Serif" pitchFamily="34" charset="0"/>
                <a:ea typeface="Young Serif" pitchFamily="34" charset="-122"/>
                <a:cs typeface="Young Serif" pitchFamily="34" charset="-120"/>
              </a:rPr>
              <a:t>F</a:t>
            </a:r>
            <a:endParaRPr lang="en-US" sz="2239" dirty="0"/>
          </a:p>
        </p:txBody>
      </p:sp>
      <p:sp>
        <p:nvSpPr>
          <p:cNvPr id="21" name="Text 15"/>
          <p:cNvSpPr/>
          <p:nvPr/>
        </p:nvSpPr>
        <p:spPr>
          <a:xfrm>
            <a:off x="2448000" y="1986026"/>
            <a:ext cx="3456000" cy="1981262"/>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idèle à la ferme de La Voglonière depuis 1919, la famille Dekeyne cultive une relation intime avec la terre champenoise. Engagé en conversion biologique, ce domaine de quatre générations élabore des champagnes d’artisan à la vibrante énergie de sol.</a:t>
            </a:r>
            <a:endParaRPr lang="en-US" sz="130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828000" y="4129288"/>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48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Voglonniers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Nature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Chardonnay Vignes de 1962</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Champagne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Supernova Extra-Brut Zéro Dosage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3" name="Shape 16"/>
          <p:cNvSpPr/>
          <p:nvPr/>
        </p:nvSpPr>
        <p:spPr>
          <a:xfrm>
            <a:off x="828000" y="6003114"/>
            <a:ext cx="0" cy="288349"/>
          </a:xfrm>
          <a:prstGeom prst="line">
            <a:avLst/>
          </a:prstGeom>
          <a:noFill/>
          <a:ln w="17780">
            <a:solidFill>
              <a:srgbClr val="67067C"/>
            </a:solidFill>
            <a:prstDash val="solid"/>
          </a:ln>
        </p:spPr>
      </p:sp>
      <p:sp>
        <p:nvSpPr>
          <p:cNvPr id="24" name="Text 17"/>
          <p:cNvSpPr/>
          <p:nvPr/>
        </p:nvSpPr>
        <p:spPr>
          <a:xfrm>
            <a:off x="936000" y="6003114"/>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 à partir de 48 bouteilles.</a:t>
            </a:r>
            <a:endParaRPr lang="en-US" sz="1050" dirty="0"/>
          </a:p>
        </p:txBody>
      </p:sp>
      <p:sp>
        <p:nvSpPr>
          <p:cNvPr id="25" name="Text 18"/>
          <p:cNvSpPr/>
          <p:nvPr/>
        </p:nvSpPr>
        <p:spPr>
          <a:xfrm>
            <a:off x="828000" y="6435463"/>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CHAMPAGNE — LA CRAIE</a:t>
            </a:r>
            <a:endParaRPr lang="en-US" sz="720" dirty="0"/>
          </a:p>
        </p:txBody>
      </p:sp>
      <p:pic>
        <p:nvPicPr>
          <p:cNvPr id="26" name="Image 4" descr="/home/user/philippe1/build/deco-salon-prive-2026/sol-champagne.png">    </p:cNvPr>
          <p:cNvPicPr>
            <a:picLocks noChangeAspect="1"/>
          </p:cNvPicPr>
          <p:nvPr/>
        </p:nvPicPr>
        <p:blipFill>
          <a:blip r:embed="rId5"/>
          <a:stretch>
            <a:fillRect/>
          </a:stretch>
        </p:blipFill>
        <p:spPr>
          <a:xfrm>
            <a:off x="828000" y="6583063"/>
            <a:ext cx="6120000" cy="1148400"/>
          </a:xfrm>
          <a:prstGeom prst="rect">
            <a:avLst/>
          </a:prstGeom>
        </p:spPr>
      </p:pic>
      <p:sp>
        <p:nvSpPr>
          <p:cNvPr id="27" name="Shape 19"/>
          <p:cNvSpPr/>
          <p:nvPr/>
        </p:nvSpPr>
        <p:spPr>
          <a:xfrm>
            <a:off x="828000" y="8388000"/>
            <a:ext cx="6120000" cy="0"/>
          </a:xfrm>
          <a:prstGeom prst="line">
            <a:avLst/>
          </a:prstGeom>
          <a:noFill/>
          <a:ln w="8890">
            <a:solidFill>
              <a:srgbClr val="46606E"/>
            </a:solidFill>
            <a:prstDash val="solid"/>
          </a:ln>
        </p:spPr>
      </p:sp>
      <p:sp>
        <p:nvSpPr>
          <p:cNvPr id="28" name="Text 20"/>
          <p:cNvSpPr/>
          <p:nvPr/>
        </p:nvSpPr>
        <p:spPr>
          <a:xfrm>
            <a:off x="828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44 · 85</a:t>
            </a:r>
            <a:endParaRPr lang="en-US" sz="720" dirty="0"/>
          </a:p>
        </p:txBody>
      </p:sp>
      <p:sp>
        <p:nvSpPr>
          <p:cNvPr id="29" name="Text 21"/>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pictos de l’Agence SCIO, pas les logos officiels</a:t>
            </a:r>
            <a:endParaRPr lang="en-US" sz="650" dirty="0"/>
          </a:p>
        </p:txBody>
      </p:sp>
      <p:sp>
        <p:nvSpPr>
          <p:cNvPr id="30" name="Text 22"/>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42</a:t>
            </a:r>
            <a:endParaRPr lang="en-US" sz="750" dirty="0"/>
          </a:p>
        </p:txBody>
      </p:sp>
      <p:sp>
        <p:nvSpPr>
          <p:cNvPr id="31" name="Text 23"/>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champa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CHAMPAGNE</a:t>
            </a:r>
            <a:endParaRPr lang="en-US" sz="660" dirty="0"/>
          </a:p>
        </p:txBody>
      </p:sp>
      <p:sp>
        <p:nvSpPr>
          <p:cNvPr id="4" name="Shape 1"/>
          <p:cNvSpPr/>
          <p:nvPr/>
        </p:nvSpPr>
        <p:spPr>
          <a:xfrm>
            <a:off x="612000" y="667894"/>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612000" y="667894"/>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2</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Blanche</a:t>
            </a:r>
            <a:endParaRPr lang="en-US" sz="700" dirty="0"/>
          </a:p>
        </p:txBody>
      </p:sp>
      <p:sp>
        <p:nvSpPr>
          <p:cNvPr id="6" name="Text 3"/>
          <p:cNvSpPr/>
          <p:nvPr/>
        </p:nvSpPr>
        <p:spPr>
          <a:xfrm>
            <a:off x="1440000" y="540000"/>
            <a:ext cx="4068000" cy="774188"/>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Champagne Denis Frézier</a:t>
            </a:r>
            <a:endParaRPr lang="en-US" sz="2000" dirty="0"/>
          </a:p>
        </p:txBody>
      </p:sp>
      <p:sp>
        <p:nvSpPr>
          <p:cNvPr id="7" name="Text 4"/>
          <p:cNvSpPr/>
          <p:nvPr/>
        </p:nvSpPr>
        <p:spPr>
          <a:xfrm>
            <a:off x="5292000" y="540000"/>
            <a:ext cx="1440000" cy="774188"/>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CHAMPAGNE</a:t>
            </a:r>
            <a:endParaRPr lang="en-US" sz="800" dirty="0"/>
          </a:p>
        </p:txBody>
      </p:sp>
      <p:sp>
        <p:nvSpPr>
          <p:cNvPr id="8" name="Shape 5"/>
          <p:cNvSpPr/>
          <p:nvPr/>
        </p:nvSpPr>
        <p:spPr>
          <a:xfrm>
            <a:off x="612000" y="1332188"/>
            <a:ext cx="6120000" cy="0"/>
          </a:xfrm>
          <a:prstGeom prst="line">
            <a:avLst/>
          </a:prstGeom>
          <a:noFill/>
          <a:ln w="17780">
            <a:solidFill>
              <a:srgbClr val="67067C"/>
            </a:solidFill>
            <a:prstDash val="solid"/>
          </a:ln>
        </p:spPr>
      </p:sp>
      <p:sp>
        <p:nvSpPr>
          <p:cNvPr id="9" name="Shape 6"/>
          <p:cNvSpPr/>
          <p:nvPr/>
        </p:nvSpPr>
        <p:spPr>
          <a:xfrm>
            <a:off x="612000" y="1425788"/>
            <a:ext cx="1101294"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conversion.png">    </p:cNvPr>
          <p:cNvPicPr>
            <a:picLocks noChangeAspect="1"/>
          </p:cNvPicPr>
          <p:nvPr/>
        </p:nvPicPr>
        <p:blipFill>
          <a:blip r:embed="rId2"/>
          <a:stretch>
            <a:fillRect/>
          </a:stretch>
        </p:blipFill>
        <p:spPr>
          <a:xfrm>
            <a:off x="684000" y="1461788"/>
            <a:ext cx="108000" cy="108000"/>
          </a:xfrm>
          <a:prstGeom prst="rect">
            <a:avLst/>
          </a:prstGeom>
        </p:spPr>
      </p:pic>
      <p:sp>
        <p:nvSpPr>
          <p:cNvPr id="11" name="Text 7"/>
          <p:cNvSpPr/>
          <p:nvPr/>
        </p:nvSpPr>
        <p:spPr>
          <a:xfrm>
            <a:off x="759600" y="1425788"/>
            <a:ext cx="95369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En conversion Bio</a:t>
            </a:r>
            <a:endParaRPr lang="en-US" sz="720" dirty="0"/>
          </a:p>
        </p:txBody>
      </p:sp>
      <p:sp>
        <p:nvSpPr>
          <p:cNvPr id="12" name="Shape 8"/>
          <p:cNvSpPr/>
          <p:nvPr/>
        </p:nvSpPr>
        <p:spPr>
          <a:xfrm>
            <a:off x="1792494" y="1425788"/>
            <a:ext cx="630911" cy="180000"/>
          </a:xfrm>
          <a:prstGeom prst="roundRect">
            <a:avLst>
              <a:gd name="adj" fmla="val 10160"/>
            </a:avLst>
          </a:prstGeom>
          <a:solidFill>
            <a:srgbClr val="67067C"/>
          </a:solidFill>
          <a:ln w="8890">
            <a:solidFill>
              <a:srgbClr val="67067C"/>
            </a:solidFill>
            <a:prstDash val="solid"/>
          </a:ln>
        </p:spPr>
      </p:sp>
      <p:sp>
        <p:nvSpPr>
          <p:cNvPr id="13" name="Text 9"/>
          <p:cNvSpPr/>
          <p:nvPr/>
        </p:nvSpPr>
        <p:spPr>
          <a:xfrm>
            <a:off x="1792494" y="1425788"/>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4" name="Shape 10"/>
          <p:cNvSpPr/>
          <p:nvPr/>
        </p:nvSpPr>
        <p:spPr>
          <a:xfrm>
            <a:off x="2502605" y="1425788"/>
            <a:ext cx="1385474" cy="180000"/>
          </a:xfrm>
          <a:prstGeom prst="roundRect">
            <a:avLst>
              <a:gd name="adj" fmla="val 10160"/>
            </a:avLst>
          </a:prstGeom>
          <a:solidFill>
            <a:srgbClr val="F2EADA"/>
          </a:solidFill>
          <a:ln w="8890">
            <a:solidFill>
              <a:srgbClr val="A8515F"/>
            </a:solidFill>
            <a:prstDash val="solid"/>
          </a:ln>
        </p:spPr>
      </p:sp>
      <p:sp>
        <p:nvSpPr>
          <p:cNvPr id="15" name="Text 11"/>
          <p:cNvSpPr/>
          <p:nvPr/>
        </p:nvSpPr>
        <p:spPr>
          <a:xfrm>
            <a:off x="2502605" y="1425788"/>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6" name="Shape 12"/>
          <p:cNvSpPr/>
          <p:nvPr/>
        </p:nvSpPr>
        <p:spPr>
          <a:xfrm>
            <a:off x="3967278" y="1425788"/>
            <a:ext cx="1149376" cy="180000"/>
          </a:xfrm>
          <a:prstGeom prst="roundRect">
            <a:avLst>
              <a:gd name="adj" fmla="val 10160"/>
            </a:avLst>
          </a:prstGeom>
          <a:solidFill>
            <a:srgbClr val="F2EADA"/>
          </a:solidFill>
          <a:ln w="8890">
            <a:solidFill>
              <a:srgbClr val="46606E"/>
            </a:solidFill>
            <a:prstDash val="solid"/>
          </a:ln>
        </p:spPr>
      </p:sp>
      <p:sp>
        <p:nvSpPr>
          <p:cNvPr id="17" name="Text 13"/>
          <p:cNvSpPr/>
          <p:nvPr/>
        </p:nvSpPr>
        <p:spPr>
          <a:xfrm>
            <a:off x="3967278" y="1425788"/>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5 vins à la dégustation</a:t>
            </a:r>
            <a:endParaRPr lang="en-US" sz="720" dirty="0"/>
          </a:p>
        </p:txBody>
      </p:sp>
      <p:pic>
        <p:nvPicPr>
          <p:cNvPr id="18" name="Image 2" descr="le village dans ses vignes — Champagne Denis Frézier">    </p:cNvPr>
          <p:cNvPicPr>
            <a:picLocks noChangeAspect="1"/>
          </p:cNvPicPr>
          <p:nvPr/>
        </p:nvPicPr>
        <p:blipFill>
          <a:blip r:embed="rId3"/>
          <a:stretch>
            <a:fillRect/>
          </a:stretch>
        </p:blipFill>
        <p:spPr>
          <a:xfrm>
            <a:off x="612000" y="1735388"/>
            <a:ext cx="1440000" cy="1440000"/>
          </a:xfrm>
          <a:prstGeom prst="rect">
            <a:avLst/>
          </a:prstGeom>
        </p:spPr>
      </p:pic>
      <p:pic>
        <p:nvPicPr>
          <p:cNvPr id="19" name="Image 3" descr="Une bouteille du domaine Champagne Denis Frézier">    </p:cNvPr>
          <p:cNvPicPr>
            <a:picLocks noChangeAspect="1"/>
          </p:cNvPicPr>
          <p:nvPr/>
        </p:nvPicPr>
        <p:blipFill>
          <a:blip r:embed="rId4"/>
          <a:stretch>
            <a:fillRect/>
          </a:stretch>
        </p:blipFill>
        <p:spPr>
          <a:xfrm>
            <a:off x="6002705" y="1735388"/>
            <a:ext cx="594590" cy="2232000"/>
          </a:xfrm>
          <a:prstGeom prst="rect">
            <a:avLst/>
          </a:prstGeom>
        </p:spPr>
      </p:pic>
      <p:sp>
        <p:nvSpPr>
          <p:cNvPr id="20" name="Text 14"/>
          <p:cNvSpPr/>
          <p:nvPr/>
        </p:nvSpPr>
        <p:spPr>
          <a:xfrm>
            <a:off x="2177992" y="1848113"/>
            <a:ext cx="292658" cy="505765"/>
          </a:xfrm>
          <a:prstGeom prst="rect">
            <a:avLst/>
          </a:prstGeom>
          <a:noFill/>
          <a:ln/>
        </p:spPr>
        <p:txBody>
          <a:bodyPr wrap="square" lIns="0" tIns="0" rIns="0" bIns="0" rtlCol="0" anchor="t"/>
          <a:lstStyle/>
          <a:p>
            <a:pPr algn="r" indent="0" marL="0">
              <a:lnSpc>
                <a:spcPct val="121600"/>
              </a:lnSpc>
              <a:buNone/>
            </a:pPr>
            <a:r>
              <a:rPr lang="en-US" sz="2489" dirty="0">
                <a:solidFill>
                  <a:srgbClr val="67067C"/>
                </a:solidFill>
                <a:latin typeface="Young Serif" pitchFamily="34" charset="0"/>
                <a:ea typeface="Young Serif" pitchFamily="34" charset="-122"/>
                <a:cs typeface="Young Serif" pitchFamily="34" charset="-120"/>
              </a:rPr>
              <a:t>E</a:t>
            </a:r>
            <a:endParaRPr lang="en-US" sz="2489" dirty="0"/>
          </a:p>
        </p:txBody>
      </p:sp>
      <p:sp>
        <p:nvSpPr>
          <p:cNvPr id="21" name="Text 15"/>
          <p:cNvSpPr/>
          <p:nvPr/>
        </p:nvSpPr>
        <p:spPr>
          <a:xfrm>
            <a:off x="2232000" y="1997933"/>
            <a:ext cx="3456000" cy="1969355"/>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nracinée depuis 7 générations à Monthelon, entre Côte des Blancs et Vallée de la Marne, la Maison Denis Frézier conjugue mémoire et durabilité. Certifiée HVE et VDC, engagée en conversion biologique, elle sculpte les cuvées Trois Crus, Terroir Noir et Terroir Blanc.</a:t>
            </a:r>
            <a:endParaRPr lang="en-US" sz="13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612000" y="4129288"/>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66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126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186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Trois Crus Brut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Terroir Blanc</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Terroir Meunier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Champagne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Brut Nature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Champagne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Millésime Expression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2018</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3" name="Shape 16"/>
          <p:cNvSpPr/>
          <p:nvPr/>
        </p:nvSpPr>
        <p:spPr>
          <a:xfrm>
            <a:off x="612000" y="6449152"/>
            <a:ext cx="0" cy="288349"/>
          </a:xfrm>
          <a:prstGeom prst="line">
            <a:avLst/>
          </a:prstGeom>
          <a:noFill/>
          <a:ln w="17780">
            <a:solidFill>
              <a:srgbClr val="67067C"/>
            </a:solidFill>
            <a:prstDash val="solid"/>
          </a:ln>
        </p:spPr>
      </p:sp>
      <p:sp>
        <p:nvSpPr>
          <p:cNvPr id="24" name="Text 17"/>
          <p:cNvSpPr/>
          <p:nvPr/>
        </p:nvSpPr>
        <p:spPr>
          <a:xfrm>
            <a:off x="720000" y="6449152"/>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5" name="Text 18"/>
          <p:cNvSpPr/>
          <p:nvPr/>
        </p:nvSpPr>
        <p:spPr>
          <a:xfrm>
            <a:off x="612000" y="6881501"/>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CHAMPAGNE — LA CRAIE</a:t>
            </a:r>
            <a:endParaRPr lang="en-US" sz="720" dirty="0"/>
          </a:p>
        </p:txBody>
      </p:sp>
      <p:pic>
        <p:nvPicPr>
          <p:cNvPr id="26" name="Image 4" descr="/home/user/philippe1/build/deco-salon-prive-2026/sol-champagne.png">    </p:cNvPr>
          <p:cNvPicPr>
            <a:picLocks noChangeAspect="1"/>
          </p:cNvPicPr>
          <p:nvPr/>
        </p:nvPicPr>
        <p:blipFill>
          <a:blip r:embed="rId5"/>
          <a:stretch>
            <a:fillRect/>
          </a:stretch>
        </p:blipFill>
        <p:spPr>
          <a:xfrm>
            <a:off x="612000" y="7029101"/>
            <a:ext cx="6120000" cy="1084941"/>
          </a:xfrm>
          <a:prstGeom prst="rect">
            <a:avLst/>
          </a:prstGeom>
        </p:spPr>
      </p:pic>
      <p:sp>
        <p:nvSpPr>
          <p:cNvPr id="27" name="Shape 19"/>
          <p:cNvSpPr/>
          <p:nvPr/>
        </p:nvSpPr>
        <p:spPr>
          <a:xfrm>
            <a:off x="612000" y="8388000"/>
            <a:ext cx="6120000" cy="0"/>
          </a:xfrm>
          <a:prstGeom prst="line">
            <a:avLst/>
          </a:prstGeom>
          <a:noFill/>
          <a:ln w="8890">
            <a:solidFill>
              <a:srgbClr val="46606E"/>
            </a:solidFill>
            <a:prstDash val="solid"/>
          </a:ln>
        </p:spPr>
      </p:sp>
      <p:sp>
        <p:nvSpPr>
          <p:cNvPr id="28" name="Text 20"/>
          <p:cNvSpPr/>
          <p:nvPr/>
        </p:nvSpPr>
        <p:spPr>
          <a:xfrm>
            <a:off x="612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9" name="Text 21"/>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pictos de l’Agence SCIO, pas les logos officiels</a:t>
            </a:r>
            <a:endParaRPr lang="en-US" sz="650" dirty="0"/>
          </a:p>
        </p:txBody>
      </p:sp>
      <p:sp>
        <p:nvSpPr>
          <p:cNvPr id="30" name="Text 22"/>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43</a:t>
            </a:r>
            <a:endParaRPr lang="en-US" sz="750" dirty="0"/>
          </a:p>
        </p:txBody>
      </p:sp>
      <p:sp>
        <p:nvSpPr>
          <p:cNvPr id="31" name="Text 23"/>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champa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CHAMPAGNE</a:t>
            </a:r>
            <a:endParaRPr lang="en-US" sz="660" dirty="0"/>
          </a:p>
        </p:txBody>
      </p:sp>
      <p:sp>
        <p:nvSpPr>
          <p:cNvPr id="4" name="Shape 1"/>
          <p:cNvSpPr/>
          <p:nvPr/>
        </p:nvSpPr>
        <p:spPr>
          <a:xfrm>
            <a:off x="828000" y="667894"/>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67894"/>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23</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74188"/>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Champagne Solemme</a:t>
            </a:r>
            <a:endParaRPr lang="en-US" sz="2000" dirty="0"/>
          </a:p>
        </p:txBody>
      </p:sp>
      <p:sp>
        <p:nvSpPr>
          <p:cNvPr id="7" name="Text 4"/>
          <p:cNvSpPr/>
          <p:nvPr/>
        </p:nvSpPr>
        <p:spPr>
          <a:xfrm>
            <a:off x="5508000" y="540000"/>
            <a:ext cx="1440000" cy="774188"/>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CHAMPAGNE</a:t>
            </a:r>
            <a:endParaRPr lang="en-US" sz="800" dirty="0"/>
          </a:p>
        </p:txBody>
      </p:sp>
      <p:sp>
        <p:nvSpPr>
          <p:cNvPr id="8" name="Shape 5"/>
          <p:cNvSpPr/>
          <p:nvPr/>
        </p:nvSpPr>
        <p:spPr>
          <a:xfrm>
            <a:off x="828000" y="1332188"/>
            <a:ext cx="6120000" cy="0"/>
          </a:xfrm>
          <a:prstGeom prst="line">
            <a:avLst/>
          </a:prstGeom>
          <a:noFill/>
          <a:ln w="17780">
            <a:solidFill>
              <a:srgbClr val="67067C"/>
            </a:solidFill>
            <a:prstDash val="solid"/>
          </a:ln>
        </p:spPr>
      </p:sp>
      <p:sp>
        <p:nvSpPr>
          <p:cNvPr id="9" name="Shape 6"/>
          <p:cNvSpPr/>
          <p:nvPr/>
        </p:nvSpPr>
        <p:spPr>
          <a:xfrm>
            <a:off x="828000" y="1425788"/>
            <a:ext cx="1097088"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biodyn.png">    </p:cNvPr>
          <p:cNvPicPr>
            <a:picLocks noChangeAspect="1"/>
          </p:cNvPicPr>
          <p:nvPr/>
        </p:nvPicPr>
        <p:blipFill>
          <a:blip r:embed="rId2"/>
          <a:stretch>
            <a:fillRect/>
          </a:stretch>
        </p:blipFill>
        <p:spPr>
          <a:xfrm>
            <a:off x="900000" y="1461788"/>
            <a:ext cx="108000" cy="108000"/>
          </a:xfrm>
          <a:prstGeom prst="rect">
            <a:avLst/>
          </a:prstGeom>
        </p:spPr>
      </p:pic>
      <p:sp>
        <p:nvSpPr>
          <p:cNvPr id="11" name="Text 7"/>
          <p:cNvSpPr/>
          <p:nvPr/>
        </p:nvSpPr>
        <p:spPr>
          <a:xfrm>
            <a:off x="975600" y="1425788"/>
            <a:ext cx="94948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 &amp; Biodynamie</a:t>
            </a:r>
            <a:endParaRPr lang="en-US" sz="720" dirty="0"/>
          </a:p>
        </p:txBody>
      </p:sp>
      <p:sp>
        <p:nvSpPr>
          <p:cNvPr id="12" name="Shape 8"/>
          <p:cNvSpPr/>
          <p:nvPr/>
        </p:nvSpPr>
        <p:spPr>
          <a:xfrm>
            <a:off x="2004288" y="1425788"/>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2004288" y="1425788"/>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3468961" y="1425788"/>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468961" y="1425788"/>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6 vins à la dégustation</a:t>
            </a:r>
            <a:endParaRPr lang="en-US" sz="720" dirty="0"/>
          </a:p>
        </p:txBody>
      </p:sp>
      <p:pic>
        <p:nvPicPr>
          <p:cNvPr id="16" name="Image 2" descr="logo de la maison — Champagne Solemme">    </p:cNvPr>
          <p:cNvPicPr>
            <a:picLocks noChangeAspect="1"/>
          </p:cNvPicPr>
          <p:nvPr/>
        </p:nvPicPr>
        <p:blipFill>
          <a:blip r:embed="rId3"/>
          <a:stretch>
            <a:fillRect/>
          </a:stretch>
        </p:blipFill>
        <p:spPr>
          <a:xfrm>
            <a:off x="828000" y="1735388"/>
            <a:ext cx="1440000" cy="1440000"/>
          </a:xfrm>
          <a:prstGeom prst="rect">
            <a:avLst/>
          </a:prstGeom>
        </p:spPr>
      </p:pic>
      <p:pic>
        <p:nvPicPr>
          <p:cNvPr id="17" name="Image 3" descr="Une bouteille du domaine Champagne Solemme">    </p:cNvPr>
          <p:cNvPicPr>
            <a:picLocks noChangeAspect="1"/>
          </p:cNvPicPr>
          <p:nvPr/>
        </p:nvPicPr>
        <p:blipFill>
          <a:blip r:embed="rId4"/>
          <a:stretch>
            <a:fillRect/>
          </a:stretch>
        </p:blipFill>
        <p:spPr>
          <a:xfrm>
            <a:off x="6218705" y="1735388"/>
            <a:ext cx="594590" cy="2232000"/>
          </a:xfrm>
          <a:prstGeom prst="rect">
            <a:avLst/>
          </a:prstGeom>
        </p:spPr>
      </p:pic>
      <p:sp>
        <p:nvSpPr>
          <p:cNvPr id="18" name="Text 12"/>
          <p:cNvSpPr/>
          <p:nvPr/>
        </p:nvSpPr>
        <p:spPr>
          <a:xfrm>
            <a:off x="2393976" y="1714231"/>
            <a:ext cx="292674" cy="485851"/>
          </a:xfrm>
          <a:prstGeom prst="rect">
            <a:avLst/>
          </a:prstGeom>
          <a:noFill/>
          <a:ln/>
        </p:spPr>
        <p:txBody>
          <a:bodyPr wrap="square" lIns="0" tIns="0" rIns="0" bIns="0" rtlCol="0" anchor="t"/>
          <a:lstStyle/>
          <a:p>
            <a:pPr algn="r" indent="0" marL="0">
              <a:lnSpc>
                <a:spcPct val="122800"/>
              </a:lnSpc>
              <a:buNone/>
            </a:pPr>
            <a:r>
              <a:rPr lang="en-US" sz="2391" dirty="0">
                <a:solidFill>
                  <a:srgbClr val="67067C"/>
                </a:solidFill>
                <a:latin typeface="Young Serif" pitchFamily="34" charset="0"/>
                <a:ea typeface="Young Serif" pitchFamily="34" charset="-122"/>
                <a:cs typeface="Young Serif" pitchFamily="34" charset="-120"/>
              </a:rPr>
              <a:t>À</a:t>
            </a:r>
            <a:endParaRPr lang="en-US" sz="2391" dirty="0"/>
          </a:p>
        </p:txBody>
      </p:sp>
      <p:sp>
        <p:nvSpPr>
          <p:cNvPr id="19" name="Text 13"/>
          <p:cNvSpPr/>
          <p:nvPr/>
        </p:nvSpPr>
        <p:spPr>
          <a:xfrm>
            <a:off x="2448000" y="1852600"/>
            <a:ext cx="3456000" cy="2114688"/>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Villers-aux-Nœuds, sur les terroirs Premier Cru de la Montagne de Reims, Olivier Langlais conduit 6 hectares en biodynamie. En cave, vinifications douces, sans chaptalisation, sans filtration et sans dosage : une Champagne d’émotion, minérale et d’une lumineuse franchise de terroir.</a:t>
            </a:r>
            <a:endParaRPr lang="en-US" sz="13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828000" y="4129288"/>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60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240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 Premier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Terre de Solemme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BSA</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 Premier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Plénitude de Solemme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 Premier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Esprit de Solemme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 Premier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Nature de Solemme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2018</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 Premier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Ambre de Solemme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2018</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 Premier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Rose de Solemme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828000" y="6833872"/>
            <a:ext cx="0" cy="288349"/>
          </a:xfrm>
          <a:prstGeom prst="line">
            <a:avLst/>
          </a:prstGeom>
          <a:noFill/>
          <a:ln w="17780">
            <a:solidFill>
              <a:srgbClr val="67067C"/>
            </a:solidFill>
            <a:prstDash val="solid"/>
          </a:ln>
        </p:spPr>
      </p:sp>
      <p:sp>
        <p:nvSpPr>
          <p:cNvPr id="22" name="Text 15"/>
          <p:cNvSpPr/>
          <p:nvPr/>
        </p:nvSpPr>
        <p:spPr>
          <a:xfrm>
            <a:off x="936000" y="6833872"/>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3" name="Text 16"/>
          <p:cNvSpPr/>
          <p:nvPr/>
        </p:nvSpPr>
        <p:spPr>
          <a:xfrm>
            <a:off x="828000" y="7266221"/>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CHAMPAGNE — LA CRAIE</a:t>
            </a:r>
            <a:endParaRPr lang="en-US" sz="720" dirty="0"/>
          </a:p>
        </p:txBody>
      </p:sp>
      <p:pic>
        <p:nvPicPr>
          <p:cNvPr id="24" name="Image 4" descr="/home/user/philippe1/build/deco-salon-prive-2026/sol-champagne.png">    </p:cNvPr>
          <p:cNvPicPr>
            <a:picLocks noChangeAspect="1"/>
          </p:cNvPicPr>
          <p:nvPr/>
        </p:nvPicPr>
        <p:blipFill>
          <a:blip r:embed="rId5"/>
          <a:stretch>
            <a:fillRect/>
          </a:stretch>
        </p:blipFill>
        <p:spPr>
          <a:xfrm>
            <a:off x="828000" y="7413821"/>
            <a:ext cx="6120000" cy="700220"/>
          </a:xfrm>
          <a:prstGeom prst="rect">
            <a:avLst/>
          </a:prstGeom>
        </p:spPr>
      </p:pic>
      <p:sp>
        <p:nvSpPr>
          <p:cNvPr id="25" name="Shape 17"/>
          <p:cNvSpPr/>
          <p:nvPr/>
        </p:nvSpPr>
        <p:spPr>
          <a:xfrm>
            <a:off x="828000" y="8388000"/>
            <a:ext cx="6120000" cy="0"/>
          </a:xfrm>
          <a:prstGeom prst="line">
            <a:avLst/>
          </a:prstGeom>
          <a:noFill/>
          <a:ln w="8890">
            <a:solidFill>
              <a:srgbClr val="46606E"/>
            </a:solidFill>
            <a:prstDash val="solid"/>
          </a:ln>
        </p:spPr>
      </p:sp>
      <p:sp>
        <p:nvSpPr>
          <p:cNvPr id="26" name="Text 18"/>
          <p:cNvSpPr/>
          <p:nvPr/>
        </p:nvSpPr>
        <p:spPr>
          <a:xfrm>
            <a:off x="828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7" name="Text 19"/>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pictos de l’Agence SCIO, pas les logos officiels</a:t>
            </a:r>
            <a:endParaRPr lang="en-US" sz="650" dirty="0"/>
          </a:p>
        </p:txBody>
      </p:sp>
      <p:sp>
        <p:nvSpPr>
          <p:cNvPr id="28" name="Text 20"/>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44</a:t>
            </a:r>
            <a:endParaRPr lang="en-US" sz="750" dirty="0"/>
          </a:p>
        </p:txBody>
      </p:sp>
      <p:sp>
        <p:nvSpPr>
          <p:cNvPr id="29" name="Text 21"/>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champa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CHAMPAGNE</a:t>
            </a:r>
            <a:endParaRPr lang="en-US" sz="660" dirty="0"/>
          </a:p>
        </p:txBody>
      </p:sp>
      <p:sp>
        <p:nvSpPr>
          <p:cNvPr id="4" name="Shape 1"/>
          <p:cNvSpPr/>
          <p:nvPr/>
        </p:nvSpPr>
        <p:spPr>
          <a:xfrm>
            <a:off x="612000" y="667894"/>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612000" y="667894"/>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15</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440000" y="540000"/>
            <a:ext cx="4068000" cy="774188"/>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Vazart-Coquart &amp; Fils</a:t>
            </a:r>
            <a:endParaRPr lang="en-US" sz="2000" dirty="0"/>
          </a:p>
        </p:txBody>
      </p:sp>
      <p:sp>
        <p:nvSpPr>
          <p:cNvPr id="7" name="Text 4"/>
          <p:cNvSpPr/>
          <p:nvPr/>
        </p:nvSpPr>
        <p:spPr>
          <a:xfrm>
            <a:off x="5292000" y="540000"/>
            <a:ext cx="1440000" cy="774188"/>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CHAMPAGNE</a:t>
            </a:r>
            <a:endParaRPr lang="en-US" sz="800" dirty="0"/>
          </a:p>
        </p:txBody>
      </p:sp>
      <p:sp>
        <p:nvSpPr>
          <p:cNvPr id="8" name="Shape 5"/>
          <p:cNvSpPr/>
          <p:nvPr/>
        </p:nvSpPr>
        <p:spPr>
          <a:xfrm>
            <a:off x="612000" y="1332188"/>
            <a:ext cx="6120000" cy="0"/>
          </a:xfrm>
          <a:prstGeom prst="line">
            <a:avLst/>
          </a:prstGeom>
          <a:noFill/>
          <a:ln w="17780">
            <a:solidFill>
              <a:srgbClr val="67067C"/>
            </a:solidFill>
            <a:prstDash val="solid"/>
          </a:ln>
        </p:spPr>
      </p:sp>
      <p:sp>
        <p:nvSpPr>
          <p:cNvPr id="9" name="Shape 6"/>
          <p:cNvSpPr/>
          <p:nvPr/>
        </p:nvSpPr>
        <p:spPr>
          <a:xfrm>
            <a:off x="612000" y="1425788"/>
            <a:ext cx="1101294"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conversion.png">    </p:cNvPr>
          <p:cNvPicPr>
            <a:picLocks noChangeAspect="1"/>
          </p:cNvPicPr>
          <p:nvPr/>
        </p:nvPicPr>
        <p:blipFill>
          <a:blip r:embed="rId2"/>
          <a:stretch>
            <a:fillRect/>
          </a:stretch>
        </p:blipFill>
        <p:spPr>
          <a:xfrm>
            <a:off x="684000" y="1461788"/>
            <a:ext cx="108000" cy="108000"/>
          </a:xfrm>
          <a:prstGeom prst="rect">
            <a:avLst/>
          </a:prstGeom>
        </p:spPr>
      </p:pic>
      <p:sp>
        <p:nvSpPr>
          <p:cNvPr id="11" name="Text 7"/>
          <p:cNvSpPr/>
          <p:nvPr/>
        </p:nvSpPr>
        <p:spPr>
          <a:xfrm>
            <a:off x="759600" y="1425788"/>
            <a:ext cx="95369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En conversion Bio</a:t>
            </a:r>
            <a:endParaRPr lang="en-US" sz="720" dirty="0"/>
          </a:p>
        </p:txBody>
      </p:sp>
      <p:sp>
        <p:nvSpPr>
          <p:cNvPr id="12" name="Shape 8"/>
          <p:cNvSpPr/>
          <p:nvPr/>
        </p:nvSpPr>
        <p:spPr>
          <a:xfrm>
            <a:off x="1792494" y="1425788"/>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792494" y="1425788"/>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3257168" y="1425788"/>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257168" y="1425788"/>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6 vins à la dégustation</a:t>
            </a:r>
            <a:endParaRPr lang="en-US" sz="720" dirty="0"/>
          </a:p>
        </p:txBody>
      </p:sp>
      <p:pic>
        <p:nvPicPr>
          <p:cNvPr id="16" name="Image 2" descr="la maison de champagne — Vazart-Coquart &amp; Fils">    </p:cNvPr>
          <p:cNvPicPr>
            <a:picLocks noChangeAspect="1"/>
          </p:cNvPicPr>
          <p:nvPr/>
        </p:nvPicPr>
        <p:blipFill>
          <a:blip r:embed="rId3"/>
          <a:stretch>
            <a:fillRect/>
          </a:stretch>
        </p:blipFill>
        <p:spPr>
          <a:xfrm>
            <a:off x="612000" y="1735388"/>
            <a:ext cx="1440000" cy="1440000"/>
          </a:xfrm>
          <a:prstGeom prst="rect">
            <a:avLst/>
          </a:prstGeom>
        </p:spPr>
      </p:pic>
      <p:pic>
        <p:nvPicPr>
          <p:cNvPr id="17" name="Image 3" descr="Une bouteille du domaine Vazart-Coquart &amp; Fils">    </p:cNvPr>
          <p:cNvPicPr>
            <a:picLocks noChangeAspect="1"/>
          </p:cNvPicPr>
          <p:nvPr/>
        </p:nvPicPr>
        <p:blipFill>
          <a:blip r:embed="rId4"/>
          <a:stretch>
            <a:fillRect/>
          </a:stretch>
        </p:blipFill>
        <p:spPr>
          <a:xfrm>
            <a:off x="5913248" y="1735388"/>
            <a:ext cx="773503" cy="2232000"/>
          </a:xfrm>
          <a:prstGeom prst="rect">
            <a:avLst/>
          </a:prstGeom>
        </p:spPr>
      </p:pic>
      <p:sp>
        <p:nvSpPr>
          <p:cNvPr id="18" name="Text 12"/>
          <p:cNvSpPr/>
          <p:nvPr/>
        </p:nvSpPr>
        <p:spPr>
          <a:xfrm>
            <a:off x="2178033" y="1851436"/>
            <a:ext cx="375167" cy="496011"/>
          </a:xfrm>
          <a:prstGeom prst="rect">
            <a:avLst/>
          </a:prstGeom>
          <a:noFill/>
          <a:ln/>
        </p:spPr>
        <p:txBody>
          <a:bodyPr wrap="square" lIns="0" tIns="0" rIns="0" bIns="0" rtlCol="0" anchor="t"/>
          <a:lstStyle/>
          <a:p>
            <a:pPr algn="r" indent="0" marL="0">
              <a:lnSpc>
                <a:spcPct val="122200"/>
              </a:lnSpc>
              <a:buNone/>
            </a:pPr>
            <a:r>
              <a:rPr lang="en-US" sz="2441" dirty="0">
                <a:solidFill>
                  <a:srgbClr val="67067C"/>
                </a:solidFill>
                <a:latin typeface="Young Serif" pitchFamily="34" charset="0"/>
                <a:ea typeface="Young Serif" pitchFamily="34" charset="-122"/>
                <a:cs typeface="Young Serif" pitchFamily="34" charset="-120"/>
              </a:rPr>
              <a:t>M</a:t>
            </a:r>
            <a:endParaRPr lang="en-US" sz="2441" dirty="0"/>
          </a:p>
        </p:txBody>
      </p:sp>
      <p:sp>
        <p:nvSpPr>
          <p:cNvPr id="19" name="Text 13"/>
          <p:cNvSpPr/>
          <p:nvPr/>
        </p:nvSpPr>
        <p:spPr>
          <a:xfrm>
            <a:off x="2232000" y="1995647"/>
            <a:ext cx="3456000" cy="1971641"/>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aison de référence à Chouilly, Grand Cru de la Côte des Blancs, Vazart-Coquart célèbre le Chardonnay depuis 1954. Jean-Pierre et Caroline veillent sur trente parcelles (11 ha) où la craie révèle toute la finesse du cépage. Troisième domaine certifié HVE de France.</a:t>
            </a:r>
            <a:endParaRPr lang="en-US" sz="13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612000" y="4129288"/>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48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78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96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 Grand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Cuvée Camille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Base 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 Grand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Brut Réserve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Base 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Grand Cru Chouilly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Rosé Brut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 Grand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Special Club</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2017</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 Grand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Extra Brut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Base 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Grand Cru Chouilly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82/17 Blanc de Blancs Zéro Dosage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612000" y="6833872"/>
            <a:ext cx="0" cy="288349"/>
          </a:xfrm>
          <a:prstGeom prst="line">
            <a:avLst/>
          </a:prstGeom>
          <a:noFill/>
          <a:ln w="17780">
            <a:solidFill>
              <a:srgbClr val="67067C"/>
            </a:solidFill>
            <a:prstDash val="solid"/>
          </a:ln>
        </p:spPr>
      </p:sp>
      <p:sp>
        <p:nvSpPr>
          <p:cNvPr id="22" name="Text 15"/>
          <p:cNvSpPr/>
          <p:nvPr/>
        </p:nvSpPr>
        <p:spPr>
          <a:xfrm>
            <a:off x="720000" y="6833872"/>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3" name="Text 16"/>
          <p:cNvSpPr/>
          <p:nvPr/>
        </p:nvSpPr>
        <p:spPr>
          <a:xfrm>
            <a:off x="612000" y="7266221"/>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CHAMPAGNE — LA CRAIE</a:t>
            </a:r>
            <a:endParaRPr lang="en-US" sz="720" dirty="0"/>
          </a:p>
        </p:txBody>
      </p:sp>
      <p:pic>
        <p:nvPicPr>
          <p:cNvPr id="24" name="Image 4" descr="/home/user/philippe1/build/deco-salon-prive-2026/sol-champagne.png">    </p:cNvPr>
          <p:cNvPicPr>
            <a:picLocks noChangeAspect="1"/>
          </p:cNvPicPr>
          <p:nvPr/>
        </p:nvPicPr>
        <p:blipFill>
          <a:blip r:embed="rId5"/>
          <a:stretch>
            <a:fillRect/>
          </a:stretch>
        </p:blipFill>
        <p:spPr>
          <a:xfrm>
            <a:off x="612000" y="7413821"/>
            <a:ext cx="6120000" cy="700220"/>
          </a:xfrm>
          <a:prstGeom prst="rect">
            <a:avLst/>
          </a:prstGeom>
        </p:spPr>
      </p:pic>
      <p:sp>
        <p:nvSpPr>
          <p:cNvPr id="25" name="Shape 17"/>
          <p:cNvSpPr/>
          <p:nvPr/>
        </p:nvSpPr>
        <p:spPr>
          <a:xfrm>
            <a:off x="612000" y="8388000"/>
            <a:ext cx="6120000" cy="0"/>
          </a:xfrm>
          <a:prstGeom prst="line">
            <a:avLst/>
          </a:prstGeom>
          <a:noFill/>
          <a:ln w="8890">
            <a:solidFill>
              <a:srgbClr val="46606E"/>
            </a:solidFill>
            <a:prstDash val="solid"/>
          </a:ln>
        </p:spPr>
      </p:sp>
      <p:sp>
        <p:nvSpPr>
          <p:cNvPr id="26" name="Text 18"/>
          <p:cNvSpPr/>
          <p:nvPr/>
        </p:nvSpPr>
        <p:spPr>
          <a:xfrm>
            <a:off x="612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7" name="Text 19"/>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pictos de l’Agence SCIO, pas les logos officiels</a:t>
            </a:r>
            <a:endParaRPr lang="en-US" sz="650" dirty="0"/>
          </a:p>
        </p:txBody>
      </p:sp>
      <p:sp>
        <p:nvSpPr>
          <p:cNvPr id="28" name="Text 20"/>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45</a:t>
            </a:r>
            <a:endParaRPr lang="en-US" sz="750" dirty="0"/>
          </a:p>
        </p:txBody>
      </p:sp>
      <p:sp>
        <p:nvSpPr>
          <p:cNvPr id="29" name="Text 21"/>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828000" y="540000"/>
            <a:ext cx="6120000" cy="432000"/>
          </a:xfrm>
          <a:prstGeom prst="rect">
            <a:avLst/>
          </a:prstGeom>
          <a:noFill/>
          <a:ln/>
        </p:spPr>
        <p:txBody>
          <a:bodyPr wrap="square" lIns="0" tIns="0" rIns="0" bIns="0" rtlCol="0" anchor="b"/>
          <a:lstStyle/>
          <a:p>
            <a:pPr indent="0" marL="0">
              <a:buNone/>
            </a:pPr>
            <a:r>
              <a:rPr lang="en-US" sz="2400" dirty="0">
                <a:solidFill>
                  <a:srgbClr val="67067C"/>
                </a:solidFill>
                <a:latin typeface="Young Serif" pitchFamily="34" charset="0"/>
                <a:ea typeface="Young Serif" pitchFamily="34" charset="-122"/>
                <a:cs typeface="Young Serif" pitchFamily="34" charset="-120"/>
              </a:rPr>
              <a:t>Index des vins</a:t>
            </a:r>
            <a:endParaRPr lang="en-US" sz="2400" dirty="0"/>
          </a:p>
        </p:txBody>
      </p:sp>
      <p:sp>
        <p:nvSpPr>
          <p:cNvPr id="3" name="Text 1"/>
          <p:cNvSpPr/>
          <p:nvPr/>
        </p:nvSpPr>
        <p:spPr>
          <a:xfrm>
            <a:off x="828000" y="990000"/>
            <a:ext cx="612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PAR TYPE, DE A À Z</a:t>
            </a:r>
            <a:endParaRPr lang="en-US" sz="800" dirty="0"/>
          </a:p>
        </p:txBody>
      </p:sp>
      <p:sp>
        <p:nvSpPr>
          <p:cNvPr id="4" name="Text 2"/>
          <p:cNvSpPr/>
          <p:nvPr/>
        </p:nvSpPr>
        <p:spPr>
          <a:xfrm>
            <a:off x="828000" y="1368000"/>
            <a:ext cx="6120000" cy="180000"/>
          </a:xfrm>
          <a:prstGeom prst="rect">
            <a:avLst/>
          </a:prstGeom>
          <a:noFill/>
          <a:ln/>
        </p:spPr>
        <p:txBody>
          <a:bodyPr wrap="square" lIns="0" tIns="0" rIns="0" bIns="0" rtlCol="0" anchor="ctr"/>
          <a:lstStyle/>
          <a:p>
            <a:pPr indent="0" marL="0">
              <a:buNone/>
            </a:pPr>
            <a:r>
              <a:rPr lang="en-US" sz="860" dirty="0">
                <a:solidFill>
                  <a:srgbClr val="46606E"/>
                </a:solidFill>
                <a:latin typeface="Spectral" pitchFamily="34" charset="0"/>
                <a:ea typeface="Spectral" pitchFamily="34" charset="-122"/>
                <a:cs typeface="Spectral" pitchFamily="34" charset="-120"/>
              </a:rPr>
              <a:t>Le numéro en violet est celui du stand, le dernier chiffre est la page.</a:t>
            </a:r>
            <a:endParaRPr lang="en-US" sz="860" dirty="0"/>
          </a:p>
        </p:txBody>
      </p:sp>
      <p:sp>
        <p:nvSpPr>
          <p:cNvPr id="5" name="Text 3"/>
          <p:cNvSpPr/>
          <p:nvPr/>
        </p:nvSpPr>
        <p:spPr>
          <a:xfrm>
            <a:off x="828000" y="1620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BULLES</a:t>
            </a:r>
            <a:endParaRPr lang="en-US" sz="800" dirty="0"/>
          </a:p>
        </p:txBody>
      </p:sp>
      <p:sp>
        <p:nvSpPr>
          <p:cNvPr id="6" name="Text 4"/>
          <p:cNvSpPr/>
          <p:nvPr/>
        </p:nvSpPr>
        <p:spPr>
          <a:xfrm>
            <a:off x="828000" y="17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82/17 Blanc de Blancs Zéro Dosage</a:t>
            </a:r>
            <a:r>
              <a:rPr lang="en-US" sz="690" b="1" dirty="0">
                <a:solidFill>
                  <a:srgbClr val="67067C"/>
                </a:solidFill>
                <a:latin typeface="IBM Plex Sans" pitchFamily="34" charset="0"/>
                <a:ea typeface="IBM Plex Sans" pitchFamily="34" charset="-122"/>
                <a:cs typeface="IBM Plex Sans" pitchFamily="34" charset="-120"/>
              </a:rPr>
              <a:t>  15</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7" name="Text 5"/>
          <p:cNvSpPr/>
          <p:nvPr/>
        </p:nvSpPr>
        <p:spPr>
          <a:xfrm>
            <a:off x="828000" y="18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Ambre de Solemme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8" name="Text 6"/>
          <p:cNvSpPr/>
          <p:nvPr/>
        </p:nvSpPr>
        <p:spPr>
          <a:xfrm>
            <a:off x="828000" y="19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Baron Auguste Blanc</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16</a:t>
            </a:r>
            <a:endParaRPr lang="en-US" sz="690" dirty="0"/>
          </a:p>
        </p:txBody>
      </p:sp>
      <p:sp>
        <p:nvSpPr>
          <p:cNvPr id="9" name="Text 7"/>
          <p:cNvSpPr/>
          <p:nvPr/>
        </p:nvSpPr>
        <p:spPr>
          <a:xfrm>
            <a:off x="828000" y="21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Baron Auguste Rosé</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16</a:t>
            </a:r>
            <a:endParaRPr lang="en-US" sz="690" dirty="0"/>
          </a:p>
        </p:txBody>
      </p:sp>
      <p:sp>
        <p:nvSpPr>
          <p:cNvPr id="10" name="Text 8"/>
          <p:cNvSpPr/>
          <p:nvPr/>
        </p:nvSpPr>
        <p:spPr>
          <a:xfrm>
            <a:off x="828000" y="22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Brut Nature</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11" name="Text 9"/>
          <p:cNvSpPr/>
          <p:nvPr/>
        </p:nvSpPr>
        <p:spPr>
          <a:xfrm>
            <a:off x="828000" y="23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Brut Nature</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12" name="Text 10"/>
          <p:cNvSpPr/>
          <p:nvPr/>
        </p:nvSpPr>
        <p:spPr>
          <a:xfrm>
            <a:off x="828000" y="25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Brut Réserve</a:t>
            </a:r>
            <a:r>
              <a:rPr lang="en-US" sz="690" b="1" dirty="0">
                <a:solidFill>
                  <a:srgbClr val="67067C"/>
                </a:solidFill>
                <a:latin typeface="IBM Plex Sans" pitchFamily="34" charset="0"/>
                <a:ea typeface="IBM Plex Sans" pitchFamily="34" charset="-122"/>
                <a:cs typeface="IBM Plex Sans" pitchFamily="34" charset="-120"/>
              </a:rPr>
              <a:t>  15</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13" name="Text 11"/>
          <p:cNvSpPr/>
          <p:nvPr/>
        </p:nvSpPr>
        <p:spPr>
          <a:xfrm>
            <a:off x="828000" y="26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Chardonnay Vignes de 1962</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14" name="Text 12"/>
          <p:cNvSpPr/>
          <p:nvPr/>
        </p:nvSpPr>
        <p:spPr>
          <a:xfrm>
            <a:off x="828000" y="27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Crémant de Loire</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15" name="Text 13"/>
          <p:cNvSpPr/>
          <p:nvPr/>
        </p:nvSpPr>
        <p:spPr>
          <a:xfrm>
            <a:off x="828000" y="28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Camille</a:t>
            </a:r>
            <a:r>
              <a:rPr lang="en-US" sz="690" b="1" dirty="0">
                <a:solidFill>
                  <a:srgbClr val="67067C"/>
                </a:solidFill>
                <a:latin typeface="IBM Plex Sans" pitchFamily="34" charset="0"/>
                <a:ea typeface="IBM Plex Sans" pitchFamily="34" charset="-122"/>
                <a:cs typeface="IBM Plex Sans" pitchFamily="34" charset="-120"/>
              </a:rPr>
              <a:t>  15</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16" name="Text 14"/>
          <p:cNvSpPr/>
          <p:nvPr/>
        </p:nvSpPr>
        <p:spPr>
          <a:xfrm>
            <a:off x="828000" y="300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Esprit de Solemme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17" name="Text 15"/>
          <p:cNvSpPr/>
          <p:nvPr/>
        </p:nvSpPr>
        <p:spPr>
          <a:xfrm>
            <a:off x="828000" y="313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Extra Brut</a:t>
            </a:r>
            <a:r>
              <a:rPr lang="en-US" sz="690" b="1" dirty="0">
                <a:solidFill>
                  <a:srgbClr val="67067C"/>
                </a:solidFill>
                <a:latin typeface="IBM Plex Sans" pitchFamily="34" charset="0"/>
                <a:ea typeface="IBM Plex Sans" pitchFamily="34" charset="-122"/>
                <a:cs typeface="IBM Plex Sans" pitchFamily="34" charset="-120"/>
              </a:rPr>
              <a:t>  15</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18" name="Text 16"/>
          <p:cNvSpPr/>
          <p:nvPr/>
        </p:nvSpPr>
        <p:spPr>
          <a:xfrm>
            <a:off x="828000" y="325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L’O*** Brut</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19" name="Text 17"/>
          <p:cNvSpPr/>
          <p:nvPr/>
        </p:nvSpPr>
        <p:spPr>
          <a:xfrm>
            <a:off x="828000" y="338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perle</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20" name="Text 18"/>
          <p:cNvSpPr/>
          <p:nvPr/>
        </p:nvSpPr>
        <p:spPr>
          <a:xfrm>
            <a:off x="828000" y="351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Mas de Lusanne Brut Blanc</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21" name="Text 19"/>
          <p:cNvSpPr/>
          <p:nvPr/>
        </p:nvSpPr>
        <p:spPr>
          <a:xfrm>
            <a:off x="828000" y="363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Mas de Lusanne Extra-Brut Blanc</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22" name="Text 20"/>
          <p:cNvSpPr/>
          <p:nvPr/>
        </p:nvSpPr>
        <p:spPr>
          <a:xfrm>
            <a:off x="828000" y="376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Millésime Expression</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23" name="Text 21"/>
          <p:cNvSpPr/>
          <p:nvPr/>
        </p:nvSpPr>
        <p:spPr>
          <a:xfrm>
            <a:off x="828000" y="388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N°10</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24" name="Text 22"/>
          <p:cNvSpPr/>
          <p:nvPr/>
        </p:nvSpPr>
        <p:spPr>
          <a:xfrm>
            <a:off x="828000" y="401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Nature</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25" name="Text 23"/>
          <p:cNvSpPr/>
          <p:nvPr/>
        </p:nvSpPr>
        <p:spPr>
          <a:xfrm>
            <a:off x="828000" y="41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Nature de Solemme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26" name="Text 24"/>
          <p:cNvSpPr/>
          <p:nvPr/>
        </p:nvSpPr>
        <p:spPr>
          <a:xfrm>
            <a:off x="828000" y="42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Plénitude de Solemme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27" name="Text 25"/>
          <p:cNvSpPr/>
          <p:nvPr/>
        </p:nvSpPr>
        <p:spPr>
          <a:xfrm>
            <a:off x="828000" y="43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Rosé Brut</a:t>
            </a:r>
            <a:r>
              <a:rPr lang="en-US" sz="690" b="1" dirty="0">
                <a:solidFill>
                  <a:srgbClr val="67067C"/>
                </a:solidFill>
                <a:latin typeface="IBM Plex Sans" pitchFamily="34" charset="0"/>
                <a:ea typeface="IBM Plex Sans" pitchFamily="34" charset="-122"/>
                <a:cs typeface="IBM Plex Sans" pitchFamily="34" charset="-120"/>
              </a:rPr>
              <a:t>  15</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28" name="Text 26"/>
          <p:cNvSpPr/>
          <p:nvPr/>
        </p:nvSpPr>
        <p:spPr>
          <a:xfrm>
            <a:off x="828000" y="45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Rose de Solemme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29" name="Text 27"/>
          <p:cNvSpPr/>
          <p:nvPr/>
        </p:nvSpPr>
        <p:spPr>
          <a:xfrm>
            <a:off x="828000" y="46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Special Club</a:t>
            </a:r>
            <a:r>
              <a:rPr lang="en-US" sz="690" b="1" dirty="0">
                <a:solidFill>
                  <a:srgbClr val="67067C"/>
                </a:solidFill>
                <a:latin typeface="IBM Plex Sans" pitchFamily="34" charset="0"/>
                <a:ea typeface="IBM Plex Sans" pitchFamily="34" charset="-122"/>
                <a:cs typeface="IBM Plex Sans" pitchFamily="34" charset="-120"/>
              </a:rPr>
              <a:t>  15</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30" name="Text 28"/>
          <p:cNvSpPr/>
          <p:nvPr/>
        </p:nvSpPr>
        <p:spPr>
          <a:xfrm>
            <a:off x="828000" y="47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Supernova Extra-Brut Zéro Dosage</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31" name="Text 29"/>
          <p:cNvSpPr/>
          <p:nvPr/>
        </p:nvSpPr>
        <p:spPr>
          <a:xfrm>
            <a:off x="828000" y="48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Terre de Solemme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32" name="Text 30"/>
          <p:cNvSpPr/>
          <p:nvPr/>
        </p:nvSpPr>
        <p:spPr>
          <a:xfrm>
            <a:off x="828000" y="50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Terroir Blanc</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33" name="Text 31"/>
          <p:cNvSpPr/>
          <p:nvPr/>
        </p:nvSpPr>
        <p:spPr>
          <a:xfrm>
            <a:off x="828000" y="51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Terroir Meunier</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34" name="Text 32"/>
          <p:cNvSpPr/>
          <p:nvPr/>
        </p:nvSpPr>
        <p:spPr>
          <a:xfrm>
            <a:off x="828000" y="52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Trois Crus Brut</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35" name="Text 33"/>
          <p:cNvSpPr/>
          <p:nvPr/>
        </p:nvSpPr>
        <p:spPr>
          <a:xfrm>
            <a:off x="828000" y="54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Voglonniers</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36" name="Text 34"/>
          <p:cNvSpPr/>
          <p:nvPr/>
        </p:nvSpPr>
        <p:spPr>
          <a:xfrm>
            <a:off x="828000" y="5526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BLANC</a:t>
            </a:r>
            <a:endParaRPr lang="en-US" sz="800" dirty="0"/>
          </a:p>
        </p:txBody>
      </p:sp>
      <p:sp>
        <p:nvSpPr>
          <p:cNvPr id="37" name="Text 35"/>
          <p:cNvSpPr/>
          <p:nvPr/>
        </p:nvSpPr>
        <p:spPr>
          <a:xfrm>
            <a:off x="828000" y="56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Anjou</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38" name="Text 36"/>
          <p:cNvSpPr/>
          <p:nvPr/>
        </p:nvSpPr>
        <p:spPr>
          <a:xfrm>
            <a:off x="828000" y="57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Mercurey</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16</a:t>
            </a:r>
            <a:endParaRPr lang="en-US" sz="690" dirty="0"/>
          </a:p>
        </p:txBody>
      </p:sp>
      <p:sp>
        <p:nvSpPr>
          <p:cNvPr id="39" name="Text 37"/>
          <p:cNvSpPr/>
          <p:nvPr/>
        </p:nvSpPr>
        <p:spPr>
          <a:xfrm>
            <a:off x="828000" y="59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Meursault</a:t>
            </a:r>
            <a:r>
              <a:rPr lang="en-US" sz="690" b="1" dirty="0">
                <a:solidFill>
                  <a:srgbClr val="67067C"/>
                </a:solidFill>
                <a:latin typeface="IBM Plex Sans" pitchFamily="34" charset="0"/>
                <a:ea typeface="IBM Plex Sans" pitchFamily="34" charset="-122"/>
                <a:cs typeface="IBM Plex Sans" pitchFamily="34" charset="-120"/>
              </a:rPr>
              <a:t>  18</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40" name="Text 38"/>
          <p:cNvSpPr/>
          <p:nvPr/>
        </p:nvSpPr>
        <p:spPr>
          <a:xfrm>
            <a:off x="828000" y="60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Pacherenc du Vic-Bilh Sec</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28</a:t>
            </a:r>
            <a:endParaRPr lang="en-US" sz="690" dirty="0"/>
          </a:p>
        </p:txBody>
      </p:sp>
      <p:sp>
        <p:nvSpPr>
          <p:cNvPr id="41" name="Text 39"/>
          <p:cNvSpPr/>
          <p:nvPr/>
        </p:nvSpPr>
        <p:spPr>
          <a:xfrm>
            <a:off x="828000" y="61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Pouilly-Vinzelles</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16</a:t>
            </a:r>
            <a:endParaRPr lang="en-US" sz="690" dirty="0"/>
          </a:p>
        </p:txBody>
      </p:sp>
      <p:sp>
        <p:nvSpPr>
          <p:cNvPr id="42" name="Text 40"/>
          <p:cNvSpPr/>
          <p:nvPr/>
        </p:nvSpPr>
        <p:spPr>
          <a:xfrm>
            <a:off x="828000" y="62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Menetou-Salon</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43" name="Text 41"/>
          <p:cNvSpPr/>
          <p:nvPr/>
        </p:nvSpPr>
        <p:spPr>
          <a:xfrm>
            <a:off x="2868000" y="16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Pacherenc du Vic-Bilh Sec</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28</a:t>
            </a:r>
            <a:endParaRPr lang="en-US" sz="690" dirty="0"/>
          </a:p>
        </p:txBody>
      </p:sp>
      <p:sp>
        <p:nvSpPr>
          <p:cNvPr id="44" name="Text 42"/>
          <p:cNvSpPr/>
          <p:nvPr/>
        </p:nvSpPr>
        <p:spPr>
          <a:xfrm>
            <a:off x="2868000" y="17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Pouilly-Fumé</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45" name="Text 43"/>
          <p:cNvSpPr/>
          <p:nvPr/>
        </p:nvSpPr>
        <p:spPr>
          <a:xfrm>
            <a:off x="2868000" y="18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Quincy</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46" name="Text 44"/>
          <p:cNvSpPr/>
          <p:nvPr/>
        </p:nvSpPr>
        <p:spPr>
          <a:xfrm>
            <a:off x="2868000" y="19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Touraine Chenonceaux</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47" name="Text 45"/>
          <p:cNvSpPr/>
          <p:nvPr/>
        </p:nvSpPr>
        <p:spPr>
          <a:xfrm>
            <a:off x="2868000" y="21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Aquino  2024</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48" name="Text 46"/>
          <p:cNvSpPr/>
          <p:nvPr/>
        </p:nvSpPr>
        <p:spPr>
          <a:xfrm>
            <a:off x="2868000" y="22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Blanc Albas</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40</a:t>
            </a:r>
            <a:endParaRPr lang="en-US" sz="690" dirty="0"/>
          </a:p>
        </p:txBody>
      </p:sp>
      <p:sp>
        <p:nvSpPr>
          <p:cNvPr id="49" name="Text 47"/>
          <p:cNvSpPr/>
          <p:nvPr/>
        </p:nvSpPr>
        <p:spPr>
          <a:xfrm>
            <a:off x="2868000" y="23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BLANC SÉRAME</a:t>
            </a:r>
            <a:r>
              <a:rPr lang="en-US" sz="690" b="1" dirty="0">
                <a:solidFill>
                  <a:srgbClr val="67067C"/>
                </a:solidFill>
                <a:latin typeface="IBM Plex Sans" pitchFamily="34" charset="0"/>
                <a:ea typeface="IBM Plex Sans" pitchFamily="34" charset="-122"/>
                <a:cs typeface="IBM Plex Sans" pitchFamily="34" charset="-120"/>
              </a:rPr>
              <a:t>  21</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50" name="Text 48"/>
          <p:cNvSpPr/>
          <p:nvPr/>
        </p:nvSpPr>
        <p:spPr>
          <a:xfrm>
            <a:off x="2868000" y="25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 Chardonnay</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17</a:t>
            </a:r>
            <a:endParaRPr lang="en-US" sz="690" dirty="0"/>
          </a:p>
        </p:txBody>
      </p:sp>
      <p:sp>
        <p:nvSpPr>
          <p:cNvPr id="51" name="Text 49"/>
          <p:cNvSpPr/>
          <p:nvPr/>
        </p:nvSpPr>
        <p:spPr>
          <a:xfrm>
            <a:off x="2868000" y="26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Bruderthal (Gewurztraminer)</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52" name="Text 50"/>
          <p:cNvSpPr/>
          <p:nvPr/>
        </p:nvSpPr>
        <p:spPr>
          <a:xfrm>
            <a:off x="2868000" y="27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Bruderthal (Riesling)</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53" name="Text 51"/>
          <p:cNvSpPr/>
          <p:nvPr/>
        </p:nvSpPr>
        <p:spPr>
          <a:xfrm>
            <a:off x="2868000" y="28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Chardonnay-Viognier</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54" name="Text 52"/>
          <p:cNvSpPr/>
          <p:nvPr/>
        </p:nvSpPr>
        <p:spPr>
          <a:xfrm>
            <a:off x="2868000" y="300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Chêne à la Rouline</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55" name="Text 53"/>
          <p:cNvSpPr/>
          <p:nvPr/>
        </p:nvSpPr>
        <p:spPr>
          <a:xfrm>
            <a:off x="2868000" y="313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Courant – Chenin</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56" name="Text 54"/>
          <p:cNvSpPr/>
          <p:nvPr/>
        </p:nvSpPr>
        <p:spPr>
          <a:xfrm>
            <a:off x="2868000" y="325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CRU Mouzillon – Tillières</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57" name="Text 55"/>
          <p:cNvSpPr/>
          <p:nvPr/>
        </p:nvSpPr>
        <p:spPr>
          <a:xfrm>
            <a:off x="2868000" y="338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des deux Colombes</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58" name="Text 56"/>
          <p:cNvSpPr/>
          <p:nvPr/>
        </p:nvSpPr>
        <p:spPr>
          <a:xfrm>
            <a:off x="2868000" y="351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domaine</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59" name="Text 57"/>
          <p:cNvSpPr/>
          <p:nvPr/>
        </p:nvSpPr>
        <p:spPr>
          <a:xfrm>
            <a:off x="2868000" y="363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François Reverdy – Graves Argileuses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60" name="Text 58"/>
          <p:cNvSpPr/>
          <p:nvPr/>
        </p:nvSpPr>
        <p:spPr>
          <a:xfrm>
            <a:off x="2868000" y="376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François Reverdy – Les Villaudes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61" name="Text 59"/>
          <p:cNvSpPr/>
          <p:nvPr/>
        </p:nvSpPr>
        <p:spPr>
          <a:xfrm>
            <a:off x="2868000" y="388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François Reverdy – Schistes Vert</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62" name="Text 60"/>
          <p:cNvSpPr/>
          <p:nvPr/>
        </p:nvSpPr>
        <p:spPr>
          <a:xfrm>
            <a:off x="2868000" y="401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François Reverdy – Tuffeau</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63" name="Text 61"/>
          <p:cNvSpPr/>
          <p:nvPr/>
        </p:nvSpPr>
        <p:spPr>
          <a:xfrm>
            <a:off x="2868000" y="41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Grain de Blanc</a:t>
            </a:r>
            <a:r>
              <a:rPr lang="en-US" sz="690" b="1" dirty="0">
                <a:solidFill>
                  <a:srgbClr val="67067C"/>
                </a:solidFill>
                <a:latin typeface="IBM Plex Sans" pitchFamily="34" charset="0"/>
                <a:ea typeface="IBM Plex Sans" pitchFamily="34" charset="-122"/>
                <a:cs typeface="IBM Plex Sans" pitchFamily="34" charset="-120"/>
              </a:rPr>
              <a:t>  13</a:t>
            </a: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64" name="Text 62"/>
          <p:cNvSpPr/>
          <p:nvPr/>
        </p:nvSpPr>
        <p:spPr>
          <a:xfrm>
            <a:off x="2868000" y="42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Hahnenberg (Riesling)</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65" name="Text 63"/>
          <p:cNvSpPr/>
          <p:nvPr/>
        </p:nvSpPr>
        <p:spPr>
          <a:xfrm>
            <a:off x="2868000" y="43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Hautes-Côtes</a:t>
            </a:r>
            <a:r>
              <a:rPr lang="en-US" sz="690" b="1" dirty="0">
                <a:solidFill>
                  <a:srgbClr val="67067C"/>
                </a:solidFill>
                <a:latin typeface="IBM Plex Sans" pitchFamily="34" charset="0"/>
                <a:ea typeface="IBM Plex Sans" pitchFamily="34" charset="-122"/>
                <a:cs typeface="IBM Plex Sans" pitchFamily="34" charset="-120"/>
              </a:rPr>
              <a:t>  18</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66" name="Text 64"/>
          <p:cNvSpPr/>
          <p:nvPr/>
        </p:nvSpPr>
        <p:spPr>
          <a:xfrm>
            <a:off x="2868000" y="45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Holderhurst (Riesling)</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67" name="Text 65"/>
          <p:cNvSpPr/>
          <p:nvPr/>
        </p:nvSpPr>
        <p:spPr>
          <a:xfrm>
            <a:off x="2868000" y="46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Val de Loire Sauvignon</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68" name="Text 66"/>
          <p:cNvSpPr/>
          <p:nvPr/>
        </p:nvSpPr>
        <p:spPr>
          <a:xfrm>
            <a:off x="2868000" y="47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JOIO  75 cl</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69" name="Text 67"/>
          <p:cNvSpPr/>
          <p:nvPr/>
        </p:nvSpPr>
        <p:spPr>
          <a:xfrm>
            <a:off x="2868000" y="48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Grange Jaumain – Chenin Blanc</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70" name="Text 68"/>
          <p:cNvSpPr/>
          <p:nvPr/>
        </p:nvSpPr>
        <p:spPr>
          <a:xfrm>
            <a:off x="2868000" y="50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Prestige de Beaulieu</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71" name="Text 69"/>
          <p:cNvSpPr/>
          <p:nvPr/>
        </p:nvSpPr>
        <p:spPr>
          <a:xfrm>
            <a:off x="2868000" y="51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Leimen (Sylvaner)</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72" name="Text 70"/>
          <p:cNvSpPr/>
          <p:nvPr/>
        </p:nvSpPr>
        <p:spPr>
          <a:xfrm>
            <a:off x="2868000" y="52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Amphibol</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73" name="Text 71"/>
          <p:cNvSpPr/>
          <p:nvPr/>
        </p:nvSpPr>
        <p:spPr>
          <a:xfrm>
            <a:off x="2868000" y="54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Beltins</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74" name="Text 72"/>
          <p:cNvSpPr/>
          <p:nvPr/>
        </p:nvSpPr>
        <p:spPr>
          <a:xfrm>
            <a:off x="2868000" y="55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Gorinières</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75" name="Text 73"/>
          <p:cNvSpPr/>
          <p:nvPr/>
        </p:nvSpPr>
        <p:spPr>
          <a:xfrm>
            <a:off x="2868000" y="56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Mâcon Chardonnay</a:t>
            </a:r>
            <a:r>
              <a:rPr lang="en-US" sz="690" b="1" dirty="0">
                <a:solidFill>
                  <a:srgbClr val="67067C"/>
                </a:solidFill>
                <a:latin typeface="IBM Plex Sans" pitchFamily="34" charset="0"/>
                <a:ea typeface="IBM Plex Sans" pitchFamily="34" charset="-122"/>
                <a:cs typeface="IBM Plex Sans" pitchFamily="34" charset="-120"/>
              </a:rPr>
              <a:t>  5</a:t>
            </a:r>
            <a:r>
              <a:rPr lang="en-US" sz="690" dirty="0">
                <a:solidFill>
                  <a:srgbClr val="46606E"/>
                </a:solidFill>
                <a:latin typeface="IBM Plex Sans" pitchFamily="34" charset="0"/>
                <a:ea typeface="IBM Plex Sans" pitchFamily="34" charset="-122"/>
                <a:cs typeface="IBM Plex Sans" pitchFamily="34" charset="-120"/>
              </a:rPr>
              <a:t>  19</a:t>
            </a:r>
            <a:endParaRPr lang="en-US" sz="690" dirty="0"/>
          </a:p>
        </p:txBody>
      </p:sp>
      <p:sp>
        <p:nvSpPr>
          <p:cNvPr id="76" name="Text 74"/>
          <p:cNvSpPr/>
          <p:nvPr/>
        </p:nvSpPr>
        <p:spPr>
          <a:xfrm>
            <a:off x="2868000" y="57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Mâcon Mancey  75 cl</a:t>
            </a:r>
            <a:r>
              <a:rPr lang="en-US" sz="690" b="1" dirty="0">
                <a:solidFill>
                  <a:srgbClr val="67067C"/>
                </a:solidFill>
                <a:latin typeface="IBM Plex Sans" pitchFamily="34" charset="0"/>
                <a:ea typeface="IBM Plex Sans" pitchFamily="34" charset="-122"/>
                <a:cs typeface="IBM Plex Sans" pitchFamily="34" charset="-120"/>
              </a:rPr>
              <a:t>  5</a:t>
            </a:r>
            <a:r>
              <a:rPr lang="en-US" sz="690" dirty="0">
                <a:solidFill>
                  <a:srgbClr val="46606E"/>
                </a:solidFill>
                <a:latin typeface="IBM Plex Sans" pitchFamily="34" charset="0"/>
                <a:ea typeface="IBM Plex Sans" pitchFamily="34" charset="-122"/>
                <a:cs typeface="IBM Plex Sans" pitchFamily="34" charset="-120"/>
              </a:rPr>
              <a:t>  19</a:t>
            </a:r>
            <a:endParaRPr lang="en-US" sz="690" dirty="0"/>
          </a:p>
        </p:txBody>
      </p:sp>
      <p:sp>
        <p:nvSpPr>
          <p:cNvPr id="77" name="Text 75"/>
          <p:cNvSpPr/>
          <p:nvPr/>
        </p:nvSpPr>
        <p:spPr>
          <a:xfrm>
            <a:off x="2868000" y="59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Miraia  2024</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78" name="Text 76"/>
          <p:cNvSpPr/>
          <p:nvPr/>
        </p:nvSpPr>
        <p:spPr>
          <a:xfrm>
            <a:off x="2868000" y="60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Molse Blanc (Assemblage)</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79" name="Text 77"/>
          <p:cNvSpPr/>
          <p:nvPr/>
        </p:nvSpPr>
        <p:spPr>
          <a:xfrm>
            <a:off x="2868000" y="61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N°1 Littorine</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80" name="Text 78"/>
          <p:cNvSpPr/>
          <p:nvPr/>
        </p:nvSpPr>
        <p:spPr>
          <a:xfrm>
            <a:off x="2868000" y="62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N°6 Fossiles</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81" name="Text 79"/>
          <p:cNvSpPr/>
          <p:nvPr/>
        </p:nvSpPr>
        <p:spPr>
          <a:xfrm>
            <a:off x="4908000" y="16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OENA</a:t>
            </a:r>
            <a:r>
              <a:rPr lang="en-US" sz="690" b="1" dirty="0">
                <a:solidFill>
                  <a:srgbClr val="67067C"/>
                </a:solidFill>
                <a:latin typeface="IBM Plex Sans" pitchFamily="34" charset="0"/>
                <a:ea typeface="IBM Plex Sans" pitchFamily="34" charset="-122"/>
                <a:cs typeface="IBM Plex Sans" pitchFamily="34" charset="-120"/>
              </a:rPr>
              <a:t>  21</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82" name="Text 80"/>
          <p:cNvSpPr/>
          <p:nvPr/>
        </p:nvSpPr>
        <p:spPr>
          <a:xfrm>
            <a:off x="4908000" y="17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Première Fleur</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83" name="Text 81"/>
          <p:cNvSpPr/>
          <p:nvPr/>
        </p:nvSpPr>
        <p:spPr>
          <a:xfrm>
            <a:off x="4908000" y="18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Promenade des Noëls</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84" name="Text 82"/>
          <p:cNvSpPr/>
          <p:nvPr/>
        </p:nvSpPr>
        <p:spPr>
          <a:xfrm>
            <a:off x="4908000" y="19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Sauvignon</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85" name="Text 83"/>
          <p:cNvSpPr/>
          <p:nvPr/>
        </p:nvSpPr>
        <p:spPr>
          <a:xfrm>
            <a:off x="4908000" y="21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Source – Melon B.</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86" name="Text 84"/>
          <p:cNvSpPr/>
          <p:nvPr/>
        </p:nvSpPr>
        <p:spPr>
          <a:xfrm>
            <a:off x="4908000" y="22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Terroir d'Ansouis</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87" name="Text 85"/>
          <p:cNvSpPr/>
          <p:nvPr/>
        </p:nvSpPr>
        <p:spPr>
          <a:xfrm>
            <a:off x="4908000" y="23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Vacqueyras  75 cl</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88" name="Text 86"/>
          <p:cNvSpPr/>
          <p:nvPr/>
        </p:nvSpPr>
        <p:spPr>
          <a:xfrm>
            <a:off x="4908000" y="2502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ROSÉ</a:t>
            </a:r>
            <a:endParaRPr lang="en-US" sz="800" dirty="0"/>
          </a:p>
        </p:txBody>
      </p:sp>
      <p:sp>
        <p:nvSpPr>
          <p:cNvPr id="89" name="Text 87"/>
          <p:cNvSpPr/>
          <p:nvPr/>
        </p:nvSpPr>
        <p:spPr>
          <a:xfrm>
            <a:off x="4908000" y="26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JOIO  75 cl</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90" name="Text 88"/>
          <p:cNvSpPr/>
          <p:nvPr/>
        </p:nvSpPr>
        <p:spPr>
          <a:xfrm>
            <a:off x="4908000" y="27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N°3 Gulf Stream</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91" name="Text 89"/>
          <p:cNvSpPr/>
          <p:nvPr/>
        </p:nvSpPr>
        <p:spPr>
          <a:xfrm>
            <a:off x="4908000" y="28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Rosé de Loire</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92" name="Text 90"/>
          <p:cNvSpPr/>
          <p:nvPr/>
        </p:nvSpPr>
        <p:spPr>
          <a:xfrm>
            <a:off x="4908000" y="300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de France Pinot Noir  2024/25</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93" name="Text 91"/>
          <p:cNvSpPr/>
          <p:nvPr/>
        </p:nvSpPr>
        <p:spPr>
          <a:xfrm>
            <a:off x="4908000" y="3132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ROUGE</a:t>
            </a:r>
            <a:endParaRPr lang="en-US" sz="800" dirty="0"/>
          </a:p>
        </p:txBody>
      </p:sp>
      <p:sp>
        <p:nvSpPr>
          <p:cNvPr id="94" name="Text 92"/>
          <p:cNvSpPr/>
          <p:nvPr/>
        </p:nvSpPr>
        <p:spPr>
          <a:xfrm>
            <a:off x="4908000" y="325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4 Saisons</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40</a:t>
            </a:r>
            <a:endParaRPr lang="en-US" sz="690" dirty="0"/>
          </a:p>
        </p:txBody>
      </p:sp>
      <p:sp>
        <p:nvSpPr>
          <p:cNvPr id="95" name="Text 93"/>
          <p:cNvSpPr/>
          <p:nvPr/>
        </p:nvSpPr>
        <p:spPr>
          <a:xfrm>
            <a:off x="4908000" y="338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Amphora de Château l'Escarderie</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96" name="Text 94"/>
          <p:cNvSpPr/>
          <p:nvPr/>
        </p:nvSpPr>
        <p:spPr>
          <a:xfrm>
            <a:off x="4908000" y="351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Givry</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16</a:t>
            </a:r>
            <a:endParaRPr lang="en-US" sz="690" dirty="0"/>
          </a:p>
        </p:txBody>
      </p:sp>
      <p:sp>
        <p:nvSpPr>
          <p:cNvPr id="97" name="Text 95"/>
          <p:cNvSpPr/>
          <p:nvPr/>
        </p:nvSpPr>
        <p:spPr>
          <a:xfrm>
            <a:off x="4908000" y="363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Menetou-Salon</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98" name="Text 96"/>
          <p:cNvSpPr/>
          <p:nvPr/>
        </p:nvSpPr>
        <p:spPr>
          <a:xfrm>
            <a:off x="4908000" y="376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Auxey-Duresses</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16</a:t>
            </a:r>
            <a:endParaRPr lang="en-US" sz="690" dirty="0"/>
          </a:p>
        </p:txBody>
      </p:sp>
      <p:sp>
        <p:nvSpPr>
          <p:cNvPr id="99" name="Text 97"/>
          <p:cNvSpPr/>
          <p:nvPr/>
        </p:nvSpPr>
        <p:spPr>
          <a:xfrm>
            <a:off x="4908000" y="388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Chassagne-Montrachet</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16</a:t>
            </a:r>
            <a:endParaRPr lang="en-US" sz="690" dirty="0"/>
          </a:p>
        </p:txBody>
      </p:sp>
      <p:sp>
        <p:nvSpPr>
          <p:cNvPr id="100" name="Text 98"/>
          <p:cNvSpPr/>
          <p:nvPr/>
        </p:nvSpPr>
        <p:spPr>
          <a:xfrm>
            <a:off x="4908000" y="401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Gevrey-Chambertin</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16</a:t>
            </a:r>
            <a:endParaRPr lang="en-US" sz="690" dirty="0"/>
          </a:p>
        </p:txBody>
      </p:sp>
      <p:sp>
        <p:nvSpPr>
          <p:cNvPr id="101" name="Text 99"/>
          <p:cNvSpPr/>
          <p:nvPr/>
        </p:nvSpPr>
        <p:spPr>
          <a:xfrm>
            <a:off x="4908000" y="41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Madiran</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28</a:t>
            </a:r>
            <a:endParaRPr lang="en-US" sz="690" dirty="0"/>
          </a:p>
        </p:txBody>
      </p:sp>
      <p:sp>
        <p:nvSpPr>
          <p:cNvPr id="102" name="Text 100"/>
          <p:cNvSpPr/>
          <p:nvPr/>
        </p:nvSpPr>
        <p:spPr>
          <a:xfrm>
            <a:off x="4908000" y="42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Madiran</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28</a:t>
            </a:r>
            <a:endParaRPr lang="en-US" sz="690" dirty="0"/>
          </a:p>
        </p:txBody>
      </p:sp>
      <p:sp>
        <p:nvSpPr>
          <p:cNvPr id="103" name="Text 101"/>
          <p:cNvSpPr/>
          <p:nvPr/>
        </p:nvSpPr>
        <p:spPr>
          <a:xfrm>
            <a:off x="4908000" y="43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Madiran</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28</a:t>
            </a:r>
            <a:endParaRPr lang="en-US" sz="690" dirty="0"/>
          </a:p>
        </p:txBody>
      </p:sp>
      <p:sp>
        <p:nvSpPr>
          <p:cNvPr id="104" name="Text 102"/>
          <p:cNvSpPr/>
          <p:nvPr/>
        </p:nvSpPr>
        <p:spPr>
          <a:xfrm>
            <a:off x="4908000" y="45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Mercurey</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16</a:t>
            </a:r>
            <a:endParaRPr lang="en-US" sz="690" dirty="0"/>
          </a:p>
        </p:txBody>
      </p:sp>
      <p:sp>
        <p:nvSpPr>
          <p:cNvPr id="105" name="Text 103"/>
          <p:cNvSpPr/>
          <p:nvPr/>
        </p:nvSpPr>
        <p:spPr>
          <a:xfrm>
            <a:off x="4908000" y="46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Aquino  2023</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106" name="Text 104"/>
          <p:cNvSpPr/>
          <p:nvPr/>
        </p:nvSpPr>
        <p:spPr>
          <a:xfrm>
            <a:off x="4908000" y="47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Aux Allots</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16</a:t>
            </a:r>
            <a:endParaRPr lang="en-US" sz="690" dirty="0"/>
          </a:p>
        </p:txBody>
      </p:sp>
      <p:sp>
        <p:nvSpPr>
          <p:cNvPr id="107" name="Text 105"/>
          <p:cNvSpPr/>
          <p:nvPr/>
        </p:nvSpPr>
        <p:spPr>
          <a:xfrm>
            <a:off x="4908000" y="48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Balac Sans Sulfites (100 % Merlot)</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33</a:t>
            </a:r>
            <a:endParaRPr lang="en-US" sz="690" dirty="0"/>
          </a:p>
        </p:txBody>
      </p:sp>
      <p:sp>
        <p:nvSpPr>
          <p:cNvPr id="108" name="Text 106"/>
          <p:cNvSpPr/>
          <p:nvPr/>
        </p:nvSpPr>
        <p:spPr>
          <a:xfrm>
            <a:off x="4908000" y="50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 Pinot Noir</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18</a:t>
            </a:r>
            <a:endParaRPr lang="en-US" sz="690" dirty="0"/>
          </a:p>
        </p:txBody>
      </p:sp>
      <p:sp>
        <p:nvSpPr>
          <p:cNvPr id="109" name="Text 107"/>
          <p:cNvSpPr/>
          <p:nvPr/>
        </p:nvSpPr>
        <p:spPr>
          <a:xfrm>
            <a:off x="4908000" y="51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CHANT DE LUNE</a:t>
            </a:r>
            <a:r>
              <a:rPr lang="en-US" sz="690" b="1" dirty="0">
                <a:solidFill>
                  <a:srgbClr val="67067C"/>
                </a:solidFill>
                <a:latin typeface="IBM Plex Sans" pitchFamily="34" charset="0"/>
                <a:ea typeface="IBM Plex Sans" pitchFamily="34" charset="-122"/>
                <a:cs typeface="IBM Plex Sans" pitchFamily="34" charset="-120"/>
              </a:rPr>
              <a:t>  21</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110" name="Text 108"/>
          <p:cNvSpPr/>
          <p:nvPr/>
        </p:nvSpPr>
        <p:spPr>
          <a:xfrm>
            <a:off x="4908000" y="52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Falfas  75 cl</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31</a:t>
            </a:r>
            <a:endParaRPr lang="en-US" sz="690" dirty="0"/>
          </a:p>
        </p:txBody>
      </p:sp>
      <p:sp>
        <p:nvSpPr>
          <p:cNvPr id="111" name="Text 109"/>
          <p:cNvSpPr/>
          <p:nvPr/>
        </p:nvSpPr>
        <p:spPr>
          <a:xfrm>
            <a:off x="4908000" y="54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Falfas  75 cl</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31</a:t>
            </a:r>
            <a:endParaRPr lang="en-US" sz="690" dirty="0"/>
          </a:p>
        </p:txBody>
      </p:sp>
      <p:sp>
        <p:nvSpPr>
          <p:cNvPr id="112" name="Text 110"/>
          <p:cNvSpPr/>
          <p:nvPr/>
        </p:nvSpPr>
        <p:spPr>
          <a:xfrm>
            <a:off x="4908000" y="55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Falfas  75 cl</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31</a:t>
            </a:r>
            <a:endParaRPr lang="en-US" sz="690" dirty="0"/>
          </a:p>
        </p:txBody>
      </p:sp>
      <p:sp>
        <p:nvSpPr>
          <p:cNvPr id="113" name="Text 111"/>
          <p:cNvSpPr/>
          <p:nvPr/>
        </p:nvSpPr>
        <p:spPr>
          <a:xfrm>
            <a:off x="4908000" y="56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Falfas  75 cl</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31</a:t>
            </a:r>
            <a:endParaRPr lang="en-US" sz="690" dirty="0"/>
          </a:p>
        </p:txBody>
      </p:sp>
      <p:sp>
        <p:nvSpPr>
          <p:cNvPr id="114" name="Text 112"/>
          <p:cNvSpPr/>
          <p:nvPr/>
        </p:nvSpPr>
        <p:spPr>
          <a:xfrm>
            <a:off x="4908000" y="57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Falfas Le Chevalier (Vieilles Vignes)  75 cl</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31</a:t>
            </a:r>
            <a:endParaRPr lang="en-US" sz="690" dirty="0"/>
          </a:p>
        </p:txBody>
      </p:sp>
      <p:sp>
        <p:nvSpPr>
          <p:cNvPr id="115" name="Text 113"/>
          <p:cNvSpPr/>
          <p:nvPr/>
        </p:nvSpPr>
        <p:spPr>
          <a:xfrm>
            <a:off x="4908000" y="59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Falfas Le Chevalier (Vieilles Vignes)  75 cl</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31</a:t>
            </a:r>
            <a:endParaRPr lang="en-US" sz="690" dirty="0"/>
          </a:p>
        </p:txBody>
      </p:sp>
      <p:sp>
        <p:nvSpPr>
          <p:cNvPr id="116" name="Text 114"/>
          <p:cNvSpPr/>
          <p:nvPr/>
        </p:nvSpPr>
        <p:spPr>
          <a:xfrm>
            <a:off x="4908000" y="60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Clos de Cassis – élevé en fûts de chêne</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40</a:t>
            </a:r>
            <a:endParaRPr lang="en-US" sz="690" dirty="0"/>
          </a:p>
        </p:txBody>
      </p:sp>
      <p:sp>
        <p:nvSpPr>
          <p:cNvPr id="117" name="Text 115"/>
          <p:cNvSpPr/>
          <p:nvPr/>
        </p:nvSpPr>
        <p:spPr>
          <a:xfrm>
            <a:off x="4908000" y="61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Clos de la Perrière</a:t>
            </a:r>
            <a:r>
              <a:rPr lang="en-US" sz="690" b="1" dirty="0">
                <a:solidFill>
                  <a:srgbClr val="67067C"/>
                </a:solidFill>
                <a:latin typeface="IBM Plex Sans" pitchFamily="34" charset="0"/>
                <a:ea typeface="IBM Plex Sans" pitchFamily="34" charset="-122"/>
                <a:cs typeface="IBM Plex Sans" pitchFamily="34" charset="-120"/>
              </a:rPr>
              <a:t>  18</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118" name="Text 116"/>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46</a:t>
            </a:r>
            <a:endParaRPr lang="en-US" sz="750" dirty="0"/>
          </a:p>
        </p:txBody>
      </p:sp>
      <p:sp>
        <p:nvSpPr>
          <p:cNvPr id="119" name="Text 117"/>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612000" y="5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Côtes du Rhône</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3" name="Text 1"/>
          <p:cNvSpPr/>
          <p:nvPr/>
        </p:nvSpPr>
        <p:spPr>
          <a:xfrm>
            <a:off x="612000" y="6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Côtes du Rhône</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4" name="Text 2"/>
          <p:cNvSpPr/>
          <p:nvPr/>
        </p:nvSpPr>
        <p:spPr>
          <a:xfrm>
            <a:off x="612000" y="7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Cravant</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5" name="Text 3"/>
          <p:cNvSpPr/>
          <p:nvPr/>
        </p:nvSpPr>
        <p:spPr>
          <a:xfrm>
            <a:off x="612000" y="9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des Fontenelles / Y'a Rien qui Presse</a:t>
            </a:r>
            <a:r>
              <a:rPr lang="en-US" sz="690" b="1" dirty="0">
                <a:solidFill>
                  <a:srgbClr val="67067C"/>
                </a:solidFill>
                <a:latin typeface="IBM Plex Sans" pitchFamily="34" charset="0"/>
                <a:ea typeface="IBM Plex Sans" pitchFamily="34" charset="-122"/>
                <a:cs typeface="IBM Plex Sans" pitchFamily="34" charset="-120"/>
              </a:rPr>
              <a:t>  16</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6" name="Text 4"/>
          <p:cNvSpPr/>
          <p:nvPr/>
        </p:nvSpPr>
        <p:spPr>
          <a:xfrm>
            <a:off x="612000" y="10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Diane / Le Vin Cœur</a:t>
            </a:r>
            <a:r>
              <a:rPr lang="en-US" sz="690" b="1" dirty="0">
                <a:solidFill>
                  <a:srgbClr val="67067C"/>
                </a:solidFill>
                <a:latin typeface="IBM Plex Sans" pitchFamily="34" charset="0"/>
                <a:ea typeface="IBM Plex Sans" pitchFamily="34" charset="-122"/>
                <a:cs typeface="IBM Plex Sans" pitchFamily="34" charset="-120"/>
              </a:rPr>
              <a:t>  16</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7" name="Text 5"/>
          <p:cNvSpPr/>
          <p:nvPr/>
        </p:nvSpPr>
        <p:spPr>
          <a:xfrm>
            <a:off x="612000" y="11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TerraCotta / L'An Fort des Haltères</a:t>
            </a:r>
            <a:r>
              <a:rPr lang="en-US" sz="690" b="1" dirty="0">
                <a:solidFill>
                  <a:srgbClr val="67067C"/>
                </a:solidFill>
                <a:latin typeface="IBM Plex Sans" pitchFamily="34" charset="0"/>
                <a:ea typeface="IBM Plex Sans" pitchFamily="34" charset="-122"/>
                <a:cs typeface="IBM Plex Sans" pitchFamily="34" charset="-120"/>
              </a:rPr>
              <a:t>  16</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8" name="Text 6"/>
          <p:cNvSpPr/>
          <p:nvPr/>
        </p:nvSpPr>
        <p:spPr>
          <a:xfrm>
            <a:off x="612000" y="12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François Reverdy – Franc / Graves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9" name="Text 7"/>
          <p:cNvSpPr/>
          <p:nvPr/>
        </p:nvSpPr>
        <p:spPr>
          <a:xfrm>
            <a:off x="612000" y="14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Henri</a:t>
            </a:r>
            <a:r>
              <a:rPr lang="en-US" sz="690" b="1" dirty="0">
                <a:solidFill>
                  <a:srgbClr val="67067C"/>
                </a:solidFill>
                <a:latin typeface="IBM Plex Sans" pitchFamily="34" charset="0"/>
                <a:ea typeface="IBM Plex Sans" pitchFamily="34" charset="-122"/>
                <a:cs typeface="IBM Plex Sans" pitchFamily="34" charset="-120"/>
              </a:rPr>
              <a:t>  13</a:t>
            </a: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10" name="Text 8"/>
          <p:cNvSpPr/>
          <p:nvPr/>
        </p:nvSpPr>
        <p:spPr>
          <a:xfrm>
            <a:off x="612000" y="15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Inopine (100 % Merlot)</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33</a:t>
            </a:r>
            <a:endParaRPr lang="en-US" sz="690" dirty="0"/>
          </a:p>
        </p:txBody>
      </p:sp>
      <p:sp>
        <p:nvSpPr>
          <p:cNvPr id="11" name="Text 9"/>
          <p:cNvSpPr/>
          <p:nvPr/>
        </p:nvSpPr>
        <p:spPr>
          <a:xfrm>
            <a:off x="612000" y="16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JARDINS DE CORBIÈRES</a:t>
            </a:r>
            <a:r>
              <a:rPr lang="en-US" sz="690" b="1" dirty="0">
                <a:solidFill>
                  <a:srgbClr val="67067C"/>
                </a:solidFill>
                <a:latin typeface="IBM Plex Sans" pitchFamily="34" charset="0"/>
                <a:ea typeface="IBM Plex Sans" pitchFamily="34" charset="-122"/>
                <a:cs typeface="IBM Plex Sans" pitchFamily="34" charset="-120"/>
              </a:rPr>
              <a:t>  21</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12" name="Text 10"/>
          <p:cNvSpPr/>
          <p:nvPr/>
        </p:nvSpPr>
        <p:spPr>
          <a:xfrm>
            <a:off x="612000" y="18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JOIO  75 cl</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13" name="Text 11"/>
          <p:cNvSpPr/>
          <p:nvPr/>
        </p:nvSpPr>
        <p:spPr>
          <a:xfrm>
            <a:off x="612000" y="19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Confiance de l'Escarderie</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14" name="Text 12"/>
          <p:cNvSpPr/>
          <p:nvPr/>
        </p:nvSpPr>
        <p:spPr>
          <a:xfrm>
            <a:off x="612000" y="20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Louisonne</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15" name="Text 13"/>
          <p:cNvSpPr/>
          <p:nvPr/>
        </p:nvSpPr>
        <p:spPr>
          <a:xfrm>
            <a:off x="612000" y="21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Potion</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40</a:t>
            </a:r>
            <a:endParaRPr lang="en-US" sz="690" dirty="0"/>
          </a:p>
        </p:txBody>
      </p:sp>
      <p:sp>
        <p:nvSpPr>
          <p:cNvPr id="16" name="Text 14"/>
          <p:cNvSpPr/>
          <p:nvPr/>
        </p:nvSpPr>
        <p:spPr>
          <a:xfrm>
            <a:off x="612000" y="23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Pousterle</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17" name="Text 15"/>
          <p:cNvSpPr/>
          <p:nvPr/>
        </p:nvSpPr>
        <p:spPr>
          <a:xfrm>
            <a:off x="612000" y="24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Bois Bouquet</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18" name="Text 16"/>
          <p:cNvSpPr/>
          <p:nvPr/>
        </p:nvSpPr>
        <p:spPr>
          <a:xfrm>
            <a:off x="612000" y="25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Couchant</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21</a:t>
            </a:r>
            <a:endParaRPr lang="en-US" sz="690" dirty="0"/>
          </a:p>
        </p:txBody>
      </p:sp>
      <p:sp>
        <p:nvSpPr>
          <p:cNvPr id="19" name="Text 17"/>
          <p:cNvSpPr/>
          <p:nvPr/>
        </p:nvSpPr>
        <p:spPr>
          <a:xfrm>
            <a:off x="612000" y="26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Prieuré</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21</a:t>
            </a:r>
            <a:endParaRPr lang="en-US" sz="690" dirty="0"/>
          </a:p>
        </p:txBody>
      </p:sp>
      <p:sp>
        <p:nvSpPr>
          <p:cNvPr id="20" name="Text 18"/>
          <p:cNvSpPr/>
          <p:nvPr/>
        </p:nvSpPr>
        <p:spPr>
          <a:xfrm>
            <a:off x="612000" y="28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Léon</a:t>
            </a:r>
            <a:r>
              <a:rPr lang="en-US" sz="690" b="1" dirty="0">
                <a:solidFill>
                  <a:srgbClr val="67067C"/>
                </a:solidFill>
                <a:latin typeface="IBM Plex Sans" pitchFamily="34" charset="0"/>
                <a:ea typeface="IBM Plex Sans" pitchFamily="34" charset="-122"/>
                <a:cs typeface="IBM Plex Sans" pitchFamily="34" charset="-120"/>
              </a:rPr>
              <a:t>  13</a:t>
            </a: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21" name="Text 19"/>
          <p:cNvSpPr/>
          <p:nvPr/>
        </p:nvSpPr>
        <p:spPr>
          <a:xfrm>
            <a:off x="612000" y="293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Aigrots</a:t>
            </a:r>
            <a:r>
              <a:rPr lang="en-US" sz="690" b="1" dirty="0">
                <a:solidFill>
                  <a:srgbClr val="67067C"/>
                </a:solidFill>
                <a:latin typeface="IBM Plex Sans" pitchFamily="34" charset="0"/>
                <a:ea typeface="IBM Plex Sans" pitchFamily="34" charset="-122"/>
                <a:cs typeface="IBM Plex Sans" pitchFamily="34" charset="-120"/>
              </a:rPr>
              <a:t>  18</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22" name="Text 20"/>
          <p:cNvSpPr/>
          <p:nvPr/>
        </p:nvSpPr>
        <p:spPr>
          <a:xfrm>
            <a:off x="612000" y="306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Bons Feuvres</a:t>
            </a:r>
            <a:r>
              <a:rPr lang="en-US" sz="690" b="1" dirty="0">
                <a:solidFill>
                  <a:srgbClr val="67067C"/>
                </a:solidFill>
                <a:latin typeface="IBM Plex Sans" pitchFamily="34" charset="0"/>
                <a:ea typeface="IBM Plex Sans" pitchFamily="34" charset="-122"/>
                <a:cs typeface="IBM Plex Sans" pitchFamily="34" charset="-120"/>
              </a:rPr>
              <a:t>  18</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23" name="Text 21"/>
          <p:cNvSpPr/>
          <p:nvPr/>
        </p:nvSpPr>
        <p:spPr>
          <a:xfrm>
            <a:off x="612000" y="318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Courbes</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24" name="Text 22"/>
          <p:cNvSpPr/>
          <p:nvPr/>
        </p:nvSpPr>
        <p:spPr>
          <a:xfrm>
            <a:off x="2652000" y="5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Demoiselles de Falfas</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31</a:t>
            </a:r>
            <a:endParaRPr lang="en-US" sz="690" dirty="0"/>
          </a:p>
        </p:txBody>
      </p:sp>
      <p:sp>
        <p:nvSpPr>
          <p:cNvPr id="25" name="Text 23"/>
          <p:cNvSpPr/>
          <p:nvPr/>
        </p:nvSpPr>
        <p:spPr>
          <a:xfrm>
            <a:off x="2652000" y="6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Gneiss</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26" name="Text 24"/>
          <p:cNvSpPr/>
          <p:nvPr/>
        </p:nvSpPr>
        <p:spPr>
          <a:xfrm>
            <a:off x="2652000" y="7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Perrières</a:t>
            </a:r>
            <a:r>
              <a:rPr lang="en-US" sz="690" b="1" dirty="0">
                <a:solidFill>
                  <a:srgbClr val="67067C"/>
                </a:solidFill>
                <a:latin typeface="IBM Plex Sans" pitchFamily="34" charset="0"/>
                <a:ea typeface="IBM Plex Sans" pitchFamily="34" charset="-122"/>
                <a:cs typeface="IBM Plex Sans" pitchFamily="34" charset="-120"/>
              </a:rPr>
              <a:t>  18</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27" name="Text 25"/>
          <p:cNvSpPr/>
          <p:nvPr/>
        </p:nvSpPr>
        <p:spPr>
          <a:xfrm>
            <a:off x="2652000" y="9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Silex</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28" name="Text 26"/>
          <p:cNvSpPr/>
          <p:nvPr/>
        </p:nvSpPr>
        <p:spPr>
          <a:xfrm>
            <a:off x="2652000" y="10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Lou Daro</a:t>
            </a:r>
            <a:r>
              <a:rPr lang="en-US" sz="690" b="1" dirty="0">
                <a:solidFill>
                  <a:srgbClr val="67067C"/>
                </a:solidFill>
                <a:latin typeface="IBM Plex Sans" pitchFamily="34" charset="0"/>
                <a:ea typeface="IBM Plex Sans" pitchFamily="34" charset="-122"/>
                <a:cs typeface="IBM Plex Sans" pitchFamily="34" charset="-120"/>
              </a:rPr>
              <a:t>  13</a:t>
            </a: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29" name="Text 27"/>
          <p:cNvSpPr/>
          <p:nvPr/>
        </p:nvSpPr>
        <p:spPr>
          <a:xfrm>
            <a:off x="2652000" y="11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Mâcon Mancey  75 cl</a:t>
            </a:r>
            <a:r>
              <a:rPr lang="en-US" sz="690" b="1" dirty="0">
                <a:solidFill>
                  <a:srgbClr val="67067C"/>
                </a:solidFill>
                <a:latin typeface="IBM Plex Sans" pitchFamily="34" charset="0"/>
                <a:ea typeface="IBM Plex Sans" pitchFamily="34" charset="-122"/>
                <a:cs typeface="IBM Plex Sans" pitchFamily="34" charset="-120"/>
              </a:rPr>
              <a:t>  5</a:t>
            </a:r>
            <a:r>
              <a:rPr lang="en-US" sz="690" dirty="0">
                <a:solidFill>
                  <a:srgbClr val="46606E"/>
                </a:solidFill>
                <a:latin typeface="IBM Plex Sans" pitchFamily="34" charset="0"/>
                <a:ea typeface="IBM Plex Sans" pitchFamily="34" charset="-122"/>
                <a:cs typeface="IBM Plex Sans" pitchFamily="34" charset="-120"/>
              </a:rPr>
              <a:t>  19</a:t>
            </a:r>
            <a:endParaRPr lang="en-US" sz="690" dirty="0"/>
          </a:p>
        </p:txBody>
      </p:sp>
      <p:sp>
        <p:nvSpPr>
          <p:cNvPr id="30" name="Text 28"/>
          <p:cNvSpPr/>
          <p:nvPr/>
        </p:nvSpPr>
        <p:spPr>
          <a:xfrm>
            <a:off x="2652000" y="12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Miraia  2022</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31" name="Text 29"/>
          <p:cNvSpPr/>
          <p:nvPr/>
        </p:nvSpPr>
        <p:spPr>
          <a:xfrm>
            <a:off x="2652000" y="14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N°4 Triton</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32" name="Text 30"/>
          <p:cNvSpPr/>
          <p:nvPr/>
        </p:nvSpPr>
        <p:spPr>
          <a:xfrm>
            <a:off x="2652000" y="15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Reflet – Gamay</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33" name="Text 31"/>
          <p:cNvSpPr/>
          <p:nvPr/>
        </p:nvSpPr>
        <p:spPr>
          <a:xfrm>
            <a:off x="2652000" y="16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Rouge au lèvres</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34" name="Text 32"/>
          <p:cNvSpPr/>
          <p:nvPr/>
        </p:nvSpPr>
        <p:spPr>
          <a:xfrm>
            <a:off x="2652000" y="18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ROUGE SÉRAME</a:t>
            </a:r>
            <a:r>
              <a:rPr lang="en-US" sz="690" b="1" dirty="0">
                <a:solidFill>
                  <a:srgbClr val="67067C"/>
                </a:solidFill>
                <a:latin typeface="IBM Plex Sans" pitchFamily="34" charset="0"/>
                <a:ea typeface="IBM Plex Sans" pitchFamily="34" charset="-122"/>
                <a:cs typeface="IBM Plex Sans" pitchFamily="34" charset="-120"/>
              </a:rPr>
              <a:t>  21</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35" name="Text 33"/>
          <p:cNvSpPr/>
          <p:nvPr/>
        </p:nvSpPr>
        <p:spPr>
          <a:xfrm>
            <a:off x="2652000" y="19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SAINT PROBACE</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36" name="Text 34"/>
          <p:cNvSpPr/>
          <p:nvPr/>
        </p:nvSpPr>
        <p:spPr>
          <a:xfrm>
            <a:off x="2652000" y="20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Syrah de Balac</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33</a:t>
            </a:r>
            <a:endParaRPr lang="en-US" sz="690" dirty="0"/>
          </a:p>
        </p:txBody>
      </p:sp>
      <p:sp>
        <p:nvSpPr>
          <p:cNvPr id="37" name="Text 35"/>
          <p:cNvSpPr/>
          <p:nvPr/>
        </p:nvSpPr>
        <p:spPr>
          <a:xfrm>
            <a:off x="2652000" y="21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Terre Rouge</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40</a:t>
            </a:r>
            <a:endParaRPr lang="en-US" sz="690" dirty="0"/>
          </a:p>
        </p:txBody>
      </p:sp>
      <p:sp>
        <p:nvSpPr>
          <p:cNvPr id="38" name="Text 36"/>
          <p:cNvSpPr/>
          <p:nvPr/>
        </p:nvSpPr>
        <p:spPr>
          <a:xfrm>
            <a:off x="2652000" y="23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Vacqueyras  75 cl</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39" name="Text 37"/>
          <p:cNvSpPr/>
          <p:nvPr/>
        </p:nvSpPr>
        <p:spPr>
          <a:xfrm>
            <a:off x="2652000" y="24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Vieilles Vignes  75 cl</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21</a:t>
            </a:r>
            <a:endParaRPr lang="en-US" sz="690" dirty="0"/>
          </a:p>
        </p:txBody>
      </p:sp>
      <p:sp>
        <p:nvSpPr>
          <p:cNvPr id="40" name="Text 38"/>
          <p:cNvSpPr/>
          <p:nvPr/>
        </p:nvSpPr>
        <p:spPr>
          <a:xfrm>
            <a:off x="2652000" y="25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Vieilles Vignes  75 cl</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21</a:t>
            </a:r>
            <a:endParaRPr lang="en-US" sz="690" dirty="0"/>
          </a:p>
        </p:txBody>
      </p:sp>
      <p:sp>
        <p:nvSpPr>
          <p:cNvPr id="41" name="Text 39"/>
          <p:cNvSpPr/>
          <p:nvPr/>
        </p:nvSpPr>
        <p:spPr>
          <a:xfrm>
            <a:off x="2652000" y="26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de France Pinot Noir  2024/2025</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42" name="Text 40"/>
          <p:cNvSpPr/>
          <p:nvPr/>
        </p:nvSpPr>
        <p:spPr>
          <a:xfrm>
            <a:off x="2652000" y="2808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DOUX</a:t>
            </a:r>
            <a:endParaRPr lang="en-US" sz="800" dirty="0"/>
          </a:p>
        </p:txBody>
      </p:sp>
      <p:sp>
        <p:nvSpPr>
          <p:cNvPr id="43" name="Text 41"/>
          <p:cNvSpPr/>
          <p:nvPr/>
        </p:nvSpPr>
        <p:spPr>
          <a:xfrm>
            <a:off x="2652000" y="293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Coteaux du Layon</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44" name="Text 42"/>
          <p:cNvSpPr/>
          <p:nvPr/>
        </p:nvSpPr>
        <p:spPr>
          <a:xfrm>
            <a:off x="2652000" y="306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Coteaux du Layon Faye</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45" name="Text 43"/>
          <p:cNvSpPr/>
          <p:nvPr/>
        </p:nvSpPr>
        <p:spPr>
          <a:xfrm>
            <a:off x="2652000" y="318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N°7 Venus</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46" name="Text 44"/>
          <p:cNvSpPr/>
          <p:nvPr/>
        </p:nvSpPr>
        <p:spPr>
          <a:xfrm>
            <a:off x="4692000" y="5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N°8 Grand Pavois</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47" name="Text 45"/>
          <p:cNvSpPr/>
          <p:nvPr/>
        </p:nvSpPr>
        <p:spPr>
          <a:xfrm>
            <a:off x="4692000" y="6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de France</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28</a:t>
            </a:r>
            <a:endParaRPr lang="en-US" sz="690" dirty="0"/>
          </a:p>
        </p:txBody>
      </p:sp>
      <p:sp>
        <p:nvSpPr>
          <p:cNvPr id="48" name="Text 46"/>
          <p:cNvSpPr/>
          <p:nvPr/>
        </p:nvSpPr>
        <p:spPr>
          <a:xfrm>
            <a:off x="4692000" y="792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JUS DE CÉPAGES</a:t>
            </a:r>
            <a:endParaRPr lang="en-US" sz="800" dirty="0"/>
          </a:p>
        </p:txBody>
      </p:sp>
      <p:sp>
        <p:nvSpPr>
          <p:cNvPr id="49" name="Text 47"/>
          <p:cNvSpPr/>
          <p:nvPr/>
        </p:nvSpPr>
        <p:spPr>
          <a:xfrm>
            <a:off x="4692000" y="9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Mas de Lusanne Pétillant de Jus de Raisin 0 %</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50" name="Text 48"/>
          <p:cNvSpPr/>
          <p:nvPr/>
        </p:nvSpPr>
        <p:spPr>
          <a:xfrm>
            <a:off x="4692000" y="1044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AUTRE</a:t>
            </a:r>
            <a:endParaRPr lang="en-US" sz="800" dirty="0"/>
          </a:p>
        </p:txBody>
      </p:sp>
      <p:sp>
        <p:nvSpPr>
          <p:cNvPr id="51" name="Text 49"/>
          <p:cNvSpPr/>
          <p:nvPr/>
        </p:nvSpPr>
        <p:spPr>
          <a:xfrm>
            <a:off x="4692000" y="11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Bourgogne Passe-Tout-Grain</a:t>
            </a:r>
            <a:r>
              <a:rPr lang="en-US" sz="690" b="1" dirty="0">
                <a:solidFill>
                  <a:srgbClr val="67067C"/>
                </a:solidFill>
                <a:latin typeface="IBM Plex Sans" pitchFamily="34" charset="0"/>
                <a:ea typeface="IBM Plex Sans" pitchFamily="34" charset="-122"/>
                <a:cs typeface="IBM Plex Sans" pitchFamily="34" charset="-120"/>
              </a:rPr>
              <a:t>  5</a:t>
            </a:r>
            <a:r>
              <a:rPr lang="en-US" sz="690" dirty="0">
                <a:solidFill>
                  <a:srgbClr val="46606E"/>
                </a:solidFill>
                <a:latin typeface="IBM Plex Sans" pitchFamily="34" charset="0"/>
                <a:ea typeface="IBM Plex Sans" pitchFamily="34" charset="-122"/>
                <a:cs typeface="IBM Plex Sans" pitchFamily="34" charset="-120"/>
              </a:rPr>
              <a:t>  19</a:t>
            </a:r>
            <a:endParaRPr lang="en-US" sz="690" dirty="0"/>
          </a:p>
        </p:txBody>
      </p:sp>
      <p:sp>
        <p:nvSpPr>
          <p:cNvPr id="52" name="Text 50"/>
          <p:cNvSpPr/>
          <p:nvPr/>
        </p:nvSpPr>
        <p:spPr>
          <a:xfrm>
            <a:off x="4692000" y="12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Balac</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33</a:t>
            </a:r>
            <a:endParaRPr lang="en-US" sz="690" dirty="0"/>
          </a:p>
        </p:txBody>
      </p:sp>
      <p:sp>
        <p:nvSpPr>
          <p:cNvPr id="53" name="Text 51"/>
          <p:cNvSpPr/>
          <p:nvPr/>
        </p:nvSpPr>
        <p:spPr>
          <a:xfrm>
            <a:off x="4692000" y="14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Lafargue</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54" name="Text 52"/>
          <p:cNvSpPr/>
          <p:nvPr/>
        </p:nvSpPr>
        <p:spPr>
          <a:xfrm>
            <a:off x="4692000" y="15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Juliette</a:t>
            </a:r>
            <a:r>
              <a:rPr lang="en-US" sz="690" b="1" dirty="0">
                <a:solidFill>
                  <a:srgbClr val="67067C"/>
                </a:solidFill>
                <a:latin typeface="IBM Plex Sans" pitchFamily="34" charset="0"/>
                <a:ea typeface="IBM Plex Sans" pitchFamily="34" charset="-122"/>
                <a:cs typeface="IBM Plex Sans" pitchFamily="34" charset="-120"/>
              </a:rPr>
              <a:t>  13</a:t>
            </a: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55" name="Text 53"/>
          <p:cNvSpPr/>
          <p:nvPr/>
        </p:nvSpPr>
        <p:spPr>
          <a:xfrm>
            <a:off x="4692000" y="16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L'Eberluant – Chardonnay</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56" name="Text 54"/>
          <p:cNvSpPr/>
          <p:nvPr/>
        </p:nvSpPr>
        <p:spPr>
          <a:xfrm>
            <a:off x="4692000" y="18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L'envol</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57" name="Text 55"/>
          <p:cNvSpPr/>
          <p:nvPr/>
        </p:nvSpPr>
        <p:spPr>
          <a:xfrm>
            <a:off x="4692000" y="19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Grange Jaumain – Grolleau Noir</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58" name="Text 56"/>
          <p:cNvSpPr/>
          <p:nvPr/>
        </p:nvSpPr>
        <p:spPr>
          <a:xfrm>
            <a:off x="4692000" y="20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Bulles du Puits</a:t>
            </a:r>
            <a:r>
              <a:rPr lang="en-US" sz="690" b="1" dirty="0">
                <a:solidFill>
                  <a:srgbClr val="67067C"/>
                </a:solidFill>
                <a:latin typeface="IBM Plex Sans" pitchFamily="34" charset="0"/>
                <a:ea typeface="IBM Plex Sans" pitchFamily="34" charset="-122"/>
                <a:cs typeface="IBM Plex Sans" pitchFamily="34" charset="-120"/>
              </a:rPr>
              <a:t>  5</a:t>
            </a:r>
            <a:r>
              <a:rPr lang="en-US" sz="690" dirty="0">
                <a:solidFill>
                  <a:srgbClr val="46606E"/>
                </a:solidFill>
                <a:latin typeface="IBM Plex Sans" pitchFamily="34" charset="0"/>
                <a:ea typeface="IBM Plex Sans" pitchFamily="34" charset="-122"/>
                <a:cs typeface="IBM Plex Sans" pitchFamily="34" charset="-120"/>
              </a:rPr>
              <a:t>  19</a:t>
            </a:r>
            <a:endParaRPr lang="en-US" sz="690" dirty="0"/>
          </a:p>
        </p:txBody>
      </p:sp>
      <p:sp>
        <p:nvSpPr>
          <p:cNvPr id="59" name="Text 57"/>
          <p:cNvSpPr/>
          <p:nvPr/>
        </p:nvSpPr>
        <p:spPr>
          <a:xfrm>
            <a:off x="4692000" y="21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Mas de Lusanne Chardonnay</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60" name="Text 58"/>
          <p:cNvSpPr/>
          <p:nvPr/>
        </p:nvSpPr>
        <p:spPr>
          <a:xfrm>
            <a:off x="4692000" y="23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Mas de Lusanne Gamay</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61" name="Text 59"/>
          <p:cNvSpPr/>
          <p:nvPr/>
        </p:nvSpPr>
        <p:spPr>
          <a:xfrm>
            <a:off x="4692000" y="24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Mas de Lusanne Mondeuse</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62" name="Text 60"/>
          <p:cNvSpPr/>
          <p:nvPr/>
        </p:nvSpPr>
        <p:spPr>
          <a:xfrm>
            <a:off x="4692000" y="25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Mas de Lusanne Pinot Noir</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63" name="Text 61"/>
          <p:cNvSpPr/>
          <p:nvPr/>
        </p:nvSpPr>
        <p:spPr>
          <a:xfrm>
            <a:off x="4692000" y="26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Or des Dentelles  2023</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64" name="Text 62"/>
          <p:cNvSpPr/>
          <p:nvPr/>
        </p:nvSpPr>
        <p:spPr>
          <a:xfrm>
            <a:off x="4692000" y="28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Or des Dentelles  2022</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65" name="Text 63"/>
          <p:cNvSpPr/>
          <p:nvPr/>
        </p:nvSpPr>
        <p:spPr>
          <a:xfrm>
            <a:off x="4692000" y="293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Premières Fleurs</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66" name="Text 64"/>
          <p:cNvSpPr/>
          <p:nvPr/>
        </p:nvSpPr>
        <p:spPr>
          <a:xfrm>
            <a:off x="4692000" y="306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Vignes de Tréleau</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67" name="Text 65"/>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47</a:t>
            </a:r>
            <a:endParaRPr lang="en-US" sz="750" dirty="0"/>
          </a:p>
        </p:txBody>
      </p:sp>
      <p:sp>
        <p:nvSpPr>
          <p:cNvPr id="68" name="Text 66"/>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828000" y="540000"/>
            <a:ext cx="6120000" cy="432000"/>
          </a:xfrm>
          <a:prstGeom prst="rect">
            <a:avLst/>
          </a:prstGeom>
          <a:noFill/>
          <a:ln/>
        </p:spPr>
        <p:txBody>
          <a:bodyPr wrap="square" lIns="0" tIns="0" rIns="0" bIns="0" rtlCol="0" anchor="b"/>
          <a:lstStyle/>
          <a:p>
            <a:pPr indent="0" marL="0">
              <a:buNone/>
            </a:pPr>
            <a:r>
              <a:rPr lang="en-US" sz="2400" dirty="0">
                <a:solidFill>
                  <a:srgbClr val="67067C"/>
                </a:solidFill>
                <a:latin typeface="Young Serif" pitchFamily="34" charset="0"/>
                <a:ea typeface="Young Serif" pitchFamily="34" charset="-122"/>
                <a:cs typeface="Young Serif" pitchFamily="34" charset="-120"/>
              </a:rPr>
              <a:t>Les vingt-six exposants</a:t>
            </a:r>
            <a:endParaRPr lang="en-US" sz="2400" dirty="0"/>
          </a:p>
        </p:txBody>
      </p:sp>
      <p:sp>
        <p:nvSpPr>
          <p:cNvPr id="3" name="Text 1"/>
          <p:cNvSpPr/>
          <p:nvPr/>
        </p:nvSpPr>
        <p:spPr>
          <a:xfrm>
            <a:off x="828000" y="990000"/>
            <a:ext cx="612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DE A À Z</a:t>
            </a:r>
            <a:endParaRPr lang="en-US" sz="800" dirty="0"/>
          </a:p>
        </p:txBody>
      </p:sp>
      <p:sp>
        <p:nvSpPr>
          <p:cNvPr id="4" name="Text 2"/>
          <p:cNvSpPr/>
          <p:nvPr/>
        </p:nvSpPr>
        <p:spPr>
          <a:xfrm>
            <a:off x="828000" y="1296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19   </a:t>
            </a:r>
            <a:r>
              <a:rPr lang="en-US" sz="840" b="1" dirty="0">
                <a:solidFill>
                  <a:srgbClr val="46606E"/>
                </a:solidFill>
                <a:latin typeface="IBM Plex Sans" pitchFamily="34" charset="0"/>
                <a:ea typeface="IBM Plex Sans" pitchFamily="34" charset="-122"/>
                <a:cs typeface="IBM Plex Sans" pitchFamily="34" charset="-120"/>
              </a:rPr>
              <a:t>Bastide de Blacailloux   </a:t>
            </a:r>
            <a:r>
              <a:rPr lang="en-US" sz="700" dirty="0">
                <a:solidFill>
                  <a:srgbClr val="A8515F"/>
                </a:solidFill>
                <a:latin typeface="IBM Plex Sans" pitchFamily="34" charset="0"/>
                <a:ea typeface="IBM Plex Sans" pitchFamily="34" charset="-122"/>
                <a:cs typeface="IBM Plex Sans" pitchFamily="34" charset="-120"/>
              </a:rPr>
              <a:t>Provence   </a:t>
            </a:r>
            <a:r>
              <a:rPr lang="en-US" sz="700" dirty="0">
                <a:solidFill>
                  <a:srgbClr val="46606E"/>
                </a:solidFill>
                <a:latin typeface="IBM Plex Sans" pitchFamily="34" charset="0"/>
                <a:ea typeface="IBM Plex Sans" pitchFamily="34" charset="-122"/>
                <a:cs typeface="IBM Plex Sans" pitchFamily="34" charset="-120"/>
              </a:rPr>
              <a:t>8   </a:t>
            </a:r>
            <a:r>
              <a:rPr lang="en-US" sz="840" b="1" dirty="0">
                <a:solidFill>
                  <a:srgbClr val="46606E"/>
                </a:solidFill>
                <a:latin typeface="IBM Plex Sans" pitchFamily="34" charset="0"/>
                <a:ea typeface="IBM Plex Sans" pitchFamily="34" charset="-122"/>
                <a:cs typeface="IBM Plex Sans" pitchFamily="34" charset="-120"/>
              </a:rPr>
              <a:t>36</a:t>
            </a:r>
            <a:endParaRPr lang="en-US" sz="840" dirty="0"/>
          </a:p>
        </p:txBody>
      </p:sp>
      <p:sp>
        <p:nvSpPr>
          <p:cNvPr id="5" name="Text 3"/>
          <p:cNvSpPr/>
          <p:nvPr/>
        </p:nvSpPr>
        <p:spPr>
          <a:xfrm>
            <a:off x="828000" y="1584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25   </a:t>
            </a:r>
            <a:r>
              <a:rPr lang="en-US" sz="840" b="1" dirty="0">
                <a:solidFill>
                  <a:srgbClr val="46606E"/>
                </a:solidFill>
                <a:latin typeface="IBM Plex Sans" pitchFamily="34" charset="0"/>
                <a:ea typeface="IBM Plex Sans" pitchFamily="34" charset="-122"/>
                <a:cs typeface="IBM Plex Sans" pitchFamily="34" charset="-120"/>
              </a:rPr>
              <a:t>Chai Berteaud Manceau   </a:t>
            </a:r>
            <a:r>
              <a:rPr lang="en-US" sz="700" dirty="0">
                <a:solidFill>
                  <a:srgbClr val="A8515F"/>
                </a:solidFill>
                <a:latin typeface="IBM Plex Sans" pitchFamily="34" charset="0"/>
                <a:ea typeface="IBM Plex Sans" pitchFamily="34" charset="-122"/>
                <a:cs typeface="IBM Plex Sans" pitchFamily="34" charset="-120"/>
              </a:rPr>
              <a:t>Loire   </a:t>
            </a:r>
            <a:r>
              <a:rPr lang="en-US" sz="700" dirty="0">
                <a:solidFill>
                  <a:srgbClr val="46606E"/>
                </a:solidFill>
                <a:latin typeface="IBM Plex Sans" pitchFamily="34" charset="0"/>
                <a:ea typeface="IBM Plex Sans" pitchFamily="34" charset="-122"/>
                <a:cs typeface="IBM Plex Sans" pitchFamily="34" charset="-120"/>
              </a:rPr>
              <a:t>4   </a:t>
            </a:r>
            <a:r>
              <a:rPr lang="en-US" sz="840" b="1" dirty="0">
                <a:solidFill>
                  <a:srgbClr val="46606E"/>
                </a:solidFill>
                <a:latin typeface="IBM Plex Sans" pitchFamily="34" charset="0"/>
                <a:ea typeface="IBM Plex Sans" pitchFamily="34" charset="-122"/>
                <a:cs typeface="IBM Plex Sans" pitchFamily="34" charset="-120"/>
              </a:rPr>
              <a:t>9</a:t>
            </a:r>
            <a:endParaRPr lang="en-US" sz="840" dirty="0"/>
          </a:p>
        </p:txBody>
      </p:sp>
      <p:sp>
        <p:nvSpPr>
          <p:cNvPr id="6" name="Text 4"/>
          <p:cNvSpPr/>
          <p:nvPr/>
        </p:nvSpPr>
        <p:spPr>
          <a:xfrm>
            <a:off x="828000" y="1872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11   </a:t>
            </a:r>
            <a:r>
              <a:rPr lang="en-US" sz="840" b="1" dirty="0">
                <a:solidFill>
                  <a:srgbClr val="46606E"/>
                </a:solidFill>
                <a:latin typeface="IBM Plex Sans" pitchFamily="34" charset="0"/>
                <a:ea typeface="IBM Plex Sans" pitchFamily="34" charset="-122"/>
                <a:cs typeface="IBM Plex Sans" pitchFamily="34" charset="-120"/>
              </a:rPr>
              <a:t>Champagne Dekeyne   </a:t>
            </a:r>
            <a:r>
              <a:rPr lang="en-US" sz="700" dirty="0">
                <a:solidFill>
                  <a:srgbClr val="A8515F"/>
                </a:solidFill>
                <a:latin typeface="IBM Plex Sans" pitchFamily="34" charset="0"/>
                <a:ea typeface="IBM Plex Sans" pitchFamily="34" charset="-122"/>
                <a:cs typeface="IBM Plex Sans" pitchFamily="34" charset="-120"/>
              </a:rPr>
              <a:t>Champagne   </a:t>
            </a:r>
            <a:r>
              <a:rPr lang="en-US" sz="700" dirty="0">
                <a:solidFill>
                  <a:srgbClr val="46606E"/>
                </a:solidFill>
                <a:latin typeface="IBM Plex Sans" pitchFamily="34" charset="0"/>
                <a:ea typeface="IBM Plex Sans" pitchFamily="34" charset="-122"/>
                <a:cs typeface="IBM Plex Sans" pitchFamily="34" charset="-120"/>
              </a:rPr>
              <a:t>4   </a:t>
            </a:r>
            <a:r>
              <a:rPr lang="en-US" sz="840" b="1" dirty="0">
                <a:solidFill>
                  <a:srgbClr val="46606E"/>
                </a:solidFill>
                <a:latin typeface="IBM Plex Sans" pitchFamily="34" charset="0"/>
                <a:ea typeface="IBM Plex Sans" pitchFamily="34" charset="-122"/>
                <a:cs typeface="IBM Plex Sans" pitchFamily="34" charset="-120"/>
              </a:rPr>
              <a:t>42</a:t>
            </a:r>
            <a:endParaRPr lang="en-US" sz="840" dirty="0"/>
          </a:p>
        </p:txBody>
      </p:sp>
      <p:sp>
        <p:nvSpPr>
          <p:cNvPr id="7" name="Text 5"/>
          <p:cNvSpPr/>
          <p:nvPr/>
        </p:nvSpPr>
        <p:spPr>
          <a:xfrm>
            <a:off x="828000" y="2160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   </a:t>
            </a:r>
            <a:r>
              <a:rPr lang="en-US" sz="840" b="1" dirty="0">
                <a:solidFill>
                  <a:srgbClr val="46606E"/>
                </a:solidFill>
                <a:latin typeface="IBM Plex Sans" pitchFamily="34" charset="0"/>
                <a:ea typeface="IBM Plex Sans" pitchFamily="34" charset="-122"/>
                <a:cs typeface="IBM Plex Sans" pitchFamily="34" charset="-120"/>
              </a:rPr>
              <a:t>Champagne Denis Frézier   </a:t>
            </a:r>
            <a:r>
              <a:rPr lang="en-US" sz="700" dirty="0">
                <a:solidFill>
                  <a:srgbClr val="A8515F"/>
                </a:solidFill>
                <a:latin typeface="IBM Plex Sans" pitchFamily="34" charset="0"/>
                <a:ea typeface="IBM Plex Sans" pitchFamily="34" charset="-122"/>
                <a:cs typeface="IBM Plex Sans" pitchFamily="34" charset="-120"/>
              </a:rPr>
              <a:t>Champagne   </a:t>
            </a:r>
            <a:r>
              <a:rPr lang="en-US" sz="700" dirty="0">
                <a:solidFill>
                  <a:srgbClr val="46606E"/>
                </a:solidFill>
                <a:latin typeface="IBM Plex Sans" pitchFamily="34" charset="0"/>
                <a:ea typeface="IBM Plex Sans" pitchFamily="34" charset="-122"/>
                <a:cs typeface="IBM Plex Sans" pitchFamily="34" charset="-120"/>
              </a:rPr>
              <a:t>5   </a:t>
            </a:r>
            <a:r>
              <a:rPr lang="en-US" sz="840" b="1" dirty="0">
                <a:solidFill>
                  <a:srgbClr val="46606E"/>
                </a:solidFill>
                <a:latin typeface="IBM Plex Sans" pitchFamily="34" charset="0"/>
                <a:ea typeface="IBM Plex Sans" pitchFamily="34" charset="-122"/>
                <a:cs typeface="IBM Plex Sans" pitchFamily="34" charset="-120"/>
              </a:rPr>
              <a:t>43</a:t>
            </a:r>
            <a:endParaRPr lang="en-US" sz="840" dirty="0"/>
          </a:p>
        </p:txBody>
      </p:sp>
      <p:sp>
        <p:nvSpPr>
          <p:cNvPr id="8" name="Text 6"/>
          <p:cNvSpPr/>
          <p:nvPr/>
        </p:nvSpPr>
        <p:spPr>
          <a:xfrm>
            <a:off x="828000" y="2448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23   </a:t>
            </a:r>
            <a:r>
              <a:rPr lang="en-US" sz="840" b="1" dirty="0">
                <a:solidFill>
                  <a:srgbClr val="46606E"/>
                </a:solidFill>
                <a:latin typeface="IBM Plex Sans" pitchFamily="34" charset="0"/>
                <a:ea typeface="IBM Plex Sans" pitchFamily="34" charset="-122"/>
                <a:cs typeface="IBM Plex Sans" pitchFamily="34" charset="-120"/>
              </a:rPr>
              <a:t>Champagne Solemme   </a:t>
            </a:r>
            <a:r>
              <a:rPr lang="en-US" sz="700" dirty="0">
                <a:solidFill>
                  <a:srgbClr val="A8515F"/>
                </a:solidFill>
                <a:latin typeface="IBM Plex Sans" pitchFamily="34" charset="0"/>
                <a:ea typeface="IBM Plex Sans" pitchFamily="34" charset="-122"/>
                <a:cs typeface="IBM Plex Sans" pitchFamily="34" charset="-120"/>
              </a:rPr>
              <a:t>Champagne   </a:t>
            </a:r>
            <a:r>
              <a:rPr lang="en-US" sz="700" dirty="0">
                <a:solidFill>
                  <a:srgbClr val="46606E"/>
                </a:solidFill>
                <a:latin typeface="IBM Plex Sans" pitchFamily="34" charset="0"/>
                <a:ea typeface="IBM Plex Sans" pitchFamily="34" charset="-122"/>
                <a:cs typeface="IBM Plex Sans" pitchFamily="34" charset="-120"/>
              </a:rPr>
              <a:t>6   </a:t>
            </a:r>
            <a:r>
              <a:rPr lang="en-US" sz="840" b="1" dirty="0">
                <a:solidFill>
                  <a:srgbClr val="46606E"/>
                </a:solidFill>
                <a:latin typeface="IBM Plex Sans" pitchFamily="34" charset="0"/>
                <a:ea typeface="IBM Plex Sans" pitchFamily="34" charset="-122"/>
                <a:cs typeface="IBM Plex Sans" pitchFamily="34" charset="-120"/>
              </a:rPr>
              <a:t>44</a:t>
            </a:r>
            <a:endParaRPr lang="en-US" sz="840" dirty="0"/>
          </a:p>
        </p:txBody>
      </p:sp>
      <p:sp>
        <p:nvSpPr>
          <p:cNvPr id="9" name="Text 7"/>
          <p:cNvSpPr/>
          <p:nvPr/>
        </p:nvSpPr>
        <p:spPr>
          <a:xfrm>
            <a:off x="828000" y="2736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   </a:t>
            </a:r>
            <a:r>
              <a:rPr lang="en-US" sz="840" b="1" dirty="0">
                <a:solidFill>
                  <a:srgbClr val="46606E"/>
                </a:solidFill>
                <a:latin typeface="IBM Plex Sans" pitchFamily="34" charset="0"/>
                <a:ea typeface="IBM Plex Sans" pitchFamily="34" charset="-122"/>
                <a:cs typeface="IBM Plex Sans" pitchFamily="34" charset="-120"/>
              </a:rPr>
              <a:t>Château Balac   </a:t>
            </a:r>
            <a:r>
              <a:rPr lang="en-US" sz="700" dirty="0">
                <a:solidFill>
                  <a:srgbClr val="A8515F"/>
                </a:solidFill>
                <a:latin typeface="IBM Plex Sans" pitchFamily="34" charset="0"/>
                <a:ea typeface="IBM Plex Sans" pitchFamily="34" charset="-122"/>
                <a:cs typeface="IBM Plex Sans" pitchFamily="34" charset="-120"/>
              </a:rPr>
              <a:t>Bordeaux   </a:t>
            </a:r>
            <a:r>
              <a:rPr lang="en-US" sz="700" dirty="0">
                <a:solidFill>
                  <a:srgbClr val="46606E"/>
                </a:solidFill>
                <a:latin typeface="IBM Plex Sans" pitchFamily="34" charset="0"/>
                <a:ea typeface="IBM Plex Sans" pitchFamily="34" charset="-122"/>
                <a:cs typeface="IBM Plex Sans" pitchFamily="34" charset="-120"/>
              </a:rPr>
              <a:t>4   </a:t>
            </a:r>
            <a:r>
              <a:rPr lang="en-US" sz="840" b="1" dirty="0">
                <a:solidFill>
                  <a:srgbClr val="46606E"/>
                </a:solidFill>
                <a:latin typeface="IBM Plex Sans" pitchFamily="34" charset="0"/>
                <a:ea typeface="IBM Plex Sans" pitchFamily="34" charset="-122"/>
                <a:cs typeface="IBM Plex Sans" pitchFamily="34" charset="-120"/>
              </a:rPr>
              <a:t>33</a:t>
            </a:r>
            <a:endParaRPr lang="en-US" sz="840" dirty="0"/>
          </a:p>
        </p:txBody>
      </p:sp>
      <p:sp>
        <p:nvSpPr>
          <p:cNvPr id="10" name="Text 8"/>
          <p:cNvSpPr/>
          <p:nvPr/>
        </p:nvSpPr>
        <p:spPr>
          <a:xfrm>
            <a:off x="828000" y="3024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13   </a:t>
            </a:r>
            <a:r>
              <a:rPr lang="en-US" sz="840" b="1" dirty="0">
                <a:solidFill>
                  <a:srgbClr val="46606E"/>
                </a:solidFill>
                <a:latin typeface="IBM Plex Sans" pitchFamily="34" charset="0"/>
                <a:ea typeface="IBM Plex Sans" pitchFamily="34" charset="-122"/>
                <a:cs typeface="IBM Plex Sans" pitchFamily="34" charset="-120"/>
              </a:rPr>
              <a:t>Château de Gragnos   </a:t>
            </a:r>
            <a:r>
              <a:rPr lang="en-US" sz="700" dirty="0">
                <a:solidFill>
                  <a:srgbClr val="A8515F"/>
                </a:solidFill>
                <a:latin typeface="IBM Plex Sans" pitchFamily="34" charset="0"/>
                <a:ea typeface="IBM Plex Sans" pitchFamily="34" charset="-122"/>
                <a:cs typeface="IBM Plex Sans" pitchFamily="34" charset="-120"/>
              </a:rPr>
              <a:t>Languedoc   </a:t>
            </a:r>
            <a:r>
              <a:rPr lang="en-US" sz="700" dirty="0">
                <a:solidFill>
                  <a:srgbClr val="46606E"/>
                </a:solidFill>
                <a:latin typeface="IBM Plex Sans" pitchFamily="34" charset="0"/>
                <a:ea typeface="IBM Plex Sans" pitchFamily="34" charset="-122"/>
                <a:cs typeface="IBM Plex Sans" pitchFamily="34" charset="-120"/>
              </a:rPr>
              <a:t>5   </a:t>
            </a:r>
            <a:r>
              <a:rPr lang="en-US" sz="840" b="1" dirty="0">
                <a:solidFill>
                  <a:srgbClr val="46606E"/>
                </a:solidFill>
                <a:latin typeface="IBM Plex Sans" pitchFamily="34" charset="0"/>
                <a:ea typeface="IBM Plex Sans" pitchFamily="34" charset="-122"/>
                <a:cs typeface="IBM Plex Sans" pitchFamily="34" charset="-120"/>
              </a:rPr>
              <a:t>39</a:t>
            </a:r>
            <a:endParaRPr lang="en-US" sz="840" dirty="0"/>
          </a:p>
        </p:txBody>
      </p:sp>
      <p:sp>
        <p:nvSpPr>
          <p:cNvPr id="11" name="Text 9"/>
          <p:cNvSpPr/>
          <p:nvPr/>
        </p:nvSpPr>
        <p:spPr>
          <a:xfrm>
            <a:off x="828000" y="3312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26   </a:t>
            </a:r>
            <a:r>
              <a:rPr lang="en-US" sz="840" b="1" dirty="0">
                <a:solidFill>
                  <a:srgbClr val="46606E"/>
                </a:solidFill>
                <a:latin typeface="IBM Plex Sans" pitchFamily="34" charset="0"/>
                <a:ea typeface="IBM Plex Sans" pitchFamily="34" charset="-122"/>
                <a:cs typeface="IBM Plex Sans" pitchFamily="34" charset="-120"/>
              </a:rPr>
              <a:t>Château du Cray   </a:t>
            </a:r>
            <a:r>
              <a:rPr lang="en-US" sz="700" dirty="0">
                <a:solidFill>
                  <a:srgbClr val="A8515F"/>
                </a:solidFill>
                <a:latin typeface="IBM Plex Sans" pitchFamily="34" charset="0"/>
                <a:ea typeface="IBM Plex Sans" pitchFamily="34" charset="-122"/>
                <a:cs typeface="IBM Plex Sans" pitchFamily="34" charset="-120"/>
              </a:rPr>
              <a:t>Bourgogne   </a:t>
            </a:r>
            <a:r>
              <a:rPr lang="en-US" sz="700" dirty="0">
                <a:solidFill>
                  <a:srgbClr val="46606E"/>
                </a:solidFill>
                <a:latin typeface="IBM Plex Sans" pitchFamily="34" charset="0"/>
                <a:ea typeface="IBM Plex Sans" pitchFamily="34" charset="-122"/>
                <a:cs typeface="IBM Plex Sans" pitchFamily="34" charset="-120"/>
              </a:rPr>
              <a:t>1   </a:t>
            </a:r>
            <a:r>
              <a:rPr lang="en-US" sz="840" b="1" dirty="0">
                <a:solidFill>
                  <a:srgbClr val="46606E"/>
                </a:solidFill>
                <a:latin typeface="IBM Plex Sans" pitchFamily="34" charset="0"/>
                <a:ea typeface="IBM Plex Sans" pitchFamily="34" charset="-122"/>
                <a:cs typeface="IBM Plex Sans" pitchFamily="34" charset="-120"/>
              </a:rPr>
              <a:t>17</a:t>
            </a:r>
            <a:endParaRPr lang="en-US" sz="840" dirty="0"/>
          </a:p>
        </p:txBody>
      </p:sp>
      <p:sp>
        <p:nvSpPr>
          <p:cNvPr id="12" name="Text 10"/>
          <p:cNvSpPr/>
          <p:nvPr/>
        </p:nvSpPr>
        <p:spPr>
          <a:xfrm>
            <a:off x="828000" y="3600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8   </a:t>
            </a:r>
            <a:r>
              <a:rPr lang="en-US" sz="840" b="1" dirty="0">
                <a:solidFill>
                  <a:srgbClr val="46606E"/>
                </a:solidFill>
                <a:latin typeface="IBM Plex Sans" pitchFamily="34" charset="0"/>
                <a:ea typeface="IBM Plex Sans" pitchFamily="34" charset="-122"/>
                <a:cs typeface="IBM Plex Sans" pitchFamily="34" charset="-120"/>
              </a:rPr>
              <a:t>Château Falfas   </a:t>
            </a:r>
            <a:r>
              <a:rPr lang="en-US" sz="700" dirty="0">
                <a:solidFill>
                  <a:srgbClr val="A8515F"/>
                </a:solidFill>
                <a:latin typeface="IBM Plex Sans" pitchFamily="34" charset="0"/>
                <a:ea typeface="IBM Plex Sans" pitchFamily="34" charset="-122"/>
                <a:cs typeface="IBM Plex Sans" pitchFamily="34" charset="-120"/>
              </a:rPr>
              <a:t>Bordeaux   </a:t>
            </a:r>
            <a:r>
              <a:rPr lang="en-US" sz="700" dirty="0">
                <a:solidFill>
                  <a:srgbClr val="46606E"/>
                </a:solidFill>
                <a:latin typeface="IBM Plex Sans" pitchFamily="34" charset="0"/>
                <a:ea typeface="IBM Plex Sans" pitchFamily="34" charset="-122"/>
                <a:cs typeface="IBM Plex Sans" pitchFamily="34" charset="-120"/>
              </a:rPr>
              <a:t>7   </a:t>
            </a:r>
            <a:r>
              <a:rPr lang="en-US" sz="840" b="1" dirty="0">
                <a:solidFill>
                  <a:srgbClr val="46606E"/>
                </a:solidFill>
                <a:latin typeface="IBM Plex Sans" pitchFamily="34" charset="0"/>
                <a:ea typeface="IBM Plex Sans" pitchFamily="34" charset="-122"/>
                <a:cs typeface="IBM Plex Sans" pitchFamily="34" charset="-120"/>
              </a:rPr>
              <a:t>31</a:t>
            </a:r>
            <a:endParaRPr lang="en-US" sz="840" dirty="0"/>
          </a:p>
        </p:txBody>
      </p:sp>
      <p:sp>
        <p:nvSpPr>
          <p:cNvPr id="13" name="Text 11"/>
          <p:cNvSpPr/>
          <p:nvPr/>
        </p:nvSpPr>
        <p:spPr>
          <a:xfrm>
            <a:off x="828000" y="3888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24   </a:t>
            </a:r>
            <a:r>
              <a:rPr lang="en-US" sz="840" b="1" dirty="0">
                <a:solidFill>
                  <a:srgbClr val="46606E"/>
                </a:solidFill>
                <a:latin typeface="IBM Plex Sans" pitchFamily="34" charset="0"/>
                <a:ea typeface="IBM Plex Sans" pitchFamily="34" charset="-122"/>
                <a:cs typeface="IBM Plex Sans" pitchFamily="34" charset="-120"/>
              </a:rPr>
              <a:t>Château l’Escarderie   </a:t>
            </a:r>
            <a:r>
              <a:rPr lang="en-US" sz="700" dirty="0">
                <a:solidFill>
                  <a:srgbClr val="A8515F"/>
                </a:solidFill>
                <a:latin typeface="IBM Plex Sans" pitchFamily="34" charset="0"/>
                <a:ea typeface="IBM Plex Sans" pitchFamily="34" charset="-122"/>
                <a:cs typeface="IBM Plex Sans" pitchFamily="34" charset="-120"/>
              </a:rPr>
              <a:t>Bordeaux   </a:t>
            </a:r>
            <a:r>
              <a:rPr lang="en-US" sz="700" dirty="0">
                <a:solidFill>
                  <a:srgbClr val="46606E"/>
                </a:solidFill>
                <a:latin typeface="IBM Plex Sans" pitchFamily="34" charset="0"/>
                <a:ea typeface="IBM Plex Sans" pitchFamily="34" charset="-122"/>
                <a:cs typeface="IBM Plex Sans" pitchFamily="34" charset="-120"/>
              </a:rPr>
              <a:t>3   </a:t>
            </a:r>
            <a:r>
              <a:rPr lang="en-US" sz="840" b="1" dirty="0">
                <a:solidFill>
                  <a:srgbClr val="46606E"/>
                </a:solidFill>
                <a:latin typeface="IBM Plex Sans" pitchFamily="34" charset="0"/>
                <a:ea typeface="IBM Plex Sans" pitchFamily="34" charset="-122"/>
                <a:cs typeface="IBM Plex Sans" pitchFamily="34" charset="-120"/>
              </a:rPr>
              <a:t>34</a:t>
            </a:r>
            <a:endParaRPr lang="en-US" sz="840" dirty="0"/>
          </a:p>
        </p:txBody>
      </p:sp>
      <p:sp>
        <p:nvSpPr>
          <p:cNvPr id="14" name="Text 12"/>
          <p:cNvSpPr/>
          <p:nvPr/>
        </p:nvSpPr>
        <p:spPr>
          <a:xfrm>
            <a:off x="828000" y="4176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16   </a:t>
            </a:r>
            <a:r>
              <a:rPr lang="en-US" sz="840" b="1" dirty="0">
                <a:solidFill>
                  <a:srgbClr val="46606E"/>
                </a:solidFill>
                <a:latin typeface="IBM Plex Sans" pitchFamily="34" charset="0"/>
                <a:ea typeface="IBM Plex Sans" pitchFamily="34" charset="-122"/>
                <a:cs typeface="IBM Plex Sans" pitchFamily="34" charset="-120"/>
              </a:rPr>
              <a:t>Château Pré la Lande   </a:t>
            </a:r>
            <a:r>
              <a:rPr lang="en-US" sz="700" dirty="0">
                <a:solidFill>
                  <a:srgbClr val="A8515F"/>
                </a:solidFill>
                <a:latin typeface="IBM Plex Sans" pitchFamily="34" charset="0"/>
                <a:ea typeface="IBM Plex Sans" pitchFamily="34" charset="-122"/>
                <a:cs typeface="IBM Plex Sans" pitchFamily="34" charset="-120"/>
              </a:rPr>
              <a:t>Bordeaux   </a:t>
            </a:r>
            <a:r>
              <a:rPr lang="en-US" sz="700" dirty="0">
                <a:solidFill>
                  <a:srgbClr val="46606E"/>
                </a:solidFill>
                <a:latin typeface="IBM Plex Sans" pitchFamily="34" charset="0"/>
                <a:ea typeface="IBM Plex Sans" pitchFamily="34" charset="-122"/>
                <a:cs typeface="IBM Plex Sans" pitchFamily="34" charset="-120"/>
              </a:rPr>
              <a:t>3   </a:t>
            </a:r>
            <a:r>
              <a:rPr lang="en-US" sz="840" b="1" dirty="0">
                <a:solidFill>
                  <a:srgbClr val="46606E"/>
                </a:solidFill>
                <a:latin typeface="IBM Plex Sans" pitchFamily="34" charset="0"/>
                <a:ea typeface="IBM Plex Sans" pitchFamily="34" charset="-122"/>
                <a:cs typeface="IBM Plex Sans" pitchFamily="34" charset="-120"/>
              </a:rPr>
              <a:t>32</a:t>
            </a:r>
            <a:endParaRPr lang="en-US" sz="840" dirty="0"/>
          </a:p>
        </p:txBody>
      </p:sp>
      <p:sp>
        <p:nvSpPr>
          <p:cNvPr id="15" name="Text 13"/>
          <p:cNvSpPr/>
          <p:nvPr/>
        </p:nvSpPr>
        <p:spPr>
          <a:xfrm>
            <a:off x="828000" y="4464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9   </a:t>
            </a:r>
            <a:r>
              <a:rPr lang="en-US" sz="840" b="1" dirty="0">
                <a:solidFill>
                  <a:srgbClr val="46606E"/>
                </a:solidFill>
                <a:latin typeface="IBM Plex Sans" pitchFamily="34" charset="0"/>
                <a:ea typeface="IBM Plex Sans" pitchFamily="34" charset="-122"/>
                <a:cs typeface="IBM Plex Sans" pitchFamily="34" charset="-120"/>
              </a:rPr>
              <a:t>Domaine Boehler   </a:t>
            </a:r>
            <a:r>
              <a:rPr lang="en-US" sz="700" dirty="0">
                <a:solidFill>
                  <a:srgbClr val="A8515F"/>
                </a:solidFill>
                <a:latin typeface="IBM Plex Sans" pitchFamily="34" charset="0"/>
                <a:ea typeface="IBM Plex Sans" pitchFamily="34" charset="-122"/>
                <a:cs typeface="IBM Plex Sans" pitchFamily="34" charset="-120"/>
              </a:rPr>
              <a:t>Alsace   </a:t>
            </a:r>
            <a:r>
              <a:rPr lang="en-US" sz="700" dirty="0">
                <a:solidFill>
                  <a:srgbClr val="46606E"/>
                </a:solidFill>
                <a:latin typeface="IBM Plex Sans" pitchFamily="34" charset="0"/>
                <a:ea typeface="IBM Plex Sans" pitchFamily="34" charset="-122"/>
                <a:cs typeface="IBM Plex Sans" pitchFamily="34" charset="-120"/>
              </a:rPr>
              <a:t>7   </a:t>
            </a:r>
            <a:r>
              <a:rPr lang="en-US" sz="840" b="1" dirty="0">
                <a:solidFill>
                  <a:srgbClr val="46606E"/>
                </a:solidFill>
                <a:latin typeface="IBM Plex Sans" pitchFamily="34" charset="0"/>
                <a:ea typeface="IBM Plex Sans" pitchFamily="34" charset="-122"/>
                <a:cs typeface="IBM Plex Sans" pitchFamily="34" charset="-120"/>
              </a:rPr>
              <a:t>13</a:t>
            </a:r>
            <a:endParaRPr lang="en-US" sz="840" dirty="0"/>
          </a:p>
        </p:txBody>
      </p:sp>
      <p:sp>
        <p:nvSpPr>
          <p:cNvPr id="16" name="Text 14"/>
          <p:cNvSpPr/>
          <p:nvPr/>
        </p:nvSpPr>
        <p:spPr>
          <a:xfrm>
            <a:off x="828000" y="4752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7   </a:t>
            </a:r>
            <a:r>
              <a:rPr lang="en-US" sz="840" b="1" dirty="0">
                <a:solidFill>
                  <a:srgbClr val="46606E"/>
                </a:solidFill>
                <a:latin typeface="IBM Plex Sans" pitchFamily="34" charset="0"/>
                <a:ea typeface="IBM Plex Sans" pitchFamily="34" charset="-122"/>
                <a:cs typeface="IBM Plex Sans" pitchFamily="34" charset="-120"/>
              </a:rPr>
              <a:t>Domaine de Coyeux   </a:t>
            </a:r>
            <a:r>
              <a:rPr lang="en-US" sz="700" dirty="0">
                <a:solidFill>
                  <a:srgbClr val="A8515F"/>
                </a:solidFill>
                <a:latin typeface="IBM Plex Sans" pitchFamily="34" charset="0"/>
                <a:ea typeface="IBM Plex Sans" pitchFamily="34" charset="-122"/>
                <a:cs typeface="IBM Plex Sans" pitchFamily="34" charset="-120"/>
              </a:rPr>
              <a:t>Rhône   </a:t>
            </a:r>
            <a:r>
              <a:rPr lang="en-US" sz="700" dirty="0">
                <a:solidFill>
                  <a:srgbClr val="46606E"/>
                </a:solidFill>
                <a:latin typeface="IBM Plex Sans" pitchFamily="34" charset="0"/>
                <a:ea typeface="IBM Plex Sans" pitchFamily="34" charset="-122"/>
                <a:cs typeface="IBM Plex Sans" pitchFamily="34" charset="-120"/>
              </a:rPr>
              <a:t>4   </a:t>
            </a:r>
            <a:r>
              <a:rPr lang="en-US" sz="840" b="1" dirty="0">
                <a:solidFill>
                  <a:srgbClr val="46606E"/>
                </a:solidFill>
                <a:latin typeface="IBM Plex Sans" pitchFamily="34" charset="0"/>
                <a:ea typeface="IBM Plex Sans" pitchFamily="34" charset="-122"/>
                <a:cs typeface="IBM Plex Sans" pitchFamily="34" charset="-120"/>
              </a:rPr>
              <a:t>22</a:t>
            </a:r>
            <a:endParaRPr lang="en-US" sz="840" dirty="0"/>
          </a:p>
        </p:txBody>
      </p:sp>
      <p:sp>
        <p:nvSpPr>
          <p:cNvPr id="17" name="Text 15"/>
          <p:cNvSpPr/>
          <p:nvPr/>
        </p:nvSpPr>
        <p:spPr>
          <a:xfrm>
            <a:off x="828000" y="5040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22   </a:t>
            </a:r>
            <a:r>
              <a:rPr lang="en-US" sz="840" b="1" dirty="0">
                <a:solidFill>
                  <a:srgbClr val="46606E"/>
                </a:solidFill>
                <a:latin typeface="IBM Plex Sans" pitchFamily="34" charset="0"/>
                <a:ea typeface="IBM Plex Sans" pitchFamily="34" charset="-122"/>
                <a:cs typeface="IBM Plex Sans" pitchFamily="34" charset="-120"/>
              </a:rPr>
              <a:t>Domaine de la Barbinière   </a:t>
            </a:r>
            <a:r>
              <a:rPr lang="en-US" sz="700" dirty="0">
                <a:solidFill>
                  <a:srgbClr val="A8515F"/>
                </a:solidFill>
                <a:latin typeface="IBM Plex Sans" pitchFamily="34" charset="0"/>
                <a:ea typeface="IBM Plex Sans" pitchFamily="34" charset="-122"/>
                <a:cs typeface="IBM Plex Sans" pitchFamily="34" charset="-120"/>
              </a:rPr>
              <a:t>Loire   </a:t>
            </a:r>
            <a:r>
              <a:rPr lang="en-US" sz="700" dirty="0">
                <a:solidFill>
                  <a:srgbClr val="46606E"/>
                </a:solidFill>
                <a:latin typeface="IBM Plex Sans" pitchFamily="34" charset="0"/>
                <a:ea typeface="IBM Plex Sans" pitchFamily="34" charset="-122"/>
                <a:cs typeface="IBM Plex Sans" pitchFamily="34" charset="-120"/>
              </a:rPr>
              <a:t>7   </a:t>
            </a:r>
            <a:r>
              <a:rPr lang="en-US" sz="840" b="1" dirty="0">
                <a:solidFill>
                  <a:srgbClr val="46606E"/>
                </a:solidFill>
                <a:latin typeface="IBM Plex Sans" pitchFamily="34" charset="0"/>
                <a:ea typeface="IBM Plex Sans" pitchFamily="34" charset="-122"/>
                <a:cs typeface="IBM Plex Sans" pitchFamily="34" charset="-120"/>
              </a:rPr>
              <a:t>6</a:t>
            </a:r>
            <a:endParaRPr lang="en-US" sz="840" dirty="0"/>
          </a:p>
        </p:txBody>
      </p:sp>
      <p:sp>
        <p:nvSpPr>
          <p:cNvPr id="18" name="Text 16"/>
          <p:cNvSpPr/>
          <p:nvPr/>
        </p:nvSpPr>
        <p:spPr>
          <a:xfrm>
            <a:off x="828000" y="5328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7   </a:t>
            </a:r>
            <a:r>
              <a:rPr lang="en-US" sz="840" b="1" dirty="0">
                <a:solidFill>
                  <a:srgbClr val="46606E"/>
                </a:solidFill>
                <a:latin typeface="IBM Plex Sans" pitchFamily="34" charset="0"/>
                <a:ea typeface="IBM Plex Sans" pitchFamily="34" charset="-122"/>
                <a:cs typeface="IBM Plex Sans" pitchFamily="34" charset="-120"/>
              </a:rPr>
              <a:t>Domaine de la Pousterle   </a:t>
            </a:r>
            <a:r>
              <a:rPr lang="en-US" sz="700" dirty="0">
                <a:solidFill>
                  <a:srgbClr val="A8515F"/>
                </a:solidFill>
                <a:latin typeface="IBM Plex Sans" pitchFamily="34" charset="0"/>
                <a:ea typeface="IBM Plex Sans" pitchFamily="34" charset="-122"/>
                <a:cs typeface="IBM Plex Sans" pitchFamily="34" charset="-120"/>
              </a:rPr>
              <a:t>Rhône   </a:t>
            </a:r>
            <a:r>
              <a:rPr lang="en-US" sz="700" dirty="0">
                <a:solidFill>
                  <a:srgbClr val="46606E"/>
                </a:solidFill>
                <a:latin typeface="IBM Plex Sans" pitchFamily="34" charset="0"/>
                <a:ea typeface="IBM Plex Sans" pitchFamily="34" charset="-122"/>
                <a:cs typeface="IBM Plex Sans" pitchFamily="34" charset="-120"/>
              </a:rPr>
              <a:t>3   </a:t>
            </a:r>
            <a:r>
              <a:rPr lang="en-US" sz="840" b="1" dirty="0">
                <a:solidFill>
                  <a:srgbClr val="46606E"/>
                </a:solidFill>
                <a:latin typeface="IBM Plex Sans" pitchFamily="34" charset="0"/>
                <a:ea typeface="IBM Plex Sans" pitchFamily="34" charset="-122"/>
                <a:cs typeface="IBM Plex Sans" pitchFamily="34" charset="-120"/>
              </a:rPr>
              <a:t>24</a:t>
            </a:r>
            <a:endParaRPr lang="en-US" sz="840" dirty="0"/>
          </a:p>
        </p:txBody>
      </p:sp>
      <p:sp>
        <p:nvSpPr>
          <p:cNvPr id="19" name="Text 17"/>
          <p:cNvSpPr/>
          <p:nvPr/>
        </p:nvSpPr>
        <p:spPr>
          <a:xfrm>
            <a:off x="828000" y="5616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14   </a:t>
            </a:r>
            <a:r>
              <a:rPr lang="en-US" sz="840" b="1" dirty="0">
                <a:solidFill>
                  <a:srgbClr val="46606E"/>
                </a:solidFill>
                <a:latin typeface="IBM Plex Sans" pitchFamily="34" charset="0"/>
                <a:ea typeface="IBM Plex Sans" pitchFamily="34" charset="-122"/>
                <a:cs typeface="IBM Plex Sans" pitchFamily="34" charset="-120"/>
              </a:rPr>
              <a:t>Domaine des Noëls   </a:t>
            </a:r>
            <a:r>
              <a:rPr lang="en-US" sz="700" dirty="0">
                <a:solidFill>
                  <a:srgbClr val="A8515F"/>
                </a:solidFill>
                <a:latin typeface="IBM Plex Sans" pitchFamily="34" charset="0"/>
                <a:ea typeface="IBM Plex Sans" pitchFamily="34" charset="-122"/>
                <a:cs typeface="IBM Plex Sans" pitchFamily="34" charset="-120"/>
              </a:rPr>
              <a:t>Loire   </a:t>
            </a:r>
            <a:r>
              <a:rPr lang="en-US" sz="700" dirty="0">
                <a:solidFill>
                  <a:srgbClr val="46606E"/>
                </a:solidFill>
                <a:latin typeface="IBM Plex Sans" pitchFamily="34" charset="0"/>
                <a:ea typeface="IBM Plex Sans" pitchFamily="34" charset="-122"/>
                <a:cs typeface="IBM Plex Sans" pitchFamily="34" charset="-120"/>
              </a:rPr>
              <a:t>7   </a:t>
            </a:r>
            <a:r>
              <a:rPr lang="en-US" sz="840" b="1" dirty="0">
                <a:solidFill>
                  <a:srgbClr val="46606E"/>
                </a:solidFill>
                <a:latin typeface="IBM Plex Sans" pitchFamily="34" charset="0"/>
                <a:ea typeface="IBM Plex Sans" pitchFamily="34" charset="-122"/>
                <a:cs typeface="IBM Plex Sans" pitchFamily="34" charset="-120"/>
              </a:rPr>
              <a:t>8</a:t>
            </a:r>
            <a:endParaRPr lang="en-US" sz="840" dirty="0"/>
          </a:p>
        </p:txBody>
      </p:sp>
      <p:sp>
        <p:nvSpPr>
          <p:cNvPr id="20" name="Text 18"/>
          <p:cNvSpPr/>
          <p:nvPr/>
        </p:nvSpPr>
        <p:spPr>
          <a:xfrm>
            <a:off x="3888000" y="1296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5   </a:t>
            </a:r>
            <a:r>
              <a:rPr lang="en-US" sz="840" b="1" dirty="0">
                <a:solidFill>
                  <a:srgbClr val="46606E"/>
                </a:solidFill>
                <a:latin typeface="IBM Plex Sans" pitchFamily="34" charset="0"/>
                <a:ea typeface="IBM Plex Sans" pitchFamily="34" charset="-122"/>
                <a:cs typeface="IBM Plex Sans" pitchFamily="34" charset="-120"/>
              </a:rPr>
              <a:t>Domaine des Verchères   </a:t>
            </a:r>
            <a:r>
              <a:rPr lang="en-US" sz="700" dirty="0">
                <a:solidFill>
                  <a:srgbClr val="A8515F"/>
                </a:solidFill>
                <a:latin typeface="IBM Plex Sans" pitchFamily="34" charset="0"/>
                <a:ea typeface="IBM Plex Sans" pitchFamily="34" charset="-122"/>
                <a:cs typeface="IBM Plex Sans" pitchFamily="34" charset="-120"/>
              </a:rPr>
              <a:t>Bourgogne   </a:t>
            </a:r>
            <a:r>
              <a:rPr lang="en-US" sz="700" dirty="0">
                <a:solidFill>
                  <a:srgbClr val="46606E"/>
                </a:solidFill>
                <a:latin typeface="IBM Plex Sans" pitchFamily="34" charset="0"/>
                <a:ea typeface="IBM Plex Sans" pitchFamily="34" charset="-122"/>
                <a:cs typeface="IBM Plex Sans" pitchFamily="34" charset="-120"/>
              </a:rPr>
              <a:t>5   </a:t>
            </a:r>
            <a:r>
              <a:rPr lang="en-US" sz="840" b="1" dirty="0">
                <a:solidFill>
                  <a:srgbClr val="46606E"/>
                </a:solidFill>
                <a:latin typeface="IBM Plex Sans" pitchFamily="34" charset="0"/>
                <a:ea typeface="IBM Plex Sans" pitchFamily="34" charset="-122"/>
                <a:cs typeface="IBM Plex Sans" pitchFamily="34" charset="-120"/>
              </a:rPr>
              <a:t>19</a:t>
            </a:r>
            <a:endParaRPr lang="en-US" sz="840" dirty="0"/>
          </a:p>
        </p:txBody>
      </p:sp>
      <p:sp>
        <p:nvSpPr>
          <p:cNvPr id="21" name="Text 19"/>
          <p:cNvSpPr/>
          <p:nvPr/>
        </p:nvSpPr>
        <p:spPr>
          <a:xfrm>
            <a:off x="3888000" y="1584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4   </a:t>
            </a:r>
            <a:r>
              <a:rPr lang="en-US" sz="840" b="1" dirty="0">
                <a:solidFill>
                  <a:srgbClr val="46606E"/>
                </a:solidFill>
                <a:latin typeface="IBM Plex Sans" pitchFamily="34" charset="0"/>
                <a:ea typeface="IBM Plex Sans" pitchFamily="34" charset="-122"/>
                <a:cs typeface="IBM Plex Sans" pitchFamily="34" charset="-120"/>
              </a:rPr>
              <a:t>Domaine du Colombier / J.Y Bretaudeau   </a:t>
            </a:r>
            <a:r>
              <a:rPr lang="en-US" sz="700" dirty="0">
                <a:solidFill>
                  <a:srgbClr val="A8515F"/>
                </a:solidFill>
                <a:latin typeface="IBM Plex Sans" pitchFamily="34" charset="0"/>
                <a:ea typeface="IBM Plex Sans" pitchFamily="34" charset="-122"/>
                <a:cs typeface="IBM Plex Sans" pitchFamily="34" charset="-120"/>
              </a:rPr>
              <a:t>Loire   </a:t>
            </a:r>
            <a:r>
              <a:rPr lang="en-US" sz="700" dirty="0">
                <a:solidFill>
                  <a:srgbClr val="46606E"/>
                </a:solidFill>
                <a:latin typeface="IBM Plex Sans" pitchFamily="34" charset="0"/>
                <a:ea typeface="IBM Plex Sans" pitchFamily="34" charset="-122"/>
                <a:cs typeface="IBM Plex Sans" pitchFamily="34" charset="-120"/>
              </a:rPr>
              <a:t>7   </a:t>
            </a:r>
            <a:r>
              <a:rPr lang="en-US" sz="840" b="1" dirty="0">
                <a:solidFill>
                  <a:srgbClr val="46606E"/>
                </a:solidFill>
                <a:latin typeface="IBM Plex Sans" pitchFamily="34" charset="0"/>
                <a:ea typeface="IBM Plex Sans" pitchFamily="34" charset="-122"/>
                <a:cs typeface="IBM Plex Sans" pitchFamily="34" charset="-120"/>
              </a:rPr>
              <a:t>7</a:t>
            </a:r>
            <a:endParaRPr lang="en-US" sz="840" dirty="0"/>
          </a:p>
        </p:txBody>
      </p:sp>
      <p:sp>
        <p:nvSpPr>
          <p:cNvPr id="22" name="Text 20"/>
          <p:cNvSpPr/>
          <p:nvPr/>
        </p:nvSpPr>
        <p:spPr>
          <a:xfrm>
            <a:off x="3888000" y="1872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7   </a:t>
            </a:r>
            <a:r>
              <a:rPr lang="en-US" sz="840" b="1" dirty="0">
                <a:solidFill>
                  <a:srgbClr val="46606E"/>
                </a:solidFill>
                <a:latin typeface="IBM Plex Sans" pitchFamily="34" charset="0"/>
                <a:ea typeface="IBM Plex Sans" pitchFamily="34" charset="-122"/>
                <a:cs typeface="IBM Plex Sans" pitchFamily="34" charset="-120"/>
              </a:rPr>
              <a:t>Domaine du Moulin Blanc   </a:t>
            </a:r>
            <a:r>
              <a:rPr lang="en-US" sz="700" dirty="0">
                <a:solidFill>
                  <a:srgbClr val="A8515F"/>
                </a:solidFill>
                <a:latin typeface="IBM Plex Sans" pitchFamily="34" charset="0"/>
                <a:ea typeface="IBM Plex Sans" pitchFamily="34" charset="-122"/>
                <a:cs typeface="IBM Plex Sans" pitchFamily="34" charset="-120"/>
              </a:rPr>
              <a:t>Rhône   </a:t>
            </a:r>
            <a:r>
              <a:rPr lang="en-US" sz="700" dirty="0">
                <a:solidFill>
                  <a:srgbClr val="46606E"/>
                </a:solidFill>
                <a:latin typeface="IBM Plex Sans" pitchFamily="34" charset="0"/>
                <a:ea typeface="IBM Plex Sans" pitchFamily="34" charset="-122"/>
                <a:cs typeface="IBM Plex Sans" pitchFamily="34" charset="-120"/>
              </a:rPr>
              <a:t>1   </a:t>
            </a:r>
            <a:r>
              <a:rPr lang="en-US" sz="840" b="1" dirty="0">
                <a:solidFill>
                  <a:srgbClr val="46606E"/>
                </a:solidFill>
                <a:latin typeface="IBM Plex Sans" pitchFamily="34" charset="0"/>
                <a:ea typeface="IBM Plex Sans" pitchFamily="34" charset="-122"/>
                <a:cs typeface="IBM Plex Sans" pitchFamily="34" charset="-120"/>
              </a:rPr>
              <a:t>23</a:t>
            </a:r>
            <a:endParaRPr lang="en-US" sz="840" dirty="0"/>
          </a:p>
        </p:txBody>
      </p:sp>
      <p:sp>
        <p:nvSpPr>
          <p:cNvPr id="23" name="Text 21"/>
          <p:cNvSpPr/>
          <p:nvPr/>
        </p:nvSpPr>
        <p:spPr>
          <a:xfrm>
            <a:off x="3888000" y="2160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6   </a:t>
            </a:r>
            <a:r>
              <a:rPr lang="en-US" sz="840" b="1" dirty="0">
                <a:solidFill>
                  <a:srgbClr val="46606E"/>
                </a:solidFill>
                <a:latin typeface="IBM Plex Sans" pitchFamily="34" charset="0"/>
                <a:ea typeface="IBM Plex Sans" pitchFamily="34" charset="-122"/>
                <a:cs typeface="IBM Plex Sans" pitchFamily="34" charset="-120"/>
              </a:rPr>
              <a:t>Domaine Haut Marin   </a:t>
            </a:r>
            <a:r>
              <a:rPr lang="en-US" sz="700" dirty="0">
                <a:solidFill>
                  <a:srgbClr val="A8515F"/>
                </a:solidFill>
                <a:latin typeface="IBM Plex Sans" pitchFamily="34" charset="0"/>
                <a:ea typeface="IBM Plex Sans" pitchFamily="34" charset="-122"/>
                <a:cs typeface="IBM Plex Sans" pitchFamily="34" charset="-120"/>
              </a:rPr>
              <a:t>Sud-Ouest   </a:t>
            </a:r>
            <a:r>
              <a:rPr lang="en-US" sz="700" dirty="0">
                <a:solidFill>
                  <a:srgbClr val="46606E"/>
                </a:solidFill>
                <a:latin typeface="IBM Plex Sans" pitchFamily="34" charset="0"/>
                <a:ea typeface="IBM Plex Sans" pitchFamily="34" charset="-122"/>
                <a:cs typeface="IBM Plex Sans" pitchFamily="34" charset="-120"/>
              </a:rPr>
              <a:t>7   </a:t>
            </a:r>
            <a:r>
              <a:rPr lang="en-US" sz="840" b="1" dirty="0">
                <a:solidFill>
                  <a:srgbClr val="46606E"/>
                </a:solidFill>
                <a:latin typeface="IBM Plex Sans" pitchFamily="34" charset="0"/>
                <a:ea typeface="IBM Plex Sans" pitchFamily="34" charset="-122"/>
                <a:cs typeface="IBM Plex Sans" pitchFamily="34" charset="-120"/>
              </a:rPr>
              <a:t>29</a:t>
            </a:r>
            <a:endParaRPr lang="en-US" sz="840" dirty="0"/>
          </a:p>
        </p:txBody>
      </p:sp>
      <p:sp>
        <p:nvSpPr>
          <p:cNvPr id="24" name="Text 22"/>
          <p:cNvSpPr/>
          <p:nvPr/>
        </p:nvSpPr>
        <p:spPr>
          <a:xfrm>
            <a:off x="3888000" y="2448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17   </a:t>
            </a:r>
            <a:r>
              <a:rPr lang="en-US" sz="840" b="1" dirty="0">
                <a:solidFill>
                  <a:srgbClr val="46606E"/>
                </a:solidFill>
                <a:latin typeface="IBM Plex Sans" pitchFamily="34" charset="0"/>
                <a:ea typeface="IBM Plex Sans" pitchFamily="34" charset="-122"/>
                <a:cs typeface="IBM Plex Sans" pitchFamily="34" charset="-120"/>
              </a:rPr>
              <a:t>Domaine Jean de Villebois   </a:t>
            </a:r>
            <a:r>
              <a:rPr lang="en-US" sz="700" dirty="0">
                <a:solidFill>
                  <a:srgbClr val="A8515F"/>
                </a:solidFill>
                <a:latin typeface="IBM Plex Sans" pitchFamily="34" charset="0"/>
                <a:ea typeface="IBM Plex Sans" pitchFamily="34" charset="-122"/>
                <a:cs typeface="IBM Plex Sans" pitchFamily="34" charset="-120"/>
              </a:rPr>
              <a:t>Loire   </a:t>
            </a:r>
            <a:r>
              <a:rPr lang="en-US" sz="700" dirty="0">
                <a:solidFill>
                  <a:srgbClr val="46606E"/>
                </a:solidFill>
                <a:latin typeface="IBM Plex Sans" pitchFamily="34" charset="0"/>
                <a:ea typeface="IBM Plex Sans" pitchFamily="34" charset="-122"/>
                <a:cs typeface="IBM Plex Sans" pitchFamily="34" charset="-120"/>
              </a:rPr>
              <a:t>12   </a:t>
            </a:r>
            <a:r>
              <a:rPr lang="en-US" sz="840" b="1" dirty="0">
                <a:solidFill>
                  <a:srgbClr val="46606E"/>
                </a:solidFill>
                <a:latin typeface="IBM Plex Sans" pitchFamily="34" charset="0"/>
                <a:ea typeface="IBM Plex Sans" pitchFamily="34" charset="-122"/>
                <a:cs typeface="IBM Plex Sans" pitchFamily="34" charset="-120"/>
              </a:rPr>
              <a:t>10</a:t>
            </a:r>
            <a:endParaRPr lang="en-US" sz="840" dirty="0"/>
          </a:p>
        </p:txBody>
      </p:sp>
      <p:sp>
        <p:nvSpPr>
          <p:cNvPr id="25" name="Text 23"/>
          <p:cNvSpPr/>
          <p:nvPr/>
        </p:nvSpPr>
        <p:spPr>
          <a:xfrm>
            <a:off x="3888000" y="2736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7   </a:t>
            </a:r>
            <a:r>
              <a:rPr lang="en-US" sz="840" b="1" dirty="0">
                <a:solidFill>
                  <a:srgbClr val="46606E"/>
                </a:solidFill>
                <a:latin typeface="IBM Plex Sans" pitchFamily="34" charset="0"/>
                <a:ea typeface="IBM Plex Sans" pitchFamily="34" charset="-122"/>
                <a:cs typeface="IBM Plex Sans" pitchFamily="34" charset="-120"/>
              </a:rPr>
              <a:t>Domaine Le Prieuré des Papes   </a:t>
            </a:r>
            <a:r>
              <a:rPr lang="en-US" sz="700" dirty="0">
                <a:solidFill>
                  <a:srgbClr val="A8515F"/>
                </a:solidFill>
                <a:latin typeface="IBM Plex Sans" pitchFamily="34" charset="0"/>
                <a:ea typeface="IBM Plex Sans" pitchFamily="34" charset="-122"/>
                <a:cs typeface="IBM Plex Sans" pitchFamily="34" charset="-120"/>
              </a:rPr>
              <a:t>Rhône   </a:t>
            </a:r>
            <a:r>
              <a:rPr lang="en-US" sz="700" dirty="0">
                <a:solidFill>
                  <a:srgbClr val="46606E"/>
                </a:solidFill>
                <a:latin typeface="IBM Plex Sans" pitchFamily="34" charset="0"/>
                <a:ea typeface="IBM Plex Sans" pitchFamily="34" charset="-122"/>
                <a:cs typeface="IBM Plex Sans" pitchFamily="34" charset="-120"/>
              </a:rPr>
              <a:t>4   </a:t>
            </a:r>
            <a:r>
              <a:rPr lang="en-US" sz="840" b="1" dirty="0">
                <a:solidFill>
                  <a:srgbClr val="46606E"/>
                </a:solidFill>
                <a:latin typeface="IBM Plex Sans" pitchFamily="34" charset="0"/>
                <a:ea typeface="IBM Plex Sans" pitchFamily="34" charset="-122"/>
                <a:cs typeface="IBM Plex Sans" pitchFamily="34" charset="-120"/>
              </a:rPr>
              <a:t>21</a:t>
            </a:r>
            <a:endParaRPr lang="en-US" sz="840" dirty="0"/>
          </a:p>
        </p:txBody>
      </p:sp>
      <p:sp>
        <p:nvSpPr>
          <p:cNvPr id="26" name="Text 24"/>
          <p:cNvSpPr/>
          <p:nvPr/>
        </p:nvSpPr>
        <p:spPr>
          <a:xfrm>
            <a:off x="3888000" y="3024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26   </a:t>
            </a:r>
            <a:r>
              <a:rPr lang="en-US" sz="840" b="1" dirty="0">
                <a:solidFill>
                  <a:srgbClr val="46606E"/>
                </a:solidFill>
                <a:latin typeface="IBM Plex Sans" pitchFamily="34" charset="0"/>
                <a:ea typeface="IBM Plex Sans" pitchFamily="34" charset="-122"/>
                <a:cs typeface="IBM Plex Sans" pitchFamily="34" charset="-120"/>
              </a:rPr>
              <a:t>Domaine Les Guignottes   </a:t>
            </a:r>
            <a:r>
              <a:rPr lang="en-US" sz="700" dirty="0">
                <a:solidFill>
                  <a:srgbClr val="A8515F"/>
                </a:solidFill>
                <a:latin typeface="IBM Plex Sans" pitchFamily="34" charset="0"/>
                <a:ea typeface="IBM Plex Sans" pitchFamily="34" charset="-122"/>
                <a:cs typeface="IBM Plex Sans" pitchFamily="34" charset="-120"/>
              </a:rPr>
              <a:t>Bourgogne   </a:t>
            </a:r>
            <a:r>
              <a:rPr lang="en-US" sz="700" dirty="0">
                <a:solidFill>
                  <a:srgbClr val="46606E"/>
                </a:solidFill>
                <a:latin typeface="IBM Plex Sans" pitchFamily="34" charset="0"/>
                <a:ea typeface="IBM Plex Sans" pitchFamily="34" charset="-122"/>
                <a:cs typeface="IBM Plex Sans" pitchFamily="34" charset="-120"/>
              </a:rPr>
              <a:t>1   </a:t>
            </a:r>
            <a:r>
              <a:rPr lang="en-US" sz="840" b="1" dirty="0">
                <a:solidFill>
                  <a:srgbClr val="46606E"/>
                </a:solidFill>
                <a:latin typeface="IBM Plex Sans" pitchFamily="34" charset="0"/>
                <a:ea typeface="IBM Plex Sans" pitchFamily="34" charset="-122"/>
                <a:cs typeface="IBM Plex Sans" pitchFamily="34" charset="-120"/>
              </a:rPr>
              <a:t>18</a:t>
            </a:r>
            <a:endParaRPr lang="en-US" sz="840" dirty="0"/>
          </a:p>
        </p:txBody>
      </p:sp>
      <p:sp>
        <p:nvSpPr>
          <p:cNvPr id="27" name="Text 25"/>
          <p:cNvSpPr/>
          <p:nvPr/>
        </p:nvSpPr>
        <p:spPr>
          <a:xfrm>
            <a:off x="3888000" y="3312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18   </a:t>
            </a:r>
            <a:r>
              <a:rPr lang="en-US" sz="840" b="1" dirty="0">
                <a:solidFill>
                  <a:srgbClr val="46606E"/>
                </a:solidFill>
                <a:latin typeface="IBM Plex Sans" pitchFamily="34" charset="0"/>
                <a:ea typeface="IBM Plex Sans" pitchFamily="34" charset="-122"/>
                <a:cs typeface="IBM Plex Sans" pitchFamily="34" charset="-120"/>
              </a:rPr>
              <a:t>Domaine Sébastien Magnien   </a:t>
            </a:r>
            <a:r>
              <a:rPr lang="en-US" sz="700" dirty="0">
                <a:solidFill>
                  <a:srgbClr val="A8515F"/>
                </a:solidFill>
                <a:latin typeface="IBM Plex Sans" pitchFamily="34" charset="0"/>
                <a:ea typeface="IBM Plex Sans" pitchFamily="34" charset="-122"/>
                <a:cs typeface="IBM Plex Sans" pitchFamily="34" charset="-120"/>
              </a:rPr>
              <a:t>Bourgogne   </a:t>
            </a:r>
            <a:r>
              <a:rPr lang="en-US" sz="700" dirty="0">
                <a:solidFill>
                  <a:srgbClr val="46606E"/>
                </a:solidFill>
                <a:latin typeface="IBM Plex Sans" pitchFamily="34" charset="0"/>
                <a:ea typeface="IBM Plex Sans" pitchFamily="34" charset="-122"/>
                <a:cs typeface="IBM Plex Sans" pitchFamily="34" charset="-120"/>
              </a:rPr>
              <a:t>6   </a:t>
            </a:r>
            <a:r>
              <a:rPr lang="en-US" sz="840" b="1" dirty="0">
                <a:solidFill>
                  <a:srgbClr val="46606E"/>
                </a:solidFill>
                <a:latin typeface="IBM Plex Sans" pitchFamily="34" charset="0"/>
                <a:ea typeface="IBM Plex Sans" pitchFamily="34" charset="-122"/>
                <a:cs typeface="IBM Plex Sans" pitchFamily="34" charset="-120"/>
              </a:rPr>
              <a:t>15</a:t>
            </a:r>
            <a:endParaRPr lang="en-US" sz="840" dirty="0"/>
          </a:p>
        </p:txBody>
      </p:sp>
      <p:sp>
        <p:nvSpPr>
          <p:cNvPr id="28" name="Text 26"/>
          <p:cNvSpPr/>
          <p:nvPr/>
        </p:nvSpPr>
        <p:spPr>
          <a:xfrm>
            <a:off x="3888000" y="3600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20   </a:t>
            </a:r>
            <a:r>
              <a:rPr lang="en-US" sz="840" b="1" dirty="0">
                <a:solidFill>
                  <a:srgbClr val="46606E"/>
                </a:solidFill>
                <a:latin typeface="IBM Plex Sans" pitchFamily="34" charset="0"/>
                <a:ea typeface="IBM Plex Sans" pitchFamily="34" charset="-122"/>
                <a:cs typeface="IBM Plex Sans" pitchFamily="34" charset="-120"/>
              </a:rPr>
              <a:t>Domaine Stratéus   </a:t>
            </a:r>
            <a:r>
              <a:rPr lang="en-US" sz="700" dirty="0">
                <a:solidFill>
                  <a:srgbClr val="A8515F"/>
                </a:solidFill>
                <a:latin typeface="IBM Plex Sans" pitchFamily="34" charset="0"/>
                <a:ea typeface="IBM Plex Sans" pitchFamily="34" charset="-122"/>
                <a:cs typeface="IBM Plex Sans" pitchFamily="34" charset="-120"/>
              </a:rPr>
              <a:t>Sud-Ouest   </a:t>
            </a:r>
            <a:r>
              <a:rPr lang="en-US" sz="700" dirty="0">
                <a:solidFill>
                  <a:srgbClr val="46606E"/>
                </a:solidFill>
                <a:latin typeface="IBM Plex Sans" pitchFamily="34" charset="0"/>
                <a:ea typeface="IBM Plex Sans" pitchFamily="34" charset="-122"/>
                <a:cs typeface="IBM Plex Sans" pitchFamily="34" charset="-120"/>
              </a:rPr>
              <a:t>6   </a:t>
            </a:r>
            <a:r>
              <a:rPr lang="en-US" sz="840" b="1" dirty="0">
                <a:solidFill>
                  <a:srgbClr val="46606E"/>
                </a:solidFill>
                <a:latin typeface="IBM Plex Sans" pitchFamily="34" charset="0"/>
                <a:ea typeface="IBM Plex Sans" pitchFamily="34" charset="-122"/>
                <a:cs typeface="IBM Plex Sans" pitchFamily="34" charset="-120"/>
              </a:rPr>
              <a:t>28</a:t>
            </a:r>
            <a:endParaRPr lang="en-US" sz="840" dirty="0"/>
          </a:p>
        </p:txBody>
      </p:sp>
      <p:sp>
        <p:nvSpPr>
          <p:cNvPr id="29" name="Text 27"/>
          <p:cNvSpPr/>
          <p:nvPr/>
        </p:nvSpPr>
        <p:spPr>
          <a:xfrm>
            <a:off x="3888000" y="3888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12   </a:t>
            </a:r>
            <a:r>
              <a:rPr lang="en-US" sz="840" b="1" dirty="0">
                <a:solidFill>
                  <a:srgbClr val="46606E"/>
                </a:solidFill>
                <a:latin typeface="IBM Plex Sans" pitchFamily="34" charset="0"/>
                <a:ea typeface="IBM Plex Sans" pitchFamily="34" charset="-122"/>
                <a:cs typeface="IBM Plex Sans" pitchFamily="34" charset="-120"/>
              </a:rPr>
              <a:t>Domaine Trichon   </a:t>
            </a:r>
            <a:r>
              <a:rPr lang="en-US" sz="700" dirty="0">
                <a:solidFill>
                  <a:srgbClr val="A8515F"/>
                </a:solidFill>
                <a:latin typeface="IBM Plex Sans" pitchFamily="34" charset="0"/>
                <a:ea typeface="IBM Plex Sans" pitchFamily="34" charset="-122"/>
                <a:cs typeface="IBM Plex Sans" pitchFamily="34" charset="-120"/>
              </a:rPr>
              <a:t>Rhône   </a:t>
            </a:r>
            <a:r>
              <a:rPr lang="en-US" sz="700" dirty="0">
                <a:solidFill>
                  <a:srgbClr val="46606E"/>
                </a:solidFill>
                <a:latin typeface="IBM Plex Sans" pitchFamily="34" charset="0"/>
                <a:ea typeface="IBM Plex Sans" pitchFamily="34" charset="-122"/>
                <a:cs typeface="IBM Plex Sans" pitchFamily="34" charset="-120"/>
              </a:rPr>
              <a:t>10   </a:t>
            </a:r>
            <a:r>
              <a:rPr lang="en-US" sz="840" b="1" dirty="0">
                <a:solidFill>
                  <a:srgbClr val="46606E"/>
                </a:solidFill>
                <a:latin typeface="IBM Plex Sans" pitchFamily="34" charset="0"/>
                <a:ea typeface="IBM Plex Sans" pitchFamily="34" charset="-122"/>
                <a:cs typeface="IBM Plex Sans" pitchFamily="34" charset="-120"/>
              </a:rPr>
              <a:t>25</a:t>
            </a:r>
            <a:endParaRPr lang="en-US" sz="840" dirty="0"/>
          </a:p>
        </p:txBody>
      </p:sp>
      <p:sp>
        <p:nvSpPr>
          <p:cNvPr id="30" name="Text 28"/>
          <p:cNvSpPr/>
          <p:nvPr/>
        </p:nvSpPr>
        <p:spPr>
          <a:xfrm>
            <a:off x="3888000" y="4176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21   </a:t>
            </a:r>
            <a:r>
              <a:rPr lang="en-US" sz="840" b="1" dirty="0">
                <a:solidFill>
                  <a:srgbClr val="46606E"/>
                </a:solidFill>
                <a:latin typeface="IBM Plex Sans" pitchFamily="34" charset="0"/>
                <a:ea typeface="IBM Plex Sans" pitchFamily="34" charset="-122"/>
                <a:cs typeface="IBM Plex Sans" pitchFamily="34" charset="-120"/>
              </a:rPr>
              <a:t>Famille d’Exea   </a:t>
            </a:r>
            <a:r>
              <a:rPr lang="en-US" sz="700" dirty="0">
                <a:solidFill>
                  <a:srgbClr val="A8515F"/>
                </a:solidFill>
                <a:latin typeface="IBM Plex Sans" pitchFamily="34" charset="0"/>
                <a:ea typeface="IBM Plex Sans" pitchFamily="34" charset="-122"/>
                <a:cs typeface="IBM Plex Sans" pitchFamily="34" charset="-120"/>
              </a:rPr>
              <a:t>Languedoc   </a:t>
            </a:r>
            <a:r>
              <a:rPr lang="en-US" sz="700" dirty="0">
                <a:solidFill>
                  <a:srgbClr val="46606E"/>
                </a:solidFill>
                <a:latin typeface="IBM Plex Sans" pitchFamily="34" charset="0"/>
                <a:ea typeface="IBM Plex Sans" pitchFamily="34" charset="-122"/>
                <a:cs typeface="IBM Plex Sans" pitchFamily="34" charset="-120"/>
              </a:rPr>
              <a:t>5   </a:t>
            </a:r>
            <a:r>
              <a:rPr lang="en-US" sz="840" b="1" dirty="0">
                <a:solidFill>
                  <a:srgbClr val="46606E"/>
                </a:solidFill>
                <a:latin typeface="IBM Plex Sans" pitchFamily="34" charset="0"/>
                <a:ea typeface="IBM Plex Sans" pitchFamily="34" charset="-122"/>
                <a:cs typeface="IBM Plex Sans" pitchFamily="34" charset="-120"/>
              </a:rPr>
              <a:t>38</a:t>
            </a:r>
            <a:endParaRPr lang="en-US" sz="840" dirty="0"/>
          </a:p>
        </p:txBody>
      </p:sp>
      <p:sp>
        <p:nvSpPr>
          <p:cNvPr id="31" name="Text 29"/>
          <p:cNvSpPr/>
          <p:nvPr/>
        </p:nvSpPr>
        <p:spPr>
          <a:xfrm>
            <a:off x="3888000" y="4464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10   </a:t>
            </a:r>
            <a:r>
              <a:rPr lang="en-US" sz="840" b="1" dirty="0">
                <a:solidFill>
                  <a:srgbClr val="46606E"/>
                </a:solidFill>
                <a:latin typeface="IBM Plex Sans" pitchFamily="34" charset="0"/>
                <a:ea typeface="IBM Plex Sans" pitchFamily="34" charset="-122"/>
                <a:cs typeface="IBM Plex Sans" pitchFamily="34" charset="-120"/>
              </a:rPr>
              <a:t>François Reverdy   </a:t>
            </a:r>
            <a:r>
              <a:rPr lang="en-US" sz="700" dirty="0">
                <a:solidFill>
                  <a:srgbClr val="A8515F"/>
                </a:solidFill>
                <a:latin typeface="IBM Plex Sans" pitchFamily="34" charset="0"/>
                <a:ea typeface="IBM Plex Sans" pitchFamily="34" charset="-122"/>
                <a:cs typeface="IBM Plex Sans" pitchFamily="34" charset="-120"/>
              </a:rPr>
              <a:t>Loire   </a:t>
            </a:r>
            <a:r>
              <a:rPr lang="en-US" sz="700" dirty="0">
                <a:solidFill>
                  <a:srgbClr val="46606E"/>
                </a:solidFill>
                <a:latin typeface="IBM Plex Sans" pitchFamily="34" charset="0"/>
                <a:ea typeface="IBM Plex Sans" pitchFamily="34" charset="-122"/>
                <a:cs typeface="IBM Plex Sans" pitchFamily="34" charset="-120"/>
              </a:rPr>
              <a:t>8   </a:t>
            </a:r>
            <a:r>
              <a:rPr lang="en-US" sz="840" b="1" dirty="0">
                <a:solidFill>
                  <a:srgbClr val="46606E"/>
                </a:solidFill>
                <a:latin typeface="IBM Plex Sans" pitchFamily="34" charset="0"/>
                <a:ea typeface="IBM Plex Sans" pitchFamily="34" charset="-122"/>
                <a:cs typeface="IBM Plex Sans" pitchFamily="34" charset="-120"/>
              </a:rPr>
              <a:t>5</a:t>
            </a:r>
            <a:endParaRPr lang="en-US" sz="840" dirty="0"/>
          </a:p>
        </p:txBody>
      </p:sp>
      <p:sp>
        <p:nvSpPr>
          <p:cNvPr id="32" name="Text 30"/>
          <p:cNvSpPr/>
          <p:nvPr/>
        </p:nvSpPr>
        <p:spPr>
          <a:xfrm>
            <a:off x="3888000" y="4752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26   </a:t>
            </a:r>
            <a:r>
              <a:rPr lang="en-US" sz="840" b="1" dirty="0">
                <a:solidFill>
                  <a:srgbClr val="46606E"/>
                </a:solidFill>
                <a:latin typeface="IBM Plex Sans" pitchFamily="34" charset="0"/>
                <a:ea typeface="IBM Plex Sans" pitchFamily="34" charset="-122"/>
                <a:cs typeface="IBM Plex Sans" pitchFamily="34" charset="-120"/>
              </a:rPr>
              <a:t>Maison et Domaine André Goichot   </a:t>
            </a:r>
            <a:r>
              <a:rPr lang="en-US" sz="700" dirty="0">
                <a:solidFill>
                  <a:srgbClr val="A8515F"/>
                </a:solidFill>
                <a:latin typeface="IBM Plex Sans" pitchFamily="34" charset="0"/>
                <a:ea typeface="IBM Plex Sans" pitchFamily="34" charset="-122"/>
                <a:cs typeface="IBM Plex Sans" pitchFamily="34" charset="-120"/>
              </a:rPr>
              <a:t>Bourgogne   </a:t>
            </a:r>
            <a:r>
              <a:rPr lang="en-US" sz="700" dirty="0">
                <a:solidFill>
                  <a:srgbClr val="46606E"/>
                </a:solidFill>
                <a:latin typeface="IBM Plex Sans" pitchFamily="34" charset="0"/>
                <a:ea typeface="IBM Plex Sans" pitchFamily="34" charset="-122"/>
                <a:cs typeface="IBM Plex Sans" pitchFamily="34" charset="-120"/>
              </a:rPr>
              <a:t>10   </a:t>
            </a:r>
            <a:r>
              <a:rPr lang="en-US" sz="840" b="1" dirty="0">
                <a:solidFill>
                  <a:srgbClr val="46606E"/>
                </a:solidFill>
                <a:latin typeface="IBM Plex Sans" pitchFamily="34" charset="0"/>
                <a:ea typeface="IBM Plex Sans" pitchFamily="34" charset="-122"/>
                <a:cs typeface="IBM Plex Sans" pitchFamily="34" charset="-120"/>
              </a:rPr>
              <a:t>16</a:t>
            </a:r>
            <a:endParaRPr lang="en-US" sz="840" dirty="0"/>
          </a:p>
        </p:txBody>
      </p:sp>
      <p:sp>
        <p:nvSpPr>
          <p:cNvPr id="33" name="Text 31"/>
          <p:cNvSpPr/>
          <p:nvPr/>
        </p:nvSpPr>
        <p:spPr>
          <a:xfrm>
            <a:off x="3888000" y="5040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3   </a:t>
            </a:r>
            <a:r>
              <a:rPr lang="en-US" sz="840" b="1" dirty="0">
                <a:solidFill>
                  <a:srgbClr val="46606E"/>
                </a:solidFill>
                <a:latin typeface="IBM Plex Sans" pitchFamily="34" charset="0"/>
                <a:ea typeface="IBM Plex Sans" pitchFamily="34" charset="-122"/>
                <a:cs typeface="IBM Plex Sans" pitchFamily="34" charset="-120"/>
              </a:rPr>
              <a:t>Prieuré Sainte-Marie d’Albas   </a:t>
            </a:r>
            <a:r>
              <a:rPr lang="en-US" sz="700" dirty="0">
                <a:solidFill>
                  <a:srgbClr val="A8515F"/>
                </a:solidFill>
                <a:latin typeface="IBM Plex Sans" pitchFamily="34" charset="0"/>
                <a:ea typeface="IBM Plex Sans" pitchFamily="34" charset="-122"/>
                <a:cs typeface="IBM Plex Sans" pitchFamily="34" charset="-120"/>
              </a:rPr>
              <a:t>Languedoc   </a:t>
            </a:r>
            <a:r>
              <a:rPr lang="en-US" sz="700" dirty="0">
                <a:solidFill>
                  <a:srgbClr val="46606E"/>
                </a:solidFill>
                <a:latin typeface="IBM Plex Sans" pitchFamily="34" charset="0"/>
                <a:ea typeface="IBM Plex Sans" pitchFamily="34" charset="-122"/>
                <a:cs typeface="IBM Plex Sans" pitchFamily="34" charset="-120"/>
              </a:rPr>
              <a:t>5   </a:t>
            </a:r>
            <a:r>
              <a:rPr lang="en-US" sz="840" b="1" dirty="0">
                <a:solidFill>
                  <a:srgbClr val="46606E"/>
                </a:solidFill>
                <a:latin typeface="IBM Plex Sans" pitchFamily="34" charset="0"/>
                <a:ea typeface="IBM Plex Sans" pitchFamily="34" charset="-122"/>
                <a:cs typeface="IBM Plex Sans" pitchFamily="34" charset="-120"/>
              </a:rPr>
              <a:t>40</a:t>
            </a:r>
            <a:endParaRPr lang="en-US" sz="840" dirty="0"/>
          </a:p>
        </p:txBody>
      </p:sp>
      <p:sp>
        <p:nvSpPr>
          <p:cNvPr id="34" name="Text 32"/>
          <p:cNvSpPr/>
          <p:nvPr/>
        </p:nvSpPr>
        <p:spPr>
          <a:xfrm>
            <a:off x="3888000" y="5328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15   </a:t>
            </a:r>
            <a:r>
              <a:rPr lang="en-US" sz="840" b="1" dirty="0">
                <a:solidFill>
                  <a:srgbClr val="46606E"/>
                </a:solidFill>
                <a:latin typeface="IBM Plex Sans" pitchFamily="34" charset="0"/>
                <a:ea typeface="IBM Plex Sans" pitchFamily="34" charset="-122"/>
                <a:cs typeface="IBM Plex Sans" pitchFamily="34" charset="-120"/>
              </a:rPr>
              <a:t>Vazart-Coquart &amp; Fils   </a:t>
            </a:r>
            <a:r>
              <a:rPr lang="en-US" sz="700" dirty="0">
                <a:solidFill>
                  <a:srgbClr val="A8515F"/>
                </a:solidFill>
                <a:latin typeface="IBM Plex Sans" pitchFamily="34" charset="0"/>
                <a:ea typeface="IBM Plex Sans" pitchFamily="34" charset="-122"/>
                <a:cs typeface="IBM Plex Sans" pitchFamily="34" charset="-120"/>
              </a:rPr>
              <a:t>Champagne   </a:t>
            </a:r>
            <a:r>
              <a:rPr lang="en-US" sz="700" dirty="0">
                <a:solidFill>
                  <a:srgbClr val="46606E"/>
                </a:solidFill>
                <a:latin typeface="IBM Plex Sans" pitchFamily="34" charset="0"/>
                <a:ea typeface="IBM Plex Sans" pitchFamily="34" charset="-122"/>
                <a:cs typeface="IBM Plex Sans" pitchFamily="34" charset="-120"/>
              </a:rPr>
              <a:t>6   </a:t>
            </a:r>
            <a:r>
              <a:rPr lang="en-US" sz="840" b="1" dirty="0">
                <a:solidFill>
                  <a:srgbClr val="46606E"/>
                </a:solidFill>
                <a:latin typeface="IBM Plex Sans" pitchFamily="34" charset="0"/>
                <a:ea typeface="IBM Plex Sans" pitchFamily="34" charset="-122"/>
                <a:cs typeface="IBM Plex Sans" pitchFamily="34" charset="-120"/>
              </a:rPr>
              <a:t>45</a:t>
            </a:r>
            <a:endParaRPr lang="en-US" sz="840" dirty="0"/>
          </a:p>
        </p:txBody>
      </p:sp>
      <p:sp>
        <p:nvSpPr>
          <p:cNvPr id="35" name="Text 33"/>
          <p:cNvSpPr/>
          <p:nvPr/>
        </p:nvSpPr>
        <p:spPr>
          <a:xfrm>
            <a:off x="828000" y="8604000"/>
            <a:ext cx="6120000" cy="180000"/>
          </a:xfrm>
          <a:prstGeom prst="rect">
            <a:avLst/>
          </a:prstGeom>
          <a:noFill/>
          <a:ln/>
        </p:spPr>
        <p:txBody>
          <a:bodyPr wrap="square" lIns="0" tIns="0" rIns="0" bIns="0" rtlCol="0" anchor="ctr"/>
          <a:lstStyle/>
          <a:p>
            <a:pPr indent="0" marL="0">
              <a:buNone/>
            </a:pPr>
            <a:r>
              <a:rPr lang="en-US" sz="800" dirty="0">
                <a:solidFill>
                  <a:srgbClr val="46606E"/>
                </a:solidFill>
                <a:latin typeface="Spectral" pitchFamily="34" charset="0"/>
                <a:ea typeface="Spectral" pitchFamily="34" charset="-122"/>
                <a:cs typeface="Spectral" pitchFamily="34" charset="-120"/>
              </a:rPr>
              <a:t>Le chiffre avant la page est le nombre de vins à la dégustation.</a:t>
            </a:r>
            <a:endParaRPr lang="en-US" sz="800" dirty="0"/>
          </a:p>
        </p:txBody>
      </p:sp>
      <p:sp>
        <p:nvSpPr>
          <p:cNvPr id="36" name="Text 34"/>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48</a:t>
            </a:r>
            <a:endParaRPr lang="en-US" sz="750" dirty="0"/>
          </a:p>
        </p:txBody>
      </p:sp>
      <p:sp>
        <p:nvSpPr>
          <p:cNvPr id="37" name="Text 35"/>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612000" y="540000"/>
            <a:ext cx="6120000" cy="324000"/>
          </a:xfrm>
          <a:prstGeom prst="rect">
            <a:avLst/>
          </a:prstGeom>
          <a:noFill/>
          <a:ln/>
        </p:spPr>
        <p:txBody>
          <a:bodyPr wrap="square" lIns="0" tIns="0" rIns="0" bIns="0" rtlCol="0" anchor="b"/>
          <a:lstStyle/>
          <a:p>
            <a:pPr indent="0" marL="0">
              <a:buNone/>
            </a:pPr>
            <a:r>
              <a:rPr lang="en-US" sz="2000" dirty="0">
                <a:solidFill>
                  <a:srgbClr val="67067C"/>
                </a:solidFill>
                <a:latin typeface="Young Serif" pitchFamily="34" charset="0"/>
                <a:ea typeface="Young Serif" pitchFamily="34" charset="-122"/>
                <a:cs typeface="Young Serif" pitchFamily="34" charset="-120"/>
              </a:rPr>
              <a:t>Vos notes</a:t>
            </a:r>
            <a:endParaRPr lang="en-US" sz="2000" dirty="0"/>
          </a:p>
        </p:txBody>
      </p:sp>
      <p:sp>
        <p:nvSpPr>
          <p:cNvPr id="3" name="Text 1"/>
          <p:cNvSpPr/>
          <p:nvPr/>
        </p:nvSpPr>
        <p:spPr>
          <a:xfrm>
            <a:off x="612000" y="882000"/>
            <a:ext cx="6120000" cy="180000"/>
          </a:xfrm>
          <a:prstGeom prst="rect">
            <a:avLst/>
          </a:prstGeom>
          <a:noFill/>
          <a:ln/>
        </p:spPr>
        <p:txBody>
          <a:bodyPr wrap="square" lIns="0" tIns="0" rIns="0" bIns="0" rtlCol="0" anchor="ctr"/>
          <a:lstStyle/>
          <a:p>
            <a:pPr indent="0" marL="0">
              <a:buNone/>
            </a:pPr>
            <a:r>
              <a:rPr lang="en-US" sz="750" b="1" spc="30" kern="0" dirty="0">
                <a:solidFill>
                  <a:srgbClr val="A8515F"/>
                </a:solidFill>
                <a:latin typeface="IBM Plex Sans" pitchFamily="34" charset="0"/>
                <a:ea typeface="IBM Plex Sans" pitchFamily="34" charset="-122"/>
                <a:cs typeface="IBM Plex Sans" pitchFamily="34" charset="-120"/>
              </a:rPr>
              <a:t>STANDS, VINS, QUANTITÉS, COMMANDES</a:t>
            </a:r>
            <a:endParaRPr lang="en-US" sz="750" dirty="0"/>
          </a:p>
        </p:txBody>
      </p:sp>
      <p:sp>
        <p:nvSpPr>
          <p:cNvPr id="4" name="Shape 2"/>
          <p:cNvSpPr/>
          <p:nvPr/>
        </p:nvSpPr>
        <p:spPr>
          <a:xfrm>
            <a:off x="612000" y="1440000"/>
            <a:ext cx="6120000" cy="0"/>
          </a:xfrm>
          <a:prstGeom prst="line">
            <a:avLst/>
          </a:prstGeom>
          <a:noFill/>
          <a:ln w="7620">
            <a:solidFill>
              <a:srgbClr val="B4C2C9"/>
            </a:solidFill>
            <a:prstDash val="solid"/>
          </a:ln>
        </p:spPr>
      </p:sp>
      <p:sp>
        <p:nvSpPr>
          <p:cNvPr id="5" name="Shape 3"/>
          <p:cNvSpPr/>
          <p:nvPr/>
        </p:nvSpPr>
        <p:spPr>
          <a:xfrm>
            <a:off x="612000" y="1746000"/>
            <a:ext cx="6120000" cy="0"/>
          </a:xfrm>
          <a:prstGeom prst="line">
            <a:avLst/>
          </a:prstGeom>
          <a:noFill/>
          <a:ln w="7620">
            <a:solidFill>
              <a:srgbClr val="B4C2C9"/>
            </a:solidFill>
            <a:prstDash val="solid"/>
          </a:ln>
        </p:spPr>
      </p:sp>
      <p:sp>
        <p:nvSpPr>
          <p:cNvPr id="6" name="Shape 4"/>
          <p:cNvSpPr/>
          <p:nvPr/>
        </p:nvSpPr>
        <p:spPr>
          <a:xfrm>
            <a:off x="612000" y="2052000"/>
            <a:ext cx="6120000" cy="0"/>
          </a:xfrm>
          <a:prstGeom prst="line">
            <a:avLst/>
          </a:prstGeom>
          <a:noFill/>
          <a:ln w="7620">
            <a:solidFill>
              <a:srgbClr val="B4C2C9"/>
            </a:solidFill>
            <a:prstDash val="solid"/>
          </a:ln>
        </p:spPr>
      </p:sp>
      <p:sp>
        <p:nvSpPr>
          <p:cNvPr id="7" name="Shape 5"/>
          <p:cNvSpPr/>
          <p:nvPr/>
        </p:nvSpPr>
        <p:spPr>
          <a:xfrm>
            <a:off x="612000" y="2358000"/>
            <a:ext cx="6120000" cy="0"/>
          </a:xfrm>
          <a:prstGeom prst="line">
            <a:avLst/>
          </a:prstGeom>
          <a:noFill/>
          <a:ln w="7620">
            <a:solidFill>
              <a:srgbClr val="B4C2C9"/>
            </a:solidFill>
            <a:prstDash val="solid"/>
          </a:ln>
        </p:spPr>
      </p:sp>
      <p:sp>
        <p:nvSpPr>
          <p:cNvPr id="8" name="Shape 6"/>
          <p:cNvSpPr/>
          <p:nvPr/>
        </p:nvSpPr>
        <p:spPr>
          <a:xfrm>
            <a:off x="612000" y="2664000"/>
            <a:ext cx="6120000" cy="0"/>
          </a:xfrm>
          <a:prstGeom prst="line">
            <a:avLst/>
          </a:prstGeom>
          <a:noFill/>
          <a:ln w="7620">
            <a:solidFill>
              <a:srgbClr val="B4C2C9"/>
            </a:solidFill>
            <a:prstDash val="solid"/>
          </a:ln>
        </p:spPr>
      </p:sp>
      <p:sp>
        <p:nvSpPr>
          <p:cNvPr id="9" name="Shape 7"/>
          <p:cNvSpPr/>
          <p:nvPr/>
        </p:nvSpPr>
        <p:spPr>
          <a:xfrm>
            <a:off x="612000" y="2970000"/>
            <a:ext cx="6120000" cy="0"/>
          </a:xfrm>
          <a:prstGeom prst="line">
            <a:avLst/>
          </a:prstGeom>
          <a:noFill/>
          <a:ln w="7620">
            <a:solidFill>
              <a:srgbClr val="B4C2C9"/>
            </a:solidFill>
            <a:prstDash val="solid"/>
          </a:ln>
        </p:spPr>
      </p:sp>
      <p:sp>
        <p:nvSpPr>
          <p:cNvPr id="10" name="Shape 8"/>
          <p:cNvSpPr/>
          <p:nvPr/>
        </p:nvSpPr>
        <p:spPr>
          <a:xfrm>
            <a:off x="612000" y="3276000"/>
            <a:ext cx="6120000" cy="0"/>
          </a:xfrm>
          <a:prstGeom prst="line">
            <a:avLst/>
          </a:prstGeom>
          <a:noFill/>
          <a:ln w="7620">
            <a:solidFill>
              <a:srgbClr val="B4C2C9"/>
            </a:solidFill>
            <a:prstDash val="solid"/>
          </a:ln>
        </p:spPr>
      </p:sp>
      <p:sp>
        <p:nvSpPr>
          <p:cNvPr id="11" name="Shape 9"/>
          <p:cNvSpPr/>
          <p:nvPr/>
        </p:nvSpPr>
        <p:spPr>
          <a:xfrm>
            <a:off x="612000" y="3582000"/>
            <a:ext cx="6120000" cy="0"/>
          </a:xfrm>
          <a:prstGeom prst="line">
            <a:avLst/>
          </a:prstGeom>
          <a:noFill/>
          <a:ln w="7620">
            <a:solidFill>
              <a:srgbClr val="B4C2C9"/>
            </a:solidFill>
            <a:prstDash val="solid"/>
          </a:ln>
        </p:spPr>
      </p:sp>
      <p:sp>
        <p:nvSpPr>
          <p:cNvPr id="12" name="Shape 10"/>
          <p:cNvSpPr/>
          <p:nvPr/>
        </p:nvSpPr>
        <p:spPr>
          <a:xfrm>
            <a:off x="612000" y="3888000"/>
            <a:ext cx="6120000" cy="0"/>
          </a:xfrm>
          <a:prstGeom prst="line">
            <a:avLst/>
          </a:prstGeom>
          <a:noFill/>
          <a:ln w="7620">
            <a:solidFill>
              <a:srgbClr val="B4C2C9"/>
            </a:solidFill>
            <a:prstDash val="solid"/>
          </a:ln>
        </p:spPr>
      </p:sp>
      <p:sp>
        <p:nvSpPr>
          <p:cNvPr id="13" name="Shape 11"/>
          <p:cNvSpPr/>
          <p:nvPr/>
        </p:nvSpPr>
        <p:spPr>
          <a:xfrm>
            <a:off x="612000" y="4194000"/>
            <a:ext cx="6120000" cy="0"/>
          </a:xfrm>
          <a:prstGeom prst="line">
            <a:avLst/>
          </a:prstGeom>
          <a:noFill/>
          <a:ln w="7620">
            <a:solidFill>
              <a:srgbClr val="B4C2C9"/>
            </a:solidFill>
            <a:prstDash val="solid"/>
          </a:ln>
        </p:spPr>
      </p:sp>
      <p:sp>
        <p:nvSpPr>
          <p:cNvPr id="14" name="Shape 12"/>
          <p:cNvSpPr/>
          <p:nvPr/>
        </p:nvSpPr>
        <p:spPr>
          <a:xfrm>
            <a:off x="612000" y="4500000"/>
            <a:ext cx="6120000" cy="0"/>
          </a:xfrm>
          <a:prstGeom prst="line">
            <a:avLst/>
          </a:prstGeom>
          <a:noFill/>
          <a:ln w="7620">
            <a:solidFill>
              <a:srgbClr val="B4C2C9"/>
            </a:solidFill>
            <a:prstDash val="solid"/>
          </a:ln>
        </p:spPr>
      </p:sp>
      <p:sp>
        <p:nvSpPr>
          <p:cNvPr id="15" name="Shape 13"/>
          <p:cNvSpPr/>
          <p:nvPr/>
        </p:nvSpPr>
        <p:spPr>
          <a:xfrm>
            <a:off x="612000" y="4806000"/>
            <a:ext cx="6120000" cy="0"/>
          </a:xfrm>
          <a:prstGeom prst="line">
            <a:avLst/>
          </a:prstGeom>
          <a:noFill/>
          <a:ln w="7620">
            <a:solidFill>
              <a:srgbClr val="B4C2C9"/>
            </a:solidFill>
            <a:prstDash val="solid"/>
          </a:ln>
        </p:spPr>
      </p:sp>
      <p:sp>
        <p:nvSpPr>
          <p:cNvPr id="16" name="Shape 14"/>
          <p:cNvSpPr/>
          <p:nvPr/>
        </p:nvSpPr>
        <p:spPr>
          <a:xfrm>
            <a:off x="612000" y="5112000"/>
            <a:ext cx="6120000" cy="0"/>
          </a:xfrm>
          <a:prstGeom prst="line">
            <a:avLst/>
          </a:prstGeom>
          <a:noFill/>
          <a:ln w="7620">
            <a:solidFill>
              <a:srgbClr val="B4C2C9"/>
            </a:solidFill>
            <a:prstDash val="solid"/>
          </a:ln>
        </p:spPr>
      </p:sp>
      <p:sp>
        <p:nvSpPr>
          <p:cNvPr id="17" name="Shape 15"/>
          <p:cNvSpPr/>
          <p:nvPr/>
        </p:nvSpPr>
        <p:spPr>
          <a:xfrm>
            <a:off x="612000" y="5418000"/>
            <a:ext cx="6120000" cy="0"/>
          </a:xfrm>
          <a:prstGeom prst="line">
            <a:avLst/>
          </a:prstGeom>
          <a:noFill/>
          <a:ln w="7620">
            <a:solidFill>
              <a:srgbClr val="B4C2C9"/>
            </a:solidFill>
            <a:prstDash val="solid"/>
          </a:ln>
        </p:spPr>
      </p:sp>
      <p:sp>
        <p:nvSpPr>
          <p:cNvPr id="18" name="Shape 16"/>
          <p:cNvSpPr/>
          <p:nvPr/>
        </p:nvSpPr>
        <p:spPr>
          <a:xfrm>
            <a:off x="612000" y="5724000"/>
            <a:ext cx="6120000" cy="0"/>
          </a:xfrm>
          <a:prstGeom prst="line">
            <a:avLst/>
          </a:prstGeom>
          <a:noFill/>
          <a:ln w="7620">
            <a:solidFill>
              <a:srgbClr val="B4C2C9"/>
            </a:solidFill>
            <a:prstDash val="solid"/>
          </a:ln>
        </p:spPr>
      </p:sp>
      <p:sp>
        <p:nvSpPr>
          <p:cNvPr id="19" name="Shape 17"/>
          <p:cNvSpPr/>
          <p:nvPr/>
        </p:nvSpPr>
        <p:spPr>
          <a:xfrm>
            <a:off x="612000" y="6030000"/>
            <a:ext cx="6120000" cy="0"/>
          </a:xfrm>
          <a:prstGeom prst="line">
            <a:avLst/>
          </a:prstGeom>
          <a:noFill/>
          <a:ln w="7620">
            <a:solidFill>
              <a:srgbClr val="B4C2C9"/>
            </a:solidFill>
            <a:prstDash val="solid"/>
          </a:ln>
        </p:spPr>
      </p:sp>
      <p:sp>
        <p:nvSpPr>
          <p:cNvPr id="20" name="Shape 18"/>
          <p:cNvSpPr/>
          <p:nvPr/>
        </p:nvSpPr>
        <p:spPr>
          <a:xfrm>
            <a:off x="612000" y="6336000"/>
            <a:ext cx="6120000" cy="0"/>
          </a:xfrm>
          <a:prstGeom prst="line">
            <a:avLst/>
          </a:prstGeom>
          <a:noFill/>
          <a:ln w="7620">
            <a:solidFill>
              <a:srgbClr val="B4C2C9"/>
            </a:solidFill>
            <a:prstDash val="solid"/>
          </a:ln>
        </p:spPr>
      </p:sp>
      <p:sp>
        <p:nvSpPr>
          <p:cNvPr id="21" name="Shape 19"/>
          <p:cNvSpPr/>
          <p:nvPr/>
        </p:nvSpPr>
        <p:spPr>
          <a:xfrm>
            <a:off x="612000" y="6642000"/>
            <a:ext cx="6120000" cy="0"/>
          </a:xfrm>
          <a:prstGeom prst="line">
            <a:avLst/>
          </a:prstGeom>
          <a:noFill/>
          <a:ln w="7620">
            <a:solidFill>
              <a:srgbClr val="B4C2C9"/>
            </a:solidFill>
            <a:prstDash val="solid"/>
          </a:ln>
        </p:spPr>
      </p:sp>
      <p:sp>
        <p:nvSpPr>
          <p:cNvPr id="22" name="Shape 20"/>
          <p:cNvSpPr/>
          <p:nvPr/>
        </p:nvSpPr>
        <p:spPr>
          <a:xfrm>
            <a:off x="612000" y="6948000"/>
            <a:ext cx="6120000" cy="0"/>
          </a:xfrm>
          <a:prstGeom prst="line">
            <a:avLst/>
          </a:prstGeom>
          <a:noFill/>
          <a:ln w="7620">
            <a:solidFill>
              <a:srgbClr val="B4C2C9"/>
            </a:solidFill>
            <a:prstDash val="solid"/>
          </a:ln>
        </p:spPr>
      </p:sp>
      <p:sp>
        <p:nvSpPr>
          <p:cNvPr id="23" name="Shape 21"/>
          <p:cNvSpPr/>
          <p:nvPr/>
        </p:nvSpPr>
        <p:spPr>
          <a:xfrm>
            <a:off x="612000" y="7254000"/>
            <a:ext cx="6120000" cy="0"/>
          </a:xfrm>
          <a:prstGeom prst="line">
            <a:avLst/>
          </a:prstGeom>
          <a:noFill/>
          <a:ln w="7620">
            <a:solidFill>
              <a:srgbClr val="B4C2C9"/>
            </a:solidFill>
            <a:prstDash val="solid"/>
          </a:ln>
        </p:spPr>
      </p:sp>
      <p:sp>
        <p:nvSpPr>
          <p:cNvPr id="24" name="Shape 22"/>
          <p:cNvSpPr/>
          <p:nvPr/>
        </p:nvSpPr>
        <p:spPr>
          <a:xfrm>
            <a:off x="612000" y="7560000"/>
            <a:ext cx="6120000" cy="0"/>
          </a:xfrm>
          <a:prstGeom prst="line">
            <a:avLst/>
          </a:prstGeom>
          <a:noFill/>
          <a:ln w="7620">
            <a:solidFill>
              <a:srgbClr val="B4C2C9"/>
            </a:solidFill>
            <a:prstDash val="solid"/>
          </a:ln>
        </p:spPr>
      </p:sp>
      <p:sp>
        <p:nvSpPr>
          <p:cNvPr id="25" name="Shape 23"/>
          <p:cNvSpPr/>
          <p:nvPr/>
        </p:nvSpPr>
        <p:spPr>
          <a:xfrm>
            <a:off x="612000" y="7866000"/>
            <a:ext cx="6120000" cy="0"/>
          </a:xfrm>
          <a:prstGeom prst="line">
            <a:avLst/>
          </a:prstGeom>
          <a:noFill/>
          <a:ln w="7620">
            <a:solidFill>
              <a:srgbClr val="B4C2C9"/>
            </a:solidFill>
            <a:prstDash val="solid"/>
          </a:ln>
        </p:spPr>
      </p:sp>
      <p:sp>
        <p:nvSpPr>
          <p:cNvPr id="26" name="Shape 24"/>
          <p:cNvSpPr/>
          <p:nvPr/>
        </p:nvSpPr>
        <p:spPr>
          <a:xfrm>
            <a:off x="612000" y="8172000"/>
            <a:ext cx="6120000" cy="0"/>
          </a:xfrm>
          <a:prstGeom prst="line">
            <a:avLst/>
          </a:prstGeom>
          <a:noFill/>
          <a:ln w="7620">
            <a:solidFill>
              <a:srgbClr val="B4C2C9"/>
            </a:solidFill>
            <a:prstDash val="solid"/>
          </a:ln>
        </p:spPr>
      </p:sp>
      <p:sp>
        <p:nvSpPr>
          <p:cNvPr id="27" name="Text 25"/>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49</a:t>
            </a:r>
            <a:endParaRPr lang="en-US" sz="750" dirty="0"/>
          </a:p>
        </p:txBody>
      </p:sp>
      <p:sp>
        <p:nvSpPr>
          <p:cNvPr id="28" name="Text 26"/>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828000" y="540000"/>
            <a:ext cx="6120000" cy="324000"/>
          </a:xfrm>
          <a:prstGeom prst="rect">
            <a:avLst/>
          </a:prstGeom>
          <a:noFill/>
          <a:ln/>
        </p:spPr>
        <p:txBody>
          <a:bodyPr wrap="square" lIns="0" tIns="0" rIns="0" bIns="0" rtlCol="0" anchor="b"/>
          <a:lstStyle/>
          <a:p>
            <a:pPr indent="0" marL="0">
              <a:buNone/>
            </a:pPr>
            <a:r>
              <a:rPr lang="en-US" sz="2000" dirty="0">
                <a:solidFill>
                  <a:srgbClr val="67067C"/>
                </a:solidFill>
                <a:latin typeface="Young Serif" pitchFamily="34" charset="0"/>
                <a:ea typeface="Young Serif" pitchFamily="34" charset="-122"/>
                <a:cs typeface="Young Serif" pitchFamily="34" charset="-120"/>
              </a:rPr>
              <a:t>Vos notes</a:t>
            </a:r>
            <a:endParaRPr lang="en-US" sz="2000" dirty="0"/>
          </a:p>
        </p:txBody>
      </p:sp>
      <p:sp>
        <p:nvSpPr>
          <p:cNvPr id="3" name="Text 1"/>
          <p:cNvSpPr/>
          <p:nvPr/>
        </p:nvSpPr>
        <p:spPr>
          <a:xfrm>
            <a:off x="828000" y="882000"/>
            <a:ext cx="6120000" cy="180000"/>
          </a:xfrm>
          <a:prstGeom prst="rect">
            <a:avLst/>
          </a:prstGeom>
          <a:noFill/>
          <a:ln/>
        </p:spPr>
        <p:txBody>
          <a:bodyPr wrap="square" lIns="0" tIns="0" rIns="0" bIns="0" rtlCol="0" anchor="ctr"/>
          <a:lstStyle/>
          <a:p>
            <a:pPr indent="0" marL="0">
              <a:buNone/>
            </a:pPr>
            <a:r>
              <a:rPr lang="en-US" sz="750" b="1" spc="30" kern="0" dirty="0">
                <a:solidFill>
                  <a:srgbClr val="A8515F"/>
                </a:solidFill>
                <a:latin typeface="IBM Plex Sans" pitchFamily="34" charset="0"/>
                <a:ea typeface="IBM Plex Sans" pitchFamily="34" charset="-122"/>
                <a:cs typeface="IBM Plex Sans" pitchFamily="34" charset="-120"/>
              </a:rPr>
              <a:t>STANDS, VINS, QUANTITÉS, COMMANDES</a:t>
            </a:r>
            <a:endParaRPr lang="en-US" sz="750" dirty="0"/>
          </a:p>
        </p:txBody>
      </p:sp>
      <p:sp>
        <p:nvSpPr>
          <p:cNvPr id="4" name="Shape 2"/>
          <p:cNvSpPr/>
          <p:nvPr/>
        </p:nvSpPr>
        <p:spPr>
          <a:xfrm>
            <a:off x="828000" y="1440000"/>
            <a:ext cx="6120000" cy="0"/>
          </a:xfrm>
          <a:prstGeom prst="line">
            <a:avLst/>
          </a:prstGeom>
          <a:noFill/>
          <a:ln w="7620">
            <a:solidFill>
              <a:srgbClr val="B4C2C9"/>
            </a:solidFill>
            <a:prstDash val="solid"/>
          </a:ln>
        </p:spPr>
      </p:sp>
      <p:sp>
        <p:nvSpPr>
          <p:cNvPr id="5" name="Shape 3"/>
          <p:cNvSpPr/>
          <p:nvPr/>
        </p:nvSpPr>
        <p:spPr>
          <a:xfrm>
            <a:off x="828000" y="1746000"/>
            <a:ext cx="6120000" cy="0"/>
          </a:xfrm>
          <a:prstGeom prst="line">
            <a:avLst/>
          </a:prstGeom>
          <a:noFill/>
          <a:ln w="7620">
            <a:solidFill>
              <a:srgbClr val="B4C2C9"/>
            </a:solidFill>
            <a:prstDash val="solid"/>
          </a:ln>
        </p:spPr>
      </p:sp>
      <p:sp>
        <p:nvSpPr>
          <p:cNvPr id="6" name="Shape 4"/>
          <p:cNvSpPr/>
          <p:nvPr/>
        </p:nvSpPr>
        <p:spPr>
          <a:xfrm>
            <a:off x="828000" y="2052000"/>
            <a:ext cx="6120000" cy="0"/>
          </a:xfrm>
          <a:prstGeom prst="line">
            <a:avLst/>
          </a:prstGeom>
          <a:noFill/>
          <a:ln w="7620">
            <a:solidFill>
              <a:srgbClr val="B4C2C9"/>
            </a:solidFill>
            <a:prstDash val="solid"/>
          </a:ln>
        </p:spPr>
      </p:sp>
      <p:sp>
        <p:nvSpPr>
          <p:cNvPr id="7" name="Shape 5"/>
          <p:cNvSpPr/>
          <p:nvPr/>
        </p:nvSpPr>
        <p:spPr>
          <a:xfrm>
            <a:off x="828000" y="2358000"/>
            <a:ext cx="6120000" cy="0"/>
          </a:xfrm>
          <a:prstGeom prst="line">
            <a:avLst/>
          </a:prstGeom>
          <a:noFill/>
          <a:ln w="7620">
            <a:solidFill>
              <a:srgbClr val="B4C2C9"/>
            </a:solidFill>
            <a:prstDash val="solid"/>
          </a:ln>
        </p:spPr>
      </p:sp>
      <p:sp>
        <p:nvSpPr>
          <p:cNvPr id="8" name="Shape 6"/>
          <p:cNvSpPr/>
          <p:nvPr/>
        </p:nvSpPr>
        <p:spPr>
          <a:xfrm>
            <a:off x="828000" y="2664000"/>
            <a:ext cx="6120000" cy="0"/>
          </a:xfrm>
          <a:prstGeom prst="line">
            <a:avLst/>
          </a:prstGeom>
          <a:noFill/>
          <a:ln w="7620">
            <a:solidFill>
              <a:srgbClr val="B4C2C9"/>
            </a:solidFill>
            <a:prstDash val="solid"/>
          </a:ln>
        </p:spPr>
      </p:sp>
      <p:sp>
        <p:nvSpPr>
          <p:cNvPr id="9" name="Shape 7"/>
          <p:cNvSpPr/>
          <p:nvPr/>
        </p:nvSpPr>
        <p:spPr>
          <a:xfrm>
            <a:off x="828000" y="2970000"/>
            <a:ext cx="6120000" cy="0"/>
          </a:xfrm>
          <a:prstGeom prst="line">
            <a:avLst/>
          </a:prstGeom>
          <a:noFill/>
          <a:ln w="7620">
            <a:solidFill>
              <a:srgbClr val="B4C2C9"/>
            </a:solidFill>
            <a:prstDash val="solid"/>
          </a:ln>
        </p:spPr>
      </p:sp>
      <p:sp>
        <p:nvSpPr>
          <p:cNvPr id="10" name="Shape 8"/>
          <p:cNvSpPr/>
          <p:nvPr/>
        </p:nvSpPr>
        <p:spPr>
          <a:xfrm>
            <a:off x="828000" y="3276000"/>
            <a:ext cx="6120000" cy="0"/>
          </a:xfrm>
          <a:prstGeom prst="line">
            <a:avLst/>
          </a:prstGeom>
          <a:noFill/>
          <a:ln w="7620">
            <a:solidFill>
              <a:srgbClr val="B4C2C9"/>
            </a:solidFill>
            <a:prstDash val="solid"/>
          </a:ln>
        </p:spPr>
      </p:sp>
      <p:sp>
        <p:nvSpPr>
          <p:cNvPr id="11" name="Shape 9"/>
          <p:cNvSpPr/>
          <p:nvPr/>
        </p:nvSpPr>
        <p:spPr>
          <a:xfrm>
            <a:off x="828000" y="3582000"/>
            <a:ext cx="6120000" cy="0"/>
          </a:xfrm>
          <a:prstGeom prst="line">
            <a:avLst/>
          </a:prstGeom>
          <a:noFill/>
          <a:ln w="7620">
            <a:solidFill>
              <a:srgbClr val="B4C2C9"/>
            </a:solidFill>
            <a:prstDash val="solid"/>
          </a:ln>
        </p:spPr>
      </p:sp>
      <p:sp>
        <p:nvSpPr>
          <p:cNvPr id="12" name="Shape 10"/>
          <p:cNvSpPr/>
          <p:nvPr/>
        </p:nvSpPr>
        <p:spPr>
          <a:xfrm>
            <a:off x="828000" y="3888000"/>
            <a:ext cx="6120000" cy="0"/>
          </a:xfrm>
          <a:prstGeom prst="line">
            <a:avLst/>
          </a:prstGeom>
          <a:noFill/>
          <a:ln w="7620">
            <a:solidFill>
              <a:srgbClr val="B4C2C9"/>
            </a:solidFill>
            <a:prstDash val="solid"/>
          </a:ln>
        </p:spPr>
      </p:sp>
      <p:sp>
        <p:nvSpPr>
          <p:cNvPr id="13" name="Shape 11"/>
          <p:cNvSpPr/>
          <p:nvPr/>
        </p:nvSpPr>
        <p:spPr>
          <a:xfrm>
            <a:off x="828000" y="4194000"/>
            <a:ext cx="6120000" cy="0"/>
          </a:xfrm>
          <a:prstGeom prst="line">
            <a:avLst/>
          </a:prstGeom>
          <a:noFill/>
          <a:ln w="7620">
            <a:solidFill>
              <a:srgbClr val="B4C2C9"/>
            </a:solidFill>
            <a:prstDash val="solid"/>
          </a:ln>
        </p:spPr>
      </p:sp>
      <p:sp>
        <p:nvSpPr>
          <p:cNvPr id="14" name="Shape 12"/>
          <p:cNvSpPr/>
          <p:nvPr/>
        </p:nvSpPr>
        <p:spPr>
          <a:xfrm>
            <a:off x="828000" y="4500000"/>
            <a:ext cx="6120000" cy="0"/>
          </a:xfrm>
          <a:prstGeom prst="line">
            <a:avLst/>
          </a:prstGeom>
          <a:noFill/>
          <a:ln w="7620">
            <a:solidFill>
              <a:srgbClr val="B4C2C9"/>
            </a:solidFill>
            <a:prstDash val="solid"/>
          </a:ln>
        </p:spPr>
      </p:sp>
      <p:sp>
        <p:nvSpPr>
          <p:cNvPr id="15" name="Shape 13"/>
          <p:cNvSpPr/>
          <p:nvPr/>
        </p:nvSpPr>
        <p:spPr>
          <a:xfrm>
            <a:off x="828000" y="4806000"/>
            <a:ext cx="6120000" cy="0"/>
          </a:xfrm>
          <a:prstGeom prst="line">
            <a:avLst/>
          </a:prstGeom>
          <a:noFill/>
          <a:ln w="7620">
            <a:solidFill>
              <a:srgbClr val="B4C2C9"/>
            </a:solidFill>
            <a:prstDash val="solid"/>
          </a:ln>
        </p:spPr>
      </p:sp>
      <p:sp>
        <p:nvSpPr>
          <p:cNvPr id="16" name="Shape 14"/>
          <p:cNvSpPr/>
          <p:nvPr/>
        </p:nvSpPr>
        <p:spPr>
          <a:xfrm>
            <a:off x="828000" y="5112000"/>
            <a:ext cx="6120000" cy="0"/>
          </a:xfrm>
          <a:prstGeom prst="line">
            <a:avLst/>
          </a:prstGeom>
          <a:noFill/>
          <a:ln w="7620">
            <a:solidFill>
              <a:srgbClr val="B4C2C9"/>
            </a:solidFill>
            <a:prstDash val="solid"/>
          </a:ln>
        </p:spPr>
      </p:sp>
      <p:sp>
        <p:nvSpPr>
          <p:cNvPr id="17" name="Shape 15"/>
          <p:cNvSpPr/>
          <p:nvPr/>
        </p:nvSpPr>
        <p:spPr>
          <a:xfrm>
            <a:off x="828000" y="5418000"/>
            <a:ext cx="6120000" cy="0"/>
          </a:xfrm>
          <a:prstGeom prst="line">
            <a:avLst/>
          </a:prstGeom>
          <a:noFill/>
          <a:ln w="7620">
            <a:solidFill>
              <a:srgbClr val="B4C2C9"/>
            </a:solidFill>
            <a:prstDash val="solid"/>
          </a:ln>
        </p:spPr>
      </p:sp>
      <p:sp>
        <p:nvSpPr>
          <p:cNvPr id="18" name="Shape 16"/>
          <p:cNvSpPr/>
          <p:nvPr/>
        </p:nvSpPr>
        <p:spPr>
          <a:xfrm>
            <a:off x="828000" y="5724000"/>
            <a:ext cx="6120000" cy="0"/>
          </a:xfrm>
          <a:prstGeom prst="line">
            <a:avLst/>
          </a:prstGeom>
          <a:noFill/>
          <a:ln w="7620">
            <a:solidFill>
              <a:srgbClr val="B4C2C9"/>
            </a:solidFill>
            <a:prstDash val="solid"/>
          </a:ln>
        </p:spPr>
      </p:sp>
      <p:sp>
        <p:nvSpPr>
          <p:cNvPr id="19" name="Shape 17"/>
          <p:cNvSpPr/>
          <p:nvPr/>
        </p:nvSpPr>
        <p:spPr>
          <a:xfrm>
            <a:off x="828000" y="6030000"/>
            <a:ext cx="6120000" cy="0"/>
          </a:xfrm>
          <a:prstGeom prst="line">
            <a:avLst/>
          </a:prstGeom>
          <a:noFill/>
          <a:ln w="7620">
            <a:solidFill>
              <a:srgbClr val="B4C2C9"/>
            </a:solidFill>
            <a:prstDash val="solid"/>
          </a:ln>
        </p:spPr>
      </p:sp>
      <p:sp>
        <p:nvSpPr>
          <p:cNvPr id="20" name="Shape 18"/>
          <p:cNvSpPr/>
          <p:nvPr/>
        </p:nvSpPr>
        <p:spPr>
          <a:xfrm>
            <a:off x="828000" y="6336000"/>
            <a:ext cx="6120000" cy="0"/>
          </a:xfrm>
          <a:prstGeom prst="line">
            <a:avLst/>
          </a:prstGeom>
          <a:noFill/>
          <a:ln w="7620">
            <a:solidFill>
              <a:srgbClr val="B4C2C9"/>
            </a:solidFill>
            <a:prstDash val="solid"/>
          </a:ln>
        </p:spPr>
      </p:sp>
      <p:sp>
        <p:nvSpPr>
          <p:cNvPr id="21" name="Shape 19"/>
          <p:cNvSpPr/>
          <p:nvPr/>
        </p:nvSpPr>
        <p:spPr>
          <a:xfrm>
            <a:off x="828000" y="6642000"/>
            <a:ext cx="6120000" cy="0"/>
          </a:xfrm>
          <a:prstGeom prst="line">
            <a:avLst/>
          </a:prstGeom>
          <a:noFill/>
          <a:ln w="7620">
            <a:solidFill>
              <a:srgbClr val="B4C2C9"/>
            </a:solidFill>
            <a:prstDash val="solid"/>
          </a:ln>
        </p:spPr>
      </p:sp>
      <p:sp>
        <p:nvSpPr>
          <p:cNvPr id="22" name="Shape 20"/>
          <p:cNvSpPr/>
          <p:nvPr/>
        </p:nvSpPr>
        <p:spPr>
          <a:xfrm>
            <a:off x="828000" y="6948000"/>
            <a:ext cx="6120000" cy="0"/>
          </a:xfrm>
          <a:prstGeom prst="line">
            <a:avLst/>
          </a:prstGeom>
          <a:noFill/>
          <a:ln w="7620">
            <a:solidFill>
              <a:srgbClr val="B4C2C9"/>
            </a:solidFill>
            <a:prstDash val="solid"/>
          </a:ln>
        </p:spPr>
      </p:sp>
      <p:sp>
        <p:nvSpPr>
          <p:cNvPr id="23" name="Shape 21"/>
          <p:cNvSpPr/>
          <p:nvPr/>
        </p:nvSpPr>
        <p:spPr>
          <a:xfrm>
            <a:off x="828000" y="7254000"/>
            <a:ext cx="6120000" cy="0"/>
          </a:xfrm>
          <a:prstGeom prst="line">
            <a:avLst/>
          </a:prstGeom>
          <a:noFill/>
          <a:ln w="7620">
            <a:solidFill>
              <a:srgbClr val="B4C2C9"/>
            </a:solidFill>
            <a:prstDash val="solid"/>
          </a:ln>
        </p:spPr>
      </p:sp>
      <p:sp>
        <p:nvSpPr>
          <p:cNvPr id="24" name="Shape 22"/>
          <p:cNvSpPr/>
          <p:nvPr/>
        </p:nvSpPr>
        <p:spPr>
          <a:xfrm>
            <a:off x="828000" y="7560000"/>
            <a:ext cx="6120000" cy="0"/>
          </a:xfrm>
          <a:prstGeom prst="line">
            <a:avLst/>
          </a:prstGeom>
          <a:noFill/>
          <a:ln w="7620">
            <a:solidFill>
              <a:srgbClr val="B4C2C9"/>
            </a:solidFill>
            <a:prstDash val="solid"/>
          </a:ln>
        </p:spPr>
      </p:sp>
      <p:sp>
        <p:nvSpPr>
          <p:cNvPr id="25" name="Shape 23"/>
          <p:cNvSpPr/>
          <p:nvPr/>
        </p:nvSpPr>
        <p:spPr>
          <a:xfrm>
            <a:off x="828000" y="7866000"/>
            <a:ext cx="6120000" cy="0"/>
          </a:xfrm>
          <a:prstGeom prst="line">
            <a:avLst/>
          </a:prstGeom>
          <a:noFill/>
          <a:ln w="7620">
            <a:solidFill>
              <a:srgbClr val="B4C2C9"/>
            </a:solidFill>
            <a:prstDash val="solid"/>
          </a:ln>
        </p:spPr>
      </p:sp>
      <p:sp>
        <p:nvSpPr>
          <p:cNvPr id="26" name="Shape 24"/>
          <p:cNvSpPr/>
          <p:nvPr/>
        </p:nvSpPr>
        <p:spPr>
          <a:xfrm>
            <a:off x="828000" y="8172000"/>
            <a:ext cx="6120000" cy="0"/>
          </a:xfrm>
          <a:prstGeom prst="line">
            <a:avLst/>
          </a:prstGeom>
          <a:noFill/>
          <a:ln w="7620">
            <a:solidFill>
              <a:srgbClr val="B4C2C9"/>
            </a:solidFill>
            <a:prstDash val="solid"/>
          </a:ln>
        </p:spPr>
      </p:sp>
      <p:sp>
        <p:nvSpPr>
          <p:cNvPr id="27" name="Text 25"/>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50</a:t>
            </a:r>
            <a:endParaRPr lang="en-US" sz="750" dirty="0"/>
          </a:p>
        </p:txBody>
      </p:sp>
      <p:sp>
        <p:nvSpPr>
          <p:cNvPr id="28" name="Text 26"/>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46606E"/>
        </a:solidFill>
      </p:bgPr>
    </p:bg>
    <p:spTree>
      <p:nvGrpSpPr>
        <p:cNvPr id="1" name=""/>
        <p:cNvGrpSpPr/>
        <p:nvPr/>
      </p:nvGrpSpPr>
      <p:grpSpPr>
        <a:xfrm>
          <a:off x="0" y="0"/>
          <a:ext cx="0" cy="0"/>
          <a:chOff x="0" y="0"/>
          <a:chExt cx="0" cy="0"/>
        </a:xfrm>
      </p:grpSpPr>
      <p:pic>
        <p:nvPicPr>
          <p:cNvPr id="2" name="Image 0" descr="/home/user/philippe1/build/deco-salon-prive-2026/coupe-pleine.png">    </p:cNvPr>
          <p:cNvPicPr>
            <a:picLocks noChangeAspect="1"/>
          </p:cNvPicPr>
          <p:nvPr/>
        </p:nvPicPr>
        <p:blipFill>
          <a:blip r:embed="rId1"/>
          <a:stretch>
            <a:fillRect/>
          </a:stretch>
        </p:blipFill>
        <p:spPr>
          <a:xfrm>
            <a:off x="0" y="0"/>
            <a:ext cx="7560000" cy="9360000"/>
          </a:xfrm>
          <a:prstGeom prst="rect">
            <a:avLst/>
          </a:prstGeom>
        </p:spPr>
      </p:pic>
      <p:sp>
        <p:nvSpPr>
          <p:cNvPr id="3" name="Text 0"/>
          <p:cNvSpPr/>
          <p:nvPr/>
        </p:nvSpPr>
        <p:spPr>
          <a:xfrm>
            <a:off x="612000" y="6400421"/>
            <a:ext cx="4320000" cy="1512000"/>
          </a:xfrm>
          <a:prstGeom prst="rect">
            <a:avLst/>
          </a:prstGeom>
          <a:noFill/>
          <a:ln/>
        </p:spPr>
        <p:txBody>
          <a:bodyPr wrap="square" lIns="0" tIns="0" rIns="0" bIns="0" rtlCol="0" anchor="ctr"/>
          <a:lstStyle/>
          <a:p>
            <a:pPr indent="0" marL="0">
              <a:lnSpc>
                <a:spcPct val="112000"/>
              </a:lnSpc>
              <a:buNone/>
            </a:pPr>
            <a:r>
              <a:rPr lang="en-US" sz="2600" dirty="0">
                <a:solidFill>
                  <a:srgbClr val="FBF8F1"/>
                </a:solidFill>
                <a:latin typeface="Young Serif" pitchFamily="34" charset="0"/>
                <a:ea typeface="Young Serif" pitchFamily="34" charset="-122"/>
                <a:cs typeface="Young Serif" pitchFamily="34" charset="-120"/>
              </a:rPr>
              <a:t>Neuf régions,</a:t>
            </a:r>
            <a:endParaRPr lang="en-US" sz="2600" dirty="0"/>
          </a:p>
          <a:p>
            <a:pPr indent="0" marL="0">
              <a:lnSpc>
                <a:spcPct val="112000"/>
              </a:lnSpc>
              <a:buNone/>
            </a:pPr>
            <a:r>
              <a:rPr lang="en-US" sz="2600" dirty="0">
                <a:solidFill>
                  <a:srgbClr val="FBF8F1"/>
                </a:solidFill>
                <a:latin typeface="Young Serif" pitchFamily="34" charset="0"/>
                <a:ea typeface="Young Serif" pitchFamily="34" charset="-122"/>
                <a:cs typeface="Young Serif" pitchFamily="34" charset="-120"/>
              </a:rPr>
              <a:t>neuf sols,</a:t>
            </a:r>
            <a:endParaRPr lang="en-US" sz="2600" dirty="0"/>
          </a:p>
          <a:p>
            <a:pPr indent="0" marL="0">
              <a:lnSpc>
                <a:spcPct val="112000"/>
              </a:lnSpc>
              <a:buNone/>
            </a:pPr>
            <a:r>
              <a:rPr lang="en-US" sz="2600" dirty="0">
                <a:solidFill>
                  <a:srgbClr val="FBF8F1"/>
                </a:solidFill>
                <a:latin typeface="Young Serif" pitchFamily="34" charset="0"/>
                <a:ea typeface="Young Serif" pitchFamily="34" charset="-122"/>
                <a:cs typeface="Young Serif" pitchFamily="34" charset="-120"/>
              </a:rPr>
              <a:t>vingt-six vignerons.</a:t>
            </a:r>
            <a:endParaRPr lang="en-US" sz="2600" dirty="0"/>
          </a:p>
        </p:txBody>
      </p:sp>
      <p:sp>
        <p:nvSpPr>
          <p:cNvPr id="4" name="Text 1"/>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51</a:t>
            </a:r>
            <a:endParaRPr lang="en-US" sz="750" dirty="0"/>
          </a:p>
        </p:txBody>
      </p:sp>
      <p:sp>
        <p:nvSpPr>
          <p:cNvPr id="5" name="Text 2"/>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2EADA"/>
        </a:solidFill>
      </p:bgPr>
    </p:bg>
    <p:spTree>
      <p:nvGrpSpPr>
        <p:cNvPr id="1" name=""/>
        <p:cNvGrpSpPr/>
        <p:nvPr/>
      </p:nvGrpSpPr>
      <p:grpSpPr>
        <a:xfrm>
          <a:off x="0" y="0"/>
          <a:ext cx="0" cy="0"/>
          <a:chOff x="0" y="0"/>
          <a:chExt cx="0" cy="0"/>
        </a:xfrm>
      </p:grpSpPr>
      <p:pic>
        <p:nvPicPr>
          <p:cNvPr id="2" name="Image 0" descr="/home/user/philippe1/src/images/logo-agence-scio-detoure.png">    </p:cNvPr>
          <p:cNvPicPr>
            <a:picLocks noChangeAspect="1"/>
          </p:cNvPicPr>
          <p:nvPr/>
        </p:nvPicPr>
        <p:blipFill>
          <a:blip r:embed="rId1"/>
          <a:stretch>
            <a:fillRect/>
          </a:stretch>
        </p:blipFill>
        <p:spPr>
          <a:xfrm>
            <a:off x="828000" y="540000"/>
            <a:ext cx="2520000" cy="614097"/>
          </a:xfrm>
          <a:prstGeom prst="rect">
            <a:avLst/>
          </a:prstGeom>
        </p:spPr>
      </p:pic>
      <p:sp>
        <p:nvSpPr>
          <p:cNvPr id="3" name="Text 0"/>
          <p:cNvSpPr/>
          <p:nvPr/>
        </p:nvSpPr>
        <p:spPr>
          <a:xfrm>
            <a:off x="828000" y="1548000"/>
            <a:ext cx="180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LAURENT</a:t>
            </a:r>
            <a:endParaRPr lang="en-US" sz="800" dirty="0"/>
          </a:p>
        </p:txBody>
      </p:sp>
      <p:sp>
        <p:nvSpPr>
          <p:cNvPr id="4" name="Text 1"/>
          <p:cNvSpPr/>
          <p:nvPr/>
        </p:nvSpPr>
        <p:spPr>
          <a:xfrm>
            <a:off x="828000" y="1728000"/>
            <a:ext cx="1800000" cy="324000"/>
          </a:xfrm>
          <a:prstGeom prst="rect">
            <a:avLst/>
          </a:prstGeom>
          <a:noFill/>
          <a:ln/>
        </p:spPr>
        <p:txBody>
          <a:bodyPr wrap="square" lIns="0" tIns="0" rIns="0" bIns="0" rtlCol="0" anchor="ctr"/>
          <a:lstStyle/>
          <a:p>
            <a:pPr indent="0" marL="0">
              <a:buNone/>
            </a:pPr>
            <a:r>
              <a:rPr lang="en-US" sz="1700" dirty="0">
                <a:solidFill>
                  <a:srgbClr val="67067C"/>
                </a:solidFill>
                <a:latin typeface="Young Serif" pitchFamily="34" charset="0"/>
                <a:ea typeface="Young Serif" pitchFamily="34" charset="-122"/>
                <a:cs typeface="Young Serif" pitchFamily="34" charset="-120"/>
              </a:rPr>
              <a:t>06 80 88 07 55</a:t>
            </a:r>
            <a:endParaRPr lang="en-US" sz="1700" dirty="0"/>
          </a:p>
        </p:txBody>
      </p:sp>
      <p:sp>
        <p:nvSpPr>
          <p:cNvPr id="5" name="Text 2"/>
          <p:cNvSpPr/>
          <p:nvPr/>
        </p:nvSpPr>
        <p:spPr>
          <a:xfrm>
            <a:off x="2808000" y="1548000"/>
            <a:ext cx="180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CARLINE</a:t>
            </a:r>
            <a:endParaRPr lang="en-US" sz="800" dirty="0"/>
          </a:p>
        </p:txBody>
      </p:sp>
      <p:sp>
        <p:nvSpPr>
          <p:cNvPr id="6" name="Text 3"/>
          <p:cNvSpPr/>
          <p:nvPr/>
        </p:nvSpPr>
        <p:spPr>
          <a:xfrm>
            <a:off x="2808000" y="1728000"/>
            <a:ext cx="1800000" cy="324000"/>
          </a:xfrm>
          <a:prstGeom prst="rect">
            <a:avLst/>
          </a:prstGeom>
          <a:noFill/>
          <a:ln/>
        </p:spPr>
        <p:txBody>
          <a:bodyPr wrap="square" lIns="0" tIns="0" rIns="0" bIns="0" rtlCol="0" anchor="ctr"/>
          <a:lstStyle/>
          <a:p>
            <a:pPr indent="0" marL="0">
              <a:buNone/>
            </a:pPr>
            <a:r>
              <a:rPr lang="en-US" sz="1700" dirty="0">
                <a:solidFill>
                  <a:srgbClr val="67067C"/>
                </a:solidFill>
                <a:latin typeface="Young Serif" pitchFamily="34" charset="0"/>
                <a:ea typeface="Young Serif" pitchFamily="34" charset="-122"/>
                <a:cs typeface="Young Serif" pitchFamily="34" charset="-120"/>
              </a:rPr>
              <a:t>06 49 19 16 75</a:t>
            </a:r>
            <a:endParaRPr lang="en-US" sz="1700" dirty="0"/>
          </a:p>
        </p:txBody>
      </p:sp>
      <p:sp>
        <p:nvSpPr>
          <p:cNvPr id="7" name="Text 4"/>
          <p:cNvSpPr/>
          <p:nvPr/>
        </p:nvSpPr>
        <p:spPr>
          <a:xfrm>
            <a:off x="828000" y="2196000"/>
            <a:ext cx="6120000" cy="396000"/>
          </a:xfrm>
          <a:prstGeom prst="rect">
            <a:avLst/>
          </a:prstGeom>
          <a:noFill/>
          <a:ln/>
        </p:spPr>
        <p:txBody>
          <a:bodyPr wrap="square" lIns="0" tIns="0" rIns="0" bIns="0" rtlCol="0" anchor="ctr"/>
          <a:lstStyle/>
          <a:p>
            <a:pPr indent="0" marL="0">
              <a:lnSpc>
                <a:spcPct val="120000"/>
              </a:lnSpc>
              <a:buNone/>
            </a:pPr>
            <a:r>
              <a:rPr lang="en-US" sz="1200" dirty="0">
                <a:solidFill>
                  <a:srgbClr val="67067C"/>
                </a:solidFill>
                <a:latin typeface="Young Serif" pitchFamily="34" charset="0"/>
                <a:ea typeface="Young Serif" pitchFamily="34" charset="-122"/>
                <a:cs typeface="Young Serif" pitchFamily="34" charset="-120"/>
              </a:rPr>
              <a:t>Salon Privé Vins &amp; Terroirs</a:t>
            </a:r>
            <a:endParaRPr lang="en-US" sz="1200" dirty="0"/>
          </a:p>
          <a:p>
            <a:pPr indent="0" marL="0">
              <a:lnSpc>
                <a:spcPct val="120000"/>
              </a:lnSpc>
              <a:buNone/>
            </a:pPr>
            <a:r>
              <a:rPr lang="en-US" sz="1200" dirty="0">
                <a:solidFill>
                  <a:srgbClr val="67067C"/>
                </a:solidFill>
                <a:latin typeface="Young Serif" pitchFamily="34" charset="0"/>
                <a:ea typeface="Young Serif" pitchFamily="34" charset="-122"/>
                <a:cs typeface="Young Serif" pitchFamily="34" charset="-120"/>
              </a:rPr>
              <a:t>Lundi 5 octobre 2026, Château de la Rairie, Pont-Saint-Martin</a:t>
            </a:r>
            <a:endParaRPr lang="en-US" sz="1200" dirty="0"/>
          </a:p>
        </p:txBody>
      </p:sp>
      <p:sp>
        <p:nvSpPr>
          <p:cNvPr id="8" name="Text 5"/>
          <p:cNvSpPr/>
          <p:nvPr/>
        </p:nvSpPr>
        <p:spPr>
          <a:xfrm>
            <a:off x="828000" y="2664000"/>
            <a:ext cx="4680000" cy="504000"/>
          </a:xfrm>
          <a:prstGeom prst="rect">
            <a:avLst/>
          </a:prstGeom>
          <a:noFill/>
          <a:ln/>
        </p:spPr>
        <p:txBody>
          <a:bodyPr wrap="square" lIns="0" tIns="0" rIns="0" bIns="0" rtlCol="0" anchor="ctr"/>
          <a:lstStyle/>
          <a:p>
            <a:pPr indent="0" marL="0">
              <a:lnSpc>
                <a:spcPct val="150000"/>
              </a:lnSpc>
              <a:buNone/>
            </a:pPr>
            <a:r>
              <a:rPr lang="en-US" sz="1000" dirty="0">
                <a:solidFill>
                  <a:srgbClr val="46606E"/>
                </a:solidFill>
                <a:latin typeface="Spectral" pitchFamily="34" charset="0"/>
                <a:ea typeface="Spectral" pitchFamily="34" charset="-122"/>
                <a:cs typeface="Spectral" pitchFamily="34" charset="-120"/>
              </a:rPr>
              <a:t>71 avenue de la Libération — 44400 Rezé</a:t>
            </a:r>
            <a:endParaRPr lang="en-US" sz="1000" dirty="0"/>
          </a:p>
          <a:p>
            <a:pPr indent="0" marL="0">
              <a:lnSpc>
                <a:spcPct val="150000"/>
              </a:lnSpc>
              <a:buNone/>
            </a:pPr>
            <a:r>
              <a:rPr lang="en-US" sz="1000" dirty="0">
                <a:solidFill>
                  <a:srgbClr val="46606E"/>
                </a:solidFill>
                <a:latin typeface="Spectral" pitchFamily="34" charset="0"/>
                <a:ea typeface="Spectral" pitchFamily="34" charset="-122"/>
                <a:cs typeface="Spectral" pitchFamily="34" charset="-120"/>
              </a:rPr>
              <a:t>contact@agencescio.com · www.agencescio.com</a:t>
            </a:r>
            <a:endParaRPr lang="en-US" sz="1000" dirty="0"/>
          </a:p>
        </p:txBody>
      </p:sp>
      <p:pic>
        <p:nvPicPr>
          <p:cNvPr id="9" name="Image 1" descr="/home/user/philippe1/build/deco-salon-prive-2026/coupe-nue.png">    </p:cNvPr>
          <p:cNvPicPr>
            <a:picLocks noChangeAspect="1"/>
          </p:cNvPicPr>
          <p:nvPr/>
        </p:nvPicPr>
        <p:blipFill>
          <a:blip r:embed="rId2"/>
          <a:stretch>
            <a:fillRect/>
          </a:stretch>
        </p:blipFill>
        <p:spPr>
          <a:xfrm>
            <a:off x="828000" y="3420000"/>
            <a:ext cx="6120000" cy="956455"/>
          </a:xfrm>
          <a:prstGeom prst="rect">
            <a:avLst/>
          </a:prstGeom>
        </p:spPr>
      </p:pic>
      <p:sp>
        <p:nvSpPr>
          <p:cNvPr id="10" name="Shape 6"/>
          <p:cNvSpPr/>
          <p:nvPr/>
        </p:nvSpPr>
        <p:spPr>
          <a:xfrm>
            <a:off x="828000" y="4788000"/>
            <a:ext cx="6120000" cy="0"/>
          </a:xfrm>
          <a:prstGeom prst="line">
            <a:avLst/>
          </a:prstGeom>
          <a:noFill/>
          <a:ln w="10160">
            <a:solidFill>
              <a:srgbClr val="67067C"/>
            </a:solidFill>
            <a:prstDash val="solid"/>
          </a:ln>
        </p:spPr>
      </p:sp>
      <p:sp>
        <p:nvSpPr>
          <p:cNvPr id="11" name="Text 7"/>
          <p:cNvSpPr/>
          <p:nvPr/>
        </p:nvSpPr>
        <p:spPr>
          <a:xfrm>
            <a:off x="828000" y="4932000"/>
            <a:ext cx="1860000" cy="180000"/>
          </a:xfrm>
          <a:prstGeom prst="rect">
            <a:avLst/>
          </a:prstGeom>
          <a:noFill/>
          <a:ln/>
        </p:spPr>
        <p:txBody>
          <a:bodyPr wrap="square" lIns="0" tIns="0" rIns="0" bIns="0" rtlCol="0" anchor="ctr"/>
          <a:lstStyle/>
          <a:p>
            <a:pPr indent="0" marL="0">
              <a:buNone/>
            </a:pPr>
            <a:r>
              <a:rPr lang="en-US" sz="760" b="1" spc="30" kern="0" dirty="0">
                <a:solidFill>
                  <a:srgbClr val="A8515F"/>
                </a:solidFill>
                <a:latin typeface="IBM Plex Sans" pitchFamily="34" charset="0"/>
                <a:ea typeface="IBM Plex Sans" pitchFamily="34" charset="-122"/>
                <a:cs typeface="IBM Plex Sans" pitchFamily="34" charset="-120"/>
              </a:rPr>
              <a:t>LEXIQUE</a:t>
            </a:r>
            <a:endParaRPr lang="en-US" sz="760" dirty="0"/>
          </a:p>
        </p:txBody>
      </p:sp>
      <p:sp>
        <p:nvSpPr>
          <p:cNvPr id="12" name="Text 8"/>
          <p:cNvSpPr/>
          <p:nvPr/>
        </p:nvSpPr>
        <p:spPr>
          <a:xfrm>
            <a:off x="828000" y="5148000"/>
            <a:ext cx="1860000" cy="1728000"/>
          </a:xfrm>
          <a:prstGeom prst="rect">
            <a:avLst/>
          </a:prstGeom>
          <a:noFill/>
          <a:ln/>
        </p:spPr>
        <p:txBody>
          <a:bodyPr wrap="square" lIns="0" tIns="0" rIns="0" bIns="0" rtlCol="0" anchor="ctr"/>
          <a:lstStyle/>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AOP — Appellation d’Origine Protégée</a:t>
            </a:r>
            <a:endParaRPr lang="en-US" sz="780" dirty="0"/>
          </a:p>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IGP — Indication Géographique Protégée</a:t>
            </a:r>
            <a:endParaRPr lang="en-US" sz="780" dirty="0"/>
          </a:p>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VDF — Vin de France</a:t>
            </a:r>
            <a:endParaRPr lang="en-US" sz="780" dirty="0"/>
          </a:p>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HVE — Haute Valeur Environnementale</a:t>
            </a:r>
            <a:endParaRPr lang="en-US" sz="780" dirty="0"/>
          </a:p>
        </p:txBody>
      </p:sp>
      <p:sp>
        <p:nvSpPr>
          <p:cNvPr id="13" name="Text 9"/>
          <p:cNvSpPr/>
          <p:nvPr/>
        </p:nvSpPr>
        <p:spPr>
          <a:xfrm>
            <a:off x="2868000" y="4932000"/>
            <a:ext cx="1860000" cy="180000"/>
          </a:xfrm>
          <a:prstGeom prst="rect">
            <a:avLst/>
          </a:prstGeom>
          <a:noFill/>
          <a:ln/>
        </p:spPr>
        <p:txBody>
          <a:bodyPr wrap="square" lIns="0" tIns="0" rIns="0" bIns="0" rtlCol="0" anchor="ctr"/>
          <a:lstStyle/>
          <a:p>
            <a:pPr indent="0" marL="0">
              <a:buNone/>
            </a:pPr>
            <a:r>
              <a:rPr lang="en-US" sz="760" b="1" spc="30" kern="0" dirty="0">
                <a:solidFill>
                  <a:srgbClr val="A8515F"/>
                </a:solidFill>
                <a:latin typeface="IBM Plex Sans" pitchFamily="34" charset="0"/>
                <a:ea typeface="IBM Plex Sans" pitchFamily="34" charset="-122"/>
                <a:cs typeface="IBM Plex Sans" pitchFamily="34" charset="-120"/>
              </a:rPr>
              <a:t>MENTIONS LÉGALES</a:t>
            </a:r>
            <a:endParaRPr lang="en-US" sz="760" dirty="0"/>
          </a:p>
        </p:txBody>
      </p:sp>
      <p:sp>
        <p:nvSpPr>
          <p:cNvPr id="14" name="Text 10"/>
          <p:cNvSpPr/>
          <p:nvPr/>
        </p:nvSpPr>
        <p:spPr>
          <a:xfrm>
            <a:off x="2868000" y="5148000"/>
            <a:ext cx="1860000" cy="1728000"/>
          </a:xfrm>
          <a:prstGeom prst="rect">
            <a:avLst/>
          </a:prstGeom>
          <a:noFill/>
          <a:ln/>
        </p:spPr>
        <p:txBody>
          <a:bodyPr wrap="square" lIns="0" tIns="0" rIns="0" bIns="0" rtlCol="0" anchor="ctr"/>
          <a:lstStyle/>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Photos non contractuelles, suggestions de présentation. Dans la limite des stocks disponibles. Les Millésimes peuvent évoluer en fonction de l’avancé de l’année. Sauf erreurs typographiques. Prix H.T. Agence SCIO Vins et spirits 843 151 663 RCS Nantes. Crédits photos : viticulteurs et Adobe Stock. NE PAS JETER SUR LA VOIE PUBLIQUE.</a:t>
            </a:r>
            <a:endParaRPr lang="en-US" sz="780" dirty="0"/>
          </a:p>
        </p:txBody>
      </p:sp>
      <p:sp>
        <p:nvSpPr>
          <p:cNvPr id="15" name="Text 11"/>
          <p:cNvSpPr/>
          <p:nvPr/>
        </p:nvSpPr>
        <p:spPr>
          <a:xfrm>
            <a:off x="4908000" y="4932000"/>
            <a:ext cx="1860000" cy="180000"/>
          </a:xfrm>
          <a:prstGeom prst="rect">
            <a:avLst/>
          </a:prstGeom>
          <a:noFill/>
          <a:ln/>
        </p:spPr>
        <p:txBody>
          <a:bodyPr wrap="square" lIns="0" tIns="0" rIns="0" bIns="0" rtlCol="0" anchor="ctr"/>
          <a:lstStyle/>
          <a:p>
            <a:pPr indent="0" marL="0">
              <a:buNone/>
            </a:pPr>
            <a:r>
              <a:rPr lang="en-US" sz="760" b="1" spc="30" kern="0" dirty="0">
                <a:solidFill>
                  <a:srgbClr val="A8515F"/>
                </a:solidFill>
                <a:latin typeface="IBM Plex Sans" pitchFamily="34" charset="0"/>
                <a:ea typeface="IBM Plex Sans" pitchFamily="34" charset="-122"/>
                <a:cs typeface="IBM Plex Sans" pitchFamily="34" charset="-120"/>
              </a:rPr>
              <a:t>CRÉDITS</a:t>
            </a:r>
            <a:endParaRPr lang="en-US" sz="760" dirty="0"/>
          </a:p>
        </p:txBody>
      </p:sp>
      <p:sp>
        <p:nvSpPr>
          <p:cNvPr id="16" name="Text 12"/>
          <p:cNvSpPr/>
          <p:nvPr/>
        </p:nvSpPr>
        <p:spPr>
          <a:xfrm>
            <a:off x="4908000" y="5148000"/>
            <a:ext cx="1860000" cy="1728000"/>
          </a:xfrm>
          <a:prstGeom prst="rect">
            <a:avLst/>
          </a:prstGeom>
          <a:noFill/>
          <a:ln/>
        </p:spPr>
        <p:txBody>
          <a:bodyPr wrap="square" lIns="0" tIns="0" rIns="0" bIns="0" rtlCol="0" anchor="ctr"/>
          <a:lstStyle/>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Conception, maquette et illustrations : Agence SCIO. Les pictogrammes de ce catalogue sont les nôtres ; ils ne reproduisent aucun logo officiel d'organisme certificateur. Les photographies des fiches viennent de les sites officiels des domaines et de la photothèque de l'agence ; elles sont créditées une à une dans credits.md.</a:t>
            </a:r>
            <a:endParaRPr lang="en-US" sz="780" dirty="0"/>
          </a:p>
        </p:txBody>
      </p:sp>
      <p:sp>
        <p:nvSpPr>
          <p:cNvPr id="17" name="Shape 13"/>
          <p:cNvSpPr/>
          <p:nvPr/>
        </p:nvSpPr>
        <p:spPr>
          <a:xfrm>
            <a:off x="828000" y="8388000"/>
            <a:ext cx="6120000" cy="360000"/>
          </a:xfrm>
          <a:prstGeom prst="roundRect">
            <a:avLst>
              <a:gd name="adj" fmla="val 5080"/>
            </a:avLst>
          </a:prstGeom>
          <a:solidFill>
            <a:srgbClr val="67067C"/>
          </a:solidFill>
          <a:ln w="12700">
            <a:solidFill>
              <a:srgbClr val="67067C"/>
            </a:solidFill>
            <a:prstDash val="solid"/>
          </a:ln>
        </p:spPr>
      </p:sp>
      <p:sp>
        <p:nvSpPr>
          <p:cNvPr id="18" name="Text 14"/>
          <p:cNvSpPr/>
          <p:nvPr/>
        </p:nvSpPr>
        <p:spPr>
          <a:xfrm>
            <a:off x="828000" y="8388000"/>
            <a:ext cx="6120000" cy="360000"/>
          </a:xfrm>
          <a:prstGeom prst="rect">
            <a:avLst/>
          </a:prstGeom>
          <a:noFill/>
          <a:ln/>
        </p:spPr>
        <p:txBody>
          <a:bodyPr wrap="square" lIns="0" tIns="0" rIns="0" bIns="0" rtlCol="0" anchor="ctr"/>
          <a:lstStyle/>
          <a:p>
            <a:pPr algn="ctr" indent="0" marL="0">
              <a:buNone/>
            </a:pPr>
            <a:r>
              <a:rPr lang="en-US" sz="850" b="1" dirty="0">
                <a:solidFill>
                  <a:srgbClr val="FBF8F1"/>
                </a:solidFill>
                <a:latin typeface="IBM Plex Sans" pitchFamily="34" charset="0"/>
                <a:ea typeface="IBM Plex Sans" pitchFamily="34" charset="-122"/>
                <a:cs typeface="IBM Plex Sans" pitchFamily="34" charset="-120"/>
              </a:rPr>
              <a:t>L’ABUS D’ALCOOL EST DANGEREUX POUR LA SANTÉ. À CONSOMMER AVEC MODÉRATION.</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Salon Privé Vins &amp; Terroirs — Lundi 5 octobre 2026</dc:title>
  <dc:subject>PptxGenJS Presentation</dc:subject>
  <dc:creator>Agence SCIO Vins &amp; Spirits</dc:creator>
  <cp:lastModifiedBy>Agence SCIO Vins &amp; Spirits</cp:lastModifiedBy>
  <cp:revision>1</cp:revision>
  <dcterms:created xsi:type="dcterms:W3CDTF">2026-10-02T12:22:28Z</dcterms:created>
  <dcterms:modified xsi:type="dcterms:W3CDTF">2026-10-02T12:22:28Z</dcterms:modified>
</cp:coreProperties>
</file>