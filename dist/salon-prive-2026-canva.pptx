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940000" cy="1224000"/>
          </a:xfrm>
          <a:prstGeom prst="rect">
            <a:avLst/>
          </a:prstGeom>
          <a:noFill/>
          <a:ln/>
        </p:spPr>
        <p:txBody>
          <a:bodyPr wrap="square" lIns="0" tIns="0" rIns="0" bIns="0" rtlCol="0" anchor="ctr"/>
          <a:lstStyle/>
          <a:p>
            <a:pPr indent="0" marL="0">
              <a:lnSpc>
                <a:spcPct val="92000"/>
              </a:lnSpc>
              <a:buNone/>
            </a:pPr>
            <a:r>
              <a:rPr lang="en-US" sz="4400" dirty="0">
                <a:solidFill>
                  <a:srgbClr val="46606E"/>
                </a:solidFill>
                <a:latin typeface="Young Serif" pitchFamily="34" charset="0"/>
                <a:ea typeface="Young Serif" pitchFamily="34" charset="-122"/>
                <a:cs typeface="Young Serif" pitchFamily="34" charset="-120"/>
              </a:rPr>
              <a:t>Salon Privé</a:t>
            </a:r>
            <a:endParaRPr lang="en-US" sz="4400" dirty="0"/>
          </a:p>
          <a:p>
            <a:pPr indent="0" marL="0">
              <a:lnSpc>
                <a:spcPct val="92000"/>
              </a:lnSpc>
              <a:buNone/>
            </a:pPr>
            <a:r>
              <a:rPr lang="en-US" sz="4400" dirty="0">
                <a:solidFill>
                  <a:srgbClr val="67067C"/>
                </a:solidFill>
                <a:latin typeface="Young Serif" pitchFamily="34" charset="0"/>
                <a:ea typeface="Young Serif" pitchFamily="34" charset="-122"/>
                <a:cs typeface="Young Serif" pitchFamily="34" charset="-120"/>
              </a:rPr>
              <a:t>Vins &amp; Terroirs</a:t>
            </a:r>
            <a:endParaRPr lang="en-US" sz="4400" dirty="0"/>
          </a:p>
        </p:txBody>
      </p:sp>
      <p:sp>
        <p:nvSpPr>
          <p:cNvPr id="5" name="Text 1"/>
          <p:cNvSpPr/>
          <p:nvPr/>
        </p:nvSpPr>
        <p:spPr>
          <a:xfrm>
            <a:off x="612000" y="3204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Vingt-six vignerons, neuf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3528000" y="576000"/>
            <a:ext cx="3420000" cy="306000"/>
          </a:xfrm>
          <a:prstGeom prst="rect">
            <a:avLst/>
          </a:prstGeom>
          <a:noFill/>
          <a:ln/>
        </p:spPr>
        <p:txBody>
          <a:bodyPr wrap="square" lIns="0" tIns="0" rIns="0" bIns="0" rtlCol="0" anchor="t"/>
          <a:lstStyle/>
          <a:p>
            <a:pPr algn="r" indent="0" marL="0">
              <a:buNone/>
            </a:pPr>
            <a:r>
              <a:rPr lang="en-US" sz="1900" dirty="0">
                <a:solidFill>
                  <a:srgbClr val="67067C"/>
                </a:solidFill>
                <a:latin typeface="Young Serif" pitchFamily="34" charset="0"/>
                <a:ea typeface="Young Serif" pitchFamily="34" charset="-122"/>
                <a:cs typeface="Young Serif" pitchFamily="34" charset="-120"/>
              </a:rPr>
              <a:t>Lundi 5 octobre 2026</a:t>
            </a:r>
            <a:endParaRPr lang="en-US" sz="1900" dirty="0"/>
          </a:p>
        </p:txBody>
      </p:sp>
      <p:sp>
        <p:nvSpPr>
          <p:cNvPr id="7" name="Text 3"/>
          <p:cNvSpPr/>
          <p:nvPr/>
        </p:nvSpPr>
        <p:spPr>
          <a:xfrm>
            <a:off x="3528000" y="900000"/>
            <a:ext cx="3420000" cy="324000"/>
          </a:xfrm>
          <a:prstGeom prst="rect">
            <a:avLst/>
          </a:prstGeom>
          <a:noFill/>
          <a:ln/>
        </p:spPr>
        <p:txBody>
          <a:bodyPr wrap="square" lIns="0" tIns="0" rIns="0" bIns="0" rtlCol="0" anchor="t"/>
          <a:lstStyle/>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CHÂTEAU DE LA RAIRIE</a:t>
            </a:r>
            <a:endParaRPr lang="en-US" sz="900" dirty="0"/>
          </a:p>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PONT-SAINT-MARTIN</a:t>
            </a:r>
            <a:endParaRPr lang="en-US" sz="9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sp>
        <p:nvSpPr>
          <p:cNvPr id="9" name="Shape 6"/>
          <p:cNvSpPr/>
          <p:nvPr/>
        </p:nvSpPr>
        <p:spPr>
          <a:xfrm>
            <a:off x="828000" y="4932000"/>
            <a:ext cx="6120000" cy="1296000"/>
          </a:xfrm>
          <a:prstGeom prst="rect">
            <a:avLst/>
          </a:prstGeom>
          <a:solidFill>
            <a:srgbClr val="FBF8F1"/>
          </a:solidFill>
          <a:ln w="12700">
            <a:solidFill>
              <a:srgbClr val="FBF8F1"/>
            </a:solidFill>
            <a:prstDash val="solid"/>
          </a:ln>
        </p:spPr>
      </p:sp>
      <p:sp>
        <p:nvSpPr>
          <p:cNvPr id="10" name="Shape 7"/>
          <p:cNvSpPr/>
          <p:nvPr/>
        </p:nvSpPr>
        <p:spPr>
          <a:xfrm>
            <a:off x="828000" y="4932000"/>
            <a:ext cx="0" cy="1296000"/>
          </a:xfrm>
          <a:prstGeom prst="line">
            <a:avLst/>
          </a:prstGeom>
          <a:noFill/>
          <a:ln w="25400">
            <a:solidFill>
              <a:srgbClr val="E1C853"/>
            </a:solidFill>
            <a:prstDash val="solid"/>
          </a:ln>
        </p:spPr>
      </p:sp>
      <p:sp>
        <p:nvSpPr>
          <p:cNvPr id="11" name="Text 8"/>
          <p:cNvSpPr/>
          <p:nvPr/>
        </p:nvSpPr>
        <p:spPr>
          <a:xfrm>
            <a:off x="1044000" y="4932000"/>
            <a:ext cx="5688000" cy="1296000"/>
          </a:xfrm>
          <a:prstGeom prst="rect">
            <a:avLst/>
          </a:prstGeom>
          <a:noFill/>
          <a:ln/>
        </p:spPr>
        <p:txBody>
          <a:bodyPr wrap="square" lIns="0" tIns="0" rIns="0" bIns="0" rtlCol="0" anchor="ctr"/>
          <a:lstStyle/>
          <a:p>
            <a:pPr indent="0" marL="0">
              <a:lnSpc>
                <a:spcPct val="125000"/>
              </a:lnSpc>
              <a:buNone/>
            </a:pPr>
            <a:r>
              <a:rPr lang="en-US" sz="1800" dirty="0">
                <a:solidFill>
                  <a:srgbClr val="67067C"/>
                </a:solidFill>
                <a:latin typeface="Young Serif" pitchFamily="34" charset="0"/>
                <a:ea typeface="Young Serif" pitchFamily="34" charset="-122"/>
                <a:cs typeface="Young Serif" pitchFamily="34" charset="-120"/>
              </a:rPr>
              <a:t>Salon Privé Vins &amp; Terroirs</a:t>
            </a:r>
            <a:endParaRPr lang="en-US" sz="1800" dirty="0"/>
          </a:p>
          <a:p>
            <a:pPr indent="0" marL="0">
              <a:lnSpc>
                <a:spcPct val="125000"/>
              </a:lnSpc>
              <a:buNone/>
            </a:pPr>
            <a:r>
              <a:rPr lang="en-US" sz="1300" dirty="0">
                <a:solidFill>
                  <a:srgbClr val="46606E"/>
                </a:solidFill>
                <a:latin typeface="Young Serif" pitchFamily="34" charset="0"/>
                <a:ea typeface="Young Serif" pitchFamily="34" charset="-122"/>
                <a:cs typeface="Young Serif" pitchFamily="34" charset="-120"/>
              </a:rPr>
              <a:t>Lundi 5 octobre 2026</a:t>
            </a:r>
            <a:endParaRPr lang="en-US" sz="1800" dirty="0"/>
          </a:p>
          <a:p>
            <a:pPr indent="0" marL="0">
              <a:lnSpc>
                <a:spcPct val="125000"/>
              </a:lnSpc>
              <a:buNone/>
            </a:pPr>
            <a:r>
              <a:rPr lang="en-US" sz="1000" dirty="0">
                <a:solidFill>
                  <a:srgbClr val="46606E"/>
                </a:solidFill>
                <a:latin typeface="Spectral" pitchFamily="34" charset="0"/>
                <a:ea typeface="Spectral" pitchFamily="34" charset="-122"/>
                <a:cs typeface="Spectral" pitchFamily="34" charset="-120"/>
              </a:rPr>
              <a:t>Château de la Rairie, Pont-Saint-Martin</a:t>
            </a:r>
            <a:endParaRPr lang="en-US" sz="1800" dirty="0"/>
          </a:p>
          <a:p>
            <a:pPr indent="0" marL="0">
              <a:lnSpc>
                <a:spcPct val="125000"/>
              </a:lnSpc>
              <a:buNone/>
            </a:pPr>
            <a:r>
              <a:rPr lang="en-US" sz="800" dirty="0">
                <a:solidFill>
                  <a:srgbClr val="A8515F"/>
                </a:solidFill>
                <a:latin typeface="IBM Plex Sans" pitchFamily="34" charset="0"/>
                <a:ea typeface="IBM Plex Sans" pitchFamily="34" charset="-122"/>
                <a:cs typeface="IBM Plex Sans" pitchFamily="34" charset="-120"/>
              </a:rPr>
              <a:t>Organisé par l'Agence SCIO Vins &amp; Spirits</a:t>
            </a:r>
            <a:endParaRPr lang="en-US" sz="1800" dirty="0"/>
          </a:p>
        </p:txBody>
      </p:sp>
      <p:sp>
        <p:nvSpPr>
          <p:cNvPr id="12" name="Shape 9"/>
          <p:cNvSpPr/>
          <p:nvPr/>
        </p:nvSpPr>
        <p:spPr>
          <a:xfrm>
            <a:off x="828000" y="6732000"/>
            <a:ext cx="6120000" cy="0"/>
          </a:xfrm>
          <a:prstGeom prst="line">
            <a:avLst/>
          </a:prstGeom>
          <a:noFill/>
          <a:ln w="10160">
            <a:solidFill>
              <a:srgbClr val="67067C"/>
            </a:solidFill>
            <a:prstDash val="solid"/>
          </a:ln>
        </p:spPr>
      </p:sp>
      <p:sp>
        <p:nvSpPr>
          <p:cNvPr id="13" name="Text 10"/>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26</a:t>
            </a:r>
            <a:endParaRPr lang="en-US" sz="2600" dirty="0"/>
          </a:p>
        </p:txBody>
      </p:sp>
      <p:sp>
        <p:nvSpPr>
          <p:cNvPr id="14" name="Text 11"/>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vignerons</a:t>
            </a:r>
            <a:endParaRPr lang="en-US" sz="900" dirty="0"/>
          </a:p>
        </p:txBody>
      </p:sp>
      <p:sp>
        <p:nvSpPr>
          <p:cNvPr id="15" name="Text 12"/>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9</a:t>
            </a:r>
            <a:endParaRPr lang="en-US" sz="2600" dirty="0"/>
          </a:p>
        </p:txBody>
      </p:sp>
      <p:sp>
        <p:nvSpPr>
          <p:cNvPr id="16" name="Text 13"/>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7" name="Text 14"/>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180</a:t>
            </a:r>
            <a:endParaRPr lang="en-US" sz="2600" dirty="0"/>
          </a:p>
        </p:txBody>
      </p:sp>
      <p:sp>
        <p:nvSpPr>
          <p:cNvPr id="18" name="Text 15"/>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vins à la dégustation</a:t>
            </a:r>
            <a:endParaRPr lang="en-US" sz="900" dirty="0"/>
          </a:p>
        </p:txBody>
      </p:sp>
      <p:sp>
        <p:nvSpPr>
          <p:cNvPr id="19"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20"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RÉGION ; LE PREMIER CHIFFRE EST LE NUMÉRO DU STAND</a:t>
            </a:r>
            <a:endParaRPr lang="en-US" sz="800" dirty="0"/>
          </a:p>
        </p:txBody>
      </p:sp>
      <p:sp>
        <p:nvSpPr>
          <p:cNvPr id="4" name="Shape 2"/>
          <p:cNvSpPr/>
          <p:nvPr/>
        </p:nvSpPr>
        <p:spPr>
          <a:xfrm>
            <a:off x="612000" y="1393200"/>
            <a:ext cx="115200" cy="115200"/>
          </a:xfrm>
          <a:prstGeom prst="rect">
            <a:avLst/>
          </a:prstGeom>
          <a:solidFill>
            <a:srgbClr val="46606E"/>
          </a:solidFill>
          <a:ln w="7620">
            <a:solidFill>
              <a:srgbClr val="46606E"/>
            </a:solidFill>
            <a:prstDash val="solid"/>
          </a:ln>
        </p:spPr>
      </p:sp>
      <p:sp>
        <p:nvSpPr>
          <p:cNvPr id="5" name="Text 3"/>
          <p:cNvSpPr/>
          <p:nvPr/>
        </p:nvSpPr>
        <p:spPr>
          <a:xfrm>
            <a:off x="806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6" name="Shape 4"/>
          <p:cNvSpPr/>
          <p:nvPr/>
        </p:nvSpPr>
        <p:spPr>
          <a:xfrm>
            <a:off x="612000" y="1587600"/>
            <a:ext cx="2952000" cy="0"/>
          </a:xfrm>
          <a:prstGeom prst="line">
            <a:avLst/>
          </a:prstGeom>
          <a:noFill/>
          <a:ln w="11430">
            <a:solidFill>
              <a:srgbClr val="67067C"/>
            </a:solidFill>
            <a:prstDash val="solid"/>
          </a:ln>
        </p:spPr>
      </p:sp>
      <p:sp>
        <p:nvSpPr>
          <p:cNvPr id="7" name="Text 5"/>
          <p:cNvSpPr/>
          <p:nvPr/>
        </p:nvSpPr>
        <p:spPr>
          <a:xfrm>
            <a:off x="612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8" name="Text 6"/>
          <p:cNvSpPr/>
          <p:nvPr/>
        </p:nvSpPr>
        <p:spPr>
          <a:xfrm>
            <a:off x="918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9" name="Text 7"/>
          <p:cNvSpPr/>
          <p:nvPr/>
        </p:nvSpPr>
        <p:spPr>
          <a:xfrm>
            <a:off x="3204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0" name="Shape 8"/>
          <p:cNvSpPr/>
          <p:nvPr/>
        </p:nvSpPr>
        <p:spPr>
          <a:xfrm>
            <a:off x="612000" y="1839600"/>
            <a:ext cx="2952000" cy="0"/>
          </a:xfrm>
          <a:prstGeom prst="line">
            <a:avLst/>
          </a:prstGeom>
          <a:noFill/>
          <a:ln w="3810">
            <a:solidFill>
              <a:srgbClr val="C9CFC9"/>
            </a:solidFill>
            <a:prstDash val="solid"/>
          </a:ln>
        </p:spPr>
      </p:sp>
      <p:sp>
        <p:nvSpPr>
          <p:cNvPr id="11" name="Text 9"/>
          <p:cNvSpPr/>
          <p:nvPr/>
        </p:nvSpPr>
        <p:spPr>
          <a:xfrm>
            <a:off x="612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2" name="Text 10"/>
          <p:cNvSpPr/>
          <p:nvPr/>
        </p:nvSpPr>
        <p:spPr>
          <a:xfrm>
            <a:off x="918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3" name="Text 11"/>
          <p:cNvSpPr/>
          <p:nvPr/>
        </p:nvSpPr>
        <p:spPr>
          <a:xfrm>
            <a:off x="3204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4" name="Shape 12"/>
          <p:cNvSpPr/>
          <p:nvPr/>
        </p:nvSpPr>
        <p:spPr>
          <a:xfrm>
            <a:off x="612000" y="2041200"/>
            <a:ext cx="2952000" cy="0"/>
          </a:xfrm>
          <a:prstGeom prst="line">
            <a:avLst/>
          </a:prstGeom>
          <a:noFill/>
          <a:ln w="3810">
            <a:solidFill>
              <a:srgbClr val="C9CFC9"/>
            </a:solidFill>
            <a:prstDash val="solid"/>
          </a:ln>
        </p:spPr>
      </p:sp>
      <p:sp>
        <p:nvSpPr>
          <p:cNvPr id="15" name="Text 13"/>
          <p:cNvSpPr/>
          <p:nvPr/>
        </p:nvSpPr>
        <p:spPr>
          <a:xfrm>
            <a:off x="612000" y="204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6" name="Text 14"/>
          <p:cNvSpPr/>
          <p:nvPr/>
        </p:nvSpPr>
        <p:spPr>
          <a:xfrm>
            <a:off x="918000" y="204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7" name="Text 15"/>
          <p:cNvSpPr/>
          <p:nvPr/>
        </p:nvSpPr>
        <p:spPr>
          <a:xfrm>
            <a:off x="3204000" y="204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8" name="Shape 16"/>
          <p:cNvSpPr/>
          <p:nvPr/>
        </p:nvSpPr>
        <p:spPr>
          <a:xfrm>
            <a:off x="612000" y="2242800"/>
            <a:ext cx="2952000" cy="0"/>
          </a:xfrm>
          <a:prstGeom prst="line">
            <a:avLst/>
          </a:prstGeom>
          <a:noFill/>
          <a:ln w="3810">
            <a:solidFill>
              <a:srgbClr val="C9CFC9"/>
            </a:solidFill>
            <a:prstDash val="solid"/>
          </a:ln>
        </p:spPr>
      </p:sp>
      <p:sp>
        <p:nvSpPr>
          <p:cNvPr id="19" name="Text 17"/>
          <p:cNvSpPr/>
          <p:nvPr/>
        </p:nvSpPr>
        <p:spPr>
          <a:xfrm>
            <a:off x="612000" y="224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20" name="Text 18"/>
          <p:cNvSpPr/>
          <p:nvPr/>
        </p:nvSpPr>
        <p:spPr>
          <a:xfrm>
            <a:off x="918000" y="224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1" name="Text 19"/>
          <p:cNvSpPr/>
          <p:nvPr/>
        </p:nvSpPr>
        <p:spPr>
          <a:xfrm>
            <a:off x="3204000" y="224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2" name="Shape 20"/>
          <p:cNvSpPr/>
          <p:nvPr/>
        </p:nvSpPr>
        <p:spPr>
          <a:xfrm>
            <a:off x="612000" y="2444400"/>
            <a:ext cx="2952000" cy="0"/>
          </a:xfrm>
          <a:prstGeom prst="line">
            <a:avLst/>
          </a:prstGeom>
          <a:noFill/>
          <a:ln w="3810">
            <a:solidFill>
              <a:srgbClr val="C9CFC9"/>
            </a:solidFill>
            <a:prstDash val="solid"/>
          </a:ln>
        </p:spPr>
      </p:sp>
      <p:sp>
        <p:nvSpPr>
          <p:cNvPr id="23" name="Text 21"/>
          <p:cNvSpPr/>
          <p:nvPr/>
        </p:nvSpPr>
        <p:spPr>
          <a:xfrm>
            <a:off x="612000" y="24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24" name="Text 22"/>
          <p:cNvSpPr/>
          <p:nvPr/>
        </p:nvSpPr>
        <p:spPr>
          <a:xfrm>
            <a:off x="918000" y="24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5" name="Text 23"/>
          <p:cNvSpPr/>
          <p:nvPr/>
        </p:nvSpPr>
        <p:spPr>
          <a:xfrm>
            <a:off x="3204000" y="24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6" name="Shape 24"/>
          <p:cNvSpPr/>
          <p:nvPr/>
        </p:nvSpPr>
        <p:spPr>
          <a:xfrm>
            <a:off x="612000" y="2646000"/>
            <a:ext cx="2952000" cy="0"/>
          </a:xfrm>
          <a:prstGeom prst="line">
            <a:avLst/>
          </a:prstGeom>
          <a:noFill/>
          <a:ln w="3810">
            <a:solidFill>
              <a:srgbClr val="C9CFC9"/>
            </a:solidFill>
            <a:prstDash val="solid"/>
          </a:ln>
        </p:spPr>
      </p:sp>
      <p:sp>
        <p:nvSpPr>
          <p:cNvPr id="27" name="Text 25"/>
          <p:cNvSpPr/>
          <p:nvPr/>
        </p:nvSpPr>
        <p:spPr>
          <a:xfrm>
            <a:off x="612000" y="264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28" name="Text 26"/>
          <p:cNvSpPr/>
          <p:nvPr/>
        </p:nvSpPr>
        <p:spPr>
          <a:xfrm>
            <a:off x="918000" y="264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9" name="Text 27"/>
          <p:cNvSpPr/>
          <p:nvPr/>
        </p:nvSpPr>
        <p:spPr>
          <a:xfrm>
            <a:off x="3204000" y="264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0" name="Shape 28"/>
          <p:cNvSpPr/>
          <p:nvPr/>
        </p:nvSpPr>
        <p:spPr>
          <a:xfrm>
            <a:off x="612000" y="2847600"/>
            <a:ext cx="2952000" cy="0"/>
          </a:xfrm>
          <a:prstGeom prst="line">
            <a:avLst/>
          </a:prstGeom>
          <a:noFill/>
          <a:ln w="3810">
            <a:solidFill>
              <a:srgbClr val="C9CFC9"/>
            </a:solidFill>
            <a:prstDash val="solid"/>
          </a:ln>
        </p:spPr>
      </p:sp>
      <p:sp>
        <p:nvSpPr>
          <p:cNvPr id="31" name="Shape 29"/>
          <p:cNvSpPr/>
          <p:nvPr/>
        </p:nvSpPr>
        <p:spPr>
          <a:xfrm>
            <a:off x="612000" y="3078000"/>
            <a:ext cx="115200" cy="115200"/>
          </a:xfrm>
          <a:prstGeom prst="rect">
            <a:avLst/>
          </a:prstGeom>
          <a:solidFill>
            <a:srgbClr val="3C5B47"/>
          </a:solidFill>
          <a:ln w="7620">
            <a:solidFill>
              <a:srgbClr val="3C5B47"/>
            </a:solidFill>
            <a:prstDash val="solid"/>
          </a:ln>
        </p:spPr>
      </p:sp>
      <p:sp>
        <p:nvSpPr>
          <p:cNvPr id="32" name="Text 30"/>
          <p:cNvSpPr/>
          <p:nvPr/>
        </p:nvSpPr>
        <p:spPr>
          <a:xfrm>
            <a:off x="806400" y="299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3" name="Shape 31"/>
          <p:cNvSpPr/>
          <p:nvPr/>
        </p:nvSpPr>
        <p:spPr>
          <a:xfrm>
            <a:off x="612000" y="3272400"/>
            <a:ext cx="2952000" cy="0"/>
          </a:xfrm>
          <a:prstGeom prst="line">
            <a:avLst/>
          </a:prstGeom>
          <a:noFill/>
          <a:ln w="11430">
            <a:solidFill>
              <a:srgbClr val="67067C"/>
            </a:solidFill>
            <a:prstDash val="solid"/>
          </a:ln>
        </p:spPr>
      </p:sp>
      <p:sp>
        <p:nvSpPr>
          <p:cNvPr id="34" name="Text 32"/>
          <p:cNvSpPr/>
          <p:nvPr/>
        </p:nvSpPr>
        <p:spPr>
          <a:xfrm>
            <a:off x="612000" y="332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35" name="Text 33"/>
          <p:cNvSpPr/>
          <p:nvPr/>
        </p:nvSpPr>
        <p:spPr>
          <a:xfrm>
            <a:off x="918000" y="332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6" name="Text 34"/>
          <p:cNvSpPr/>
          <p:nvPr/>
        </p:nvSpPr>
        <p:spPr>
          <a:xfrm>
            <a:off x="3204000" y="332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37" name="Shape 35"/>
          <p:cNvSpPr/>
          <p:nvPr/>
        </p:nvSpPr>
        <p:spPr>
          <a:xfrm>
            <a:off x="612000" y="3524400"/>
            <a:ext cx="2952000" cy="0"/>
          </a:xfrm>
          <a:prstGeom prst="line">
            <a:avLst/>
          </a:prstGeom>
          <a:noFill/>
          <a:ln w="3810">
            <a:solidFill>
              <a:srgbClr val="C9CFC9"/>
            </a:solidFill>
            <a:prstDash val="solid"/>
          </a:ln>
        </p:spPr>
      </p:sp>
      <p:sp>
        <p:nvSpPr>
          <p:cNvPr id="38" name="Shape 36"/>
          <p:cNvSpPr/>
          <p:nvPr/>
        </p:nvSpPr>
        <p:spPr>
          <a:xfrm>
            <a:off x="612000" y="3754800"/>
            <a:ext cx="115200" cy="115200"/>
          </a:xfrm>
          <a:prstGeom prst="rect">
            <a:avLst/>
          </a:prstGeom>
          <a:solidFill>
            <a:srgbClr val="D08C3C"/>
          </a:solidFill>
          <a:ln w="7620">
            <a:solidFill>
              <a:srgbClr val="D08C3C"/>
            </a:solidFill>
            <a:prstDash val="solid"/>
          </a:ln>
        </p:spPr>
      </p:sp>
      <p:sp>
        <p:nvSpPr>
          <p:cNvPr id="39" name="Text 37"/>
          <p:cNvSpPr/>
          <p:nvPr/>
        </p:nvSpPr>
        <p:spPr>
          <a:xfrm>
            <a:off x="806400" y="3675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40" name="Shape 38"/>
          <p:cNvSpPr/>
          <p:nvPr/>
        </p:nvSpPr>
        <p:spPr>
          <a:xfrm>
            <a:off x="612000" y="3949200"/>
            <a:ext cx="2952000" cy="0"/>
          </a:xfrm>
          <a:prstGeom prst="line">
            <a:avLst/>
          </a:prstGeom>
          <a:noFill/>
          <a:ln w="11430">
            <a:solidFill>
              <a:srgbClr val="67067C"/>
            </a:solidFill>
            <a:prstDash val="solid"/>
          </a:ln>
        </p:spPr>
      </p:sp>
      <p:sp>
        <p:nvSpPr>
          <p:cNvPr id="41" name="Text 39"/>
          <p:cNvSpPr/>
          <p:nvPr/>
        </p:nvSpPr>
        <p:spPr>
          <a:xfrm>
            <a:off x="612000" y="39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42" name="Text 40"/>
          <p:cNvSpPr/>
          <p:nvPr/>
        </p:nvSpPr>
        <p:spPr>
          <a:xfrm>
            <a:off x="918000" y="39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3" name="Text 41"/>
          <p:cNvSpPr/>
          <p:nvPr/>
        </p:nvSpPr>
        <p:spPr>
          <a:xfrm>
            <a:off x="3204000" y="39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44" name="Shape 42"/>
          <p:cNvSpPr/>
          <p:nvPr/>
        </p:nvSpPr>
        <p:spPr>
          <a:xfrm>
            <a:off x="612000" y="4201200"/>
            <a:ext cx="2952000" cy="0"/>
          </a:xfrm>
          <a:prstGeom prst="line">
            <a:avLst/>
          </a:prstGeom>
          <a:noFill/>
          <a:ln w="3810">
            <a:solidFill>
              <a:srgbClr val="C9CFC9"/>
            </a:solidFill>
            <a:prstDash val="solid"/>
          </a:ln>
        </p:spPr>
      </p:sp>
      <p:sp>
        <p:nvSpPr>
          <p:cNvPr id="45" name="Text 43"/>
          <p:cNvSpPr/>
          <p:nvPr/>
        </p:nvSpPr>
        <p:spPr>
          <a:xfrm>
            <a:off x="612000" y="420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46" name="Text 44"/>
          <p:cNvSpPr/>
          <p:nvPr/>
        </p:nvSpPr>
        <p:spPr>
          <a:xfrm>
            <a:off x="918000" y="420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47" name="Text 45"/>
          <p:cNvSpPr/>
          <p:nvPr/>
        </p:nvSpPr>
        <p:spPr>
          <a:xfrm>
            <a:off x="3204000" y="420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48" name="Shape 46"/>
          <p:cNvSpPr/>
          <p:nvPr/>
        </p:nvSpPr>
        <p:spPr>
          <a:xfrm>
            <a:off x="612000" y="4402800"/>
            <a:ext cx="2952000" cy="0"/>
          </a:xfrm>
          <a:prstGeom prst="line">
            <a:avLst/>
          </a:prstGeom>
          <a:noFill/>
          <a:ln w="3810">
            <a:solidFill>
              <a:srgbClr val="C9CFC9"/>
            </a:solidFill>
            <a:prstDash val="solid"/>
          </a:ln>
        </p:spPr>
      </p:sp>
      <p:sp>
        <p:nvSpPr>
          <p:cNvPr id="49" name="Text 47"/>
          <p:cNvSpPr/>
          <p:nvPr/>
        </p:nvSpPr>
        <p:spPr>
          <a:xfrm>
            <a:off x="612000" y="440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0" name="Text 48"/>
          <p:cNvSpPr/>
          <p:nvPr/>
        </p:nvSpPr>
        <p:spPr>
          <a:xfrm>
            <a:off x="918000" y="440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51" name="Text 49"/>
          <p:cNvSpPr/>
          <p:nvPr/>
        </p:nvSpPr>
        <p:spPr>
          <a:xfrm>
            <a:off x="3204000" y="440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52" name="Shape 50"/>
          <p:cNvSpPr/>
          <p:nvPr/>
        </p:nvSpPr>
        <p:spPr>
          <a:xfrm>
            <a:off x="612000" y="4604400"/>
            <a:ext cx="2952000" cy="0"/>
          </a:xfrm>
          <a:prstGeom prst="line">
            <a:avLst/>
          </a:prstGeom>
          <a:noFill/>
          <a:ln w="3810">
            <a:solidFill>
              <a:srgbClr val="C9CFC9"/>
            </a:solidFill>
            <a:prstDash val="solid"/>
          </a:ln>
        </p:spPr>
      </p:sp>
      <p:sp>
        <p:nvSpPr>
          <p:cNvPr id="53" name="Text 51"/>
          <p:cNvSpPr/>
          <p:nvPr/>
        </p:nvSpPr>
        <p:spPr>
          <a:xfrm>
            <a:off x="612000" y="460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4" name="Text 52"/>
          <p:cNvSpPr/>
          <p:nvPr/>
        </p:nvSpPr>
        <p:spPr>
          <a:xfrm>
            <a:off x="918000" y="460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55" name="Text 53"/>
          <p:cNvSpPr/>
          <p:nvPr/>
        </p:nvSpPr>
        <p:spPr>
          <a:xfrm>
            <a:off x="3204000" y="460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56" name="Shape 54"/>
          <p:cNvSpPr/>
          <p:nvPr/>
        </p:nvSpPr>
        <p:spPr>
          <a:xfrm>
            <a:off x="612000" y="4806000"/>
            <a:ext cx="2952000" cy="0"/>
          </a:xfrm>
          <a:prstGeom prst="line">
            <a:avLst/>
          </a:prstGeom>
          <a:noFill/>
          <a:ln w="3810">
            <a:solidFill>
              <a:srgbClr val="C9CFC9"/>
            </a:solidFill>
            <a:prstDash val="solid"/>
          </a:ln>
        </p:spPr>
      </p:sp>
      <p:sp>
        <p:nvSpPr>
          <p:cNvPr id="57" name="Text 55"/>
          <p:cNvSpPr/>
          <p:nvPr/>
        </p:nvSpPr>
        <p:spPr>
          <a:xfrm>
            <a:off x="612000" y="480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58" name="Text 56"/>
          <p:cNvSpPr/>
          <p:nvPr/>
        </p:nvSpPr>
        <p:spPr>
          <a:xfrm>
            <a:off x="918000" y="480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59" name="Text 57"/>
          <p:cNvSpPr/>
          <p:nvPr/>
        </p:nvSpPr>
        <p:spPr>
          <a:xfrm>
            <a:off x="3204000" y="480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60" name="Shape 58"/>
          <p:cNvSpPr/>
          <p:nvPr/>
        </p:nvSpPr>
        <p:spPr>
          <a:xfrm>
            <a:off x="612000" y="5007600"/>
            <a:ext cx="2952000" cy="0"/>
          </a:xfrm>
          <a:prstGeom prst="line">
            <a:avLst/>
          </a:prstGeom>
          <a:noFill/>
          <a:ln w="3810">
            <a:solidFill>
              <a:srgbClr val="C9CFC9"/>
            </a:solidFill>
            <a:prstDash val="solid"/>
          </a:ln>
        </p:spPr>
      </p:sp>
      <p:sp>
        <p:nvSpPr>
          <p:cNvPr id="61" name="Shape 59"/>
          <p:cNvSpPr/>
          <p:nvPr/>
        </p:nvSpPr>
        <p:spPr>
          <a:xfrm>
            <a:off x="612000" y="5238000"/>
            <a:ext cx="115200" cy="115200"/>
          </a:xfrm>
          <a:prstGeom prst="rect">
            <a:avLst/>
          </a:prstGeom>
          <a:solidFill>
            <a:srgbClr val="3C5B47"/>
          </a:solidFill>
          <a:ln w="7620">
            <a:solidFill>
              <a:srgbClr val="3C5B47"/>
            </a:solidFill>
            <a:prstDash val="solid"/>
          </a:ln>
        </p:spPr>
      </p:sp>
      <p:sp>
        <p:nvSpPr>
          <p:cNvPr id="62" name="Text 60"/>
          <p:cNvSpPr/>
          <p:nvPr/>
        </p:nvSpPr>
        <p:spPr>
          <a:xfrm>
            <a:off x="806400" y="515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63" name="Shape 61"/>
          <p:cNvSpPr/>
          <p:nvPr/>
        </p:nvSpPr>
        <p:spPr>
          <a:xfrm>
            <a:off x="612000" y="5432400"/>
            <a:ext cx="2952000" cy="0"/>
          </a:xfrm>
          <a:prstGeom prst="line">
            <a:avLst/>
          </a:prstGeom>
          <a:noFill/>
          <a:ln w="11430">
            <a:solidFill>
              <a:srgbClr val="67067C"/>
            </a:solidFill>
            <a:prstDash val="solid"/>
          </a:ln>
        </p:spPr>
      </p:sp>
      <p:sp>
        <p:nvSpPr>
          <p:cNvPr id="64" name="Text 62"/>
          <p:cNvSpPr/>
          <p:nvPr/>
        </p:nvSpPr>
        <p:spPr>
          <a:xfrm>
            <a:off x="612000" y="548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5" name="Text 63"/>
          <p:cNvSpPr/>
          <p:nvPr/>
        </p:nvSpPr>
        <p:spPr>
          <a:xfrm>
            <a:off x="918000" y="548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66" name="Text 64"/>
          <p:cNvSpPr/>
          <p:nvPr/>
        </p:nvSpPr>
        <p:spPr>
          <a:xfrm>
            <a:off x="3204000" y="548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67" name="Shape 65"/>
          <p:cNvSpPr/>
          <p:nvPr/>
        </p:nvSpPr>
        <p:spPr>
          <a:xfrm>
            <a:off x="612000" y="5684400"/>
            <a:ext cx="2952000" cy="0"/>
          </a:xfrm>
          <a:prstGeom prst="line">
            <a:avLst/>
          </a:prstGeom>
          <a:noFill/>
          <a:ln w="3810">
            <a:solidFill>
              <a:srgbClr val="C9CFC9"/>
            </a:solidFill>
            <a:prstDash val="solid"/>
          </a:ln>
        </p:spPr>
      </p:sp>
      <p:sp>
        <p:nvSpPr>
          <p:cNvPr id="68" name="Text 66"/>
          <p:cNvSpPr/>
          <p:nvPr/>
        </p:nvSpPr>
        <p:spPr>
          <a:xfrm>
            <a:off x="612000" y="568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9" name="Text 67"/>
          <p:cNvSpPr/>
          <p:nvPr/>
        </p:nvSpPr>
        <p:spPr>
          <a:xfrm>
            <a:off x="918000" y="568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70" name="Text 68"/>
          <p:cNvSpPr/>
          <p:nvPr/>
        </p:nvSpPr>
        <p:spPr>
          <a:xfrm>
            <a:off x="3204000" y="568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71" name="Shape 69"/>
          <p:cNvSpPr/>
          <p:nvPr/>
        </p:nvSpPr>
        <p:spPr>
          <a:xfrm>
            <a:off x="612000" y="5886000"/>
            <a:ext cx="2952000" cy="0"/>
          </a:xfrm>
          <a:prstGeom prst="line">
            <a:avLst/>
          </a:prstGeom>
          <a:noFill/>
          <a:ln w="3810">
            <a:solidFill>
              <a:srgbClr val="C9CFC9"/>
            </a:solidFill>
            <a:prstDash val="solid"/>
          </a:ln>
        </p:spPr>
      </p:sp>
      <p:sp>
        <p:nvSpPr>
          <p:cNvPr id="72" name="Text 70"/>
          <p:cNvSpPr/>
          <p:nvPr/>
        </p:nvSpPr>
        <p:spPr>
          <a:xfrm>
            <a:off x="612000" y="58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3" name="Text 71"/>
          <p:cNvSpPr/>
          <p:nvPr/>
        </p:nvSpPr>
        <p:spPr>
          <a:xfrm>
            <a:off x="918000" y="58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74" name="Text 72"/>
          <p:cNvSpPr/>
          <p:nvPr/>
        </p:nvSpPr>
        <p:spPr>
          <a:xfrm>
            <a:off x="3204000" y="58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75" name="Shape 73"/>
          <p:cNvSpPr/>
          <p:nvPr/>
        </p:nvSpPr>
        <p:spPr>
          <a:xfrm>
            <a:off x="612000" y="6087600"/>
            <a:ext cx="2952000" cy="0"/>
          </a:xfrm>
          <a:prstGeom prst="line">
            <a:avLst/>
          </a:prstGeom>
          <a:noFill/>
          <a:ln w="3810">
            <a:solidFill>
              <a:srgbClr val="C9CFC9"/>
            </a:solidFill>
            <a:prstDash val="solid"/>
          </a:ln>
        </p:spPr>
      </p:sp>
      <p:sp>
        <p:nvSpPr>
          <p:cNvPr id="76" name="Text 74"/>
          <p:cNvSpPr/>
          <p:nvPr/>
        </p:nvSpPr>
        <p:spPr>
          <a:xfrm>
            <a:off x="612000" y="60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7" name="Text 75"/>
          <p:cNvSpPr/>
          <p:nvPr/>
        </p:nvSpPr>
        <p:spPr>
          <a:xfrm>
            <a:off x="918000" y="60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78" name="Text 76"/>
          <p:cNvSpPr/>
          <p:nvPr/>
        </p:nvSpPr>
        <p:spPr>
          <a:xfrm>
            <a:off x="3204000" y="60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79" name="Shape 77"/>
          <p:cNvSpPr/>
          <p:nvPr/>
        </p:nvSpPr>
        <p:spPr>
          <a:xfrm>
            <a:off x="612000" y="6289200"/>
            <a:ext cx="2952000" cy="0"/>
          </a:xfrm>
          <a:prstGeom prst="line">
            <a:avLst/>
          </a:prstGeom>
          <a:noFill/>
          <a:ln w="3810">
            <a:solidFill>
              <a:srgbClr val="C9CFC9"/>
            </a:solidFill>
            <a:prstDash val="solid"/>
          </a:ln>
        </p:spPr>
      </p:sp>
      <p:sp>
        <p:nvSpPr>
          <p:cNvPr id="80" name="Text 78"/>
          <p:cNvSpPr/>
          <p:nvPr/>
        </p:nvSpPr>
        <p:spPr>
          <a:xfrm>
            <a:off x="612000" y="62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81" name="Text 79"/>
          <p:cNvSpPr/>
          <p:nvPr/>
        </p:nvSpPr>
        <p:spPr>
          <a:xfrm>
            <a:off x="918000" y="62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82" name="Text 80"/>
          <p:cNvSpPr/>
          <p:nvPr/>
        </p:nvSpPr>
        <p:spPr>
          <a:xfrm>
            <a:off x="3204000" y="62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83" name="Shape 81"/>
          <p:cNvSpPr/>
          <p:nvPr/>
        </p:nvSpPr>
        <p:spPr>
          <a:xfrm>
            <a:off x="612000" y="6490800"/>
            <a:ext cx="2952000" cy="0"/>
          </a:xfrm>
          <a:prstGeom prst="line">
            <a:avLst/>
          </a:prstGeom>
          <a:noFill/>
          <a:ln w="3810">
            <a:solidFill>
              <a:srgbClr val="C9CFC9"/>
            </a:solidFill>
            <a:prstDash val="solid"/>
          </a:ln>
        </p:spPr>
      </p:sp>
      <p:sp>
        <p:nvSpPr>
          <p:cNvPr id="84" name="Shape 82"/>
          <p:cNvSpPr/>
          <p:nvPr/>
        </p:nvSpPr>
        <p:spPr>
          <a:xfrm>
            <a:off x="3780000" y="1393200"/>
            <a:ext cx="115200" cy="115200"/>
          </a:xfrm>
          <a:prstGeom prst="rect">
            <a:avLst/>
          </a:prstGeom>
          <a:solidFill>
            <a:srgbClr val="D08C3C"/>
          </a:solidFill>
          <a:ln w="7620">
            <a:solidFill>
              <a:srgbClr val="D08C3C"/>
            </a:solidFill>
            <a:prstDash val="solid"/>
          </a:ln>
        </p:spPr>
      </p:sp>
      <p:sp>
        <p:nvSpPr>
          <p:cNvPr id="85" name="Text 83"/>
          <p:cNvSpPr/>
          <p:nvPr/>
        </p:nvSpPr>
        <p:spPr>
          <a:xfrm>
            <a:off x="3974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86" name="Shape 84"/>
          <p:cNvSpPr/>
          <p:nvPr/>
        </p:nvSpPr>
        <p:spPr>
          <a:xfrm>
            <a:off x="3780000" y="1587600"/>
            <a:ext cx="2952000" cy="0"/>
          </a:xfrm>
          <a:prstGeom prst="line">
            <a:avLst/>
          </a:prstGeom>
          <a:noFill/>
          <a:ln w="11430">
            <a:solidFill>
              <a:srgbClr val="67067C"/>
            </a:solidFill>
            <a:prstDash val="solid"/>
          </a:ln>
        </p:spPr>
      </p:sp>
      <p:sp>
        <p:nvSpPr>
          <p:cNvPr id="87" name="Text 85"/>
          <p:cNvSpPr/>
          <p:nvPr/>
        </p:nvSpPr>
        <p:spPr>
          <a:xfrm>
            <a:off x="3780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88" name="Text 86"/>
          <p:cNvSpPr/>
          <p:nvPr/>
        </p:nvSpPr>
        <p:spPr>
          <a:xfrm>
            <a:off x="4086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89" name="Text 87"/>
          <p:cNvSpPr/>
          <p:nvPr/>
        </p:nvSpPr>
        <p:spPr>
          <a:xfrm>
            <a:off x="6372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90" name="Shape 88"/>
          <p:cNvSpPr/>
          <p:nvPr/>
        </p:nvSpPr>
        <p:spPr>
          <a:xfrm>
            <a:off x="3780000" y="1839600"/>
            <a:ext cx="2952000" cy="0"/>
          </a:xfrm>
          <a:prstGeom prst="line">
            <a:avLst/>
          </a:prstGeom>
          <a:noFill/>
          <a:ln w="3810">
            <a:solidFill>
              <a:srgbClr val="C9CFC9"/>
            </a:solidFill>
            <a:prstDash val="solid"/>
          </a:ln>
        </p:spPr>
      </p:sp>
      <p:sp>
        <p:nvSpPr>
          <p:cNvPr id="91" name="Text 89"/>
          <p:cNvSpPr/>
          <p:nvPr/>
        </p:nvSpPr>
        <p:spPr>
          <a:xfrm>
            <a:off x="3780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92" name="Text 90"/>
          <p:cNvSpPr/>
          <p:nvPr/>
        </p:nvSpPr>
        <p:spPr>
          <a:xfrm>
            <a:off x="4086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93" name="Text 91"/>
          <p:cNvSpPr/>
          <p:nvPr/>
        </p:nvSpPr>
        <p:spPr>
          <a:xfrm>
            <a:off x="6372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94" name="Shape 92"/>
          <p:cNvSpPr/>
          <p:nvPr/>
        </p:nvSpPr>
        <p:spPr>
          <a:xfrm>
            <a:off x="3780000" y="2041200"/>
            <a:ext cx="2952000" cy="0"/>
          </a:xfrm>
          <a:prstGeom prst="line">
            <a:avLst/>
          </a:prstGeom>
          <a:noFill/>
          <a:ln w="3810">
            <a:solidFill>
              <a:srgbClr val="C9CFC9"/>
            </a:solidFill>
            <a:prstDash val="solid"/>
          </a:ln>
        </p:spPr>
      </p:sp>
      <p:sp>
        <p:nvSpPr>
          <p:cNvPr id="95" name="Shape 93"/>
          <p:cNvSpPr/>
          <p:nvPr/>
        </p:nvSpPr>
        <p:spPr>
          <a:xfrm>
            <a:off x="3780000" y="2271600"/>
            <a:ext cx="115200" cy="115200"/>
          </a:xfrm>
          <a:prstGeom prst="rect">
            <a:avLst/>
          </a:prstGeom>
          <a:solidFill>
            <a:srgbClr val="A8515F"/>
          </a:solidFill>
          <a:ln w="7620">
            <a:solidFill>
              <a:srgbClr val="A8515F"/>
            </a:solidFill>
            <a:prstDash val="solid"/>
          </a:ln>
        </p:spPr>
      </p:sp>
      <p:sp>
        <p:nvSpPr>
          <p:cNvPr id="96" name="Text 94"/>
          <p:cNvSpPr/>
          <p:nvPr/>
        </p:nvSpPr>
        <p:spPr>
          <a:xfrm>
            <a:off x="3974400" y="219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97" name="Shape 95"/>
          <p:cNvSpPr/>
          <p:nvPr/>
        </p:nvSpPr>
        <p:spPr>
          <a:xfrm>
            <a:off x="3780000" y="2466000"/>
            <a:ext cx="2952000" cy="0"/>
          </a:xfrm>
          <a:prstGeom prst="line">
            <a:avLst/>
          </a:prstGeom>
          <a:noFill/>
          <a:ln w="11430">
            <a:solidFill>
              <a:srgbClr val="67067C"/>
            </a:solidFill>
            <a:prstDash val="solid"/>
          </a:ln>
        </p:spPr>
      </p:sp>
      <p:sp>
        <p:nvSpPr>
          <p:cNvPr id="98" name="Text 96"/>
          <p:cNvSpPr/>
          <p:nvPr/>
        </p:nvSpPr>
        <p:spPr>
          <a:xfrm>
            <a:off x="3780000" y="25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99" name="Text 97"/>
          <p:cNvSpPr/>
          <p:nvPr/>
        </p:nvSpPr>
        <p:spPr>
          <a:xfrm>
            <a:off x="4086000" y="25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00" name="Text 98"/>
          <p:cNvSpPr/>
          <p:nvPr/>
        </p:nvSpPr>
        <p:spPr>
          <a:xfrm>
            <a:off x="6372000" y="25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01" name="Shape 99"/>
          <p:cNvSpPr/>
          <p:nvPr/>
        </p:nvSpPr>
        <p:spPr>
          <a:xfrm>
            <a:off x="3780000" y="2718000"/>
            <a:ext cx="2952000" cy="0"/>
          </a:xfrm>
          <a:prstGeom prst="line">
            <a:avLst/>
          </a:prstGeom>
          <a:noFill/>
          <a:ln w="3810">
            <a:solidFill>
              <a:srgbClr val="C9CFC9"/>
            </a:solidFill>
            <a:prstDash val="solid"/>
          </a:ln>
        </p:spPr>
      </p:sp>
      <p:sp>
        <p:nvSpPr>
          <p:cNvPr id="102" name="Text 100"/>
          <p:cNvSpPr/>
          <p:nvPr/>
        </p:nvSpPr>
        <p:spPr>
          <a:xfrm>
            <a:off x="3780000" y="271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103" name="Text 101"/>
          <p:cNvSpPr/>
          <p:nvPr/>
        </p:nvSpPr>
        <p:spPr>
          <a:xfrm>
            <a:off x="4086000" y="271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04" name="Text 102"/>
          <p:cNvSpPr/>
          <p:nvPr/>
        </p:nvSpPr>
        <p:spPr>
          <a:xfrm>
            <a:off x="6372000" y="271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05" name="Shape 103"/>
          <p:cNvSpPr/>
          <p:nvPr/>
        </p:nvSpPr>
        <p:spPr>
          <a:xfrm>
            <a:off x="3780000" y="2919600"/>
            <a:ext cx="2952000" cy="0"/>
          </a:xfrm>
          <a:prstGeom prst="line">
            <a:avLst/>
          </a:prstGeom>
          <a:noFill/>
          <a:ln w="3810">
            <a:solidFill>
              <a:srgbClr val="C9CFC9"/>
            </a:solidFill>
            <a:prstDash val="solid"/>
          </a:ln>
        </p:spPr>
      </p:sp>
      <p:sp>
        <p:nvSpPr>
          <p:cNvPr id="106" name="Text 104"/>
          <p:cNvSpPr/>
          <p:nvPr/>
        </p:nvSpPr>
        <p:spPr>
          <a:xfrm>
            <a:off x="3780000" y="291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107" name="Text 105"/>
          <p:cNvSpPr/>
          <p:nvPr/>
        </p:nvSpPr>
        <p:spPr>
          <a:xfrm>
            <a:off x="4086000" y="291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08" name="Text 106"/>
          <p:cNvSpPr/>
          <p:nvPr/>
        </p:nvSpPr>
        <p:spPr>
          <a:xfrm>
            <a:off x="6372000" y="291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109" name="Shape 107"/>
          <p:cNvSpPr/>
          <p:nvPr/>
        </p:nvSpPr>
        <p:spPr>
          <a:xfrm>
            <a:off x="3780000" y="3121200"/>
            <a:ext cx="2952000" cy="0"/>
          </a:xfrm>
          <a:prstGeom prst="line">
            <a:avLst/>
          </a:prstGeom>
          <a:noFill/>
          <a:ln w="3810">
            <a:solidFill>
              <a:srgbClr val="C9CFC9"/>
            </a:solidFill>
            <a:prstDash val="solid"/>
          </a:ln>
        </p:spPr>
      </p:sp>
      <p:sp>
        <p:nvSpPr>
          <p:cNvPr id="110" name="Text 108"/>
          <p:cNvSpPr/>
          <p:nvPr/>
        </p:nvSpPr>
        <p:spPr>
          <a:xfrm>
            <a:off x="3780000" y="312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1" name="Text 109"/>
          <p:cNvSpPr/>
          <p:nvPr/>
        </p:nvSpPr>
        <p:spPr>
          <a:xfrm>
            <a:off x="4086000" y="312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12" name="Text 110"/>
          <p:cNvSpPr/>
          <p:nvPr/>
        </p:nvSpPr>
        <p:spPr>
          <a:xfrm>
            <a:off x="6372000" y="312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13" name="Shape 111"/>
          <p:cNvSpPr/>
          <p:nvPr/>
        </p:nvSpPr>
        <p:spPr>
          <a:xfrm>
            <a:off x="3780000" y="3322800"/>
            <a:ext cx="2952000" cy="0"/>
          </a:xfrm>
          <a:prstGeom prst="line">
            <a:avLst/>
          </a:prstGeom>
          <a:noFill/>
          <a:ln w="3810">
            <a:solidFill>
              <a:srgbClr val="C9CFC9"/>
            </a:solidFill>
            <a:prstDash val="solid"/>
          </a:ln>
        </p:spPr>
      </p:sp>
      <p:sp>
        <p:nvSpPr>
          <p:cNvPr id="114" name="Shape 112"/>
          <p:cNvSpPr/>
          <p:nvPr/>
        </p:nvSpPr>
        <p:spPr>
          <a:xfrm>
            <a:off x="3780000" y="3553200"/>
            <a:ext cx="115200" cy="115200"/>
          </a:xfrm>
          <a:prstGeom prst="rect">
            <a:avLst/>
          </a:prstGeom>
          <a:solidFill>
            <a:srgbClr val="46606E"/>
          </a:solidFill>
          <a:ln w="7620">
            <a:solidFill>
              <a:srgbClr val="46606E"/>
            </a:solidFill>
            <a:prstDash val="solid"/>
          </a:ln>
        </p:spPr>
      </p:sp>
      <p:sp>
        <p:nvSpPr>
          <p:cNvPr id="115" name="Text 113"/>
          <p:cNvSpPr/>
          <p:nvPr/>
        </p:nvSpPr>
        <p:spPr>
          <a:xfrm>
            <a:off x="3974400" y="347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16" name="Shape 114"/>
          <p:cNvSpPr/>
          <p:nvPr/>
        </p:nvSpPr>
        <p:spPr>
          <a:xfrm>
            <a:off x="3780000" y="3747600"/>
            <a:ext cx="2952000" cy="0"/>
          </a:xfrm>
          <a:prstGeom prst="line">
            <a:avLst/>
          </a:prstGeom>
          <a:noFill/>
          <a:ln w="11430">
            <a:solidFill>
              <a:srgbClr val="67067C"/>
            </a:solidFill>
            <a:prstDash val="solid"/>
          </a:ln>
        </p:spPr>
      </p:sp>
      <p:sp>
        <p:nvSpPr>
          <p:cNvPr id="117" name="Text 115"/>
          <p:cNvSpPr/>
          <p:nvPr/>
        </p:nvSpPr>
        <p:spPr>
          <a:xfrm>
            <a:off x="3780000" y="379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118" name="Text 116"/>
          <p:cNvSpPr/>
          <p:nvPr/>
        </p:nvSpPr>
        <p:spPr>
          <a:xfrm>
            <a:off x="4086000" y="379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19" name="Text 117"/>
          <p:cNvSpPr/>
          <p:nvPr/>
        </p:nvSpPr>
        <p:spPr>
          <a:xfrm>
            <a:off x="6372000" y="379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20" name="Shape 118"/>
          <p:cNvSpPr/>
          <p:nvPr/>
        </p:nvSpPr>
        <p:spPr>
          <a:xfrm>
            <a:off x="3780000" y="3999600"/>
            <a:ext cx="2952000" cy="0"/>
          </a:xfrm>
          <a:prstGeom prst="line">
            <a:avLst/>
          </a:prstGeom>
          <a:noFill/>
          <a:ln w="3810">
            <a:solidFill>
              <a:srgbClr val="C9CFC9"/>
            </a:solidFill>
            <a:prstDash val="solid"/>
          </a:ln>
        </p:spPr>
      </p:sp>
      <p:sp>
        <p:nvSpPr>
          <p:cNvPr id="121" name="Shape 119"/>
          <p:cNvSpPr/>
          <p:nvPr/>
        </p:nvSpPr>
        <p:spPr>
          <a:xfrm>
            <a:off x="3780000" y="4230000"/>
            <a:ext cx="115200" cy="115200"/>
          </a:xfrm>
          <a:prstGeom prst="rect">
            <a:avLst/>
          </a:prstGeom>
          <a:solidFill>
            <a:srgbClr val="3C5B47"/>
          </a:solidFill>
          <a:ln w="7620">
            <a:solidFill>
              <a:srgbClr val="3C5B47"/>
            </a:solidFill>
            <a:prstDash val="solid"/>
          </a:ln>
        </p:spPr>
      </p:sp>
      <p:sp>
        <p:nvSpPr>
          <p:cNvPr id="122" name="Text 120"/>
          <p:cNvSpPr/>
          <p:nvPr/>
        </p:nvSpPr>
        <p:spPr>
          <a:xfrm>
            <a:off x="3974400" y="415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23" name="Shape 121"/>
          <p:cNvSpPr/>
          <p:nvPr/>
        </p:nvSpPr>
        <p:spPr>
          <a:xfrm>
            <a:off x="3780000" y="4424400"/>
            <a:ext cx="2952000" cy="0"/>
          </a:xfrm>
          <a:prstGeom prst="line">
            <a:avLst/>
          </a:prstGeom>
          <a:noFill/>
          <a:ln w="11430">
            <a:solidFill>
              <a:srgbClr val="67067C"/>
            </a:solidFill>
            <a:prstDash val="solid"/>
          </a:ln>
        </p:spPr>
      </p:sp>
      <p:sp>
        <p:nvSpPr>
          <p:cNvPr id="124" name="Text 122"/>
          <p:cNvSpPr/>
          <p:nvPr/>
        </p:nvSpPr>
        <p:spPr>
          <a:xfrm>
            <a:off x="3780000" y="447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5" name="Text 123"/>
          <p:cNvSpPr/>
          <p:nvPr/>
        </p:nvSpPr>
        <p:spPr>
          <a:xfrm>
            <a:off x="4086000" y="447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26" name="Text 124"/>
          <p:cNvSpPr/>
          <p:nvPr/>
        </p:nvSpPr>
        <p:spPr>
          <a:xfrm>
            <a:off x="6372000" y="447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27" name="Shape 125"/>
          <p:cNvSpPr/>
          <p:nvPr/>
        </p:nvSpPr>
        <p:spPr>
          <a:xfrm>
            <a:off x="3780000" y="4676400"/>
            <a:ext cx="2952000" cy="0"/>
          </a:xfrm>
          <a:prstGeom prst="line">
            <a:avLst/>
          </a:prstGeom>
          <a:noFill/>
          <a:ln w="3810">
            <a:solidFill>
              <a:srgbClr val="C9CFC9"/>
            </a:solidFill>
            <a:prstDash val="solid"/>
          </a:ln>
        </p:spPr>
      </p:sp>
      <p:sp>
        <p:nvSpPr>
          <p:cNvPr id="128" name="Text 126"/>
          <p:cNvSpPr/>
          <p:nvPr/>
        </p:nvSpPr>
        <p:spPr>
          <a:xfrm>
            <a:off x="3780000" y="467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9" name="Text 127"/>
          <p:cNvSpPr/>
          <p:nvPr/>
        </p:nvSpPr>
        <p:spPr>
          <a:xfrm>
            <a:off x="4086000" y="467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30" name="Text 128"/>
          <p:cNvSpPr/>
          <p:nvPr/>
        </p:nvSpPr>
        <p:spPr>
          <a:xfrm>
            <a:off x="6372000" y="467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31" name="Shape 129"/>
          <p:cNvSpPr/>
          <p:nvPr/>
        </p:nvSpPr>
        <p:spPr>
          <a:xfrm>
            <a:off x="3780000" y="4878000"/>
            <a:ext cx="2952000" cy="0"/>
          </a:xfrm>
          <a:prstGeom prst="line">
            <a:avLst/>
          </a:prstGeom>
          <a:noFill/>
          <a:ln w="3810">
            <a:solidFill>
              <a:srgbClr val="C9CFC9"/>
            </a:solidFill>
            <a:prstDash val="solid"/>
          </a:ln>
        </p:spPr>
      </p:sp>
      <p:sp>
        <p:nvSpPr>
          <p:cNvPr id="132" name="Text 130"/>
          <p:cNvSpPr/>
          <p:nvPr/>
        </p:nvSpPr>
        <p:spPr>
          <a:xfrm>
            <a:off x="3780000" y="48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133" name="Text 131"/>
          <p:cNvSpPr/>
          <p:nvPr/>
        </p:nvSpPr>
        <p:spPr>
          <a:xfrm>
            <a:off x="4086000" y="48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34" name="Text 132"/>
          <p:cNvSpPr/>
          <p:nvPr/>
        </p:nvSpPr>
        <p:spPr>
          <a:xfrm>
            <a:off x="6372000" y="48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35" name="Shape 133"/>
          <p:cNvSpPr/>
          <p:nvPr/>
        </p:nvSpPr>
        <p:spPr>
          <a:xfrm>
            <a:off x="3780000" y="5079600"/>
            <a:ext cx="2952000" cy="0"/>
          </a:xfrm>
          <a:prstGeom prst="line">
            <a:avLst/>
          </a:prstGeom>
          <a:noFill/>
          <a:ln w="3810">
            <a:solidFill>
              <a:srgbClr val="C9CFC9"/>
            </a:solidFill>
            <a:prstDash val="solid"/>
          </a:ln>
        </p:spPr>
      </p:sp>
      <p:sp>
        <p:nvSpPr>
          <p:cNvPr id="136" name="Text 134"/>
          <p:cNvSpPr/>
          <p:nvPr/>
        </p:nvSpPr>
        <p:spPr>
          <a:xfrm>
            <a:off x="3780000" y="50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37" name="Text 135"/>
          <p:cNvSpPr/>
          <p:nvPr/>
        </p:nvSpPr>
        <p:spPr>
          <a:xfrm>
            <a:off x="4086000" y="50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38" name="Text 136"/>
          <p:cNvSpPr/>
          <p:nvPr/>
        </p:nvSpPr>
        <p:spPr>
          <a:xfrm>
            <a:off x="6372000" y="50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39" name="Shape 137"/>
          <p:cNvSpPr/>
          <p:nvPr/>
        </p:nvSpPr>
        <p:spPr>
          <a:xfrm>
            <a:off x="3780000" y="5281200"/>
            <a:ext cx="2952000" cy="0"/>
          </a:xfrm>
          <a:prstGeom prst="line">
            <a:avLst/>
          </a:prstGeom>
          <a:noFill/>
          <a:ln w="3810">
            <a:solidFill>
              <a:srgbClr val="C9CFC9"/>
            </a:solidFill>
            <a:prstDash val="solid"/>
          </a:ln>
        </p:spPr>
      </p:sp>
      <p:sp>
        <p:nvSpPr>
          <p:cNvPr id="140" name="Shape 138"/>
          <p:cNvSpPr/>
          <p:nvPr/>
        </p:nvSpPr>
        <p:spPr>
          <a:xfrm>
            <a:off x="3780000" y="5511600"/>
            <a:ext cx="115200" cy="115200"/>
          </a:xfrm>
          <a:prstGeom prst="rect">
            <a:avLst/>
          </a:prstGeom>
          <a:solidFill>
            <a:srgbClr val="FBF8F1"/>
          </a:solidFill>
          <a:ln w="7620">
            <a:solidFill>
              <a:srgbClr val="46606E"/>
            </a:solidFill>
            <a:prstDash val="solid"/>
          </a:ln>
        </p:spPr>
      </p:sp>
      <p:sp>
        <p:nvSpPr>
          <p:cNvPr id="141" name="Text 139"/>
          <p:cNvSpPr/>
          <p:nvPr/>
        </p:nvSpPr>
        <p:spPr>
          <a:xfrm>
            <a:off x="3974400" y="543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42" name="Shape 140"/>
          <p:cNvSpPr/>
          <p:nvPr/>
        </p:nvSpPr>
        <p:spPr>
          <a:xfrm>
            <a:off x="3780000" y="5706000"/>
            <a:ext cx="2952000" cy="0"/>
          </a:xfrm>
          <a:prstGeom prst="line">
            <a:avLst/>
          </a:prstGeom>
          <a:noFill/>
          <a:ln w="11430">
            <a:solidFill>
              <a:srgbClr val="67067C"/>
            </a:solidFill>
            <a:prstDash val="solid"/>
          </a:ln>
        </p:spPr>
      </p:sp>
      <p:sp>
        <p:nvSpPr>
          <p:cNvPr id="143" name="Text 141"/>
          <p:cNvSpPr/>
          <p:nvPr/>
        </p:nvSpPr>
        <p:spPr>
          <a:xfrm>
            <a:off x="3780000" y="575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144" name="Text 142"/>
          <p:cNvSpPr/>
          <p:nvPr/>
        </p:nvSpPr>
        <p:spPr>
          <a:xfrm>
            <a:off x="4086000" y="575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45" name="Text 143"/>
          <p:cNvSpPr/>
          <p:nvPr/>
        </p:nvSpPr>
        <p:spPr>
          <a:xfrm>
            <a:off x="6372000" y="575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46" name="Shape 144"/>
          <p:cNvSpPr/>
          <p:nvPr/>
        </p:nvSpPr>
        <p:spPr>
          <a:xfrm>
            <a:off x="3780000" y="5958000"/>
            <a:ext cx="2952000" cy="0"/>
          </a:xfrm>
          <a:prstGeom prst="line">
            <a:avLst/>
          </a:prstGeom>
          <a:noFill/>
          <a:ln w="3810">
            <a:solidFill>
              <a:srgbClr val="C9CFC9"/>
            </a:solidFill>
            <a:prstDash val="solid"/>
          </a:ln>
        </p:spPr>
      </p:sp>
      <p:sp>
        <p:nvSpPr>
          <p:cNvPr id="147" name="Text 145"/>
          <p:cNvSpPr/>
          <p:nvPr/>
        </p:nvSpPr>
        <p:spPr>
          <a:xfrm>
            <a:off x="3780000" y="595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48" name="Text 146"/>
          <p:cNvSpPr/>
          <p:nvPr/>
        </p:nvSpPr>
        <p:spPr>
          <a:xfrm>
            <a:off x="4086000" y="595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49" name="Text 147"/>
          <p:cNvSpPr/>
          <p:nvPr/>
        </p:nvSpPr>
        <p:spPr>
          <a:xfrm>
            <a:off x="6372000" y="595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50" name="Shape 148"/>
          <p:cNvSpPr/>
          <p:nvPr/>
        </p:nvSpPr>
        <p:spPr>
          <a:xfrm>
            <a:off x="3780000" y="6159600"/>
            <a:ext cx="2952000" cy="0"/>
          </a:xfrm>
          <a:prstGeom prst="line">
            <a:avLst/>
          </a:prstGeom>
          <a:noFill/>
          <a:ln w="3810">
            <a:solidFill>
              <a:srgbClr val="C9CFC9"/>
            </a:solidFill>
            <a:prstDash val="solid"/>
          </a:ln>
        </p:spPr>
      </p:sp>
      <p:sp>
        <p:nvSpPr>
          <p:cNvPr id="151" name="Text 149"/>
          <p:cNvSpPr/>
          <p:nvPr/>
        </p:nvSpPr>
        <p:spPr>
          <a:xfrm>
            <a:off x="3780000" y="615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52" name="Text 150"/>
          <p:cNvSpPr/>
          <p:nvPr/>
        </p:nvSpPr>
        <p:spPr>
          <a:xfrm>
            <a:off x="4086000" y="615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53" name="Text 151"/>
          <p:cNvSpPr/>
          <p:nvPr/>
        </p:nvSpPr>
        <p:spPr>
          <a:xfrm>
            <a:off x="6372000" y="615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54" name="Shape 152"/>
          <p:cNvSpPr/>
          <p:nvPr/>
        </p:nvSpPr>
        <p:spPr>
          <a:xfrm>
            <a:off x="3780000" y="6361200"/>
            <a:ext cx="2952000" cy="0"/>
          </a:xfrm>
          <a:prstGeom prst="line">
            <a:avLst/>
          </a:prstGeom>
          <a:noFill/>
          <a:ln w="3810">
            <a:solidFill>
              <a:srgbClr val="C9CFC9"/>
            </a:solidFill>
            <a:prstDash val="solid"/>
          </a:ln>
        </p:spPr>
      </p:sp>
      <p:sp>
        <p:nvSpPr>
          <p:cNvPr id="155" name="Text 153"/>
          <p:cNvSpPr/>
          <p:nvPr/>
        </p:nvSpPr>
        <p:spPr>
          <a:xfrm>
            <a:off x="3780000" y="63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156" name="Text 154"/>
          <p:cNvSpPr/>
          <p:nvPr/>
        </p:nvSpPr>
        <p:spPr>
          <a:xfrm>
            <a:off x="4086000" y="63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57" name="Text 155"/>
          <p:cNvSpPr/>
          <p:nvPr/>
        </p:nvSpPr>
        <p:spPr>
          <a:xfrm>
            <a:off x="6372000" y="63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58" name="Shape 156"/>
          <p:cNvSpPr/>
          <p:nvPr/>
        </p:nvSpPr>
        <p:spPr>
          <a:xfrm>
            <a:off x="3780000" y="6562800"/>
            <a:ext cx="2952000" cy="0"/>
          </a:xfrm>
          <a:prstGeom prst="line">
            <a:avLst/>
          </a:prstGeom>
          <a:noFill/>
          <a:ln w="3810">
            <a:solidFill>
              <a:srgbClr val="C9CFC9"/>
            </a:solidFill>
            <a:prstDash val="solid"/>
          </a:ln>
        </p:spPr>
      </p:sp>
      <p:sp>
        <p:nvSpPr>
          <p:cNvPr id="159" name="Shape 157"/>
          <p:cNvSpPr/>
          <p:nvPr/>
        </p:nvSpPr>
        <p:spPr>
          <a:xfrm>
            <a:off x="612000" y="8280000"/>
            <a:ext cx="6120000" cy="0"/>
          </a:xfrm>
          <a:prstGeom prst="line">
            <a:avLst/>
          </a:prstGeom>
          <a:noFill/>
          <a:ln w="10160">
            <a:solidFill>
              <a:srgbClr val="67067C"/>
            </a:solidFill>
            <a:prstDash val="solid"/>
          </a:ln>
        </p:spPr>
      </p:sp>
      <p:sp>
        <p:nvSpPr>
          <p:cNvPr id="160" name="Text 158"/>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61" name="Text 159"/>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62" name="Image 0" descr="/home/user/philippe1/build/deco-salon-prive-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63" name="Text 160"/>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64" name="Image 1" descr="/home/user/philippe1/build/deco-salon-prive-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65" name="Text 161"/>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66" name="Image 2" descr="/home/user/philippe1/build/deco-salon-prive-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167" name="Text 162"/>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68" name="Image 3" descr="/home/user/philippe1/build/deco-salon-prive-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169" name="Text 163"/>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70" name="Image 4" descr="/home/user/philippe1/build/deco-salon-prive-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171" name="Text 164"/>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72" name="Image 5" descr="/home/user/philippe1/build/deco-salon-prive-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173" name="Text 165"/>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174" name="Image 6" descr="/home/user/philippe1/build/deco-salon-prive-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175" name="Text 166"/>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176" name="Text 167"/>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177" name="Text 16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178" name="Text 16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46</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François Reverdy</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portrait du vigneron, noir et blanc — François Reverdy">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rançois Reverdy">    </p:cNvPr>
          <p:cNvPicPr>
            <a:picLocks noChangeAspect="1"/>
          </p:cNvPicPr>
          <p:nvPr/>
        </p:nvPicPr>
        <p:blipFill>
          <a:blip r:embed="rId4"/>
          <a:stretch>
            <a:fillRect/>
          </a:stretch>
        </p:blipFill>
        <p:spPr>
          <a:xfrm>
            <a:off x="5992033" y="1605996"/>
            <a:ext cx="615934" cy="2232000"/>
          </a:xfrm>
          <a:prstGeom prst="rect">
            <a:avLst/>
          </a:prstGeom>
        </p:spPr>
      </p:pic>
      <p:sp>
        <p:nvSpPr>
          <p:cNvPr id="18" name="Text 12"/>
          <p:cNvSpPr/>
          <p:nvPr/>
        </p:nvSpPr>
        <p:spPr>
          <a:xfrm>
            <a:off x="2177967" y="1510537"/>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9" name="Text 13"/>
          <p:cNvSpPr/>
          <p:nvPr/>
        </p:nvSpPr>
        <p:spPr>
          <a:xfrm>
            <a:off x="2232000" y="1653302"/>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Rouge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Cravant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Les Soudannes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730413"/>
            <a:ext cx="0" cy="259440"/>
          </a:xfrm>
          <a:prstGeom prst="line">
            <a:avLst/>
          </a:prstGeom>
          <a:noFill/>
          <a:ln w="17780">
            <a:solidFill>
              <a:srgbClr val="67067C"/>
            </a:solidFill>
            <a:prstDash val="solid"/>
          </a:ln>
        </p:spPr>
      </p:sp>
      <p:sp>
        <p:nvSpPr>
          <p:cNvPr id="22" name="Text 15"/>
          <p:cNvSpPr/>
          <p:nvPr/>
        </p:nvSpPr>
        <p:spPr>
          <a:xfrm>
            <a:off x="720000" y="673041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71338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7281454"/>
            <a:ext cx="6120000" cy="839821"/>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Barbinière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393651"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103762"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10376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568436"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568436"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vendanges dans les vignes du domaine — Domaine de la Barbinière">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de la Barbinière">    </p:cNvPr>
          <p:cNvPicPr>
            <a:picLocks noChangeAspect="1"/>
          </p:cNvPicPr>
          <p:nvPr/>
        </p:nvPicPr>
        <p:blipFill>
          <a:blip r:embed="rId4"/>
          <a:stretch>
            <a:fillRect/>
          </a:stretch>
        </p:blipFill>
        <p:spPr>
          <a:xfrm>
            <a:off x="6229377" y="1605996"/>
            <a:ext cx="573246" cy="2232000"/>
          </a:xfrm>
          <a:prstGeom prst="rect">
            <a:avLst/>
          </a:prstGeom>
        </p:spPr>
      </p:pic>
      <p:sp>
        <p:nvSpPr>
          <p:cNvPr id="20" name="Text 14"/>
          <p:cNvSpPr/>
          <p:nvPr/>
        </p:nvSpPr>
        <p:spPr>
          <a:xfrm>
            <a:off x="2393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 Vins sous allocation.</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431566"/>
            <a:ext cx="0" cy="259440"/>
          </a:xfrm>
          <a:prstGeom prst="line">
            <a:avLst/>
          </a:prstGeom>
          <a:noFill/>
          <a:ln w="17780">
            <a:solidFill>
              <a:srgbClr val="67067C"/>
            </a:solidFill>
            <a:prstDash val="solid"/>
          </a:ln>
        </p:spPr>
      </p:sp>
      <p:sp>
        <p:nvSpPr>
          <p:cNvPr id="24" name="Text 17"/>
          <p:cNvSpPr/>
          <p:nvPr/>
        </p:nvSpPr>
        <p:spPr>
          <a:xfrm>
            <a:off x="936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6" name="Image 4" descr="/home/user/philippe1/build/deco-salon-prive-2026/sol-loire.png">    </p:cNvPr>
          <p:cNvPicPr>
            <a:picLocks noChangeAspect="1"/>
          </p:cNvPicPr>
          <p:nvPr/>
        </p:nvPicPr>
        <p:blipFill>
          <a:blip r:embed="rId5"/>
          <a:stretch>
            <a:fillRect/>
          </a:stretch>
        </p:blipFill>
        <p:spPr>
          <a:xfrm>
            <a:off x="828000" y="6982607"/>
            <a:ext cx="6120000" cy="1138668"/>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Domaine du Colombier / J.Y Bretaudeau</a:t>
            </a:r>
            <a:endParaRPr lang="en-US" sz="15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e vigneron au chai — Domaine du Colombier / J.Y Bretaud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u Colombier / J.Y Bretaudeau">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05" y="1592085"/>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9" name="Text 13"/>
          <p:cNvSpPr/>
          <p:nvPr/>
        </p:nvSpPr>
        <p:spPr>
          <a:xfrm>
            <a:off x="2232000" y="1718186"/>
            <a:ext cx="3456000" cy="2119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 Format BIB disponible.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L’envol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259440"/>
          </a:xfrm>
          <a:prstGeom prst="line">
            <a:avLst/>
          </a:prstGeom>
          <a:noFill/>
          <a:ln w="17780">
            <a:solidFill>
              <a:srgbClr val="67067C"/>
            </a:solidFill>
            <a:prstDash val="solid"/>
          </a:ln>
        </p:spPr>
      </p:sp>
      <p:sp>
        <p:nvSpPr>
          <p:cNvPr id="22" name="Text 15"/>
          <p:cNvSpPr/>
          <p:nvPr/>
        </p:nvSpPr>
        <p:spPr>
          <a:xfrm>
            <a:off x="720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982607"/>
            <a:ext cx="6120000" cy="1138668"/>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Noëls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portrait — Domaine des Noë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Noëls">    </p:cNvPr>
          <p:cNvPicPr>
            <a:picLocks noChangeAspect="1"/>
          </p:cNvPicPr>
          <p:nvPr/>
        </p:nvPicPr>
        <p:blipFill>
          <a:blip r:embed="rId4"/>
          <a:stretch>
            <a:fillRect/>
          </a:stretch>
        </p:blipFill>
        <p:spPr>
          <a:xfrm>
            <a:off x="6217180" y="1605996"/>
            <a:ext cx="597639"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912454"/>
            <a:ext cx="0" cy="259440"/>
          </a:xfrm>
          <a:prstGeom prst="line">
            <a:avLst/>
          </a:prstGeom>
          <a:noFill/>
          <a:ln w="17780">
            <a:solidFill>
              <a:srgbClr val="67067C"/>
            </a:solidFill>
            <a:prstDash val="solid"/>
          </a:ln>
        </p:spPr>
      </p:sp>
      <p:sp>
        <p:nvSpPr>
          <p:cNvPr id="22" name="Text 15"/>
          <p:cNvSpPr/>
          <p:nvPr/>
        </p:nvSpPr>
        <p:spPr>
          <a:xfrm>
            <a:off x="936000" y="59124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31589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828000" y="6463494"/>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Chai Berteaud Manceau</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s deux fondateurs du chai — Chai Berteaud Manc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i Berteaud Manceau">    </p:cNvPr>
          <p:cNvPicPr>
            <a:picLocks noChangeAspect="1"/>
          </p:cNvPicPr>
          <p:nvPr/>
        </p:nvPicPr>
        <p:blipFill>
          <a:blip r:embed="rId4"/>
          <a:stretch>
            <a:fillRect/>
          </a:stretch>
        </p:blipFill>
        <p:spPr>
          <a:xfrm>
            <a:off x="5998131" y="1605996"/>
            <a:ext cx="603738" cy="2232000"/>
          </a:xfrm>
          <a:prstGeom prst="rect">
            <a:avLst/>
          </a:prstGeom>
        </p:spPr>
      </p:pic>
      <p:sp>
        <p:nvSpPr>
          <p:cNvPr id="18" name="Text 12"/>
          <p:cNvSpPr/>
          <p:nvPr/>
        </p:nvSpPr>
        <p:spPr>
          <a:xfrm>
            <a:off x="2178017" y="1737318"/>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855708"/>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L’Eberluant Chardonnay Méthode ancestrale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576251"/>
            <a:ext cx="0" cy="259440"/>
          </a:xfrm>
          <a:prstGeom prst="line">
            <a:avLst/>
          </a:prstGeom>
          <a:noFill/>
          <a:ln w="17780">
            <a:solidFill>
              <a:srgbClr val="67067C"/>
            </a:solidFill>
            <a:prstDash val="solid"/>
          </a:ln>
        </p:spPr>
      </p:sp>
      <p:sp>
        <p:nvSpPr>
          <p:cNvPr id="22" name="Text 15"/>
          <p:cNvSpPr/>
          <p:nvPr/>
        </p:nvSpPr>
        <p:spPr>
          <a:xfrm>
            <a:off x="720000" y="55762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979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127291"/>
            <a:ext cx="6120000" cy="118775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711954"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11954"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143344"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3143344"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4086901"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086901"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pic>
        <p:nvPicPr>
          <p:cNvPr id="18" name="Image 2" descr="dans les vignes — Domaine Jean de Villeboi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Jean de Villebois">    </p:cNvPr>
          <p:cNvPicPr>
            <a:picLocks noChangeAspect="1"/>
          </p:cNvPicPr>
          <p:nvPr/>
        </p:nvPicPr>
        <p:blipFill>
          <a:blip r:embed="rId4"/>
          <a:stretch>
            <a:fillRect/>
          </a:stretch>
        </p:blipFill>
        <p:spPr>
          <a:xfrm>
            <a:off x="6209557" y="1605996"/>
            <a:ext cx="612885" cy="2232000"/>
          </a:xfrm>
          <a:prstGeom prst="rect">
            <a:avLst/>
          </a:prstGeom>
        </p:spPr>
      </p:pic>
      <p:sp>
        <p:nvSpPr>
          <p:cNvPr id="20" name="Text 14"/>
          <p:cNvSpPr/>
          <p:nvPr/>
        </p:nvSpPr>
        <p:spPr>
          <a:xfrm>
            <a:off x="2393960" y="1742163"/>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852374"/>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Beltins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Vignes de Tréleau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7189846"/>
            <a:ext cx="0" cy="259440"/>
          </a:xfrm>
          <a:prstGeom prst="line">
            <a:avLst/>
          </a:prstGeom>
          <a:noFill/>
          <a:ln w="17780">
            <a:solidFill>
              <a:srgbClr val="67067C"/>
            </a:solidFill>
            <a:prstDash val="solid"/>
          </a:ln>
        </p:spPr>
      </p:sp>
      <p:sp>
        <p:nvSpPr>
          <p:cNvPr id="24" name="Text 17"/>
          <p:cNvSpPr/>
          <p:nvPr/>
        </p:nvSpPr>
        <p:spPr>
          <a:xfrm>
            <a:off x="936000" y="71898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6" name="Shape 19"/>
          <p:cNvSpPr/>
          <p:nvPr/>
        </p:nvSpPr>
        <p:spPr>
          <a:xfrm>
            <a:off x="828000" y="8496000"/>
            <a:ext cx="6120000" cy="0"/>
          </a:xfrm>
          <a:prstGeom prst="line">
            <a:avLst/>
          </a:prstGeom>
          <a:noFill/>
          <a:ln w="8890">
            <a:solidFill>
              <a:srgbClr val="46606E"/>
            </a:solidFill>
            <a:prstDash val="solid"/>
          </a:ln>
        </p:spPr>
      </p:sp>
      <p:sp>
        <p:nvSpPr>
          <p:cNvPr id="27"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8"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9"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30"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alsa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9</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11</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Boehler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logo du domaine — Domaine Boehler">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Boehler">    </p:cNvPr>
          <p:cNvPicPr>
            <a:picLocks noChangeAspect="1"/>
          </p:cNvPicPr>
          <p:nvPr/>
        </p:nvPicPr>
        <p:blipFill>
          <a:blip r:embed="rId4"/>
          <a:stretch>
            <a:fillRect/>
          </a:stretch>
        </p:blipFill>
        <p:spPr>
          <a:xfrm>
            <a:off x="6272066" y="1605996"/>
            <a:ext cx="487869" cy="2232000"/>
          </a:xfrm>
          <a:prstGeom prst="rect">
            <a:avLst/>
          </a:prstGeom>
        </p:spPr>
      </p:pic>
      <p:sp>
        <p:nvSpPr>
          <p:cNvPr id="18" name="Text 12"/>
          <p:cNvSpPr/>
          <p:nvPr/>
        </p:nvSpPr>
        <p:spPr>
          <a:xfrm>
            <a:off x="2393956" y="1600668"/>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9" name="Text 13"/>
          <p:cNvSpPr/>
          <p:nvPr/>
        </p:nvSpPr>
        <p:spPr>
          <a:xfrm>
            <a:off x="2448000" y="1712280"/>
            <a:ext cx="3456000" cy="2125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d’Alsace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Holderhurst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Hahnenberg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Gewurztraminer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829384"/>
            <a:ext cx="0" cy="259440"/>
          </a:xfrm>
          <a:prstGeom prst="line">
            <a:avLst/>
          </a:prstGeom>
          <a:noFill/>
          <a:ln w="17780">
            <a:solidFill>
              <a:srgbClr val="67067C"/>
            </a:solidFill>
            <a:prstDash val="solid"/>
          </a:ln>
        </p:spPr>
      </p:sp>
      <p:sp>
        <p:nvSpPr>
          <p:cNvPr id="22" name="Text 15"/>
          <p:cNvSpPr/>
          <p:nvPr/>
        </p:nvSpPr>
        <p:spPr>
          <a:xfrm>
            <a:off x="936000" y="6829384"/>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3" name="Text 16"/>
          <p:cNvSpPr/>
          <p:nvPr/>
        </p:nvSpPr>
        <p:spPr>
          <a:xfrm>
            <a:off x="828000" y="723282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24" name="Image 4" descr="/home/user/philippe1/build/deco-salon-prive-2026/sol-alsace.png">    </p:cNvPr>
          <p:cNvPicPr>
            <a:picLocks noChangeAspect="1"/>
          </p:cNvPicPr>
          <p:nvPr/>
        </p:nvPicPr>
        <p:blipFill>
          <a:blip r:embed="rId5"/>
          <a:stretch>
            <a:fillRect/>
          </a:stretch>
        </p:blipFill>
        <p:spPr>
          <a:xfrm>
            <a:off x="828000" y="7380424"/>
            <a:ext cx="6120000" cy="74085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24</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14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16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13</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Sébastien Magnien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26451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raisonne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2" name="Shape 8"/>
          <p:cNvSpPr/>
          <p:nvPr/>
        </p:nvSpPr>
        <p:spPr>
          <a:xfrm>
            <a:off x="217171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17171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88182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88182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346499"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346499"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portrait au chai, recadré au-dessus du verre — Domaine Sébastien Magnien">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ébastien Magnien">    </p:cNvPr>
          <p:cNvPicPr>
            <a:picLocks noChangeAspect="1"/>
          </p:cNvPicPr>
          <p:nvPr/>
        </p:nvPicPr>
        <p:blipFill>
          <a:blip r:embed="rId4"/>
          <a:stretch>
            <a:fillRect/>
          </a:stretch>
        </p:blipFill>
        <p:spPr>
          <a:xfrm>
            <a:off x="6224803" y="1605996"/>
            <a:ext cx="582393" cy="2232000"/>
          </a:xfrm>
          <a:prstGeom prst="rect">
            <a:avLst/>
          </a:prstGeom>
        </p:spPr>
      </p:pic>
      <p:sp>
        <p:nvSpPr>
          <p:cNvPr id="20" name="Text 14"/>
          <p:cNvSpPr/>
          <p:nvPr/>
        </p:nvSpPr>
        <p:spPr>
          <a:xfrm>
            <a:off x="2394020" y="1618453"/>
            <a:ext cx="166424" cy="441960"/>
          </a:xfrm>
          <a:prstGeom prst="rect">
            <a:avLst/>
          </a:prstGeom>
          <a:noFill/>
          <a:ln/>
        </p:spPr>
        <p:txBody>
          <a:bodyPr wrap="square" lIns="0" tIns="0" rIns="0" bIns="0" rtlCol="0" anchor="t"/>
          <a:lstStyle/>
          <a:p>
            <a:pPr algn="r" indent="0" marL="0">
              <a:lnSpc>
                <a:spcPct val="125100"/>
              </a:lnSpc>
              <a:buNone/>
            </a:pPr>
            <a:r>
              <a:rPr lang="en-US" sz="2175" dirty="0">
                <a:solidFill>
                  <a:srgbClr val="67067C"/>
                </a:solidFill>
                <a:latin typeface="Young Serif" pitchFamily="34" charset="0"/>
                <a:ea typeface="Young Serif" pitchFamily="34" charset="-122"/>
                <a:cs typeface="Young Serif" pitchFamily="34" charset="-120"/>
              </a:rPr>
              <a:t>I</a:t>
            </a:r>
            <a:endParaRPr lang="en-US" sz="2175" dirty="0"/>
          </a:p>
        </p:txBody>
      </p:sp>
      <p:sp>
        <p:nvSpPr>
          <p:cNvPr id="21" name="Text 15"/>
          <p:cNvSpPr/>
          <p:nvPr/>
        </p:nvSpPr>
        <p:spPr>
          <a:xfrm>
            <a:off x="2448000" y="1734296"/>
            <a:ext cx="3456000" cy="2103556"/>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 Vins sous allocation.</a:t>
            </a:r>
            <a:endParaRPr lang="en-US" sz="1275"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Meursault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233625"/>
            <a:ext cx="0" cy="259440"/>
          </a:xfrm>
          <a:prstGeom prst="line">
            <a:avLst/>
          </a:prstGeom>
          <a:noFill/>
          <a:ln w="17780">
            <a:solidFill>
              <a:srgbClr val="67067C"/>
            </a:solidFill>
            <a:prstDash val="solid"/>
          </a:ln>
        </p:spPr>
      </p:sp>
      <p:sp>
        <p:nvSpPr>
          <p:cNvPr id="24" name="Text 17"/>
          <p:cNvSpPr/>
          <p:nvPr/>
        </p:nvSpPr>
        <p:spPr>
          <a:xfrm>
            <a:off x="936000" y="623362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63706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6" name="Image 4" descr="/home/user/philippe1/build/deco-salon-prive-2026/sol-bourgogne.png">    </p:cNvPr>
          <p:cNvPicPr>
            <a:picLocks noChangeAspect="1"/>
          </p:cNvPicPr>
          <p:nvPr/>
        </p:nvPicPr>
        <p:blipFill>
          <a:blip r:embed="rId5"/>
          <a:stretch>
            <a:fillRect/>
          </a:stretch>
        </p:blipFill>
        <p:spPr>
          <a:xfrm>
            <a:off x="828000" y="6784665"/>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850" dirty="0">
                <a:solidFill>
                  <a:srgbClr val="46606E"/>
                </a:solidFill>
                <a:latin typeface="Young Serif" pitchFamily="34" charset="0"/>
                <a:ea typeface="Young Serif" pitchFamily="34" charset="-122"/>
                <a:cs typeface="Young Serif" pitchFamily="34" charset="-120"/>
              </a:rPr>
              <a:t>Maison et Domaine André Goichot</a:t>
            </a:r>
            <a:endParaRPr lang="en-US" sz="18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219348"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1929459" y="1317996"/>
            <a:ext cx="1352190"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1929459"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6" name="Shape 12"/>
          <p:cNvSpPr/>
          <p:nvPr/>
        </p:nvSpPr>
        <p:spPr>
          <a:xfrm>
            <a:off x="3360848"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360848"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8" name="Image 2" descr="deux portraits de la maison, côte à côte — Maison et Domaine André Goichot">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Maison et Domaine André Goichot">    </p:cNvPr>
          <p:cNvPicPr>
            <a:picLocks noChangeAspect="1"/>
          </p:cNvPicPr>
          <p:nvPr/>
        </p:nvPicPr>
        <p:blipFill>
          <a:blip r:embed="rId4"/>
          <a:stretch>
            <a:fillRect/>
          </a:stretch>
        </p:blipFill>
        <p:spPr>
          <a:xfrm>
            <a:off x="6019475" y="1605996"/>
            <a:ext cx="561049"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 Panachage possible avec le Château du Cray et le Domaine Les Guignottes. Vins sous allocation.</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Pouilly-Vinzelles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Chassagne-Montrachet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Nuits-Saint-Georges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Aux Allots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Givry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6743510"/>
            <a:ext cx="0" cy="259440"/>
          </a:xfrm>
          <a:prstGeom prst="line">
            <a:avLst/>
          </a:prstGeom>
          <a:noFill/>
          <a:ln w="17780">
            <a:solidFill>
              <a:srgbClr val="67067C"/>
            </a:solidFill>
            <a:prstDash val="solid"/>
          </a:ln>
        </p:spPr>
      </p:sp>
      <p:sp>
        <p:nvSpPr>
          <p:cNvPr id="24" name="Text 17"/>
          <p:cNvSpPr/>
          <p:nvPr/>
        </p:nvSpPr>
        <p:spPr>
          <a:xfrm>
            <a:off x="720000" y="674351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Château du Cray, stand 26 p. 16 · Domaine Les Guignottes, stand 26 p. 17</a:t>
            </a:r>
            <a:endParaRPr lang="en-US" sz="740" dirty="0"/>
          </a:p>
        </p:txBody>
      </p:sp>
      <p:sp>
        <p:nvSpPr>
          <p:cNvPr id="26" name="Shape 19"/>
          <p:cNvSpPr/>
          <p:nvPr/>
        </p:nvSpPr>
        <p:spPr>
          <a:xfrm>
            <a:off x="612000" y="8496000"/>
            <a:ext cx="6120000" cy="0"/>
          </a:xfrm>
          <a:prstGeom prst="line">
            <a:avLst/>
          </a:prstGeom>
          <a:noFill/>
          <a:ln w="8890">
            <a:solidFill>
              <a:srgbClr val="46606E"/>
            </a:solidFill>
            <a:prstDash val="solid"/>
          </a:ln>
        </p:spPr>
      </p:sp>
      <p:sp>
        <p:nvSpPr>
          <p:cNvPr id="27"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9"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30"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du Cray</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828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259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259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le vignoble du Château du Cray (bannière de sa page) — Château du Cray">    </p:cNvPr>
          <p:cNvPicPr>
            <a:picLocks noChangeAspect="1"/>
          </p:cNvPicPr>
          <p:nvPr/>
        </p:nvPicPr>
        <p:blipFill>
          <a:blip r:embed="rId2"/>
          <a:stretch>
            <a:fillRect/>
          </a:stretch>
        </p:blipFill>
        <p:spPr>
          <a:xfrm>
            <a:off x="828000" y="1605996"/>
            <a:ext cx="1440000" cy="1440000"/>
          </a:xfrm>
          <a:prstGeom prst="rect">
            <a:avLst/>
          </a:prstGeom>
        </p:spPr>
      </p:pic>
      <p:pic>
        <p:nvPicPr>
          <p:cNvPr id="14" name="Image 2" descr="Une bouteille du domaine Château du Cray">    </p:cNvPr>
          <p:cNvPicPr>
            <a:picLocks noChangeAspect="1"/>
          </p:cNvPicPr>
          <p:nvPr/>
        </p:nvPicPr>
        <p:blipFill>
          <a:blip r:embed="rId3"/>
          <a:stretch>
            <a:fillRect/>
          </a:stretch>
        </p:blipFill>
        <p:spPr>
          <a:xfrm>
            <a:off x="6216831" y="1605996"/>
            <a:ext cx="598337" cy="2232000"/>
          </a:xfrm>
          <a:prstGeom prst="rect">
            <a:avLst/>
          </a:prstGeom>
        </p:spPr>
      </p:pic>
      <p:sp>
        <p:nvSpPr>
          <p:cNvPr id="15" name="Text 10"/>
          <p:cNvSpPr/>
          <p:nvPr/>
        </p:nvSpPr>
        <p:spPr>
          <a:xfrm>
            <a:off x="2393990" y="164240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448000" y="1756664"/>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Cray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646224"/>
            <a:ext cx="0" cy="259440"/>
          </a:xfrm>
          <a:prstGeom prst="line">
            <a:avLst/>
          </a:prstGeom>
          <a:noFill/>
          <a:ln w="17780">
            <a:solidFill>
              <a:srgbClr val="67067C"/>
            </a:solidFill>
            <a:prstDash val="solid"/>
          </a:ln>
        </p:spPr>
      </p:sp>
      <p:sp>
        <p:nvSpPr>
          <p:cNvPr id="19" name="Text 13"/>
          <p:cNvSpPr/>
          <p:nvPr/>
        </p:nvSpPr>
        <p:spPr>
          <a:xfrm>
            <a:off x="936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0" name="Text 14"/>
          <p:cNvSpPr/>
          <p:nvPr/>
        </p:nvSpPr>
        <p:spPr>
          <a:xfrm>
            <a:off x="828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828000" y="5197264"/>
            <a:ext cx="6120000" cy="1463409"/>
          </a:xfrm>
          <a:prstGeom prst="rect">
            <a:avLst/>
          </a:prstGeom>
        </p:spPr>
      </p:pic>
      <p:sp>
        <p:nvSpPr>
          <p:cNvPr id="22"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Domaine Les Guignottes, stand 26 p. 17</a:t>
            </a:r>
            <a:endParaRPr lang="en-US" sz="74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Les Guignottes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612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043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043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nom du domaine sur ses vignes — Domaine Les Guignottes">    </p:cNvPr>
          <p:cNvPicPr>
            <a:picLocks noChangeAspect="1"/>
          </p:cNvPicPr>
          <p:nvPr/>
        </p:nvPicPr>
        <p:blipFill>
          <a:blip r:embed="rId2"/>
          <a:stretch>
            <a:fillRect/>
          </a:stretch>
        </p:blipFill>
        <p:spPr>
          <a:xfrm>
            <a:off x="612000" y="1605996"/>
            <a:ext cx="1440000" cy="1440000"/>
          </a:xfrm>
          <a:prstGeom prst="rect">
            <a:avLst/>
          </a:prstGeom>
        </p:spPr>
      </p:pic>
      <p:pic>
        <p:nvPicPr>
          <p:cNvPr id="14" name="Image 2" descr="Une bouteille du domaine Domaine Les Guignottes">    </p:cNvPr>
          <p:cNvPicPr>
            <a:picLocks noChangeAspect="1"/>
          </p:cNvPicPr>
          <p:nvPr/>
        </p:nvPicPr>
        <p:blipFill>
          <a:blip r:embed="rId3"/>
          <a:stretch>
            <a:fillRect/>
          </a:stretch>
        </p:blipFill>
        <p:spPr>
          <a:xfrm>
            <a:off x="6014902" y="1605996"/>
            <a:ext cx="570197" cy="2232000"/>
          </a:xfrm>
          <a:prstGeom prst="rect">
            <a:avLst/>
          </a:prstGeom>
        </p:spPr>
      </p:pic>
      <p:sp>
        <p:nvSpPr>
          <p:cNvPr id="15" name="Text 10"/>
          <p:cNvSpPr/>
          <p:nvPr/>
        </p:nvSpPr>
        <p:spPr>
          <a:xfrm>
            <a:off x="2177990" y="1523380"/>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232000" y="1637639"/>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Domaine les Guignottes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612000" y="4646224"/>
            <a:ext cx="0" cy="259440"/>
          </a:xfrm>
          <a:prstGeom prst="line">
            <a:avLst/>
          </a:prstGeom>
          <a:noFill/>
          <a:ln w="17780">
            <a:solidFill>
              <a:srgbClr val="67067C"/>
            </a:solidFill>
            <a:prstDash val="solid"/>
          </a:ln>
        </p:spPr>
      </p:sp>
      <p:sp>
        <p:nvSpPr>
          <p:cNvPr id="19" name="Text 13"/>
          <p:cNvSpPr/>
          <p:nvPr/>
        </p:nvSpPr>
        <p:spPr>
          <a:xfrm>
            <a:off x="720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20" name="Text 14"/>
          <p:cNvSpPr/>
          <p:nvPr/>
        </p:nvSpPr>
        <p:spPr>
          <a:xfrm>
            <a:off x="612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612000" y="5197264"/>
            <a:ext cx="6120000" cy="1463409"/>
          </a:xfrm>
          <a:prstGeom prst="rect">
            <a:avLst/>
          </a:prstGeom>
        </p:spPr>
      </p:pic>
      <p:sp>
        <p:nvSpPr>
          <p:cNvPr id="22"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Château du Cray, stand 26 p. 16</a:t>
            </a:r>
            <a:endParaRPr lang="en-US" sz="74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Verchères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u vigneron — Domaine des Verchèr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Verchères">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Mancey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Passe-Tout-Grain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Bulles du Puits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391407"/>
            <a:ext cx="0" cy="259440"/>
          </a:xfrm>
          <a:prstGeom prst="line">
            <a:avLst/>
          </a:prstGeom>
          <a:noFill/>
          <a:ln w="17780">
            <a:solidFill>
              <a:srgbClr val="67067C"/>
            </a:solidFill>
            <a:prstDash val="solid"/>
          </a:ln>
        </p:spPr>
      </p:sp>
      <p:sp>
        <p:nvSpPr>
          <p:cNvPr id="22" name="Text 15"/>
          <p:cNvSpPr/>
          <p:nvPr/>
        </p:nvSpPr>
        <p:spPr>
          <a:xfrm>
            <a:off x="936000" y="539140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7948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4" name="Image 4" descr="/home/user/philippe1/build/deco-salon-prive-2026/sol-bourgogne.png">    </p:cNvPr>
          <p:cNvPicPr>
            <a:picLocks noChangeAspect="1"/>
          </p:cNvPicPr>
          <p:nvPr/>
        </p:nvPicPr>
        <p:blipFill>
          <a:blip r:embed="rId5"/>
          <a:stretch>
            <a:fillRect/>
          </a:stretch>
        </p:blipFill>
        <p:spPr>
          <a:xfrm>
            <a:off x="828000" y="5942447"/>
            <a:ext cx="6120000" cy="129865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rho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22</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21</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 Prieuré des Papes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ogo du domaine — Domaine Le Prieuré des Pap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Le Prieuré des Pape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4049" y="1438911"/>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9" name="Text 13"/>
          <p:cNvSpPr/>
          <p:nvPr/>
        </p:nvSpPr>
        <p:spPr>
          <a:xfrm>
            <a:off x="2448000" y="1466503"/>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40881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Couchant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696951"/>
            <a:ext cx="0" cy="259440"/>
          </a:xfrm>
          <a:prstGeom prst="line">
            <a:avLst/>
          </a:prstGeom>
          <a:noFill/>
          <a:ln w="17780">
            <a:solidFill>
              <a:srgbClr val="67067C"/>
            </a:solidFill>
            <a:prstDash val="solid"/>
          </a:ln>
        </p:spPr>
      </p:sp>
      <p:sp>
        <p:nvSpPr>
          <p:cNvPr id="22" name="Text 15"/>
          <p:cNvSpPr/>
          <p:nvPr/>
        </p:nvSpPr>
        <p:spPr>
          <a:xfrm>
            <a:off x="936000" y="56969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1003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6247991"/>
            <a:ext cx="6120000" cy="114840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de Coyeux, stand 7 p. 21 · Domaine du Moulin Blanc, stand 7 p. 22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Coyeux</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 domaine — Domaine de Coyeux">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Coyeux">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17" y="1423269"/>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9" name="Text 13"/>
          <p:cNvSpPr/>
          <p:nvPr/>
        </p:nvSpPr>
        <p:spPr>
          <a:xfrm>
            <a:off x="2232000" y="1506594"/>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45010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058901"/>
            <a:ext cx="0" cy="259440"/>
          </a:xfrm>
          <a:prstGeom prst="line">
            <a:avLst/>
          </a:prstGeom>
          <a:noFill/>
          <a:ln w="17780">
            <a:solidFill>
              <a:srgbClr val="67067C"/>
            </a:solidFill>
            <a:prstDash val="solid"/>
          </a:ln>
        </p:spPr>
      </p:sp>
      <p:sp>
        <p:nvSpPr>
          <p:cNvPr id="22" name="Text 15"/>
          <p:cNvSpPr/>
          <p:nvPr/>
        </p:nvSpPr>
        <p:spPr>
          <a:xfrm>
            <a:off x="720000" y="605890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46234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6609941"/>
            <a:ext cx="6120000" cy="1040739"/>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du Moulin Blanc, stand 7 p. 22 · Domaine de la Pousterle, stand 7 p. 23</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du Moulin Blanc</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03747"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6"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u Moulin Blanc">    </p:cNvPr>
          <p:cNvPicPr>
            <a:picLocks noChangeAspect="1"/>
          </p:cNvPicPr>
          <p:nvPr/>
        </p:nvPicPr>
        <p:blipFill>
          <a:blip r:embed="rId4"/>
          <a:stretch>
            <a:fillRect/>
          </a:stretch>
        </p:blipFill>
        <p:spPr>
          <a:xfrm>
            <a:off x="6220230" y="1605996"/>
            <a:ext cx="591541" cy="2232000"/>
          </a:xfrm>
          <a:prstGeom prst="rect">
            <a:avLst/>
          </a:prstGeom>
        </p:spPr>
      </p:pic>
      <p:sp>
        <p:nvSpPr>
          <p:cNvPr id="18" name="Text 12"/>
          <p:cNvSpPr/>
          <p:nvPr/>
        </p:nvSpPr>
        <p:spPr>
          <a:xfrm>
            <a:off x="2393970" y="1566804"/>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9" name="Text 13"/>
          <p:cNvSpPr/>
          <p:nvPr/>
        </p:nvSpPr>
        <p:spPr>
          <a:xfrm>
            <a:off x="2448000" y="1646599"/>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4646224"/>
            <a:ext cx="0" cy="259440"/>
          </a:xfrm>
          <a:prstGeom prst="line">
            <a:avLst/>
          </a:prstGeom>
          <a:noFill/>
          <a:ln w="17780">
            <a:solidFill>
              <a:srgbClr val="67067C"/>
            </a:solidFill>
            <a:prstDash val="solid"/>
          </a:ln>
        </p:spPr>
      </p:sp>
      <p:sp>
        <p:nvSpPr>
          <p:cNvPr id="22" name="Text 15"/>
          <p:cNvSpPr/>
          <p:nvPr/>
        </p:nvSpPr>
        <p:spPr>
          <a:xfrm>
            <a:off x="936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5197264"/>
            <a:ext cx="6120000" cy="1463409"/>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Pousterle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dans les vignes — Domaine de la Pousterl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la Pousterle">    </p:cNvPr>
          <p:cNvPicPr>
            <a:picLocks noChangeAspect="1"/>
          </p:cNvPicPr>
          <p:nvPr/>
        </p:nvPicPr>
        <p:blipFill>
          <a:blip r:embed="rId4"/>
          <a:stretch>
            <a:fillRect/>
          </a:stretch>
        </p:blipFill>
        <p:spPr>
          <a:xfrm>
            <a:off x="6007279" y="1605996"/>
            <a:ext cx="585443" cy="2232000"/>
          </a:xfrm>
          <a:prstGeom prst="rect">
            <a:avLst/>
          </a:prstGeom>
        </p:spPr>
      </p:pic>
      <p:sp>
        <p:nvSpPr>
          <p:cNvPr id="18" name="Text 12"/>
          <p:cNvSpPr/>
          <p:nvPr/>
        </p:nvSpPr>
        <p:spPr>
          <a:xfrm>
            <a:off x="2177990" y="1537027"/>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9" name="Text 13"/>
          <p:cNvSpPr/>
          <p:nvPr/>
        </p:nvSpPr>
        <p:spPr>
          <a:xfrm>
            <a:off x="2232000" y="1619135"/>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Chardonnay-Viognier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266242"/>
            <a:ext cx="0" cy="259440"/>
          </a:xfrm>
          <a:prstGeom prst="line">
            <a:avLst/>
          </a:prstGeom>
          <a:noFill/>
          <a:ln w="17780">
            <a:solidFill>
              <a:srgbClr val="67067C"/>
            </a:solidFill>
            <a:prstDash val="solid"/>
          </a:ln>
        </p:spPr>
      </p:sp>
      <p:sp>
        <p:nvSpPr>
          <p:cNvPr id="22" name="Text 15"/>
          <p:cNvSpPr/>
          <p:nvPr/>
        </p:nvSpPr>
        <p:spPr>
          <a:xfrm>
            <a:off x="720000" y="5266242"/>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66968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5817282"/>
            <a:ext cx="6120000" cy="1148400"/>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du Moulin Blanc, stand 7 p. 22</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les deux vignerons, recadrés sur leurs visages — Domaine Trichon">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Trichon">    </p:cNvPr>
          <p:cNvPicPr>
            <a:picLocks noChangeAspect="1"/>
          </p:cNvPicPr>
          <p:nvPr/>
        </p:nvPicPr>
        <p:blipFill>
          <a:blip r:embed="rId4"/>
          <a:stretch>
            <a:fillRect/>
          </a:stretch>
        </p:blipFill>
        <p:spPr>
          <a:xfrm>
            <a:off x="6209557" y="1605996"/>
            <a:ext cx="612885" cy="2232000"/>
          </a:xfrm>
          <a:prstGeom prst="rect">
            <a:avLst/>
          </a:prstGeom>
        </p:spPr>
      </p:pic>
      <p:sp>
        <p:nvSpPr>
          <p:cNvPr id="18" name="Text 12"/>
          <p:cNvSpPr/>
          <p:nvPr/>
        </p:nvSpPr>
        <p:spPr>
          <a:xfrm>
            <a:off x="2393985" y="1578165"/>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9" name="Text 13"/>
          <p:cNvSpPr/>
          <p:nvPr/>
        </p:nvSpPr>
        <p:spPr>
          <a:xfrm>
            <a:off x="2448000" y="1684407"/>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Extra-Brut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Mondeuse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Pinot Noir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Gamay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Chardonnay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Pétillant de Jus de Raisin 0 %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41365"/>
            <a:ext cx="0" cy="259440"/>
          </a:xfrm>
          <a:prstGeom prst="line">
            <a:avLst/>
          </a:prstGeom>
          <a:noFill/>
          <a:ln w="17780">
            <a:solidFill>
              <a:srgbClr val="67067C"/>
            </a:solidFill>
            <a:prstDash val="solid"/>
          </a:ln>
        </p:spPr>
      </p:sp>
      <p:sp>
        <p:nvSpPr>
          <p:cNvPr id="22" name="Text 15"/>
          <p:cNvSpPr/>
          <p:nvPr/>
        </p:nvSpPr>
        <p:spPr>
          <a:xfrm>
            <a:off x="936000" y="744136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4" name="Text 1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25</a:t>
            </a:r>
            <a:endParaRPr lang="en-US" sz="750" dirty="0"/>
          </a:p>
        </p:txBody>
      </p:sp>
      <p:sp>
        <p:nvSpPr>
          <p:cNvPr id="15" name="Text 1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Stratéus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logo du domaine — Domaine Stratéu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tratéus">    </p:cNvPr>
          <p:cNvPicPr>
            <a:picLocks noChangeAspect="1"/>
          </p:cNvPicPr>
          <p:nvPr/>
        </p:nvPicPr>
        <p:blipFill>
          <a:blip r:embed="rId4"/>
          <a:stretch>
            <a:fillRect/>
          </a:stretch>
        </p:blipFill>
        <p:spPr>
          <a:xfrm>
            <a:off x="6270541" y="1605996"/>
            <a:ext cx="490918" cy="2232000"/>
          </a:xfrm>
          <a:prstGeom prst="rect">
            <a:avLst/>
          </a:prstGeom>
        </p:spPr>
      </p:pic>
      <p:sp>
        <p:nvSpPr>
          <p:cNvPr id="20" name="Text 14"/>
          <p:cNvSpPr/>
          <p:nvPr/>
        </p:nvSpPr>
        <p:spPr>
          <a:xfrm>
            <a:off x="2393975" y="1579073"/>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21" name="Text 15"/>
          <p:cNvSpPr/>
          <p:nvPr/>
        </p:nvSpPr>
        <p:spPr>
          <a:xfrm>
            <a:off x="2448000" y="1727139"/>
            <a:ext cx="3456000" cy="211071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 Vins sous allocation.</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Doux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196269"/>
            <a:ext cx="0" cy="259440"/>
          </a:xfrm>
          <a:prstGeom prst="line">
            <a:avLst/>
          </a:prstGeom>
          <a:noFill/>
          <a:ln w="17780">
            <a:solidFill>
              <a:srgbClr val="67067C"/>
            </a:solidFill>
            <a:prstDash val="solid"/>
          </a:ln>
        </p:spPr>
      </p:sp>
      <p:sp>
        <p:nvSpPr>
          <p:cNvPr id="24" name="Text 17"/>
          <p:cNvSpPr/>
          <p:nvPr/>
        </p:nvSpPr>
        <p:spPr>
          <a:xfrm>
            <a:off x="936000" y="619626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5997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828000" y="6747309"/>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Haut Marin</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604592"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2" name="Shape 8"/>
          <p:cNvSpPr/>
          <p:nvPr/>
        </p:nvSpPr>
        <p:spPr>
          <a:xfrm>
            <a:off x="1295792"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9579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760466"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760466"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704023"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704023"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logo du domaine — Domaine Haut Marin">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Domaine Haut Marin">    </p:cNvPr>
          <p:cNvPicPr>
            <a:picLocks noChangeAspect="1"/>
          </p:cNvPicPr>
          <p:nvPr/>
        </p:nvPicPr>
        <p:blipFill>
          <a:blip r:embed="rId4"/>
          <a:stretch>
            <a:fillRect/>
          </a:stretch>
        </p:blipFill>
        <p:spPr>
          <a:xfrm>
            <a:off x="6028623" y="1605996"/>
            <a:ext cx="542754" cy="2232000"/>
          </a:xfrm>
          <a:prstGeom prst="rect">
            <a:avLst/>
          </a:prstGeom>
        </p:spPr>
      </p:pic>
      <p:sp>
        <p:nvSpPr>
          <p:cNvPr id="20" name="Text 14"/>
          <p:cNvSpPr/>
          <p:nvPr/>
        </p:nvSpPr>
        <p:spPr>
          <a:xfrm>
            <a:off x="2177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232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 Format BIB disponible.</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Vénus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 Pétillant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6610309"/>
            <a:ext cx="0" cy="259440"/>
          </a:xfrm>
          <a:prstGeom prst="line">
            <a:avLst/>
          </a:prstGeom>
          <a:noFill/>
          <a:ln w="17780">
            <a:solidFill>
              <a:srgbClr val="67067C"/>
            </a:solidFill>
            <a:prstDash val="solid"/>
          </a:ln>
        </p:spPr>
      </p:sp>
      <p:sp>
        <p:nvSpPr>
          <p:cNvPr id="24" name="Text 17"/>
          <p:cNvSpPr/>
          <p:nvPr/>
        </p:nvSpPr>
        <p:spPr>
          <a:xfrm>
            <a:off x="720000" y="661030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612000" y="701374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612000" y="7161349"/>
            <a:ext cx="6120000" cy="959925"/>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rdeaux.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17</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Falfas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château — Château Falf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Falfas">    </p:cNvPr>
          <p:cNvPicPr>
            <a:picLocks noChangeAspect="1"/>
          </p:cNvPicPr>
          <p:nvPr/>
        </p:nvPicPr>
        <p:blipFill>
          <a:blip r:embed="rId4"/>
          <a:stretch>
            <a:fillRect/>
          </a:stretch>
        </p:blipFill>
        <p:spPr>
          <a:xfrm>
            <a:off x="6028623" y="1605996"/>
            <a:ext cx="542754" cy="2232000"/>
          </a:xfrm>
          <a:prstGeom prst="rect">
            <a:avLst/>
          </a:prstGeom>
        </p:spPr>
      </p:pic>
      <p:sp>
        <p:nvSpPr>
          <p:cNvPr id="18" name="Text 12"/>
          <p:cNvSpPr/>
          <p:nvPr/>
        </p:nvSpPr>
        <p:spPr>
          <a:xfrm>
            <a:off x="2177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259440"/>
          </a:xfrm>
          <a:prstGeom prst="line">
            <a:avLst/>
          </a:prstGeom>
          <a:noFill/>
          <a:ln w="17780">
            <a:solidFill>
              <a:srgbClr val="67067C"/>
            </a:solidFill>
            <a:prstDash val="solid"/>
          </a:ln>
        </p:spPr>
      </p:sp>
      <p:sp>
        <p:nvSpPr>
          <p:cNvPr id="22" name="Text 15"/>
          <p:cNvSpPr/>
          <p:nvPr/>
        </p:nvSpPr>
        <p:spPr>
          <a:xfrm>
            <a:off x="720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982607"/>
            <a:ext cx="6120000" cy="1138668"/>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Pré la Lande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758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58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23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au domaine — Château Pré la Land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Pré la Lande">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259440"/>
          </a:xfrm>
          <a:prstGeom prst="line">
            <a:avLst/>
          </a:prstGeom>
          <a:noFill/>
          <a:ln w="17780">
            <a:solidFill>
              <a:srgbClr val="67067C"/>
            </a:solidFill>
            <a:prstDash val="solid"/>
          </a:ln>
        </p:spPr>
      </p:sp>
      <p:sp>
        <p:nvSpPr>
          <p:cNvPr id="22" name="Text 15"/>
          <p:cNvSpPr/>
          <p:nvPr/>
        </p:nvSpPr>
        <p:spPr>
          <a:xfrm>
            <a:off x="936000" y="51915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5949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742571"/>
            <a:ext cx="6120000" cy="141858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Balac</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portrait des vignerons — Château Balac">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Balac">    </p:cNvPr>
          <p:cNvPicPr>
            <a:picLocks noChangeAspect="1"/>
          </p:cNvPicPr>
          <p:nvPr/>
        </p:nvPicPr>
        <p:blipFill>
          <a:blip r:embed="rId4"/>
          <a:stretch>
            <a:fillRect/>
          </a:stretch>
        </p:blipFill>
        <p:spPr>
          <a:xfrm>
            <a:off x="6030148" y="1605996"/>
            <a:ext cx="539705" cy="2232000"/>
          </a:xfrm>
          <a:prstGeom prst="rect">
            <a:avLst/>
          </a:prstGeom>
        </p:spPr>
      </p:pic>
      <p:sp>
        <p:nvSpPr>
          <p:cNvPr id="18" name="Text 12"/>
          <p:cNvSpPr/>
          <p:nvPr/>
        </p:nvSpPr>
        <p:spPr>
          <a:xfrm>
            <a:off x="2177976" y="1725483"/>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863852"/>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Haut-Médoc Cru Bourgeois Supérieur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Balac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L’inopine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576251"/>
            <a:ext cx="0" cy="259440"/>
          </a:xfrm>
          <a:prstGeom prst="line">
            <a:avLst/>
          </a:prstGeom>
          <a:noFill/>
          <a:ln w="17780">
            <a:solidFill>
              <a:srgbClr val="67067C"/>
            </a:solidFill>
            <a:prstDash val="solid"/>
          </a:ln>
        </p:spPr>
      </p:sp>
      <p:sp>
        <p:nvSpPr>
          <p:cNvPr id="22" name="Text 15"/>
          <p:cNvSpPr/>
          <p:nvPr/>
        </p:nvSpPr>
        <p:spPr>
          <a:xfrm>
            <a:off x="720000" y="55762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979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127291"/>
            <a:ext cx="6120000" cy="118775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l’Escarderie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les deux vignerons, deux portraits côte à côte — Château l’Escarderi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l’Escarderie">    </p:cNvPr>
          <p:cNvPicPr>
            <a:picLocks noChangeAspect="1"/>
          </p:cNvPicPr>
          <p:nvPr/>
        </p:nvPicPr>
        <p:blipFill>
          <a:blip r:embed="rId4"/>
          <a:stretch>
            <a:fillRect/>
          </a:stretch>
        </p:blipFill>
        <p:spPr>
          <a:xfrm>
            <a:off x="6243098" y="1605996"/>
            <a:ext cx="545803" cy="2232000"/>
          </a:xfrm>
          <a:prstGeom prst="rect">
            <a:avLst/>
          </a:prstGeom>
        </p:spPr>
      </p:pic>
      <p:sp>
        <p:nvSpPr>
          <p:cNvPr id="18" name="Text 12"/>
          <p:cNvSpPr/>
          <p:nvPr/>
        </p:nvSpPr>
        <p:spPr>
          <a:xfrm>
            <a:off x="2394014" y="1588278"/>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9" name="Text 13"/>
          <p:cNvSpPr/>
          <p:nvPr/>
        </p:nvSpPr>
        <p:spPr>
          <a:xfrm>
            <a:off x="2448000" y="1720805"/>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Lafargue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259440"/>
          </a:xfrm>
          <a:prstGeom prst="line">
            <a:avLst/>
          </a:prstGeom>
          <a:noFill/>
          <a:ln w="17780">
            <a:solidFill>
              <a:srgbClr val="67067C"/>
            </a:solidFill>
            <a:prstDash val="solid"/>
          </a:ln>
        </p:spPr>
      </p:sp>
      <p:sp>
        <p:nvSpPr>
          <p:cNvPr id="22" name="Text 15"/>
          <p:cNvSpPr/>
          <p:nvPr/>
        </p:nvSpPr>
        <p:spPr>
          <a:xfrm>
            <a:off x="936000" y="51915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3" name="Text 16"/>
          <p:cNvSpPr/>
          <p:nvPr/>
        </p:nvSpPr>
        <p:spPr>
          <a:xfrm>
            <a:off x="828000" y="55949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742571"/>
            <a:ext cx="6120000" cy="141858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10</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Bastide de Blacailloux</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borie en pierre sèche du domaine — Bastide de Blacailloux">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Bastide de Blacailloux">    </p:cNvPr>
          <p:cNvPicPr>
            <a:picLocks noChangeAspect="1"/>
          </p:cNvPicPr>
          <p:nvPr/>
        </p:nvPicPr>
        <p:blipFill>
          <a:blip r:embed="rId4"/>
          <a:stretch>
            <a:fillRect/>
          </a:stretch>
        </p:blipFill>
        <p:spPr>
          <a:xfrm>
            <a:off x="6267492" y="1605996"/>
            <a:ext cx="497016" cy="2232000"/>
          </a:xfrm>
          <a:prstGeom prst="rect">
            <a:avLst/>
          </a:prstGeom>
        </p:spPr>
      </p:pic>
      <p:sp>
        <p:nvSpPr>
          <p:cNvPr id="18" name="Text 12"/>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9" name="Text 13"/>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 Format BIB disponible.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36305"/>
            <a:ext cx="0" cy="259440"/>
          </a:xfrm>
          <a:prstGeom prst="line">
            <a:avLst/>
          </a:prstGeom>
          <a:noFill/>
          <a:ln w="17780">
            <a:solidFill>
              <a:srgbClr val="67067C"/>
            </a:solidFill>
            <a:prstDash val="solid"/>
          </a:ln>
        </p:spPr>
      </p:sp>
      <p:sp>
        <p:nvSpPr>
          <p:cNvPr id="22" name="Text 15"/>
          <p:cNvSpPr/>
          <p:nvPr/>
        </p:nvSpPr>
        <p:spPr>
          <a:xfrm>
            <a:off x="936000" y="743630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18</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Famille d’Exea</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ogo de la maison — Famille d’Exea">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Famille d’Exea">    </p:cNvPr>
          <p:cNvPicPr>
            <a:picLocks noChangeAspect="1"/>
          </p:cNvPicPr>
          <p:nvPr/>
        </p:nvPicPr>
        <p:blipFill>
          <a:blip r:embed="rId4"/>
          <a:stretch>
            <a:fillRect/>
          </a:stretch>
        </p:blipFill>
        <p:spPr>
          <a:xfrm>
            <a:off x="6223279" y="1605996"/>
            <a:ext cx="585443"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 Panachage possible avec la gamme de purs jus de cépages. Format BIB disponible.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86260"/>
            <a:ext cx="0" cy="259440"/>
          </a:xfrm>
          <a:prstGeom prst="line">
            <a:avLst/>
          </a:prstGeom>
          <a:noFill/>
          <a:ln w="17780">
            <a:solidFill>
              <a:srgbClr val="67067C"/>
            </a:solidFill>
            <a:prstDash val="solid"/>
          </a:ln>
        </p:spPr>
      </p:sp>
      <p:sp>
        <p:nvSpPr>
          <p:cNvPr id="22" name="Text 15"/>
          <p:cNvSpPr/>
          <p:nvPr/>
        </p:nvSpPr>
        <p:spPr>
          <a:xfrm>
            <a:off x="936000" y="588626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828000" y="628970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437300"/>
            <a:ext cx="6120000" cy="114840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 Jus de Cépages, stand 21 p. 37</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950" dirty="0">
                <a:solidFill>
                  <a:srgbClr val="46606E"/>
                </a:solidFill>
                <a:latin typeface="Young Serif" pitchFamily="34" charset="0"/>
                <a:ea typeface="Young Serif" pitchFamily="34" charset="-122"/>
                <a:cs typeface="Young Serif" pitchFamily="34" charset="-120"/>
              </a:rPr>
              <a:t>Famille d’Exea — Jus de Cépages</a:t>
            </a:r>
            <a:endParaRPr lang="en-US" sz="19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brebis dans les vignes — Famille d’Exea — Jus de Cépage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amille d’Exea — Jus de Cépages">    </p:cNvPr>
          <p:cNvPicPr>
            <a:picLocks noChangeAspect="1"/>
          </p:cNvPicPr>
          <p:nvPr/>
        </p:nvPicPr>
        <p:blipFill>
          <a:blip r:embed="rId4"/>
          <a:stretch>
            <a:fillRect/>
          </a:stretch>
        </p:blipFill>
        <p:spPr>
          <a:xfrm>
            <a:off x="5897508" y="1605996"/>
            <a:ext cx="804984" cy="2232000"/>
          </a:xfrm>
          <a:prstGeom prst="rect">
            <a:avLst/>
          </a:prstGeom>
        </p:spPr>
      </p:pic>
      <p:sp>
        <p:nvSpPr>
          <p:cNvPr id="18" name="Text 12"/>
          <p:cNvSpPr/>
          <p:nvPr/>
        </p:nvSpPr>
        <p:spPr>
          <a:xfrm>
            <a:off x="2178013" y="1529640"/>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9" name="Text 13"/>
          <p:cNvSpPr/>
          <p:nvPr/>
        </p:nvSpPr>
        <p:spPr>
          <a:xfrm>
            <a:off x="2232000" y="1640157"/>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4969330"/>
            <a:ext cx="0" cy="259440"/>
          </a:xfrm>
          <a:prstGeom prst="line">
            <a:avLst/>
          </a:prstGeom>
          <a:noFill/>
          <a:ln w="17780">
            <a:solidFill>
              <a:srgbClr val="67067C"/>
            </a:solidFill>
            <a:prstDash val="solid"/>
          </a:ln>
        </p:spPr>
      </p:sp>
      <p:sp>
        <p:nvSpPr>
          <p:cNvPr id="22" name="Text 15"/>
          <p:cNvSpPr/>
          <p:nvPr/>
        </p:nvSpPr>
        <p:spPr>
          <a:xfrm>
            <a:off x="720000" y="49693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612000" y="537277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5520370"/>
            <a:ext cx="6120000" cy="1343841"/>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stand 21 p. 36</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de Gragnos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grappes à la vigne — Château de Gragno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de Gragno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3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448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Juliette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d’Hérault Monts de la Grage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11548"/>
            <a:ext cx="0" cy="259440"/>
          </a:xfrm>
          <a:prstGeom prst="line">
            <a:avLst/>
          </a:prstGeom>
          <a:noFill/>
          <a:ln w="17780">
            <a:solidFill>
              <a:srgbClr val="67067C"/>
            </a:solidFill>
            <a:prstDash val="solid"/>
          </a:ln>
        </p:spPr>
      </p:sp>
      <p:sp>
        <p:nvSpPr>
          <p:cNvPr id="22" name="Text 15"/>
          <p:cNvSpPr/>
          <p:nvPr/>
        </p:nvSpPr>
        <p:spPr>
          <a:xfrm>
            <a:off x="936000" y="581154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3" name="Text 16"/>
          <p:cNvSpPr/>
          <p:nvPr/>
        </p:nvSpPr>
        <p:spPr>
          <a:xfrm>
            <a:off x="828000" y="621498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362589"/>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Prieuré Sainte-Marie d’Albas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es deux vignerons et leur rosé, noir et blanc — Prieuré Sainte-Marie d’Alb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Prieuré Sainte-Marie d’Albas">    </p:cNvPr>
          <p:cNvPicPr>
            <a:picLocks noChangeAspect="1"/>
          </p:cNvPicPr>
          <p:nvPr/>
        </p:nvPicPr>
        <p:blipFill>
          <a:blip r:embed="rId4"/>
          <a:stretch>
            <a:fillRect/>
          </a:stretch>
        </p:blipFill>
        <p:spPr>
          <a:xfrm>
            <a:off x="6056066" y="1605996"/>
            <a:ext cx="487869"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811548"/>
            <a:ext cx="0" cy="259440"/>
          </a:xfrm>
          <a:prstGeom prst="line">
            <a:avLst/>
          </a:prstGeom>
          <a:noFill/>
          <a:ln w="17780">
            <a:solidFill>
              <a:srgbClr val="67067C"/>
            </a:solidFill>
            <a:prstDash val="solid"/>
          </a:ln>
        </p:spPr>
      </p:sp>
      <p:sp>
        <p:nvSpPr>
          <p:cNvPr id="22" name="Text 15"/>
          <p:cNvSpPr/>
          <p:nvPr/>
        </p:nvSpPr>
        <p:spPr>
          <a:xfrm>
            <a:off x="720000" y="581154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Text 16"/>
          <p:cNvSpPr/>
          <p:nvPr/>
        </p:nvSpPr>
        <p:spPr>
          <a:xfrm>
            <a:off x="612000" y="621498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6362589"/>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champag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9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21</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11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41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42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23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43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15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44</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Dekeyne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s deux frères dans les vignes — Champagne Dekeyne">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Champagne Dekeyne">    </p:cNvPr>
          <p:cNvPicPr>
            <a:picLocks noChangeAspect="1"/>
          </p:cNvPicPr>
          <p:nvPr/>
        </p:nvPicPr>
        <p:blipFill>
          <a:blip r:embed="rId4"/>
          <a:stretch>
            <a:fillRect/>
          </a:stretch>
        </p:blipFill>
        <p:spPr>
          <a:xfrm>
            <a:off x="6005754" y="1605996"/>
            <a:ext cx="588492"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 Ratafia disponible. Vins sous allocation.</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Supernova Extra-Brut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5501539"/>
            <a:ext cx="0" cy="259440"/>
          </a:xfrm>
          <a:prstGeom prst="line">
            <a:avLst/>
          </a:prstGeom>
          <a:noFill/>
          <a:ln w="17780">
            <a:solidFill>
              <a:srgbClr val="67067C"/>
            </a:solidFill>
            <a:prstDash val="solid"/>
          </a:ln>
        </p:spPr>
      </p:sp>
      <p:sp>
        <p:nvSpPr>
          <p:cNvPr id="24" name="Text 17"/>
          <p:cNvSpPr/>
          <p:nvPr/>
        </p:nvSpPr>
        <p:spPr>
          <a:xfrm>
            <a:off x="720000" y="550153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5" name="Text 18"/>
          <p:cNvSpPr/>
          <p:nvPr/>
        </p:nvSpPr>
        <p:spPr>
          <a:xfrm>
            <a:off x="612000" y="59049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612000" y="6052580"/>
            <a:ext cx="6120000" cy="1232577"/>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Denis Frézier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8" name="Image 2" descr="le village dans ses vignes — Champagne Denis Frézier">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Champagne Denis Frézier">    </p:cNvPr>
          <p:cNvPicPr>
            <a:picLocks noChangeAspect="1"/>
          </p:cNvPicPr>
          <p:nvPr/>
        </p:nvPicPr>
        <p:blipFill>
          <a:blip r:embed="rId4"/>
          <a:stretch>
            <a:fillRect/>
          </a:stretch>
        </p:blipFill>
        <p:spPr>
          <a:xfrm>
            <a:off x="6218705" y="1605996"/>
            <a:ext cx="594590" cy="2232000"/>
          </a:xfrm>
          <a:prstGeom prst="rect">
            <a:avLst/>
          </a:prstGeom>
        </p:spPr>
      </p:pic>
      <p:sp>
        <p:nvSpPr>
          <p:cNvPr id="20" name="Text 14"/>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 Ratafia disponible. Vins sous allocation.</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Blanc Blanc de Blancs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Meunier Blanc de Meuniers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Millésime Expression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022736"/>
            <a:ext cx="0" cy="259440"/>
          </a:xfrm>
          <a:prstGeom prst="line">
            <a:avLst/>
          </a:prstGeom>
          <a:noFill/>
          <a:ln w="17780">
            <a:solidFill>
              <a:srgbClr val="67067C"/>
            </a:solidFill>
            <a:prstDash val="solid"/>
          </a:ln>
        </p:spPr>
      </p:sp>
      <p:sp>
        <p:nvSpPr>
          <p:cNvPr id="24" name="Text 17"/>
          <p:cNvSpPr/>
          <p:nvPr/>
        </p:nvSpPr>
        <p:spPr>
          <a:xfrm>
            <a:off x="936000" y="602273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42617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828000" y="6573776"/>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Solemme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ogo de la maison — Champagne Solemm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mpagne Solemme">    </p:cNvPr>
          <p:cNvPicPr>
            <a:picLocks noChangeAspect="1"/>
          </p:cNvPicPr>
          <p:nvPr/>
        </p:nvPicPr>
        <p:blipFill>
          <a:blip r:embed="rId4"/>
          <a:stretch>
            <a:fillRect/>
          </a:stretch>
        </p:blipFill>
        <p:spPr>
          <a:xfrm>
            <a:off x="6002705" y="1605996"/>
            <a:ext cx="594590"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 Blanc de Blancs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 Blanc de Noirs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332745"/>
            <a:ext cx="0" cy="259440"/>
          </a:xfrm>
          <a:prstGeom prst="line">
            <a:avLst/>
          </a:prstGeom>
          <a:noFill/>
          <a:ln w="17780">
            <a:solidFill>
              <a:srgbClr val="67067C"/>
            </a:solidFill>
            <a:prstDash val="solid"/>
          </a:ln>
        </p:spPr>
      </p:sp>
      <p:sp>
        <p:nvSpPr>
          <p:cNvPr id="22" name="Text 15"/>
          <p:cNvSpPr/>
          <p:nvPr/>
        </p:nvSpPr>
        <p:spPr>
          <a:xfrm>
            <a:off x="720000" y="633274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612000" y="67361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612000" y="6883785"/>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Vazart-Coquart &amp; Fils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73168"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7316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a maison de champagne — Vazart-Coquart &amp; Fi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Vazart-Coquart &amp; Fils">    </p:cNvPr>
          <p:cNvPicPr>
            <a:picLocks noChangeAspect="1"/>
          </p:cNvPicPr>
          <p:nvPr/>
        </p:nvPicPr>
        <p:blipFill>
          <a:blip r:embed="rId4"/>
          <a:stretch>
            <a:fillRect/>
          </a:stretch>
        </p:blipFill>
        <p:spPr>
          <a:xfrm>
            <a:off x="6129248" y="1605996"/>
            <a:ext cx="773503" cy="2232000"/>
          </a:xfrm>
          <a:prstGeom prst="rect">
            <a:avLst/>
          </a:prstGeom>
        </p:spPr>
      </p:pic>
      <p:sp>
        <p:nvSpPr>
          <p:cNvPr id="18" name="Text 12"/>
          <p:cNvSpPr/>
          <p:nvPr/>
        </p:nvSpPr>
        <p:spPr>
          <a:xfrm>
            <a:off x="2394033" y="1862687"/>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9" name="Text 13"/>
          <p:cNvSpPr/>
          <p:nvPr/>
        </p:nvSpPr>
        <p:spPr>
          <a:xfrm>
            <a:off x="2448000" y="2006898"/>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 Extra-Brut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Spécial Club Blanc de Blancs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82/18 Blanc de Blancs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196269"/>
            <a:ext cx="0" cy="259440"/>
          </a:xfrm>
          <a:prstGeom prst="line">
            <a:avLst/>
          </a:prstGeom>
          <a:noFill/>
          <a:ln w="17780">
            <a:solidFill>
              <a:srgbClr val="67067C"/>
            </a:solidFill>
            <a:prstDash val="solid"/>
          </a:ln>
        </p:spPr>
      </p:sp>
      <p:sp>
        <p:nvSpPr>
          <p:cNvPr id="22" name="Text 15"/>
          <p:cNvSpPr/>
          <p:nvPr/>
        </p:nvSpPr>
        <p:spPr>
          <a:xfrm>
            <a:off x="936000" y="619626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5997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828000" y="6747309"/>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stand,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82/18 Blanc de Blancs Zéro Dosage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 Blanc de Noirs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d’Alsace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Rosé</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Extra-Brut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 Extra-Brut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L’Eberluant Chardonnay Méthode ancestrale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Blanc Blanc de Blancs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Meunier Blanc de Meuniers Extra-Brut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Bulles du Puits Rosé</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Extra-Brut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Millésime Expression</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Pétillant</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 Blanc de Blancs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 Extra-Brut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Supernova Extra-Brut Zéro Dosage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 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Albas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 Blanc</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Hautes-Côtes de Beaune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Chardonnay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Mancey Blanc</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3" name="Text 41"/>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Meursault</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4" name="Text 42"/>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Pouilly-Fumé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5" name="Text 43"/>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Pouilly-Vinzelles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Quincy</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7" name="Text 45"/>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8" name="Text 46"/>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9" name="Text 47"/>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Touraine Chenonceaux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0" name="Text 48"/>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Anjou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1" name="Text 49"/>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2" name="Text 50"/>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Saumur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3" name="Text 51"/>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4" name="Text 52"/>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5" name="Text 53"/>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56" name="Text 54"/>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Chardonnay-Viognier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7" name="Text 55"/>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Cray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58" name="Text 56"/>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9" name="Text 57"/>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Chenin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Mouzillon-Tillières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1" name="Text 59"/>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2" name="Text 60"/>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3" name="Text 61"/>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64" name="Text 62"/>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Gewurztraminer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65" name="Text 63"/>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6" name="Text 64"/>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67" name="Text 65"/>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Juliette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8" name="Text 66"/>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L’envol</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9" name="Text 67"/>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0" name="Text 68"/>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1" name="Text 69"/>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2" name="Text 70"/>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2023</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73" name="Text 71"/>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4" name="Text 72"/>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Beltins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5" name="Text 73"/>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6" name="Text 74"/>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7" name="Text 75"/>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Villaudes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8" name="Text 76"/>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Chardonnay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9" name="Text 77"/>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0" name="Text 78"/>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81" name="Text 79"/>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2" name="Text 80"/>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3" name="Text 81"/>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4" name="Text 82"/>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5" name="Text 83"/>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86" name="Text 84"/>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 Noëls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87" name="Text 85"/>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8" name="Text 86"/>
          <p:cNvSpPr/>
          <p:nvPr/>
        </p:nvSpPr>
        <p:spPr>
          <a:xfrm>
            <a:off x="469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Hahnenberg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9" name="Text 87"/>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Holderhurst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0" name="Text 88"/>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Melon B.</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1" name="Text 89"/>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Spécial Club Blanc de Blancs Extra-Brut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2" name="Text 90"/>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93" name="Text 91"/>
          <p:cNvSpPr/>
          <p:nvPr/>
        </p:nvSpPr>
        <p:spPr>
          <a:xfrm>
            <a:off x="469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4" name="Text 92"/>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95" name="Text 93"/>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Vignes de Tréleau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692000" y="351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97" name="Text 95"/>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 Rosé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69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Rosé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99" name="Text 97"/>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0" name="Text 98"/>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 Rosé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01" name="Text 99"/>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2" name="Text 100"/>
          <p:cNvSpPr/>
          <p:nvPr/>
        </p:nvSpPr>
        <p:spPr>
          <a:xfrm>
            <a:off x="4692000" y="426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103" name="Text 101"/>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4" name="Text 102"/>
          <p:cNvSpPr/>
          <p:nvPr/>
        </p:nvSpPr>
        <p:spPr>
          <a:xfrm>
            <a:off x="469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5" name="Text 103"/>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Auxey-Duresses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Bourgogne Passe-Tout-Grain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07" name="Text 105"/>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Chassagne-Montrachet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8" name="Text 106"/>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Gevrey-Chambertin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9" name="Text 107"/>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Givry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0" name="Text 108"/>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11" name="Text 109"/>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2" name="Text 110"/>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3" name="Text 111"/>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4" name="Text 112"/>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15" name="Text 113"/>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Aux Allots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6" name="Text 114"/>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7" name="Text 115"/>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8" name="Text 1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119" name="Text 1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 Rouge</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Lafargue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Cravant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Rouge</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Domaine les Guignottes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Franc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L’inopine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Les Soudannes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Rouge – Grolleau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7" name="Text 25"/>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28" name="Text 26"/>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9" name="Text 27"/>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Couchant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1" name="Text 29"/>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2" name="Text 30"/>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4" name="Text 32"/>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5" name="Text 33"/>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7" name="Text 35"/>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8" name="Text 36"/>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9" name="Text 37"/>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0" name="Text 38"/>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Gamay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1" name="Text 39"/>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Mondeuse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2" name="Text 40"/>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Pinot Noir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3" name="Text 41"/>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5" name="Text 43"/>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46" name="Text 44"/>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7" name="Text 45"/>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8" name="Text 46"/>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9" name="Text 47"/>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1" name="Text 49"/>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52" name="Text 50"/>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Gamay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3" name="Text 51"/>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4" name="Text 52"/>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5" name="Text 53"/>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6" name="Text 54"/>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7" name="Text 55"/>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8" name="Text 56"/>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59" name="Text 57"/>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0" name="Text 58"/>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1" name="Text 59"/>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2" name="Text 60"/>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3" name="Text 61"/>
          <p:cNvSpPr/>
          <p:nvPr/>
        </p:nvSpPr>
        <p:spPr>
          <a:xfrm>
            <a:off x="4908000" y="192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64" name="Text 62"/>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65" name="Text 63"/>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 Faye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66" name="Text 64"/>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Doux</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7" name="Text 65"/>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Vénus Blanc Moelleux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8" name="Text 66"/>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2023</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9" name="Text 67"/>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2022</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70" name="Text 68"/>
          <p:cNvSpPr/>
          <p:nvPr/>
        </p:nvSpPr>
        <p:spPr>
          <a:xfrm>
            <a:off x="4908000" y="280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71" name="Text 69"/>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Chardonnay</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2" name="Text 70"/>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Grenache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3" name="Text 71"/>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Syrah</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4" name="Text 72"/>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Pétillant de Jus de Raisin 0 %</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5" name="Text 7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76" name="Text 7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vingt-six exposants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43</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16</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21</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1" name="Text 19"/>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2" name="Text 20"/>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23" name="Text 21"/>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24" name="Text 22"/>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12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25" name="Text 23"/>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6" name="Text 24"/>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27" name="Text 25"/>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14</a:t>
            </a:r>
            <a:endParaRPr lang="en-US" sz="840" dirty="0"/>
          </a:p>
        </p:txBody>
      </p:sp>
      <p:sp>
        <p:nvSpPr>
          <p:cNvPr id="28" name="Text 26"/>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29" name="Text 27"/>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0" name="Text 28"/>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1" name="Text 29"/>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32" name="Text 30"/>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33" name="Text 31"/>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34" name="Text 32"/>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5" name="Text 33"/>
          <p:cNvSpPr/>
          <p:nvPr/>
        </p:nvSpPr>
        <p:spPr>
          <a:xfrm>
            <a:off x="367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36" name="Text 34"/>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vins à la dégustation.</a:t>
            </a:r>
            <a:endParaRPr lang="en-US" sz="800" dirty="0"/>
          </a:p>
        </p:txBody>
      </p:sp>
      <p:sp>
        <p:nvSpPr>
          <p:cNvPr id="37" name="Text 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38" name="Text 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6120000" cy="396000"/>
          </a:xfrm>
          <a:prstGeom prst="rect">
            <a:avLst/>
          </a:prstGeom>
          <a:noFill/>
          <a:ln/>
        </p:spPr>
        <p:txBody>
          <a:bodyPr wrap="square" lIns="0" tIns="0" rIns="0" bIns="0" rtlCol="0" anchor="ctr"/>
          <a:lstStyle/>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Salon Privé Vins &amp; Terroirs</a:t>
            </a:r>
            <a:endParaRPr lang="en-US" sz="1200" dirty="0"/>
          </a:p>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Lundi 5 octobre 2026, Château de la Rairie, Pont-Saint-Martin</a:t>
            </a:r>
            <a:endParaRPr lang="en-US" sz="1200" dirty="0"/>
          </a:p>
        </p:txBody>
      </p:sp>
      <p:sp>
        <p:nvSpPr>
          <p:cNvPr id="8" name="Text 5"/>
          <p:cNvSpPr/>
          <p:nvPr/>
        </p:nvSpPr>
        <p:spPr>
          <a:xfrm>
            <a:off x="828000" y="2664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9" name="Image 1" descr="/home/user/philippe1/build/deco-salon-prive-2026/coupe-nue.png">    </p:cNvPr>
          <p:cNvPicPr>
            <a:picLocks noChangeAspect="1"/>
          </p:cNvPicPr>
          <p:nvPr/>
        </p:nvPicPr>
        <p:blipFill>
          <a:blip r:embed="rId2"/>
          <a:stretch>
            <a:fillRect/>
          </a:stretch>
        </p:blipFill>
        <p:spPr>
          <a:xfrm>
            <a:off x="828000" y="3420000"/>
            <a:ext cx="6120000" cy="956455"/>
          </a:xfrm>
          <a:prstGeom prst="rect">
            <a:avLst/>
          </a:prstGeom>
        </p:spPr>
      </p:pic>
      <p:sp>
        <p:nvSpPr>
          <p:cNvPr id="10" name="Shape 6"/>
          <p:cNvSpPr/>
          <p:nvPr/>
        </p:nvSpPr>
        <p:spPr>
          <a:xfrm>
            <a:off x="828000" y="4788000"/>
            <a:ext cx="6120000" cy="0"/>
          </a:xfrm>
          <a:prstGeom prst="line">
            <a:avLst/>
          </a:prstGeom>
          <a:noFill/>
          <a:ln w="10160">
            <a:solidFill>
              <a:srgbClr val="67067C"/>
            </a:solidFill>
            <a:prstDash val="solid"/>
          </a:ln>
        </p:spPr>
      </p:sp>
      <p:sp>
        <p:nvSpPr>
          <p:cNvPr id="11" name="Text 7"/>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2" name="Text 8"/>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3" name="Text 9"/>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4" name="Text 10"/>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5" name="Text 11"/>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6" name="Text 12"/>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7" name="Shape 13"/>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8" name="Text 14"/>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Salon Privé Vins &amp; Terroirs — Lundi 5 octobre 2026</dc:title>
  <dc:subject>PptxGenJS Presentation</dc:subject>
  <dc:creator>Agence SCIO Vins &amp; Spirits</dc:creator>
  <cp:lastModifiedBy>Agence SCIO Vins &amp; Spirits</cp:lastModifiedBy>
  <cp:revision>1</cp:revision>
  <dcterms:created xsi:type="dcterms:W3CDTF">2026-10-02T17:14:16Z</dcterms:created>
  <dcterms:modified xsi:type="dcterms:W3CDTF">2026-10-02T17:14:16Z</dcterms:modified>
</cp:coreProperties>
</file>